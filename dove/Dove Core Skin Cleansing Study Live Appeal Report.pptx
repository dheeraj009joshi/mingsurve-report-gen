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6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image6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7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85.png"/><Relationship Id="rId4" Type="http://schemas.openxmlformats.org/officeDocument/2006/relationships/image" Target="../media/image8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image" Target="../media/image13.png"/><Relationship Id="rId4" Type="http://schemas.openxmlformats.org/officeDocument/2006/relationships/image" Target="../media/image8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6.png"/><Relationship Id="rId6" Type="http://schemas.openxmlformats.org/officeDocument/2006/relationships/image" Target="../media/image92.png"/><Relationship Id="rId7" Type="http://schemas.openxmlformats.org/officeDocument/2006/relationships/image" Target="../media/image93.png"/><Relationship Id="rId8" Type="http://schemas.openxmlformats.org/officeDocument/2006/relationships/image" Target="../media/image94.png"/><Relationship Id="rId9" Type="http://schemas.openxmlformats.org/officeDocument/2006/relationships/image" Target="../media/image95.png"/><Relationship Id="rId10" Type="http://schemas.openxmlformats.org/officeDocument/2006/relationships/image" Target="../media/image9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09.png"/><Relationship Id="rId4" Type="http://schemas.openxmlformats.org/officeDocument/2006/relationships/image" Target="../media/image110.png"/><Relationship Id="rId5" Type="http://schemas.openxmlformats.org/officeDocument/2006/relationships/image" Target="../media/image111.png"/><Relationship Id="rId6" Type="http://schemas.openxmlformats.org/officeDocument/2006/relationships/image" Target="../media/image11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 Id="rId3" Type="http://schemas.openxmlformats.org/officeDocument/2006/relationships/image" Target="../media/image114.png"/><Relationship Id="rId4" Type="http://schemas.openxmlformats.org/officeDocument/2006/relationships/image" Target="../media/image9.png"/><Relationship Id="rId5" Type="http://schemas.openxmlformats.org/officeDocument/2006/relationships/image" Target="../media/image115.png"/><Relationship Id="rId6" Type="http://schemas.openxmlformats.org/officeDocument/2006/relationships/image" Target="../media/image11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17.png"/><Relationship Id="rId4" Type="http://schemas.openxmlformats.org/officeDocument/2006/relationships/image" Target="../media/image118.png"/><Relationship Id="rId5" Type="http://schemas.openxmlformats.org/officeDocument/2006/relationships/image" Target="../media/image119.png"/><Relationship Id="rId6" Type="http://schemas.openxmlformats.org/officeDocument/2006/relationships/image" Target="../media/image12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 Id="rId3" Type="http://schemas.openxmlformats.org/officeDocument/2006/relationships/image" Target="../media/image126.png"/><Relationship Id="rId4" Type="http://schemas.openxmlformats.org/officeDocument/2006/relationships/image" Target="../media/image127.png"/><Relationship Id="rId5" Type="http://schemas.openxmlformats.org/officeDocument/2006/relationships/image" Target="../media/image8.png"/><Relationship Id="rId6" Type="http://schemas.openxmlformats.org/officeDocument/2006/relationships/image" Target="../media/image12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29.png"/><Relationship Id="rId4" Type="http://schemas.openxmlformats.org/officeDocument/2006/relationships/image" Target="../media/image130.png"/><Relationship Id="rId5" Type="http://schemas.openxmlformats.org/officeDocument/2006/relationships/image" Target="../media/image13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35.png"/><Relationship Id="rId4" Type="http://schemas.openxmlformats.org/officeDocument/2006/relationships/image" Target="../media/image136.png"/><Relationship Id="rId5" Type="http://schemas.openxmlformats.org/officeDocument/2006/relationships/image" Target="../media/image13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image" Target="../media/image17.png"/><Relationship Id="rId4" Type="http://schemas.openxmlformats.org/officeDocument/2006/relationships/image" Target="../media/image13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 Id="rId3" Type="http://schemas.openxmlformats.org/officeDocument/2006/relationships/image" Target="../media/image16.png"/><Relationship Id="rId4" Type="http://schemas.openxmlformats.org/officeDocument/2006/relationships/image" Target="../media/image14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pic>
        <p:nvPicPr>
          <p:cNvPr id="2" name="Picture 1" descr="cover_Picture_17.png"/>
          <p:cNvPicPr>
            <a:picLocks noChangeAspect="1"/>
          </p:cNvPicPr>
          <p:nvPr/>
        </p:nvPicPr>
        <p:blipFill>
          <a:blip r:embed="rId2"/>
          <a:stretch>
            <a:fillRect/>
          </a:stretch>
        </p:blipFill>
        <p:spPr>
          <a:xfrm>
            <a:off x="1259128" y="3579876"/>
            <a:ext cx="1641348" cy="1641348"/>
          </a:xfrm>
          <a:prstGeom prst="rect">
            <a:avLst/>
          </a:prstGeom>
        </p:spPr>
      </p:pic>
      <p:cxnSp>
        <p:nvCxnSpPr>
          <p:cNvPr id="3" name="Connector 2"/>
          <p:cNvCxnSpPr/>
          <p:nvPr/>
        </p:nvCxnSpPr>
        <p:spPr>
          <a:xfrm>
            <a:off x="3882908" y="1232428"/>
            <a:ext cx="0" cy="4373209"/>
          </a:xfrm>
          <a:prstGeom prst="line">
            <a:avLst/>
          </a:prstGeom>
          <a:ln w="9525">
            <a:solidFill>
              <a:srgbClr val="F2C6C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205874" y="3429000"/>
            <a:ext cx="6268303" cy="0"/>
          </a:xfrm>
          <a:prstGeom prst="line">
            <a:avLst/>
          </a:prstGeom>
          <a:ln w="9525">
            <a:solidFill>
              <a:srgbClr val="F2C6C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206240" y="1805940"/>
            <a:ext cx="7755026" cy="1200607"/>
          </a:xfrm>
          <a:prstGeom prst="rect">
            <a:avLst/>
          </a:prstGeom>
          <a:noFill/>
        </p:spPr>
        <p:txBody>
          <a:bodyPr wrap="square" anchor="t"/>
          <a:lstStyle/>
          <a:p>
            <a:pPr algn="l">
              <a:spcAft>
                <a:spcPts val="400"/>
              </a:spcAft>
            </a:pPr>
            <a:r>
              <a:rPr sz="3600" b="1" i="0">
                <a:solidFill>
                  <a:srgbClr val="1E2D44"/>
                </a:solidFill>
                <a:latin typeface="Karla"/>
              </a:rPr>
              <a:t>Which design elements drive consumer appeal?</a:t>
            </a:r>
          </a:p>
        </p:txBody>
      </p:sp>
      <p:sp>
        <p:nvSpPr>
          <p:cNvPr id="6" name="TextBox 5"/>
          <p:cNvSpPr txBox="1"/>
          <p:nvPr/>
        </p:nvSpPr>
        <p:spPr>
          <a:xfrm>
            <a:off x="4206240" y="3880713"/>
            <a:ext cx="6583680" cy="338328"/>
          </a:xfrm>
          <a:prstGeom prst="rect">
            <a:avLst/>
          </a:prstGeom>
          <a:noFill/>
        </p:spPr>
        <p:txBody>
          <a:bodyPr wrap="square" anchor="t"/>
          <a:lstStyle/>
          <a:p>
            <a:pPr algn="l">
              <a:spcAft>
                <a:spcPts val="400"/>
              </a:spcAft>
            </a:pPr>
            <a:r>
              <a:rPr sz="1600" b="0" i="0">
                <a:solidFill>
                  <a:srgbClr val="1E2D44"/>
                </a:solidFill>
                <a:latin typeface="Karla"/>
              </a:rPr>
              <a:t>Dove Core Skin Cleansing Study Live Appeal Report  |  October 2026</a:t>
            </a:r>
          </a:p>
        </p:txBody>
      </p:sp>
      <p:sp>
        <p:nvSpPr>
          <p:cNvPr id="7" name="TextBox 6"/>
          <p:cNvSpPr txBox="1"/>
          <p:nvPr/>
        </p:nvSpPr>
        <p:spPr>
          <a:xfrm>
            <a:off x="4206240" y="4231843"/>
            <a:ext cx="6986016" cy="338328"/>
          </a:xfrm>
          <a:prstGeom prst="rect">
            <a:avLst/>
          </a:prstGeom>
          <a:noFill/>
        </p:spPr>
        <p:txBody>
          <a:bodyPr wrap="square" anchor="t"/>
          <a:lstStyle/>
          <a:p>
            <a:pPr algn="l">
              <a:spcAft>
                <a:spcPts val="400"/>
              </a:spcAft>
            </a:pPr>
            <a:r>
              <a:rPr sz="1600" b="0" i="0">
                <a:solidFill>
                  <a:srgbClr val="1E2D44"/>
                </a:solidFill>
                <a:latin typeface="Karla"/>
              </a:rPr>
              <a:t>Prepared by: J Brown Fitterman | jbrown@mindgenomicsassociates.com</a:t>
            </a:r>
          </a:p>
        </p:txBody>
      </p:sp>
      <p:sp>
        <p:nvSpPr>
          <p:cNvPr id="8" name="TextBox 7"/>
          <p:cNvSpPr txBox="1"/>
          <p:nvPr/>
        </p:nvSpPr>
        <p:spPr>
          <a:xfrm>
            <a:off x="4206240" y="4582972"/>
            <a:ext cx="3840480" cy="338328"/>
          </a:xfrm>
          <a:prstGeom prst="rect">
            <a:avLst/>
          </a:prstGeom>
          <a:noFill/>
        </p:spPr>
        <p:txBody>
          <a:bodyPr wrap="square" anchor="t"/>
          <a:lstStyle/>
          <a:p>
            <a:pPr algn="l">
              <a:spcAft>
                <a:spcPts val="400"/>
              </a:spcAft>
            </a:pPr>
            <a:r>
              <a:rPr sz="1600" b="0" i="0">
                <a:solidFill>
                  <a:srgbClr val="1E2D44"/>
                </a:solidFill>
                <a:latin typeface="Karla"/>
              </a:rPr>
              <a:t>Mind Genomics Associates, Inc</a:t>
            </a:r>
          </a:p>
        </p:txBody>
      </p:sp>
      <p:sp>
        <p:nvSpPr>
          <p:cNvPr id="9" name="TextBox 8"/>
          <p:cNvSpPr txBox="1"/>
          <p:nvPr/>
        </p:nvSpPr>
        <p:spPr>
          <a:xfrm>
            <a:off x="4206240" y="5222138"/>
            <a:ext cx="7680960" cy="502920"/>
          </a:xfrm>
          <a:prstGeom prst="rect">
            <a:avLst/>
          </a:prstGeom>
          <a:noFill/>
        </p:spPr>
        <p:txBody>
          <a:bodyPr wrap="square" anchor="t"/>
          <a:lstStyle/>
          <a:p>
            <a:pPr algn="l">
              <a:spcAft>
                <a:spcPts val="400"/>
              </a:spcAft>
            </a:pPr>
            <a:r>
              <a:rPr sz="1600" b="0" i="0">
                <a:solidFill>
                  <a:srgbClr val="1E2D44"/>
                </a:solidFill>
                <a:latin typeface="Karla"/>
              </a:rPr>
              <a:t>Dove Core Skin Cleansing Study Live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606040"/>
            <a:ext cx="10058400" cy="1005840"/>
          </a:xfrm>
          <a:prstGeom prst="rect">
            <a:avLst/>
          </a:prstGeom>
          <a:noFill/>
        </p:spPr>
        <p:txBody>
          <a:bodyPr wrap="square" anchor="t"/>
          <a:lstStyle/>
          <a:p>
            <a:pPr algn="l">
              <a:spcAft>
                <a:spcPts val="400"/>
              </a:spcAft>
            </a:pPr>
            <a:r>
              <a:rPr sz="5400" b="1" i="0">
                <a:solidFill>
                  <a:srgbClr val="1E2D44"/>
                </a:solidFill>
                <a:latin typeface="Karla"/>
              </a:rPr>
              <a:t>Inputs</a:t>
            </a:r>
          </a:p>
        </p:txBody>
      </p:sp>
      <p:sp>
        <p:nvSpPr>
          <p:cNvPr id="4" name="Rectangle 3"/>
          <p:cNvSpPr/>
          <p:nvPr/>
        </p:nvSpPr>
        <p:spPr>
          <a:xfrm>
            <a:off x="822960" y="3794760"/>
            <a:ext cx="1280160" cy="5486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56616" cy="6858000"/>
          </a:xfrm>
          <a:prstGeom prst="rect">
            <a:avLst/>
          </a:prstGeom>
          <a:solidFill>
            <a:srgbClr val="F3C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75488"/>
            <a:ext cx="10698480" cy="502920"/>
          </a:xfrm>
          <a:prstGeom prst="rect">
            <a:avLst/>
          </a:prstGeom>
          <a:noFill/>
        </p:spPr>
        <p:txBody>
          <a:bodyPr wrap="square" anchor="t" lIns="0" rIns="0" tIns="0" bIns="0"/>
          <a:lstStyle/>
          <a:p>
            <a:pPr algn="l">
              <a:spcBef>
                <a:spcPts val="0"/>
              </a:spcBef>
              <a:spcAft>
                <a:spcPts val="0"/>
              </a:spcAft>
            </a:pPr>
            <a:r>
              <a:rPr sz="3400" b="1" i="0">
                <a:solidFill>
                  <a:srgbClr val="172238"/>
                </a:solidFill>
                <a:latin typeface="Karla"/>
              </a:rPr>
              <a:t>The study in this report</a:t>
            </a:r>
          </a:p>
        </p:txBody>
      </p:sp>
      <p:cxnSp>
        <p:nvCxnSpPr>
          <p:cNvPr id="4" name="Connector 3"/>
          <p:cNvCxnSpPr/>
          <p:nvPr/>
        </p:nvCxnSpPr>
        <p:spPr>
          <a:xfrm>
            <a:off x="658368" y="1097280"/>
            <a:ext cx="1261871" cy="0"/>
          </a:xfrm>
          <a:prstGeom prst="line">
            <a:avLst/>
          </a:prstGeom>
          <a:ln w="17780">
            <a:solidFill>
              <a:srgbClr val="F3C9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1353312"/>
            <a:ext cx="9144000" cy="292608"/>
          </a:xfrm>
          <a:prstGeom prst="rect">
            <a:avLst/>
          </a:prstGeom>
          <a:noFill/>
        </p:spPr>
        <p:txBody>
          <a:bodyPr wrap="square" anchor="t" lIns="0" rIns="0" tIns="0" bIns="0"/>
          <a:lstStyle/>
          <a:p>
            <a:pPr algn="l">
              <a:spcBef>
                <a:spcPts val="0"/>
              </a:spcBef>
              <a:spcAft>
                <a:spcPts val="0"/>
              </a:spcAft>
            </a:pPr>
            <a:r>
              <a:rPr sz="1550" b="0" i="1">
                <a:solidFill>
                  <a:srgbClr val="172238"/>
                </a:solidFill>
                <a:latin typeface="Karla"/>
              </a:rPr>
              <a:t>Scores in the pages that follow come from this file.</a:t>
            </a:r>
          </a:p>
        </p:txBody>
      </p:sp>
      <p:sp>
        <p:nvSpPr>
          <p:cNvPr id="6" name="Rounded Rectangle 5"/>
          <p:cNvSpPr/>
          <p:nvPr/>
        </p:nvSpPr>
        <p:spPr>
          <a:xfrm>
            <a:off x="804672" y="1847088"/>
            <a:ext cx="10561320" cy="2103120"/>
          </a:xfrm>
          <a:prstGeom prst="roundRect">
            <a:avLst>
              <a:gd name="adj" fmla="val 2600"/>
            </a:avLst>
          </a:prstGeom>
          <a:solidFill>
            <a:srgbClr val="FB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4672" y="1847088"/>
            <a:ext cx="10561320" cy="128016"/>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 y="2212848"/>
            <a:ext cx="9921240" cy="777240"/>
          </a:xfrm>
          <a:prstGeom prst="rect">
            <a:avLst/>
          </a:prstGeom>
          <a:noFill/>
        </p:spPr>
        <p:txBody>
          <a:bodyPr wrap="square" anchor="t" lIns="0" rIns="0" tIns="0" bIns="0"/>
          <a:lstStyle/>
          <a:p>
            <a:pPr algn="l">
              <a:spcBef>
                <a:spcPts val="0"/>
              </a:spcBef>
              <a:spcAft>
                <a:spcPts val="0"/>
              </a:spcAft>
            </a:pPr>
            <a:r>
              <a:rPr sz="2200" b="1" i="0">
                <a:solidFill>
                  <a:srgbClr val="172238"/>
                </a:solidFill>
                <a:latin typeface="Karla"/>
              </a:rPr>
              <a:t>Dove Core Skin Cleansing Study Live</a:t>
            </a:r>
          </a:p>
        </p:txBody>
      </p:sp>
      <p:sp>
        <p:nvSpPr>
          <p:cNvPr id="9" name="TextBox 8"/>
          <p:cNvSpPr txBox="1"/>
          <p:nvPr/>
        </p:nvSpPr>
        <p:spPr>
          <a:xfrm>
            <a:off x="1124712" y="3054096"/>
            <a:ext cx="9921240" cy="292608"/>
          </a:xfrm>
          <a:prstGeom prst="rect">
            <a:avLst/>
          </a:prstGeom>
          <a:noFill/>
        </p:spPr>
        <p:txBody>
          <a:bodyPr wrap="square" anchor="t" lIns="0" rIns="0" tIns="0" bIns="0"/>
          <a:lstStyle/>
          <a:p>
            <a:pPr algn="l">
              <a:spcBef>
                <a:spcPts val="0"/>
              </a:spcBef>
              <a:spcAft>
                <a:spcPts val="0"/>
              </a:spcAft>
            </a:pPr>
            <a:r>
              <a:rPr sz="1500" b="0" i="0">
                <a:solidFill>
                  <a:srgbClr val="172238"/>
                </a:solidFill>
                <a:latin typeface="Karla"/>
              </a:rPr>
              <a:t>14 silos  ·  69 elements</a:t>
            </a:r>
          </a:p>
        </p:txBody>
      </p:sp>
      <p:sp>
        <p:nvSpPr>
          <p:cNvPr id="10" name="TextBox 9"/>
          <p:cNvSpPr txBox="1"/>
          <p:nvPr/>
        </p:nvSpPr>
        <p:spPr>
          <a:xfrm>
            <a:off x="1124712" y="3419856"/>
            <a:ext cx="9921240" cy="274320"/>
          </a:xfrm>
          <a:prstGeom prst="rect">
            <a:avLst/>
          </a:prstGeom>
          <a:noFill/>
        </p:spPr>
        <p:txBody>
          <a:bodyPr wrap="square" anchor="t" lIns="0" rIns="0" tIns="0" bIns="0"/>
          <a:lstStyle/>
          <a:p>
            <a:pPr algn="l">
              <a:spcBef>
                <a:spcPts val="0"/>
              </a:spcBef>
              <a:spcAft>
                <a:spcPts val="0"/>
              </a:spcAft>
            </a:pPr>
            <a:r>
              <a:rPr sz="1400" b="0" i="0">
                <a:solidFill>
                  <a:srgbClr val="04746E"/>
                </a:solidFill>
                <a:latin typeface="Karla"/>
              </a:rPr>
              <a:t>601 respondents</a:t>
            </a:r>
          </a:p>
        </p:txBody>
      </p:sp>
      <p:sp>
        <p:nvSpPr>
          <p:cNvPr id="11" name="Rectangle 1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13" name="TextBox 1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56616" cy="6858000"/>
          </a:xfrm>
          <a:prstGeom prst="rect">
            <a:avLst/>
          </a:prstGeom>
          <a:solidFill>
            <a:srgbClr val="F3C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38912"/>
            <a:ext cx="10515600" cy="475488"/>
          </a:xfrm>
          <a:prstGeom prst="rect">
            <a:avLst/>
          </a:prstGeom>
          <a:noFill/>
        </p:spPr>
        <p:txBody>
          <a:bodyPr wrap="square" anchor="t" lIns="0" rIns="0" tIns="0" bIns="0"/>
          <a:lstStyle/>
          <a:p>
            <a:pPr algn="l">
              <a:spcBef>
                <a:spcPts val="0"/>
              </a:spcBef>
              <a:spcAft>
                <a:spcPts val="0"/>
              </a:spcAft>
            </a:pPr>
            <a:r>
              <a:rPr sz="3400" b="1" i="0">
                <a:solidFill>
                  <a:srgbClr val="172238"/>
                </a:solidFill>
                <a:latin typeface="Karla"/>
              </a:rPr>
              <a:t>How the method works</a:t>
            </a:r>
          </a:p>
        </p:txBody>
      </p:sp>
      <p:cxnSp>
        <p:nvCxnSpPr>
          <p:cNvPr id="4" name="Connector 3"/>
          <p:cNvCxnSpPr/>
          <p:nvPr/>
        </p:nvCxnSpPr>
        <p:spPr>
          <a:xfrm>
            <a:off x="658368" y="1024128"/>
            <a:ext cx="1261871" cy="0"/>
          </a:xfrm>
          <a:prstGeom prst="line">
            <a:avLst/>
          </a:prstGeom>
          <a:ln w="17780">
            <a:solidFill>
              <a:srgbClr val="F3C9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1170432"/>
            <a:ext cx="10607040" cy="292608"/>
          </a:xfrm>
          <a:prstGeom prst="rect">
            <a:avLst/>
          </a:prstGeom>
          <a:noFill/>
        </p:spPr>
        <p:txBody>
          <a:bodyPr wrap="square" anchor="t" lIns="0" rIns="0" tIns="0" bIns="0"/>
          <a:lstStyle/>
          <a:p>
            <a:pPr algn="l">
              <a:spcBef>
                <a:spcPts val="0"/>
              </a:spcBef>
              <a:spcAft>
                <a:spcPts val="0"/>
              </a:spcAft>
            </a:pPr>
            <a:r>
              <a:rPr sz="1500" b="0" i="1">
                <a:solidFill>
                  <a:srgbClr val="172238"/>
                </a:solidFill>
                <a:latin typeface="Karla"/>
              </a:rPr>
              <a:t>Every respondent sees their own mix of design variations, and we learn what individually moves the appeal score.</a:t>
            </a:r>
          </a:p>
        </p:txBody>
      </p:sp>
      <p:sp>
        <p:nvSpPr>
          <p:cNvPr id="6" name="Rounded Rectangle 5"/>
          <p:cNvSpPr/>
          <p:nvPr/>
        </p:nvSpPr>
        <p:spPr>
          <a:xfrm>
            <a:off x="658368" y="1572768"/>
            <a:ext cx="10881360" cy="804672"/>
          </a:xfrm>
          <a:prstGeom prst="roundRect">
            <a:avLst>
              <a:gd name="adj" fmla="val 8300"/>
            </a:avLst>
          </a:prstGeom>
          <a:solidFill>
            <a:srgbClr val="FB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682495"/>
            <a:ext cx="585216" cy="585216"/>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400" b="1">
                <a:solidFill>
                  <a:srgbClr val="FFFFFF"/>
                </a:solidFill>
                <a:latin typeface="Karla"/>
              </a:rPr>
              <a:t>01</a:t>
            </a:r>
          </a:p>
        </p:txBody>
      </p:sp>
      <p:sp>
        <p:nvSpPr>
          <p:cNvPr id="8" name="TextBox 7"/>
          <p:cNvSpPr txBox="1"/>
          <p:nvPr/>
        </p:nvSpPr>
        <p:spPr>
          <a:xfrm>
            <a:off x="1572768" y="1700784"/>
            <a:ext cx="9601200" cy="274320"/>
          </a:xfrm>
          <a:prstGeom prst="rect">
            <a:avLst/>
          </a:prstGeom>
          <a:noFill/>
        </p:spPr>
        <p:txBody>
          <a:bodyPr wrap="square" anchor="t" lIns="0" rIns="0" tIns="0" bIns="0"/>
          <a:lstStyle/>
          <a:p>
            <a:pPr algn="l">
              <a:spcBef>
                <a:spcPts val="0"/>
              </a:spcBef>
              <a:spcAft>
                <a:spcPts val="0"/>
              </a:spcAft>
            </a:pPr>
            <a:r>
              <a:rPr sz="1600" b="1" i="0">
                <a:solidFill>
                  <a:srgbClr val="172238"/>
                </a:solidFill>
                <a:latin typeface="Karla"/>
              </a:rPr>
              <a:t>We slice the design into unique elements</a:t>
            </a:r>
          </a:p>
        </p:txBody>
      </p:sp>
      <p:sp>
        <p:nvSpPr>
          <p:cNvPr id="9" name="TextBox 8"/>
          <p:cNvSpPr txBox="1"/>
          <p:nvPr/>
        </p:nvSpPr>
        <p:spPr>
          <a:xfrm>
            <a:off x="1572768" y="1993392"/>
            <a:ext cx="9601200" cy="274320"/>
          </a:xfrm>
          <a:prstGeom prst="rect">
            <a:avLst/>
          </a:prstGeom>
          <a:noFill/>
        </p:spPr>
        <p:txBody>
          <a:bodyPr wrap="square" anchor="t" lIns="0" rIns="0" tIns="0" bIns="0"/>
          <a:lstStyle/>
          <a:p>
            <a:pPr algn="l">
              <a:spcBef>
                <a:spcPts val="0"/>
              </a:spcBef>
              <a:spcAft>
                <a:spcPts val="0"/>
              </a:spcAft>
            </a:pPr>
            <a:r>
              <a:rPr sz="1300" b="0" i="0">
                <a:solidFill>
                  <a:srgbClr val="172238"/>
                </a:solidFill>
                <a:latin typeface="Karla"/>
              </a:rPr>
              <a:t>Each element is one design choice — Deboss, Imagery, Variant, Derm Seal, Loz Low Ctr, Loz Top Ctr Low, Loz Top Ctr, Loz Top Left Low, Loz Top Left, Advanced Care, Wordmark, Bird Treatment, Gold Foil Band, and Cap Color.</a:t>
            </a:r>
          </a:p>
        </p:txBody>
      </p:sp>
      <p:sp>
        <p:nvSpPr>
          <p:cNvPr id="10" name="Rounded Rectangle 9"/>
          <p:cNvSpPr/>
          <p:nvPr/>
        </p:nvSpPr>
        <p:spPr>
          <a:xfrm>
            <a:off x="658368" y="2450591"/>
            <a:ext cx="10881360" cy="804672"/>
          </a:xfrm>
          <a:prstGeom prst="roundRect">
            <a:avLst>
              <a:gd name="adj" fmla="val 8300"/>
            </a:avLst>
          </a:prstGeom>
          <a:solidFill>
            <a:srgbClr val="FB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22960" y="2560320"/>
            <a:ext cx="585216" cy="585216"/>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400" b="1">
                <a:solidFill>
                  <a:srgbClr val="FFFFFF"/>
                </a:solidFill>
                <a:latin typeface="Karla"/>
              </a:rPr>
              <a:t>02</a:t>
            </a:r>
          </a:p>
        </p:txBody>
      </p:sp>
      <p:sp>
        <p:nvSpPr>
          <p:cNvPr id="12" name="TextBox 11"/>
          <p:cNvSpPr txBox="1"/>
          <p:nvPr/>
        </p:nvSpPr>
        <p:spPr>
          <a:xfrm>
            <a:off x="1572768" y="2578608"/>
            <a:ext cx="9601200" cy="274320"/>
          </a:xfrm>
          <a:prstGeom prst="rect">
            <a:avLst/>
          </a:prstGeom>
          <a:noFill/>
        </p:spPr>
        <p:txBody>
          <a:bodyPr wrap="square" anchor="t" lIns="0" rIns="0" tIns="0" bIns="0"/>
          <a:lstStyle/>
          <a:p>
            <a:pPr algn="l">
              <a:spcBef>
                <a:spcPts val="0"/>
              </a:spcBef>
              <a:spcAft>
                <a:spcPts val="0"/>
              </a:spcAft>
            </a:pPr>
            <a:r>
              <a:rPr sz="1600" b="1" i="0">
                <a:solidFill>
                  <a:srgbClr val="172238"/>
                </a:solidFill>
                <a:latin typeface="Karla"/>
              </a:rPr>
              <a:t>Each element has 3–9 possible variations</a:t>
            </a:r>
          </a:p>
        </p:txBody>
      </p:sp>
      <p:sp>
        <p:nvSpPr>
          <p:cNvPr id="13" name="TextBox 12"/>
          <p:cNvSpPr txBox="1"/>
          <p:nvPr/>
        </p:nvSpPr>
        <p:spPr>
          <a:xfrm>
            <a:off x="1572768" y="2871215"/>
            <a:ext cx="9601200" cy="274320"/>
          </a:xfrm>
          <a:prstGeom prst="rect">
            <a:avLst/>
          </a:prstGeom>
          <a:noFill/>
        </p:spPr>
        <p:txBody>
          <a:bodyPr wrap="square" anchor="t" lIns="0" rIns="0" tIns="0" bIns="0"/>
          <a:lstStyle/>
          <a:p>
            <a:pPr algn="l">
              <a:spcBef>
                <a:spcPts val="0"/>
              </a:spcBef>
              <a:spcAft>
                <a:spcPts val="0"/>
              </a:spcAft>
            </a:pPr>
            <a:r>
              <a:rPr sz="1300" b="0" i="0">
                <a:solidFill>
                  <a:srgbClr val="172238"/>
                </a:solidFill>
                <a:latin typeface="Karla"/>
              </a:rPr>
              <a:t>Like the small choices a designer would make between the options in a silo.</a:t>
            </a:r>
          </a:p>
        </p:txBody>
      </p:sp>
      <p:sp>
        <p:nvSpPr>
          <p:cNvPr id="14" name="Rounded Rectangle 13"/>
          <p:cNvSpPr/>
          <p:nvPr/>
        </p:nvSpPr>
        <p:spPr>
          <a:xfrm>
            <a:off x="658368" y="3328415"/>
            <a:ext cx="10881360" cy="804672"/>
          </a:xfrm>
          <a:prstGeom prst="roundRect">
            <a:avLst>
              <a:gd name="adj" fmla="val 8300"/>
            </a:avLst>
          </a:prstGeom>
          <a:solidFill>
            <a:srgbClr val="FB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960" y="3438144"/>
            <a:ext cx="585216" cy="585216"/>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400" b="1">
                <a:solidFill>
                  <a:srgbClr val="FFFFFF"/>
                </a:solidFill>
                <a:latin typeface="Karla"/>
              </a:rPr>
              <a:t>03</a:t>
            </a:r>
          </a:p>
        </p:txBody>
      </p:sp>
      <p:sp>
        <p:nvSpPr>
          <p:cNvPr id="16" name="TextBox 15"/>
          <p:cNvSpPr txBox="1"/>
          <p:nvPr/>
        </p:nvSpPr>
        <p:spPr>
          <a:xfrm>
            <a:off x="1572768" y="3456432"/>
            <a:ext cx="9601200" cy="274320"/>
          </a:xfrm>
          <a:prstGeom prst="rect">
            <a:avLst/>
          </a:prstGeom>
          <a:noFill/>
        </p:spPr>
        <p:txBody>
          <a:bodyPr wrap="square" anchor="t" lIns="0" rIns="0" tIns="0" bIns="0"/>
          <a:lstStyle/>
          <a:p>
            <a:pPr algn="l">
              <a:spcBef>
                <a:spcPts val="0"/>
              </a:spcBef>
              <a:spcAft>
                <a:spcPts val="0"/>
              </a:spcAft>
            </a:pPr>
            <a:r>
              <a:rPr sz="1600" b="1" i="0">
                <a:solidFill>
                  <a:srgbClr val="172238"/>
                </a:solidFill>
                <a:latin typeface="Karla"/>
              </a:rPr>
              <a:t>Each respondent sees a set of pack designs</a:t>
            </a:r>
          </a:p>
        </p:txBody>
      </p:sp>
      <p:sp>
        <p:nvSpPr>
          <p:cNvPr id="17" name="TextBox 16"/>
          <p:cNvSpPr txBox="1"/>
          <p:nvPr/>
        </p:nvSpPr>
        <p:spPr>
          <a:xfrm>
            <a:off x="1572768" y="3749039"/>
            <a:ext cx="9601200" cy="274320"/>
          </a:xfrm>
          <a:prstGeom prst="rect">
            <a:avLst/>
          </a:prstGeom>
          <a:noFill/>
        </p:spPr>
        <p:txBody>
          <a:bodyPr wrap="square" anchor="t" lIns="0" rIns="0" tIns="0" bIns="0"/>
          <a:lstStyle/>
          <a:p>
            <a:pPr algn="l">
              <a:spcBef>
                <a:spcPts val="0"/>
              </a:spcBef>
              <a:spcAft>
                <a:spcPts val="0"/>
              </a:spcAft>
            </a:pPr>
            <a:r>
              <a:rPr sz="1300" b="0" i="0">
                <a:solidFill>
                  <a:srgbClr val="172238"/>
                </a:solidFill>
                <a:latin typeface="Karla"/>
              </a:rPr>
              <a:t>Each pack is a unique combination of variations — never quite the same as anyone else’s.</a:t>
            </a:r>
          </a:p>
        </p:txBody>
      </p:sp>
      <p:sp>
        <p:nvSpPr>
          <p:cNvPr id="18" name="Rounded Rectangle 17"/>
          <p:cNvSpPr/>
          <p:nvPr/>
        </p:nvSpPr>
        <p:spPr>
          <a:xfrm>
            <a:off x="658368" y="4206240"/>
            <a:ext cx="10881360" cy="804672"/>
          </a:xfrm>
          <a:prstGeom prst="roundRect">
            <a:avLst>
              <a:gd name="adj" fmla="val 8300"/>
            </a:avLst>
          </a:prstGeom>
          <a:solidFill>
            <a:srgbClr val="FB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2960" y="4315968"/>
            <a:ext cx="585216" cy="585216"/>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400" b="1">
                <a:solidFill>
                  <a:srgbClr val="FFFFFF"/>
                </a:solidFill>
                <a:latin typeface="Karla"/>
              </a:rPr>
              <a:t>04</a:t>
            </a:r>
          </a:p>
        </p:txBody>
      </p:sp>
      <p:sp>
        <p:nvSpPr>
          <p:cNvPr id="20" name="TextBox 19"/>
          <p:cNvSpPr txBox="1"/>
          <p:nvPr/>
        </p:nvSpPr>
        <p:spPr>
          <a:xfrm>
            <a:off x="1572768" y="4334255"/>
            <a:ext cx="9601200" cy="274320"/>
          </a:xfrm>
          <a:prstGeom prst="rect">
            <a:avLst/>
          </a:prstGeom>
          <a:noFill/>
        </p:spPr>
        <p:txBody>
          <a:bodyPr wrap="square" anchor="t" lIns="0" rIns="0" tIns="0" bIns="0"/>
          <a:lstStyle/>
          <a:p>
            <a:pPr algn="l">
              <a:spcBef>
                <a:spcPts val="0"/>
              </a:spcBef>
              <a:spcAft>
                <a:spcPts val="0"/>
              </a:spcAft>
            </a:pPr>
            <a:r>
              <a:rPr sz="1600" b="1" i="0">
                <a:solidFill>
                  <a:srgbClr val="172238"/>
                </a:solidFill>
                <a:latin typeface="Karla"/>
              </a:rPr>
              <a:t>They rate each one</a:t>
            </a:r>
          </a:p>
        </p:txBody>
      </p:sp>
      <p:sp>
        <p:nvSpPr>
          <p:cNvPr id="21" name="TextBox 20"/>
          <p:cNvSpPr txBox="1"/>
          <p:nvPr/>
        </p:nvSpPr>
        <p:spPr>
          <a:xfrm>
            <a:off x="1572768" y="4626864"/>
            <a:ext cx="9601200" cy="274320"/>
          </a:xfrm>
          <a:prstGeom prst="rect">
            <a:avLst/>
          </a:prstGeom>
          <a:noFill/>
        </p:spPr>
        <p:txBody>
          <a:bodyPr wrap="square" anchor="t" lIns="0" rIns="0" tIns="0" bIns="0"/>
          <a:lstStyle/>
          <a:p>
            <a:pPr algn="l">
              <a:spcBef>
                <a:spcPts val="0"/>
              </a:spcBef>
              <a:spcAft>
                <a:spcPts val="0"/>
              </a:spcAft>
            </a:pPr>
            <a:r>
              <a:rPr sz="1300" b="0" i="0">
                <a:solidFill>
                  <a:srgbClr val="172238"/>
                </a:solidFill>
                <a:latin typeface="Karla"/>
              </a:rPr>
              <a:t>The same rating scale is used on every task. The variation does the work.</a:t>
            </a:r>
          </a:p>
        </p:txBody>
      </p:sp>
      <p:sp>
        <p:nvSpPr>
          <p:cNvPr id="22" name="Rounded Rectangle 21"/>
          <p:cNvSpPr/>
          <p:nvPr/>
        </p:nvSpPr>
        <p:spPr>
          <a:xfrm>
            <a:off x="658368" y="5084064"/>
            <a:ext cx="10881360" cy="804672"/>
          </a:xfrm>
          <a:prstGeom prst="roundRect">
            <a:avLst>
              <a:gd name="adj" fmla="val 8300"/>
            </a:avLst>
          </a:prstGeom>
          <a:solidFill>
            <a:srgbClr val="FB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2960" y="5193792"/>
            <a:ext cx="585216" cy="585216"/>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400" b="1">
                <a:solidFill>
                  <a:srgbClr val="FFFFFF"/>
                </a:solidFill>
                <a:latin typeface="Karla"/>
              </a:rPr>
              <a:t>05</a:t>
            </a:r>
          </a:p>
        </p:txBody>
      </p:sp>
      <p:sp>
        <p:nvSpPr>
          <p:cNvPr id="24" name="TextBox 23"/>
          <p:cNvSpPr txBox="1"/>
          <p:nvPr/>
        </p:nvSpPr>
        <p:spPr>
          <a:xfrm>
            <a:off x="1572768" y="5212079"/>
            <a:ext cx="9601200" cy="274320"/>
          </a:xfrm>
          <a:prstGeom prst="rect">
            <a:avLst/>
          </a:prstGeom>
          <a:noFill/>
        </p:spPr>
        <p:txBody>
          <a:bodyPr wrap="square" anchor="t" lIns="0" rIns="0" tIns="0" bIns="0"/>
          <a:lstStyle/>
          <a:p>
            <a:pPr algn="l">
              <a:spcBef>
                <a:spcPts val="0"/>
              </a:spcBef>
              <a:spcAft>
                <a:spcPts val="0"/>
              </a:spcAft>
            </a:pPr>
            <a:r>
              <a:rPr sz="1600" b="1" i="0">
                <a:solidFill>
                  <a:srgbClr val="172238"/>
                </a:solidFill>
                <a:latin typeface="Karla"/>
              </a:rPr>
              <a:t>We learn what drives the rating</a:t>
            </a:r>
          </a:p>
        </p:txBody>
      </p:sp>
      <p:sp>
        <p:nvSpPr>
          <p:cNvPr id="25" name="TextBox 24"/>
          <p:cNvSpPr txBox="1"/>
          <p:nvPr/>
        </p:nvSpPr>
        <p:spPr>
          <a:xfrm>
            <a:off x="1572768" y="5504688"/>
            <a:ext cx="9601200" cy="274320"/>
          </a:xfrm>
          <a:prstGeom prst="rect">
            <a:avLst/>
          </a:prstGeom>
          <a:noFill/>
        </p:spPr>
        <p:txBody>
          <a:bodyPr wrap="square" anchor="t" lIns="0" rIns="0" tIns="0" bIns="0"/>
          <a:lstStyle/>
          <a:p>
            <a:pPr algn="l">
              <a:spcBef>
                <a:spcPts val="0"/>
              </a:spcBef>
              <a:spcAft>
                <a:spcPts val="0"/>
              </a:spcAft>
            </a:pPr>
            <a:r>
              <a:rPr sz="1300" b="0" i="0">
                <a:solidFill>
                  <a:srgbClr val="172238"/>
                </a:solidFill>
                <a:latin typeface="Karla"/>
              </a:rPr>
              <a:t>The model separates the baseline from the movement each element creates, on its own.</a:t>
            </a:r>
          </a:p>
        </p:txBody>
      </p:sp>
      <p:sp>
        <p:nvSpPr>
          <p:cNvPr id="26" name="Rectangle 2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28" name="TextBox 2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 cy="6858000"/>
          </a:xfrm>
          <a:prstGeom prst="rect">
            <a:avLst/>
          </a:prstGeom>
          <a:solidFill>
            <a:srgbClr val="EBC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475488"/>
          </a:xfrm>
          <a:prstGeom prst="rect">
            <a:avLst/>
          </a:prstGeom>
          <a:noFill/>
        </p:spPr>
        <p:txBody>
          <a:bodyPr wrap="square" anchor="t" lIns="0" rIns="0" tIns="0" bIns="0"/>
          <a:lstStyle/>
          <a:p>
            <a:pPr algn="l">
              <a:spcBef>
                <a:spcPts val="0"/>
              </a:spcBef>
              <a:spcAft>
                <a:spcPts val="0"/>
              </a:spcAft>
            </a:pPr>
            <a:r>
              <a:rPr sz="3400" b="1" i="0">
                <a:solidFill>
                  <a:srgbClr val="1E2D44"/>
                </a:solidFill>
                <a:latin typeface="Karla"/>
              </a:rPr>
              <a:t>Design elements</a:t>
            </a:r>
          </a:p>
        </p:txBody>
      </p:sp>
      <p:sp>
        <p:nvSpPr>
          <p:cNvPr id="4" name="TextBox 3"/>
          <p:cNvSpPr txBox="1"/>
          <p:nvPr/>
        </p:nvSpPr>
        <p:spPr>
          <a:xfrm>
            <a:off x="640080" y="1024128"/>
            <a:ext cx="9144000" cy="256032"/>
          </a:xfrm>
          <a:prstGeom prst="rect">
            <a:avLst/>
          </a:prstGeom>
          <a:noFill/>
        </p:spPr>
        <p:txBody>
          <a:bodyPr wrap="square" anchor="t" lIns="0" rIns="0" tIns="0" bIns="0"/>
          <a:lstStyle/>
          <a:p>
            <a:pPr algn="l">
              <a:spcBef>
                <a:spcPts val="0"/>
              </a:spcBef>
              <a:spcAft>
                <a:spcPts val="0"/>
              </a:spcAft>
            </a:pPr>
            <a:r>
              <a:rPr sz="1400" b="0" i="0">
                <a:solidFill>
                  <a:srgbClr val="626F7B"/>
                </a:solidFill>
                <a:latin typeface="Karla"/>
              </a:rPr>
              <a:t>14 design silos, 69 element variations in total.</a:t>
            </a:r>
          </a:p>
        </p:txBody>
      </p:sp>
      <p:sp>
        <p:nvSpPr>
          <p:cNvPr id="5" name="Rectangle 4"/>
          <p:cNvSpPr/>
          <p:nvPr/>
        </p:nvSpPr>
        <p:spPr>
          <a:xfrm>
            <a:off x="640080" y="1444752"/>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44752"/>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536192"/>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A</a:t>
            </a:r>
          </a:p>
        </p:txBody>
      </p:sp>
      <p:sp>
        <p:nvSpPr>
          <p:cNvPr id="8" name="TextBox 7"/>
          <p:cNvSpPr txBox="1"/>
          <p:nvPr/>
        </p:nvSpPr>
        <p:spPr>
          <a:xfrm>
            <a:off x="1207007" y="1591056"/>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Deboss</a:t>
            </a:r>
          </a:p>
        </p:txBody>
      </p:sp>
      <p:sp>
        <p:nvSpPr>
          <p:cNvPr id="9" name="TextBox 8"/>
          <p:cNvSpPr txBox="1"/>
          <p:nvPr/>
        </p:nvSpPr>
        <p:spPr>
          <a:xfrm>
            <a:off x="2743199" y="1591056"/>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3</a:t>
            </a:r>
          </a:p>
        </p:txBody>
      </p:sp>
      <p:sp>
        <p:nvSpPr>
          <p:cNvPr id="10" name="TextBox 9"/>
          <p:cNvSpPr txBox="1"/>
          <p:nvPr/>
        </p:nvSpPr>
        <p:spPr>
          <a:xfrm>
            <a:off x="804671" y="2029968"/>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Deboss Off, Deboss Blue, Deboss On</a:t>
            </a:r>
          </a:p>
        </p:txBody>
      </p:sp>
      <p:sp>
        <p:nvSpPr>
          <p:cNvPr id="11" name="Rectangle 10"/>
          <p:cNvSpPr/>
          <p:nvPr/>
        </p:nvSpPr>
        <p:spPr>
          <a:xfrm>
            <a:off x="3300983" y="1444752"/>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00983" y="1444752"/>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65575" y="1536192"/>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B</a:t>
            </a:r>
          </a:p>
        </p:txBody>
      </p:sp>
      <p:sp>
        <p:nvSpPr>
          <p:cNvPr id="14" name="TextBox 13"/>
          <p:cNvSpPr txBox="1"/>
          <p:nvPr/>
        </p:nvSpPr>
        <p:spPr>
          <a:xfrm>
            <a:off x="3867911" y="1591056"/>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Imagery</a:t>
            </a:r>
          </a:p>
        </p:txBody>
      </p:sp>
      <p:sp>
        <p:nvSpPr>
          <p:cNvPr id="15" name="TextBox 14"/>
          <p:cNvSpPr txBox="1"/>
          <p:nvPr/>
        </p:nvSpPr>
        <p:spPr>
          <a:xfrm>
            <a:off x="5404103" y="1591056"/>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9</a:t>
            </a:r>
          </a:p>
        </p:txBody>
      </p:sp>
      <p:sp>
        <p:nvSpPr>
          <p:cNvPr id="16" name="TextBox 15"/>
          <p:cNvSpPr txBox="1"/>
          <p:nvPr/>
        </p:nvSpPr>
        <p:spPr>
          <a:xfrm>
            <a:off x="3465575" y="2029968"/>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Dollop High, Dollop Low, +7</a:t>
            </a:r>
          </a:p>
        </p:txBody>
      </p:sp>
      <p:sp>
        <p:nvSpPr>
          <p:cNvPr id="17" name="Rectangle 16"/>
          <p:cNvSpPr/>
          <p:nvPr/>
        </p:nvSpPr>
        <p:spPr>
          <a:xfrm>
            <a:off x="5961888" y="1444752"/>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61888" y="1444752"/>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79" y="1536192"/>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C</a:t>
            </a:r>
          </a:p>
        </p:txBody>
      </p:sp>
      <p:sp>
        <p:nvSpPr>
          <p:cNvPr id="20" name="TextBox 19"/>
          <p:cNvSpPr txBox="1"/>
          <p:nvPr/>
        </p:nvSpPr>
        <p:spPr>
          <a:xfrm>
            <a:off x="6528816" y="1591056"/>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Variant</a:t>
            </a:r>
          </a:p>
        </p:txBody>
      </p:sp>
      <p:sp>
        <p:nvSpPr>
          <p:cNvPr id="21" name="TextBox 20"/>
          <p:cNvSpPr txBox="1"/>
          <p:nvPr/>
        </p:nvSpPr>
        <p:spPr>
          <a:xfrm>
            <a:off x="8065007" y="1591056"/>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6</a:t>
            </a:r>
          </a:p>
        </p:txBody>
      </p:sp>
      <p:sp>
        <p:nvSpPr>
          <p:cNvPr id="22" name="TextBox 21"/>
          <p:cNvSpPr txBox="1"/>
          <p:nvPr/>
        </p:nvSpPr>
        <p:spPr>
          <a:xfrm>
            <a:off x="6126479" y="2029968"/>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Variant Ctr Low, +5</a:t>
            </a:r>
          </a:p>
        </p:txBody>
      </p:sp>
      <p:sp>
        <p:nvSpPr>
          <p:cNvPr id="23" name="Rectangle 22"/>
          <p:cNvSpPr/>
          <p:nvPr/>
        </p:nvSpPr>
        <p:spPr>
          <a:xfrm>
            <a:off x="8622791" y="1444752"/>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22791" y="1444752"/>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87383" y="1536192"/>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D</a:t>
            </a:r>
          </a:p>
        </p:txBody>
      </p:sp>
      <p:sp>
        <p:nvSpPr>
          <p:cNvPr id="26" name="TextBox 25"/>
          <p:cNvSpPr txBox="1"/>
          <p:nvPr/>
        </p:nvSpPr>
        <p:spPr>
          <a:xfrm>
            <a:off x="9189719" y="1591056"/>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Derm Seal</a:t>
            </a:r>
          </a:p>
        </p:txBody>
      </p:sp>
      <p:sp>
        <p:nvSpPr>
          <p:cNvPr id="27" name="TextBox 26"/>
          <p:cNvSpPr txBox="1"/>
          <p:nvPr/>
        </p:nvSpPr>
        <p:spPr>
          <a:xfrm>
            <a:off x="10725911" y="1591056"/>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8</a:t>
            </a:r>
          </a:p>
        </p:txBody>
      </p:sp>
      <p:sp>
        <p:nvSpPr>
          <p:cNvPr id="28" name="TextBox 27"/>
          <p:cNvSpPr txBox="1"/>
          <p:nvPr/>
        </p:nvSpPr>
        <p:spPr>
          <a:xfrm>
            <a:off x="8787383" y="2029968"/>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Derm Seal Gold Std, +7</a:t>
            </a:r>
          </a:p>
        </p:txBody>
      </p:sp>
      <p:sp>
        <p:nvSpPr>
          <p:cNvPr id="29" name="Rectangle 28"/>
          <p:cNvSpPr/>
          <p:nvPr/>
        </p:nvSpPr>
        <p:spPr>
          <a:xfrm>
            <a:off x="640080" y="2569464"/>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2569464"/>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1" y="2660904"/>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E</a:t>
            </a:r>
          </a:p>
        </p:txBody>
      </p:sp>
      <p:sp>
        <p:nvSpPr>
          <p:cNvPr id="32" name="TextBox 31"/>
          <p:cNvSpPr txBox="1"/>
          <p:nvPr/>
        </p:nvSpPr>
        <p:spPr>
          <a:xfrm>
            <a:off x="1207007" y="2715768"/>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Loz Low Ctr</a:t>
            </a:r>
          </a:p>
        </p:txBody>
      </p:sp>
      <p:sp>
        <p:nvSpPr>
          <p:cNvPr id="33" name="TextBox 32"/>
          <p:cNvSpPr txBox="1"/>
          <p:nvPr/>
        </p:nvSpPr>
        <p:spPr>
          <a:xfrm>
            <a:off x="2743199" y="2715768"/>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5</a:t>
            </a:r>
          </a:p>
        </p:txBody>
      </p:sp>
      <p:sp>
        <p:nvSpPr>
          <p:cNvPr id="34" name="TextBox 33"/>
          <p:cNvSpPr txBox="1"/>
          <p:nvPr/>
        </p:nvSpPr>
        <p:spPr>
          <a:xfrm>
            <a:off x="804671" y="3154680"/>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Loz Gold Fill Low Ctr, +4</a:t>
            </a:r>
          </a:p>
        </p:txBody>
      </p:sp>
      <p:sp>
        <p:nvSpPr>
          <p:cNvPr id="35" name="Rectangle 34"/>
          <p:cNvSpPr/>
          <p:nvPr/>
        </p:nvSpPr>
        <p:spPr>
          <a:xfrm>
            <a:off x="3300983" y="2569464"/>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00983" y="2569464"/>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65575" y="2660904"/>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F</a:t>
            </a:r>
          </a:p>
        </p:txBody>
      </p:sp>
      <p:sp>
        <p:nvSpPr>
          <p:cNvPr id="38" name="TextBox 37"/>
          <p:cNvSpPr txBox="1"/>
          <p:nvPr/>
        </p:nvSpPr>
        <p:spPr>
          <a:xfrm>
            <a:off x="3867911" y="2715768"/>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Loz Top Ctr Low</a:t>
            </a:r>
          </a:p>
        </p:txBody>
      </p:sp>
      <p:sp>
        <p:nvSpPr>
          <p:cNvPr id="39" name="TextBox 38"/>
          <p:cNvSpPr txBox="1"/>
          <p:nvPr/>
        </p:nvSpPr>
        <p:spPr>
          <a:xfrm>
            <a:off x="5404103" y="2715768"/>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5</a:t>
            </a:r>
          </a:p>
        </p:txBody>
      </p:sp>
      <p:sp>
        <p:nvSpPr>
          <p:cNvPr id="40" name="TextBox 39"/>
          <p:cNvSpPr txBox="1"/>
          <p:nvPr/>
        </p:nvSpPr>
        <p:spPr>
          <a:xfrm>
            <a:off x="3465575" y="3154680"/>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Loz Gold Fill Top Ctr Low, +4</a:t>
            </a:r>
          </a:p>
        </p:txBody>
      </p:sp>
      <p:sp>
        <p:nvSpPr>
          <p:cNvPr id="41" name="Rectangle 40"/>
          <p:cNvSpPr/>
          <p:nvPr/>
        </p:nvSpPr>
        <p:spPr>
          <a:xfrm>
            <a:off x="5961888" y="2569464"/>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961888" y="2569464"/>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26479" y="2660904"/>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G</a:t>
            </a:r>
          </a:p>
        </p:txBody>
      </p:sp>
      <p:sp>
        <p:nvSpPr>
          <p:cNvPr id="44" name="TextBox 43"/>
          <p:cNvSpPr txBox="1"/>
          <p:nvPr/>
        </p:nvSpPr>
        <p:spPr>
          <a:xfrm>
            <a:off x="6528816" y="2715768"/>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Loz Top Ctr</a:t>
            </a:r>
          </a:p>
        </p:txBody>
      </p:sp>
      <p:sp>
        <p:nvSpPr>
          <p:cNvPr id="45" name="TextBox 44"/>
          <p:cNvSpPr txBox="1"/>
          <p:nvPr/>
        </p:nvSpPr>
        <p:spPr>
          <a:xfrm>
            <a:off x="8065007" y="2715768"/>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5</a:t>
            </a:r>
          </a:p>
        </p:txBody>
      </p:sp>
      <p:sp>
        <p:nvSpPr>
          <p:cNvPr id="46" name="TextBox 45"/>
          <p:cNvSpPr txBox="1"/>
          <p:nvPr/>
        </p:nvSpPr>
        <p:spPr>
          <a:xfrm>
            <a:off x="6126479" y="3154680"/>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Loz Gold Fill Top Ctr, +4</a:t>
            </a:r>
          </a:p>
        </p:txBody>
      </p:sp>
      <p:sp>
        <p:nvSpPr>
          <p:cNvPr id="47" name="Rectangle 46"/>
          <p:cNvSpPr/>
          <p:nvPr/>
        </p:nvSpPr>
        <p:spPr>
          <a:xfrm>
            <a:off x="8622791" y="2569464"/>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22791" y="2569464"/>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787383" y="2660904"/>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H</a:t>
            </a:r>
          </a:p>
        </p:txBody>
      </p:sp>
      <p:sp>
        <p:nvSpPr>
          <p:cNvPr id="50" name="TextBox 49"/>
          <p:cNvSpPr txBox="1"/>
          <p:nvPr/>
        </p:nvSpPr>
        <p:spPr>
          <a:xfrm>
            <a:off x="9189719" y="2715768"/>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Loz Top Left Low</a:t>
            </a:r>
          </a:p>
        </p:txBody>
      </p:sp>
      <p:sp>
        <p:nvSpPr>
          <p:cNvPr id="51" name="TextBox 50"/>
          <p:cNvSpPr txBox="1"/>
          <p:nvPr/>
        </p:nvSpPr>
        <p:spPr>
          <a:xfrm>
            <a:off x="10725911" y="2715768"/>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5</a:t>
            </a:r>
          </a:p>
        </p:txBody>
      </p:sp>
      <p:sp>
        <p:nvSpPr>
          <p:cNvPr id="52" name="TextBox 51"/>
          <p:cNvSpPr txBox="1"/>
          <p:nvPr/>
        </p:nvSpPr>
        <p:spPr>
          <a:xfrm>
            <a:off x="8787383" y="3154680"/>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Loz Variant Fill Top Left Low, +4</a:t>
            </a:r>
          </a:p>
        </p:txBody>
      </p:sp>
      <p:sp>
        <p:nvSpPr>
          <p:cNvPr id="53" name="Rectangle 52"/>
          <p:cNvSpPr/>
          <p:nvPr/>
        </p:nvSpPr>
        <p:spPr>
          <a:xfrm>
            <a:off x="640080" y="3694176"/>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40080" y="3694176"/>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4671" y="3785615"/>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I</a:t>
            </a:r>
          </a:p>
        </p:txBody>
      </p:sp>
      <p:sp>
        <p:nvSpPr>
          <p:cNvPr id="56" name="TextBox 55"/>
          <p:cNvSpPr txBox="1"/>
          <p:nvPr/>
        </p:nvSpPr>
        <p:spPr>
          <a:xfrm>
            <a:off x="1207007" y="3840480"/>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Loz Top Left</a:t>
            </a:r>
          </a:p>
        </p:txBody>
      </p:sp>
      <p:sp>
        <p:nvSpPr>
          <p:cNvPr id="57" name="TextBox 56"/>
          <p:cNvSpPr txBox="1"/>
          <p:nvPr/>
        </p:nvSpPr>
        <p:spPr>
          <a:xfrm>
            <a:off x="2743199" y="3840480"/>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5</a:t>
            </a:r>
          </a:p>
        </p:txBody>
      </p:sp>
      <p:sp>
        <p:nvSpPr>
          <p:cNvPr id="58" name="TextBox 57"/>
          <p:cNvSpPr txBox="1"/>
          <p:nvPr/>
        </p:nvSpPr>
        <p:spPr>
          <a:xfrm>
            <a:off x="804671" y="4279392"/>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Loz Text Top Left, +4</a:t>
            </a:r>
          </a:p>
        </p:txBody>
      </p:sp>
      <p:sp>
        <p:nvSpPr>
          <p:cNvPr id="59" name="Rectangle 58"/>
          <p:cNvSpPr/>
          <p:nvPr/>
        </p:nvSpPr>
        <p:spPr>
          <a:xfrm>
            <a:off x="3300983" y="3694176"/>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300983" y="3694176"/>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65575" y="3785615"/>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J</a:t>
            </a:r>
          </a:p>
        </p:txBody>
      </p:sp>
      <p:sp>
        <p:nvSpPr>
          <p:cNvPr id="62" name="TextBox 61"/>
          <p:cNvSpPr txBox="1"/>
          <p:nvPr/>
        </p:nvSpPr>
        <p:spPr>
          <a:xfrm>
            <a:off x="3867911" y="3840480"/>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Advanced Care</a:t>
            </a:r>
          </a:p>
        </p:txBody>
      </p:sp>
      <p:sp>
        <p:nvSpPr>
          <p:cNvPr id="63" name="TextBox 62"/>
          <p:cNvSpPr txBox="1"/>
          <p:nvPr/>
        </p:nvSpPr>
        <p:spPr>
          <a:xfrm>
            <a:off x="5404103" y="3840480"/>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4</a:t>
            </a:r>
          </a:p>
        </p:txBody>
      </p:sp>
      <p:sp>
        <p:nvSpPr>
          <p:cNvPr id="64" name="TextBox 63"/>
          <p:cNvSpPr txBox="1"/>
          <p:nvPr/>
        </p:nvSpPr>
        <p:spPr>
          <a:xfrm>
            <a:off x="3465575" y="4279392"/>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Adv Care Caps No Wordmark, +3</a:t>
            </a:r>
          </a:p>
        </p:txBody>
      </p:sp>
      <p:sp>
        <p:nvSpPr>
          <p:cNvPr id="65" name="Rectangle 64"/>
          <p:cNvSpPr/>
          <p:nvPr/>
        </p:nvSpPr>
        <p:spPr>
          <a:xfrm>
            <a:off x="5961888" y="3694176"/>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961888" y="3694176"/>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126479" y="3785615"/>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K</a:t>
            </a:r>
          </a:p>
        </p:txBody>
      </p:sp>
      <p:sp>
        <p:nvSpPr>
          <p:cNvPr id="68" name="TextBox 67"/>
          <p:cNvSpPr txBox="1"/>
          <p:nvPr/>
        </p:nvSpPr>
        <p:spPr>
          <a:xfrm>
            <a:off x="6528816" y="3840480"/>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Wordmark</a:t>
            </a:r>
          </a:p>
        </p:txBody>
      </p:sp>
      <p:sp>
        <p:nvSpPr>
          <p:cNvPr id="69" name="TextBox 68"/>
          <p:cNvSpPr txBox="1"/>
          <p:nvPr/>
        </p:nvSpPr>
        <p:spPr>
          <a:xfrm>
            <a:off x="8065007" y="3840480"/>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4</a:t>
            </a:r>
          </a:p>
        </p:txBody>
      </p:sp>
      <p:sp>
        <p:nvSpPr>
          <p:cNvPr id="70" name="TextBox 69"/>
          <p:cNvSpPr txBox="1"/>
          <p:nvPr/>
        </p:nvSpPr>
        <p:spPr>
          <a:xfrm>
            <a:off x="6126479" y="4279392"/>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Wordmark 100%, Wordmark 60%, +2</a:t>
            </a:r>
          </a:p>
        </p:txBody>
      </p:sp>
      <p:sp>
        <p:nvSpPr>
          <p:cNvPr id="71" name="Rectangle 70"/>
          <p:cNvSpPr/>
          <p:nvPr/>
        </p:nvSpPr>
        <p:spPr>
          <a:xfrm>
            <a:off x="8622791" y="3694176"/>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622791" y="3694176"/>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787383" y="3785615"/>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L</a:t>
            </a:r>
          </a:p>
        </p:txBody>
      </p:sp>
      <p:sp>
        <p:nvSpPr>
          <p:cNvPr id="74" name="TextBox 73"/>
          <p:cNvSpPr txBox="1"/>
          <p:nvPr/>
        </p:nvSpPr>
        <p:spPr>
          <a:xfrm>
            <a:off x="9189719" y="3840480"/>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Bird Treatment</a:t>
            </a:r>
          </a:p>
        </p:txBody>
      </p:sp>
      <p:sp>
        <p:nvSpPr>
          <p:cNvPr id="75" name="TextBox 74"/>
          <p:cNvSpPr txBox="1"/>
          <p:nvPr/>
        </p:nvSpPr>
        <p:spPr>
          <a:xfrm>
            <a:off x="10725911" y="3840480"/>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4</a:t>
            </a:r>
          </a:p>
        </p:txBody>
      </p:sp>
      <p:sp>
        <p:nvSpPr>
          <p:cNvPr id="76" name="TextBox 75"/>
          <p:cNvSpPr txBox="1"/>
          <p:nvPr/>
        </p:nvSpPr>
        <p:spPr>
          <a:xfrm>
            <a:off x="8787383" y="4279392"/>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Bird Gold Cold Foil, Bird Gold Gravure, +2</a:t>
            </a:r>
          </a:p>
        </p:txBody>
      </p:sp>
      <p:sp>
        <p:nvSpPr>
          <p:cNvPr id="77" name="Rectangle 76"/>
          <p:cNvSpPr/>
          <p:nvPr/>
        </p:nvSpPr>
        <p:spPr>
          <a:xfrm>
            <a:off x="640080" y="4818888"/>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40080" y="4818888"/>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04671" y="4910327"/>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M</a:t>
            </a:r>
          </a:p>
        </p:txBody>
      </p:sp>
      <p:sp>
        <p:nvSpPr>
          <p:cNvPr id="80" name="TextBox 79"/>
          <p:cNvSpPr txBox="1"/>
          <p:nvPr/>
        </p:nvSpPr>
        <p:spPr>
          <a:xfrm>
            <a:off x="1207007" y="4965192"/>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Gold Foil Band</a:t>
            </a:r>
          </a:p>
        </p:txBody>
      </p:sp>
      <p:sp>
        <p:nvSpPr>
          <p:cNvPr id="81" name="TextBox 80"/>
          <p:cNvSpPr txBox="1"/>
          <p:nvPr/>
        </p:nvSpPr>
        <p:spPr>
          <a:xfrm>
            <a:off x="2743199" y="4965192"/>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3</a:t>
            </a:r>
          </a:p>
        </p:txBody>
      </p:sp>
      <p:sp>
        <p:nvSpPr>
          <p:cNvPr id="82" name="TextBox 81"/>
          <p:cNvSpPr txBox="1"/>
          <p:nvPr/>
        </p:nvSpPr>
        <p:spPr>
          <a:xfrm>
            <a:off x="804671" y="5404103"/>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Gold Band Off, Gold Band On, +1</a:t>
            </a:r>
          </a:p>
        </p:txBody>
      </p:sp>
      <p:sp>
        <p:nvSpPr>
          <p:cNvPr id="83" name="Rectangle 82"/>
          <p:cNvSpPr/>
          <p:nvPr/>
        </p:nvSpPr>
        <p:spPr>
          <a:xfrm>
            <a:off x="3300983" y="4818888"/>
            <a:ext cx="2542032" cy="100584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300983" y="4818888"/>
            <a:ext cx="91440" cy="1005840"/>
          </a:xfrm>
          <a:prstGeom prst="rect">
            <a:avLst/>
          </a:prstGeom>
          <a:solidFill>
            <a:srgbClr val="007B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465575" y="4910327"/>
            <a:ext cx="384048" cy="384048"/>
          </a:xfrm>
          <a:prstGeom prst="rect">
            <a:avLst/>
          </a:prstGeom>
          <a:noFill/>
        </p:spPr>
        <p:txBody>
          <a:bodyPr wrap="square" anchor="t" lIns="0" rIns="0" tIns="0" bIns="0"/>
          <a:lstStyle/>
          <a:p>
            <a:pPr algn="l">
              <a:spcBef>
                <a:spcPts val="0"/>
              </a:spcBef>
              <a:spcAft>
                <a:spcPts val="0"/>
              </a:spcAft>
            </a:pPr>
            <a:r>
              <a:rPr sz="2600" b="1" i="0">
                <a:solidFill>
                  <a:srgbClr val="007B7F"/>
                </a:solidFill>
                <a:latin typeface="Karla"/>
              </a:rPr>
              <a:t>N</a:t>
            </a:r>
          </a:p>
        </p:txBody>
      </p:sp>
      <p:sp>
        <p:nvSpPr>
          <p:cNvPr id="86" name="TextBox 85"/>
          <p:cNvSpPr txBox="1"/>
          <p:nvPr/>
        </p:nvSpPr>
        <p:spPr>
          <a:xfrm>
            <a:off x="3867911" y="4965192"/>
            <a:ext cx="1536192" cy="256032"/>
          </a:xfrm>
          <a:prstGeom prst="rect">
            <a:avLst/>
          </a:prstGeom>
          <a:noFill/>
        </p:spPr>
        <p:txBody>
          <a:bodyPr wrap="none" anchor="t" lIns="0" rIns="0" tIns="0" bIns="0"/>
          <a:lstStyle/>
          <a:p>
            <a:pPr algn="l">
              <a:spcBef>
                <a:spcPts val="0"/>
              </a:spcBef>
              <a:spcAft>
                <a:spcPts val="0"/>
              </a:spcAft>
            </a:pPr>
            <a:r>
              <a:rPr sz="1300" b="1" i="0">
                <a:solidFill>
                  <a:srgbClr val="1E2D44"/>
                </a:solidFill>
                <a:latin typeface="Karla"/>
              </a:rPr>
              <a:t>Cap Color</a:t>
            </a:r>
          </a:p>
        </p:txBody>
      </p:sp>
      <p:sp>
        <p:nvSpPr>
          <p:cNvPr id="87" name="TextBox 86"/>
          <p:cNvSpPr txBox="1"/>
          <p:nvPr/>
        </p:nvSpPr>
        <p:spPr>
          <a:xfrm>
            <a:off x="5404103" y="4965192"/>
            <a:ext cx="329184" cy="256032"/>
          </a:xfrm>
          <a:prstGeom prst="rect">
            <a:avLst/>
          </a:prstGeom>
          <a:noFill/>
        </p:spPr>
        <p:txBody>
          <a:bodyPr wrap="square" anchor="t" lIns="0" rIns="0" tIns="0" bIns="0"/>
          <a:lstStyle/>
          <a:p>
            <a:pPr algn="r">
              <a:spcBef>
                <a:spcPts val="0"/>
              </a:spcBef>
              <a:spcAft>
                <a:spcPts val="0"/>
              </a:spcAft>
            </a:pPr>
            <a:r>
              <a:rPr sz="1400" b="1" i="0">
                <a:solidFill>
                  <a:srgbClr val="626F7B"/>
                </a:solidFill>
                <a:latin typeface="Karla"/>
              </a:rPr>
              <a:t>3</a:t>
            </a:r>
          </a:p>
        </p:txBody>
      </p:sp>
      <p:sp>
        <p:nvSpPr>
          <p:cNvPr id="88" name="TextBox 87"/>
          <p:cNvSpPr txBox="1"/>
          <p:nvPr/>
        </p:nvSpPr>
        <p:spPr>
          <a:xfrm>
            <a:off x="3465575" y="5404103"/>
            <a:ext cx="2249424" cy="329184"/>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Cap Gold, Cap Pearl White, +1</a:t>
            </a:r>
          </a:p>
        </p:txBody>
      </p:sp>
      <p:sp>
        <p:nvSpPr>
          <p:cNvPr id="89" name="TextBox 88"/>
          <p:cNvSpPr txBox="1"/>
          <p:nvPr/>
        </p:nvSpPr>
        <p:spPr>
          <a:xfrm>
            <a:off x="640080" y="6053328"/>
            <a:ext cx="10515600" cy="219456"/>
          </a:xfrm>
          <a:prstGeom prst="rect">
            <a:avLst/>
          </a:prstGeom>
          <a:noFill/>
        </p:spPr>
        <p:txBody>
          <a:bodyPr wrap="square" anchor="t" lIns="0" rIns="0" tIns="0" bIns="0"/>
          <a:lstStyle/>
          <a:p>
            <a:pPr algn="l">
              <a:spcBef>
                <a:spcPts val="0"/>
              </a:spcBef>
              <a:spcAft>
                <a:spcPts val="0"/>
              </a:spcAft>
            </a:pPr>
            <a:r>
              <a:rPr sz="1100" b="0" i="0">
                <a:solidFill>
                  <a:srgbClr val="626F7B"/>
                </a:solidFill>
                <a:latin typeface="Karla"/>
              </a:rPr>
              <a:t>Each card shows the silo letter, the element count, and a sample of the options.</a:t>
            </a:r>
          </a:p>
        </p:txBody>
      </p:sp>
      <p:sp>
        <p:nvSpPr>
          <p:cNvPr id="90" name="Rectangle 89"/>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92" name="TextBox 91"/>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WHAT YOU GET BACK</a:t>
            </a:r>
          </a:p>
        </p:txBody>
      </p:sp>
      <p:sp>
        <p:nvSpPr>
          <p:cNvPr id="3" name="TextBox 2"/>
          <p:cNvSpPr txBox="1"/>
          <p:nvPr/>
        </p:nvSpPr>
        <p:spPr>
          <a:xfrm>
            <a:off x="566928" y="658368"/>
            <a:ext cx="10972800" cy="640080"/>
          </a:xfrm>
          <a:prstGeom prst="rect">
            <a:avLst/>
          </a:prstGeom>
          <a:noFill/>
        </p:spPr>
        <p:txBody>
          <a:bodyPr wrap="square" anchor="t"/>
          <a:lstStyle/>
          <a:p>
            <a:pPr algn="l">
              <a:spcAft>
                <a:spcPts val="400"/>
              </a:spcAft>
            </a:pPr>
            <a:r>
              <a:rPr sz="3000" b="1" i="0">
                <a:solidFill>
                  <a:srgbClr val="1E2D44"/>
                </a:solidFill>
                <a:latin typeface="Karla"/>
              </a:rPr>
              <a:t>What design elements drive pack appeal?</a:t>
            </a:r>
          </a:p>
        </p:txBody>
      </p:sp>
      <p:sp>
        <p:nvSpPr>
          <p:cNvPr id="4" name="Rounded Rectangle 3"/>
          <p:cNvSpPr/>
          <p:nvPr/>
        </p:nvSpPr>
        <p:spPr>
          <a:xfrm>
            <a:off x="566928" y="1600200"/>
            <a:ext cx="5486400" cy="1920240"/>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856232"/>
            <a:ext cx="1097280" cy="365760"/>
          </a:xfrm>
          <a:prstGeom prst="rect">
            <a:avLst/>
          </a:prstGeom>
          <a:noFill/>
        </p:spPr>
        <p:txBody>
          <a:bodyPr wrap="square" anchor="t"/>
          <a:lstStyle/>
          <a:p>
            <a:pPr algn="l">
              <a:spcAft>
                <a:spcPts val="400"/>
              </a:spcAft>
            </a:pPr>
            <a:r>
              <a:rPr sz="1800" b="1" i="0">
                <a:solidFill>
                  <a:srgbClr val="04746E"/>
                </a:solidFill>
                <a:latin typeface="Karla"/>
              </a:rPr>
              <a:t>01</a:t>
            </a:r>
          </a:p>
        </p:txBody>
      </p:sp>
      <p:sp>
        <p:nvSpPr>
          <p:cNvPr id="6" name="TextBox 5"/>
          <p:cNvSpPr txBox="1"/>
          <p:nvPr/>
        </p:nvSpPr>
        <p:spPr>
          <a:xfrm>
            <a:off x="841247" y="2286000"/>
            <a:ext cx="4937760" cy="365760"/>
          </a:xfrm>
          <a:prstGeom prst="rect">
            <a:avLst/>
          </a:prstGeom>
          <a:noFill/>
        </p:spPr>
        <p:txBody>
          <a:bodyPr wrap="square" anchor="t"/>
          <a:lstStyle/>
          <a:p>
            <a:pPr algn="l">
              <a:spcAft>
                <a:spcPts val="400"/>
              </a:spcAft>
            </a:pPr>
            <a:r>
              <a:rPr sz="2000" b="1" i="0">
                <a:solidFill>
                  <a:srgbClr val="1E2D44"/>
                </a:solidFill>
                <a:latin typeface="Karla"/>
              </a:rPr>
              <a:t>Combination winners</a:t>
            </a:r>
          </a:p>
        </p:txBody>
      </p:sp>
      <p:sp>
        <p:nvSpPr>
          <p:cNvPr id="7" name="TextBox 6"/>
          <p:cNvSpPr txBox="1"/>
          <p:nvPr/>
        </p:nvSpPr>
        <p:spPr>
          <a:xfrm>
            <a:off x="841247" y="2743200"/>
            <a:ext cx="4937760" cy="594360"/>
          </a:xfrm>
          <a:prstGeom prst="rect">
            <a:avLst/>
          </a:prstGeom>
          <a:noFill/>
        </p:spPr>
        <p:txBody>
          <a:bodyPr wrap="square" anchor="t"/>
          <a:lstStyle/>
          <a:p>
            <a:pPr algn="l">
              <a:spcAft>
                <a:spcPts val="400"/>
              </a:spcAft>
            </a:pPr>
            <a:r>
              <a:rPr sz="1400" b="0" i="0">
                <a:solidFill>
                  <a:srgbClr val="617086"/>
                </a:solidFill>
                <a:latin typeface="Karla"/>
              </a:rPr>
              <a:t>The strongest option in each group, shown together, against a weaker combination of the same groups.</a:t>
            </a:r>
          </a:p>
        </p:txBody>
      </p:sp>
      <p:sp>
        <p:nvSpPr>
          <p:cNvPr id="8" name="Rounded Rectangle 7"/>
          <p:cNvSpPr/>
          <p:nvPr/>
        </p:nvSpPr>
        <p:spPr>
          <a:xfrm>
            <a:off x="6327648" y="1600200"/>
            <a:ext cx="5486400" cy="1920240"/>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1968" y="1856232"/>
            <a:ext cx="1097280" cy="365760"/>
          </a:xfrm>
          <a:prstGeom prst="rect">
            <a:avLst/>
          </a:prstGeom>
          <a:noFill/>
        </p:spPr>
        <p:txBody>
          <a:bodyPr wrap="square" anchor="t"/>
          <a:lstStyle/>
          <a:p>
            <a:pPr algn="l">
              <a:spcAft>
                <a:spcPts val="400"/>
              </a:spcAft>
            </a:pPr>
            <a:r>
              <a:rPr sz="1800" b="1" i="0">
                <a:solidFill>
                  <a:srgbClr val="04746E"/>
                </a:solidFill>
                <a:latin typeface="Karla"/>
              </a:rPr>
              <a:t>02</a:t>
            </a:r>
          </a:p>
        </p:txBody>
      </p:sp>
      <p:sp>
        <p:nvSpPr>
          <p:cNvPr id="10" name="TextBox 9"/>
          <p:cNvSpPr txBox="1"/>
          <p:nvPr/>
        </p:nvSpPr>
        <p:spPr>
          <a:xfrm>
            <a:off x="6601968" y="2286000"/>
            <a:ext cx="4937760" cy="365760"/>
          </a:xfrm>
          <a:prstGeom prst="rect">
            <a:avLst/>
          </a:prstGeom>
          <a:noFill/>
        </p:spPr>
        <p:txBody>
          <a:bodyPr wrap="square" anchor="t"/>
          <a:lstStyle/>
          <a:p>
            <a:pPr algn="l">
              <a:spcAft>
                <a:spcPts val="400"/>
              </a:spcAft>
            </a:pPr>
            <a:r>
              <a:rPr sz="2000" b="1" i="0">
                <a:solidFill>
                  <a:srgbClr val="1E2D44"/>
                </a:solidFill>
                <a:latin typeface="Karla"/>
              </a:rPr>
              <a:t>Category winners</a:t>
            </a:r>
          </a:p>
        </p:txBody>
      </p:sp>
      <p:sp>
        <p:nvSpPr>
          <p:cNvPr id="11" name="TextBox 10"/>
          <p:cNvSpPr txBox="1"/>
          <p:nvPr/>
        </p:nvSpPr>
        <p:spPr>
          <a:xfrm>
            <a:off x="6601968" y="2743200"/>
            <a:ext cx="4937760" cy="594360"/>
          </a:xfrm>
          <a:prstGeom prst="rect">
            <a:avLst/>
          </a:prstGeom>
          <a:noFill/>
        </p:spPr>
        <p:txBody>
          <a:bodyPr wrap="square" anchor="t"/>
          <a:lstStyle/>
          <a:p>
            <a:pPr algn="l">
              <a:spcAft>
                <a:spcPts val="400"/>
              </a:spcAft>
            </a:pPr>
            <a:r>
              <a:rPr sz="1400" b="0" i="0">
                <a:solidFill>
                  <a:srgbClr val="617086"/>
                </a:solidFill>
                <a:latin typeface="Karla"/>
              </a:rPr>
              <a:t>The winning element in every category, so the same read works one category at a time.</a:t>
            </a:r>
          </a:p>
        </p:txBody>
      </p:sp>
      <p:sp>
        <p:nvSpPr>
          <p:cNvPr id="12" name="Rounded Rectangle 11"/>
          <p:cNvSpPr/>
          <p:nvPr/>
        </p:nvSpPr>
        <p:spPr>
          <a:xfrm>
            <a:off x="566928" y="3749039"/>
            <a:ext cx="5486400" cy="1920240"/>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4005072"/>
            <a:ext cx="1097280" cy="365760"/>
          </a:xfrm>
          <a:prstGeom prst="rect">
            <a:avLst/>
          </a:prstGeom>
          <a:noFill/>
        </p:spPr>
        <p:txBody>
          <a:bodyPr wrap="square" anchor="t"/>
          <a:lstStyle/>
          <a:p>
            <a:pPr algn="l">
              <a:spcAft>
                <a:spcPts val="400"/>
              </a:spcAft>
            </a:pPr>
            <a:r>
              <a:rPr sz="1800" b="1" i="0">
                <a:solidFill>
                  <a:srgbClr val="04746E"/>
                </a:solidFill>
                <a:latin typeface="Karla"/>
              </a:rPr>
              <a:t>03</a:t>
            </a:r>
          </a:p>
        </p:txBody>
      </p:sp>
      <p:sp>
        <p:nvSpPr>
          <p:cNvPr id="14" name="TextBox 13"/>
          <p:cNvSpPr txBox="1"/>
          <p:nvPr/>
        </p:nvSpPr>
        <p:spPr>
          <a:xfrm>
            <a:off x="841247" y="4434840"/>
            <a:ext cx="4937760" cy="365760"/>
          </a:xfrm>
          <a:prstGeom prst="rect">
            <a:avLst/>
          </a:prstGeom>
          <a:noFill/>
        </p:spPr>
        <p:txBody>
          <a:bodyPr wrap="square" anchor="t"/>
          <a:lstStyle/>
          <a:p>
            <a:pPr algn="l">
              <a:spcAft>
                <a:spcPts val="400"/>
              </a:spcAft>
            </a:pPr>
            <a:r>
              <a:rPr sz="2000" b="1" i="0">
                <a:solidFill>
                  <a:srgbClr val="1E2D44"/>
                </a:solidFill>
                <a:latin typeface="Karla"/>
              </a:rPr>
              <a:t>Element winners</a:t>
            </a:r>
          </a:p>
        </p:txBody>
      </p:sp>
      <p:sp>
        <p:nvSpPr>
          <p:cNvPr id="15" name="TextBox 14"/>
          <p:cNvSpPr txBox="1"/>
          <p:nvPr/>
        </p:nvSpPr>
        <p:spPr>
          <a:xfrm>
            <a:off x="841247" y="4892040"/>
            <a:ext cx="4937760" cy="594360"/>
          </a:xfrm>
          <a:prstGeom prst="rect">
            <a:avLst/>
          </a:prstGeom>
          <a:noFill/>
        </p:spPr>
        <p:txBody>
          <a:bodyPr wrap="square" anchor="t"/>
          <a:lstStyle/>
          <a:p>
            <a:pPr algn="l">
              <a:spcAft>
                <a:spcPts val="400"/>
              </a:spcAft>
            </a:pPr>
            <a:r>
              <a:rPr sz="1400" b="0" i="0">
                <a:solidFill>
                  <a:srgbClr val="617086"/>
                </a:solidFill>
                <a:latin typeface="Karla"/>
              </a:rPr>
              <a:t>Every element inside its category, with the score used in the charts.</a:t>
            </a:r>
          </a:p>
        </p:txBody>
      </p:sp>
      <p:sp>
        <p:nvSpPr>
          <p:cNvPr id="16" name="Rounded Rectangle 15"/>
          <p:cNvSpPr/>
          <p:nvPr/>
        </p:nvSpPr>
        <p:spPr>
          <a:xfrm>
            <a:off x="6327648" y="3749039"/>
            <a:ext cx="5486400" cy="1920240"/>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1968" y="4005072"/>
            <a:ext cx="1097280" cy="365760"/>
          </a:xfrm>
          <a:prstGeom prst="rect">
            <a:avLst/>
          </a:prstGeom>
          <a:noFill/>
        </p:spPr>
        <p:txBody>
          <a:bodyPr wrap="square" anchor="t"/>
          <a:lstStyle/>
          <a:p>
            <a:pPr algn="l">
              <a:spcAft>
                <a:spcPts val="400"/>
              </a:spcAft>
            </a:pPr>
            <a:r>
              <a:rPr sz="1800" b="1" i="0">
                <a:solidFill>
                  <a:srgbClr val="04746E"/>
                </a:solidFill>
                <a:latin typeface="Karla"/>
              </a:rPr>
              <a:t>04</a:t>
            </a:r>
          </a:p>
        </p:txBody>
      </p:sp>
      <p:sp>
        <p:nvSpPr>
          <p:cNvPr id="18" name="TextBox 17"/>
          <p:cNvSpPr txBox="1"/>
          <p:nvPr/>
        </p:nvSpPr>
        <p:spPr>
          <a:xfrm>
            <a:off x="6601968" y="4434840"/>
            <a:ext cx="4937760" cy="365760"/>
          </a:xfrm>
          <a:prstGeom prst="rect">
            <a:avLst/>
          </a:prstGeom>
          <a:noFill/>
        </p:spPr>
        <p:txBody>
          <a:bodyPr wrap="square" anchor="t"/>
          <a:lstStyle/>
          <a:p>
            <a:pPr algn="l">
              <a:spcAft>
                <a:spcPts val="400"/>
              </a:spcAft>
            </a:pPr>
            <a:r>
              <a:rPr sz="2000" b="1" i="0">
                <a:solidFill>
                  <a:srgbClr val="1E2D44"/>
                </a:solidFill>
                <a:latin typeface="Karla"/>
              </a:rPr>
              <a:t>Base appeal</a:t>
            </a:r>
          </a:p>
        </p:txBody>
      </p:sp>
      <p:sp>
        <p:nvSpPr>
          <p:cNvPr id="19" name="TextBox 18"/>
          <p:cNvSpPr txBox="1"/>
          <p:nvPr/>
        </p:nvSpPr>
        <p:spPr>
          <a:xfrm>
            <a:off x="6601968" y="4892040"/>
            <a:ext cx="4937760" cy="594360"/>
          </a:xfrm>
          <a:prstGeom prst="rect">
            <a:avLst/>
          </a:prstGeom>
          <a:noFill/>
        </p:spPr>
        <p:txBody>
          <a:bodyPr wrap="square" anchor="t"/>
          <a:lstStyle/>
          <a:p>
            <a:pPr algn="l">
              <a:spcAft>
                <a:spcPts val="400"/>
              </a:spcAft>
            </a:pPr>
            <a:r>
              <a:rPr sz="1400" b="0" i="0">
                <a:solidFill>
                  <a:srgbClr val="617086"/>
                </a:solidFill>
                <a:latin typeface="Karla"/>
              </a:rPr>
              <a:t>The Top-2 Box intercept. The pack’s starting appeal before a single element is added.</a:t>
            </a:r>
          </a:p>
        </p:txBody>
      </p:sp>
      <p:sp>
        <p:nvSpPr>
          <p:cNvPr id="20" name="Rectangle 19"/>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22" name="TextBox 21"/>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38328" cy="6858000"/>
          </a:xfrm>
          <a:prstGeom prst="rect">
            <a:avLst/>
          </a:prstGeom>
          <a:solidFill>
            <a:srgbClr val="F2C6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347472"/>
            <a:ext cx="11155680" cy="502920"/>
          </a:xfrm>
          <a:prstGeom prst="rect">
            <a:avLst/>
          </a:prstGeom>
          <a:noFill/>
        </p:spPr>
        <p:txBody>
          <a:bodyPr wrap="square" anchor="t" lIns="0" rIns="0" tIns="0" bIns="0"/>
          <a:lstStyle/>
          <a:p>
            <a:pPr algn="l">
              <a:spcBef>
                <a:spcPts val="0"/>
              </a:spcBef>
              <a:spcAft>
                <a:spcPts val="0"/>
              </a:spcAft>
            </a:pPr>
            <a:r>
              <a:rPr sz="2800" b="1" i="0">
                <a:solidFill>
                  <a:srgbClr val="1E2D44"/>
                </a:solidFill>
                <a:latin typeface="Karla"/>
              </a:rPr>
              <a:t>Reading The Scores – What The Coefficients Mean</a:t>
            </a:r>
          </a:p>
        </p:txBody>
      </p:sp>
      <p:cxnSp>
        <p:nvCxnSpPr>
          <p:cNvPr id="4" name="Connector 3"/>
          <p:cNvCxnSpPr/>
          <p:nvPr/>
        </p:nvCxnSpPr>
        <p:spPr>
          <a:xfrm>
            <a:off x="603504" y="896112"/>
            <a:ext cx="1371600" cy="0"/>
          </a:xfrm>
          <a:prstGeom prst="line">
            <a:avLst/>
          </a:prstGeom>
          <a:ln w="15875">
            <a:solidFill>
              <a:srgbClr val="F2C6C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536192" y="1188720"/>
            <a:ext cx="292608" cy="292608"/>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FFFFFF"/>
                </a:solidFill>
                <a:latin typeface="Karla"/>
              </a:rPr>
              <a:t>1</a:t>
            </a:r>
          </a:p>
        </p:txBody>
      </p:sp>
      <p:sp>
        <p:nvSpPr>
          <p:cNvPr id="6" name="TextBox 5"/>
          <p:cNvSpPr txBox="1"/>
          <p:nvPr/>
        </p:nvSpPr>
        <p:spPr>
          <a:xfrm>
            <a:off x="1920240" y="1115568"/>
            <a:ext cx="7315200" cy="347472"/>
          </a:xfrm>
          <a:prstGeom prst="rect">
            <a:avLst/>
          </a:prstGeom>
          <a:noFill/>
        </p:spPr>
        <p:txBody>
          <a:bodyPr wrap="square" anchor="t" lIns="0" rIns="0" tIns="0" bIns="0"/>
          <a:lstStyle/>
          <a:p>
            <a:pPr algn="l">
              <a:spcBef>
                <a:spcPts val="0"/>
              </a:spcBef>
              <a:spcAft>
                <a:spcPts val="0"/>
              </a:spcAft>
            </a:pPr>
            <a:r>
              <a:rPr sz="1800" b="1" i="0">
                <a:solidFill>
                  <a:srgbClr val="1E2D44"/>
                </a:solidFill>
                <a:latin typeface="Karla"/>
              </a:rPr>
              <a:t>Element Lift Scores</a:t>
            </a:r>
          </a:p>
        </p:txBody>
      </p:sp>
      <p:sp>
        <p:nvSpPr>
          <p:cNvPr id="7" name="TextBox 6"/>
          <p:cNvSpPr txBox="1"/>
          <p:nvPr/>
        </p:nvSpPr>
        <p:spPr>
          <a:xfrm>
            <a:off x="1920240" y="1499616"/>
            <a:ext cx="6766560" cy="640080"/>
          </a:xfrm>
          <a:prstGeom prst="rect">
            <a:avLst/>
          </a:prstGeom>
          <a:noFill/>
        </p:spPr>
        <p:txBody>
          <a:bodyPr wrap="square" anchor="t" lIns="0" rIns="0" tIns="0" bIns="0"/>
          <a:lstStyle/>
          <a:p>
            <a:pPr algn="l">
              <a:spcBef>
                <a:spcPts val="0"/>
              </a:spcBef>
              <a:spcAft>
                <a:spcPts val="0"/>
              </a:spcAft>
            </a:pPr>
            <a:r>
              <a:rPr sz="1400" b="0" i="0">
                <a:solidFill>
                  <a:srgbClr val="1E2D44"/>
                </a:solidFill>
                <a:latin typeface="Karla"/>
              </a:rPr>
              <a:t>Element lifts show the estimated movement each design choice creates above or below the model baseline.</a:t>
            </a:r>
          </a:p>
        </p:txBody>
      </p:sp>
      <p:sp>
        <p:nvSpPr>
          <p:cNvPr id="8" name="Oval 7"/>
          <p:cNvSpPr/>
          <p:nvPr/>
        </p:nvSpPr>
        <p:spPr>
          <a:xfrm>
            <a:off x="1527048" y="3657600"/>
            <a:ext cx="292608" cy="292608"/>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FFFFFF"/>
                </a:solidFill>
                <a:latin typeface="Karla"/>
              </a:rPr>
              <a:t>2</a:t>
            </a:r>
          </a:p>
        </p:txBody>
      </p:sp>
      <p:sp>
        <p:nvSpPr>
          <p:cNvPr id="9" name="TextBox 8"/>
          <p:cNvSpPr txBox="1"/>
          <p:nvPr/>
        </p:nvSpPr>
        <p:spPr>
          <a:xfrm>
            <a:off x="1920240" y="3584448"/>
            <a:ext cx="3840480" cy="347472"/>
          </a:xfrm>
          <a:prstGeom prst="rect">
            <a:avLst/>
          </a:prstGeom>
          <a:noFill/>
        </p:spPr>
        <p:txBody>
          <a:bodyPr wrap="square" anchor="t" lIns="0" rIns="0" tIns="0" bIns="0"/>
          <a:lstStyle/>
          <a:p>
            <a:pPr algn="l">
              <a:spcBef>
                <a:spcPts val="0"/>
              </a:spcBef>
              <a:spcAft>
                <a:spcPts val="0"/>
              </a:spcAft>
            </a:pPr>
            <a:r>
              <a:rPr sz="1800" b="1" i="0">
                <a:solidFill>
                  <a:srgbClr val="1E2D44"/>
                </a:solidFill>
                <a:latin typeface="Karla"/>
              </a:rPr>
              <a:t>Explore Combinations</a:t>
            </a:r>
          </a:p>
        </p:txBody>
      </p:sp>
      <p:sp>
        <p:nvSpPr>
          <p:cNvPr id="10" name="TextBox 9"/>
          <p:cNvSpPr txBox="1"/>
          <p:nvPr/>
        </p:nvSpPr>
        <p:spPr>
          <a:xfrm>
            <a:off x="1920240" y="3968496"/>
            <a:ext cx="4023360" cy="640080"/>
          </a:xfrm>
          <a:prstGeom prst="rect">
            <a:avLst/>
          </a:prstGeom>
          <a:noFill/>
        </p:spPr>
        <p:txBody>
          <a:bodyPr wrap="square" anchor="t" lIns="0" rIns="0" tIns="0" bIns="0"/>
          <a:lstStyle/>
          <a:p>
            <a:pPr algn="l">
              <a:spcBef>
                <a:spcPts val="0"/>
              </a:spcBef>
              <a:spcAft>
                <a:spcPts val="0"/>
              </a:spcAft>
            </a:pPr>
            <a:r>
              <a:rPr sz="1400" b="0" i="0">
                <a:solidFill>
                  <a:srgbClr val="1E2D44"/>
                </a:solidFill>
                <a:latin typeface="Karla"/>
              </a:rPr>
              <a:t>These scores can be combined to explore multiple design scenarios.</a:t>
            </a:r>
          </a:p>
        </p:txBody>
      </p:sp>
      <p:sp>
        <p:nvSpPr>
          <p:cNvPr id="11" name="Oval 10"/>
          <p:cNvSpPr/>
          <p:nvPr/>
        </p:nvSpPr>
        <p:spPr>
          <a:xfrm>
            <a:off x="6757416" y="3657600"/>
            <a:ext cx="292608" cy="292608"/>
          </a:xfrm>
          <a:prstGeom prst="ellipse">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FFFFFF"/>
                </a:solidFill>
                <a:latin typeface="Karla"/>
              </a:rPr>
              <a:t>3</a:t>
            </a:r>
          </a:p>
        </p:txBody>
      </p:sp>
      <p:sp>
        <p:nvSpPr>
          <p:cNvPr id="12" name="TextBox 11"/>
          <p:cNvSpPr txBox="1"/>
          <p:nvPr/>
        </p:nvSpPr>
        <p:spPr>
          <a:xfrm>
            <a:off x="7150608" y="3584448"/>
            <a:ext cx="4023360" cy="347472"/>
          </a:xfrm>
          <a:prstGeom prst="rect">
            <a:avLst/>
          </a:prstGeom>
          <a:noFill/>
        </p:spPr>
        <p:txBody>
          <a:bodyPr wrap="square" anchor="t" lIns="0" rIns="0" tIns="0" bIns="0"/>
          <a:lstStyle/>
          <a:p>
            <a:pPr algn="l">
              <a:spcBef>
                <a:spcPts val="0"/>
              </a:spcBef>
              <a:spcAft>
                <a:spcPts val="0"/>
              </a:spcAft>
            </a:pPr>
            <a:r>
              <a:rPr sz="1800" b="1" i="0">
                <a:solidFill>
                  <a:srgbClr val="1E2D44"/>
                </a:solidFill>
                <a:latin typeface="Karla"/>
              </a:rPr>
              <a:t>Reading The Scale</a:t>
            </a:r>
          </a:p>
        </p:txBody>
      </p:sp>
      <p:sp>
        <p:nvSpPr>
          <p:cNvPr id="13" name="TextBox 12"/>
          <p:cNvSpPr txBox="1"/>
          <p:nvPr/>
        </p:nvSpPr>
        <p:spPr>
          <a:xfrm>
            <a:off x="7150608" y="3968496"/>
            <a:ext cx="4023360" cy="292608"/>
          </a:xfrm>
          <a:prstGeom prst="rect">
            <a:avLst/>
          </a:prstGeom>
          <a:noFill/>
        </p:spPr>
        <p:txBody>
          <a:bodyPr wrap="square" anchor="t" lIns="0" rIns="0" tIns="0" bIns="0"/>
          <a:lstStyle/>
          <a:p>
            <a:pPr algn="l">
              <a:spcBef>
                <a:spcPts val="0"/>
              </a:spcBef>
              <a:spcAft>
                <a:spcPts val="0"/>
              </a:spcAft>
            </a:pPr>
            <a:r>
              <a:rPr sz="1400" b="0" i="0">
                <a:solidFill>
                  <a:srgbClr val="1E2D44"/>
                </a:solidFill>
                <a:latin typeface="Karla"/>
              </a:rPr>
              <a:t>Coefficient Interpretation</a:t>
            </a:r>
          </a:p>
        </p:txBody>
      </p:sp>
      <p:cxnSp>
        <p:nvCxnSpPr>
          <p:cNvPr id="14" name="Connector 13"/>
          <p:cNvCxnSpPr/>
          <p:nvPr/>
        </p:nvCxnSpPr>
        <p:spPr>
          <a:xfrm>
            <a:off x="1737360" y="1965960"/>
            <a:ext cx="0" cy="1234440"/>
          </a:xfrm>
          <a:prstGeom prst="line">
            <a:avLst/>
          </a:prstGeom>
          <a:ln w="25400">
            <a:solidFill>
              <a:srgbClr val="27314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737360" y="3200400"/>
            <a:ext cx="3803904" cy="0"/>
          </a:xfrm>
          <a:prstGeom prst="line">
            <a:avLst/>
          </a:prstGeom>
          <a:ln w="25400">
            <a:solidFill>
              <a:srgbClr val="27314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541264" y="3200400"/>
            <a:ext cx="0" cy="1234440"/>
          </a:xfrm>
          <a:prstGeom prst="line">
            <a:avLst/>
          </a:prstGeom>
          <a:ln w="25400">
            <a:solidFill>
              <a:srgbClr val="273142"/>
            </a:solidFill>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7141464" y="4370832"/>
          <a:ext cx="4041647" cy="1828800"/>
        </p:xfrm>
        <a:graphic>
          <a:graphicData uri="http://schemas.openxmlformats.org/drawingml/2006/table">
            <a:tbl>
              <a:tblPr firstRow="1" bandRow="1">
                <a:tableStyleId>{5C22544A-7EE6-4342-B048-85BDC9FD1C3A}</a:tableStyleId>
              </a:tblPr>
              <a:tblGrid>
                <a:gridCol w="1837943"/>
                <a:gridCol w="2203704"/>
              </a:tblGrid>
              <a:tr h="365760">
                <a:tc>
                  <a:txBody>
                    <a:bodyPr wrap="square"/>
                    <a:lstStyle/>
                    <a:p>
                      <a:pPr algn="l"/>
                      <a:r>
                        <a:rPr sz="1400" b="1">
                          <a:solidFill>
                            <a:srgbClr val="1E2D44"/>
                          </a:solidFill>
                          <a:latin typeface="Karla"/>
                        </a:rPr>
                        <a:t>Coefficient Scale</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c>
                  <a:txBody>
                    <a:bodyPr wrap="square"/>
                    <a:lstStyle/>
                    <a:p>
                      <a:pPr algn="l"/>
                      <a:r>
                        <a:rPr sz="1400" b="1">
                          <a:solidFill>
                            <a:srgbClr val="1E2D44"/>
                          </a:solidFill>
                          <a:latin typeface="Karla"/>
                        </a:rPr>
                        <a:t>Interpretation</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r>
              <a:tr h="365760">
                <a:tc>
                  <a:txBody>
                    <a:bodyPr wrap="square"/>
                    <a:lstStyle/>
                    <a:p>
                      <a:pPr algn="l"/>
                      <a:r>
                        <a:rPr sz="1400" b="0">
                          <a:solidFill>
                            <a:srgbClr val="1E2D44"/>
                          </a:solidFill>
                          <a:latin typeface="Karla"/>
                        </a:rPr>
                        <a:t>+10 or higher</a:t>
                      </a:r>
                    </a:p>
                  </a:txBody>
                  <a:tcPr anchor="ctr" marL="73152" marR="54864" marT="36576" marB="36576">
                    <a:solidFill>
                      <a:srgbClr val="DEF1D3"/>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c>
                  <a:txBody>
                    <a:bodyPr wrap="square"/>
                    <a:lstStyle/>
                    <a:p>
                      <a:pPr algn="l"/>
                      <a:r>
                        <a:rPr sz="1400" b="0">
                          <a:solidFill>
                            <a:srgbClr val="1E2D44"/>
                          </a:solidFill>
                          <a:latin typeface="Karla"/>
                        </a:rPr>
                        <a:t>Strong lift</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r>
              <a:tr h="365760">
                <a:tc>
                  <a:txBody>
                    <a:bodyPr wrap="square"/>
                    <a:lstStyle/>
                    <a:p>
                      <a:pPr algn="l"/>
                      <a:r>
                        <a:rPr sz="1400" b="0">
                          <a:solidFill>
                            <a:srgbClr val="1E2D44"/>
                          </a:solidFill>
                          <a:latin typeface="Karla"/>
                        </a:rPr>
                        <a:t>+5 to +9.9</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c>
                  <a:txBody>
                    <a:bodyPr wrap="square"/>
                    <a:lstStyle/>
                    <a:p>
                      <a:pPr algn="l"/>
                      <a:r>
                        <a:rPr sz="1400" b="0">
                          <a:solidFill>
                            <a:srgbClr val="1E2D44"/>
                          </a:solidFill>
                          <a:latin typeface="Karla"/>
                        </a:rPr>
                        <a:t>Moderate lift</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r>
              <a:tr h="365760">
                <a:tc>
                  <a:txBody>
                    <a:bodyPr wrap="square"/>
                    <a:lstStyle/>
                    <a:p>
                      <a:pPr algn="l"/>
                      <a:r>
                        <a:rPr sz="1400" b="0">
                          <a:solidFill>
                            <a:srgbClr val="1E2D44"/>
                          </a:solidFill>
                          <a:latin typeface="Karla"/>
                        </a:rPr>
                        <a:t>+2 to +4.9</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c>
                  <a:txBody>
                    <a:bodyPr wrap="square"/>
                    <a:lstStyle/>
                    <a:p>
                      <a:pPr algn="l"/>
                      <a:r>
                        <a:rPr sz="1400" b="0">
                          <a:solidFill>
                            <a:srgbClr val="1E2D44"/>
                          </a:solidFill>
                          <a:latin typeface="Karla"/>
                        </a:rPr>
                        <a:t>Small lift</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r>
              <a:tr h="365760">
                <a:tc>
                  <a:txBody>
                    <a:bodyPr wrap="square"/>
                    <a:lstStyle/>
                    <a:p>
                      <a:pPr algn="l"/>
                      <a:r>
                        <a:rPr sz="1400" b="0">
                          <a:solidFill>
                            <a:srgbClr val="1E2D44"/>
                          </a:solidFill>
                          <a:latin typeface="Karla"/>
                        </a:rPr>
                        <a:t>Below +2</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c>
                  <a:txBody>
                    <a:bodyPr wrap="square"/>
                    <a:lstStyle/>
                    <a:p>
                      <a:pPr algn="l"/>
                      <a:r>
                        <a:rPr sz="1400" b="0">
                          <a:solidFill>
                            <a:srgbClr val="1E2D44"/>
                          </a:solidFill>
                          <a:latin typeface="Karla"/>
                        </a:rPr>
                        <a:t>Minimal / weak lift</a:t>
                      </a:r>
                    </a:p>
                  </a:txBody>
                  <a:tcPr anchor="ctr" marL="73152" marR="54864" marT="36576" marB="36576">
                    <a:solidFill>
                      <a:srgbClr val="FFFFFF"/>
                    </a:solidFill>
                    <a:lnL w="12700" cap="flat" cmpd="sng" algn="ctr">
                      <a:solidFill>
                        <a:srgbClr val="273142"/>
                      </a:solidFill>
                      <a:prstDash val="solid"/>
                    </a:lnL>
                    <a:lnR w="12700" cap="flat" cmpd="sng" algn="ctr">
                      <a:solidFill>
                        <a:srgbClr val="273142"/>
                      </a:solidFill>
                      <a:prstDash val="solid"/>
                    </a:lnR>
                    <a:lnT w="12700" cap="flat" cmpd="sng" algn="ctr">
                      <a:solidFill>
                        <a:srgbClr val="273142"/>
                      </a:solidFill>
                      <a:prstDash val="solid"/>
                    </a:lnT>
                    <a:lnB w="12700" cap="flat" cmpd="sng" algn="ctr">
                      <a:solidFill>
                        <a:srgbClr val="273142"/>
                      </a:solidFill>
                      <a:prstDash val="solid"/>
                    </a:lnB>
                  </a:tcPr>
                </a:tc>
              </a:tr>
            </a:tbl>
          </a:graphicData>
        </a:graphic>
      </p:graphicFrame>
      <p:sp>
        <p:nvSpPr>
          <p:cNvPr id="18" name="Rectangle 17"/>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20" name="TextBox 19"/>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606040"/>
            <a:ext cx="10058400" cy="1005840"/>
          </a:xfrm>
          <a:prstGeom prst="rect">
            <a:avLst/>
          </a:prstGeom>
          <a:noFill/>
        </p:spPr>
        <p:txBody>
          <a:bodyPr wrap="square" anchor="t"/>
          <a:lstStyle/>
          <a:p>
            <a:pPr algn="l">
              <a:spcAft>
                <a:spcPts val="400"/>
              </a:spcAft>
            </a:pPr>
            <a:r>
              <a:rPr sz="5400" b="1" i="0">
                <a:solidFill>
                  <a:srgbClr val="1E2D44"/>
                </a:solidFill>
                <a:latin typeface="Karla"/>
              </a:rPr>
              <a:t>Key Findings</a:t>
            </a:r>
          </a:p>
        </p:txBody>
      </p:sp>
      <p:sp>
        <p:nvSpPr>
          <p:cNvPr id="4" name="Rectangle 3"/>
          <p:cNvSpPr/>
          <p:nvPr/>
        </p:nvSpPr>
        <p:spPr>
          <a:xfrm>
            <a:off x="822960" y="3794760"/>
            <a:ext cx="1280160" cy="5486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KEY FINDINGS</a:t>
            </a:r>
          </a:p>
        </p:txBody>
      </p:sp>
      <p:sp>
        <p:nvSpPr>
          <p:cNvPr id="3" name="TextBox 2"/>
          <p:cNvSpPr txBox="1"/>
          <p:nvPr/>
        </p:nvSpPr>
        <p:spPr>
          <a:xfrm>
            <a:off x="566928" y="658368"/>
            <a:ext cx="10972800" cy="438912"/>
          </a:xfrm>
          <a:prstGeom prst="rect">
            <a:avLst/>
          </a:prstGeom>
          <a:noFill/>
        </p:spPr>
        <p:txBody>
          <a:bodyPr wrap="square" anchor="t"/>
          <a:lstStyle/>
          <a:p>
            <a:pPr algn="l">
              <a:spcAft>
                <a:spcPts val="400"/>
              </a:spcAft>
            </a:pPr>
            <a:r>
              <a:rPr sz="3000" b="1" i="0">
                <a:solidFill>
                  <a:srgbClr val="1E2D44"/>
                </a:solidFill>
                <a:latin typeface="Karla"/>
              </a:rPr>
              <a:t>Where appeal moves</a:t>
            </a:r>
          </a:p>
        </p:txBody>
      </p:sp>
      <p:sp>
        <p:nvSpPr>
          <p:cNvPr id="4" name="TextBox 3"/>
          <p:cNvSpPr txBox="1"/>
          <p:nvPr/>
        </p:nvSpPr>
        <p:spPr>
          <a:xfrm>
            <a:off x="566928" y="1143000"/>
            <a:ext cx="10972800" cy="320040"/>
          </a:xfrm>
          <a:prstGeom prst="rect">
            <a:avLst/>
          </a:prstGeom>
          <a:noFill/>
        </p:spPr>
        <p:txBody>
          <a:bodyPr wrap="square" anchor="t"/>
          <a:lstStyle/>
          <a:p>
            <a:pPr algn="l">
              <a:spcAft>
                <a:spcPts val="400"/>
              </a:spcAft>
            </a:pPr>
            <a:r>
              <a:rPr sz="1500" b="0" i="0">
                <a:solidFill>
                  <a:srgbClr val="617086"/>
                </a:solidFill>
                <a:latin typeface="Karla"/>
              </a:rPr>
              <a:t>The read starts with the winning combination, then the winner in each category, then every element in that category.</a:t>
            </a:r>
          </a:p>
        </p:txBody>
      </p:sp>
      <p:sp>
        <p:nvSpPr>
          <p:cNvPr id="5" name="Rounded Rectangle 4"/>
          <p:cNvSpPr/>
          <p:nvPr/>
        </p:nvSpPr>
        <p:spPr>
          <a:xfrm>
            <a:off x="566928" y="1645920"/>
            <a:ext cx="11064240" cy="987552"/>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45920"/>
            <a:ext cx="640080" cy="987552"/>
          </a:xfrm>
          <a:prstGeom prst="rect">
            <a:avLst/>
          </a:prstGeom>
          <a:noFill/>
        </p:spPr>
        <p:txBody>
          <a:bodyPr wrap="square" anchor="ctr"/>
          <a:lstStyle/>
          <a:p>
            <a:pPr algn="l">
              <a:spcAft>
                <a:spcPts val="400"/>
              </a:spcAft>
            </a:pPr>
            <a:r>
              <a:rPr sz="2000" b="1" i="0">
                <a:solidFill>
                  <a:srgbClr val="04746E"/>
                </a:solidFill>
                <a:latin typeface="Karla"/>
              </a:rPr>
              <a:t>01</a:t>
            </a:r>
          </a:p>
        </p:txBody>
      </p:sp>
      <p:sp>
        <p:nvSpPr>
          <p:cNvPr id="7" name="TextBox 6"/>
          <p:cNvSpPr txBox="1"/>
          <p:nvPr/>
        </p:nvSpPr>
        <p:spPr>
          <a:xfrm>
            <a:off x="1554480" y="1755648"/>
            <a:ext cx="9692640" cy="329184"/>
          </a:xfrm>
          <a:prstGeom prst="rect">
            <a:avLst/>
          </a:prstGeom>
          <a:noFill/>
        </p:spPr>
        <p:txBody>
          <a:bodyPr wrap="square" anchor="t"/>
          <a:lstStyle/>
          <a:p>
            <a:pPr algn="l">
              <a:spcAft>
                <a:spcPts val="400"/>
              </a:spcAft>
            </a:pPr>
            <a:r>
              <a:rPr sz="1600" b="1" i="0">
                <a:solidFill>
                  <a:srgbClr val="1E2D44"/>
                </a:solidFill>
                <a:latin typeface="Karla"/>
              </a:rPr>
              <a:t>The model has a clear starting point</a:t>
            </a:r>
          </a:p>
        </p:txBody>
      </p:sp>
      <p:sp>
        <p:nvSpPr>
          <p:cNvPr id="8" name="TextBox 7"/>
          <p:cNvSpPr txBox="1"/>
          <p:nvPr/>
        </p:nvSpPr>
        <p:spPr>
          <a:xfrm>
            <a:off x="1554480" y="2103120"/>
            <a:ext cx="9692640" cy="420624"/>
          </a:xfrm>
          <a:prstGeom prst="rect">
            <a:avLst/>
          </a:prstGeom>
          <a:noFill/>
        </p:spPr>
        <p:txBody>
          <a:bodyPr wrap="square" anchor="t"/>
          <a:lstStyle/>
          <a:p>
            <a:pPr algn="l">
              <a:spcAft>
                <a:spcPts val="400"/>
              </a:spcAft>
            </a:pPr>
            <a:r>
              <a:rPr sz="1300" b="0" i="0">
                <a:solidFill>
                  <a:srgbClr val="617086"/>
                </a:solidFill>
                <a:latin typeface="Karla"/>
              </a:rPr>
              <a:t>This Top-2 Box model was fit without an intercept. Each element score is the lift on its own.</a:t>
            </a:r>
          </a:p>
        </p:txBody>
      </p:sp>
      <p:sp>
        <p:nvSpPr>
          <p:cNvPr id="9" name="Rounded Rectangle 8"/>
          <p:cNvSpPr/>
          <p:nvPr/>
        </p:nvSpPr>
        <p:spPr>
          <a:xfrm>
            <a:off x="566928" y="2743200"/>
            <a:ext cx="11064240" cy="987552"/>
          </a:xfrm>
          <a:prstGeom prst="roundRect">
            <a:avLst>
              <a:gd name="adj" fmla="val 8000"/>
            </a:avLst>
          </a:prstGeom>
          <a:solidFill>
            <a:srgbClr val="FF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743200"/>
            <a:ext cx="640080" cy="987552"/>
          </a:xfrm>
          <a:prstGeom prst="rect">
            <a:avLst/>
          </a:prstGeom>
          <a:noFill/>
        </p:spPr>
        <p:txBody>
          <a:bodyPr wrap="square" anchor="ctr"/>
          <a:lstStyle/>
          <a:p>
            <a:pPr algn="l">
              <a:spcAft>
                <a:spcPts val="400"/>
              </a:spcAft>
            </a:pPr>
            <a:r>
              <a:rPr sz="2000" b="1" i="0">
                <a:solidFill>
                  <a:srgbClr val="04746E"/>
                </a:solidFill>
                <a:latin typeface="Karla"/>
              </a:rPr>
              <a:t>02</a:t>
            </a:r>
          </a:p>
        </p:txBody>
      </p:sp>
      <p:sp>
        <p:nvSpPr>
          <p:cNvPr id="11" name="TextBox 10"/>
          <p:cNvSpPr txBox="1"/>
          <p:nvPr/>
        </p:nvSpPr>
        <p:spPr>
          <a:xfrm>
            <a:off x="1554480" y="2852928"/>
            <a:ext cx="9692640" cy="329184"/>
          </a:xfrm>
          <a:prstGeom prst="rect">
            <a:avLst/>
          </a:prstGeom>
          <a:noFill/>
        </p:spPr>
        <p:txBody>
          <a:bodyPr wrap="square" anchor="t"/>
          <a:lstStyle/>
          <a:p>
            <a:pPr algn="l">
              <a:spcAft>
                <a:spcPts val="400"/>
              </a:spcAft>
            </a:pPr>
            <a:r>
              <a:rPr sz="1600" b="1" i="0">
                <a:solidFill>
                  <a:srgbClr val="1E2D44"/>
                </a:solidFill>
                <a:latin typeface="Karla"/>
              </a:rPr>
              <a:t>Variant Ctr Low is the strongest single cue</a:t>
            </a:r>
          </a:p>
        </p:txBody>
      </p:sp>
      <p:sp>
        <p:nvSpPr>
          <p:cNvPr id="12" name="TextBox 11"/>
          <p:cNvSpPr txBox="1"/>
          <p:nvPr/>
        </p:nvSpPr>
        <p:spPr>
          <a:xfrm>
            <a:off x="1554480" y="3200400"/>
            <a:ext cx="9692640" cy="420624"/>
          </a:xfrm>
          <a:prstGeom prst="rect">
            <a:avLst/>
          </a:prstGeom>
          <a:noFill/>
        </p:spPr>
        <p:txBody>
          <a:bodyPr wrap="square" anchor="t"/>
          <a:lstStyle/>
          <a:p>
            <a:pPr algn="l">
              <a:spcAft>
                <a:spcPts val="400"/>
              </a:spcAft>
            </a:pPr>
            <a:r>
              <a:rPr sz="1300" b="0" i="0">
                <a:solidFill>
                  <a:srgbClr val="617086"/>
                </a:solidFill>
                <a:latin typeface="Karla"/>
              </a:rPr>
              <a:t>In Variant, Variant Ctr Low moves appeal by +29. 69 of 69 elements sit above the baseline.</a:t>
            </a:r>
          </a:p>
        </p:txBody>
      </p:sp>
      <p:sp>
        <p:nvSpPr>
          <p:cNvPr id="13" name="Rounded Rectangle 12"/>
          <p:cNvSpPr/>
          <p:nvPr/>
        </p:nvSpPr>
        <p:spPr>
          <a:xfrm>
            <a:off x="566928" y="3840480"/>
            <a:ext cx="11064240" cy="987552"/>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840480"/>
            <a:ext cx="640080" cy="987552"/>
          </a:xfrm>
          <a:prstGeom prst="rect">
            <a:avLst/>
          </a:prstGeom>
          <a:noFill/>
        </p:spPr>
        <p:txBody>
          <a:bodyPr wrap="square" anchor="ctr"/>
          <a:lstStyle/>
          <a:p>
            <a:pPr algn="l">
              <a:spcAft>
                <a:spcPts val="400"/>
              </a:spcAft>
            </a:pPr>
            <a:r>
              <a:rPr sz="2000" b="1" i="0">
                <a:solidFill>
                  <a:srgbClr val="04746E"/>
                </a:solidFill>
                <a:latin typeface="Karla"/>
              </a:rPr>
              <a:t>03</a:t>
            </a:r>
          </a:p>
        </p:txBody>
      </p:sp>
      <p:sp>
        <p:nvSpPr>
          <p:cNvPr id="15" name="TextBox 14"/>
          <p:cNvSpPr txBox="1"/>
          <p:nvPr/>
        </p:nvSpPr>
        <p:spPr>
          <a:xfrm>
            <a:off x="1554480" y="3950208"/>
            <a:ext cx="9692640" cy="329184"/>
          </a:xfrm>
          <a:prstGeom prst="rect">
            <a:avLst/>
          </a:prstGeom>
          <a:noFill/>
        </p:spPr>
        <p:txBody>
          <a:bodyPr wrap="square" anchor="t"/>
          <a:lstStyle/>
          <a:p>
            <a:pPr algn="l">
              <a:spcAft>
                <a:spcPts val="400"/>
              </a:spcAft>
            </a:pPr>
            <a:r>
              <a:rPr sz="1600" b="1" i="0">
                <a:solidFill>
                  <a:srgbClr val="1E2D44"/>
                </a:solidFill>
                <a:latin typeface="Karla"/>
              </a:rPr>
              <a:t>Variant is the lead design area</a:t>
            </a:r>
          </a:p>
        </p:txBody>
      </p:sp>
      <p:sp>
        <p:nvSpPr>
          <p:cNvPr id="16" name="TextBox 15"/>
          <p:cNvSpPr txBox="1"/>
          <p:nvPr/>
        </p:nvSpPr>
        <p:spPr>
          <a:xfrm>
            <a:off x="1554480" y="4297680"/>
            <a:ext cx="9692640" cy="420624"/>
          </a:xfrm>
          <a:prstGeom prst="rect">
            <a:avLst/>
          </a:prstGeom>
          <a:noFill/>
        </p:spPr>
        <p:txBody>
          <a:bodyPr wrap="square" anchor="t"/>
          <a:lstStyle/>
          <a:p>
            <a:pPr algn="l">
              <a:spcAft>
                <a:spcPts val="400"/>
              </a:spcAft>
            </a:pPr>
            <a:r>
              <a:rPr sz="1300" b="0" i="0">
                <a:solidFill>
                  <a:srgbClr val="617086"/>
                </a:solidFill>
                <a:latin typeface="Karla"/>
              </a:rPr>
              <a:t>Variant Ctr Low tops this silo at +29. Imagery has the widest spread, +16 points from Swipe Low to Splash High.</a:t>
            </a:r>
          </a:p>
        </p:txBody>
      </p:sp>
      <p:sp>
        <p:nvSpPr>
          <p:cNvPr id="17" name="Rounded Rectangle 16"/>
          <p:cNvSpPr/>
          <p:nvPr/>
        </p:nvSpPr>
        <p:spPr>
          <a:xfrm>
            <a:off x="566928" y="4937759"/>
            <a:ext cx="11064240" cy="987552"/>
          </a:xfrm>
          <a:prstGeom prst="roundRect">
            <a:avLst>
              <a:gd name="adj" fmla="val 8000"/>
            </a:avLst>
          </a:prstGeom>
          <a:solidFill>
            <a:srgbClr val="FF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937759"/>
            <a:ext cx="640080" cy="987552"/>
          </a:xfrm>
          <a:prstGeom prst="rect">
            <a:avLst/>
          </a:prstGeom>
          <a:noFill/>
        </p:spPr>
        <p:txBody>
          <a:bodyPr wrap="square" anchor="ctr"/>
          <a:lstStyle/>
          <a:p>
            <a:pPr algn="l">
              <a:spcAft>
                <a:spcPts val="400"/>
              </a:spcAft>
            </a:pPr>
            <a:r>
              <a:rPr sz="2000" b="1" i="0">
                <a:solidFill>
                  <a:srgbClr val="04746E"/>
                </a:solidFill>
                <a:latin typeface="Karla"/>
              </a:rPr>
              <a:t>04</a:t>
            </a:r>
          </a:p>
        </p:txBody>
      </p:sp>
      <p:sp>
        <p:nvSpPr>
          <p:cNvPr id="19" name="TextBox 18"/>
          <p:cNvSpPr txBox="1"/>
          <p:nvPr/>
        </p:nvSpPr>
        <p:spPr>
          <a:xfrm>
            <a:off x="1554480" y="5047488"/>
            <a:ext cx="9692640" cy="329184"/>
          </a:xfrm>
          <a:prstGeom prst="rect">
            <a:avLst/>
          </a:prstGeom>
          <a:noFill/>
        </p:spPr>
        <p:txBody>
          <a:bodyPr wrap="square" anchor="t"/>
          <a:lstStyle/>
          <a:p>
            <a:pPr algn="l">
              <a:spcAft>
                <a:spcPts val="400"/>
              </a:spcAft>
            </a:pPr>
            <a:r>
              <a:rPr sz="1600" b="1" i="0">
                <a:solidFill>
                  <a:srgbClr val="1E2D44"/>
                </a:solidFill>
                <a:latin typeface="Karla"/>
              </a:rPr>
              <a:t>Deboss Off is the largest drag</a:t>
            </a:r>
          </a:p>
        </p:txBody>
      </p:sp>
      <p:sp>
        <p:nvSpPr>
          <p:cNvPr id="20" name="TextBox 19"/>
          <p:cNvSpPr txBox="1"/>
          <p:nvPr/>
        </p:nvSpPr>
        <p:spPr>
          <a:xfrm>
            <a:off x="1554480" y="5394959"/>
            <a:ext cx="9692640" cy="420624"/>
          </a:xfrm>
          <a:prstGeom prst="rect">
            <a:avLst/>
          </a:prstGeom>
          <a:noFill/>
        </p:spPr>
        <p:txBody>
          <a:bodyPr wrap="square" anchor="t"/>
          <a:lstStyle/>
          <a:p>
            <a:pPr algn="l">
              <a:spcAft>
                <a:spcPts val="400"/>
              </a:spcAft>
            </a:pPr>
            <a:r>
              <a:rPr sz="1300" b="0" i="0">
                <a:solidFill>
                  <a:srgbClr val="617086"/>
                </a:solidFill>
                <a:latin typeface="Karla"/>
              </a:rPr>
              <a:t>In Deboss, Deboss Off sits at +1. Negative lifts pull the appeal score below the model baseline.</a:t>
            </a:r>
          </a:p>
        </p:txBody>
      </p:sp>
      <p:sp>
        <p:nvSpPr>
          <p:cNvPr id="21" name="Rectangle 2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23" name="TextBox 2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MODEL OVERVIEW: BASE APPEAL</a:t>
            </a:r>
          </a:p>
        </p:txBody>
      </p:sp>
      <p:sp>
        <p:nvSpPr>
          <p:cNvPr id="3" name="TextBox 2"/>
          <p:cNvSpPr txBox="1"/>
          <p:nvPr/>
        </p:nvSpPr>
        <p:spPr>
          <a:xfrm>
            <a:off x="566928" y="658368"/>
            <a:ext cx="10972800" cy="438912"/>
          </a:xfrm>
          <a:prstGeom prst="rect">
            <a:avLst/>
          </a:prstGeom>
          <a:noFill/>
        </p:spPr>
        <p:txBody>
          <a:bodyPr wrap="square" anchor="t"/>
          <a:lstStyle/>
          <a:p>
            <a:pPr algn="l">
              <a:spcAft>
                <a:spcPts val="400"/>
              </a:spcAft>
            </a:pPr>
            <a:r>
              <a:rPr sz="3000" b="1" i="0">
                <a:solidFill>
                  <a:srgbClr val="1E2D44"/>
                </a:solidFill>
                <a:latin typeface="Karla"/>
              </a:rPr>
              <a:t>Base appeal before element lift</a:t>
            </a:r>
          </a:p>
        </p:txBody>
      </p:sp>
      <p:sp>
        <p:nvSpPr>
          <p:cNvPr id="4" name="TextBox 3"/>
          <p:cNvSpPr txBox="1"/>
          <p:nvPr/>
        </p:nvSpPr>
        <p:spPr>
          <a:xfrm>
            <a:off x="566928" y="1170432"/>
            <a:ext cx="10972800" cy="411480"/>
          </a:xfrm>
          <a:prstGeom prst="rect">
            <a:avLst/>
          </a:prstGeom>
          <a:noFill/>
        </p:spPr>
        <p:txBody>
          <a:bodyPr wrap="square" anchor="t"/>
          <a:lstStyle/>
          <a:p>
            <a:pPr algn="l">
              <a:spcAft>
                <a:spcPts val="400"/>
              </a:spcAft>
            </a:pPr>
            <a:r>
              <a:rPr sz="1500" b="0" i="0">
                <a:solidFill>
                  <a:srgbClr val="617086"/>
                </a:solidFill>
                <a:latin typeface="Karla"/>
              </a:rPr>
              <a:t>Base appeal is this model’s starting Top-2 Box score (ratings 4–5) before individual design elements add or subtract lift.</a:t>
            </a:r>
          </a:p>
        </p:txBody>
      </p:sp>
      <p:sp>
        <p:nvSpPr>
          <p:cNvPr id="5" name="Rounded Rectangle 4"/>
          <p:cNvSpPr/>
          <p:nvPr/>
        </p:nvSpPr>
        <p:spPr>
          <a:xfrm>
            <a:off x="566928" y="1874519"/>
            <a:ext cx="5760720" cy="4023360"/>
          </a:xfrm>
          <a:prstGeom prst="roundRect">
            <a:avLst>
              <a:gd name="adj" fmla="val 8000"/>
            </a:avLst>
          </a:prstGeom>
          <a:solidFill>
            <a:srgbClr val="F5E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48840"/>
            <a:ext cx="5120640" cy="274320"/>
          </a:xfrm>
          <a:prstGeom prst="rect">
            <a:avLst/>
          </a:prstGeom>
          <a:noFill/>
        </p:spPr>
        <p:txBody>
          <a:bodyPr wrap="square" anchor="t"/>
          <a:lstStyle/>
          <a:p>
            <a:pPr algn="l">
              <a:spcAft>
                <a:spcPts val="400"/>
              </a:spcAft>
            </a:pPr>
            <a:r>
              <a:rPr sz="1300" b="1" i="0">
                <a:solidFill>
                  <a:srgbClr val="04746E"/>
                </a:solidFill>
                <a:latin typeface="Karla"/>
              </a:rPr>
              <a:t>BASE APPEAL</a:t>
            </a:r>
          </a:p>
        </p:txBody>
      </p:sp>
      <p:sp>
        <p:nvSpPr>
          <p:cNvPr id="7" name="TextBox 6"/>
          <p:cNvSpPr txBox="1"/>
          <p:nvPr/>
        </p:nvSpPr>
        <p:spPr>
          <a:xfrm>
            <a:off x="868680" y="2560320"/>
            <a:ext cx="5120640" cy="822960"/>
          </a:xfrm>
          <a:prstGeom prst="rect">
            <a:avLst/>
          </a:prstGeom>
          <a:noFill/>
        </p:spPr>
        <p:txBody>
          <a:bodyPr wrap="square" anchor="t"/>
          <a:lstStyle/>
          <a:p>
            <a:pPr algn="l">
              <a:spcAft>
                <a:spcPts val="400"/>
              </a:spcAft>
            </a:pPr>
            <a:r>
              <a:rPr sz="1600" b="0" i="0">
                <a:solidFill>
                  <a:srgbClr val="1E2D44"/>
                </a:solidFill>
                <a:latin typeface="Karla"/>
              </a:rPr>
              <a:t>Dove Core Skin Cleansing Study Live</a:t>
            </a:r>
          </a:p>
        </p:txBody>
      </p:sp>
      <p:sp>
        <p:nvSpPr>
          <p:cNvPr id="8" name="TextBox 7"/>
          <p:cNvSpPr txBox="1"/>
          <p:nvPr/>
        </p:nvSpPr>
        <p:spPr>
          <a:xfrm>
            <a:off x="868680" y="3520440"/>
            <a:ext cx="5120640" cy="731520"/>
          </a:xfrm>
          <a:prstGeom prst="rect">
            <a:avLst/>
          </a:prstGeom>
          <a:noFill/>
        </p:spPr>
        <p:txBody>
          <a:bodyPr wrap="square" anchor="t"/>
          <a:lstStyle/>
          <a:p>
            <a:pPr algn="l">
              <a:spcAft>
                <a:spcPts val="400"/>
              </a:spcAft>
            </a:pPr>
            <a:r>
              <a:rPr sz="3600" b="1" i="0">
                <a:solidFill>
                  <a:srgbClr val="1E2D44"/>
                </a:solidFill>
                <a:latin typeface="Karla"/>
              </a:rPr>
              <a:t>No intercept</a:t>
            </a:r>
          </a:p>
        </p:txBody>
      </p:sp>
      <p:sp>
        <p:nvSpPr>
          <p:cNvPr id="9" name="TextBox 8"/>
          <p:cNvSpPr txBox="1"/>
          <p:nvPr/>
        </p:nvSpPr>
        <p:spPr>
          <a:xfrm>
            <a:off x="868680" y="4343400"/>
            <a:ext cx="5120640" cy="502920"/>
          </a:xfrm>
          <a:prstGeom prst="rect">
            <a:avLst/>
          </a:prstGeom>
          <a:noFill/>
        </p:spPr>
        <p:txBody>
          <a:bodyPr wrap="square" anchor="t"/>
          <a:lstStyle/>
          <a:p>
            <a:pPr algn="l">
              <a:spcAft>
                <a:spcPts val="400"/>
              </a:spcAft>
            </a:pPr>
            <a:r>
              <a:rPr sz="1400" b="0" i="0">
                <a:solidFill>
                  <a:srgbClr val="617086"/>
                </a:solidFill>
                <a:latin typeface="Karla"/>
              </a:rPr>
              <a:t>Element scores are the lift on their own</a:t>
            </a:r>
          </a:p>
        </p:txBody>
      </p:sp>
      <p:sp>
        <p:nvSpPr>
          <p:cNvPr id="10" name="TextBox 9"/>
          <p:cNvSpPr txBox="1"/>
          <p:nvPr/>
        </p:nvSpPr>
        <p:spPr>
          <a:xfrm>
            <a:off x="868680" y="5074920"/>
            <a:ext cx="5120640" cy="274320"/>
          </a:xfrm>
          <a:prstGeom prst="rect">
            <a:avLst/>
          </a:prstGeom>
          <a:noFill/>
        </p:spPr>
        <p:txBody>
          <a:bodyPr wrap="square" anchor="t"/>
          <a:lstStyle/>
          <a:p>
            <a:pPr algn="l">
              <a:spcAft>
                <a:spcPts val="400"/>
              </a:spcAft>
            </a:pPr>
            <a:r>
              <a:rPr sz="1400" b="1" i="0">
                <a:solidFill>
                  <a:srgbClr val="1E2D44"/>
                </a:solidFill>
                <a:latin typeface="Karla"/>
              </a:rPr>
              <a:t>Base size 601</a:t>
            </a:r>
          </a:p>
        </p:txBody>
      </p:sp>
      <p:sp>
        <p:nvSpPr>
          <p:cNvPr id="11" name="Rounded Rectangle 10"/>
          <p:cNvSpPr/>
          <p:nvPr/>
        </p:nvSpPr>
        <p:spPr>
          <a:xfrm>
            <a:off x="6583680" y="1874519"/>
            <a:ext cx="5029200" cy="4023360"/>
          </a:xfrm>
          <a:prstGeom prst="roundRect">
            <a:avLst>
              <a:gd name="adj" fmla="val 8000"/>
            </a:avLst>
          </a:prstGeom>
          <a:solidFill>
            <a:srgbClr val="1E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03720" y="2148840"/>
            <a:ext cx="4480560" cy="274320"/>
          </a:xfrm>
          <a:prstGeom prst="rect">
            <a:avLst/>
          </a:prstGeom>
          <a:noFill/>
        </p:spPr>
        <p:txBody>
          <a:bodyPr wrap="square" anchor="t"/>
          <a:lstStyle/>
          <a:p>
            <a:pPr algn="l">
              <a:spcAft>
                <a:spcPts val="400"/>
              </a:spcAft>
            </a:pPr>
            <a:r>
              <a:rPr sz="1300" b="1" i="0">
                <a:solidFill>
                  <a:srgbClr val="EAC8D4"/>
                </a:solidFill>
                <a:latin typeface="Karla"/>
              </a:rPr>
              <a:t>HOW TO USE IT</a:t>
            </a:r>
          </a:p>
        </p:txBody>
      </p:sp>
      <p:sp>
        <p:nvSpPr>
          <p:cNvPr id="13" name="TextBox 12"/>
          <p:cNvSpPr txBox="1"/>
          <p:nvPr/>
        </p:nvSpPr>
        <p:spPr>
          <a:xfrm>
            <a:off x="6903720" y="2606040"/>
            <a:ext cx="4434840" cy="914400"/>
          </a:xfrm>
          <a:prstGeom prst="rect">
            <a:avLst/>
          </a:prstGeom>
          <a:noFill/>
        </p:spPr>
        <p:txBody>
          <a:bodyPr wrap="square" anchor="t"/>
          <a:lstStyle/>
          <a:p>
            <a:pPr algn="l">
              <a:spcAft>
                <a:spcPts val="400"/>
              </a:spcAft>
            </a:pPr>
            <a:r>
              <a:rPr sz="1600" b="0" i="0">
                <a:solidFill>
                  <a:srgbClr val="FFFFFF"/>
                </a:solidFill>
                <a:latin typeface="Karla"/>
              </a:rPr>
              <a:t>Each element chart is movement around this number, not a new total by itself.</a:t>
            </a:r>
          </a:p>
        </p:txBody>
      </p:sp>
      <p:sp>
        <p:nvSpPr>
          <p:cNvPr id="14" name="TextBox 13"/>
          <p:cNvSpPr txBox="1"/>
          <p:nvPr/>
        </p:nvSpPr>
        <p:spPr>
          <a:xfrm>
            <a:off x="6903720" y="3703320"/>
            <a:ext cx="4434840" cy="1188720"/>
          </a:xfrm>
          <a:prstGeom prst="rect">
            <a:avLst/>
          </a:prstGeom>
          <a:noFill/>
        </p:spPr>
        <p:txBody>
          <a:bodyPr wrap="square" anchor="t"/>
          <a:lstStyle/>
          <a:p>
            <a:pPr algn="l">
              <a:spcAft>
                <a:spcPts val="400"/>
              </a:spcAft>
            </a:pPr>
            <a:r>
              <a:rPr sz="1600" b="0" i="0">
                <a:solidFill>
                  <a:srgbClr val="FFFFFF"/>
                </a:solidFill>
                <a:latin typeface="Karla"/>
              </a:rPr>
              <a:t>A build-up adds the baseline and one lift from each silo. That sum is a model scenario. It is not capped at 0 or 100.</a:t>
            </a:r>
          </a:p>
        </p:txBody>
      </p:sp>
      <p:sp>
        <p:nvSpPr>
          <p:cNvPr id="15" name="Rectangle 1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17" name="TextBox 1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606040"/>
            <a:ext cx="10058400" cy="1005840"/>
          </a:xfrm>
          <a:prstGeom prst="rect">
            <a:avLst/>
          </a:prstGeom>
          <a:noFill/>
        </p:spPr>
        <p:txBody>
          <a:bodyPr wrap="square" anchor="t"/>
          <a:lstStyle/>
          <a:p>
            <a:pPr algn="l">
              <a:spcAft>
                <a:spcPts val="400"/>
              </a:spcAft>
            </a:pPr>
            <a:r>
              <a:rPr sz="5400" b="1" i="0">
                <a:solidFill>
                  <a:srgbClr val="1E2D44"/>
                </a:solidFill>
                <a:latin typeface="Karla"/>
              </a:rPr>
              <a:t>Combination Winners</a:t>
            </a:r>
          </a:p>
        </p:txBody>
      </p:sp>
      <p:sp>
        <p:nvSpPr>
          <p:cNvPr id="4" name="Rectangle 3"/>
          <p:cNvSpPr/>
          <p:nvPr/>
        </p:nvSpPr>
        <p:spPr>
          <a:xfrm>
            <a:off x="822960" y="3794760"/>
            <a:ext cx="1280160" cy="5486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COMBINATION WINNERS</a:t>
            </a:r>
          </a:p>
        </p:txBody>
      </p:sp>
      <p:sp>
        <p:nvSpPr>
          <p:cNvPr id="3" name="TextBox 2"/>
          <p:cNvSpPr txBox="1"/>
          <p:nvPr/>
        </p:nvSpPr>
        <p:spPr>
          <a:xfrm>
            <a:off x="438912" y="475488"/>
            <a:ext cx="11247120" cy="347472"/>
          </a:xfrm>
          <a:prstGeom prst="rect">
            <a:avLst/>
          </a:prstGeom>
          <a:noFill/>
        </p:spPr>
        <p:txBody>
          <a:bodyPr wrap="square" anchor="t"/>
          <a:lstStyle/>
          <a:p>
            <a:pPr algn="l">
              <a:spcAft>
                <a:spcPts val="400"/>
              </a:spcAft>
            </a:pPr>
            <a:r>
              <a:rPr sz="2600" b="1" i="0">
                <a:solidFill>
                  <a:srgbClr val="1E2D44"/>
                </a:solidFill>
                <a:latin typeface="Karla"/>
              </a:rPr>
              <a:t>Highest coefficient sum, stacked into one pack</a:t>
            </a:r>
          </a:p>
        </p:txBody>
      </p:sp>
      <p:sp>
        <p:nvSpPr>
          <p:cNvPr id="4" name="TextBox 3"/>
          <p:cNvSpPr txBox="1"/>
          <p:nvPr/>
        </p:nvSpPr>
        <p:spPr>
          <a:xfrm>
            <a:off x="438912" y="877824"/>
            <a:ext cx="11247120" cy="420624"/>
          </a:xfrm>
          <a:prstGeom prst="rect">
            <a:avLst/>
          </a:prstGeom>
          <a:noFill/>
        </p:spPr>
        <p:txBody>
          <a:bodyPr wrap="square" anchor="t"/>
          <a:lstStyle/>
          <a:p>
            <a:pPr algn="l">
              <a:spcAft>
                <a:spcPts val="400"/>
              </a:spcAft>
            </a:pPr>
            <a:r>
              <a:rPr sz="1400" b="0" i="0">
                <a:solidFill>
                  <a:srgbClr val="617086"/>
                </a:solidFill>
                <a:latin typeface="Karla"/>
              </a:rPr>
              <a:t>The highest coefficient sum that still obeys the pairing rules. A stronger element is left off when the elements it blocks add up to more.</a:t>
            </a:r>
          </a:p>
        </p:txBody>
      </p:sp>
      <p:sp>
        <p:nvSpPr>
          <p:cNvPr id="5" name="Rounded Rectangle 4"/>
          <p:cNvSpPr/>
          <p:nvPr/>
        </p:nvSpPr>
        <p:spPr>
          <a:xfrm>
            <a:off x="384048" y="1426464"/>
            <a:ext cx="4041648" cy="4681728"/>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2-B5-C2-D5-F3-K1-L1-M2-N2.png"/>
          <p:cNvPicPr>
            <a:picLocks noChangeAspect="1"/>
          </p:cNvPicPr>
          <p:nvPr/>
        </p:nvPicPr>
        <p:blipFill>
          <a:blip r:embed="rId2"/>
          <a:stretch>
            <a:fillRect/>
          </a:stretch>
        </p:blipFill>
        <p:spPr>
          <a:xfrm>
            <a:off x="772667" y="1673351"/>
            <a:ext cx="3264408" cy="3264408"/>
          </a:xfrm>
          <a:prstGeom prst="rect">
            <a:avLst/>
          </a:prstGeom>
        </p:spPr>
      </p:pic>
      <p:sp>
        <p:nvSpPr>
          <p:cNvPr id="7" name="Rounded Rectangle 6"/>
          <p:cNvSpPr/>
          <p:nvPr/>
        </p:nvSpPr>
        <p:spPr>
          <a:xfrm>
            <a:off x="640080" y="5148072"/>
            <a:ext cx="3529584" cy="7132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5148072"/>
            <a:ext cx="3273552" cy="420624"/>
          </a:xfrm>
          <a:prstGeom prst="rect">
            <a:avLst/>
          </a:prstGeom>
          <a:noFill/>
        </p:spPr>
        <p:txBody>
          <a:bodyPr wrap="square" anchor="b" lIns="0" rIns="0" tIns="0" bIns="0"/>
          <a:lstStyle/>
          <a:p>
            <a:pPr algn="ctr">
              <a:spcBef>
                <a:spcPts val="0"/>
              </a:spcBef>
              <a:spcAft>
                <a:spcPts val="0"/>
              </a:spcAft>
            </a:pPr>
            <a:r>
              <a:rPr sz="2600" b="1" i="0">
                <a:solidFill>
                  <a:srgbClr val="008935"/>
                </a:solidFill>
                <a:latin typeface="Karla"/>
              </a:rPr>
              <a:t>+100</a:t>
            </a:r>
          </a:p>
        </p:txBody>
      </p:sp>
      <p:sp>
        <p:nvSpPr>
          <p:cNvPr id="9" name="TextBox 8"/>
          <p:cNvSpPr txBox="1"/>
          <p:nvPr/>
        </p:nvSpPr>
        <p:spPr>
          <a:xfrm>
            <a:off x="768096" y="5532120"/>
            <a:ext cx="3273552" cy="256032"/>
          </a:xfrm>
          <a:prstGeom prst="rect">
            <a:avLst/>
          </a:prstGeom>
          <a:noFill/>
        </p:spPr>
        <p:txBody>
          <a:bodyPr wrap="square" anchor="t" lIns="0" rIns="0" tIns="0" bIns="0"/>
          <a:lstStyle/>
          <a:p>
            <a:pPr algn="ctr">
              <a:spcBef>
                <a:spcPts val="0"/>
              </a:spcBef>
              <a:spcAft>
                <a:spcPts val="0"/>
              </a:spcAft>
            </a:pPr>
            <a:r>
              <a:rPr sz="1100" b="0" i="0">
                <a:solidFill>
                  <a:srgbClr val="617086"/>
                </a:solidFill>
                <a:latin typeface="Karla"/>
              </a:rPr>
              <a:t>coefficient sum</a:t>
            </a:r>
          </a:p>
        </p:txBody>
      </p:sp>
      <p:sp>
        <p:nvSpPr>
          <p:cNvPr id="10" name="Rounded Rectangle 9"/>
          <p:cNvSpPr/>
          <p:nvPr/>
        </p:nvSpPr>
        <p:spPr>
          <a:xfrm>
            <a:off x="4645152" y="1426464"/>
            <a:ext cx="7150608" cy="47955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91456" y="1444752"/>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01    DEBOSS</a:t>
            </a:r>
          </a:p>
        </p:txBody>
      </p:sp>
      <p:sp>
        <p:nvSpPr>
          <p:cNvPr id="12" name="TextBox 11"/>
          <p:cNvSpPr txBox="1"/>
          <p:nvPr/>
        </p:nvSpPr>
        <p:spPr>
          <a:xfrm>
            <a:off x="4791456" y="1600200"/>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Deboss Blue</a:t>
            </a:r>
          </a:p>
        </p:txBody>
      </p:sp>
      <p:sp>
        <p:nvSpPr>
          <p:cNvPr id="13" name="Rectangle 12"/>
          <p:cNvSpPr/>
          <p:nvPr/>
        </p:nvSpPr>
        <p:spPr>
          <a:xfrm>
            <a:off x="4791456" y="1842008"/>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91456" y="1842008"/>
            <a:ext cx="1955153"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54512" y="1426464"/>
            <a:ext cx="749808" cy="47955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+7</a:t>
            </a:r>
          </a:p>
        </p:txBody>
      </p:sp>
      <p:sp>
        <p:nvSpPr>
          <p:cNvPr id="16" name="Rounded Rectangle 15"/>
          <p:cNvSpPr/>
          <p:nvPr/>
        </p:nvSpPr>
        <p:spPr>
          <a:xfrm>
            <a:off x="4645152" y="1951736"/>
            <a:ext cx="7150608" cy="47955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91456" y="1970024"/>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02    IMAGERY</a:t>
            </a:r>
          </a:p>
        </p:txBody>
      </p:sp>
      <p:sp>
        <p:nvSpPr>
          <p:cNvPr id="18" name="TextBox 17"/>
          <p:cNvSpPr txBox="1"/>
          <p:nvPr/>
        </p:nvSpPr>
        <p:spPr>
          <a:xfrm>
            <a:off x="4791456" y="2125472"/>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Splash Low</a:t>
            </a:r>
          </a:p>
        </p:txBody>
      </p:sp>
      <p:sp>
        <p:nvSpPr>
          <p:cNvPr id="19" name="Rectangle 18"/>
          <p:cNvSpPr/>
          <p:nvPr/>
        </p:nvSpPr>
        <p:spPr>
          <a:xfrm>
            <a:off x="4791456" y="2367280"/>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91456" y="2367280"/>
            <a:ext cx="3910306"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54512" y="1951736"/>
            <a:ext cx="749808" cy="47955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+14</a:t>
            </a:r>
          </a:p>
        </p:txBody>
      </p:sp>
      <p:sp>
        <p:nvSpPr>
          <p:cNvPr id="22" name="Rounded Rectangle 21"/>
          <p:cNvSpPr/>
          <p:nvPr/>
        </p:nvSpPr>
        <p:spPr>
          <a:xfrm>
            <a:off x="4645152" y="2477008"/>
            <a:ext cx="7150608" cy="47955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91456" y="2495296"/>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03    VARIANT</a:t>
            </a:r>
          </a:p>
        </p:txBody>
      </p:sp>
      <p:sp>
        <p:nvSpPr>
          <p:cNvPr id="24" name="TextBox 23"/>
          <p:cNvSpPr txBox="1"/>
          <p:nvPr/>
        </p:nvSpPr>
        <p:spPr>
          <a:xfrm>
            <a:off x="4791456" y="2650743"/>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Variant Ctr Top Lowered</a:t>
            </a:r>
          </a:p>
        </p:txBody>
      </p:sp>
      <p:sp>
        <p:nvSpPr>
          <p:cNvPr id="25" name="Rectangle 24"/>
          <p:cNvSpPr/>
          <p:nvPr/>
        </p:nvSpPr>
        <p:spPr>
          <a:xfrm>
            <a:off x="4791456" y="2892552"/>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91456" y="2892552"/>
            <a:ext cx="5865460"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54512" y="2477008"/>
            <a:ext cx="749808" cy="47955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+21</a:t>
            </a:r>
          </a:p>
        </p:txBody>
      </p:sp>
      <p:sp>
        <p:nvSpPr>
          <p:cNvPr id="28" name="Rounded Rectangle 27"/>
          <p:cNvSpPr/>
          <p:nvPr/>
        </p:nvSpPr>
        <p:spPr>
          <a:xfrm>
            <a:off x="4645152" y="3002280"/>
            <a:ext cx="7150608" cy="47955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91456" y="3020568"/>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04    DERM SEAL</a:t>
            </a:r>
          </a:p>
        </p:txBody>
      </p:sp>
      <p:sp>
        <p:nvSpPr>
          <p:cNvPr id="30" name="TextBox 29"/>
          <p:cNvSpPr txBox="1"/>
          <p:nvPr/>
        </p:nvSpPr>
        <p:spPr>
          <a:xfrm>
            <a:off x="4791456" y="3176016"/>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Derm Seal Variant High</a:t>
            </a:r>
          </a:p>
        </p:txBody>
      </p:sp>
      <p:sp>
        <p:nvSpPr>
          <p:cNvPr id="31" name="Rectangle 30"/>
          <p:cNvSpPr/>
          <p:nvPr/>
        </p:nvSpPr>
        <p:spPr>
          <a:xfrm>
            <a:off x="4791456" y="3417824"/>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91456" y="3417824"/>
            <a:ext cx="2234461"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54512" y="3002280"/>
            <a:ext cx="749808" cy="47955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+8</a:t>
            </a:r>
          </a:p>
        </p:txBody>
      </p:sp>
      <p:sp>
        <p:nvSpPr>
          <p:cNvPr id="34" name="Rounded Rectangle 33"/>
          <p:cNvSpPr/>
          <p:nvPr/>
        </p:nvSpPr>
        <p:spPr>
          <a:xfrm>
            <a:off x="4645152" y="3527552"/>
            <a:ext cx="7150608" cy="47955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545840"/>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05    LOZ TOP CTR LOW</a:t>
            </a:r>
          </a:p>
        </p:txBody>
      </p:sp>
      <p:sp>
        <p:nvSpPr>
          <p:cNvPr id="36" name="TextBox 35"/>
          <p:cNvSpPr txBox="1"/>
          <p:nvPr/>
        </p:nvSpPr>
        <p:spPr>
          <a:xfrm>
            <a:off x="4791456" y="3701288"/>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Loz Gold Outline Top Ctr Low</a:t>
            </a:r>
          </a:p>
        </p:txBody>
      </p:sp>
      <p:sp>
        <p:nvSpPr>
          <p:cNvPr id="37" name="Rectangle 36"/>
          <p:cNvSpPr/>
          <p:nvPr/>
        </p:nvSpPr>
        <p:spPr>
          <a:xfrm>
            <a:off x="4791456" y="3943096"/>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791456" y="3943096"/>
            <a:ext cx="6144768"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54512" y="3527552"/>
            <a:ext cx="749808" cy="47955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+22</a:t>
            </a:r>
          </a:p>
        </p:txBody>
      </p:sp>
      <p:sp>
        <p:nvSpPr>
          <p:cNvPr id="40" name="Rounded Rectangle 39"/>
          <p:cNvSpPr/>
          <p:nvPr/>
        </p:nvSpPr>
        <p:spPr>
          <a:xfrm>
            <a:off x="4645152" y="4052824"/>
            <a:ext cx="7150608" cy="47955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91456" y="4071111"/>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06    WORDMARK</a:t>
            </a:r>
          </a:p>
        </p:txBody>
      </p:sp>
      <p:sp>
        <p:nvSpPr>
          <p:cNvPr id="42" name="TextBox 41"/>
          <p:cNvSpPr txBox="1"/>
          <p:nvPr/>
        </p:nvSpPr>
        <p:spPr>
          <a:xfrm>
            <a:off x="4791456" y="4226560"/>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Wordmark 100%</a:t>
            </a:r>
          </a:p>
        </p:txBody>
      </p:sp>
      <p:sp>
        <p:nvSpPr>
          <p:cNvPr id="43" name="Rectangle 42"/>
          <p:cNvSpPr/>
          <p:nvPr/>
        </p:nvSpPr>
        <p:spPr>
          <a:xfrm>
            <a:off x="4791456" y="4468368"/>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91456" y="4468368"/>
            <a:ext cx="3910306"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54512" y="4052824"/>
            <a:ext cx="749808" cy="47955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+14</a:t>
            </a:r>
          </a:p>
        </p:txBody>
      </p:sp>
      <p:sp>
        <p:nvSpPr>
          <p:cNvPr id="46" name="Rounded Rectangle 45"/>
          <p:cNvSpPr/>
          <p:nvPr/>
        </p:nvSpPr>
        <p:spPr>
          <a:xfrm>
            <a:off x="4645152" y="4578095"/>
            <a:ext cx="7150608" cy="47955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91456" y="4596383"/>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07    BIRD TREATMENT</a:t>
            </a:r>
          </a:p>
        </p:txBody>
      </p:sp>
      <p:sp>
        <p:nvSpPr>
          <p:cNvPr id="48" name="TextBox 47"/>
          <p:cNvSpPr txBox="1"/>
          <p:nvPr/>
        </p:nvSpPr>
        <p:spPr>
          <a:xfrm>
            <a:off x="4791456" y="4751832"/>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Bird Gold Cold Foil</a:t>
            </a:r>
          </a:p>
        </p:txBody>
      </p:sp>
      <p:sp>
        <p:nvSpPr>
          <p:cNvPr id="49" name="Rectangle 48"/>
          <p:cNvSpPr/>
          <p:nvPr/>
        </p:nvSpPr>
        <p:spPr>
          <a:xfrm>
            <a:off x="4791456" y="4993639"/>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791456" y="4993639"/>
            <a:ext cx="1955153"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54512" y="4578095"/>
            <a:ext cx="749808" cy="47955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+7</a:t>
            </a:r>
          </a:p>
        </p:txBody>
      </p:sp>
      <p:sp>
        <p:nvSpPr>
          <p:cNvPr id="52" name="Rounded Rectangle 51"/>
          <p:cNvSpPr/>
          <p:nvPr/>
        </p:nvSpPr>
        <p:spPr>
          <a:xfrm>
            <a:off x="4645152" y="5103368"/>
            <a:ext cx="7150608" cy="47955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791456" y="5121656"/>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08    GOLD FOIL BAND</a:t>
            </a:r>
          </a:p>
        </p:txBody>
      </p:sp>
      <p:sp>
        <p:nvSpPr>
          <p:cNvPr id="54" name="TextBox 53"/>
          <p:cNvSpPr txBox="1"/>
          <p:nvPr/>
        </p:nvSpPr>
        <p:spPr>
          <a:xfrm>
            <a:off x="4791456" y="5277104"/>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Gold Band On</a:t>
            </a:r>
          </a:p>
        </p:txBody>
      </p:sp>
      <p:sp>
        <p:nvSpPr>
          <p:cNvPr id="55" name="Rectangle 54"/>
          <p:cNvSpPr/>
          <p:nvPr/>
        </p:nvSpPr>
        <p:spPr>
          <a:xfrm>
            <a:off x="4791456" y="5518912"/>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791456" y="5518912"/>
            <a:ext cx="837922"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954512" y="5103368"/>
            <a:ext cx="749808" cy="47955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+3</a:t>
            </a:r>
          </a:p>
        </p:txBody>
      </p:sp>
      <p:sp>
        <p:nvSpPr>
          <p:cNvPr id="58" name="Rounded Rectangle 57"/>
          <p:cNvSpPr/>
          <p:nvPr/>
        </p:nvSpPr>
        <p:spPr>
          <a:xfrm>
            <a:off x="4645152" y="5628639"/>
            <a:ext cx="7150608" cy="47955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791456" y="5646927"/>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09    CAP COLOR</a:t>
            </a:r>
          </a:p>
        </p:txBody>
      </p:sp>
      <p:sp>
        <p:nvSpPr>
          <p:cNvPr id="60" name="TextBox 59"/>
          <p:cNvSpPr txBox="1"/>
          <p:nvPr/>
        </p:nvSpPr>
        <p:spPr>
          <a:xfrm>
            <a:off x="4791456" y="5802376"/>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Cap Pearl White</a:t>
            </a:r>
          </a:p>
        </p:txBody>
      </p:sp>
      <p:sp>
        <p:nvSpPr>
          <p:cNvPr id="61" name="Rectangle 60"/>
          <p:cNvSpPr/>
          <p:nvPr/>
        </p:nvSpPr>
        <p:spPr>
          <a:xfrm>
            <a:off x="4791456" y="6044183"/>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791456" y="6044183"/>
            <a:ext cx="1117230"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954512" y="5628639"/>
            <a:ext cx="749808" cy="47955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+4</a:t>
            </a:r>
          </a:p>
        </p:txBody>
      </p:sp>
      <p:sp>
        <p:nvSpPr>
          <p:cNvPr id="64" name="Rectangle 63"/>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66" name="TextBox 65"/>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COMBINATION WINNERS</a:t>
            </a:r>
          </a:p>
        </p:txBody>
      </p:sp>
      <p:sp>
        <p:nvSpPr>
          <p:cNvPr id="3" name="TextBox 2"/>
          <p:cNvSpPr txBox="1"/>
          <p:nvPr/>
        </p:nvSpPr>
        <p:spPr>
          <a:xfrm>
            <a:off x="438912" y="475488"/>
            <a:ext cx="11247120" cy="347472"/>
          </a:xfrm>
          <a:prstGeom prst="rect">
            <a:avLst/>
          </a:prstGeom>
          <a:noFill/>
        </p:spPr>
        <p:txBody>
          <a:bodyPr wrap="square" anchor="t"/>
          <a:lstStyle/>
          <a:p>
            <a:pPr algn="l">
              <a:spcAft>
                <a:spcPts val="400"/>
              </a:spcAft>
            </a:pPr>
            <a:r>
              <a:rPr sz="2600" b="1" i="0">
                <a:solidFill>
                  <a:srgbClr val="1E2D44"/>
                </a:solidFill>
                <a:latin typeface="Karla"/>
              </a:rPr>
              <a:t>Lowest coefficient sum, stacked into one pack</a:t>
            </a:r>
          </a:p>
        </p:txBody>
      </p:sp>
      <p:sp>
        <p:nvSpPr>
          <p:cNvPr id="4" name="TextBox 3"/>
          <p:cNvSpPr txBox="1"/>
          <p:nvPr/>
        </p:nvSpPr>
        <p:spPr>
          <a:xfrm>
            <a:off x="438912" y="877824"/>
            <a:ext cx="11247120" cy="420624"/>
          </a:xfrm>
          <a:prstGeom prst="rect">
            <a:avLst/>
          </a:prstGeom>
          <a:noFill/>
        </p:spPr>
        <p:txBody>
          <a:bodyPr wrap="square" anchor="t"/>
          <a:lstStyle/>
          <a:p>
            <a:pPr algn="l">
              <a:spcAft>
                <a:spcPts val="400"/>
              </a:spcAft>
            </a:pPr>
            <a:r>
              <a:rPr sz="1400" b="0" i="0">
                <a:solidFill>
                  <a:srgbClr val="617086"/>
                </a:solidFill>
                <a:latin typeface="Karla"/>
              </a:rPr>
              <a:t>The lowest coefficient sum that still fills every silo it can, with no blocked pair on the pack.</a:t>
            </a:r>
          </a:p>
        </p:txBody>
      </p:sp>
      <p:sp>
        <p:nvSpPr>
          <p:cNvPr id="5" name="Rounded Rectangle 4"/>
          <p:cNvSpPr/>
          <p:nvPr/>
        </p:nvSpPr>
        <p:spPr>
          <a:xfrm>
            <a:off x="384048" y="1426464"/>
            <a:ext cx="4041648" cy="4681728"/>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1-B7-C5-I5-J1-L1-M1-N1.png"/>
          <p:cNvPicPr>
            <a:picLocks noChangeAspect="1"/>
          </p:cNvPicPr>
          <p:nvPr/>
        </p:nvPicPr>
        <p:blipFill>
          <a:blip r:embed="rId2"/>
          <a:stretch>
            <a:fillRect/>
          </a:stretch>
        </p:blipFill>
        <p:spPr>
          <a:xfrm>
            <a:off x="772667" y="1673351"/>
            <a:ext cx="3264408" cy="3264408"/>
          </a:xfrm>
          <a:prstGeom prst="rect">
            <a:avLst/>
          </a:prstGeom>
        </p:spPr>
      </p:pic>
      <p:sp>
        <p:nvSpPr>
          <p:cNvPr id="7" name="Rounded Rectangle 6"/>
          <p:cNvSpPr/>
          <p:nvPr/>
        </p:nvSpPr>
        <p:spPr>
          <a:xfrm>
            <a:off x="640080" y="5148072"/>
            <a:ext cx="3529584" cy="7132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5148072"/>
            <a:ext cx="3273552" cy="420624"/>
          </a:xfrm>
          <a:prstGeom prst="rect">
            <a:avLst/>
          </a:prstGeom>
          <a:noFill/>
        </p:spPr>
        <p:txBody>
          <a:bodyPr wrap="square" anchor="b" lIns="0" rIns="0" tIns="0" bIns="0"/>
          <a:lstStyle/>
          <a:p>
            <a:pPr algn="ctr">
              <a:spcBef>
                <a:spcPts val="0"/>
              </a:spcBef>
              <a:spcAft>
                <a:spcPts val="0"/>
              </a:spcAft>
            </a:pPr>
            <a:r>
              <a:rPr sz="2600" b="1" i="0">
                <a:solidFill>
                  <a:srgbClr val="008935"/>
                </a:solidFill>
                <a:latin typeface="Karla"/>
              </a:rPr>
              <a:t>+64</a:t>
            </a:r>
          </a:p>
        </p:txBody>
      </p:sp>
      <p:sp>
        <p:nvSpPr>
          <p:cNvPr id="9" name="TextBox 8"/>
          <p:cNvSpPr txBox="1"/>
          <p:nvPr/>
        </p:nvSpPr>
        <p:spPr>
          <a:xfrm>
            <a:off x="768096" y="5532120"/>
            <a:ext cx="3273552" cy="256032"/>
          </a:xfrm>
          <a:prstGeom prst="rect">
            <a:avLst/>
          </a:prstGeom>
          <a:noFill/>
        </p:spPr>
        <p:txBody>
          <a:bodyPr wrap="square" anchor="t" lIns="0" rIns="0" tIns="0" bIns="0"/>
          <a:lstStyle/>
          <a:p>
            <a:pPr algn="ctr">
              <a:spcBef>
                <a:spcPts val="0"/>
              </a:spcBef>
              <a:spcAft>
                <a:spcPts val="0"/>
              </a:spcAft>
            </a:pPr>
            <a:r>
              <a:rPr sz="1100" b="0" i="0">
                <a:solidFill>
                  <a:srgbClr val="617086"/>
                </a:solidFill>
                <a:latin typeface="Karla"/>
              </a:rPr>
              <a:t>coefficient sum</a:t>
            </a:r>
          </a:p>
        </p:txBody>
      </p:sp>
      <p:sp>
        <p:nvSpPr>
          <p:cNvPr id="10" name="Rounded Rectangle 9"/>
          <p:cNvSpPr/>
          <p:nvPr/>
        </p:nvSpPr>
        <p:spPr>
          <a:xfrm>
            <a:off x="4645152" y="1426464"/>
            <a:ext cx="7150608" cy="54521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91456" y="1444752"/>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01    DEBOSS</a:t>
            </a:r>
          </a:p>
        </p:txBody>
      </p:sp>
      <p:sp>
        <p:nvSpPr>
          <p:cNvPr id="12" name="TextBox 11"/>
          <p:cNvSpPr txBox="1"/>
          <p:nvPr/>
        </p:nvSpPr>
        <p:spPr>
          <a:xfrm>
            <a:off x="4791456" y="1600200"/>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Deboss Off</a:t>
            </a:r>
          </a:p>
        </p:txBody>
      </p:sp>
      <p:sp>
        <p:nvSpPr>
          <p:cNvPr id="13" name="Rectangle 12"/>
          <p:cNvSpPr/>
          <p:nvPr/>
        </p:nvSpPr>
        <p:spPr>
          <a:xfrm>
            <a:off x="4791456" y="1907667"/>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91456" y="1907667"/>
            <a:ext cx="307238"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54512" y="1426464"/>
            <a:ext cx="749808" cy="54521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+1</a:t>
            </a:r>
          </a:p>
        </p:txBody>
      </p:sp>
      <p:sp>
        <p:nvSpPr>
          <p:cNvPr id="16" name="Rounded Rectangle 15"/>
          <p:cNvSpPr/>
          <p:nvPr/>
        </p:nvSpPr>
        <p:spPr>
          <a:xfrm>
            <a:off x="4645152" y="2017395"/>
            <a:ext cx="7150608" cy="54521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91456" y="2035683"/>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02    IMAGERY</a:t>
            </a:r>
          </a:p>
        </p:txBody>
      </p:sp>
      <p:sp>
        <p:nvSpPr>
          <p:cNvPr id="18" name="TextBox 17"/>
          <p:cNvSpPr txBox="1"/>
          <p:nvPr/>
        </p:nvSpPr>
        <p:spPr>
          <a:xfrm>
            <a:off x="4791456" y="2191131"/>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Swipe Low</a:t>
            </a:r>
          </a:p>
        </p:txBody>
      </p:sp>
      <p:sp>
        <p:nvSpPr>
          <p:cNvPr id="19" name="Rectangle 18"/>
          <p:cNvSpPr/>
          <p:nvPr/>
        </p:nvSpPr>
        <p:spPr>
          <a:xfrm>
            <a:off x="4791456" y="2498598"/>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91456" y="2498598"/>
            <a:ext cx="2457907"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54512" y="2017395"/>
            <a:ext cx="749808" cy="54521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+8</a:t>
            </a:r>
          </a:p>
        </p:txBody>
      </p:sp>
      <p:sp>
        <p:nvSpPr>
          <p:cNvPr id="22" name="Rounded Rectangle 21"/>
          <p:cNvSpPr/>
          <p:nvPr/>
        </p:nvSpPr>
        <p:spPr>
          <a:xfrm>
            <a:off x="4645152" y="2608326"/>
            <a:ext cx="7150608" cy="54521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91456" y="2626614"/>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03    VARIANT</a:t>
            </a:r>
          </a:p>
        </p:txBody>
      </p:sp>
      <p:sp>
        <p:nvSpPr>
          <p:cNvPr id="24" name="TextBox 23"/>
          <p:cNvSpPr txBox="1"/>
          <p:nvPr/>
        </p:nvSpPr>
        <p:spPr>
          <a:xfrm>
            <a:off x="4791456" y="2782062"/>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Variant Left Top</a:t>
            </a:r>
          </a:p>
        </p:txBody>
      </p:sp>
      <p:sp>
        <p:nvSpPr>
          <p:cNvPr id="25" name="Rectangle 24"/>
          <p:cNvSpPr/>
          <p:nvPr/>
        </p:nvSpPr>
        <p:spPr>
          <a:xfrm>
            <a:off x="4791456" y="3089529"/>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91456" y="3089529"/>
            <a:ext cx="5837529"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54512" y="2608326"/>
            <a:ext cx="749808" cy="54521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+19</a:t>
            </a:r>
          </a:p>
        </p:txBody>
      </p:sp>
      <p:sp>
        <p:nvSpPr>
          <p:cNvPr id="28" name="Rounded Rectangle 27"/>
          <p:cNvSpPr/>
          <p:nvPr/>
        </p:nvSpPr>
        <p:spPr>
          <a:xfrm>
            <a:off x="4645152" y="3199257"/>
            <a:ext cx="7150608" cy="54521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91456" y="3217545"/>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04    LOZ TOP LEFT</a:t>
            </a:r>
          </a:p>
        </p:txBody>
      </p:sp>
      <p:sp>
        <p:nvSpPr>
          <p:cNvPr id="30" name="TextBox 29"/>
          <p:cNvSpPr txBox="1"/>
          <p:nvPr/>
        </p:nvSpPr>
        <p:spPr>
          <a:xfrm>
            <a:off x="4791456" y="3372993"/>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Loz Variant Outline Top Left</a:t>
            </a:r>
          </a:p>
        </p:txBody>
      </p:sp>
      <p:sp>
        <p:nvSpPr>
          <p:cNvPr id="31" name="Rectangle 30"/>
          <p:cNvSpPr/>
          <p:nvPr/>
        </p:nvSpPr>
        <p:spPr>
          <a:xfrm>
            <a:off x="4791456" y="3680460"/>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91456" y="3680460"/>
            <a:ext cx="6144768"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54512" y="3199257"/>
            <a:ext cx="749808" cy="54521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+20</a:t>
            </a:r>
          </a:p>
        </p:txBody>
      </p:sp>
      <p:sp>
        <p:nvSpPr>
          <p:cNvPr id="34" name="Rounded Rectangle 33"/>
          <p:cNvSpPr/>
          <p:nvPr/>
        </p:nvSpPr>
        <p:spPr>
          <a:xfrm>
            <a:off x="4645152" y="3790188"/>
            <a:ext cx="7150608" cy="54521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808476"/>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05    ADVANCED CARE</a:t>
            </a:r>
          </a:p>
        </p:txBody>
      </p:sp>
      <p:sp>
        <p:nvSpPr>
          <p:cNvPr id="36" name="TextBox 35"/>
          <p:cNvSpPr txBox="1"/>
          <p:nvPr/>
        </p:nvSpPr>
        <p:spPr>
          <a:xfrm>
            <a:off x="4791456" y="3963924"/>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Adv Care Caps No Wordmark</a:t>
            </a:r>
          </a:p>
        </p:txBody>
      </p:sp>
      <p:sp>
        <p:nvSpPr>
          <p:cNvPr id="37" name="Rectangle 36"/>
          <p:cNvSpPr/>
          <p:nvPr/>
        </p:nvSpPr>
        <p:spPr>
          <a:xfrm>
            <a:off x="4791456" y="4271391"/>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791456" y="4271391"/>
            <a:ext cx="1843430"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54512" y="3790188"/>
            <a:ext cx="749808" cy="54521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+6</a:t>
            </a:r>
          </a:p>
        </p:txBody>
      </p:sp>
      <p:sp>
        <p:nvSpPr>
          <p:cNvPr id="40" name="Rounded Rectangle 39"/>
          <p:cNvSpPr/>
          <p:nvPr/>
        </p:nvSpPr>
        <p:spPr>
          <a:xfrm>
            <a:off x="4645152" y="4381119"/>
            <a:ext cx="7150608" cy="54521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91456" y="4399407"/>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06    BIRD TREATMENT</a:t>
            </a:r>
          </a:p>
        </p:txBody>
      </p:sp>
      <p:sp>
        <p:nvSpPr>
          <p:cNvPr id="42" name="TextBox 41"/>
          <p:cNvSpPr txBox="1"/>
          <p:nvPr/>
        </p:nvSpPr>
        <p:spPr>
          <a:xfrm>
            <a:off x="4791456" y="4554855"/>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Bird Gold Cold Foil</a:t>
            </a:r>
          </a:p>
        </p:txBody>
      </p:sp>
      <p:sp>
        <p:nvSpPr>
          <p:cNvPr id="43" name="Rectangle 42"/>
          <p:cNvSpPr/>
          <p:nvPr/>
        </p:nvSpPr>
        <p:spPr>
          <a:xfrm>
            <a:off x="4791456" y="4862322"/>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91456" y="4862322"/>
            <a:ext cx="2150668"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54512" y="4381119"/>
            <a:ext cx="749808" cy="54521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+7</a:t>
            </a:r>
          </a:p>
        </p:txBody>
      </p:sp>
      <p:sp>
        <p:nvSpPr>
          <p:cNvPr id="46" name="Rounded Rectangle 45"/>
          <p:cNvSpPr/>
          <p:nvPr/>
        </p:nvSpPr>
        <p:spPr>
          <a:xfrm>
            <a:off x="4645152" y="4972050"/>
            <a:ext cx="7150608" cy="54521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91456" y="4990338"/>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07    GOLD FOIL BAND</a:t>
            </a:r>
          </a:p>
        </p:txBody>
      </p:sp>
      <p:sp>
        <p:nvSpPr>
          <p:cNvPr id="48" name="TextBox 47"/>
          <p:cNvSpPr txBox="1"/>
          <p:nvPr/>
        </p:nvSpPr>
        <p:spPr>
          <a:xfrm>
            <a:off x="4791456" y="5145786"/>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Gold Band Off</a:t>
            </a:r>
          </a:p>
        </p:txBody>
      </p:sp>
      <p:sp>
        <p:nvSpPr>
          <p:cNvPr id="49" name="Rectangle 48"/>
          <p:cNvSpPr/>
          <p:nvPr/>
        </p:nvSpPr>
        <p:spPr>
          <a:xfrm>
            <a:off x="4791456" y="5453253"/>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791456" y="5453253"/>
            <a:ext cx="307238"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54512" y="4972050"/>
            <a:ext cx="749808" cy="54521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+1</a:t>
            </a:r>
          </a:p>
        </p:txBody>
      </p:sp>
      <p:sp>
        <p:nvSpPr>
          <p:cNvPr id="52" name="Rounded Rectangle 51"/>
          <p:cNvSpPr/>
          <p:nvPr/>
        </p:nvSpPr>
        <p:spPr>
          <a:xfrm>
            <a:off x="4645152" y="5562981"/>
            <a:ext cx="7150608" cy="545211"/>
          </a:xfrm>
          <a:prstGeom prst="roundRect">
            <a:avLst>
              <a:gd name="adj" fmla="val 6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791456" y="5581269"/>
            <a:ext cx="6144768" cy="164592"/>
          </a:xfrm>
          <a:prstGeom prst="rect">
            <a:avLst/>
          </a:prstGeom>
          <a:noFill/>
        </p:spPr>
        <p:txBody>
          <a:bodyPr wrap="square" anchor="ctr" lIns="0" rIns="0" tIns="0" bIns="0"/>
          <a:lstStyle/>
          <a:p>
            <a:pPr algn="l">
              <a:spcBef>
                <a:spcPts val="0"/>
              </a:spcBef>
              <a:spcAft>
                <a:spcPts val="0"/>
              </a:spcAft>
            </a:pPr>
            <a:r>
              <a:rPr sz="1000" b="1" i="0">
                <a:solidFill>
                  <a:srgbClr val="04746E"/>
                </a:solidFill>
                <a:latin typeface="Karla"/>
              </a:rPr>
              <a:t>08    CAP COLOR</a:t>
            </a:r>
          </a:p>
        </p:txBody>
      </p:sp>
      <p:sp>
        <p:nvSpPr>
          <p:cNvPr id="54" name="TextBox 53"/>
          <p:cNvSpPr txBox="1"/>
          <p:nvPr/>
        </p:nvSpPr>
        <p:spPr>
          <a:xfrm>
            <a:off x="4791456" y="5736717"/>
            <a:ext cx="6144768" cy="182880"/>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Cap Gold</a:t>
            </a:r>
          </a:p>
        </p:txBody>
      </p:sp>
      <p:sp>
        <p:nvSpPr>
          <p:cNvPr id="55" name="Rectangle 54"/>
          <p:cNvSpPr/>
          <p:nvPr/>
        </p:nvSpPr>
        <p:spPr>
          <a:xfrm>
            <a:off x="4791456" y="6044184"/>
            <a:ext cx="6144768" cy="25603"/>
          </a:xfrm>
          <a:prstGeom prst="rect">
            <a:avLst/>
          </a:prstGeom>
          <a:solidFill>
            <a:srgbClr val="F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791456" y="6044184"/>
            <a:ext cx="614476" cy="25603"/>
          </a:xfrm>
          <a:prstGeom prst="rect">
            <a:avLst/>
          </a:prstGeom>
          <a:solidFill>
            <a:srgbClr val="008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954512" y="5562981"/>
            <a:ext cx="749808" cy="545211"/>
          </a:xfrm>
          <a:prstGeom prst="rect">
            <a:avLst/>
          </a:prstGeom>
          <a:noFill/>
        </p:spPr>
        <p:txBody>
          <a:bodyPr wrap="square" anchor="ctr" lIns="0" rIns="0" tIns="0" bIns="0"/>
          <a:lstStyle/>
          <a:p>
            <a:pPr algn="r">
              <a:spcBef>
                <a:spcPts val="0"/>
              </a:spcBef>
              <a:spcAft>
                <a:spcPts val="0"/>
              </a:spcAft>
            </a:pPr>
            <a:r>
              <a:rPr sz="1500" b="1" i="0">
                <a:solidFill>
                  <a:srgbClr val="008935"/>
                </a:solidFill>
                <a:latin typeface="Karla"/>
              </a:rPr>
              <a:t>+2</a:t>
            </a:r>
          </a:p>
        </p:txBody>
      </p:sp>
      <p:sp>
        <p:nvSpPr>
          <p:cNvPr id="58" name="Rectangle 57"/>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60" name="TextBox 59"/>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COMBINATION WINNERS</a:t>
            </a:r>
          </a:p>
        </p:txBody>
      </p:sp>
      <p:sp>
        <p:nvSpPr>
          <p:cNvPr id="3" name="TextBox 2"/>
          <p:cNvSpPr txBox="1"/>
          <p:nvPr/>
        </p:nvSpPr>
        <p:spPr>
          <a:xfrm>
            <a:off x="502920" y="530352"/>
            <a:ext cx="11155680" cy="365760"/>
          </a:xfrm>
          <a:prstGeom prst="rect">
            <a:avLst/>
          </a:prstGeom>
          <a:noFill/>
        </p:spPr>
        <p:txBody>
          <a:bodyPr wrap="square" anchor="t"/>
          <a:lstStyle/>
          <a:p>
            <a:pPr algn="l">
              <a:spcAft>
                <a:spcPts val="400"/>
              </a:spcAft>
            </a:pPr>
            <a:r>
              <a:rPr sz="2400" b="1" i="0">
                <a:solidFill>
                  <a:srgbClr val="1E2D44"/>
                </a:solidFill>
                <a:latin typeface="Karla"/>
              </a:rPr>
              <a:t>The higher-lift build against the lower-lift build</a:t>
            </a:r>
          </a:p>
        </p:txBody>
      </p:sp>
      <p:sp>
        <p:nvSpPr>
          <p:cNvPr id="4" name="Rounded Rectangle 3"/>
          <p:cNvSpPr/>
          <p:nvPr/>
        </p:nvSpPr>
        <p:spPr>
          <a:xfrm>
            <a:off x="384048" y="1115568"/>
            <a:ext cx="5623560" cy="4315968"/>
          </a:xfrm>
          <a:prstGeom prst="roundRect">
            <a:avLst>
              <a:gd name="adj" fmla="val 3000"/>
            </a:avLst>
          </a:prstGeom>
          <a:solidFill>
            <a:srgbClr val="FFFFFF"/>
          </a:solidFill>
          <a:ln w="12700">
            <a:solidFill>
              <a:srgbClr val="E4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2336" y="1188720"/>
            <a:ext cx="5586984" cy="1170432"/>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1115568"/>
            <a:ext cx="5623560" cy="50292"/>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225295"/>
            <a:ext cx="5330952" cy="201168"/>
          </a:xfrm>
          <a:prstGeom prst="rect">
            <a:avLst/>
          </a:prstGeom>
          <a:noFill/>
        </p:spPr>
        <p:txBody>
          <a:bodyPr wrap="square" anchor="t" lIns="0" rIns="0" tIns="0" bIns="0"/>
          <a:lstStyle/>
          <a:p>
            <a:pPr algn="l">
              <a:spcBef>
                <a:spcPts val="0"/>
              </a:spcBef>
              <a:spcAft>
                <a:spcPts val="0"/>
              </a:spcAft>
            </a:pPr>
            <a:r>
              <a:rPr sz="1100" b="1" i="0">
                <a:solidFill>
                  <a:srgbClr val="04746E"/>
                </a:solidFill>
                <a:latin typeface="Karla"/>
              </a:rPr>
              <a:t>HIGHER-LIFT BUILD</a:t>
            </a:r>
          </a:p>
        </p:txBody>
      </p:sp>
      <p:pic>
        <p:nvPicPr>
          <p:cNvPr id="8" name="Picture 7" descr="A2-B5-C2-D5-F3-K1-L1-M2-N2.png"/>
          <p:cNvPicPr>
            <a:picLocks noChangeAspect="1"/>
          </p:cNvPicPr>
          <p:nvPr/>
        </p:nvPicPr>
        <p:blipFill>
          <a:blip r:embed="rId2"/>
          <a:stretch>
            <a:fillRect/>
          </a:stretch>
        </p:blipFill>
        <p:spPr>
          <a:xfrm>
            <a:off x="530352" y="1463040"/>
            <a:ext cx="841248" cy="841248"/>
          </a:xfrm>
          <a:prstGeom prst="rect">
            <a:avLst/>
          </a:prstGeom>
        </p:spPr>
      </p:pic>
      <p:sp>
        <p:nvSpPr>
          <p:cNvPr id="9" name="TextBox 8"/>
          <p:cNvSpPr txBox="1"/>
          <p:nvPr/>
        </p:nvSpPr>
        <p:spPr>
          <a:xfrm>
            <a:off x="1572768" y="1499616"/>
            <a:ext cx="4288536" cy="438912"/>
          </a:xfrm>
          <a:prstGeom prst="rect">
            <a:avLst/>
          </a:prstGeom>
          <a:noFill/>
        </p:spPr>
        <p:txBody>
          <a:bodyPr wrap="square" anchor="t" lIns="0" rIns="0" tIns="0" bIns="0"/>
          <a:lstStyle/>
          <a:p>
            <a:pPr algn="l">
              <a:spcBef>
                <a:spcPts val="0"/>
              </a:spcBef>
              <a:spcAft>
                <a:spcPts val="0"/>
              </a:spcAft>
            </a:pPr>
            <a:r>
              <a:rPr sz="2800" b="1" i="0">
                <a:solidFill>
                  <a:srgbClr val="008935"/>
                </a:solidFill>
                <a:latin typeface="Karla"/>
              </a:rPr>
              <a:t>+100</a:t>
            </a:r>
          </a:p>
        </p:txBody>
      </p:sp>
      <p:sp>
        <p:nvSpPr>
          <p:cNvPr id="10" name="TextBox 9"/>
          <p:cNvSpPr txBox="1"/>
          <p:nvPr/>
        </p:nvSpPr>
        <p:spPr>
          <a:xfrm>
            <a:off x="1572768" y="1938528"/>
            <a:ext cx="4288536" cy="237744"/>
          </a:xfrm>
          <a:prstGeom prst="rect">
            <a:avLst/>
          </a:prstGeom>
          <a:noFill/>
        </p:spPr>
        <p:txBody>
          <a:bodyPr wrap="square" anchor="t" lIns="0" rIns="0" tIns="0" bIns="0"/>
          <a:lstStyle/>
          <a:p>
            <a:pPr algn="l">
              <a:spcBef>
                <a:spcPts val="0"/>
              </a:spcBef>
              <a:spcAft>
                <a:spcPts val="0"/>
              </a:spcAft>
            </a:pPr>
            <a:r>
              <a:rPr sz="1300" b="0" i="0">
                <a:solidFill>
                  <a:srgbClr val="617086"/>
                </a:solidFill>
                <a:latin typeface="Karla"/>
              </a:rPr>
              <a:t>Lift only, no separate base</a:t>
            </a:r>
          </a:p>
        </p:txBody>
      </p:sp>
      <p:sp>
        <p:nvSpPr>
          <p:cNvPr id="11" name="TextBox 10"/>
          <p:cNvSpPr txBox="1"/>
          <p:nvPr/>
        </p:nvSpPr>
        <p:spPr>
          <a:xfrm>
            <a:off x="530352" y="2414016"/>
            <a:ext cx="1097280" cy="327151"/>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Deboss</a:t>
            </a:r>
          </a:p>
        </p:txBody>
      </p:sp>
      <p:sp>
        <p:nvSpPr>
          <p:cNvPr id="12" name="TextBox 11"/>
          <p:cNvSpPr txBox="1"/>
          <p:nvPr/>
        </p:nvSpPr>
        <p:spPr>
          <a:xfrm>
            <a:off x="1700784" y="2414016"/>
            <a:ext cx="3502152" cy="327151"/>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Blue</a:t>
            </a:r>
          </a:p>
        </p:txBody>
      </p:sp>
      <p:sp>
        <p:nvSpPr>
          <p:cNvPr id="13" name="TextBox 12"/>
          <p:cNvSpPr txBox="1"/>
          <p:nvPr/>
        </p:nvSpPr>
        <p:spPr>
          <a:xfrm>
            <a:off x="5239512" y="2414016"/>
            <a:ext cx="658368" cy="327151"/>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+7</a:t>
            </a:r>
          </a:p>
        </p:txBody>
      </p:sp>
      <p:sp>
        <p:nvSpPr>
          <p:cNvPr id="14" name="Rectangle 13"/>
          <p:cNvSpPr/>
          <p:nvPr/>
        </p:nvSpPr>
        <p:spPr>
          <a:xfrm>
            <a:off x="512064" y="2741168"/>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2741168"/>
            <a:ext cx="1097280" cy="327151"/>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Imagery</a:t>
            </a:r>
          </a:p>
        </p:txBody>
      </p:sp>
      <p:sp>
        <p:nvSpPr>
          <p:cNvPr id="16" name="TextBox 15"/>
          <p:cNvSpPr txBox="1"/>
          <p:nvPr/>
        </p:nvSpPr>
        <p:spPr>
          <a:xfrm>
            <a:off x="1700784" y="2741168"/>
            <a:ext cx="3502152" cy="327151"/>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Splash Low</a:t>
            </a:r>
          </a:p>
        </p:txBody>
      </p:sp>
      <p:sp>
        <p:nvSpPr>
          <p:cNvPr id="17" name="TextBox 16"/>
          <p:cNvSpPr txBox="1"/>
          <p:nvPr/>
        </p:nvSpPr>
        <p:spPr>
          <a:xfrm>
            <a:off x="5239512" y="2741168"/>
            <a:ext cx="658368" cy="327151"/>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+14</a:t>
            </a:r>
          </a:p>
        </p:txBody>
      </p:sp>
      <p:sp>
        <p:nvSpPr>
          <p:cNvPr id="18" name="Rectangle 17"/>
          <p:cNvSpPr/>
          <p:nvPr/>
        </p:nvSpPr>
        <p:spPr>
          <a:xfrm>
            <a:off x="512064" y="3068320"/>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3068320"/>
            <a:ext cx="1097280" cy="327151"/>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Variant</a:t>
            </a:r>
          </a:p>
        </p:txBody>
      </p:sp>
      <p:sp>
        <p:nvSpPr>
          <p:cNvPr id="20" name="TextBox 19"/>
          <p:cNvSpPr txBox="1"/>
          <p:nvPr/>
        </p:nvSpPr>
        <p:spPr>
          <a:xfrm>
            <a:off x="1700784" y="3068320"/>
            <a:ext cx="3502152" cy="327151"/>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Ctr Top Lowered</a:t>
            </a:r>
          </a:p>
        </p:txBody>
      </p:sp>
      <p:sp>
        <p:nvSpPr>
          <p:cNvPr id="21" name="TextBox 20"/>
          <p:cNvSpPr txBox="1"/>
          <p:nvPr/>
        </p:nvSpPr>
        <p:spPr>
          <a:xfrm>
            <a:off x="5239512" y="3068320"/>
            <a:ext cx="658368" cy="327151"/>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+21</a:t>
            </a:r>
          </a:p>
        </p:txBody>
      </p:sp>
      <p:sp>
        <p:nvSpPr>
          <p:cNvPr id="22" name="Rectangle 21"/>
          <p:cNvSpPr/>
          <p:nvPr/>
        </p:nvSpPr>
        <p:spPr>
          <a:xfrm>
            <a:off x="512064" y="3395471"/>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3395471"/>
            <a:ext cx="1097280" cy="327151"/>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Derm Seal</a:t>
            </a:r>
          </a:p>
        </p:txBody>
      </p:sp>
      <p:sp>
        <p:nvSpPr>
          <p:cNvPr id="24" name="TextBox 23"/>
          <p:cNvSpPr txBox="1"/>
          <p:nvPr/>
        </p:nvSpPr>
        <p:spPr>
          <a:xfrm>
            <a:off x="1700784" y="3395471"/>
            <a:ext cx="3502152" cy="327151"/>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Variant High</a:t>
            </a:r>
          </a:p>
        </p:txBody>
      </p:sp>
      <p:sp>
        <p:nvSpPr>
          <p:cNvPr id="25" name="TextBox 24"/>
          <p:cNvSpPr txBox="1"/>
          <p:nvPr/>
        </p:nvSpPr>
        <p:spPr>
          <a:xfrm>
            <a:off x="5239512" y="3395471"/>
            <a:ext cx="658368" cy="327151"/>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+8</a:t>
            </a:r>
          </a:p>
        </p:txBody>
      </p:sp>
      <p:sp>
        <p:nvSpPr>
          <p:cNvPr id="26" name="Rectangle 25"/>
          <p:cNvSpPr/>
          <p:nvPr/>
        </p:nvSpPr>
        <p:spPr>
          <a:xfrm>
            <a:off x="512064" y="3722623"/>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3722623"/>
            <a:ext cx="1097280" cy="327151"/>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Loz Top Ctr Low</a:t>
            </a:r>
          </a:p>
        </p:txBody>
      </p:sp>
      <p:sp>
        <p:nvSpPr>
          <p:cNvPr id="28" name="TextBox 27"/>
          <p:cNvSpPr txBox="1"/>
          <p:nvPr/>
        </p:nvSpPr>
        <p:spPr>
          <a:xfrm>
            <a:off x="1700784" y="3722623"/>
            <a:ext cx="3502152" cy="327151"/>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Loz Gold Outline Top Ctr Low</a:t>
            </a:r>
          </a:p>
        </p:txBody>
      </p:sp>
      <p:sp>
        <p:nvSpPr>
          <p:cNvPr id="29" name="TextBox 28"/>
          <p:cNvSpPr txBox="1"/>
          <p:nvPr/>
        </p:nvSpPr>
        <p:spPr>
          <a:xfrm>
            <a:off x="5239512" y="3722623"/>
            <a:ext cx="658368" cy="327151"/>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+22</a:t>
            </a:r>
          </a:p>
        </p:txBody>
      </p:sp>
      <p:sp>
        <p:nvSpPr>
          <p:cNvPr id="30" name="Rectangle 29"/>
          <p:cNvSpPr/>
          <p:nvPr/>
        </p:nvSpPr>
        <p:spPr>
          <a:xfrm>
            <a:off x="512064" y="4049775"/>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 y="4049775"/>
            <a:ext cx="1097280" cy="327151"/>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Wordmark</a:t>
            </a:r>
          </a:p>
        </p:txBody>
      </p:sp>
      <p:sp>
        <p:nvSpPr>
          <p:cNvPr id="32" name="TextBox 31"/>
          <p:cNvSpPr txBox="1"/>
          <p:nvPr/>
        </p:nvSpPr>
        <p:spPr>
          <a:xfrm>
            <a:off x="1700784" y="4049775"/>
            <a:ext cx="3502152" cy="327151"/>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100%</a:t>
            </a:r>
          </a:p>
        </p:txBody>
      </p:sp>
      <p:sp>
        <p:nvSpPr>
          <p:cNvPr id="33" name="TextBox 32"/>
          <p:cNvSpPr txBox="1"/>
          <p:nvPr/>
        </p:nvSpPr>
        <p:spPr>
          <a:xfrm>
            <a:off x="5239512" y="4049775"/>
            <a:ext cx="658368" cy="327151"/>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+14</a:t>
            </a:r>
          </a:p>
        </p:txBody>
      </p:sp>
      <p:sp>
        <p:nvSpPr>
          <p:cNvPr id="34" name="Rectangle 33"/>
          <p:cNvSpPr/>
          <p:nvPr/>
        </p:nvSpPr>
        <p:spPr>
          <a:xfrm>
            <a:off x="512064" y="4376928"/>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0352" y="4376928"/>
            <a:ext cx="1097280" cy="327151"/>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Bird Treatment</a:t>
            </a:r>
          </a:p>
        </p:txBody>
      </p:sp>
      <p:sp>
        <p:nvSpPr>
          <p:cNvPr id="36" name="TextBox 35"/>
          <p:cNvSpPr txBox="1"/>
          <p:nvPr/>
        </p:nvSpPr>
        <p:spPr>
          <a:xfrm>
            <a:off x="1700784" y="4376928"/>
            <a:ext cx="3502152" cy="327151"/>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Bird Gold Cold Foil</a:t>
            </a:r>
          </a:p>
        </p:txBody>
      </p:sp>
      <p:sp>
        <p:nvSpPr>
          <p:cNvPr id="37" name="TextBox 36"/>
          <p:cNvSpPr txBox="1"/>
          <p:nvPr/>
        </p:nvSpPr>
        <p:spPr>
          <a:xfrm>
            <a:off x="5239512" y="4376928"/>
            <a:ext cx="658368" cy="327151"/>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+7</a:t>
            </a:r>
          </a:p>
        </p:txBody>
      </p:sp>
      <p:sp>
        <p:nvSpPr>
          <p:cNvPr id="38" name="Rectangle 37"/>
          <p:cNvSpPr/>
          <p:nvPr/>
        </p:nvSpPr>
        <p:spPr>
          <a:xfrm>
            <a:off x="512064" y="4704079"/>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0352" y="4704079"/>
            <a:ext cx="1097280" cy="327151"/>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Gold Foil Band</a:t>
            </a:r>
          </a:p>
        </p:txBody>
      </p:sp>
      <p:sp>
        <p:nvSpPr>
          <p:cNvPr id="40" name="TextBox 39"/>
          <p:cNvSpPr txBox="1"/>
          <p:nvPr/>
        </p:nvSpPr>
        <p:spPr>
          <a:xfrm>
            <a:off x="1700784" y="4704079"/>
            <a:ext cx="3502152" cy="327151"/>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Gold Band On</a:t>
            </a:r>
          </a:p>
        </p:txBody>
      </p:sp>
      <p:sp>
        <p:nvSpPr>
          <p:cNvPr id="41" name="TextBox 40"/>
          <p:cNvSpPr txBox="1"/>
          <p:nvPr/>
        </p:nvSpPr>
        <p:spPr>
          <a:xfrm>
            <a:off x="5239512" y="4704079"/>
            <a:ext cx="658368" cy="327151"/>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+3</a:t>
            </a:r>
          </a:p>
        </p:txBody>
      </p:sp>
      <p:sp>
        <p:nvSpPr>
          <p:cNvPr id="42" name="Rectangle 41"/>
          <p:cNvSpPr/>
          <p:nvPr/>
        </p:nvSpPr>
        <p:spPr>
          <a:xfrm>
            <a:off x="512064" y="5031231"/>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0352" y="5031231"/>
            <a:ext cx="1097280" cy="327151"/>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Cap Color</a:t>
            </a:r>
          </a:p>
        </p:txBody>
      </p:sp>
      <p:sp>
        <p:nvSpPr>
          <p:cNvPr id="44" name="TextBox 43"/>
          <p:cNvSpPr txBox="1"/>
          <p:nvPr/>
        </p:nvSpPr>
        <p:spPr>
          <a:xfrm>
            <a:off x="1700784" y="5031231"/>
            <a:ext cx="3502152" cy="327151"/>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Cap Pearl White</a:t>
            </a:r>
          </a:p>
        </p:txBody>
      </p:sp>
      <p:sp>
        <p:nvSpPr>
          <p:cNvPr id="45" name="TextBox 44"/>
          <p:cNvSpPr txBox="1"/>
          <p:nvPr/>
        </p:nvSpPr>
        <p:spPr>
          <a:xfrm>
            <a:off x="5239512" y="5031231"/>
            <a:ext cx="658368" cy="327151"/>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+4</a:t>
            </a:r>
          </a:p>
        </p:txBody>
      </p:sp>
      <p:sp>
        <p:nvSpPr>
          <p:cNvPr id="46" name="Rounded Rectangle 45"/>
          <p:cNvSpPr/>
          <p:nvPr/>
        </p:nvSpPr>
        <p:spPr>
          <a:xfrm>
            <a:off x="6181344" y="1115568"/>
            <a:ext cx="5623560" cy="4315968"/>
          </a:xfrm>
          <a:prstGeom prst="roundRect">
            <a:avLst>
              <a:gd name="adj" fmla="val 3000"/>
            </a:avLst>
          </a:prstGeom>
          <a:solidFill>
            <a:srgbClr val="FFFFFF"/>
          </a:solidFill>
          <a:ln w="12700">
            <a:solidFill>
              <a:srgbClr val="E4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99631" y="1188720"/>
            <a:ext cx="5586984" cy="1170432"/>
          </a:xfrm>
          <a:prstGeom prst="rect">
            <a:avLst/>
          </a:prstGeom>
          <a:solidFill>
            <a:srgbClr val="FD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81344" y="1115568"/>
            <a:ext cx="5623560" cy="50292"/>
          </a:xfrm>
          <a:prstGeom prst="rect">
            <a:avLst/>
          </a:prstGeom>
          <a:solidFill>
            <a:srgbClr val="C96B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27648" y="1225295"/>
            <a:ext cx="5330952" cy="201168"/>
          </a:xfrm>
          <a:prstGeom prst="rect">
            <a:avLst/>
          </a:prstGeom>
          <a:noFill/>
        </p:spPr>
        <p:txBody>
          <a:bodyPr wrap="square" anchor="t" lIns="0" rIns="0" tIns="0" bIns="0"/>
          <a:lstStyle/>
          <a:p>
            <a:pPr algn="l">
              <a:spcBef>
                <a:spcPts val="0"/>
              </a:spcBef>
              <a:spcAft>
                <a:spcPts val="0"/>
              </a:spcAft>
            </a:pPr>
            <a:r>
              <a:rPr sz="1100" b="1" i="0">
                <a:solidFill>
                  <a:srgbClr val="C96B84"/>
                </a:solidFill>
                <a:latin typeface="Karla"/>
              </a:rPr>
              <a:t>LOWER-LIFT BUILD</a:t>
            </a:r>
          </a:p>
        </p:txBody>
      </p:sp>
      <p:pic>
        <p:nvPicPr>
          <p:cNvPr id="50" name="Picture 49" descr="A1-B7-C5-I5-J1-L1-M1-N1.png"/>
          <p:cNvPicPr>
            <a:picLocks noChangeAspect="1"/>
          </p:cNvPicPr>
          <p:nvPr/>
        </p:nvPicPr>
        <p:blipFill>
          <a:blip r:embed="rId3"/>
          <a:stretch>
            <a:fillRect/>
          </a:stretch>
        </p:blipFill>
        <p:spPr>
          <a:xfrm>
            <a:off x="6327648" y="1463040"/>
            <a:ext cx="841248" cy="841248"/>
          </a:xfrm>
          <a:prstGeom prst="rect">
            <a:avLst/>
          </a:prstGeom>
        </p:spPr>
      </p:pic>
      <p:sp>
        <p:nvSpPr>
          <p:cNvPr id="51" name="TextBox 50"/>
          <p:cNvSpPr txBox="1"/>
          <p:nvPr/>
        </p:nvSpPr>
        <p:spPr>
          <a:xfrm>
            <a:off x="7370064" y="1499616"/>
            <a:ext cx="4288536" cy="438912"/>
          </a:xfrm>
          <a:prstGeom prst="rect">
            <a:avLst/>
          </a:prstGeom>
          <a:noFill/>
        </p:spPr>
        <p:txBody>
          <a:bodyPr wrap="square" anchor="t" lIns="0" rIns="0" tIns="0" bIns="0"/>
          <a:lstStyle/>
          <a:p>
            <a:pPr algn="l">
              <a:spcBef>
                <a:spcPts val="0"/>
              </a:spcBef>
              <a:spcAft>
                <a:spcPts val="0"/>
              </a:spcAft>
            </a:pPr>
            <a:r>
              <a:rPr sz="2800" b="1" i="0">
                <a:solidFill>
                  <a:srgbClr val="008935"/>
                </a:solidFill>
                <a:latin typeface="Karla"/>
              </a:rPr>
              <a:t>+64</a:t>
            </a:r>
          </a:p>
        </p:txBody>
      </p:sp>
      <p:sp>
        <p:nvSpPr>
          <p:cNvPr id="52" name="TextBox 51"/>
          <p:cNvSpPr txBox="1"/>
          <p:nvPr/>
        </p:nvSpPr>
        <p:spPr>
          <a:xfrm>
            <a:off x="7370064" y="1938528"/>
            <a:ext cx="4288536" cy="237744"/>
          </a:xfrm>
          <a:prstGeom prst="rect">
            <a:avLst/>
          </a:prstGeom>
          <a:noFill/>
        </p:spPr>
        <p:txBody>
          <a:bodyPr wrap="square" anchor="t" lIns="0" rIns="0" tIns="0" bIns="0"/>
          <a:lstStyle/>
          <a:p>
            <a:pPr algn="l">
              <a:spcBef>
                <a:spcPts val="0"/>
              </a:spcBef>
              <a:spcAft>
                <a:spcPts val="0"/>
              </a:spcAft>
            </a:pPr>
            <a:r>
              <a:rPr sz="1300" b="0" i="0">
                <a:solidFill>
                  <a:srgbClr val="617086"/>
                </a:solidFill>
                <a:latin typeface="Karla"/>
              </a:rPr>
              <a:t>Lift only, no separate base</a:t>
            </a:r>
          </a:p>
        </p:txBody>
      </p:sp>
      <p:sp>
        <p:nvSpPr>
          <p:cNvPr id="53" name="TextBox 52"/>
          <p:cNvSpPr txBox="1"/>
          <p:nvPr/>
        </p:nvSpPr>
        <p:spPr>
          <a:xfrm>
            <a:off x="6327648" y="2414016"/>
            <a:ext cx="1097280" cy="368045"/>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Deboss</a:t>
            </a:r>
          </a:p>
        </p:txBody>
      </p:sp>
      <p:sp>
        <p:nvSpPr>
          <p:cNvPr id="54" name="TextBox 53"/>
          <p:cNvSpPr txBox="1"/>
          <p:nvPr/>
        </p:nvSpPr>
        <p:spPr>
          <a:xfrm>
            <a:off x="7498079" y="2414016"/>
            <a:ext cx="3502152" cy="368045"/>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Off</a:t>
            </a:r>
          </a:p>
        </p:txBody>
      </p:sp>
      <p:sp>
        <p:nvSpPr>
          <p:cNvPr id="55" name="TextBox 54"/>
          <p:cNvSpPr txBox="1"/>
          <p:nvPr/>
        </p:nvSpPr>
        <p:spPr>
          <a:xfrm>
            <a:off x="11036808" y="2414016"/>
            <a:ext cx="658368" cy="368045"/>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+1</a:t>
            </a:r>
          </a:p>
        </p:txBody>
      </p:sp>
      <p:sp>
        <p:nvSpPr>
          <p:cNvPr id="56" name="Rectangle 55"/>
          <p:cNvSpPr/>
          <p:nvPr/>
        </p:nvSpPr>
        <p:spPr>
          <a:xfrm>
            <a:off x="6309359" y="2782062"/>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27648" y="2782062"/>
            <a:ext cx="1097280" cy="368045"/>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Imagery</a:t>
            </a:r>
          </a:p>
        </p:txBody>
      </p:sp>
      <p:sp>
        <p:nvSpPr>
          <p:cNvPr id="58" name="TextBox 57"/>
          <p:cNvSpPr txBox="1"/>
          <p:nvPr/>
        </p:nvSpPr>
        <p:spPr>
          <a:xfrm>
            <a:off x="7498079" y="2782062"/>
            <a:ext cx="3502152" cy="368045"/>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Swipe Low</a:t>
            </a:r>
          </a:p>
        </p:txBody>
      </p:sp>
      <p:sp>
        <p:nvSpPr>
          <p:cNvPr id="59" name="TextBox 58"/>
          <p:cNvSpPr txBox="1"/>
          <p:nvPr/>
        </p:nvSpPr>
        <p:spPr>
          <a:xfrm>
            <a:off x="11036808" y="2782062"/>
            <a:ext cx="658368" cy="368045"/>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+8</a:t>
            </a:r>
          </a:p>
        </p:txBody>
      </p:sp>
      <p:sp>
        <p:nvSpPr>
          <p:cNvPr id="60" name="Rectangle 59"/>
          <p:cNvSpPr/>
          <p:nvPr/>
        </p:nvSpPr>
        <p:spPr>
          <a:xfrm>
            <a:off x="6309359" y="3150108"/>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27648" y="3150108"/>
            <a:ext cx="1097280" cy="368045"/>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Variant</a:t>
            </a:r>
          </a:p>
        </p:txBody>
      </p:sp>
      <p:sp>
        <p:nvSpPr>
          <p:cNvPr id="62" name="TextBox 61"/>
          <p:cNvSpPr txBox="1"/>
          <p:nvPr/>
        </p:nvSpPr>
        <p:spPr>
          <a:xfrm>
            <a:off x="7498079" y="3150108"/>
            <a:ext cx="3502152" cy="368045"/>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Left Top</a:t>
            </a:r>
          </a:p>
        </p:txBody>
      </p:sp>
      <p:sp>
        <p:nvSpPr>
          <p:cNvPr id="63" name="TextBox 62"/>
          <p:cNvSpPr txBox="1"/>
          <p:nvPr/>
        </p:nvSpPr>
        <p:spPr>
          <a:xfrm>
            <a:off x="11036808" y="3150108"/>
            <a:ext cx="658368" cy="368045"/>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+19</a:t>
            </a:r>
          </a:p>
        </p:txBody>
      </p:sp>
      <p:sp>
        <p:nvSpPr>
          <p:cNvPr id="64" name="Rectangle 63"/>
          <p:cNvSpPr/>
          <p:nvPr/>
        </p:nvSpPr>
        <p:spPr>
          <a:xfrm>
            <a:off x="6309359" y="3518154"/>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27648" y="3518154"/>
            <a:ext cx="1097280" cy="368045"/>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Loz Top Left</a:t>
            </a:r>
          </a:p>
        </p:txBody>
      </p:sp>
      <p:sp>
        <p:nvSpPr>
          <p:cNvPr id="66" name="TextBox 65"/>
          <p:cNvSpPr txBox="1"/>
          <p:nvPr/>
        </p:nvSpPr>
        <p:spPr>
          <a:xfrm>
            <a:off x="7498079" y="3518154"/>
            <a:ext cx="3502152" cy="368045"/>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Loz Variant Outline Top Left</a:t>
            </a:r>
          </a:p>
        </p:txBody>
      </p:sp>
      <p:sp>
        <p:nvSpPr>
          <p:cNvPr id="67" name="TextBox 66"/>
          <p:cNvSpPr txBox="1"/>
          <p:nvPr/>
        </p:nvSpPr>
        <p:spPr>
          <a:xfrm>
            <a:off x="11036808" y="3518154"/>
            <a:ext cx="658368" cy="368045"/>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+20</a:t>
            </a:r>
          </a:p>
        </p:txBody>
      </p:sp>
      <p:sp>
        <p:nvSpPr>
          <p:cNvPr id="68" name="Rectangle 67"/>
          <p:cNvSpPr/>
          <p:nvPr/>
        </p:nvSpPr>
        <p:spPr>
          <a:xfrm>
            <a:off x="6309359" y="3886200"/>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327648" y="3886200"/>
            <a:ext cx="1097280" cy="368045"/>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Advanced Care</a:t>
            </a:r>
          </a:p>
        </p:txBody>
      </p:sp>
      <p:sp>
        <p:nvSpPr>
          <p:cNvPr id="70" name="TextBox 69"/>
          <p:cNvSpPr txBox="1"/>
          <p:nvPr/>
        </p:nvSpPr>
        <p:spPr>
          <a:xfrm>
            <a:off x="7498079" y="3886200"/>
            <a:ext cx="3502152" cy="368045"/>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Adv Care Caps No Wordmark</a:t>
            </a:r>
          </a:p>
        </p:txBody>
      </p:sp>
      <p:sp>
        <p:nvSpPr>
          <p:cNvPr id="71" name="TextBox 70"/>
          <p:cNvSpPr txBox="1"/>
          <p:nvPr/>
        </p:nvSpPr>
        <p:spPr>
          <a:xfrm>
            <a:off x="11036808" y="3886200"/>
            <a:ext cx="658368" cy="368045"/>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+6</a:t>
            </a:r>
          </a:p>
        </p:txBody>
      </p:sp>
      <p:sp>
        <p:nvSpPr>
          <p:cNvPr id="72" name="Rectangle 71"/>
          <p:cNvSpPr/>
          <p:nvPr/>
        </p:nvSpPr>
        <p:spPr>
          <a:xfrm>
            <a:off x="6309359" y="4254246"/>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327648" y="4254246"/>
            <a:ext cx="1097280" cy="368045"/>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Bird Treatment</a:t>
            </a:r>
          </a:p>
        </p:txBody>
      </p:sp>
      <p:sp>
        <p:nvSpPr>
          <p:cNvPr id="74" name="TextBox 73"/>
          <p:cNvSpPr txBox="1"/>
          <p:nvPr/>
        </p:nvSpPr>
        <p:spPr>
          <a:xfrm>
            <a:off x="7498079" y="4254246"/>
            <a:ext cx="3502152" cy="368045"/>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Bird Gold Cold Foil</a:t>
            </a:r>
          </a:p>
        </p:txBody>
      </p:sp>
      <p:sp>
        <p:nvSpPr>
          <p:cNvPr id="75" name="TextBox 74"/>
          <p:cNvSpPr txBox="1"/>
          <p:nvPr/>
        </p:nvSpPr>
        <p:spPr>
          <a:xfrm>
            <a:off x="11036808" y="4254246"/>
            <a:ext cx="658368" cy="368045"/>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+7</a:t>
            </a:r>
          </a:p>
        </p:txBody>
      </p:sp>
      <p:sp>
        <p:nvSpPr>
          <p:cNvPr id="76" name="Rectangle 75"/>
          <p:cNvSpPr/>
          <p:nvPr/>
        </p:nvSpPr>
        <p:spPr>
          <a:xfrm>
            <a:off x="6309359" y="4622292"/>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327648" y="4622292"/>
            <a:ext cx="1097280" cy="368045"/>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Gold Foil Band</a:t>
            </a:r>
          </a:p>
        </p:txBody>
      </p:sp>
      <p:sp>
        <p:nvSpPr>
          <p:cNvPr id="78" name="TextBox 77"/>
          <p:cNvSpPr txBox="1"/>
          <p:nvPr/>
        </p:nvSpPr>
        <p:spPr>
          <a:xfrm>
            <a:off x="7498079" y="4622292"/>
            <a:ext cx="3502152" cy="368045"/>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Gold Band Off</a:t>
            </a:r>
          </a:p>
        </p:txBody>
      </p:sp>
      <p:sp>
        <p:nvSpPr>
          <p:cNvPr id="79" name="TextBox 78"/>
          <p:cNvSpPr txBox="1"/>
          <p:nvPr/>
        </p:nvSpPr>
        <p:spPr>
          <a:xfrm>
            <a:off x="11036808" y="4622292"/>
            <a:ext cx="658368" cy="368045"/>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+1</a:t>
            </a:r>
          </a:p>
        </p:txBody>
      </p:sp>
      <p:sp>
        <p:nvSpPr>
          <p:cNvPr id="80" name="Rectangle 79"/>
          <p:cNvSpPr/>
          <p:nvPr/>
        </p:nvSpPr>
        <p:spPr>
          <a:xfrm>
            <a:off x="6309359" y="4990338"/>
            <a:ext cx="5367528" cy="9144"/>
          </a:xfrm>
          <a:prstGeom prst="rect">
            <a:avLst/>
          </a:prstGeom>
          <a:solidFill>
            <a:srgbClr val="F0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327648" y="4990338"/>
            <a:ext cx="1097280" cy="368045"/>
          </a:xfrm>
          <a:prstGeom prst="rect">
            <a:avLst/>
          </a:prstGeom>
          <a:noFill/>
        </p:spPr>
        <p:txBody>
          <a:bodyPr wrap="square" anchor="ctr" lIns="0" rIns="0" tIns="0" bIns="0"/>
          <a:lstStyle/>
          <a:p>
            <a:pPr algn="l">
              <a:spcBef>
                <a:spcPts val="0"/>
              </a:spcBef>
              <a:spcAft>
                <a:spcPts val="0"/>
              </a:spcAft>
            </a:pPr>
            <a:r>
              <a:rPr sz="1100" b="0" i="0">
                <a:solidFill>
                  <a:srgbClr val="617086"/>
                </a:solidFill>
                <a:latin typeface="Karla"/>
              </a:rPr>
              <a:t>Cap Color</a:t>
            </a:r>
          </a:p>
        </p:txBody>
      </p:sp>
      <p:sp>
        <p:nvSpPr>
          <p:cNvPr id="82" name="TextBox 81"/>
          <p:cNvSpPr txBox="1"/>
          <p:nvPr/>
        </p:nvSpPr>
        <p:spPr>
          <a:xfrm>
            <a:off x="7498079" y="4990338"/>
            <a:ext cx="3502152" cy="368045"/>
          </a:xfrm>
          <a:prstGeom prst="rect">
            <a:avLst/>
          </a:prstGeom>
          <a:noFill/>
        </p:spPr>
        <p:txBody>
          <a:bodyPr wrap="square" anchor="ctr" lIns="0" rIns="0" tIns="0" bIns="0"/>
          <a:lstStyle/>
          <a:p>
            <a:pPr algn="l">
              <a:spcBef>
                <a:spcPts val="0"/>
              </a:spcBef>
              <a:spcAft>
                <a:spcPts val="0"/>
              </a:spcAft>
            </a:pPr>
            <a:r>
              <a:rPr sz="1300" b="0" i="0">
                <a:solidFill>
                  <a:srgbClr val="1E2D44"/>
                </a:solidFill>
                <a:latin typeface="Karla"/>
              </a:rPr>
              <a:t>Cap Gold</a:t>
            </a:r>
          </a:p>
        </p:txBody>
      </p:sp>
      <p:sp>
        <p:nvSpPr>
          <p:cNvPr id="83" name="TextBox 82"/>
          <p:cNvSpPr txBox="1"/>
          <p:nvPr/>
        </p:nvSpPr>
        <p:spPr>
          <a:xfrm>
            <a:off x="11036808" y="4990338"/>
            <a:ext cx="658368" cy="368045"/>
          </a:xfrm>
          <a:prstGeom prst="rect">
            <a:avLst/>
          </a:prstGeom>
          <a:noFill/>
        </p:spPr>
        <p:txBody>
          <a:bodyPr wrap="square" anchor="ctr" lIns="0" rIns="0" tIns="0" bIns="0"/>
          <a:lstStyle/>
          <a:p>
            <a:pPr algn="r">
              <a:spcBef>
                <a:spcPts val="0"/>
              </a:spcBef>
              <a:spcAft>
                <a:spcPts val="0"/>
              </a:spcAft>
            </a:pPr>
            <a:r>
              <a:rPr sz="1400" b="1" i="0">
                <a:solidFill>
                  <a:srgbClr val="008935"/>
                </a:solidFill>
                <a:latin typeface="Karla"/>
              </a:rPr>
              <a:t>+2</a:t>
            </a:r>
          </a:p>
        </p:txBody>
      </p:sp>
      <p:sp>
        <p:nvSpPr>
          <p:cNvPr id="84" name="Rounded Rectangle 83"/>
          <p:cNvSpPr/>
          <p:nvPr/>
        </p:nvSpPr>
        <p:spPr>
          <a:xfrm>
            <a:off x="384048" y="5559552"/>
            <a:ext cx="11420856" cy="475488"/>
          </a:xfrm>
          <a:prstGeom prst="roundRect">
            <a:avLst>
              <a:gd name="adj" fmla="val 8000"/>
            </a:avLst>
          </a:prstGeom>
          <a:solidFill>
            <a:srgbClr val="FC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66928" y="5559552"/>
            <a:ext cx="11064240" cy="475488"/>
          </a:xfrm>
          <a:prstGeom prst="rect">
            <a:avLst/>
          </a:prstGeom>
          <a:noFill/>
        </p:spPr>
        <p:txBody>
          <a:bodyPr wrap="square" anchor="ctr" lIns="0" rIns="0" tIns="0" bIns="0"/>
          <a:lstStyle/>
          <a:p>
            <a:pPr algn="l">
              <a:spcBef>
                <a:spcPts val="0"/>
              </a:spcBef>
              <a:spcAft>
                <a:spcPts val="0"/>
              </a:spcAft>
            </a:pPr>
            <a:r>
              <a:rPr sz="1400" b="0" i="0">
                <a:solidFill>
                  <a:srgbClr val="1E2D44"/>
                </a:solidFill>
                <a:latin typeface="Karla"/>
              </a:rPr>
              <a:t>The higher-lift build leads by +36 points. This model has no intercept, so the totals are the element lifts. Both totals are the highest and lowest sums that still obey the pairing rules.</a:t>
            </a:r>
          </a:p>
        </p:txBody>
      </p:sp>
      <p:sp>
        <p:nvSpPr>
          <p:cNvPr id="86" name="Rectangle 8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88" name="TextBox 8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606040"/>
            <a:ext cx="10058400" cy="1005840"/>
          </a:xfrm>
          <a:prstGeom prst="rect">
            <a:avLst/>
          </a:prstGeom>
          <a:noFill/>
        </p:spPr>
        <p:txBody>
          <a:bodyPr wrap="square" anchor="t"/>
          <a:lstStyle/>
          <a:p>
            <a:pPr algn="l">
              <a:spcAft>
                <a:spcPts val="400"/>
              </a:spcAft>
            </a:pPr>
            <a:r>
              <a:rPr sz="5400" b="1" i="0">
                <a:solidFill>
                  <a:srgbClr val="1E2D44"/>
                </a:solidFill>
                <a:latin typeface="Karla"/>
              </a:rPr>
              <a:t>Category Winners</a:t>
            </a:r>
          </a:p>
        </p:txBody>
      </p:sp>
      <p:sp>
        <p:nvSpPr>
          <p:cNvPr id="4" name="Rectangle 3"/>
          <p:cNvSpPr/>
          <p:nvPr/>
        </p:nvSpPr>
        <p:spPr>
          <a:xfrm>
            <a:off x="822960" y="3794760"/>
            <a:ext cx="1280160" cy="5486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 cy="6858000"/>
          </a:xfrm>
          <a:prstGeom prst="rect">
            <a:avLst/>
          </a:prstGeom>
          <a:solidFill>
            <a:srgbClr val="E8C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5852160" cy="219456"/>
          </a:xfrm>
          <a:prstGeom prst="rect">
            <a:avLst/>
          </a:prstGeom>
          <a:noFill/>
        </p:spPr>
        <p:txBody>
          <a:bodyPr wrap="square" anchor="t" lIns="0" rIns="0" tIns="0" bIns="0"/>
          <a:lstStyle/>
          <a:p>
            <a:pPr algn="l">
              <a:spcBef>
                <a:spcPts val="0"/>
              </a:spcBef>
              <a:spcAft>
                <a:spcPts val="0"/>
              </a:spcAft>
            </a:pPr>
            <a:r>
              <a:rPr sz="1200" b="1" i="0">
                <a:solidFill>
                  <a:srgbClr val="1F2A44"/>
                </a:solidFill>
                <a:latin typeface="Karla"/>
              </a:rPr>
              <a:t>CATEGORY WINNERS</a:t>
            </a:r>
          </a:p>
        </p:txBody>
      </p:sp>
      <p:sp>
        <p:nvSpPr>
          <p:cNvPr id="4" name="TextBox 3"/>
          <p:cNvSpPr txBox="1"/>
          <p:nvPr/>
        </p:nvSpPr>
        <p:spPr>
          <a:xfrm>
            <a:off x="713232" y="621792"/>
            <a:ext cx="6126480" cy="1051560"/>
          </a:xfrm>
          <a:prstGeom prst="rect">
            <a:avLst/>
          </a:prstGeom>
          <a:noFill/>
        </p:spPr>
        <p:txBody>
          <a:bodyPr wrap="square" anchor="t" lIns="0" rIns="0" tIns="0" bIns="0"/>
          <a:lstStyle/>
          <a:p>
            <a:pPr algn="l">
              <a:spcBef>
                <a:spcPts val="0"/>
              </a:spcBef>
              <a:spcAft>
                <a:spcPts val="0"/>
              </a:spcAft>
            </a:pPr>
            <a:r>
              <a:rPr sz="3000" b="1" i="0">
                <a:solidFill>
                  <a:srgbClr val="1F2A44"/>
                </a:solidFill>
                <a:latin typeface="Karla"/>
              </a:rPr>
              <a:t>Appeal moves most clearly</a:t>
            </a:r>
          </a:p>
          <a:p>
            <a:pPr algn="l">
              <a:spcBef>
                <a:spcPts val="0"/>
              </a:spcBef>
              <a:spcAft>
                <a:spcPts val="0"/>
              </a:spcAft>
            </a:pPr>
            <a:r>
              <a:rPr sz="3000" b="1" i="0">
                <a:solidFill>
                  <a:srgbClr val="1F2A44"/>
                </a:solidFill>
                <a:latin typeface="Karla"/>
              </a:rPr>
              <a:t>in four design areas</a:t>
            </a:r>
          </a:p>
        </p:txBody>
      </p:sp>
      <p:sp>
        <p:nvSpPr>
          <p:cNvPr id="5" name="Rounded Rectangle 4"/>
          <p:cNvSpPr/>
          <p:nvPr/>
        </p:nvSpPr>
        <p:spPr>
          <a:xfrm>
            <a:off x="7178040" y="566928"/>
            <a:ext cx="4434840" cy="1115568"/>
          </a:xfrm>
          <a:prstGeom prst="roundRect">
            <a:avLst>
              <a:gd name="adj" fmla="val 10000"/>
            </a:avLst>
          </a:prstGeom>
          <a:solidFill>
            <a:srgbClr val="F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88352" y="713232"/>
            <a:ext cx="4041648" cy="822960"/>
          </a:xfrm>
          <a:prstGeom prst="rect">
            <a:avLst/>
          </a:prstGeom>
          <a:noFill/>
        </p:spPr>
        <p:txBody>
          <a:bodyPr wrap="square" anchor="ctr" lIns="0" rIns="0" tIns="0" bIns="0"/>
          <a:lstStyle/>
          <a:p>
            <a:pPr algn="l">
              <a:spcBef>
                <a:spcPts val="0"/>
              </a:spcBef>
              <a:spcAft>
                <a:spcPts val="0"/>
              </a:spcAft>
            </a:pPr>
            <a:r>
              <a:rPr sz="1400" b="0" i="0">
                <a:solidFill>
                  <a:srgbClr val="1F2A44"/>
                </a:solidFill>
                <a:latin typeface="Karla"/>
              </a:rPr>
              <a:t>These are the silos where one element, or the gap inside the silo, moves appeal the most.</a:t>
            </a:r>
          </a:p>
        </p:txBody>
      </p:sp>
      <p:sp>
        <p:nvSpPr>
          <p:cNvPr id="7" name="TextBox 6"/>
          <p:cNvSpPr txBox="1"/>
          <p:nvPr/>
        </p:nvSpPr>
        <p:spPr>
          <a:xfrm>
            <a:off x="713232" y="1965960"/>
            <a:ext cx="5486400" cy="219456"/>
          </a:xfrm>
          <a:prstGeom prst="rect">
            <a:avLst/>
          </a:prstGeom>
          <a:noFill/>
        </p:spPr>
        <p:txBody>
          <a:bodyPr wrap="square" anchor="t" lIns="0" rIns="0" tIns="0" bIns="0"/>
          <a:lstStyle/>
          <a:p>
            <a:pPr algn="l">
              <a:spcBef>
                <a:spcPts val="0"/>
              </a:spcBef>
              <a:spcAft>
                <a:spcPts val="0"/>
              </a:spcAft>
            </a:pPr>
            <a:r>
              <a:rPr sz="1100" b="1" i="0">
                <a:solidFill>
                  <a:srgbClr val="65748B"/>
                </a:solidFill>
                <a:latin typeface="Karla"/>
              </a:rPr>
              <a:t>ROADMAP FOR THE READ</a:t>
            </a:r>
          </a:p>
        </p:txBody>
      </p:sp>
      <p:sp>
        <p:nvSpPr>
          <p:cNvPr id="8" name="Rounded Rectangle 7"/>
          <p:cNvSpPr/>
          <p:nvPr/>
        </p:nvSpPr>
        <p:spPr>
          <a:xfrm>
            <a:off x="713232" y="2267712"/>
            <a:ext cx="2670048" cy="2331720"/>
          </a:xfrm>
          <a:prstGeom prst="roundRect">
            <a:avLst>
              <a:gd name="adj" fmla="val 6000"/>
            </a:avLst>
          </a:prstGeom>
          <a:solidFill>
            <a:srgbClr val="FFFFFF"/>
          </a:solidFill>
          <a:ln w="12700">
            <a:solidFill>
              <a:srgbClr val="E4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377440"/>
            <a:ext cx="2286000" cy="201168"/>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01</a:t>
            </a:r>
          </a:p>
        </p:txBody>
      </p:sp>
      <p:sp>
        <p:nvSpPr>
          <p:cNvPr id="10" name="TextBox 9"/>
          <p:cNvSpPr txBox="1"/>
          <p:nvPr/>
        </p:nvSpPr>
        <p:spPr>
          <a:xfrm>
            <a:off x="877824" y="2596896"/>
            <a:ext cx="2340864" cy="475488"/>
          </a:xfrm>
          <a:prstGeom prst="rect">
            <a:avLst/>
          </a:prstGeom>
          <a:noFill/>
        </p:spPr>
        <p:txBody>
          <a:bodyPr wrap="square" anchor="t" lIns="0" rIns="0" tIns="0" bIns="0"/>
          <a:lstStyle/>
          <a:p>
            <a:pPr algn="l">
              <a:spcBef>
                <a:spcPts val="0"/>
              </a:spcBef>
              <a:spcAft>
                <a:spcPts val="0"/>
              </a:spcAft>
            </a:pPr>
            <a:r>
              <a:rPr sz="1600" b="1" i="0">
                <a:solidFill>
                  <a:srgbClr val="1F2A44"/>
                </a:solidFill>
                <a:latin typeface="Karla"/>
              </a:rPr>
              <a:t>Variant</a:t>
            </a:r>
          </a:p>
        </p:txBody>
      </p:sp>
      <p:sp>
        <p:nvSpPr>
          <p:cNvPr id="11" name="TextBox 10"/>
          <p:cNvSpPr txBox="1"/>
          <p:nvPr/>
        </p:nvSpPr>
        <p:spPr>
          <a:xfrm>
            <a:off x="877824" y="3145536"/>
            <a:ext cx="2340864" cy="1298448"/>
          </a:xfrm>
          <a:prstGeom prst="rect">
            <a:avLst/>
          </a:prstGeom>
          <a:noFill/>
        </p:spPr>
        <p:txBody>
          <a:bodyPr wrap="square" anchor="t" lIns="0" rIns="0" tIns="0" bIns="0"/>
          <a:lstStyle/>
          <a:p>
            <a:pPr algn="l">
              <a:spcBef>
                <a:spcPts val="0"/>
              </a:spcBef>
              <a:spcAft>
                <a:spcPts val="0"/>
              </a:spcAft>
            </a:pPr>
            <a:r>
              <a:rPr sz="1200" b="0" i="0">
                <a:solidFill>
                  <a:srgbClr val="65748B"/>
                </a:solidFill>
                <a:latin typeface="Karla"/>
              </a:rPr>
              <a:t>Variant Ctr Low leads at +29.</a:t>
            </a:r>
          </a:p>
          <a:p>
            <a:pPr algn="l">
              <a:spcBef>
                <a:spcPts val="0"/>
              </a:spcBef>
              <a:spcAft>
                <a:spcPts val="0"/>
              </a:spcAft>
            </a:pPr>
            <a:r>
              <a:rPr sz="1200" b="0" i="0">
                <a:solidFill>
                  <a:srgbClr val="65748B"/>
                </a:solidFill>
                <a:latin typeface="Karla"/>
              </a:rPr>
              <a:t>Low end is Variant Left Top Lowered.</a:t>
            </a:r>
          </a:p>
        </p:txBody>
      </p:sp>
      <p:sp>
        <p:nvSpPr>
          <p:cNvPr id="12" name="Rounded Rectangle 11"/>
          <p:cNvSpPr/>
          <p:nvPr/>
        </p:nvSpPr>
        <p:spPr>
          <a:xfrm>
            <a:off x="3529584" y="2267712"/>
            <a:ext cx="2670048" cy="2331720"/>
          </a:xfrm>
          <a:prstGeom prst="roundRect">
            <a:avLst>
              <a:gd name="adj" fmla="val 6000"/>
            </a:avLst>
          </a:prstGeom>
          <a:solidFill>
            <a:srgbClr val="FFFFFF"/>
          </a:solidFill>
          <a:ln w="12700">
            <a:solidFill>
              <a:srgbClr val="E4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94176" y="2377440"/>
            <a:ext cx="2286000" cy="201168"/>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02</a:t>
            </a:r>
          </a:p>
        </p:txBody>
      </p:sp>
      <p:sp>
        <p:nvSpPr>
          <p:cNvPr id="14" name="TextBox 13"/>
          <p:cNvSpPr txBox="1"/>
          <p:nvPr/>
        </p:nvSpPr>
        <p:spPr>
          <a:xfrm>
            <a:off x="3694176" y="2596896"/>
            <a:ext cx="2340864" cy="475488"/>
          </a:xfrm>
          <a:prstGeom prst="rect">
            <a:avLst/>
          </a:prstGeom>
          <a:noFill/>
        </p:spPr>
        <p:txBody>
          <a:bodyPr wrap="square" anchor="t" lIns="0" rIns="0" tIns="0" bIns="0"/>
          <a:lstStyle/>
          <a:p>
            <a:pPr algn="l">
              <a:spcBef>
                <a:spcPts val="0"/>
              </a:spcBef>
              <a:spcAft>
                <a:spcPts val="0"/>
              </a:spcAft>
            </a:pPr>
            <a:r>
              <a:rPr sz="1600" b="1" i="0">
                <a:solidFill>
                  <a:srgbClr val="1F2A44"/>
                </a:solidFill>
                <a:latin typeface="Karla"/>
              </a:rPr>
              <a:t>Loz Top Left Low</a:t>
            </a:r>
          </a:p>
        </p:txBody>
      </p:sp>
      <p:sp>
        <p:nvSpPr>
          <p:cNvPr id="15" name="TextBox 14"/>
          <p:cNvSpPr txBox="1"/>
          <p:nvPr/>
        </p:nvSpPr>
        <p:spPr>
          <a:xfrm>
            <a:off x="3694176" y="3145536"/>
            <a:ext cx="2340864" cy="1298448"/>
          </a:xfrm>
          <a:prstGeom prst="rect">
            <a:avLst/>
          </a:prstGeom>
          <a:noFill/>
        </p:spPr>
        <p:txBody>
          <a:bodyPr wrap="square" anchor="t" lIns="0" rIns="0" tIns="0" bIns="0"/>
          <a:lstStyle/>
          <a:p>
            <a:pPr algn="l">
              <a:spcBef>
                <a:spcPts val="0"/>
              </a:spcBef>
              <a:spcAft>
                <a:spcPts val="0"/>
              </a:spcAft>
            </a:pPr>
            <a:r>
              <a:rPr sz="1200" b="0" i="0">
                <a:solidFill>
                  <a:srgbClr val="65748B"/>
                </a:solidFill>
                <a:latin typeface="Karla"/>
              </a:rPr>
              <a:t>Loz Variant Fill Top Left Low leads at +25.</a:t>
            </a:r>
          </a:p>
          <a:p>
            <a:pPr algn="l">
              <a:spcBef>
                <a:spcPts val="0"/>
              </a:spcBef>
              <a:spcAft>
                <a:spcPts val="0"/>
              </a:spcAft>
            </a:pPr>
            <a:r>
              <a:rPr sz="1200" b="0" i="0">
                <a:solidFill>
                  <a:srgbClr val="65748B"/>
                </a:solidFill>
                <a:latin typeface="Karla"/>
              </a:rPr>
              <a:t>Low end is Loz Text Top Left Low.</a:t>
            </a:r>
          </a:p>
        </p:txBody>
      </p:sp>
      <p:sp>
        <p:nvSpPr>
          <p:cNvPr id="16" name="Rounded Rectangle 15"/>
          <p:cNvSpPr/>
          <p:nvPr/>
        </p:nvSpPr>
        <p:spPr>
          <a:xfrm>
            <a:off x="6345936" y="2267712"/>
            <a:ext cx="2670048" cy="2331720"/>
          </a:xfrm>
          <a:prstGeom prst="roundRect">
            <a:avLst>
              <a:gd name="adj" fmla="val 6000"/>
            </a:avLst>
          </a:prstGeom>
          <a:solidFill>
            <a:srgbClr val="FFFFFF"/>
          </a:solidFill>
          <a:ln w="12700">
            <a:solidFill>
              <a:srgbClr val="E4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0528" y="2377440"/>
            <a:ext cx="2286000" cy="201168"/>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03</a:t>
            </a:r>
          </a:p>
        </p:txBody>
      </p:sp>
      <p:sp>
        <p:nvSpPr>
          <p:cNvPr id="18" name="TextBox 17"/>
          <p:cNvSpPr txBox="1"/>
          <p:nvPr/>
        </p:nvSpPr>
        <p:spPr>
          <a:xfrm>
            <a:off x="6510528" y="2596896"/>
            <a:ext cx="2340864" cy="475488"/>
          </a:xfrm>
          <a:prstGeom prst="rect">
            <a:avLst/>
          </a:prstGeom>
          <a:noFill/>
        </p:spPr>
        <p:txBody>
          <a:bodyPr wrap="square" anchor="t" lIns="0" rIns="0" tIns="0" bIns="0"/>
          <a:lstStyle/>
          <a:p>
            <a:pPr algn="l">
              <a:spcBef>
                <a:spcPts val="0"/>
              </a:spcBef>
              <a:spcAft>
                <a:spcPts val="0"/>
              </a:spcAft>
            </a:pPr>
            <a:r>
              <a:rPr sz="1600" b="1" i="0">
                <a:solidFill>
                  <a:srgbClr val="1F2A44"/>
                </a:solidFill>
                <a:latin typeface="Karla"/>
              </a:rPr>
              <a:t>Imagery</a:t>
            </a:r>
          </a:p>
        </p:txBody>
      </p:sp>
      <p:sp>
        <p:nvSpPr>
          <p:cNvPr id="19" name="TextBox 18"/>
          <p:cNvSpPr txBox="1"/>
          <p:nvPr/>
        </p:nvSpPr>
        <p:spPr>
          <a:xfrm>
            <a:off x="6510528" y="3145536"/>
            <a:ext cx="2340864" cy="1298448"/>
          </a:xfrm>
          <a:prstGeom prst="rect">
            <a:avLst/>
          </a:prstGeom>
          <a:noFill/>
        </p:spPr>
        <p:txBody>
          <a:bodyPr wrap="square" anchor="t" lIns="0" rIns="0" tIns="0" bIns="0"/>
          <a:lstStyle/>
          <a:p>
            <a:pPr algn="l">
              <a:spcBef>
                <a:spcPts val="0"/>
              </a:spcBef>
              <a:spcAft>
                <a:spcPts val="0"/>
              </a:spcAft>
            </a:pPr>
            <a:r>
              <a:rPr sz="1200" b="0" i="0">
                <a:solidFill>
                  <a:srgbClr val="65748B"/>
                </a:solidFill>
                <a:latin typeface="Karla"/>
              </a:rPr>
              <a:t>Splash High leads at +24.</a:t>
            </a:r>
          </a:p>
          <a:p>
            <a:pPr algn="l">
              <a:spcBef>
                <a:spcPts val="0"/>
              </a:spcBef>
              <a:spcAft>
                <a:spcPts val="0"/>
              </a:spcAft>
            </a:pPr>
            <a:r>
              <a:rPr sz="1200" b="0" i="0">
                <a:solidFill>
                  <a:srgbClr val="65748B"/>
                </a:solidFill>
                <a:latin typeface="Karla"/>
              </a:rPr>
              <a:t>Low end is Swipe Low.</a:t>
            </a:r>
          </a:p>
        </p:txBody>
      </p:sp>
      <p:sp>
        <p:nvSpPr>
          <p:cNvPr id="20" name="Rounded Rectangle 19"/>
          <p:cNvSpPr/>
          <p:nvPr/>
        </p:nvSpPr>
        <p:spPr>
          <a:xfrm>
            <a:off x="9162288" y="2267712"/>
            <a:ext cx="2670048" cy="2331720"/>
          </a:xfrm>
          <a:prstGeom prst="roundRect">
            <a:avLst>
              <a:gd name="adj" fmla="val 6000"/>
            </a:avLst>
          </a:prstGeom>
          <a:solidFill>
            <a:srgbClr val="FFFFFF"/>
          </a:solidFill>
          <a:ln w="12700">
            <a:solidFill>
              <a:srgbClr val="E4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2377440"/>
            <a:ext cx="2286000" cy="201168"/>
          </a:xfrm>
          <a:prstGeom prst="rect">
            <a:avLst/>
          </a:prstGeom>
          <a:noFill/>
        </p:spPr>
        <p:txBody>
          <a:bodyPr wrap="square" anchor="t" lIns="0" rIns="0" tIns="0" bIns="0"/>
          <a:lstStyle/>
          <a:p>
            <a:pPr algn="l">
              <a:spcBef>
                <a:spcPts val="0"/>
              </a:spcBef>
              <a:spcAft>
                <a:spcPts val="0"/>
              </a:spcAft>
            </a:pPr>
            <a:r>
              <a:rPr sz="1200" b="1" i="0">
                <a:solidFill>
                  <a:srgbClr val="04746E"/>
                </a:solidFill>
                <a:latin typeface="Karla"/>
              </a:rPr>
              <a:t>04</a:t>
            </a:r>
          </a:p>
        </p:txBody>
      </p:sp>
      <p:sp>
        <p:nvSpPr>
          <p:cNvPr id="22" name="TextBox 21"/>
          <p:cNvSpPr txBox="1"/>
          <p:nvPr/>
        </p:nvSpPr>
        <p:spPr>
          <a:xfrm>
            <a:off x="9326880" y="2596896"/>
            <a:ext cx="2340864" cy="475488"/>
          </a:xfrm>
          <a:prstGeom prst="rect">
            <a:avLst/>
          </a:prstGeom>
          <a:noFill/>
        </p:spPr>
        <p:txBody>
          <a:bodyPr wrap="square" anchor="t" lIns="0" rIns="0" tIns="0" bIns="0"/>
          <a:lstStyle/>
          <a:p>
            <a:pPr algn="l">
              <a:spcBef>
                <a:spcPts val="0"/>
              </a:spcBef>
              <a:spcAft>
                <a:spcPts val="0"/>
              </a:spcAft>
            </a:pPr>
            <a:r>
              <a:rPr sz="1600" b="1" i="0">
                <a:solidFill>
                  <a:srgbClr val="1F2A44"/>
                </a:solidFill>
                <a:latin typeface="Karla"/>
              </a:rPr>
              <a:t>Loz Top Ctr</a:t>
            </a:r>
          </a:p>
        </p:txBody>
      </p:sp>
      <p:sp>
        <p:nvSpPr>
          <p:cNvPr id="23" name="TextBox 22"/>
          <p:cNvSpPr txBox="1"/>
          <p:nvPr/>
        </p:nvSpPr>
        <p:spPr>
          <a:xfrm>
            <a:off x="9326880" y="3145536"/>
            <a:ext cx="2340864" cy="1298448"/>
          </a:xfrm>
          <a:prstGeom prst="rect">
            <a:avLst/>
          </a:prstGeom>
          <a:noFill/>
        </p:spPr>
        <p:txBody>
          <a:bodyPr wrap="square" anchor="t" lIns="0" rIns="0" tIns="0" bIns="0"/>
          <a:lstStyle/>
          <a:p>
            <a:pPr algn="l">
              <a:spcBef>
                <a:spcPts val="0"/>
              </a:spcBef>
              <a:spcAft>
                <a:spcPts val="0"/>
              </a:spcAft>
            </a:pPr>
            <a:r>
              <a:rPr sz="1200" b="0" i="0">
                <a:solidFill>
                  <a:srgbClr val="65748B"/>
                </a:solidFill>
                <a:latin typeface="Karla"/>
              </a:rPr>
              <a:t>Loz Gold Fill Top Ctr leads at +24.</a:t>
            </a:r>
          </a:p>
          <a:p>
            <a:pPr algn="l">
              <a:spcBef>
                <a:spcPts val="0"/>
              </a:spcBef>
              <a:spcAft>
                <a:spcPts val="0"/>
              </a:spcAft>
            </a:pPr>
            <a:r>
              <a:rPr sz="1200" b="0" i="0">
                <a:solidFill>
                  <a:srgbClr val="65748B"/>
                </a:solidFill>
                <a:latin typeface="Karla"/>
              </a:rPr>
              <a:t>Low end is Loz Variant Fill Top Ctr.</a:t>
            </a:r>
          </a:p>
        </p:txBody>
      </p:sp>
      <p:sp>
        <p:nvSpPr>
          <p:cNvPr id="24" name="Rounded Rectangle 23"/>
          <p:cNvSpPr/>
          <p:nvPr/>
        </p:nvSpPr>
        <p:spPr>
          <a:xfrm>
            <a:off x="713232" y="5020055"/>
            <a:ext cx="11119104" cy="713232"/>
          </a:xfrm>
          <a:prstGeom prst="roundRect">
            <a:avLst>
              <a:gd name="adj" fmla="val 8000"/>
            </a:avLst>
          </a:prstGeom>
          <a:solidFill>
            <a:srgbClr val="F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5020055"/>
            <a:ext cx="11119104" cy="713232"/>
          </a:xfrm>
          <a:prstGeom prst="rect">
            <a:avLst/>
          </a:prstGeom>
          <a:noFill/>
        </p:spPr>
        <p:txBody>
          <a:bodyPr wrap="square" anchor="ctr" lIns="0" rIns="0" tIns="0" bIns="0"/>
          <a:lstStyle/>
          <a:p>
            <a:pPr algn="ctr">
              <a:spcBef>
                <a:spcPts val="0"/>
              </a:spcBef>
              <a:spcAft>
                <a:spcPts val="0"/>
              </a:spcAft>
            </a:pPr>
            <a:r>
              <a:rPr sz="1500" b="0" i="0">
                <a:solidFill>
                  <a:srgbClr val="1F2A44"/>
                </a:solidFill>
                <a:latin typeface="Karla"/>
              </a:rPr>
              <a:t>The clearest appeal movement is concentrated in Variant, Loz Top Left Low, Imagery, and Loz Top Ctr.</a:t>
            </a:r>
          </a:p>
        </p:txBody>
      </p:sp>
      <p:sp>
        <p:nvSpPr>
          <p:cNvPr id="26" name="Rectangle 2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28" name="TextBox 2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CATEGORY WINNERS   ·   1 of 4</a:t>
            </a:r>
          </a:p>
        </p:txBody>
      </p:sp>
      <p:sp>
        <p:nvSpPr>
          <p:cNvPr id="3" name="TextBox 2"/>
          <p:cNvSpPr txBox="1"/>
          <p:nvPr/>
        </p:nvSpPr>
        <p:spPr>
          <a:xfrm>
            <a:off x="438912" y="475488"/>
            <a:ext cx="11247120" cy="365760"/>
          </a:xfrm>
          <a:prstGeom prst="rect">
            <a:avLst/>
          </a:prstGeom>
          <a:noFill/>
        </p:spPr>
        <p:txBody>
          <a:bodyPr wrap="square" anchor="t"/>
          <a:lstStyle/>
          <a:p>
            <a:pPr algn="l">
              <a:spcAft>
                <a:spcPts val="400"/>
              </a:spcAft>
            </a:pPr>
            <a:r>
              <a:rPr sz="2600" b="1" i="0">
                <a:solidFill>
                  <a:srgbClr val="1E2D44"/>
                </a:solidFill>
                <a:latin typeface="Karla"/>
              </a:rPr>
              <a:t>The winning element in each category</a:t>
            </a:r>
          </a:p>
        </p:txBody>
      </p:sp>
      <p:sp>
        <p:nvSpPr>
          <p:cNvPr id="4" name="TextBox 3"/>
          <p:cNvSpPr txBox="1"/>
          <p:nvPr/>
        </p:nvSpPr>
        <p:spPr>
          <a:xfrm>
            <a:off x="438912" y="896112"/>
            <a:ext cx="11247120" cy="292608"/>
          </a:xfrm>
          <a:prstGeom prst="rect">
            <a:avLst/>
          </a:prstGeom>
          <a:noFill/>
        </p:spPr>
        <p:txBody>
          <a:bodyPr wrap="square" anchor="t"/>
          <a:lstStyle/>
          <a:p>
            <a:pPr algn="l">
              <a:spcAft>
                <a:spcPts val="400"/>
              </a:spcAft>
            </a:pPr>
            <a:r>
              <a:rPr sz="1400" b="0" i="0">
                <a:solidFill>
                  <a:srgbClr val="617086"/>
                </a:solidFill>
                <a:latin typeface="Karla"/>
              </a:rPr>
              <a:t>Ranked by the total sample. The notes are the winners for “Do you currently use dove”.</a:t>
            </a:r>
          </a:p>
        </p:txBody>
      </p:sp>
      <p:sp>
        <p:nvSpPr>
          <p:cNvPr id="5" name="Rounded Rectangle 4"/>
          <p:cNvSpPr/>
          <p:nvPr/>
        </p:nvSpPr>
        <p:spPr>
          <a:xfrm>
            <a:off x="384048" y="1335024"/>
            <a:ext cx="11430000" cy="1156716"/>
          </a:xfrm>
          <a:prstGeom prst="roundRect">
            <a:avLst>
              <a:gd name="adj" fmla="val 10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12064" y="1444752"/>
            <a:ext cx="937260" cy="9372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1.png"/>
          <p:cNvPicPr>
            <a:picLocks noChangeAspect="1"/>
          </p:cNvPicPr>
          <p:nvPr/>
        </p:nvPicPr>
        <p:blipFill>
          <a:blip r:embed="rId2"/>
          <a:stretch>
            <a:fillRect/>
          </a:stretch>
        </p:blipFill>
        <p:spPr>
          <a:xfrm>
            <a:off x="585216" y="1517904"/>
            <a:ext cx="790956" cy="790956"/>
          </a:xfrm>
          <a:prstGeom prst="rect">
            <a:avLst/>
          </a:prstGeom>
        </p:spPr>
      </p:pic>
      <p:sp>
        <p:nvSpPr>
          <p:cNvPr id="8" name="TextBox 7"/>
          <p:cNvSpPr txBox="1"/>
          <p:nvPr/>
        </p:nvSpPr>
        <p:spPr>
          <a:xfrm>
            <a:off x="1650492" y="1463040"/>
            <a:ext cx="7466076" cy="219456"/>
          </a:xfrm>
          <a:prstGeom prst="rect">
            <a:avLst/>
          </a:prstGeom>
          <a:noFill/>
        </p:spPr>
        <p:txBody>
          <a:bodyPr wrap="square" anchor="ctr" lIns="0" rIns="0" tIns="0" bIns="0"/>
          <a:lstStyle/>
          <a:p>
            <a:pPr algn="l">
              <a:spcBef>
                <a:spcPts val="0"/>
              </a:spcBef>
              <a:spcAft>
                <a:spcPts val="0"/>
              </a:spcAft>
            </a:pPr>
            <a:r>
              <a:rPr sz="1100" b="1" i="0">
                <a:solidFill>
                  <a:srgbClr val="04746E"/>
                </a:solidFill>
                <a:latin typeface="Karla"/>
              </a:rPr>
              <a:t>VARIANT</a:t>
            </a:r>
          </a:p>
        </p:txBody>
      </p:sp>
      <p:sp>
        <p:nvSpPr>
          <p:cNvPr id="9" name="Rounded Rectangle 8"/>
          <p:cNvSpPr/>
          <p:nvPr/>
        </p:nvSpPr>
        <p:spPr>
          <a:xfrm>
            <a:off x="9272016" y="1463040"/>
            <a:ext cx="1261872" cy="237744"/>
          </a:xfrm>
          <a:prstGeom prst="roundRect">
            <a:avLst>
              <a:gd name="adj" fmla="val 8000"/>
            </a:avLst>
          </a:prstGeom>
          <a:solidFill>
            <a:srgbClr val="FD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72016" y="1463040"/>
            <a:ext cx="1261872" cy="237744"/>
          </a:xfrm>
          <a:prstGeom prst="rect">
            <a:avLst/>
          </a:prstGeom>
          <a:noFill/>
        </p:spPr>
        <p:txBody>
          <a:bodyPr wrap="square" anchor="ctr" lIns="0" rIns="0" tIns="0" bIns="0"/>
          <a:lstStyle/>
          <a:p>
            <a:pPr algn="ctr">
              <a:spcBef>
                <a:spcPts val="0"/>
              </a:spcBef>
              <a:spcAft>
                <a:spcPts val="0"/>
              </a:spcAft>
            </a:pPr>
            <a:r>
              <a:rPr sz="1000" b="1" i="0">
                <a:solidFill>
                  <a:srgbClr val="C96B84"/>
                </a:solidFill>
                <a:latin typeface="Karla"/>
              </a:rPr>
              <a:t>Off the pack</a:t>
            </a:r>
          </a:p>
        </p:txBody>
      </p:sp>
      <p:sp>
        <p:nvSpPr>
          <p:cNvPr id="11" name="TextBox 10"/>
          <p:cNvSpPr txBox="1"/>
          <p:nvPr/>
        </p:nvSpPr>
        <p:spPr>
          <a:xfrm>
            <a:off x="1650492" y="1719072"/>
            <a:ext cx="8883396" cy="329184"/>
          </a:xfrm>
          <a:prstGeom prst="rect">
            <a:avLst/>
          </a:prstGeom>
          <a:noFill/>
        </p:spPr>
        <p:txBody>
          <a:bodyPr wrap="square" anchor="ctr" lIns="0" rIns="0" tIns="0" bIns="0"/>
          <a:lstStyle/>
          <a:p>
            <a:pPr algn="l">
              <a:spcBef>
                <a:spcPts val="0"/>
              </a:spcBef>
              <a:spcAft>
                <a:spcPts val="0"/>
              </a:spcAft>
            </a:pPr>
            <a:r>
              <a:rPr sz="1800" b="1" i="0">
                <a:solidFill>
                  <a:srgbClr val="1E2D44"/>
                </a:solidFill>
                <a:latin typeface="Karla"/>
              </a:rPr>
              <a:t>Variant Ctr Low</a:t>
            </a:r>
          </a:p>
        </p:txBody>
      </p:sp>
      <p:sp>
        <p:nvSpPr>
          <p:cNvPr id="12" name="Rounded Rectangle 11"/>
          <p:cNvSpPr/>
          <p:nvPr/>
        </p:nvSpPr>
        <p:spPr>
          <a:xfrm>
            <a:off x="1650492" y="2071116"/>
            <a:ext cx="4405122" cy="2926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41932" y="2071116"/>
            <a:ext cx="4258818" cy="292608"/>
          </a:xfrm>
          <a:prstGeom prst="rect">
            <a:avLst/>
          </a:prstGeom>
          <a:noFill/>
        </p:spPr>
        <p:txBody>
          <a:bodyPr wrap="square" anchor="ctr" lIns="0" rIns="0" tIns="0" bIns="0"/>
          <a:lstStyle/>
          <a:p>
            <a:pPr algn="l">
              <a:spcBef>
                <a:spcPts val="0"/>
              </a:spcBef>
              <a:spcAft>
                <a:spcPts val="0"/>
              </a:spcAft>
            </a:pPr>
            <a:r>
              <a:rPr sz="1100" b="0" i="0">
                <a:solidFill>
                  <a:srgbClr val="1E2D44"/>
                </a:solidFill>
                <a:latin typeface="Karla"/>
              </a:rPr>
              <a:t>Non-users   ·   Variant Left Low   +27</a:t>
            </a:r>
          </a:p>
        </p:txBody>
      </p:sp>
      <p:sp>
        <p:nvSpPr>
          <p:cNvPr id="14" name="Rounded Rectangle 13"/>
          <p:cNvSpPr/>
          <p:nvPr/>
        </p:nvSpPr>
        <p:spPr>
          <a:xfrm>
            <a:off x="6128766" y="2071116"/>
            <a:ext cx="4405122" cy="2926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0206" y="2071116"/>
            <a:ext cx="4258818" cy="292608"/>
          </a:xfrm>
          <a:prstGeom prst="rect">
            <a:avLst/>
          </a:prstGeom>
          <a:noFill/>
        </p:spPr>
        <p:txBody>
          <a:bodyPr wrap="square" anchor="ctr" lIns="0" rIns="0" tIns="0" bIns="0"/>
          <a:lstStyle/>
          <a:p>
            <a:pPr algn="l">
              <a:spcBef>
                <a:spcPts val="0"/>
              </a:spcBef>
              <a:spcAft>
                <a:spcPts val="0"/>
              </a:spcAft>
            </a:pPr>
            <a:r>
              <a:rPr sz="1100" b="0" i="0">
                <a:solidFill>
                  <a:srgbClr val="1E2D44"/>
                </a:solidFill>
                <a:latin typeface="Karla"/>
              </a:rPr>
              <a:t>Dove users   ·   Variant Ctr Low   +34</a:t>
            </a:r>
          </a:p>
        </p:txBody>
      </p:sp>
      <p:sp>
        <p:nvSpPr>
          <p:cNvPr id="16" name="TextBox 15"/>
          <p:cNvSpPr txBox="1"/>
          <p:nvPr/>
        </p:nvSpPr>
        <p:spPr>
          <a:xfrm>
            <a:off x="10607040" y="1335024"/>
            <a:ext cx="1097280" cy="1156716"/>
          </a:xfrm>
          <a:prstGeom prst="rect">
            <a:avLst/>
          </a:prstGeom>
          <a:noFill/>
        </p:spPr>
        <p:txBody>
          <a:bodyPr wrap="square" anchor="ctr" lIns="0" rIns="0" tIns="0" bIns="0"/>
          <a:lstStyle/>
          <a:p>
            <a:pPr algn="r">
              <a:spcBef>
                <a:spcPts val="0"/>
              </a:spcBef>
              <a:spcAft>
                <a:spcPts val="0"/>
              </a:spcAft>
            </a:pPr>
            <a:r>
              <a:rPr sz="2200" b="1" i="0">
                <a:solidFill>
                  <a:srgbClr val="008935"/>
                </a:solidFill>
                <a:latin typeface="Karla"/>
              </a:rPr>
              <a:t>+29</a:t>
            </a:r>
          </a:p>
        </p:txBody>
      </p:sp>
      <p:sp>
        <p:nvSpPr>
          <p:cNvPr id="17" name="Rounded Rectangle 16"/>
          <p:cNvSpPr/>
          <p:nvPr/>
        </p:nvSpPr>
        <p:spPr>
          <a:xfrm>
            <a:off x="384048" y="2583180"/>
            <a:ext cx="11430000" cy="1156716"/>
          </a:xfrm>
          <a:prstGeom prst="roundRect">
            <a:avLst>
              <a:gd name="adj" fmla="val 10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2064" y="2692908"/>
            <a:ext cx="937260" cy="9372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H1.png"/>
          <p:cNvPicPr>
            <a:picLocks noChangeAspect="1"/>
          </p:cNvPicPr>
          <p:nvPr/>
        </p:nvPicPr>
        <p:blipFill>
          <a:blip r:embed="rId3"/>
          <a:stretch>
            <a:fillRect/>
          </a:stretch>
        </p:blipFill>
        <p:spPr>
          <a:xfrm>
            <a:off x="585216" y="2766060"/>
            <a:ext cx="790956" cy="790956"/>
          </a:xfrm>
          <a:prstGeom prst="rect">
            <a:avLst/>
          </a:prstGeom>
        </p:spPr>
      </p:pic>
      <p:sp>
        <p:nvSpPr>
          <p:cNvPr id="20" name="TextBox 19"/>
          <p:cNvSpPr txBox="1"/>
          <p:nvPr/>
        </p:nvSpPr>
        <p:spPr>
          <a:xfrm>
            <a:off x="1650492" y="2711196"/>
            <a:ext cx="7466076" cy="219456"/>
          </a:xfrm>
          <a:prstGeom prst="rect">
            <a:avLst/>
          </a:prstGeom>
          <a:noFill/>
        </p:spPr>
        <p:txBody>
          <a:bodyPr wrap="square" anchor="ctr" lIns="0" rIns="0" tIns="0" bIns="0"/>
          <a:lstStyle/>
          <a:p>
            <a:pPr algn="l">
              <a:spcBef>
                <a:spcPts val="0"/>
              </a:spcBef>
              <a:spcAft>
                <a:spcPts val="0"/>
              </a:spcAft>
            </a:pPr>
            <a:r>
              <a:rPr sz="1100" b="1" i="0">
                <a:solidFill>
                  <a:srgbClr val="04746E"/>
                </a:solidFill>
                <a:latin typeface="Karla"/>
              </a:rPr>
              <a:t>LOZ TOP LEFT LOW</a:t>
            </a:r>
          </a:p>
        </p:txBody>
      </p:sp>
      <p:sp>
        <p:nvSpPr>
          <p:cNvPr id="21" name="Rounded Rectangle 20"/>
          <p:cNvSpPr/>
          <p:nvPr/>
        </p:nvSpPr>
        <p:spPr>
          <a:xfrm>
            <a:off x="9272016" y="2711196"/>
            <a:ext cx="1261872" cy="237744"/>
          </a:xfrm>
          <a:prstGeom prst="roundRect">
            <a:avLst>
              <a:gd name="adj" fmla="val 8000"/>
            </a:avLst>
          </a:prstGeom>
          <a:solidFill>
            <a:srgbClr val="FD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72016" y="2711196"/>
            <a:ext cx="1261872" cy="237744"/>
          </a:xfrm>
          <a:prstGeom prst="rect">
            <a:avLst/>
          </a:prstGeom>
          <a:noFill/>
        </p:spPr>
        <p:txBody>
          <a:bodyPr wrap="square" anchor="ctr" lIns="0" rIns="0" tIns="0" bIns="0"/>
          <a:lstStyle/>
          <a:p>
            <a:pPr algn="ctr">
              <a:spcBef>
                <a:spcPts val="0"/>
              </a:spcBef>
              <a:spcAft>
                <a:spcPts val="0"/>
              </a:spcAft>
            </a:pPr>
            <a:r>
              <a:rPr sz="1000" b="1" i="0">
                <a:solidFill>
                  <a:srgbClr val="C96B84"/>
                </a:solidFill>
                <a:latin typeface="Karla"/>
              </a:rPr>
              <a:t>Off the pack</a:t>
            </a:r>
          </a:p>
        </p:txBody>
      </p:sp>
      <p:sp>
        <p:nvSpPr>
          <p:cNvPr id="23" name="TextBox 22"/>
          <p:cNvSpPr txBox="1"/>
          <p:nvPr/>
        </p:nvSpPr>
        <p:spPr>
          <a:xfrm>
            <a:off x="1650492" y="2967228"/>
            <a:ext cx="8883396" cy="329184"/>
          </a:xfrm>
          <a:prstGeom prst="rect">
            <a:avLst/>
          </a:prstGeom>
          <a:noFill/>
        </p:spPr>
        <p:txBody>
          <a:bodyPr wrap="square" anchor="ctr" lIns="0" rIns="0" tIns="0" bIns="0"/>
          <a:lstStyle/>
          <a:p>
            <a:pPr algn="l">
              <a:spcBef>
                <a:spcPts val="0"/>
              </a:spcBef>
              <a:spcAft>
                <a:spcPts val="0"/>
              </a:spcAft>
            </a:pPr>
            <a:r>
              <a:rPr sz="1800" b="1" i="0">
                <a:solidFill>
                  <a:srgbClr val="1E2D44"/>
                </a:solidFill>
                <a:latin typeface="Karla"/>
              </a:rPr>
              <a:t>Loz Variant Fill Top Left Low</a:t>
            </a:r>
          </a:p>
        </p:txBody>
      </p:sp>
      <p:sp>
        <p:nvSpPr>
          <p:cNvPr id="24" name="TextBox 23"/>
          <p:cNvSpPr txBox="1"/>
          <p:nvPr/>
        </p:nvSpPr>
        <p:spPr>
          <a:xfrm>
            <a:off x="1650492" y="3374136"/>
            <a:ext cx="8883396" cy="219456"/>
          </a:xfrm>
          <a:prstGeom prst="rect">
            <a:avLst/>
          </a:prstGeom>
          <a:noFill/>
        </p:spPr>
        <p:txBody>
          <a:bodyPr wrap="square" anchor="ctr" lIns="0" rIns="0" tIns="0" bIns="0"/>
          <a:lstStyle/>
          <a:p>
            <a:pPr algn="l">
              <a:spcBef>
                <a:spcPts val="0"/>
              </a:spcBef>
              <a:spcAft>
                <a:spcPts val="0"/>
              </a:spcAft>
            </a:pPr>
            <a:r>
              <a:rPr sz="1200" b="0" i="0">
                <a:solidFill>
                  <a:srgbClr val="617086"/>
                </a:solidFill>
                <a:latin typeface="Karla"/>
              </a:rPr>
              <a:t>Both groups agree</a:t>
            </a:r>
          </a:p>
        </p:txBody>
      </p:sp>
      <p:sp>
        <p:nvSpPr>
          <p:cNvPr id="25" name="TextBox 24"/>
          <p:cNvSpPr txBox="1"/>
          <p:nvPr/>
        </p:nvSpPr>
        <p:spPr>
          <a:xfrm>
            <a:off x="10607040" y="2583180"/>
            <a:ext cx="1097280" cy="1156716"/>
          </a:xfrm>
          <a:prstGeom prst="rect">
            <a:avLst/>
          </a:prstGeom>
          <a:noFill/>
        </p:spPr>
        <p:txBody>
          <a:bodyPr wrap="square" anchor="ctr" lIns="0" rIns="0" tIns="0" bIns="0"/>
          <a:lstStyle/>
          <a:p>
            <a:pPr algn="r">
              <a:spcBef>
                <a:spcPts val="0"/>
              </a:spcBef>
              <a:spcAft>
                <a:spcPts val="0"/>
              </a:spcAft>
            </a:pPr>
            <a:r>
              <a:rPr sz="2200" b="1" i="0">
                <a:solidFill>
                  <a:srgbClr val="008935"/>
                </a:solidFill>
                <a:latin typeface="Karla"/>
              </a:rPr>
              <a:t>+25</a:t>
            </a:r>
          </a:p>
        </p:txBody>
      </p:sp>
      <p:sp>
        <p:nvSpPr>
          <p:cNvPr id="26" name="Rounded Rectangle 25"/>
          <p:cNvSpPr/>
          <p:nvPr/>
        </p:nvSpPr>
        <p:spPr>
          <a:xfrm>
            <a:off x="384048" y="3831336"/>
            <a:ext cx="11430000" cy="1156716"/>
          </a:xfrm>
          <a:prstGeom prst="roundRect">
            <a:avLst>
              <a:gd name="adj" fmla="val 10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2064" y="3941064"/>
            <a:ext cx="937260" cy="9372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B4.png"/>
          <p:cNvPicPr>
            <a:picLocks noChangeAspect="1"/>
          </p:cNvPicPr>
          <p:nvPr/>
        </p:nvPicPr>
        <p:blipFill>
          <a:blip r:embed="rId4"/>
          <a:stretch>
            <a:fillRect/>
          </a:stretch>
        </p:blipFill>
        <p:spPr>
          <a:xfrm>
            <a:off x="585216" y="4014216"/>
            <a:ext cx="790956" cy="790956"/>
          </a:xfrm>
          <a:prstGeom prst="rect">
            <a:avLst/>
          </a:prstGeom>
        </p:spPr>
      </p:pic>
      <p:sp>
        <p:nvSpPr>
          <p:cNvPr id="29" name="TextBox 28"/>
          <p:cNvSpPr txBox="1"/>
          <p:nvPr/>
        </p:nvSpPr>
        <p:spPr>
          <a:xfrm>
            <a:off x="1650492" y="3959352"/>
            <a:ext cx="7466076" cy="219456"/>
          </a:xfrm>
          <a:prstGeom prst="rect">
            <a:avLst/>
          </a:prstGeom>
          <a:noFill/>
        </p:spPr>
        <p:txBody>
          <a:bodyPr wrap="square" anchor="ctr" lIns="0" rIns="0" tIns="0" bIns="0"/>
          <a:lstStyle/>
          <a:p>
            <a:pPr algn="l">
              <a:spcBef>
                <a:spcPts val="0"/>
              </a:spcBef>
              <a:spcAft>
                <a:spcPts val="0"/>
              </a:spcAft>
            </a:pPr>
            <a:r>
              <a:rPr sz="1100" b="1" i="0">
                <a:solidFill>
                  <a:srgbClr val="04746E"/>
                </a:solidFill>
                <a:latin typeface="Karla"/>
              </a:rPr>
              <a:t>IMAGERY</a:t>
            </a:r>
          </a:p>
        </p:txBody>
      </p:sp>
      <p:sp>
        <p:nvSpPr>
          <p:cNvPr id="30" name="Rounded Rectangle 29"/>
          <p:cNvSpPr/>
          <p:nvPr/>
        </p:nvSpPr>
        <p:spPr>
          <a:xfrm>
            <a:off x="9272016" y="3959352"/>
            <a:ext cx="1261872" cy="237744"/>
          </a:xfrm>
          <a:prstGeom prst="roundRect">
            <a:avLst>
              <a:gd name="adj" fmla="val 8000"/>
            </a:avLst>
          </a:prstGeom>
          <a:solidFill>
            <a:srgbClr val="FD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72016" y="3959352"/>
            <a:ext cx="1261872" cy="237744"/>
          </a:xfrm>
          <a:prstGeom prst="rect">
            <a:avLst/>
          </a:prstGeom>
          <a:noFill/>
        </p:spPr>
        <p:txBody>
          <a:bodyPr wrap="square" anchor="ctr" lIns="0" rIns="0" tIns="0" bIns="0"/>
          <a:lstStyle/>
          <a:p>
            <a:pPr algn="ctr">
              <a:spcBef>
                <a:spcPts val="0"/>
              </a:spcBef>
              <a:spcAft>
                <a:spcPts val="0"/>
              </a:spcAft>
            </a:pPr>
            <a:r>
              <a:rPr sz="1000" b="1" i="0">
                <a:solidFill>
                  <a:srgbClr val="C96B84"/>
                </a:solidFill>
                <a:latin typeface="Karla"/>
              </a:rPr>
              <a:t>Off the pack</a:t>
            </a:r>
          </a:p>
        </p:txBody>
      </p:sp>
      <p:sp>
        <p:nvSpPr>
          <p:cNvPr id="32" name="TextBox 31"/>
          <p:cNvSpPr txBox="1"/>
          <p:nvPr/>
        </p:nvSpPr>
        <p:spPr>
          <a:xfrm>
            <a:off x="1650492" y="4215384"/>
            <a:ext cx="8883396" cy="329184"/>
          </a:xfrm>
          <a:prstGeom prst="rect">
            <a:avLst/>
          </a:prstGeom>
          <a:noFill/>
        </p:spPr>
        <p:txBody>
          <a:bodyPr wrap="square" anchor="ctr" lIns="0" rIns="0" tIns="0" bIns="0"/>
          <a:lstStyle/>
          <a:p>
            <a:pPr algn="l">
              <a:spcBef>
                <a:spcPts val="0"/>
              </a:spcBef>
              <a:spcAft>
                <a:spcPts val="0"/>
              </a:spcAft>
            </a:pPr>
            <a:r>
              <a:rPr sz="1800" b="1" i="0">
                <a:solidFill>
                  <a:srgbClr val="1E2D44"/>
                </a:solidFill>
                <a:latin typeface="Karla"/>
              </a:rPr>
              <a:t>Splash High</a:t>
            </a:r>
          </a:p>
        </p:txBody>
      </p:sp>
      <p:sp>
        <p:nvSpPr>
          <p:cNvPr id="33" name="TextBox 32"/>
          <p:cNvSpPr txBox="1"/>
          <p:nvPr/>
        </p:nvSpPr>
        <p:spPr>
          <a:xfrm>
            <a:off x="1650492" y="4622292"/>
            <a:ext cx="8883396" cy="219456"/>
          </a:xfrm>
          <a:prstGeom prst="rect">
            <a:avLst/>
          </a:prstGeom>
          <a:noFill/>
        </p:spPr>
        <p:txBody>
          <a:bodyPr wrap="square" anchor="ctr" lIns="0" rIns="0" tIns="0" bIns="0"/>
          <a:lstStyle/>
          <a:p>
            <a:pPr algn="l">
              <a:spcBef>
                <a:spcPts val="0"/>
              </a:spcBef>
              <a:spcAft>
                <a:spcPts val="0"/>
              </a:spcAft>
            </a:pPr>
            <a:r>
              <a:rPr sz="1200" b="0" i="0">
                <a:solidFill>
                  <a:srgbClr val="617086"/>
                </a:solidFill>
                <a:latin typeface="Karla"/>
              </a:rPr>
              <a:t>Both groups agree</a:t>
            </a:r>
          </a:p>
        </p:txBody>
      </p:sp>
      <p:sp>
        <p:nvSpPr>
          <p:cNvPr id="34" name="TextBox 33"/>
          <p:cNvSpPr txBox="1"/>
          <p:nvPr/>
        </p:nvSpPr>
        <p:spPr>
          <a:xfrm>
            <a:off x="10607040" y="3831336"/>
            <a:ext cx="1097280" cy="1156716"/>
          </a:xfrm>
          <a:prstGeom prst="rect">
            <a:avLst/>
          </a:prstGeom>
          <a:noFill/>
        </p:spPr>
        <p:txBody>
          <a:bodyPr wrap="square" anchor="ctr" lIns="0" rIns="0" tIns="0" bIns="0"/>
          <a:lstStyle/>
          <a:p>
            <a:pPr algn="r">
              <a:spcBef>
                <a:spcPts val="0"/>
              </a:spcBef>
              <a:spcAft>
                <a:spcPts val="0"/>
              </a:spcAft>
            </a:pPr>
            <a:r>
              <a:rPr sz="2200" b="1" i="0">
                <a:solidFill>
                  <a:srgbClr val="008935"/>
                </a:solidFill>
                <a:latin typeface="Karla"/>
              </a:rPr>
              <a:t>+24</a:t>
            </a:r>
          </a:p>
        </p:txBody>
      </p:sp>
      <p:sp>
        <p:nvSpPr>
          <p:cNvPr id="35" name="Rounded Rectangle 34"/>
          <p:cNvSpPr/>
          <p:nvPr/>
        </p:nvSpPr>
        <p:spPr>
          <a:xfrm>
            <a:off x="384048" y="5079492"/>
            <a:ext cx="11430000" cy="1156716"/>
          </a:xfrm>
          <a:prstGeom prst="roundRect">
            <a:avLst>
              <a:gd name="adj" fmla="val 10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12064" y="5189220"/>
            <a:ext cx="937260" cy="9372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G1.png"/>
          <p:cNvPicPr>
            <a:picLocks noChangeAspect="1"/>
          </p:cNvPicPr>
          <p:nvPr/>
        </p:nvPicPr>
        <p:blipFill>
          <a:blip r:embed="rId5"/>
          <a:stretch>
            <a:fillRect/>
          </a:stretch>
        </p:blipFill>
        <p:spPr>
          <a:xfrm>
            <a:off x="585216" y="5262372"/>
            <a:ext cx="790956" cy="790956"/>
          </a:xfrm>
          <a:prstGeom prst="rect">
            <a:avLst/>
          </a:prstGeom>
        </p:spPr>
      </p:pic>
      <p:sp>
        <p:nvSpPr>
          <p:cNvPr id="38" name="TextBox 37"/>
          <p:cNvSpPr txBox="1"/>
          <p:nvPr/>
        </p:nvSpPr>
        <p:spPr>
          <a:xfrm>
            <a:off x="1650492" y="5207508"/>
            <a:ext cx="7466076" cy="219456"/>
          </a:xfrm>
          <a:prstGeom prst="rect">
            <a:avLst/>
          </a:prstGeom>
          <a:noFill/>
        </p:spPr>
        <p:txBody>
          <a:bodyPr wrap="square" anchor="ctr" lIns="0" rIns="0" tIns="0" bIns="0"/>
          <a:lstStyle/>
          <a:p>
            <a:pPr algn="l">
              <a:spcBef>
                <a:spcPts val="0"/>
              </a:spcBef>
              <a:spcAft>
                <a:spcPts val="0"/>
              </a:spcAft>
            </a:pPr>
            <a:r>
              <a:rPr sz="1100" b="1" i="0">
                <a:solidFill>
                  <a:srgbClr val="04746E"/>
                </a:solidFill>
                <a:latin typeface="Karla"/>
              </a:rPr>
              <a:t>LOZ TOP CTR</a:t>
            </a:r>
          </a:p>
        </p:txBody>
      </p:sp>
      <p:sp>
        <p:nvSpPr>
          <p:cNvPr id="39" name="Rounded Rectangle 38"/>
          <p:cNvSpPr/>
          <p:nvPr/>
        </p:nvSpPr>
        <p:spPr>
          <a:xfrm>
            <a:off x="9272016" y="5207508"/>
            <a:ext cx="1261872" cy="237744"/>
          </a:xfrm>
          <a:prstGeom prst="roundRect">
            <a:avLst>
              <a:gd name="adj" fmla="val 8000"/>
            </a:avLst>
          </a:prstGeom>
          <a:solidFill>
            <a:srgbClr val="FD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72016" y="5207508"/>
            <a:ext cx="1261872" cy="237744"/>
          </a:xfrm>
          <a:prstGeom prst="rect">
            <a:avLst/>
          </a:prstGeom>
          <a:noFill/>
        </p:spPr>
        <p:txBody>
          <a:bodyPr wrap="square" anchor="ctr" lIns="0" rIns="0" tIns="0" bIns="0"/>
          <a:lstStyle/>
          <a:p>
            <a:pPr algn="ctr">
              <a:spcBef>
                <a:spcPts val="0"/>
              </a:spcBef>
              <a:spcAft>
                <a:spcPts val="0"/>
              </a:spcAft>
            </a:pPr>
            <a:r>
              <a:rPr sz="1000" b="1" i="0">
                <a:solidFill>
                  <a:srgbClr val="C96B84"/>
                </a:solidFill>
                <a:latin typeface="Karla"/>
              </a:rPr>
              <a:t>Off the pack</a:t>
            </a:r>
          </a:p>
        </p:txBody>
      </p:sp>
      <p:sp>
        <p:nvSpPr>
          <p:cNvPr id="41" name="TextBox 40"/>
          <p:cNvSpPr txBox="1"/>
          <p:nvPr/>
        </p:nvSpPr>
        <p:spPr>
          <a:xfrm>
            <a:off x="1650492" y="5463540"/>
            <a:ext cx="8883396" cy="329184"/>
          </a:xfrm>
          <a:prstGeom prst="rect">
            <a:avLst/>
          </a:prstGeom>
          <a:noFill/>
        </p:spPr>
        <p:txBody>
          <a:bodyPr wrap="square" anchor="ctr" lIns="0" rIns="0" tIns="0" bIns="0"/>
          <a:lstStyle/>
          <a:p>
            <a:pPr algn="l">
              <a:spcBef>
                <a:spcPts val="0"/>
              </a:spcBef>
              <a:spcAft>
                <a:spcPts val="0"/>
              </a:spcAft>
            </a:pPr>
            <a:r>
              <a:rPr sz="1800" b="1" i="0">
                <a:solidFill>
                  <a:srgbClr val="1E2D44"/>
                </a:solidFill>
                <a:latin typeface="Karla"/>
              </a:rPr>
              <a:t>Loz Gold Fill Top Ctr</a:t>
            </a:r>
          </a:p>
        </p:txBody>
      </p:sp>
      <p:sp>
        <p:nvSpPr>
          <p:cNvPr id="42" name="TextBox 41"/>
          <p:cNvSpPr txBox="1"/>
          <p:nvPr/>
        </p:nvSpPr>
        <p:spPr>
          <a:xfrm>
            <a:off x="1650492" y="5870448"/>
            <a:ext cx="8883396" cy="219456"/>
          </a:xfrm>
          <a:prstGeom prst="rect">
            <a:avLst/>
          </a:prstGeom>
          <a:noFill/>
        </p:spPr>
        <p:txBody>
          <a:bodyPr wrap="square" anchor="ctr" lIns="0" rIns="0" tIns="0" bIns="0"/>
          <a:lstStyle/>
          <a:p>
            <a:pPr algn="l">
              <a:spcBef>
                <a:spcPts val="0"/>
              </a:spcBef>
              <a:spcAft>
                <a:spcPts val="0"/>
              </a:spcAft>
            </a:pPr>
            <a:r>
              <a:rPr sz="1200" b="0" i="0">
                <a:solidFill>
                  <a:srgbClr val="617086"/>
                </a:solidFill>
                <a:latin typeface="Karla"/>
              </a:rPr>
              <a:t>Both groups agree</a:t>
            </a:r>
          </a:p>
        </p:txBody>
      </p:sp>
      <p:sp>
        <p:nvSpPr>
          <p:cNvPr id="43" name="TextBox 42"/>
          <p:cNvSpPr txBox="1"/>
          <p:nvPr/>
        </p:nvSpPr>
        <p:spPr>
          <a:xfrm>
            <a:off x="10607040" y="5079492"/>
            <a:ext cx="1097280" cy="1156716"/>
          </a:xfrm>
          <a:prstGeom prst="rect">
            <a:avLst/>
          </a:prstGeom>
          <a:noFill/>
        </p:spPr>
        <p:txBody>
          <a:bodyPr wrap="square" anchor="ctr" lIns="0" rIns="0" tIns="0" bIns="0"/>
          <a:lstStyle/>
          <a:p>
            <a:pPr algn="r">
              <a:spcBef>
                <a:spcPts val="0"/>
              </a:spcBef>
              <a:spcAft>
                <a:spcPts val="0"/>
              </a:spcAft>
            </a:pPr>
            <a:r>
              <a:rPr sz="2200" b="1" i="0">
                <a:solidFill>
                  <a:srgbClr val="008935"/>
                </a:solidFill>
                <a:latin typeface="Karla"/>
              </a:rPr>
              <a:t>+24</a:t>
            </a:r>
          </a:p>
        </p:txBody>
      </p:sp>
      <p:sp>
        <p:nvSpPr>
          <p:cNvPr id="44" name="Rectangle 43"/>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46" name="TextBox 45"/>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CATEGORY WINNERS   ·   2 of 4</a:t>
            </a:r>
          </a:p>
        </p:txBody>
      </p:sp>
      <p:sp>
        <p:nvSpPr>
          <p:cNvPr id="3" name="TextBox 2"/>
          <p:cNvSpPr txBox="1"/>
          <p:nvPr/>
        </p:nvSpPr>
        <p:spPr>
          <a:xfrm>
            <a:off x="438912" y="475488"/>
            <a:ext cx="11247120" cy="365760"/>
          </a:xfrm>
          <a:prstGeom prst="rect">
            <a:avLst/>
          </a:prstGeom>
          <a:noFill/>
        </p:spPr>
        <p:txBody>
          <a:bodyPr wrap="square" anchor="t"/>
          <a:lstStyle/>
          <a:p>
            <a:pPr algn="l">
              <a:spcAft>
                <a:spcPts val="400"/>
              </a:spcAft>
            </a:pPr>
            <a:r>
              <a:rPr sz="2600" b="1" i="0">
                <a:solidFill>
                  <a:srgbClr val="1E2D44"/>
                </a:solidFill>
                <a:latin typeface="Karla"/>
              </a:rPr>
              <a:t>The winning element in each category</a:t>
            </a:r>
          </a:p>
        </p:txBody>
      </p:sp>
      <p:sp>
        <p:nvSpPr>
          <p:cNvPr id="4" name="TextBox 3"/>
          <p:cNvSpPr txBox="1"/>
          <p:nvPr/>
        </p:nvSpPr>
        <p:spPr>
          <a:xfrm>
            <a:off x="438912" y="896112"/>
            <a:ext cx="11247120" cy="292608"/>
          </a:xfrm>
          <a:prstGeom prst="rect">
            <a:avLst/>
          </a:prstGeom>
          <a:noFill/>
        </p:spPr>
        <p:txBody>
          <a:bodyPr wrap="square" anchor="t"/>
          <a:lstStyle/>
          <a:p>
            <a:pPr algn="l">
              <a:spcAft>
                <a:spcPts val="400"/>
              </a:spcAft>
            </a:pPr>
            <a:r>
              <a:rPr sz="1400" b="0" i="0">
                <a:solidFill>
                  <a:srgbClr val="617086"/>
                </a:solidFill>
                <a:latin typeface="Karla"/>
              </a:rPr>
              <a:t>Ranked by the total sample. The notes are the winners for “Do you currently use dove”.</a:t>
            </a:r>
          </a:p>
        </p:txBody>
      </p:sp>
      <p:sp>
        <p:nvSpPr>
          <p:cNvPr id="5" name="Rounded Rectangle 4"/>
          <p:cNvSpPr/>
          <p:nvPr/>
        </p:nvSpPr>
        <p:spPr>
          <a:xfrm>
            <a:off x="384048" y="1335024"/>
            <a:ext cx="11430000" cy="1156716"/>
          </a:xfrm>
          <a:prstGeom prst="roundRect">
            <a:avLst>
              <a:gd name="adj" fmla="val 10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12064" y="1444752"/>
            <a:ext cx="937260" cy="9372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4.png"/>
          <p:cNvPicPr>
            <a:picLocks noChangeAspect="1"/>
          </p:cNvPicPr>
          <p:nvPr/>
        </p:nvPicPr>
        <p:blipFill>
          <a:blip r:embed="rId2"/>
          <a:stretch>
            <a:fillRect/>
          </a:stretch>
        </p:blipFill>
        <p:spPr>
          <a:xfrm>
            <a:off x="585216" y="1517904"/>
            <a:ext cx="790956" cy="790956"/>
          </a:xfrm>
          <a:prstGeom prst="rect">
            <a:avLst/>
          </a:prstGeom>
        </p:spPr>
      </p:pic>
      <p:sp>
        <p:nvSpPr>
          <p:cNvPr id="8" name="TextBox 7"/>
          <p:cNvSpPr txBox="1"/>
          <p:nvPr/>
        </p:nvSpPr>
        <p:spPr>
          <a:xfrm>
            <a:off x="1650492" y="1463040"/>
            <a:ext cx="7466076" cy="219456"/>
          </a:xfrm>
          <a:prstGeom prst="rect">
            <a:avLst/>
          </a:prstGeom>
          <a:noFill/>
        </p:spPr>
        <p:txBody>
          <a:bodyPr wrap="square" anchor="ctr" lIns="0" rIns="0" tIns="0" bIns="0"/>
          <a:lstStyle/>
          <a:p>
            <a:pPr algn="l">
              <a:spcBef>
                <a:spcPts val="0"/>
              </a:spcBef>
              <a:spcAft>
                <a:spcPts val="0"/>
              </a:spcAft>
            </a:pPr>
            <a:r>
              <a:rPr sz="1100" b="1" i="0">
                <a:solidFill>
                  <a:srgbClr val="04746E"/>
                </a:solidFill>
                <a:latin typeface="Karla"/>
              </a:rPr>
              <a:t>LOZ TOP LEFT</a:t>
            </a:r>
          </a:p>
        </p:txBody>
      </p:sp>
      <p:sp>
        <p:nvSpPr>
          <p:cNvPr id="9" name="Rounded Rectangle 8"/>
          <p:cNvSpPr/>
          <p:nvPr/>
        </p:nvSpPr>
        <p:spPr>
          <a:xfrm>
            <a:off x="9272016" y="1463040"/>
            <a:ext cx="1261872" cy="237744"/>
          </a:xfrm>
          <a:prstGeom prst="roundRect">
            <a:avLst>
              <a:gd name="adj" fmla="val 8000"/>
            </a:avLst>
          </a:prstGeom>
          <a:solidFill>
            <a:srgbClr val="FD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72016" y="1463040"/>
            <a:ext cx="1261872" cy="237744"/>
          </a:xfrm>
          <a:prstGeom prst="rect">
            <a:avLst/>
          </a:prstGeom>
          <a:noFill/>
        </p:spPr>
        <p:txBody>
          <a:bodyPr wrap="square" anchor="ctr" lIns="0" rIns="0" tIns="0" bIns="0"/>
          <a:lstStyle/>
          <a:p>
            <a:pPr algn="ctr">
              <a:spcBef>
                <a:spcPts val="0"/>
              </a:spcBef>
              <a:spcAft>
                <a:spcPts val="0"/>
              </a:spcAft>
            </a:pPr>
            <a:r>
              <a:rPr sz="1000" b="1" i="0">
                <a:solidFill>
                  <a:srgbClr val="C96B84"/>
                </a:solidFill>
                <a:latin typeface="Karla"/>
              </a:rPr>
              <a:t>Off the pack</a:t>
            </a:r>
          </a:p>
        </p:txBody>
      </p:sp>
      <p:sp>
        <p:nvSpPr>
          <p:cNvPr id="11" name="TextBox 10"/>
          <p:cNvSpPr txBox="1"/>
          <p:nvPr/>
        </p:nvSpPr>
        <p:spPr>
          <a:xfrm>
            <a:off x="1650492" y="1719072"/>
            <a:ext cx="8883396" cy="329184"/>
          </a:xfrm>
          <a:prstGeom prst="rect">
            <a:avLst/>
          </a:prstGeom>
          <a:noFill/>
        </p:spPr>
        <p:txBody>
          <a:bodyPr wrap="square" anchor="ctr" lIns="0" rIns="0" tIns="0" bIns="0"/>
          <a:lstStyle/>
          <a:p>
            <a:pPr algn="l">
              <a:spcBef>
                <a:spcPts val="0"/>
              </a:spcBef>
              <a:spcAft>
                <a:spcPts val="0"/>
              </a:spcAft>
            </a:pPr>
            <a:r>
              <a:rPr sz="1800" b="1" i="0">
                <a:solidFill>
                  <a:srgbClr val="1E2D44"/>
                </a:solidFill>
                <a:latin typeface="Karla"/>
              </a:rPr>
              <a:t>Loz Gold Outline Top Left</a:t>
            </a:r>
          </a:p>
        </p:txBody>
      </p:sp>
      <p:sp>
        <p:nvSpPr>
          <p:cNvPr id="12" name="Rounded Rectangle 11"/>
          <p:cNvSpPr/>
          <p:nvPr/>
        </p:nvSpPr>
        <p:spPr>
          <a:xfrm>
            <a:off x="1650492" y="2071116"/>
            <a:ext cx="4405122" cy="2926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41932" y="2071116"/>
            <a:ext cx="4258818" cy="292608"/>
          </a:xfrm>
          <a:prstGeom prst="rect">
            <a:avLst/>
          </a:prstGeom>
          <a:noFill/>
        </p:spPr>
        <p:txBody>
          <a:bodyPr wrap="square" anchor="ctr" lIns="0" rIns="0" tIns="0" bIns="0"/>
          <a:lstStyle/>
          <a:p>
            <a:pPr algn="l">
              <a:spcBef>
                <a:spcPts val="0"/>
              </a:spcBef>
              <a:spcAft>
                <a:spcPts val="0"/>
              </a:spcAft>
            </a:pPr>
            <a:r>
              <a:rPr sz="1100" b="0" i="0">
                <a:solidFill>
                  <a:srgbClr val="1E2D44"/>
                </a:solidFill>
                <a:latin typeface="Karla"/>
              </a:rPr>
              <a:t>Non-users   ·   Loz Gold Outline Top Left   +19</a:t>
            </a:r>
          </a:p>
        </p:txBody>
      </p:sp>
      <p:sp>
        <p:nvSpPr>
          <p:cNvPr id="14" name="Rounded Rectangle 13"/>
          <p:cNvSpPr/>
          <p:nvPr/>
        </p:nvSpPr>
        <p:spPr>
          <a:xfrm>
            <a:off x="6128766" y="2071116"/>
            <a:ext cx="4405122" cy="2926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0206" y="2071116"/>
            <a:ext cx="4258818" cy="292608"/>
          </a:xfrm>
          <a:prstGeom prst="rect">
            <a:avLst/>
          </a:prstGeom>
          <a:noFill/>
        </p:spPr>
        <p:txBody>
          <a:bodyPr wrap="square" anchor="ctr" lIns="0" rIns="0" tIns="0" bIns="0"/>
          <a:lstStyle/>
          <a:p>
            <a:pPr algn="l">
              <a:spcBef>
                <a:spcPts val="0"/>
              </a:spcBef>
              <a:spcAft>
                <a:spcPts val="0"/>
              </a:spcAft>
            </a:pPr>
            <a:r>
              <a:rPr sz="1100" b="0" i="0">
                <a:solidFill>
                  <a:srgbClr val="1E2D44"/>
                </a:solidFill>
                <a:latin typeface="Karla"/>
              </a:rPr>
              <a:t>Dove users   ·   Loz Text Top Left   +27</a:t>
            </a:r>
          </a:p>
        </p:txBody>
      </p:sp>
      <p:sp>
        <p:nvSpPr>
          <p:cNvPr id="16" name="TextBox 15"/>
          <p:cNvSpPr txBox="1"/>
          <p:nvPr/>
        </p:nvSpPr>
        <p:spPr>
          <a:xfrm>
            <a:off x="10607040" y="1335024"/>
            <a:ext cx="1097280" cy="1156716"/>
          </a:xfrm>
          <a:prstGeom prst="rect">
            <a:avLst/>
          </a:prstGeom>
          <a:noFill/>
        </p:spPr>
        <p:txBody>
          <a:bodyPr wrap="square" anchor="ctr" lIns="0" rIns="0" tIns="0" bIns="0"/>
          <a:lstStyle/>
          <a:p>
            <a:pPr algn="r">
              <a:spcBef>
                <a:spcPts val="0"/>
              </a:spcBef>
              <a:spcAft>
                <a:spcPts val="0"/>
              </a:spcAft>
            </a:pPr>
            <a:r>
              <a:rPr sz="2200" b="1" i="0">
                <a:solidFill>
                  <a:srgbClr val="008935"/>
                </a:solidFill>
                <a:latin typeface="Karla"/>
              </a:rPr>
              <a:t>+23</a:t>
            </a:r>
          </a:p>
        </p:txBody>
      </p:sp>
      <p:sp>
        <p:nvSpPr>
          <p:cNvPr id="17" name="Rounded Rectangle 16"/>
          <p:cNvSpPr/>
          <p:nvPr/>
        </p:nvSpPr>
        <p:spPr>
          <a:xfrm>
            <a:off x="384048" y="2583180"/>
            <a:ext cx="11430000" cy="1156716"/>
          </a:xfrm>
          <a:prstGeom prst="roundRect">
            <a:avLst>
              <a:gd name="adj" fmla="val 10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2064" y="2692908"/>
            <a:ext cx="937260" cy="9372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3.png"/>
          <p:cNvPicPr>
            <a:picLocks noChangeAspect="1"/>
          </p:cNvPicPr>
          <p:nvPr/>
        </p:nvPicPr>
        <p:blipFill>
          <a:blip r:embed="rId3"/>
          <a:stretch>
            <a:fillRect/>
          </a:stretch>
        </p:blipFill>
        <p:spPr>
          <a:xfrm>
            <a:off x="585216" y="2766060"/>
            <a:ext cx="790956" cy="790956"/>
          </a:xfrm>
          <a:prstGeom prst="rect">
            <a:avLst/>
          </a:prstGeom>
        </p:spPr>
      </p:pic>
      <p:sp>
        <p:nvSpPr>
          <p:cNvPr id="20" name="TextBox 19"/>
          <p:cNvSpPr txBox="1"/>
          <p:nvPr/>
        </p:nvSpPr>
        <p:spPr>
          <a:xfrm>
            <a:off x="1650492" y="2711196"/>
            <a:ext cx="8883396" cy="219456"/>
          </a:xfrm>
          <a:prstGeom prst="rect">
            <a:avLst/>
          </a:prstGeom>
          <a:noFill/>
        </p:spPr>
        <p:txBody>
          <a:bodyPr wrap="square" anchor="ctr" lIns="0" rIns="0" tIns="0" bIns="0"/>
          <a:lstStyle/>
          <a:p>
            <a:pPr algn="l">
              <a:spcBef>
                <a:spcPts val="0"/>
              </a:spcBef>
              <a:spcAft>
                <a:spcPts val="0"/>
              </a:spcAft>
            </a:pPr>
            <a:r>
              <a:rPr sz="1100" b="1" i="0">
                <a:solidFill>
                  <a:srgbClr val="04746E"/>
                </a:solidFill>
                <a:latin typeface="Karla"/>
              </a:rPr>
              <a:t>LOZ TOP CTR LOW</a:t>
            </a:r>
          </a:p>
        </p:txBody>
      </p:sp>
      <p:sp>
        <p:nvSpPr>
          <p:cNvPr id="21" name="TextBox 20"/>
          <p:cNvSpPr txBox="1"/>
          <p:nvPr/>
        </p:nvSpPr>
        <p:spPr>
          <a:xfrm>
            <a:off x="1650492" y="2967228"/>
            <a:ext cx="8883396" cy="329184"/>
          </a:xfrm>
          <a:prstGeom prst="rect">
            <a:avLst/>
          </a:prstGeom>
          <a:noFill/>
        </p:spPr>
        <p:txBody>
          <a:bodyPr wrap="square" anchor="ctr" lIns="0" rIns="0" tIns="0" bIns="0"/>
          <a:lstStyle/>
          <a:p>
            <a:pPr algn="l">
              <a:spcBef>
                <a:spcPts val="0"/>
              </a:spcBef>
              <a:spcAft>
                <a:spcPts val="0"/>
              </a:spcAft>
            </a:pPr>
            <a:r>
              <a:rPr sz="1800" b="1" i="0">
                <a:solidFill>
                  <a:srgbClr val="1E2D44"/>
                </a:solidFill>
                <a:latin typeface="Karla"/>
              </a:rPr>
              <a:t>Loz Gold Outline Top Ctr Low</a:t>
            </a:r>
          </a:p>
        </p:txBody>
      </p:sp>
      <p:sp>
        <p:nvSpPr>
          <p:cNvPr id="22" name="Rounded Rectangle 21"/>
          <p:cNvSpPr/>
          <p:nvPr/>
        </p:nvSpPr>
        <p:spPr>
          <a:xfrm>
            <a:off x="1650492" y="3319272"/>
            <a:ext cx="4405122" cy="2926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41932" y="3319272"/>
            <a:ext cx="4258818" cy="292608"/>
          </a:xfrm>
          <a:prstGeom prst="rect">
            <a:avLst/>
          </a:prstGeom>
          <a:noFill/>
        </p:spPr>
        <p:txBody>
          <a:bodyPr wrap="square" anchor="ctr" lIns="0" rIns="0" tIns="0" bIns="0"/>
          <a:lstStyle/>
          <a:p>
            <a:pPr algn="l">
              <a:spcBef>
                <a:spcPts val="0"/>
              </a:spcBef>
              <a:spcAft>
                <a:spcPts val="0"/>
              </a:spcAft>
            </a:pPr>
            <a:r>
              <a:rPr sz="1100" b="0" i="0">
                <a:solidFill>
                  <a:srgbClr val="1E2D44"/>
                </a:solidFill>
                <a:latin typeface="Karla"/>
              </a:rPr>
              <a:t>Non-users   ·   Loz Gold Outline Top Ctr Low   +19</a:t>
            </a:r>
          </a:p>
        </p:txBody>
      </p:sp>
      <p:sp>
        <p:nvSpPr>
          <p:cNvPr id="24" name="Rounded Rectangle 23"/>
          <p:cNvSpPr/>
          <p:nvPr/>
        </p:nvSpPr>
        <p:spPr>
          <a:xfrm>
            <a:off x="6128766" y="3319272"/>
            <a:ext cx="4405122" cy="2926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0206" y="3319272"/>
            <a:ext cx="4258818" cy="292608"/>
          </a:xfrm>
          <a:prstGeom prst="rect">
            <a:avLst/>
          </a:prstGeom>
          <a:noFill/>
        </p:spPr>
        <p:txBody>
          <a:bodyPr wrap="square" anchor="ctr" lIns="0" rIns="0" tIns="0" bIns="0"/>
          <a:lstStyle/>
          <a:p>
            <a:pPr algn="l">
              <a:spcBef>
                <a:spcPts val="0"/>
              </a:spcBef>
              <a:spcAft>
                <a:spcPts val="0"/>
              </a:spcAft>
            </a:pPr>
            <a:r>
              <a:rPr sz="1100" b="0" i="0">
                <a:solidFill>
                  <a:srgbClr val="1E2D44"/>
                </a:solidFill>
                <a:latin typeface="Karla"/>
              </a:rPr>
              <a:t>Dove users   ·   Loz Variant Fill Top Ctr Low   +27</a:t>
            </a:r>
          </a:p>
        </p:txBody>
      </p:sp>
      <p:sp>
        <p:nvSpPr>
          <p:cNvPr id="26" name="TextBox 25"/>
          <p:cNvSpPr txBox="1"/>
          <p:nvPr/>
        </p:nvSpPr>
        <p:spPr>
          <a:xfrm>
            <a:off x="10607040" y="2583180"/>
            <a:ext cx="1097280" cy="1156716"/>
          </a:xfrm>
          <a:prstGeom prst="rect">
            <a:avLst/>
          </a:prstGeom>
          <a:noFill/>
        </p:spPr>
        <p:txBody>
          <a:bodyPr wrap="square" anchor="ctr" lIns="0" rIns="0" tIns="0" bIns="0"/>
          <a:lstStyle/>
          <a:p>
            <a:pPr algn="r">
              <a:spcBef>
                <a:spcPts val="0"/>
              </a:spcBef>
              <a:spcAft>
                <a:spcPts val="0"/>
              </a:spcAft>
            </a:pPr>
            <a:r>
              <a:rPr sz="2200" b="1" i="0">
                <a:solidFill>
                  <a:srgbClr val="008935"/>
                </a:solidFill>
                <a:latin typeface="Karla"/>
              </a:rPr>
              <a:t>+22</a:t>
            </a:r>
          </a:p>
        </p:txBody>
      </p:sp>
      <p:sp>
        <p:nvSpPr>
          <p:cNvPr id="27" name="Rounded Rectangle 26"/>
          <p:cNvSpPr/>
          <p:nvPr/>
        </p:nvSpPr>
        <p:spPr>
          <a:xfrm>
            <a:off x="384048" y="3831336"/>
            <a:ext cx="11430000" cy="1156716"/>
          </a:xfrm>
          <a:prstGeom prst="roundRect">
            <a:avLst>
              <a:gd name="adj" fmla="val 10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2064" y="3941064"/>
            <a:ext cx="937260" cy="9372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D8.png"/>
          <p:cNvPicPr>
            <a:picLocks noChangeAspect="1"/>
          </p:cNvPicPr>
          <p:nvPr/>
        </p:nvPicPr>
        <p:blipFill>
          <a:blip r:embed="rId4"/>
          <a:stretch>
            <a:fillRect/>
          </a:stretch>
        </p:blipFill>
        <p:spPr>
          <a:xfrm>
            <a:off x="585216" y="4014216"/>
            <a:ext cx="790956" cy="790956"/>
          </a:xfrm>
          <a:prstGeom prst="rect">
            <a:avLst/>
          </a:prstGeom>
        </p:spPr>
      </p:pic>
      <p:sp>
        <p:nvSpPr>
          <p:cNvPr id="30" name="TextBox 29"/>
          <p:cNvSpPr txBox="1"/>
          <p:nvPr/>
        </p:nvSpPr>
        <p:spPr>
          <a:xfrm>
            <a:off x="1650492" y="3959352"/>
            <a:ext cx="7466076" cy="219456"/>
          </a:xfrm>
          <a:prstGeom prst="rect">
            <a:avLst/>
          </a:prstGeom>
          <a:noFill/>
        </p:spPr>
        <p:txBody>
          <a:bodyPr wrap="square" anchor="ctr" lIns="0" rIns="0" tIns="0" bIns="0"/>
          <a:lstStyle/>
          <a:p>
            <a:pPr algn="l">
              <a:spcBef>
                <a:spcPts val="0"/>
              </a:spcBef>
              <a:spcAft>
                <a:spcPts val="0"/>
              </a:spcAft>
            </a:pPr>
            <a:r>
              <a:rPr sz="1100" b="1" i="0">
                <a:solidFill>
                  <a:srgbClr val="04746E"/>
                </a:solidFill>
                <a:latin typeface="Karla"/>
              </a:rPr>
              <a:t>DERM SEAL</a:t>
            </a:r>
          </a:p>
        </p:txBody>
      </p:sp>
      <p:sp>
        <p:nvSpPr>
          <p:cNvPr id="31" name="Rounded Rectangle 30"/>
          <p:cNvSpPr/>
          <p:nvPr/>
        </p:nvSpPr>
        <p:spPr>
          <a:xfrm>
            <a:off x="9272016" y="3959352"/>
            <a:ext cx="1261872" cy="237744"/>
          </a:xfrm>
          <a:prstGeom prst="roundRect">
            <a:avLst>
              <a:gd name="adj" fmla="val 8000"/>
            </a:avLst>
          </a:prstGeom>
          <a:solidFill>
            <a:srgbClr val="FD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72016" y="3959352"/>
            <a:ext cx="1261872" cy="237744"/>
          </a:xfrm>
          <a:prstGeom prst="rect">
            <a:avLst/>
          </a:prstGeom>
          <a:noFill/>
        </p:spPr>
        <p:txBody>
          <a:bodyPr wrap="square" anchor="ctr" lIns="0" rIns="0" tIns="0" bIns="0"/>
          <a:lstStyle/>
          <a:p>
            <a:pPr algn="ctr">
              <a:spcBef>
                <a:spcPts val="0"/>
              </a:spcBef>
              <a:spcAft>
                <a:spcPts val="0"/>
              </a:spcAft>
            </a:pPr>
            <a:r>
              <a:rPr sz="1000" b="1" i="0">
                <a:solidFill>
                  <a:srgbClr val="C96B84"/>
                </a:solidFill>
                <a:latin typeface="Karla"/>
              </a:rPr>
              <a:t>Off the pack</a:t>
            </a:r>
          </a:p>
        </p:txBody>
      </p:sp>
      <p:sp>
        <p:nvSpPr>
          <p:cNvPr id="33" name="TextBox 32"/>
          <p:cNvSpPr txBox="1"/>
          <p:nvPr/>
        </p:nvSpPr>
        <p:spPr>
          <a:xfrm>
            <a:off x="1650492" y="4215384"/>
            <a:ext cx="8883396" cy="329184"/>
          </a:xfrm>
          <a:prstGeom prst="rect">
            <a:avLst/>
          </a:prstGeom>
          <a:noFill/>
        </p:spPr>
        <p:txBody>
          <a:bodyPr wrap="square" anchor="ctr" lIns="0" rIns="0" tIns="0" bIns="0"/>
          <a:lstStyle/>
          <a:p>
            <a:pPr algn="l">
              <a:spcBef>
                <a:spcPts val="0"/>
              </a:spcBef>
              <a:spcAft>
                <a:spcPts val="0"/>
              </a:spcAft>
            </a:pPr>
            <a:r>
              <a:rPr sz="1800" b="1" i="0">
                <a:solidFill>
                  <a:srgbClr val="1E2D44"/>
                </a:solidFill>
                <a:latin typeface="Karla"/>
              </a:rPr>
              <a:t>Derm Seal Variant Top Left</a:t>
            </a:r>
          </a:p>
        </p:txBody>
      </p:sp>
      <p:sp>
        <p:nvSpPr>
          <p:cNvPr id="34" name="TextBox 33"/>
          <p:cNvSpPr txBox="1"/>
          <p:nvPr/>
        </p:nvSpPr>
        <p:spPr>
          <a:xfrm>
            <a:off x="1650492" y="4622292"/>
            <a:ext cx="8883396" cy="219456"/>
          </a:xfrm>
          <a:prstGeom prst="rect">
            <a:avLst/>
          </a:prstGeom>
          <a:noFill/>
        </p:spPr>
        <p:txBody>
          <a:bodyPr wrap="square" anchor="ctr" lIns="0" rIns="0" tIns="0" bIns="0"/>
          <a:lstStyle/>
          <a:p>
            <a:pPr algn="l">
              <a:spcBef>
                <a:spcPts val="0"/>
              </a:spcBef>
              <a:spcAft>
                <a:spcPts val="0"/>
              </a:spcAft>
            </a:pPr>
            <a:r>
              <a:rPr sz="1200" b="0" i="0">
                <a:solidFill>
                  <a:srgbClr val="617086"/>
                </a:solidFill>
                <a:latin typeface="Karla"/>
              </a:rPr>
              <a:t>Both groups agree</a:t>
            </a:r>
          </a:p>
        </p:txBody>
      </p:sp>
      <p:sp>
        <p:nvSpPr>
          <p:cNvPr id="35" name="TextBox 34"/>
          <p:cNvSpPr txBox="1"/>
          <p:nvPr/>
        </p:nvSpPr>
        <p:spPr>
          <a:xfrm>
            <a:off x="10607040" y="3831336"/>
            <a:ext cx="1097280" cy="1156716"/>
          </a:xfrm>
          <a:prstGeom prst="rect">
            <a:avLst/>
          </a:prstGeom>
          <a:noFill/>
        </p:spPr>
        <p:txBody>
          <a:bodyPr wrap="square" anchor="ctr" lIns="0" rIns="0" tIns="0" bIns="0"/>
          <a:lstStyle/>
          <a:p>
            <a:pPr algn="r">
              <a:spcBef>
                <a:spcPts val="0"/>
              </a:spcBef>
              <a:spcAft>
                <a:spcPts val="0"/>
              </a:spcAft>
            </a:pPr>
            <a:r>
              <a:rPr sz="2200" b="1" i="0">
                <a:solidFill>
                  <a:srgbClr val="008935"/>
                </a:solidFill>
                <a:latin typeface="Karla"/>
              </a:rPr>
              <a:t>+18</a:t>
            </a:r>
          </a:p>
        </p:txBody>
      </p:sp>
      <p:sp>
        <p:nvSpPr>
          <p:cNvPr id="36" name="Rounded Rectangle 35"/>
          <p:cNvSpPr/>
          <p:nvPr/>
        </p:nvSpPr>
        <p:spPr>
          <a:xfrm>
            <a:off x="384048" y="5079492"/>
            <a:ext cx="11430000" cy="1156716"/>
          </a:xfrm>
          <a:prstGeom prst="roundRect">
            <a:avLst>
              <a:gd name="adj" fmla="val 10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12064" y="5189220"/>
            <a:ext cx="937260" cy="9372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E1.png"/>
          <p:cNvPicPr>
            <a:picLocks noChangeAspect="1"/>
          </p:cNvPicPr>
          <p:nvPr/>
        </p:nvPicPr>
        <p:blipFill>
          <a:blip r:embed="rId5"/>
          <a:stretch>
            <a:fillRect/>
          </a:stretch>
        </p:blipFill>
        <p:spPr>
          <a:xfrm>
            <a:off x="585216" y="5262372"/>
            <a:ext cx="790956" cy="790956"/>
          </a:xfrm>
          <a:prstGeom prst="rect">
            <a:avLst/>
          </a:prstGeom>
        </p:spPr>
      </p:pic>
      <p:sp>
        <p:nvSpPr>
          <p:cNvPr id="39" name="TextBox 38"/>
          <p:cNvSpPr txBox="1"/>
          <p:nvPr/>
        </p:nvSpPr>
        <p:spPr>
          <a:xfrm>
            <a:off x="1650492" y="5207508"/>
            <a:ext cx="7466076" cy="219456"/>
          </a:xfrm>
          <a:prstGeom prst="rect">
            <a:avLst/>
          </a:prstGeom>
          <a:noFill/>
        </p:spPr>
        <p:txBody>
          <a:bodyPr wrap="square" anchor="ctr" lIns="0" rIns="0" tIns="0" bIns="0"/>
          <a:lstStyle/>
          <a:p>
            <a:pPr algn="l">
              <a:spcBef>
                <a:spcPts val="0"/>
              </a:spcBef>
              <a:spcAft>
                <a:spcPts val="0"/>
              </a:spcAft>
            </a:pPr>
            <a:r>
              <a:rPr sz="1100" b="1" i="0">
                <a:solidFill>
                  <a:srgbClr val="04746E"/>
                </a:solidFill>
                <a:latin typeface="Karla"/>
              </a:rPr>
              <a:t>LOZ LOW CTR</a:t>
            </a:r>
          </a:p>
        </p:txBody>
      </p:sp>
      <p:sp>
        <p:nvSpPr>
          <p:cNvPr id="40" name="Rounded Rectangle 39"/>
          <p:cNvSpPr/>
          <p:nvPr/>
        </p:nvSpPr>
        <p:spPr>
          <a:xfrm>
            <a:off x="9272016" y="5207508"/>
            <a:ext cx="1261872" cy="237744"/>
          </a:xfrm>
          <a:prstGeom prst="roundRect">
            <a:avLst>
              <a:gd name="adj" fmla="val 8000"/>
            </a:avLst>
          </a:prstGeom>
          <a:solidFill>
            <a:srgbClr val="FD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72016" y="5207508"/>
            <a:ext cx="1261872" cy="237744"/>
          </a:xfrm>
          <a:prstGeom prst="rect">
            <a:avLst/>
          </a:prstGeom>
          <a:noFill/>
        </p:spPr>
        <p:txBody>
          <a:bodyPr wrap="square" anchor="ctr" lIns="0" rIns="0" tIns="0" bIns="0"/>
          <a:lstStyle/>
          <a:p>
            <a:pPr algn="ctr">
              <a:spcBef>
                <a:spcPts val="0"/>
              </a:spcBef>
              <a:spcAft>
                <a:spcPts val="0"/>
              </a:spcAft>
            </a:pPr>
            <a:r>
              <a:rPr sz="1000" b="1" i="0">
                <a:solidFill>
                  <a:srgbClr val="C96B84"/>
                </a:solidFill>
                <a:latin typeface="Karla"/>
              </a:rPr>
              <a:t>Off the pack</a:t>
            </a:r>
          </a:p>
        </p:txBody>
      </p:sp>
      <p:sp>
        <p:nvSpPr>
          <p:cNvPr id="42" name="TextBox 41"/>
          <p:cNvSpPr txBox="1"/>
          <p:nvPr/>
        </p:nvSpPr>
        <p:spPr>
          <a:xfrm>
            <a:off x="1650492" y="5463540"/>
            <a:ext cx="8883396" cy="329184"/>
          </a:xfrm>
          <a:prstGeom prst="rect">
            <a:avLst/>
          </a:prstGeom>
          <a:noFill/>
        </p:spPr>
        <p:txBody>
          <a:bodyPr wrap="square" anchor="ctr" lIns="0" rIns="0" tIns="0" bIns="0"/>
          <a:lstStyle/>
          <a:p>
            <a:pPr algn="l">
              <a:spcBef>
                <a:spcPts val="0"/>
              </a:spcBef>
              <a:spcAft>
                <a:spcPts val="0"/>
              </a:spcAft>
            </a:pPr>
            <a:r>
              <a:rPr sz="1800" b="1" i="0">
                <a:solidFill>
                  <a:srgbClr val="1E2D44"/>
                </a:solidFill>
                <a:latin typeface="Karla"/>
              </a:rPr>
              <a:t>Loz Gold Fill Low Ctr</a:t>
            </a:r>
          </a:p>
        </p:txBody>
      </p:sp>
      <p:sp>
        <p:nvSpPr>
          <p:cNvPr id="43" name="Rounded Rectangle 42"/>
          <p:cNvSpPr/>
          <p:nvPr/>
        </p:nvSpPr>
        <p:spPr>
          <a:xfrm>
            <a:off x="1650492" y="5815584"/>
            <a:ext cx="4405122" cy="2926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741932" y="5815584"/>
            <a:ext cx="4258818" cy="292608"/>
          </a:xfrm>
          <a:prstGeom prst="rect">
            <a:avLst/>
          </a:prstGeom>
          <a:noFill/>
        </p:spPr>
        <p:txBody>
          <a:bodyPr wrap="square" anchor="ctr" lIns="0" rIns="0" tIns="0" bIns="0"/>
          <a:lstStyle/>
          <a:p>
            <a:pPr algn="l">
              <a:spcBef>
                <a:spcPts val="0"/>
              </a:spcBef>
              <a:spcAft>
                <a:spcPts val="0"/>
              </a:spcAft>
            </a:pPr>
            <a:r>
              <a:rPr sz="1100" b="0" i="0">
                <a:solidFill>
                  <a:srgbClr val="1E2D44"/>
                </a:solidFill>
                <a:latin typeface="Karla"/>
              </a:rPr>
              <a:t>Non-users   ·   Loz Gold Outline Low Ctr   +13</a:t>
            </a:r>
          </a:p>
        </p:txBody>
      </p:sp>
      <p:sp>
        <p:nvSpPr>
          <p:cNvPr id="45" name="Rounded Rectangle 44"/>
          <p:cNvSpPr/>
          <p:nvPr/>
        </p:nvSpPr>
        <p:spPr>
          <a:xfrm>
            <a:off x="6128766" y="5815584"/>
            <a:ext cx="4405122" cy="2926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20206" y="5815584"/>
            <a:ext cx="4258818" cy="292608"/>
          </a:xfrm>
          <a:prstGeom prst="rect">
            <a:avLst/>
          </a:prstGeom>
          <a:noFill/>
        </p:spPr>
        <p:txBody>
          <a:bodyPr wrap="square" anchor="ctr" lIns="0" rIns="0" tIns="0" bIns="0"/>
          <a:lstStyle/>
          <a:p>
            <a:pPr algn="l">
              <a:spcBef>
                <a:spcPts val="0"/>
              </a:spcBef>
              <a:spcAft>
                <a:spcPts val="0"/>
              </a:spcAft>
            </a:pPr>
            <a:r>
              <a:rPr sz="1100" b="0" i="0">
                <a:solidFill>
                  <a:srgbClr val="1E2D44"/>
                </a:solidFill>
                <a:latin typeface="Karla"/>
              </a:rPr>
              <a:t>Dove users   ·   Loz Gold Fill Low Ctr   +22</a:t>
            </a:r>
          </a:p>
        </p:txBody>
      </p:sp>
      <p:sp>
        <p:nvSpPr>
          <p:cNvPr id="47" name="TextBox 46"/>
          <p:cNvSpPr txBox="1"/>
          <p:nvPr/>
        </p:nvSpPr>
        <p:spPr>
          <a:xfrm>
            <a:off x="10607040" y="5079492"/>
            <a:ext cx="1097280" cy="1156716"/>
          </a:xfrm>
          <a:prstGeom prst="rect">
            <a:avLst/>
          </a:prstGeom>
          <a:noFill/>
        </p:spPr>
        <p:txBody>
          <a:bodyPr wrap="square" anchor="ctr" lIns="0" rIns="0" tIns="0" bIns="0"/>
          <a:lstStyle/>
          <a:p>
            <a:pPr algn="r">
              <a:spcBef>
                <a:spcPts val="0"/>
              </a:spcBef>
              <a:spcAft>
                <a:spcPts val="0"/>
              </a:spcAft>
            </a:pPr>
            <a:r>
              <a:rPr sz="2200" b="1" i="0">
                <a:solidFill>
                  <a:srgbClr val="008935"/>
                </a:solidFill>
                <a:latin typeface="Karla"/>
              </a:rPr>
              <a:t>+17</a:t>
            </a:r>
          </a:p>
        </p:txBody>
      </p:sp>
      <p:sp>
        <p:nvSpPr>
          <p:cNvPr id="48" name="Rectangle 47"/>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50" name="TextBox 49"/>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CATEGORY WINNERS   ·   3 of 4</a:t>
            </a:r>
          </a:p>
        </p:txBody>
      </p:sp>
      <p:sp>
        <p:nvSpPr>
          <p:cNvPr id="3" name="TextBox 2"/>
          <p:cNvSpPr txBox="1"/>
          <p:nvPr/>
        </p:nvSpPr>
        <p:spPr>
          <a:xfrm>
            <a:off x="438912" y="475488"/>
            <a:ext cx="11247120" cy="365760"/>
          </a:xfrm>
          <a:prstGeom prst="rect">
            <a:avLst/>
          </a:prstGeom>
          <a:noFill/>
        </p:spPr>
        <p:txBody>
          <a:bodyPr wrap="square" anchor="t"/>
          <a:lstStyle/>
          <a:p>
            <a:pPr algn="l">
              <a:spcAft>
                <a:spcPts val="400"/>
              </a:spcAft>
            </a:pPr>
            <a:r>
              <a:rPr sz="2600" b="1" i="0">
                <a:solidFill>
                  <a:srgbClr val="1E2D44"/>
                </a:solidFill>
                <a:latin typeface="Karla"/>
              </a:rPr>
              <a:t>The winning element in each category</a:t>
            </a:r>
          </a:p>
        </p:txBody>
      </p:sp>
      <p:sp>
        <p:nvSpPr>
          <p:cNvPr id="4" name="TextBox 3"/>
          <p:cNvSpPr txBox="1"/>
          <p:nvPr/>
        </p:nvSpPr>
        <p:spPr>
          <a:xfrm>
            <a:off x="438912" y="896112"/>
            <a:ext cx="11247120" cy="292608"/>
          </a:xfrm>
          <a:prstGeom prst="rect">
            <a:avLst/>
          </a:prstGeom>
          <a:noFill/>
        </p:spPr>
        <p:txBody>
          <a:bodyPr wrap="square" anchor="t"/>
          <a:lstStyle/>
          <a:p>
            <a:pPr algn="l">
              <a:spcAft>
                <a:spcPts val="400"/>
              </a:spcAft>
            </a:pPr>
            <a:r>
              <a:rPr sz="1400" b="0" i="0">
                <a:solidFill>
                  <a:srgbClr val="617086"/>
                </a:solidFill>
                <a:latin typeface="Karla"/>
              </a:rPr>
              <a:t>Ranked by the total sample. The notes are the winners for “Do you currently use dove”.</a:t>
            </a:r>
          </a:p>
        </p:txBody>
      </p:sp>
      <p:sp>
        <p:nvSpPr>
          <p:cNvPr id="5" name="Rounded Rectangle 4"/>
          <p:cNvSpPr/>
          <p:nvPr/>
        </p:nvSpPr>
        <p:spPr>
          <a:xfrm>
            <a:off x="384048" y="1335024"/>
            <a:ext cx="11430000" cy="1156716"/>
          </a:xfrm>
          <a:prstGeom prst="roundRect">
            <a:avLst>
              <a:gd name="adj" fmla="val 10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12064" y="1444752"/>
            <a:ext cx="937260" cy="9372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1.png"/>
          <p:cNvPicPr>
            <a:picLocks noChangeAspect="1"/>
          </p:cNvPicPr>
          <p:nvPr/>
        </p:nvPicPr>
        <p:blipFill>
          <a:blip r:embed="rId2"/>
          <a:stretch>
            <a:fillRect/>
          </a:stretch>
        </p:blipFill>
        <p:spPr>
          <a:xfrm>
            <a:off x="585216" y="1517904"/>
            <a:ext cx="790956" cy="790956"/>
          </a:xfrm>
          <a:prstGeom prst="rect">
            <a:avLst/>
          </a:prstGeom>
        </p:spPr>
      </p:pic>
      <p:sp>
        <p:nvSpPr>
          <p:cNvPr id="8" name="TextBox 7"/>
          <p:cNvSpPr txBox="1"/>
          <p:nvPr/>
        </p:nvSpPr>
        <p:spPr>
          <a:xfrm>
            <a:off x="1650492" y="1463040"/>
            <a:ext cx="8883396" cy="219456"/>
          </a:xfrm>
          <a:prstGeom prst="rect">
            <a:avLst/>
          </a:prstGeom>
          <a:noFill/>
        </p:spPr>
        <p:txBody>
          <a:bodyPr wrap="square" anchor="ctr" lIns="0" rIns="0" tIns="0" bIns="0"/>
          <a:lstStyle/>
          <a:p>
            <a:pPr algn="l">
              <a:spcBef>
                <a:spcPts val="0"/>
              </a:spcBef>
              <a:spcAft>
                <a:spcPts val="0"/>
              </a:spcAft>
            </a:pPr>
            <a:r>
              <a:rPr sz="1100" b="1" i="0">
                <a:solidFill>
                  <a:srgbClr val="04746E"/>
                </a:solidFill>
                <a:latin typeface="Karla"/>
              </a:rPr>
              <a:t>WORDMARK</a:t>
            </a:r>
          </a:p>
        </p:txBody>
      </p:sp>
      <p:sp>
        <p:nvSpPr>
          <p:cNvPr id="9" name="TextBox 8"/>
          <p:cNvSpPr txBox="1"/>
          <p:nvPr/>
        </p:nvSpPr>
        <p:spPr>
          <a:xfrm>
            <a:off x="1650492" y="1719072"/>
            <a:ext cx="8883396" cy="329184"/>
          </a:xfrm>
          <a:prstGeom prst="rect">
            <a:avLst/>
          </a:prstGeom>
          <a:noFill/>
        </p:spPr>
        <p:txBody>
          <a:bodyPr wrap="square" anchor="ctr" lIns="0" rIns="0" tIns="0" bIns="0"/>
          <a:lstStyle/>
          <a:p>
            <a:pPr algn="l">
              <a:spcBef>
                <a:spcPts val="0"/>
              </a:spcBef>
              <a:spcAft>
                <a:spcPts val="0"/>
              </a:spcAft>
            </a:pPr>
            <a:r>
              <a:rPr sz="1800" b="1" i="0">
                <a:solidFill>
                  <a:srgbClr val="1E2D44"/>
                </a:solidFill>
                <a:latin typeface="Karla"/>
              </a:rPr>
              <a:t>Wordmark 100%</a:t>
            </a:r>
          </a:p>
        </p:txBody>
      </p:sp>
      <p:sp>
        <p:nvSpPr>
          <p:cNvPr id="10" name="TextBox 9"/>
          <p:cNvSpPr txBox="1"/>
          <p:nvPr/>
        </p:nvSpPr>
        <p:spPr>
          <a:xfrm>
            <a:off x="1650492" y="2125980"/>
            <a:ext cx="8883396" cy="219456"/>
          </a:xfrm>
          <a:prstGeom prst="rect">
            <a:avLst/>
          </a:prstGeom>
          <a:noFill/>
        </p:spPr>
        <p:txBody>
          <a:bodyPr wrap="square" anchor="ctr" lIns="0" rIns="0" tIns="0" bIns="0"/>
          <a:lstStyle/>
          <a:p>
            <a:pPr algn="l">
              <a:spcBef>
                <a:spcPts val="0"/>
              </a:spcBef>
              <a:spcAft>
                <a:spcPts val="0"/>
              </a:spcAft>
            </a:pPr>
            <a:r>
              <a:rPr sz="1200" b="0" i="0">
                <a:solidFill>
                  <a:srgbClr val="617086"/>
                </a:solidFill>
                <a:latin typeface="Karla"/>
              </a:rPr>
              <a:t>Both groups agree</a:t>
            </a:r>
          </a:p>
        </p:txBody>
      </p:sp>
      <p:sp>
        <p:nvSpPr>
          <p:cNvPr id="11" name="TextBox 10"/>
          <p:cNvSpPr txBox="1"/>
          <p:nvPr/>
        </p:nvSpPr>
        <p:spPr>
          <a:xfrm>
            <a:off x="10607040" y="1335024"/>
            <a:ext cx="1097280" cy="1156716"/>
          </a:xfrm>
          <a:prstGeom prst="rect">
            <a:avLst/>
          </a:prstGeom>
          <a:noFill/>
        </p:spPr>
        <p:txBody>
          <a:bodyPr wrap="square" anchor="ctr" lIns="0" rIns="0" tIns="0" bIns="0"/>
          <a:lstStyle/>
          <a:p>
            <a:pPr algn="r">
              <a:spcBef>
                <a:spcPts val="0"/>
              </a:spcBef>
              <a:spcAft>
                <a:spcPts val="0"/>
              </a:spcAft>
            </a:pPr>
            <a:r>
              <a:rPr sz="2200" b="1" i="0">
                <a:solidFill>
                  <a:srgbClr val="008935"/>
                </a:solidFill>
                <a:latin typeface="Karla"/>
              </a:rPr>
              <a:t>+14</a:t>
            </a:r>
          </a:p>
        </p:txBody>
      </p:sp>
      <p:sp>
        <p:nvSpPr>
          <p:cNvPr id="12" name="Rounded Rectangle 11"/>
          <p:cNvSpPr/>
          <p:nvPr/>
        </p:nvSpPr>
        <p:spPr>
          <a:xfrm>
            <a:off x="384048" y="2583180"/>
            <a:ext cx="11430000" cy="1156716"/>
          </a:xfrm>
          <a:prstGeom prst="roundRect">
            <a:avLst>
              <a:gd name="adj" fmla="val 10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2064" y="2692908"/>
            <a:ext cx="937260" cy="9372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2.png"/>
          <p:cNvPicPr>
            <a:picLocks noChangeAspect="1"/>
          </p:cNvPicPr>
          <p:nvPr/>
        </p:nvPicPr>
        <p:blipFill>
          <a:blip r:embed="rId3"/>
          <a:stretch>
            <a:fillRect/>
          </a:stretch>
        </p:blipFill>
        <p:spPr>
          <a:xfrm>
            <a:off x="585216" y="2766060"/>
            <a:ext cx="790956" cy="790956"/>
          </a:xfrm>
          <a:prstGeom prst="rect">
            <a:avLst/>
          </a:prstGeom>
        </p:spPr>
      </p:pic>
      <p:sp>
        <p:nvSpPr>
          <p:cNvPr id="15" name="TextBox 14"/>
          <p:cNvSpPr txBox="1"/>
          <p:nvPr/>
        </p:nvSpPr>
        <p:spPr>
          <a:xfrm>
            <a:off x="1650492" y="2711196"/>
            <a:ext cx="8883396" cy="219456"/>
          </a:xfrm>
          <a:prstGeom prst="rect">
            <a:avLst/>
          </a:prstGeom>
          <a:noFill/>
        </p:spPr>
        <p:txBody>
          <a:bodyPr wrap="square" anchor="ctr" lIns="0" rIns="0" tIns="0" bIns="0"/>
          <a:lstStyle/>
          <a:p>
            <a:pPr algn="l">
              <a:spcBef>
                <a:spcPts val="0"/>
              </a:spcBef>
              <a:spcAft>
                <a:spcPts val="0"/>
              </a:spcAft>
            </a:pPr>
            <a:r>
              <a:rPr sz="1100" b="1" i="0">
                <a:solidFill>
                  <a:srgbClr val="04746E"/>
                </a:solidFill>
                <a:latin typeface="Karla"/>
              </a:rPr>
              <a:t>DEBOSS</a:t>
            </a:r>
          </a:p>
        </p:txBody>
      </p:sp>
      <p:sp>
        <p:nvSpPr>
          <p:cNvPr id="16" name="TextBox 15"/>
          <p:cNvSpPr txBox="1"/>
          <p:nvPr/>
        </p:nvSpPr>
        <p:spPr>
          <a:xfrm>
            <a:off x="1650492" y="2967228"/>
            <a:ext cx="8883396" cy="329184"/>
          </a:xfrm>
          <a:prstGeom prst="rect">
            <a:avLst/>
          </a:prstGeom>
          <a:noFill/>
        </p:spPr>
        <p:txBody>
          <a:bodyPr wrap="square" anchor="ctr" lIns="0" rIns="0" tIns="0" bIns="0"/>
          <a:lstStyle/>
          <a:p>
            <a:pPr algn="l">
              <a:spcBef>
                <a:spcPts val="0"/>
              </a:spcBef>
              <a:spcAft>
                <a:spcPts val="0"/>
              </a:spcAft>
            </a:pPr>
            <a:r>
              <a:rPr sz="1800" b="1" i="0">
                <a:solidFill>
                  <a:srgbClr val="1E2D44"/>
                </a:solidFill>
                <a:latin typeface="Karla"/>
              </a:rPr>
              <a:t>Deboss Blue</a:t>
            </a:r>
          </a:p>
        </p:txBody>
      </p:sp>
      <p:sp>
        <p:nvSpPr>
          <p:cNvPr id="17" name="TextBox 16"/>
          <p:cNvSpPr txBox="1"/>
          <p:nvPr/>
        </p:nvSpPr>
        <p:spPr>
          <a:xfrm>
            <a:off x="1650492" y="3374136"/>
            <a:ext cx="8883396" cy="219456"/>
          </a:xfrm>
          <a:prstGeom prst="rect">
            <a:avLst/>
          </a:prstGeom>
          <a:noFill/>
        </p:spPr>
        <p:txBody>
          <a:bodyPr wrap="square" anchor="ctr" lIns="0" rIns="0" tIns="0" bIns="0"/>
          <a:lstStyle/>
          <a:p>
            <a:pPr algn="l">
              <a:spcBef>
                <a:spcPts val="0"/>
              </a:spcBef>
              <a:spcAft>
                <a:spcPts val="0"/>
              </a:spcAft>
            </a:pPr>
            <a:r>
              <a:rPr sz="1200" b="0" i="0">
                <a:solidFill>
                  <a:srgbClr val="617086"/>
                </a:solidFill>
                <a:latin typeface="Karla"/>
              </a:rPr>
              <a:t>Both groups agree</a:t>
            </a:r>
          </a:p>
        </p:txBody>
      </p:sp>
      <p:sp>
        <p:nvSpPr>
          <p:cNvPr id="18" name="TextBox 17"/>
          <p:cNvSpPr txBox="1"/>
          <p:nvPr/>
        </p:nvSpPr>
        <p:spPr>
          <a:xfrm>
            <a:off x="10607040" y="2583180"/>
            <a:ext cx="1097280" cy="1156716"/>
          </a:xfrm>
          <a:prstGeom prst="rect">
            <a:avLst/>
          </a:prstGeom>
          <a:noFill/>
        </p:spPr>
        <p:txBody>
          <a:bodyPr wrap="square" anchor="ctr" lIns="0" rIns="0" tIns="0" bIns="0"/>
          <a:lstStyle/>
          <a:p>
            <a:pPr algn="r">
              <a:spcBef>
                <a:spcPts val="0"/>
              </a:spcBef>
              <a:spcAft>
                <a:spcPts val="0"/>
              </a:spcAft>
            </a:pPr>
            <a:r>
              <a:rPr sz="2200" b="1" i="0">
                <a:solidFill>
                  <a:srgbClr val="008935"/>
                </a:solidFill>
                <a:latin typeface="Karla"/>
              </a:rPr>
              <a:t>+7</a:t>
            </a:r>
          </a:p>
        </p:txBody>
      </p:sp>
      <p:sp>
        <p:nvSpPr>
          <p:cNvPr id="19" name="Rounded Rectangle 18"/>
          <p:cNvSpPr/>
          <p:nvPr/>
        </p:nvSpPr>
        <p:spPr>
          <a:xfrm>
            <a:off x="384048" y="3831336"/>
            <a:ext cx="11430000" cy="1156716"/>
          </a:xfrm>
          <a:prstGeom prst="roundRect">
            <a:avLst>
              <a:gd name="adj" fmla="val 10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3941064"/>
            <a:ext cx="937260" cy="9372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1.png"/>
          <p:cNvPicPr>
            <a:picLocks noChangeAspect="1"/>
          </p:cNvPicPr>
          <p:nvPr/>
        </p:nvPicPr>
        <p:blipFill>
          <a:blip r:embed="rId4"/>
          <a:stretch>
            <a:fillRect/>
          </a:stretch>
        </p:blipFill>
        <p:spPr>
          <a:xfrm>
            <a:off x="585216" y="4014216"/>
            <a:ext cx="790956" cy="790956"/>
          </a:xfrm>
          <a:prstGeom prst="rect">
            <a:avLst/>
          </a:prstGeom>
        </p:spPr>
      </p:pic>
      <p:sp>
        <p:nvSpPr>
          <p:cNvPr id="22" name="TextBox 21"/>
          <p:cNvSpPr txBox="1"/>
          <p:nvPr/>
        </p:nvSpPr>
        <p:spPr>
          <a:xfrm>
            <a:off x="1650492" y="3959352"/>
            <a:ext cx="8883396" cy="219456"/>
          </a:xfrm>
          <a:prstGeom prst="rect">
            <a:avLst/>
          </a:prstGeom>
          <a:noFill/>
        </p:spPr>
        <p:txBody>
          <a:bodyPr wrap="square" anchor="ctr" lIns="0" rIns="0" tIns="0" bIns="0"/>
          <a:lstStyle/>
          <a:p>
            <a:pPr algn="l">
              <a:spcBef>
                <a:spcPts val="0"/>
              </a:spcBef>
              <a:spcAft>
                <a:spcPts val="0"/>
              </a:spcAft>
            </a:pPr>
            <a:r>
              <a:rPr sz="1100" b="1" i="0">
                <a:solidFill>
                  <a:srgbClr val="04746E"/>
                </a:solidFill>
                <a:latin typeface="Karla"/>
              </a:rPr>
              <a:t>BIRD TREATMENT</a:t>
            </a:r>
          </a:p>
        </p:txBody>
      </p:sp>
      <p:sp>
        <p:nvSpPr>
          <p:cNvPr id="23" name="TextBox 22"/>
          <p:cNvSpPr txBox="1"/>
          <p:nvPr/>
        </p:nvSpPr>
        <p:spPr>
          <a:xfrm>
            <a:off x="1650492" y="4215384"/>
            <a:ext cx="8883396" cy="329184"/>
          </a:xfrm>
          <a:prstGeom prst="rect">
            <a:avLst/>
          </a:prstGeom>
          <a:noFill/>
        </p:spPr>
        <p:txBody>
          <a:bodyPr wrap="square" anchor="ctr" lIns="0" rIns="0" tIns="0" bIns="0"/>
          <a:lstStyle/>
          <a:p>
            <a:pPr algn="l">
              <a:spcBef>
                <a:spcPts val="0"/>
              </a:spcBef>
              <a:spcAft>
                <a:spcPts val="0"/>
              </a:spcAft>
            </a:pPr>
            <a:r>
              <a:rPr sz="1800" b="1" i="0">
                <a:solidFill>
                  <a:srgbClr val="1E2D44"/>
                </a:solidFill>
                <a:latin typeface="Karla"/>
              </a:rPr>
              <a:t>Bird Gold Cold Foil</a:t>
            </a:r>
          </a:p>
        </p:txBody>
      </p:sp>
      <p:sp>
        <p:nvSpPr>
          <p:cNvPr id="24" name="Rounded Rectangle 23"/>
          <p:cNvSpPr/>
          <p:nvPr/>
        </p:nvSpPr>
        <p:spPr>
          <a:xfrm>
            <a:off x="1650492" y="4567428"/>
            <a:ext cx="4405122" cy="2926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741932" y="4567428"/>
            <a:ext cx="4258818" cy="292608"/>
          </a:xfrm>
          <a:prstGeom prst="rect">
            <a:avLst/>
          </a:prstGeom>
          <a:noFill/>
        </p:spPr>
        <p:txBody>
          <a:bodyPr wrap="square" anchor="ctr" lIns="0" rIns="0" tIns="0" bIns="0"/>
          <a:lstStyle/>
          <a:p>
            <a:pPr algn="l">
              <a:spcBef>
                <a:spcPts val="0"/>
              </a:spcBef>
              <a:spcAft>
                <a:spcPts val="0"/>
              </a:spcAft>
            </a:pPr>
            <a:r>
              <a:rPr sz="1100" b="0" i="0">
                <a:solidFill>
                  <a:srgbClr val="1E2D44"/>
                </a:solidFill>
                <a:latin typeface="Karla"/>
              </a:rPr>
              <a:t>Non-users   ·   Bird Variant Gravure   +7</a:t>
            </a:r>
          </a:p>
        </p:txBody>
      </p:sp>
      <p:sp>
        <p:nvSpPr>
          <p:cNvPr id="26" name="Rounded Rectangle 25"/>
          <p:cNvSpPr/>
          <p:nvPr/>
        </p:nvSpPr>
        <p:spPr>
          <a:xfrm>
            <a:off x="6128766" y="4567428"/>
            <a:ext cx="4405122" cy="2926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0206" y="4567428"/>
            <a:ext cx="4258818" cy="292608"/>
          </a:xfrm>
          <a:prstGeom prst="rect">
            <a:avLst/>
          </a:prstGeom>
          <a:noFill/>
        </p:spPr>
        <p:txBody>
          <a:bodyPr wrap="square" anchor="ctr" lIns="0" rIns="0" tIns="0" bIns="0"/>
          <a:lstStyle/>
          <a:p>
            <a:pPr algn="l">
              <a:spcBef>
                <a:spcPts val="0"/>
              </a:spcBef>
              <a:spcAft>
                <a:spcPts val="0"/>
              </a:spcAft>
            </a:pPr>
            <a:r>
              <a:rPr sz="1100" b="0" i="0">
                <a:solidFill>
                  <a:srgbClr val="1E2D44"/>
                </a:solidFill>
                <a:latin typeface="Karla"/>
              </a:rPr>
              <a:t>Dove users   ·   Bird Gold Cold Foil   +9</a:t>
            </a:r>
          </a:p>
        </p:txBody>
      </p:sp>
      <p:sp>
        <p:nvSpPr>
          <p:cNvPr id="28" name="TextBox 27"/>
          <p:cNvSpPr txBox="1"/>
          <p:nvPr/>
        </p:nvSpPr>
        <p:spPr>
          <a:xfrm>
            <a:off x="10607040" y="3831336"/>
            <a:ext cx="1097280" cy="1156716"/>
          </a:xfrm>
          <a:prstGeom prst="rect">
            <a:avLst/>
          </a:prstGeom>
          <a:noFill/>
        </p:spPr>
        <p:txBody>
          <a:bodyPr wrap="square" anchor="ctr" lIns="0" rIns="0" tIns="0" bIns="0"/>
          <a:lstStyle/>
          <a:p>
            <a:pPr algn="r">
              <a:spcBef>
                <a:spcPts val="0"/>
              </a:spcBef>
              <a:spcAft>
                <a:spcPts val="0"/>
              </a:spcAft>
            </a:pPr>
            <a:r>
              <a:rPr sz="2200" b="1" i="0">
                <a:solidFill>
                  <a:srgbClr val="008935"/>
                </a:solidFill>
                <a:latin typeface="Karla"/>
              </a:rPr>
              <a:t>+7</a:t>
            </a:r>
          </a:p>
        </p:txBody>
      </p:sp>
      <p:sp>
        <p:nvSpPr>
          <p:cNvPr id="29" name="Rounded Rectangle 28"/>
          <p:cNvSpPr/>
          <p:nvPr/>
        </p:nvSpPr>
        <p:spPr>
          <a:xfrm>
            <a:off x="384048" y="5079492"/>
            <a:ext cx="11430000" cy="1156716"/>
          </a:xfrm>
          <a:prstGeom prst="roundRect">
            <a:avLst>
              <a:gd name="adj" fmla="val 10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12064" y="5189220"/>
            <a:ext cx="937260" cy="9372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J1.png"/>
          <p:cNvPicPr>
            <a:picLocks noChangeAspect="1"/>
          </p:cNvPicPr>
          <p:nvPr/>
        </p:nvPicPr>
        <p:blipFill>
          <a:blip r:embed="rId5"/>
          <a:stretch>
            <a:fillRect/>
          </a:stretch>
        </p:blipFill>
        <p:spPr>
          <a:xfrm>
            <a:off x="585216" y="5262372"/>
            <a:ext cx="790956" cy="790956"/>
          </a:xfrm>
          <a:prstGeom prst="rect">
            <a:avLst/>
          </a:prstGeom>
        </p:spPr>
      </p:pic>
      <p:sp>
        <p:nvSpPr>
          <p:cNvPr id="32" name="TextBox 31"/>
          <p:cNvSpPr txBox="1"/>
          <p:nvPr/>
        </p:nvSpPr>
        <p:spPr>
          <a:xfrm>
            <a:off x="1650492" y="5207508"/>
            <a:ext cx="7466076" cy="219456"/>
          </a:xfrm>
          <a:prstGeom prst="rect">
            <a:avLst/>
          </a:prstGeom>
          <a:noFill/>
        </p:spPr>
        <p:txBody>
          <a:bodyPr wrap="square" anchor="ctr" lIns="0" rIns="0" tIns="0" bIns="0"/>
          <a:lstStyle/>
          <a:p>
            <a:pPr algn="l">
              <a:spcBef>
                <a:spcPts val="0"/>
              </a:spcBef>
              <a:spcAft>
                <a:spcPts val="0"/>
              </a:spcAft>
            </a:pPr>
            <a:r>
              <a:rPr sz="1100" b="1" i="0">
                <a:solidFill>
                  <a:srgbClr val="04746E"/>
                </a:solidFill>
                <a:latin typeface="Karla"/>
              </a:rPr>
              <a:t>ADVANCED CARE</a:t>
            </a:r>
          </a:p>
        </p:txBody>
      </p:sp>
      <p:sp>
        <p:nvSpPr>
          <p:cNvPr id="33" name="Rounded Rectangle 32"/>
          <p:cNvSpPr/>
          <p:nvPr/>
        </p:nvSpPr>
        <p:spPr>
          <a:xfrm>
            <a:off x="9272016" y="5207508"/>
            <a:ext cx="1261872" cy="237744"/>
          </a:xfrm>
          <a:prstGeom prst="roundRect">
            <a:avLst>
              <a:gd name="adj" fmla="val 8000"/>
            </a:avLst>
          </a:prstGeom>
          <a:solidFill>
            <a:srgbClr val="FD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72016" y="5207508"/>
            <a:ext cx="1261872" cy="237744"/>
          </a:xfrm>
          <a:prstGeom prst="rect">
            <a:avLst/>
          </a:prstGeom>
          <a:noFill/>
        </p:spPr>
        <p:txBody>
          <a:bodyPr wrap="square" anchor="ctr" lIns="0" rIns="0" tIns="0" bIns="0"/>
          <a:lstStyle/>
          <a:p>
            <a:pPr algn="ctr">
              <a:spcBef>
                <a:spcPts val="0"/>
              </a:spcBef>
              <a:spcAft>
                <a:spcPts val="0"/>
              </a:spcAft>
            </a:pPr>
            <a:r>
              <a:rPr sz="1000" b="1" i="0">
                <a:solidFill>
                  <a:srgbClr val="C96B84"/>
                </a:solidFill>
                <a:latin typeface="Karla"/>
              </a:rPr>
              <a:t>Off the pack</a:t>
            </a:r>
          </a:p>
        </p:txBody>
      </p:sp>
      <p:sp>
        <p:nvSpPr>
          <p:cNvPr id="35" name="TextBox 34"/>
          <p:cNvSpPr txBox="1"/>
          <p:nvPr/>
        </p:nvSpPr>
        <p:spPr>
          <a:xfrm>
            <a:off x="1650492" y="5463540"/>
            <a:ext cx="8883396" cy="329184"/>
          </a:xfrm>
          <a:prstGeom prst="rect">
            <a:avLst/>
          </a:prstGeom>
          <a:noFill/>
        </p:spPr>
        <p:txBody>
          <a:bodyPr wrap="square" anchor="ctr" lIns="0" rIns="0" tIns="0" bIns="0"/>
          <a:lstStyle/>
          <a:p>
            <a:pPr algn="l">
              <a:spcBef>
                <a:spcPts val="0"/>
              </a:spcBef>
              <a:spcAft>
                <a:spcPts val="0"/>
              </a:spcAft>
            </a:pPr>
            <a:r>
              <a:rPr sz="1800" b="1" i="0">
                <a:solidFill>
                  <a:srgbClr val="1E2D44"/>
                </a:solidFill>
                <a:latin typeface="Karla"/>
              </a:rPr>
              <a:t>Adv Care Caps No Wordmark</a:t>
            </a:r>
          </a:p>
        </p:txBody>
      </p:sp>
      <p:sp>
        <p:nvSpPr>
          <p:cNvPr id="36" name="Rounded Rectangle 35"/>
          <p:cNvSpPr/>
          <p:nvPr/>
        </p:nvSpPr>
        <p:spPr>
          <a:xfrm>
            <a:off x="1650492" y="5815584"/>
            <a:ext cx="4405122" cy="2926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741932" y="5815584"/>
            <a:ext cx="4258818" cy="292608"/>
          </a:xfrm>
          <a:prstGeom prst="rect">
            <a:avLst/>
          </a:prstGeom>
          <a:noFill/>
        </p:spPr>
        <p:txBody>
          <a:bodyPr wrap="square" anchor="ctr" lIns="0" rIns="0" tIns="0" bIns="0"/>
          <a:lstStyle/>
          <a:p>
            <a:pPr algn="l">
              <a:spcBef>
                <a:spcPts val="0"/>
              </a:spcBef>
              <a:spcAft>
                <a:spcPts val="0"/>
              </a:spcAft>
            </a:pPr>
            <a:r>
              <a:rPr sz="1100" b="0" i="0">
                <a:solidFill>
                  <a:srgbClr val="1E2D44"/>
                </a:solidFill>
                <a:latin typeface="Karla"/>
              </a:rPr>
              <a:t>Non-users   ·   Adv Care Lowercase No Wordmark   +5</a:t>
            </a:r>
          </a:p>
        </p:txBody>
      </p:sp>
      <p:sp>
        <p:nvSpPr>
          <p:cNvPr id="38" name="Rounded Rectangle 37"/>
          <p:cNvSpPr/>
          <p:nvPr/>
        </p:nvSpPr>
        <p:spPr>
          <a:xfrm>
            <a:off x="6128766" y="5815584"/>
            <a:ext cx="4405122" cy="2926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20206" y="5815584"/>
            <a:ext cx="4258818" cy="292608"/>
          </a:xfrm>
          <a:prstGeom prst="rect">
            <a:avLst/>
          </a:prstGeom>
          <a:noFill/>
        </p:spPr>
        <p:txBody>
          <a:bodyPr wrap="square" anchor="ctr" lIns="0" rIns="0" tIns="0" bIns="0"/>
          <a:lstStyle/>
          <a:p>
            <a:pPr algn="l">
              <a:spcBef>
                <a:spcPts val="0"/>
              </a:spcBef>
              <a:spcAft>
                <a:spcPts val="0"/>
              </a:spcAft>
            </a:pPr>
            <a:r>
              <a:rPr sz="1100" b="0" i="0">
                <a:solidFill>
                  <a:srgbClr val="1E2D44"/>
                </a:solidFill>
                <a:latin typeface="Karla"/>
              </a:rPr>
              <a:t>Dove users   ·   Adv Care Caps No Wordmark   +8</a:t>
            </a:r>
          </a:p>
        </p:txBody>
      </p:sp>
      <p:sp>
        <p:nvSpPr>
          <p:cNvPr id="40" name="TextBox 39"/>
          <p:cNvSpPr txBox="1"/>
          <p:nvPr/>
        </p:nvSpPr>
        <p:spPr>
          <a:xfrm>
            <a:off x="10607040" y="5079492"/>
            <a:ext cx="1097280" cy="1156716"/>
          </a:xfrm>
          <a:prstGeom prst="rect">
            <a:avLst/>
          </a:prstGeom>
          <a:noFill/>
        </p:spPr>
        <p:txBody>
          <a:bodyPr wrap="square" anchor="ctr" lIns="0" rIns="0" tIns="0" bIns="0"/>
          <a:lstStyle/>
          <a:p>
            <a:pPr algn="r">
              <a:spcBef>
                <a:spcPts val="0"/>
              </a:spcBef>
              <a:spcAft>
                <a:spcPts val="0"/>
              </a:spcAft>
            </a:pPr>
            <a:r>
              <a:rPr sz="2200" b="1" i="0">
                <a:solidFill>
                  <a:srgbClr val="008935"/>
                </a:solidFill>
                <a:latin typeface="Karla"/>
              </a:rPr>
              <a:t>+6</a:t>
            </a:r>
          </a:p>
        </p:txBody>
      </p:sp>
      <p:sp>
        <p:nvSpPr>
          <p:cNvPr id="41" name="Rectangle 4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43" name="TextBox 4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CATEGORY WINNERS   ·   4 of 4</a:t>
            </a:r>
          </a:p>
        </p:txBody>
      </p:sp>
      <p:sp>
        <p:nvSpPr>
          <p:cNvPr id="3" name="TextBox 2"/>
          <p:cNvSpPr txBox="1"/>
          <p:nvPr/>
        </p:nvSpPr>
        <p:spPr>
          <a:xfrm>
            <a:off x="438912" y="475488"/>
            <a:ext cx="11247120" cy="365760"/>
          </a:xfrm>
          <a:prstGeom prst="rect">
            <a:avLst/>
          </a:prstGeom>
          <a:noFill/>
        </p:spPr>
        <p:txBody>
          <a:bodyPr wrap="square" anchor="t"/>
          <a:lstStyle/>
          <a:p>
            <a:pPr algn="l">
              <a:spcAft>
                <a:spcPts val="400"/>
              </a:spcAft>
            </a:pPr>
            <a:r>
              <a:rPr sz="2600" b="1" i="0">
                <a:solidFill>
                  <a:srgbClr val="1E2D44"/>
                </a:solidFill>
                <a:latin typeface="Karla"/>
              </a:rPr>
              <a:t>The winning element in each category</a:t>
            </a:r>
          </a:p>
        </p:txBody>
      </p:sp>
      <p:sp>
        <p:nvSpPr>
          <p:cNvPr id="4" name="TextBox 3"/>
          <p:cNvSpPr txBox="1"/>
          <p:nvPr/>
        </p:nvSpPr>
        <p:spPr>
          <a:xfrm>
            <a:off x="438912" y="896112"/>
            <a:ext cx="11247120" cy="292608"/>
          </a:xfrm>
          <a:prstGeom prst="rect">
            <a:avLst/>
          </a:prstGeom>
          <a:noFill/>
        </p:spPr>
        <p:txBody>
          <a:bodyPr wrap="square" anchor="t"/>
          <a:lstStyle/>
          <a:p>
            <a:pPr algn="l">
              <a:spcAft>
                <a:spcPts val="400"/>
              </a:spcAft>
            </a:pPr>
            <a:r>
              <a:rPr sz="1400" b="0" i="0">
                <a:solidFill>
                  <a:srgbClr val="617086"/>
                </a:solidFill>
                <a:latin typeface="Karla"/>
              </a:rPr>
              <a:t>Ranked by the total sample. The notes are the winners for “Do you currently use dove”.</a:t>
            </a:r>
          </a:p>
        </p:txBody>
      </p:sp>
      <p:sp>
        <p:nvSpPr>
          <p:cNvPr id="5" name="Rounded Rectangle 4"/>
          <p:cNvSpPr/>
          <p:nvPr/>
        </p:nvSpPr>
        <p:spPr>
          <a:xfrm>
            <a:off x="384048" y="1335024"/>
            <a:ext cx="11430000" cy="2404872"/>
          </a:xfrm>
          <a:prstGeom prst="roundRect">
            <a:avLst>
              <a:gd name="adj" fmla="val 10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12064" y="2043684"/>
            <a:ext cx="987552" cy="9875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2.png"/>
          <p:cNvPicPr>
            <a:picLocks noChangeAspect="1"/>
          </p:cNvPicPr>
          <p:nvPr/>
        </p:nvPicPr>
        <p:blipFill>
          <a:blip r:embed="rId2"/>
          <a:stretch>
            <a:fillRect/>
          </a:stretch>
        </p:blipFill>
        <p:spPr>
          <a:xfrm>
            <a:off x="585216" y="2116836"/>
            <a:ext cx="841248" cy="841248"/>
          </a:xfrm>
          <a:prstGeom prst="rect">
            <a:avLst/>
          </a:prstGeom>
        </p:spPr>
      </p:pic>
      <p:sp>
        <p:nvSpPr>
          <p:cNvPr id="8" name="TextBox 7"/>
          <p:cNvSpPr txBox="1"/>
          <p:nvPr/>
        </p:nvSpPr>
        <p:spPr>
          <a:xfrm>
            <a:off x="1700784" y="1463040"/>
            <a:ext cx="8833104" cy="219456"/>
          </a:xfrm>
          <a:prstGeom prst="rect">
            <a:avLst/>
          </a:prstGeom>
          <a:noFill/>
        </p:spPr>
        <p:txBody>
          <a:bodyPr wrap="square" anchor="ctr" lIns="0" rIns="0" tIns="0" bIns="0"/>
          <a:lstStyle/>
          <a:p>
            <a:pPr algn="l">
              <a:spcBef>
                <a:spcPts val="0"/>
              </a:spcBef>
              <a:spcAft>
                <a:spcPts val="0"/>
              </a:spcAft>
            </a:pPr>
            <a:r>
              <a:rPr sz="1100" b="1" i="0">
                <a:solidFill>
                  <a:srgbClr val="04746E"/>
                </a:solidFill>
                <a:latin typeface="Karla"/>
              </a:rPr>
              <a:t>CAP COLOR</a:t>
            </a:r>
          </a:p>
        </p:txBody>
      </p:sp>
      <p:sp>
        <p:nvSpPr>
          <p:cNvPr id="9" name="TextBox 8"/>
          <p:cNvSpPr txBox="1"/>
          <p:nvPr/>
        </p:nvSpPr>
        <p:spPr>
          <a:xfrm>
            <a:off x="1700784" y="1719072"/>
            <a:ext cx="8833104" cy="329184"/>
          </a:xfrm>
          <a:prstGeom prst="rect">
            <a:avLst/>
          </a:prstGeom>
          <a:noFill/>
        </p:spPr>
        <p:txBody>
          <a:bodyPr wrap="square" anchor="ctr" lIns="0" rIns="0" tIns="0" bIns="0"/>
          <a:lstStyle/>
          <a:p>
            <a:pPr algn="l">
              <a:spcBef>
                <a:spcPts val="0"/>
              </a:spcBef>
              <a:spcAft>
                <a:spcPts val="0"/>
              </a:spcAft>
            </a:pPr>
            <a:r>
              <a:rPr sz="1800" b="1" i="0">
                <a:solidFill>
                  <a:srgbClr val="1E2D44"/>
                </a:solidFill>
                <a:latin typeface="Karla"/>
              </a:rPr>
              <a:t>Cap Pearl White</a:t>
            </a:r>
          </a:p>
        </p:txBody>
      </p:sp>
      <p:sp>
        <p:nvSpPr>
          <p:cNvPr id="10" name="TextBox 9"/>
          <p:cNvSpPr txBox="1"/>
          <p:nvPr/>
        </p:nvSpPr>
        <p:spPr>
          <a:xfrm>
            <a:off x="1700784" y="3374136"/>
            <a:ext cx="8833104" cy="219456"/>
          </a:xfrm>
          <a:prstGeom prst="rect">
            <a:avLst/>
          </a:prstGeom>
          <a:noFill/>
        </p:spPr>
        <p:txBody>
          <a:bodyPr wrap="square" anchor="ctr" lIns="0" rIns="0" tIns="0" bIns="0"/>
          <a:lstStyle/>
          <a:p>
            <a:pPr algn="l">
              <a:spcBef>
                <a:spcPts val="0"/>
              </a:spcBef>
              <a:spcAft>
                <a:spcPts val="0"/>
              </a:spcAft>
            </a:pPr>
            <a:r>
              <a:rPr sz="1200" b="0" i="0">
                <a:solidFill>
                  <a:srgbClr val="617086"/>
                </a:solidFill>
                <a:latin typeface="Karla"/>
              </a:rPr>
              <a:t>Both groups agree</a:t>
            </a:r>
          </a:p>
        </p:txBody>
      </p:sp>
      <p:sp>
        <p:nvSpPr>
          <p:cNvPr id="11" name="TextBox 10"/>
          <p:cNvSpPr txBox="1"/>
          <p:nvPr/>
        </p:nvSpPr>
        <p:spPr>
          <a:xfrm>
            <a:off x="10607040" y="1335024"/>
            <a:ext cx="1097280" cy="2404872"/>
          </a:xfrm>
          <a:prstGeom prst="rect">
            <a:avLst/>
          </a:prstGeom>
          <a:noFill/>
        </p:spPr>
        <p:txBody>
          <a:bodyPr wrap="square" anchor="ctr" lIns="0" rIns="0" tIns="0" bIns="0"/>
          <a:lstStyle/>
          <a:p>
            <a:pPr algn="r">
              <a:spcBef>
                <a:spcPts val="0"/>
              </a:spcBef>
              <a:spcAft>
                <a:spcPts val="0"/>
              </a:spcAft>
            </a:pPr>
            <a:r>
              <a:rPr sz="2200" b="1" i="0">
                <a:solidFill>
                  <a:srgbClr val="008935"/>
                </a:solidFill>
                <a:latin typeface="Karla"/>
              </a:rPr>
              <a:t>+4</a:t>
            </a:r>
          </a:p>
        </p:txBody>
      </p:sp>
      <p:sp>
        <p:nvSpPr>
          <p:cNvPr id="12" name="Rounded Rectangle 11"/>
          <p:cNvSpPr/>
          <p:nvPr/>
        </p:nvSpPr>
        <p:spPr>
          <a:xfrm>
            <a:off x="384048" y="3831336"/>
            <a:ext cx="11430000" cy="2404872"/>
          </a:xfrm>
          <a:prstGeom prst="roundRect">
            <a:avLst>
              <a:gd name="adj" fmla="val 10000"/>
            </a:avLst>
          </a:prstGeom>
          <a:solidFill>
            <a:srgbClr val="FB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2064" y="4539996"/>
            <a:ext cx="987552" cy="9875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2.png"/>
          <p:cNvPicPr>
            <a:picLocks noChangeAspect="1"/>
          </p:cNvPicPr>
          <p:nvPr/>
        </p:nvPicPr>
        <p:blipFill>
          <a:blip r:embed="rId3"/>
          <a:stretch>
            <a:fillRect/>
          </a:stretch>
        </p:blipFill>
        <p:spPr>
          <a:xfrm>
            <a:off x="585216" y="4613148"/>
            <a:ext cx="841248" cy="841248"/>
          </a:xfrm>
          <a:prstGeom prst="rect">
            <a:avLst/>
          </a:prstGeom>
        </p:spPr>
      </p:pic>
      <p:sp>
        <p:nvSpPr>
          <p:cNvPr id="15" name="TextBox 14"/>
          <p:cNvSpPr txBox="1"/>
          <p:nvPr/>
        </p:nvSpPr>
        <p:spPr>
          <a:xfrm>
            <a:off x="1700784" y="3959352"/>
            <a:ext cx="8833104" cy="219456"/>
          </a:xfrm>
          <a:prstGeom prst="rect">
            <a:avLst/>
          </a:prstGeom>
          <a:noFill/>
        </p:spPr>
        <p:txBody>
          <a:bodyPr wrap="square" anchor="ctr" lIns="0" rIns="0" tIns="0" bIns="0"/>
          <a:lstStyle/>
          <a:p>
            <a:pPr algn="l">
              <a:spcBef>
                <a:spcPts val="0"/>
              </a:spcBef>
              <a:spcAft>
                <a:spcPts val="0"/>
              </a:spcAft>
            </a:pPr>
            <a:r>
              <a:rPr sz="1100" b="1" i="0">
                <a:solidFill>
                  <a:srgbClr val="04746E"/>
                </a:solidFill>
                <a:latin typeface="Karla"/>
              </a:rPr>
              <a:t>GOLD FOIL BAND</a:t>
            </a:r>
          </a:p>
        </p:txBody>
      </p:sp>
      <p:sp>
        <p:nvSpPr>
          <p:cNvPr id="16" name="TextBox 15"/>
          <p:cNvSpPr txBox="1"/>
          <p:nvPr/>
        </p:nvSpPr>
        <p:spPr>
          <a:xfrm>
            <a:off x="1700784" y="4215384"/>
            <a:ext cx="8833104" cy="329184"/>
          </a:xfrm>
          <a:prstGeom prst="rect">
            <a:avLst/>
          </a:prstGeom>
          <a:noFill/>
        </p:spPr>
        <p:txBody>
          <a:bodyPr wrap="square" anchor="ctr" lIns="0" rIns="0" tIns="0" bIns="0"/>
          <a:lstStyle/>
          <a:p>
            <a:pPr algn="l">
              <a:spcBef>
                <a:spcPts val="0"/>
              </a:spcBef>
              <a:spcAft>
                <a:spcPts val="0"/>
              </a:spcAft>
            </a:pPr>
            <a:r>
              <a:rPr sz="1800" b="1" i="0">
                <a:solidFill>
                  <a:srgbClr val="1E2D44"/>
                </a:solidFill>
                <a:latin typeface="Karla"/>
              </a:rPr>
              <a:t>Gold Band On</a:t>
            </a:r>
          </a:p>
        </p:txBody>
      </p:sp>
      <p:sp>
        <p:nvSpPr>
          <p:cNvPr id="17" name="TextBox 16"/>
          <p:cNvSpPr txBox="1"/>
          <p:nvPr/>
        </p:nvSpPr>
        <p:spPr>
          <a:xfrm>
            <a:off x="1700784" y="5870448"/>
            <a:ext cx="8833104" cy="219456"/>
          </a:xfrm>
          <a:prstGeom prst="rect">
            <a:avLst/>
          </a:prstGeom>
          <a:noFill/>
        </p:spPr>
        <p:txBody>
          <a:bodyPr wrap="square" anchor="ctr" lIns="0" rIns="0" tIns="0" bIns="0"/>
          <a:lstStyle/>
          <a:p>
            <a:pPr algn="l">
              <a:spcBef>
                <a:spcPts val="0"/>
              </a:spcBef>
              <a:spcAft>
                <a:spcPts val="0"/>
              </a:spcAft>
            </a:pPr>
            <a:r>
              <a:rPr sz="1200" b="0" i="0">
                <a:solidFill>
                  <a:srgbClr val="617086"/>
                </a:solidFill>
                <a:latin typeface="Karla"/>
              </a:rPr>
              <a:t>Both groups agree</a:t>
            </a:r>
          </a:p>
        </p:txBody>
      </p:sp>
      <p:sp>
        <p:nvSpPr>
          <p:cNvPr id="18" name="TextBox 17"/>
          <p:cNvSpPr txBox="1"/>
          <p:nvPr/>
        </p:nvSpPr>
        <p:spPr>
          <a:xfrm>
            <a:off x="10607040" y="3831336"/>
            <a:ext cx="1097280" cy="2404872"/>
          </a:xfrm>
          <a:prstGeom prst="rect">
            <a:avLst/>
          </a:prstGeom>
          <a:noFill/>
        </p:spPr>
        <p:txBody>
          <a:bodyPr wrap="square" anchor="ctr" lIns="0" rIns="0" tIns="0" bIns="0"/>
          <a:lstStyle/>
          <a:p>
            <a:pPr algn="r">
              <a:spcBef>
                <a:spcPts val="0"/>
              </a:spcBef>
              <a:spcAft>
                <a:spcPts val="0"/>
              </a:spcAft>
            </a:pPr>
            <a:r>
              <a:rPr sz="2200" b="1" i="0">
                <a:solidFill>
                  <a:srgbClr val="008935"/>
                </a:solidFill>
                <a:latin typeface="Karla"/>
              </a:rPr>
              <a:t>+3</a:t>
            </a:r>
          </a:p>
        </p:txBody>
      </p:sp>
      <p:sp>
        <p:nvSpPr>
          <p:cNvPr id="19" name="Rectangle 1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21" name="TextBox 2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606040"/>
            <a:ext cx="10058400" cy="1005840"/>
          </a:xfrm>
          <a:prstGeom prst="rect">
            <a:avLst/>
          </a:prstGeom>
          <a:noFill/>
        </p:spPr>
        <p:txBody>
          <a:bodyPr wrap="square" anchor="t"/>
          <a:lstStyle/>
          <a:p>
            <a:pPr algn="l">
              <a:spcAft>
                <a:spcPts val="400"/>
              </a:spcAft>
            </a:pPr>
            <a:r>
              <a:rPr sz="5400" b="1" i="0">
                <a:solidFill>
                  <a:srgbClr val="1E2D44"/>
                </a:solidFill>
                <a:latin typeface="Karla"/>
              </a:rPr>
              <a:t>Element Winners</a:t>
            </a:r>
          </a:p>
        </p:txBody>
      </p:sp>
      <p:sp>
        <p:nvSpPr>
          <p:cNvPr id="4" name="Rectangle 3"/>
          <p:cNvSpPr/>
          <p:nvPr/>
        </p:nvSpPr>
        <p:spPr>
          <a:xfrm>
            <a:off x="822960" y="3794760"/>
            <a:ext cx="1280160" cy="5486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DEBOSS</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Deboss Blue leads in both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Deboss Blue leads both groups; Deboss Off ranks last.</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DEBOSS</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591811"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914059"/>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Deboss Blue</a:t>
            </a:r>
          </a:p>
        </p:txBody>
      </p:sp>
      <p:sp>
        <p:nvSpPr>
          <p:cNvPr id="14" name="Rectangle 13"/>
          <p:cNvSpPr/>
          <p:nvPr/>
        </p:nvSpPr>
        <p:spPr>
          <a:xfrm>
            <a:off x="2167128" y="1914059"/>
            <a:ext cx="242468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6675" y="191405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+5</a:t>
            </a:r>
          </a:p>
        </p:txBody>
      </p:sp>
      <p:sp>
        <p:nvSpPr>
          <p:cNvPr id="16" name="Rectangle 15"/>
          <p:cNvSpPr/>
          <p:nvPr/>
        </p:nvSpPr>
        <p:spPr>
          <a:xfrm>
            <a:off x="2167128" y="2110655"/>
            <a:ext cx="484936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71359" y="211065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+10</a:t>
            </a:r>
          </a:p>
        </p:txBody>
      </p:sp>
      <p:sp>
        <p:nvSpPr>
          <p:cNvPr id="18" name="TextBox 17"/>
          <p:cNvSpPr txBox="1"/>
          <p:nvPr/>
        </p:nvSpPr>
        <p:spPr>
          <a:xfrm>
            <a:off x="502920" y="3060445"/>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Deboss On</a:t>
            </a:r>
          </a:p>
        </p:txBody>
      </p:sp>
      <p:sp>
        <p:nvSpPr>
          <p:cNvPr id="19" name="Rectangle 18"/>
          <p:cNvSpPr/>
          <p:nvPr/>
        </p:nvSpPr>
        <p:spPr>
          <a:xfrm>
            <a:off x="2167128" y="3060445"/>
            <a:ext cx="145481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6802" y="306044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+3</a:t>
            </a:r>
          </a:p>
        </p:txBody>
      </p:sp>
      <p:sp>
        <p:nvSpPr>
          <p:cNvPr id="21" name="Rectangle 20"/>
          <p:cNvSpPr/>
          <p:nvPr/>
        </p:nvSpPr>
        <p:spPr>
          <a:xfrm>
            <a:off x="2167128" y="3257041"/>
            <a:ext cx="193974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61739" y="325704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+4</a:t>
            </a:r>
          </a:p>
        </p:txBody>
      </p:sp>
      <p:sp>
        <p:nvSpPr>
          <p:cNvPr id="23" name="TextBox 22"/>
          <p:cNvSpPr txBox="1"/>
          <p:nvPr/>
        </p:nvSpPr>
        <p:spPr>
          <a:xfrm>
            <a:off x="502920" y="4206832"/>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Deboss Off</a:t>
            </a:r>
          </a:p>
        </p:txBody>
      </p:sp>
      <p:sp>
        <p:nvSpPr>
          <p:cNvPr id="24" name="Rectangle 23"/>
          <p:cNvSpPr/>
          <p:nvPr/>
        </p:nvSpPr>
        <p:spPr>
          <a:xfrm>
            <a:off x="2167128" y="4206832"/>
            <a:ext cx="484936"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06928" y="4206832"/>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a:t>
            </a:r>
          </a:p>
        </p:txBody>
      </p:sp>
      <p:sp>
        <p:nvSpPr>
          <p:cNvPr id="26" name="Rectangle 25"/>
          <p:cNvSpPr/>
          <p:nvPr/>
        </p:nvSpPr>
        <p:spPr>
          <a:xfrm>
            <a:off x="2167128" y="4403428"/>
            <a:ext cx="96987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91865" y="440342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a:t>
            </a:r>
          </a:p>
        </p:txBody>
      </p:sp>
      <p:sp>
        <p:nvSpPr>
          <p:cNvPr id="28" name="Rectangle 27"/>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0" name="Rectangle 29"/>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2" name="Rounded Rectangle 31"/>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249155" y="425196"/>
            <a:ext cx="1002791" cy="1002791"/>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A2.png"/>
          <p:cNvPicPr>
            <a:picLocks noChangeAspect="1"/>
          </p:cNvPicPr>
          <p:nvPr/>
        </p:nvPicPr>
        <p:blipFill>
          <a:blip r:embed="rId2"/>
          <a:stretch>
            <a:fillRect/>
          </a:stretch>
        </p:blipFill>
        <p:spPr>
          <a:xfrm>
            <a:off x="9262871" y="438912"/>
            <a:ext cx="975359" cy="975359"/>
          </a:xfrm>
          <a:prstGeom prst="rect">
            <a:avLst/>
          </a:prstGeom>
        </p:spPr>
      </p:pic>
      <p:sp>
        <p:nvSpPr>
          <p:cNvPr id="35" name="TextBox 34"/>
          <p:cNvSpPr txBox="1"/>
          <p:nvPr/>
        </p:nvSpPr>
        <p:spPr>
          <a:xfrm>
            <a:off x="7912607" y="1469135"/>
            <a:ext cx="3675887" cy="219456"/>
          </a:xfrm>
          <a:prstGeom prst="rect">
            <a:avLst/>
          </a:prstGeom>
          <a:noFill/>
        </p:spPr>
        <p:txBody>
          <a:bodyPr wrap="none" anchor="ctr" lIns="0" rIns="0" tIns="0" bIns="0"/>
          <a:lstStyle/>
          <a:p>
            <a:pPr algn="ctr">
              <a:spcBef>
                <a:spcPts val="0"/>
              </a:spcBef>
              <a:spcAft>
                <a:spcPts val="0"/>
              </a:spcAft>
            </a:pPr>
            <a:r>
              <a:rPr sz="1300" b="0" i="0">
                <a:solidFill>
                  <a:srgbClr val="1E2D44"/>
                </a:solidFill>
                <a:latin typeface="Karla"/>
              </a:rPr>
              <a:t>Deboss Blue</a:t>
            </a:r>
          </a:p>
        </p:txBody>
      </p:sp>
      <p:sp>
        <p:nvSpPr>
          <p:cNvPr id="36" name="TextBox 35"/>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37" name="Rectangle 36"/>
          <p:cNvSpPr/>
          <p:nvPr/>
        </p:nvSpPr>
        <p:spPr>
          <a:xfrm>
            <a:off x="9249155" y="2132075"/>
            <a:ext cx="1002791" cy="1002791"/>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A3.png"/>
          <p:cNvPicPr>
            <a:picLocks noChangeAspect="1"/>
          </p:cNvPicPr>
          <p:nvPr/>
        </p:nvPicPr>
        <p:blipFill>
          <a:blip r:embed="rId3"/>
          <a:stretch>
            <a:fillRect/>
          </a:stretch>
        </p:blipFill>
        <p:spPr>
          <a:xfrm>
            <a:off x="9262871" y="2145791"/>
            <a:ext cx="975359" cy="975359"/>
          </a:xfrm>
          <a:prstGeom prst="rect">
            <a:avLst/>
          </a:prstGeom>
        </p:spPr>
      </p:pic>
      <p:sp>
        <p:nvSpPr>
          <p:cNvPr id="39" name="TextBox 38"/>
          <p:cNvSpPr txBox="1"/>
          <p:nvPr/>
        </p:nvSpPr>
        <p:spPr>
          <a:xfrm>
            <a:off x="7912607" y="3176015"/>
            <a:ext cx="3675887" cy="219456"/>
          </a:xfrm>
          <a:prstGeom prst="rect">
            <a:avLst/>
          </a:prstGeom>
          <a:noFill/>
        </p:spPr>
        <p:txBody>
          <a:bodyPr wrap="none" anchor="ctr" lIns="0" rIns="0" tIns="0" bIns="0"/>
          <a:lstStyle/>
          <a:p>
            <a:pPr algn="ctr">
              <a:spcBef>
                <a:spcPts val="0"/>
              </a:spcBef>
              <a:spcAft>
                <a:spcPts val="0"/>
              </a:spcAft>
            </a:pPr>
            <a:r>
              <a:rPr sz="1300" b="0" i="0">
                <a:solidFill>
                  <a:srgbClr val="1E2D44"/>
                </a:solidFill>
                <a:latin typeface="Karla"/>
              </a:rPr>
              <a:t>Deboss On</a:t>
            </a:r>
          </a:p>
        </p:txBody>
      </p:sp>
      <p:sp>
        <p:nvSpPr>
          <p:cNvPr id="40" name="TextBox 39"/>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41" name="Rectangle 40"/>
          <p:cNvSpPr/>
          <p:nvPr/>
        </p:nvSpPr>
        <p:spPr>
          <a:xfrm>
            <a:off x="9249155" y="3838956"/>
            <a:ext cx="1002791" cy="1002791"/>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A1.png"/>
          <p:cNvPicPr>
            <a:picLocks noChangeAspect="1"/>
          </p:cNvPicPr>
          <p:nvPr/>
        </p:nvPicPr>
        <p:blipFill>
          <a:blip r:embed="rId4"/>
          <a:stretch>
            <a:fillRect/>
          </a:stretch>
        </p:blipFill>
        <p:spPr>
          <a:xfrm>
            <a:off x="9262871" y="3852671"/>
            <a:ext cx="975359" cy="975359"/>
          </a:xfrm>
          <a:prstGeom prst="rect">
            <a:avLst/>
          </a:prstGeom>
        </p:spPr>
      </p:pic>
      <p:sp>
        <p:nvSpPr>
          <p:cNvPr id="43" name="TextBox 42"/>
          <p:cNvSpPr txBox="1"/>
          <p:nvPr/>
        </p:nvSpPr>
        <p:spPr>
          <a:xfrm>
            <a:off x="7912607" y="4882895"/>
            <a:ext cx="3675887" cy="219456"/>
          </a:xfrm>
          <a:prstGeom prst="rect">
            <a:avLst/>
          </a:prstGeom>
          <a:noFill/>
        </p:spPr>
        <p:txBody>
          <a:bodyPr wrap="none" anchor="ctr" lIns="0" rIns="0" tIns="0" bIns="0"/>
          <a:lstStyle/>
          <a:p>
            <a:pPr algn="ctr">
              <a:spcBef>
                <a:spcPts val="0"/>
              </a:spcBef>
              <a:spcAft>
                <a:spcPts val="0"/>
              </a:spcAft>
            </a:pPr>
            <a:r>
              <a:rPr sz="1300" b="0" i="0">
                <a:solidFill>
                  <a:srgbClr val="1E2D44"/>
                </a:solidFill>
                <a:latin typeface="Karla"/>
              </a:rPr>
              <a:t>Deboss Off</a:t>
            </a:r>
          </a:p>
        </p:txBody>
      </p:sp>
      <p:sp>
        <p:nvSpPr>
          <p:cNvPr id="44" name="TextBox 43"/>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a:t>
            </a:r>
          </a:p>
        </p:txBody>
      </p:sp>
      <p:sp>
        <p:nvSpPr>
          <p:cNvPr id="45" name="Rounded Rectangle 44"/>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Both groups rank Deboss Blue first. The widest segment gap is Deboss Blue: +5 non-users / +10 users.</a:t>
            </a:r>
          </a:p>
        </p:txBody>
      </p:sp>
      <p:sp>
        <p:nvSpPr>
          <p:cNvPr id="46" name="Rectangle 4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48" name="TextBox 4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IMAGERY   ·   1 of 3</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Splash High leads in both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Splash High leads both groups; Swipe Low ranks last.</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IMAGERY</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70760"/>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Splash High</a:t>
            </a:r>
          </a:p>
        </p:txBody>
      </p:sp>
      <p:sp>
        <p:nvSpPr>
          <p:cNvPr id="18" name="Rectangle 17"/>
          <p:cNvSpPr/>
          <p:nvPr/>
        </p:nvSpPr>
        <p:spPr>
          <a:xfrm>
            <a:off x="2167128" y="1770760"/>
            <a:ext cx="242468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6675" y="177076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+20</a:t>
            </a:r>
          </a:p>
        </p:txBody>
      </p:sp>
      <p:sp>
        <p:nvSpPr>
          <p:cNvPr id="20" name="Rectangle 19"/>
          <p:cNvSpPr/>
          <p:nvPr/>
        </p:nvSpPr>
        <p:spPr>
          <a:xfrm>
            <a:off x="2167128" y="1967356"/>
            <a:ext cx="327332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95315" y="196735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+27</a:t>
            </a:r>
          </a:p>
        </p:txBody>
      </p:sp>
      <p:sp>
        <p:nvSpPr>
          <p:cNvPr id="22" name="TextBox 21"/>
          <p:cNvSpPr txBox="1"/>
          <p:nvPr/>
        </p:nvSpPr>
        <p:spPr>
          <a:xfrm>
            <a:off x="502920" y="2630550"/>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Dollop High</a:t>
            </a:r>
          </a:p>
        </p:txBody>
      </p:sp>
      <p:sp>
        <p:nvSpPr>
          <p:cNvPr id="23" name="Rectangle 22"/>
          <p:cNvSpPr/>
          <p:nvPr/>
        </p:nvSpPr>
        <p:spPr>
          <a:xfrm>
            <a:off x="2167128" y="2630550"/>
            <a:ext cx="2060981"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82973" y="263055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+17</a:t>
            </a:r>
          </a:p>
        </p:txBody>
      </p:sp>
      <p:sp>
        <p:nvSpPr>
          <p:cNvPr id="25" name="Rectangle 24"/>
          <p:cNvSpPr/>
          <p:nvPr/>
        </p:nvSpPr>
        <p:spPr>
          <a:xfrm>
            <a:off x="2167128" y="2827146"/>
            <a:ext cx="303085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52846" y="282714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+25</a:t>
            </a:r>
          </a:p>
        </p:txBody>
      </p:sp>
      <p:sp>
        <p:nvSpPr>
          <p:cNvPr id="27" name="TextBox 26"/>
          <p:cNvSpPr txBox="1"/>
          <p:nvPr/>
        </p:nvSpPr>
        <p:spPr>
          <a:xfrm>
            <a:off x="502920" y="3490340"/>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Swipe High</a:t>
            </a:r>
          </a:p>
        </p:txBody>
      </p:sp>
      <p:sp>
        <p:nvSpPr>
          <p:cNvPr id="28" name="Rectangle 27"/>
          <p:cNvSpPr/>
          <p:nvPr/>
        </p:nvSpPr>
        <p:spPr>
          <a:xfrm>
            <a:off x="2167128" y="3490340"/>
            <a:ext cx="1697278"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19270" y="349034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+14</a:t>
            </a:r>
          </a:p>
        </p:txBody>
      </p:sp>
      <p:sp>
        <p:nvSpPr>
          <p:cNvPr id="30" name="Rectangle 29"/>
          <p:cNvSpPr/>
          <p:nvPr/>
        </p:nvSpPr>
        <p:spPr>
          <a:xfrm>
            <a:off x="2167128" y="3686936"/>
            <a:ext cx="290962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31612" y="368693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+24</a:t>
            </a:r>
          </a:p>
        </p:txBody>
      </p:sp>
      <p:sp>
        <p:nvSpPr>
          <p:cNvPr id="32" name="TextBox 31"/>
          <p:cNvSpPr txBox="1"/>
          <p:nvPr/>
        </p:nvSpPr>
        <p:spPr>
          <a:xfrm>
            <a:off x="502920" y="4350131"/>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Dollop Standard</a:t>
            </a:r>
          </a:p>
        </p:txBody>
      </p:sp>
      <p:sp>
        <p:nvSpPr>
          <p:cNvPr id="33" name="Rectangle 32"/>
          <p:cNvSpPr/>
          <p:nvPr/>
        </p:nvSpPr>
        <p:spPr>
          <a:xfrm>
            <a:off x="2167128" y="4350131"/>
            <a:ext cx="2182215"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04207" y="4350131"/>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+18</a:t>
            </a:r>
          </a:p>
        </p:txBody>
      </p:sp>
      <p:sp>
        <p:nvSpPr>
          <p:cNvPr id="35" name="Rectangle 34"/>
          <p:cNvSpPr/>
          <p:nvPr/>
        </p:nvSpPr>
        <p:spPr>
          <a:xfrm>
            <a:off x="2167128" y="4546727"/>
            <a:ext cx="2545918"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67910" y="4546727"/>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+21</a:t>
            </a:r>
          </a:p>
        </p:txBody>
      </p:sp>
      <p:sp>
        <p:nvSpPr>
          <p:cNvPr id="37" name="Rectangle 36"/>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9" name="Rectangle 38"/>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41" name="Rounded Rectangle 4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935467" y="498348"/>
            <a:ext cx="1709927"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B4.png"/>
          <p:cNvPicPr>
            <a:picLocks noChangeAspect="1"/>
          </p:cNvPicPr>
          <p:nvPr/>
        </p:nvPicPr>
        <p:blipFill>
          <a:blip r:embed="rId2"/>
          <a:stretch>
            <a:fillRect/>
          </a:stretch>
        </p:blipFill>
        <p:spPr>
          <a:xfrm>
            <a:off x="7949183" y="512064"/>
            <a:ext cx="1682495" cy="1682495"/>
          </a:xfrm>
          <a:prstGeom prst="rect">
            <a:avLst/>
          </a:prstGeom>
        </p:spPr>
      </p:pic>
      <p:sp>
        <p:nvSpPr>
          <p:cNvPr id="44" name="TextBox 43"/>
          <p:cNvSpPr txBox="1"/>
          <p:nvPr/>
        </p:nvSpPr>
        <p:spPr>
          <a:xfrm>
            <a:off x="7912607" y="2249423"/>
            <a:ext cx="1755647" cy="219456"/>
          </a:xfrm>
          <a:prstGeom prst="rect">
            <a:avLst/>
          </a:prstGeom>
          <a:noFill/>
        </p:spPr>
        <p:txBody>
          <a:bodyPr wrap="none" anchor="ctr" lIns="0" rIns="0" tIns="0" bIns="0"/>
          <a:lstStyle/>
          <a:p>
            <a:pPr algn="ctr">
              <a:spcBef>
                <a:spcPts val="0"/>
              </a:spcBef>
              <a:spcAft>
                <a:spcPts val="0"/>
              </a:spcAft>
            </a:pPr>
            <a:r>
              <a:rPr sz="1200" b="0" i="0">
                <a:solidFill>
                  <a:srgbClr val="1E2D44"/>
                </a:solidFill>
                <a:latin typeface="Karla"/>
              </a:rPr>
              <a:t>Splash High</a:t>
            </a:r>
          </a:p>
        </p:txBody>
      </p:sp>
      <p:sp>
        <p:nvSpPr>
          <p:cNvPr id="45" name="TextBox 44"/>
          <p:cNvSpPr txBox="1"/>
          <p:nvPr/>
        </p:nvSpPr>
        <p:spPr>
          <a:xfrm>
            <a:off x="7912607" y="2468879"/>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+24*</a:t>
            </a:r>
          </a:p>
        </p:txBody>
      </p:sp>
      <p:sp>
        <p:nvSpPr>
          <p:cNvPr id="46" name="Rectangle 45"/>
          <p:cNvSpPr/>
          <p:nvPr/>
        </p:nvSpPr>
        <p:spPr>
          <a:xfrm>
            <a:off x="9855707" y="498348"/>
            <a:ext cx="1709927"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B1.png"/>
          <p:cNvPicPr>
            <a:picLocks noChangeAspect="1"/>
          </p:cNvPicPr>
          <p:nvPr/>
        </p:nvPicPr>
        <p:blipFill>
          <a:blip r:embed="rId3"/>
          <a:stretch>
            <a:fillRect/>
          </a:stretch>
        </p:blipFill>
        <p:spPr>
          <a:xfrm>
            <a:off x="9869423" y="512064"/>
            <a:ext cx="1682495" cy="1682495"/>
          </a:xfrm>
          <a:prstGeom prst="rect">
            <a:avLst/>
          </a:prstGeom>
        </p:spPr>
      </p:pic>
      <p:sp>
        <p:nvSpPr>
          <p:cNvPr id="48" name="TextBox 47"/>
          <p:cNvSpPr txBox="1"/>
          <p:nvPr/>
        </p:nvSpPr>
        <p:spPr>
          <a:xfrm>
            <a:off x="9832847" y="2249423"/>
            <a:ext cx="1755647" cy="219456"/>
          </a:xfrm>
          <a:prstGeom prst="rect">
            <a:avLst/>
          </a:prstGeom>
          <a:noFill/>
        </p:spPr>
        <p:txBody>
          <a:bodyPr wrap="none" anchor="ctr" lIns="0" rIns="0" tIns="0" bIns="0"/>
          <a:lstStyle/>
          <a:p>
            <a:pPr algn="ctr">
              <a:spcBef>
                <a:spcPts val="0"/>
              </a:spcBef>
              <a:spcAft>
                <a:spcPts val="0"/>
              </a:spcAft>
            </a:pPr>
            <a:r>
              <a:rPr sz="1200" b="0" i="0">
                <a:solidFill>
                  <a:srgbClr val="1E2D44"/>
                </a:solidFill>
                <a:latin typeface="Karla"/>
              </a:rPr>
              <a:t>Dollop High</a:t>
            </a:r>
          </a:p>
        </p:txBody>
      </p:sp>
      <p:sp>
        <p:nvSpPr>
          <p:cNvPr id="49" name="TextBox 48"/>
          <p:cNvSpPr txBox="1"/>
          <p:nvPr/>
        </p:nvSpPr>
        <p:spPr>
          <a:xfrm>
            <a:off x="9832847" y="2468879"/>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50" name="Rectangle 49"/>
          <p:cNvSpPr/>
          <p:nvPr/>
        </p:nvSpPr>
        <p:spPr>
          <a:xfrm>
            <a:off x="7935467" y="3058668"/>
            <a:ext cx="1709927"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B8.png"/>
          <p:cNvPicPr>
            <a:picLocks noChangeAspect="1"/>
          </p:cNvPicPr>
          <p:nvPr/>
        </p:nvPicPr>
        <p:blipFill>
          <a:blip r:embed="rId4"/>
          <a:stretch>
            <a:fillRect/>
          </a:stretch>
        </p:blipFill>
        <p:spPr>
          <a:xfrm>
            <a:off x="7949183" y="3072384"/>
            <a:ext cx="1682495" cy="1682495"/>
          </a:xfrm>
          <a:prstGeom prst="rect">
            <a:avLst/>
          </a:prstGeom>
        </p:spPr>
      </p:pic>
      <p:sp>
        <p:nvSpPr>
          <p:cNvPr id="52" name="TextBox 51"/>
          <p:cNvSpPr txBox="1"/>
          <p:nvPr/>
        </p:nvSpPr>
        <p:spPr>
          <a:xfrm>
            <a:off x="7912607" y="4809743"/>
            <a:ext cx="1755647" cy="219456"/>
          </a:xfrm>
          <a:prstGeom prst="rect">
            <a:avLst/>
          </a:prstGeom>
          <a:noFill/>
        </p:spPr>
        <p:txBody>
          <a:bodyPr wrap="none" anchor="ctr" lIns="0" rIns="0" tIns="0" bIns="0"/>
          <a:lstStyle/>
          <a:p>
            <a:pPr algn="ctr">
              <a:spcBef>
                <a:spcPts val="0"/>
              </a:spcBef>
              <a:spcAft>
                <a:spcPts val="0"/>
              </a:spcAft>
            </a:pPr>
            <a:r>
              <a:rPr sz="1200" b="0" i="0">
                <a:solidFill>
                  <a:srgbClr val="1E2D44"/>
                </a:solidFill>
                <a:latin typeface="Karla"/>
              </a:rPr>
              <a:t>Swipe High</a:t>
            </a:r>
          </a:p>
        </p:txBody>
      </p:sp>
      <p:sp>
        <p:nvSpPr>
          <p:cNvPr id="53" name="TextBox 52"/>
          <p:cNvSpPr txBox="1"/>
          <p:nvPr/>
        </p:nvSpPr>
        <p:spPr>
          <a:xfrm>
            <a:off x="7912607" y="5029199"/>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+19*</a:t>
            </a:r>
          </a:p>
        </p:txBody>
      </p:sp>
      <p:sp>
        <p:nvSpPr>
          <p:cNvPr id="54" name="Rectangle 53"/>
          <p:cNvSpPr/>
          <p:nvPr/>
        </p:nvSpPr>
        <p:spPr>
          <a:xfrm>
            <a:off x="9855707" y="3058668"/>
            <a:ext cx="1709927"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B3.png"/>
          <p:cNvPicPr>
            <a:picLocks noChangeAspect="1"/>
          </p:cNvPicPr>
          <p:nvPr/>
        </p:nvPicPr>
        <p:blipFill>
          <a:blip r:embed="rId5"/>
          <a:stretch>
            <a:fillRect/>
          </a:stretch>
        </p:blipFill>
        <p:spPr>
          <a:xfrm>
            <a:off x="9869423" y="3072384"/>
            <a:ext cx="1682495" cy="1682495"/>
          </a:xfrm>
          <a:prstGeom prst="rect">
            <a:avLst/>
          </a:prstGeom>
        </p:spPr>
      </p:pic>
      <p:sp>
        <p:nvSpPr>
          <p:cNvPr id="56" name="TextBox 55"/>
          <p:cNvSpPr txBox="1"/>
          <p:nvPr/>
        </p:nvSpPr>
        <p:spPr>
          <a:xfrm>
            <a:off x="9832847" y="4809743"/>
            <a:ext cx="1755647" cy="219456"/>
          </a:xfrm>
          <a:prstGeom prst="rect">
            <a:avLst/>
          </a:prstGeom>
          <a:noFill/>
        </p:spPr>
        <p:txBody>
          <a:bodyPr wrap="none" anchor="ctr" lIns="0" rIns="0" tIns="0" bIns="0"/>
          <a:lstStyle/>
          <a:p>
            <a:pPr algn="ctr">
              <a:spcBef>
                <a:spcPts val="0"/>
              </a:spcBef>
              <a:spcAft>
                <a:spcPts val="0"/>
              </a:spcAft>
            </a:pPr>
            <a:r>
              <a:rPr sz="1200" b="0" i="0">
                <a:solidFill>
                  <a:srgbClr val="1E2D44"/>
                </a:solidFill>
                <a:latin typeface="Karla"/>
              </a:rPr>
              <a:t>Dollop Standard</a:t>
            </a:r>
          </a:p>
        </p:txBody>
      </p:sp>
      <p:sp>
        <p:nvSpPr>
          <p:cNvPr id="57" name="TextBox 56"/>
          <p:cNvSpPr txBox="1"/>
          <p:nvPr/>
        </p:nvSpPr>
        <p:spPr>
          <a:xfrm>
            <a:off x="9832847" y="5029199"/>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58" name="Rounded Rectangle 57"/>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Both groups rank Splash High first. The widest segment gap is Swipe High: +14 non-users / +24 users.</a:t>
            </a:r>
          </a:p>
        </p:txBody>
      </p:sp>
      <p:sp>
        <p:nvSpPr>
          <p:cNvPr id="59" name="Rectangle 5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61" name="TextBox 6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IMAGERY   ·   2 of 3</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Splash High leads in both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Splash High leads both groups; Swipe Low ranks last.</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IMAGERY</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914059"/>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Splash Standard</a:t>
            </a:r>
          </a:p>
        </p:txBody>
      </p:sp>
      <p:sp>
        <p:nvSpPr>
          <p:cNvPr id="18" name="Rectangle 17"/>
          <p:cNvSpPr/>
          <p:nvPr/>
        </p:nvSpPr>
        <p:spPr>
          <a:xfrm>
            <a:off x="2167128" y="1914059"/>
            <a:ext cx="436443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6422" y="191405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+18</a:t>
            </a:r>
          </a:p>
        </p:txBody>
      </p:sp>
      <p:sp>
        <p:nvSpPr>
          <p:cNvPr id="20" name="Rectangle 19"/>
          <p:cNvSpPr/>
          <p:nvPr/>
        </p:nvSpPr>
        <p:spPr>
          <a:xfrm>
            <a:off x="2167128" y="2110655"/>
            <a:ext cx="484936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71359" y="211065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+20</a:t>
            </a:r>
          </a:p>
        </p:txBody>
      </p:sp>
      <p:sp>
        <p:nvSpPr>
          <p:cNvPr id="22" name="TextBox 21"/>
          <p:cNvSpPr txBox="1"/>
          <p:nvPr/>
        </p:nvSpPr>
        <p:spPr>
          <a:xfrm>
            <a:off x="502920" y="3060445"/>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Swipe Standard</a:t>
            </a:r>
          </a:p>
        </p:txBody>
      </p:sp>
      <p:sp>
        <p:nvSpPr>
          <p:cNvPr id="23" name="Rectangle 22"/>
          <p:cNvSpPr/>
          <p:nvPr/>
        </p:nvSpPr>
        <p:spPr>
          <a:xfrm>
            <a:off x="2167128" y="3060445"/>
            <a:ext cx="2667152"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89144" y="306044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+11</a:t>
            </a:r>
          </a:p>
        </p:txBody>
      </p:sp>
      <p:sp>
        <p:nvSpPr>
          <p:cNvPr id="25" name="Rectangle 24"/>
          <p:cNvSpPr/>
          <p:nvPr/>
        </p:nvSpPr>
        <p:spPr>
          <a:xfrm>
            <a:off x="2167128" y="3257041"/>
            <a:ext cx="3637025"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9017" y="325704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+15</a:t>
            </a:r>
          </a:p>
        </p:txBody>
      </p:sp>
      <p:sp>
        <p:nvSpPr>
          <p:cNvPr id="27" name="TextBox 26"/>
          <p:cNvSpPr txBox="1"/>
          <p:nvPr/>
        </p:nvSpPr>
        <p:spPr>
          <a:xfrm>
            <a:off x="502920" y="4206832"/>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Dollop Low</a:t>
            </a:r>
          </a:p>
        </p:txBody>
      </p:sp>
      <p:sp>
        <p:nvSpPr>
          <p:cNvPr id="28" name="Rectangle 27"/>
          <p:cNvSpPr/>
          <p:nvPr/>
        </p:nvSpPr>
        <p:spPr>
          <a:xfrm>
            <a:off x="2167128" y="4206832"/>
            <a:ext cx="2182215"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04207" y="4206832"/>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+9</a:t>
            </a:r>
          </a:p>
        </p:txBody>
      </p:sp>
      <p:sp>
        <p:nvSpPr>
          <p:cNvPr id="30" name="Rectangle 29"/>
          <p:cNvSpPr/>
          <p:nvPr/>
        </p:nvSpPr>
        <p:spPr>
          <a:xfrm>
            <a:off x="2167128" y="4403428"/>
            <a:ext cx="339455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16549" y="440342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+14</a:t>
            </a:r>
          </a:p>
        </p:txBody>
      </p:sp>
      <p:sp>
        <p:nvSpPr>
          <p:cNvPr id="32" name="Rectangle 31"/>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4" name="Rectangle 33"/>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6" name="Rounded Rectangle 35"/>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249155" y="425196"/>
            <a:ext cx="1002791" cy="1002791"/>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B6.png"/>
          <p:cNvPicPr>
            <a:picLocks noChangeAspect="1"/>
          </p:cNvPicPr>
          <p:nvPr/>
        </p:nvPicPr>
        <p:blipFill>
          <a:blip r:embed="rId2"/>
          <a:stretch>
            <a:fillRect/>
          </a:stretch>
        </p:blipFill>
        <p:spPr>
          <a:xfrm>
            <a:off x="9262871" y="438912"/>
            <a:ext cx="975359" cy="975359"/>
          </a:xfrm>
          <a:prstGeom prst="rect">
            <a:avLst/>
          </a:prstGeom>
        </p:spPr>
      </p:pic>
      <p:sp>
        <p:nvSpPr>
          <p:cNvPr id="39" name="TextBox 38"/>
          <p:cNvSpPr txBox="1"/>
          <p:nvPr/>
        </p:nvSpPr>
        <p:spPr>
          <a:xfrm>
            <a:off x="7912607" y="1469135"/>
            <a:ext cx="3675887" cy="219456"/>
          </a:xfrm>
          <a:prstGeom prst="rect">
            <a:avLst/>
          </a:prstGeom>
          <a:noFill/>
        </p:spPr>
        <p:txBody>
          <a:bodyPr wrap="none" anchor="ctr" lIns="0" rIns="0" tIns="0" bIns="0"/>
          <a:lstStyle/>
          <a:p>
            <a:pPr algn="ctr">
              <a:spcBef>
                <a:spcPts val="0"/>
              </a:spcBef>
              <a:spcAft>
                <a:spcPts val="0"/>
              </a:spcAft>
            </a:pPr>
            <a:r>
              <a:rPr sz="1300" b="0" i="0">
                <a:solidFill>
                  <a:srgbClr val="1E2D44"/>
                </a:solidFill>
                <a:latin typeface="Karla"/>
              </a:rPr>
              <a:t>Splash Standard</a:t>
            </a:r>
          </a:p>
        </p:txBody>
      </p:sp>
      <p:sp>
        <p:nvSpPr>
          <p:cNvPr id="40" name="TextBox 39"/>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+19*</a:t>
            </a:r>
          </a:p>
        </p:txBody>
      </p:sp>
      <p:sp>
        <p:nvSpPr>
          <p:cNvPr id="41" name="Rectangle 40"/>
          <p:cNvSpPr/>
          <p:nvPr/>
        </p:nvSpPr>
        <p:spPr>
          <a:xfrm>
            <a:off x="9249155" y="2132075"/>
            <a:ext cx="1002791" cy="1002791"/>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B9.png"/>
          <p:cNvPicPr>
            <a:picLocks noChangeAspect="1"/>
          </p:cNvPicPr>
          <p:nvPr/>
        </p:nvPicPr>
        <p:blipFill>
          <a:blip r:embed="rId3"/>
          <a:stretch>
            <a:fillRect/>
          </a:stretch>
        </p:blipFill>
        <p:spPr>
          <a:xfrm>
            <a:off x="9262871" y="2145791"/>
            <a:ext cx="975359" cy="975359"/>
          </a:xfrm>
          <a:prstGeom prst="rect">
            <a:avLst/>
          </a:prstGeom>
        </p:spPr>
      </p:pic>
      <p:sp>
        <p:nvSpPr>
          <p:cNvPr id="43" name="TextBox 42"/>
          <p:cNvSpPr txBox="1"/>
          <p:nvPr/>
        </p:nvSpPr>
        <p:spPr>
          <a:xfrm>
            <a:off x="7912607" y="3176015"/>
            <a:ext cx="3675887" cy="219456"/>
          </a:xfrm>
          <a:prstGeom prst="rect">
            <a:avLst/>
          </a:prstGeom>
          <a:noFill/>
        </p:spPr>
        <p:txBody>
          <a:bodyPr wrap="none" anchor="ctr" lIns="0" rIns="0" tIns="0" bIns="0"/>
          <a:lstStyle/>
          <a:p>
            <a:pPr algn="ctr">
              <a:spcBef>
                <a:spcPts val="0"/>
              </a:spcBef>
              <a:spcAft>
                <a:spcPts val="0"/>
              </a:spcAft>
            </a:pPr>
            <a:r>
              <a:rPr sz="1300" b="0" i="0">
                <a:solidFill>
                  <a:srgbClr val="1E2D44"/>
                </a:solidFill>
                <a:latin typeface="Karla"/>
              </a:rPr>
              <a:t>Swipe Standard</a:t>
            </a:r>
          </a:p>
        </p:txBody>
      </p:sp>
      <p:sp>
        <p:nvSpPr>
          <p:cNvPr id="44" name="TextBox 43"/>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+13*</a:t>
            </a:r>
          </a:p>
        </p:txBody>
      </p:sp>
      <p:sp>
        <p:nvSpPr>
          <p:cNvPr id="45" name="Rectangle 44"/>
          <p:cNvSpPr/>
          <p:nvPr/>
        </p:nvSpPr>
        <p:spPr>
          <a:xfrm>
            <a:off x="9249155" y="3838956"/>
            <a:ext cx="1002791" cy="1002791"/>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B2.png"/>
          <p:cNvPicPr>
            <a:picLocks noChangeAspect="1"/>
          </p:cNvPicPr>
          <p:nvPr/>
        </p:nvPicPr>
        <p:blipFill>
          <a:blip r:embed="rId4"/>
          <a:stretch>
            <a:fillRect/>
          </a:stretch>
        </p:blipFill>
        <p:spPr>
          <a:xfrm>
            <a:off x="9262871" y="3852671"/>
            <a:ext cx="975359" cy="975359"/>
          </a:xfrm>
          <a:prstGeom prst="rect">
            <a:avLst/>
          </a:prstGeom>
        </p:spPr>
      </p:pic>
      <p:sp>
        <p:nvSpPr>
          <p:cNvPr id="47" name="TextBox 46"/>
          <p:cNvSpPr txBox="1"/>
          <p:nvPr/>
        </p:nvSpPr>
        <p:spPr>
          <a:xfrm>
            <a:off x="7912607" y="4882895"/>
            <a:ext cx="3675887" cy="219456"/>
          </a:xfrm>
          <a:prstGeom prst="rect">
            <a:avLst/>
          </a:prstGeom>
          <a:noFill/>
        </p:spPr>
        <p:txBody>
          <a:bodyPr wrap="none" anchor="ctr" lIns="0" rIns="0" tIns="0" bIns="0"/>
          <a:lstStyle/>
          <a:p>
            <a:pPr algn="ctr">
              <a:spcBef>
                <a:spcPts val="0"/>
              </a:spcBef>
              <a:spcAft>
                <a:spcPts val="0"/>
              </a:spcAft>
            </a:pPr>
            <a:r>
              <a:rPr sz="1300" b="0" i="0">
                <a:solidFill>
                  <a:srgbClr val="1E2D44"/>
                </a:solidFill>
                <a:latin typeface="Karla"/>
              </a:rPr>
              <a:t>Dollop Low</a:t>
            </a:r>
          </a:p>
        </p:txBody>
      </p:sp>
      <p:sp>
        <p:nvSpPr>
          <p:cNvPr id="48" name="TextBox 47"/>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49" name="Rounded Rectangle 48"/>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Both groups rank Splash High first. The widest segment gap is Swipe High: +14 non-users / +24 users.</a:t>
            </a:r>
          </a:p>
        </p:txBody>
      </p:sp>
      <p:sp>
        <p:nvSpPr>
          <p:cNvPr id="50" name="Rectangle 49"/>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52" name="TextBox 51"/>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IMAGERY   ·   3 of 3</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Splash High leads in both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Splash High leads both groups; Swipe Low ranks last.</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IMAGERY</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200655"/>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Splash Low</a:t>
            </a:r>
          </a:p>
        </p:txBody>
      </p:sp>
      <p:sp>
        <p:nvSpPr>
          <p:cNvPr id="18" name="Rectangle 17"/>
          <p:cNvSpPr/>
          <p:nvPr/>
        </p:nvSpPr>
        <p:spPr>
          <a:xfrm>
            <a:off x="2167128" y="2200655"/>
            <a:ext cx="3152089"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74081" y="220065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+13</a:t>
            </a:r>
          </a:p>
        </p:txBody>
      </p:sp>
      <p:sp>
        <p:nvSpPr>
          <p:cNvPr id="20" name="Rectangle 19"/>
          <p:cNvSpPr/>
          <p:nvPr/>
        </p:nvSpPr>
        <p:spPr>
          <a:xfrm>
            <a:off x="2167128" y="2397251"/>
            <a:ext cx="339455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16549" y="239725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+14</a:t>
            </a:r>
          </a:p>
        </p:txBody>
      </p:sp>
      <p:sp>
        <p:nvSpPr>
          <p:cNvPr id="22" name="TextBox 21"/>
          <p:cNvSpPr txBox="1"/>
          <p:nvPr/>
        </p:nvSpPr>
        <p:spPr>
          <a:xfrm>
            <a:off x="502920" y="3920235"/>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Swipe Low</a:t>
            </a:r>
          </a:p>
        </p:txBody>
      </p:sp>
      <p:sp>
        <p:nvSpPr>
          <p:cNvPr id="23" name="Rectangle 22"/>
          <p:cNvSpPr/>
          <p:nvPr/>
        </p:nvSpPr>
        <p:spPr>
          <a:xfrm>
            <a:off x="2167128" y="3920235"/>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1739" y="392023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+8</a:t>
            </a:r>
          </a:p>
        </p:txBody>
      </p:sp>
      <p:sp>
        <p:nvSpPr>
          <p:cNvPr id="25" name="Rectangle 24"/>
          <p:cNvSpPr/>
          <p:nvPr/>
        </p:nvSpPr>
        <p:spPr>
          <a:xfrm>
            <a:off x="2167128" y="4116831"/>
            <a:ext cx="2182215"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04207" y="411683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+9</a:t>
            </a:r>
          </a:p>
        </p:txBody>
      </p:sp>
      <p:sp>
        <p:nvSpPr>
          <p:cNvPr id="27" name="Rectangle 26"/>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29" name="Rectangle 28"/>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1" name="Rounded Rectangle 3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35467" y="1778508"/>
            <a:ext cx="1709927"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B5.png"/>
          <p:cNvPicPr>
            <a:picLocks noChangeAspect="1"/>
          </p:cNvPicPr>
          <p:nvPr/>
        </p:nvPicPr>
        <p:blipFill>
          <a:blip r:embed="rId2"/>
          <a:stretch>
            <a:fillRect/>
          </a:stretch>
        </p:blipFill>
        <p:spPr>
          <a:xfrm>
            <a:off x="7949183" y="1792224"/>
            <a:ext cx="1682495" cy="1682495"/>
          </a:xfrm>
          <a:prstGeom prst="rect">
            <a:avLst/>
          </a:prstGeom>
        </p:spPr>
      </p:pic>
      <p:sp>
        <p:nvSpPr>
          <p:cNvPr id="34" name="TextBox 33"/>
          <p:cNvSpPr txBox="1"/>
          <p:nvPr/>
        </p:nvSpPr>
        <p:spPr>
          <a:xfrm>
            <a:off x="7912607" y="3529584"/>
            <a:ext cx="1755647" cy="219456"/>
          </a:xfrm>
          <a:prstGeom prst="rect">
            <a:avLst/>
          </a:prstGeom>
          <a:noFill/>
        </p:spPr>
        <p:txBody>
          <a:bodyPr wrap="none" anchor="ctr" lIns="0" rIns="0" tIns="0" bIns="0"/>
          <a:lstStyle/>
          <a:p>
            <a:pPr algn="ctr">
              <a:spcBef>
                <a:spcPts val="0"/>
              </a:spcBef>
              <a:spcAft>
                <a:spcPts val="0"/>
              </a:spcAft>
            </a:pPr>
            <a:r>
              <a:rPr sz="1200" b="0" i="0">
                <a:solidFill>
                  <a:srgbClr val="1E2D44"/>
                </a:solidFill>
                <a:latin typeface="Karla"/>
              </a:rPr>
              <a:t>Splash Low</a:t>
            </a:r>
          </a:p>
        </p:txBody>
      </p:sp>
      <p:sp>
        <p:nvSpPr>
          <p:cNvPr id="35" name="TextBox 34"/>
          <p:cNvSpPr txBox="1"/>
          <p:nvPr/>
        </p:nvSpPr>
        <p:spPr>
          <a:xfrm>
            <a:off x="7912607" y="3749039"/>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36" name="Rectangle 35"/>
          <p:cNvSpPr/>
          <p:nvPr/>
        </p:nvSpPr>
        <p:spPr>
          <a:xfrm>
            <a:off x="9855707" y="1778508"/>
            <a:ext cx="1709927"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B7.png"/>
          <p:cNvPicPr>
            <a:picLocks noChangeAspect="1"/>
          </p:cNvPicPr>
          <p:nvPr/>
        </p:nvPicPr>
        <p:blipFill>
          <a:blip r:embed="rId3"/>
          <a:stretch>
            <a:fillRect/>
          </a:stretch>
        </p:blipFill>
        <p:spPr>
          <a:xfrm>
            <a:off x="9869423" y="1792224"/>
            <a:ext cx="1682495" cy="1682495"/>
          </a:xfrm>
          <a:prstGeom prst="rect">
            <a:avLst/>
          </a:prstGeom>
        </p:spPr>
      </p:pic>
      <p:sp>
        <p:nvSpPr>
          <p:cNvPr id="38" name="TextBox 37"/>
          <p:cNvSpPr txBox="1"/>
          <p:nvPr/>
        </p:nvSpPr>
        <p:spPr>
          <a:xfrm>
            <a:off x="9832847" y="3529584"/>
            <a:ext cx="1755647" cy="219456"/>
          </a:xfrm>
          <a:prstGeom prst="rect">
            <a:avLst/>
          </a:prstGeom>
          <a:noFill/>
        </p:spPr>
        <p:txBody>
          <a:bodyPr wrap="none" anchor="ctr" lIns="0" rIns="0" tIns="0" bIns="0"/>
          <a:lstStyle/>
          <a:p>
            <a:pPr algn="ctr">
              <a:spcBef>
                <a:spcPts val="0"/>
              </a:spcBef>
              <a:spcAft>
                <a:spcPts val="0"/>
              </a:spcAft>
            </a:pPr>
            <a:r>
              <a:rPr sz="1200" b="0" i="0">
                <a:solidFill>
                  <a:srgbClr val="1E2D44"/>
                </a:solidFill>
                <a:latin typeface="Karla"/>
              </a:rPr>
              <a:t>Swipe Low</a:t>
            </a:r>
          </a:p>
        </p:txBody>
      </p:sp>
      <p:sp>
        <p:nvSpPr>
          <p:cNvPr id="39" name="TextBox 38"/>
          <p:cNvSpPr txBox="1"/>
          <p:nvPr/>
        </p:nvSpPr>
        <p:spPr>
          <a:xfrm>
            <a:off x="9832847" y="3749039"/>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40" name="Rounded Rectangle 39"/>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Both groups rank Splash High first. The widest segment gap is Swipe High: +14 non-users / +24 users.</a:t>
            </a:r>
          </a:p>
        </p:txBody>
      </p:sp>
      <p:sp>
        <p:nvSpPr>
          <p:cNvPr id="41" name="Rectangle 4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43" name="TextBox 4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VARIANT   ·   1 of 2</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Variant splits across the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Non-users favor Variant Left Low; Dove users favor Variant Ctr Low.</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VARIANT</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70760"/>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Variant Ctr Low</a:t>
            </a:r>
          </a:p>
        </p:txBody>
      </p:sp>
      <p:sp>
        <p:nvSpPr>
          <p:cNvPr id="18" name="Rectangle 17"/>
          <p:cNvSpPr/>
          <p:nvPr/>
        </p:nvSpPr>
        <p:spPr>
          <a:xfrm>
            <a:off x="2167128" y="1770760"/>
            <a:ext cx="3030854"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52846" y="177076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+25</a:t>
            </a:r>
          </a:p>
        </p:txBody>
      </p:sp>
      <p:sp>
        <p:nvSpPr>
          <p:cNvPr id="20" name="Rectangle 19"/>
          <p:cNvSpPr/>
          <p:nvPr/>
        </p:nvSpPr>
        <p:spPr>
          <a:xfrm>
            <a:off x="2167128" y="1967356"/>
            <a:ext cx="4121962"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3954" y="196735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+34</a:t>
            </a:r>
          </a:p>
        </p:txBody>
      </p:sp>
      <p:sp>
        <p:nvSpPr>
          <p:cNvPr id="22" name="TextBox 21"/>
          <p:cNvSpPr txBox="1"/>
          <p:nvPr/>
        </p:nvSpPr>
        <p:spPr>
          <a:xfrm>
            <a:off x="502920" y="2630550"/>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Variant Left Low</a:t>
            </a:r>
          </a:p>
        </p:txBody>
      </p:sp>
      <p:sp>
        <p:nvSpPr>
          <p:cNvPr id="23" name="Rectangle 22"/>
          <p:cNvSpPr/>
          <p:nvPr/>
        </p:nvSpPr>
        <p:spPr>
          <a:xfrm>
            <a:off x="2167128" y="2630550"/>
            <a:ext cx="327332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95315" y="263055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+27</a:t>
            </a:r>
          </a:p>
        </p:txBody>
      </p:sp>
      <p:sp>
        <p:nvSpPr>
          <p:cNvPr id="25" name="Rectangle 24"/>
          <p:cNvSpPr/>
          <p:nvPr/>
        </p:nvSpPr>
        <p:spPr>
          <a:xfrm>
            <a:off x="2167128" y="2827146"/>
            <a:ext cx="3637025"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9017" y="282714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+30</a:t>
            </a:r>
          </a:p>
        </p:txBody>
      </p:sp>
      <p:sp>
        <p:nvSpPr>
          <p:cNvPr id="27" name="TextBox 26"/>
          <p:cNvSpPr txBox="1"/>
          <p:nvPr/>
        </p:nvSpPr>
        <p:spPr>
          <a:xfrm>
            <a:off x="502920" y="3490340"/>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Variant Ctr Top</a:t>
            </a:r>
          </a:p>
          <a:p>
            <a:pPr algn="r">
              <a:spcBef>
                <a:spcPts val="0"/>
              </a:spcBef>
              <a:spcAft>
                <a:spcPts val="0"/>
              </a:spcAft>
            </a:pPr>
            <a:r>
              <a:rPr sz="1100" b="0" i="0">
                <a:solidFill>
                  <a:srgbClr val="1E2D44"/>
                </a:solidFill>
                <a:latin typeface="Karla"/>
              </a:rPr>
              <a:t>Lowered</a:t>
            </a:r>
          </a:p>
        </p:txBody>
      </p:sp>
      <p:sp>
        <p:nvSpPr>
          <p:cNvPr id="28" name="Rectangle 27"/>
          <p:cNvSpPr/>
          <p:nvPr/>
        </p:nvSpPr>
        <p:spPr>
          <a:xfrm>
            <a:off x="2167128" y="3490340"/>
            <a:ext cx="2667152"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89144" y="349034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+22</a:t>
            </a:r>
          </a:p>
        </p:txBody>
      </p:sp>
      <p:sp>
        <p:nvSpPr>
          <p:cNvPr id="30" name="Rectangle 29"/>
          <p:cNvSpPr/>
          <p:nvPr/>
        </p:nvSpPr>
        <p:spPr>
          <a:xfrm>
            <a:off x="2167128" y="3686936"/>
            <a:ext cx="242468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46675" y="368693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+20</a:t>
            </a:r>
          </a:p>
        </p:txBody>
      </p:sp>
      <p:sp>
        <p:nvSpPr>
          <p:cNvPr id="32" name="TextBox 31"/>
          <p:cNvSpPr txBox="1"/>
          <p:nvPr/>
        </p:nvSpPr>
        <p:spPr>
          <a:xfrm>
            <a:off x="502920" y="4350131"/>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Variant Ctr Top</a:t>
            </a:r>
          </a:p>
        </p:txBody>
      </p:sp>
      <p:sp>
        <p:nvSpPr>
          <p:cNvPr id="33" name="Rectangle 32"/>
          <p:cNvSpPr/>
          <p:nvPr/>
        </p:nvSpPr>
        <p:spPr>
          <a:xfrm>
            <a:off x="2167128" y="4350131"/>
            <a:ext cx="242468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46675" y="4350131"/>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+20</a:t>
            </a:r>
          </a:p>
        </p:txBody>
      </p:sp>
      <p:sp>
        <p:nvSpPr>
          <p:cNvPr id="35" name="Rectangle 34"/>
          <p:cNvSpPr/>
          <p:nvPr/>
        </p:nvSpPr>
        <p:spPr>
          <a:xfrm>
            <a:off x="2167128" y="4546727"/>
            <a:ext cx="2182215"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04207" y="4546727"/>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+18</a:t>
            </a:r>
          </a:p>
        </p:txBody>
      </p:sp>
      <p:sp>
        <p:nvSpPr>
          <p:cNvPr id="37" name="Rectangle 36"/>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9" name="Rectangle 38"/>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41" name="Rounded Rectangle 4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20811" y="425196"/>
            <a:ext cx="1539239"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C1.png"/>
          <p:cNvPicPr>
            <a:picLocks noChangeAspect="1"/>
          </p:cNvPicPr>
          <p:nvPr/>
        </p:nvPicPr>
        <p:blipFill>
          <a:blip r:embed="rId2"/>
          <a:stretch>
            <a:fillRect/>
          </a:stretch>
        </p:blipFill>
        <p:spPr>
          <a:xfrm>
            <a:off x="8034527" y="438912"/>
            <a:ext cx="1511807" cy="1682495"/>
          </a:xfrm>
          <a:prstGeom prst="rect">
            <a:avLst/>
          </a:prstGeom>
        </p:spPr>
      </p:pic>
      <p:sp>
        <p:nvSpPr>
          <p:cNvPr id="44" name="TextBox 43"/>
          <p:cNvSpPr txBox="1"/>
          <p:nvPr/>
        </p:nvSpPr>
        <p:spPr>
          <a:xfrm>
            <a:off x="7912607" y="217627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Variant Ctr Low</a:t>
            </a:r>
          </a:p>
        </p:txBody>
      </p:sp>
      <p:sp>
        <p:nvSpPr>
          <p:cNvPr id="45" name="TextBox 44"/>
          <p:cNvSpPr txBox="1"/>
          <p:nvPr/>
        </p:nvSpPr>
        <p:spPr>
          <a:xfrm>
            <a:off x="7912607" y="254203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+30*</a:t>
            </a:r>
          </a:p>
        </p:txBody>
      </p:sp>
      <p:sp>
        <p:nvSpPr>
          <p:cNvPr id="46" name="Rectangle 45"/>
          <p:cNvSpPr/>
          <p:nvPr/>
        </p:nvSpPr>
        <p:spPr>
          <a:xfrm>
            <a:off x="9941051" y="425196"/>
            <a:ext cx="1539239"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C3.png"/>
          <p:cNvPicPr>
            <a:picLocks noChangeAspect="1"/>
          </p:cNvPicPr>
          <p:nvPr/>
        </p:nvPicPr>
        <p:blipFill>
          <a:blip r:embed="rId3"/>
          <a:stretch>
            <a:fillRect/>
          </a:stretch>
        </p:blipFill>
        <p:spPr>
          <a:xfrm>
            <a:off x="9954767" y="438912"/>
            <a:ext cx="1511807" cy="1682495"/>
          </a:xfrm>
          <a:prstGeom prst="rect">
            <a:avLst/>
          </a:prstGeom>
        </p:spPr>
      </p:pic>
      <p:sp>
        <p:nvSpPr>
          <p:cNvPr id="48" name="TextBox 47"/>
          <p:cNvSpPr txBox="1"/>
          <p:nvPr/>
        </p:nvSpPr>
        <p:spPr>
          <a:xfrm>
            <a:off x="9832847" y="217627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Variant Left Low</a:t>
            </a:r>
          </a:p>
        </p:txBody>
      </p:sp>
      <p:sp>
        <p:nvSpPr>
          <p:cNvPr id="49" name="TextBox 48"/>
          <p:cNvSpPr txBox="1"/>
          <p:nvPr/>
        </p:nvSpPr>
        <p:spPr>
          <a:xfrm>
            <a:off x="9832847" y="254203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+28*</a:t>
            </a:r>
          </a:p>
        </p:txBody>
      </p:sp>
      <p:sp>
        <p:nvSpPr>
          <p:cNvPr id="50" name="Rectangle 49"/>
          <p:cNvSpPr/>
          <p:nvPr/>
        </p:nvSpPr>
        <p:spPr>
          <a:xfrm>
            <a:off x="8020811" y="2985515"/>
            <a:ext cx="1539239"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C2.png"/>
          <p:cNvPicPr>
            <a:picLocks noChangeAspect="1"/>
          </p:cNvPicPr>
          <p:nvPr/>
        </p:nvPicPr>
        <p:blipFill>
          <a:blip r:embed="rId4"/>
          <a:stretch>
            <a:fillRect/>
          </a:stretch>
        </p:blipFill>
        <p:spPr>
          <a:xfrm>
            <a:off x="8034527" y="2999232"/>
            <a:ext cx="1511807" cy="1682495"/>
          </a:xfrm>
          <a:prstGeom prst="rect">
            <a:avLst/>
          </a:prstGeom>
        </p:spPr>
      </p:pic>
      <p:sp>
        <p:nvSpPr>
          <p:cNvPr id="52" name="TextBox 51"/>
          <p:cNvSpPr txBox="1"/>
          <p:nvPr/>
        </p:nvSpPr>
        <p:spPr>
          <a:xfrm>
            <a:off x="7912607" y="4736591"/>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Variant Ctr Top</a:t>
            </a:r>
          </a:p>
          <a:p>
            <a:pPr algn="ctr">
              <a:spcBef>
                <a:spcPts val="0"/>
              </a:spcBef>
              <a:spcAft>
                <a:spcPts val="0"/>
              </a:spcAft>
            </a:pPr>
            <a:r>
              <a:rPr sz="1200" b="0" i="0">
                <a:solidFill>
                  <a:srgbClr val="1E2D44"/>
                </a:solidFill>
                <a:latin typeface="Karla"/>
              </a:rPr>
              <a:t>Lowered</a:t>
            </a:r>
          </a:p>
        </p:txBody>
      </p:sp>
      <p:sp>
        <p:nvSpPr>
          <p:cNvPr id="53" name="TextBox 52"/>
          <p:cNvSpPr txBox="1"/>
          <p:nvPr/>
        </p:nvSpPr>
        <p:spPr>
          <a:xfrm>
            <a:off x="7912607" y="5102351"/>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54" name="Rectangle 53"/>
          <p:cNvSpPr/>
          <p:nvPr/>
        </p:nvSpPr>
        <p:spPr>
          <a:xfrm>
            <a:off x="9941051" y="2985515"/>
            <a:ext cx="1539239"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C6.png"/>
          <p:cNvPicPr>
            <a:picLocks noChangeAspect="1"/>
          </p:cNvPicPr>
          <p:nvPr/>
        </p:nvPicPr>
        <p:blipFill>
          <a:blip r:embed="rId5"/>
          <a:stretch>
            <a:fillRect/>
          </a:stretch>
        </p:blipFill>
        <p:spPr>
          <a:xfrm>
            <a:off x="9954767" y="2999232"/>
            <a:ext cx="1511807" cy="1682495"/>
          </a:xfrm>
          <a:prstGeom prst="rect">
            <a:avLst/>
          </a:prstGeom>
        </p:spPr>
      </p:pic>
      <p:sp>
        <p:nvSpPr>
          <p:cNvPr id="56" name="TextBox 55"/>
          <p:cNvSpPr txBox="1"/>
          <p:nvPr/>
        </p:nvSpPr>
        <p:spPr>
          <a:xfrm>
            <a:off x="9832847" y="4736591"/>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Variant Ctr Top</a:t>
            </a:r>
          </a:p>
        </p:txBody>
      </p:sp>
      <p:sp>
        <p:nvSpPr>
          <p:cNvPr id="57" name="TextBox 56"/>
          <p:cNvSpPr txBox="1"/>
          <p:nvPr/>
        </p:nvSpPr>
        <p:spPr>
          <a:xfrm>
            <a:off x="9832847" y="5102351"/>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+19*</a:t>
            </a:r>
          </a:p>
        </p:txBody>
      </p:sp>
      <p:sp>
        <p:nvSpPr>
          <p:cNvPr id="58" name="Rounded Rectangle 57"/>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Non-users favor Variant Left Low; Dove users favor Variant Ctr Low. The widest segment gap is Variant Ctr Low: +25 non-users / +34 users.</a:t>
            </a:r>
          </a:p>
        </p:txBody>
      </p:sp>
      <p:sp>
        <p:nvSpPr>
          <p:cNvPr id="59" name="Rectangle 5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61" name="TextBox 6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VARIANT   ·   2 of 2</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Variant splits across the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Non-users favor Variant Left Low; Dove users favor Variant Ctr Low.</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VARIANT</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200655"/>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Variant Left Top</a:t>
            </a:r>
          </a:p>
          <a:p>
            <a:pPr algn="r">
              <a:spcBef>
                <a:spcPts val="0"/>
              </a:spcBef>
              <a:spcAft>
                <a:spcPts val="0"/>
              </a:spcAft>
            </a:pPr>
            <a:r>
              <a:rPr sz="1100" b="0" i="0">
                <a:solidFill>
                  <a:srgbClr val="1E2D44"/>
                </a:solidFill>
                <a:latin typeface="Karla"/>
              </a:rPr>
              <a:t>Lowered</a:t>
            </a:r>
          </a:p>
        </p:txBody>
      </p:sp>
      <p:sp>
        <p:nvSpPr>
          <p:cNvPr id="18" name="Rectangle 17"/>
          <p:cNvSpPr/>
          <p:nvPr/>
        </p:nvSpPr>
        <p:spPr>
          <a:xfrm>
            <a:off x="2167128" y="2200655"/>
            <a:ext cx="4606899"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8891" y="220065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+19</a:t>
            </a:r>
          </a:p>
        </p:txBody>
      </p:sp>
      <p:sp>
        <p:nvSpPr>
          <p:cNvPr id="20" name="Rectangle 19"/>
          <p:cNvSpPr/>
          <p:nvPr/>
        </p:nvSpPr>
        <p:spPr>
          <a:xfrm>
            <a:off x="2167128" y="2397251"/>
            <a:ext cx="436443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6422" y="239725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+18</a:t>
            </a:r>
          </a:p>
        </p:txBody>
      </p:sp>
      <p:sp>
        <p:nvSpPr>
          <p:cNvPr id="22" name="TextBox 21"/>
          <p:cNvSpPr txBox="1"/>
          <p:nvPr/>
        </p:nvSpPr>
        <p:spPr>
          <a:xfrm>
            <a:off x="502920" y="3920235"/>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Variant Left Top</a:t>
            </a:r>
          </a:p>
        </p:txBody>
      </p:sp>
      <p:sp>
        <p:nvSpPr>
          <p:cNvPr id="23" name="Rectangle 22"/>
          <p:cNvSpPr/>
          <p:nvPr/>
        </p:nvSpPr>
        <p:spPr>
          <a:xfrm>
            <a:off x="2167128" y="3920235"/>
            <a:ext cx="436443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6422" y="392023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+18</a:t>
            </a:r>
          </a:p>
        </p:txBody>
      </p:sp>
      <p:sp>
        <p:nvSpPr>
          <p:cNvPr id="25" name="Rectangle 24"/>
          <p:cNvSpPr/>
          <p:nvPr/>
        </p:nvSpPr>
        <p:spPr>
          <a:xfrm>
            <a:off x="2167128" y="4116831"/>
            <a:ext cx="4606899"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28891" y="411683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+19</a:t>
            </a:r>
          </a:p>
        </p:txBody>
      </p:sp>
      <p:sp>
        <p:nvSpPr>
          <p:cNvPr id="27" name="Rectangle 26"/>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29" name="Rectangle 28"/>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1" name="Rounded Rectangle 3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35467" y="1610376"/>
            <a:ext cx="1709927" cy="18998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4.png"/>
          <p:cNvPicPr>
            <a:picLocks noChangeAspect="1"/>
          </p:cNvPicPr>
          <p:nvPr/>
        </p:nvPicPr>
        <p:blipFill>
          <a:blip r:embed="rId2"/>
          <a:stretch>
            <a:fillRect/>
          </a:stretch>
        </p:blipFill>
        <p:spPr>
          <a:xfrm>
            <a:off x="7949183" y="1624092"/>
            <a:ext cx="1682495" cy="1872455"/>
          </a:xfrm>
          <a:prstGeom prst="rect">
            <a:avLst/>
          </a:prstGeom>
        </p:spPr>
      </p:pic>
      <p:sp>
        <p:nvSpPr>
          <p:cNvPr id="34" name="TextBox 33"/>
          <p:cNvSpPr txBox="1"/>
          <p:nvPr/>
        </p:nvSpPr>
        <p:spPr>
          <a:xfrm>
            <a:off x="7912607" y="3551411"/>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Variant Left Top</a:t>
            </a:r>
          </a:p>
          <a:p>
            <a:pPr algn="ctr">
              <a:spcBef>
                <a:spcPts val="0"/>
              </a:spcBef>
              <a:spcAft>
                <a:spcPts val="0"/>
              </a:spcAft>
            </a:pPr>
            <a:r>
              <a:rPr sz="1200" b="0" i="0">
                <a:solidFill>
                  <a:srgbClr val="1E2D44"/>
                </a:solidFill>
                <a:latin typeface="Karla"/>
              </a:rPr>
              <a:t>Lowered</a:t>
            </a:r>
          </a:p>
        </p:txBody>
      </p:sp>
      <p:sp>
        <p:nvSpPr>
          <p:cNvPr id="35" name="TextBox 34"/>
          <p:cNvSpPr txBox="1"/>
          <p:nvPr/>
        </p:nvSpPr>
        <p:spPr>
          <a:xfrm>
            <a:off x="7912607" y="3917171"/>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36" name="Rectangle 35"/>
          <p:cNvSpPr/>
          <p:nvPr/>
        </p:nvSpPr>
        <p:spPr>
          <a:xfrm>
            <a:off x="9855707" y="1610376"/>
            <a:ext cx="1709927" cy="18998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C5.png"/>
          <p:cNvPicPr>
            <a:picLocks noChangeAspect="1"/>
          </p:cNvPicPr>
          <p:nvPr/>
        </p:nvPicPr>
        <p:blipFill>
          <a:blip r:embed="rId3"/>
          <a:stretch>
            <a:fillRect/>
          </a:stretch>
        </p:blipFill>
        <p:spPr>
          <a:xfrm>
            <a:off x="9869423" y="1624092"/>
            <a:ext cx="1682495" cy="1872455"/>
          </a:xfrm>
          <a:prstGeom prst="rect">
            <a:avLst/>
          </a:prstGeom>
        </p:spPr>
      </p:pic>
      <p:sp>
        <p:nvSpPr>
          <p:cNvPr id="38" name="TextBox 37"/>
          <p:cNvSpPr txBox="1"/>
          <p:nvPr/>
        </p:nvSpPr>
        <p:spPr>
          <a:xfrm>
            <a:off x="9832847" y="3551411"/>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Variant Left Top</a:t>
            </a:r>
          </a:p>
        </p:txBody>
      </p:sp>
      <p:sp>
        <p:nvSpPr>
          <p:cNvPr id="39" name="TextBox 38"/>
          <p:cNvSpPr txBox="1"/>
          <p:nvPr/>
        </p:nvSpPr>
        <p:spPr>
          <a:xfrm>
            <a:off x="9832847" y="3917171"/>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40" name="Rounded Rectangle 39"/>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Non-users favor Variant Left Low; Dove users favor Variant Ctr Low. The widest segment gap is Variant Ctr Low: +25 non-users / +34 users.</a:t>
            </a:r>
          </a:p>
        </p:txBody>
      </p:sp>
      <p:sp>
        <p:nvSpPr>
          <p:cNvPr id="41" name="Rectangle 4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43" name="TextBox 4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DERM SEAL   ·   1 of 2</a:t>
            </a:r>
          </a:p>
        </p:txBody>
      </p:sp>
      <p:sp>
        <p:nvSpPr>
          <p:cNvPr id="3" name="TextBox 2"/>
          <p:cNvSpPr txBox="1"/>
          <p:nvPr/>
        </p:nvSpPr>
        <p:spPr>
          <a:xfrm>
            <a:off x="502920" y="438912"/>
            <a:ext cx="7043927" cy="354203"/>
          </a:xfrm>
          <a:prstGeom prst="rect">
            <a:avLst/>
          </a:prstGeom>
          <a:noFill/>
        </p:spPr>
        <p:txBody>
          <a:bodyPr wrap="square" anchor="t" lIns="0" rIns="0" tIns="0" bIns="0"/>
          <a:lstStyle/>
          <a:p>
            <a:pPr algn="l">
              <a:spcBef>
                <a:spcPts val="0"/>
              </a:spcBef>
              <a:spcAft>
                <a:spcPts val="0"/>
              </a:spcAft>
              <a:lnSpc>
                <a:spcPts val="2645"/>
              </a:lnSpc>
            </a:pPr>
            <a:r>
              <a:rPr sz="2300" b="1" i="0">
                <a:solidFill>
                  <a:srgbClr val="1E2D44"/>
                </a:solidFill>
                <a:latin typeface="Karla"/>
              </a:rPr>
              <a:t>Derm Seal Variant Top Left leads in both groups</a:t>
            </a:r>
          </a:p>
        </p:txBody>
      </p:sp>
      <p:sp>
        <p:nvSpPr>
          <p:cNvPr id="4" name="TextBox 3"/>
          <p:cNvSpPr txBox="1"/>
          <p:nvPr/>
        </p:nvSpPr>
        <p:spPr>
          <a:xfrm>
            <a:off x="502920" y="866266"/>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Derm Seal Variant Top Left leads both groups; Derm Seal Gold High ranks last.</a:t>
            </a:r>
          </a:p>
        </p:txBody>
      </p:sp>
      <p:sp>
        <p:nvSpPr>
          <p:cNvPr id="5" name="Rectangle 4"/>
          <p:cNvSpPr/>
          <p:nvPr/>
        </p:nvSpPr>
        <p:spPr>
          <a:xfrm>
            <a:off x="502920" y="1162177"/>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DERM SEAL</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473073"/>
            <a:ext cx="9144" cy="3482974"/>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473073"/>
            <a:ext cx="9144" cy="3482974"/>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473073"/>
            <a:ext cx="9144" cy="3482974"/>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473073"/>
            <a:ext cx="9144" cy="3482974"/>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473073"/>
            <a:ext cx="10972" cy="3482974"/>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32422"/>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Derm Seal Variant</a:t>
            </a:r>
          </a:p>
          <a:p>
            <a:pPr algn="r">
              <a:spcBef>
                <a:spcPts val="0"/>
              </a:spcBef>
              <a:spcAft>
                <a:spcPts val="0"/>
              </a:spcAft>
            </a:pPr>
            <a:r>
              <a:rPr sz="1100" b="0" i="0">
                <a:solidFill>
                  <a:srgbClr val="1E2D44"/>
                </a:solidFill>
                <a:latin typeface="Karla"/>
              </a:rPr>
              <a:t>Top Left</a:t>
            </a:r>
          </a:p>
        </p:txBody>
      </p:sp>
      <p:sp>
        <p:nvSpPr>
          <p:cNvPr id="18" name="Rectangle 17"/>
          <p:cNvSpPr/>
          <p:nvPr/>
        </p:nvSpPr>
        <p:spPr>
          <a:xfrm>
            <a:off x="2167128" y="1732422"/>
            <a:ext cx="3637025"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59017" y="1732422"/>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+15</a:t>
            </a:r>
          </a:p>
        </p:txBody>
      </p:sp>
      <p:sp>
        <p:nvSpPr>
          <p:cNvPr id="20" name="Rectangle 19"/>
          <p:cNvSpPr/>
          <p:nvPr/>
        </p:nvSpPr>
        <p:spPr>
          <a:xfrm>
            <a:off x="2167128" y="1929018"/>
            <a:ext cx="484936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71359" y="192901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+20</a:t>
            </a:r>
          </a:p>
        </p:txBody>
      </p:sp>
      <p:sp>
        <p:nvSpPr>
          <p:cNvPr id="22" name="TextBox 21"/>
          <p:cNvSpPr txBox="1"/>
          <p:nvPr/>
        </p:nvSpPr>
        <p:spPr>
          <a:xfrm>
            <a:off x="502920" y="2603166"/>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Derm Seal Gold Top</a:t>
            </a:r>
          </a:p>
          <a:p>
            <a:pPr algn="r">
              <a:spcBef>
                <a:spcPts val="0"/>
              </a:spcBef>
              <a:spcAft>
                <a:spcPts val="0"/>
              </a:spcAft>
            </a:pPr>
            <a:r>
              <a:rPr sz="1100" b="0" i="0">
                <a:solidFill>
                  <a:srgbClr val="1E2D44"/>
                </a:solidFill>
                <a:latin typeface="Karla"/>
              </a:rPr>
              <a:t>Left</a:t>
            </a:r>
          </a:p>
        </p:txBody>
      </p:sp>
      <p:sp>
        <p:nvSpPr>
          <p:cNvPr id="23" name="Rectangle 22"/>
          <p:cNvSpPr/>
          <p:nvPr/>
        </p:nvSpPr>
        <p:spPr>
          <a:xfrm>
            <a:off x="2167128" y="2603166"/>
            <a:ext cx="3152089"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74081" y="2603166"/>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+13</a:t>
            </a:r>
          </a:p>
        </p:txBody>
      </p:sp>
      <p:sp>
        <p:nvSpPr>
          <p:cNvPr id="25" name="Rectangle 24"/>
          <p:cNvSpPr/>
          <p:nvPr/>
        </p:nvSpPr>
        <p:spPr>
          <a:xfrm>
            <a:off x="2167128" y="2799762"/>
            <a:ext cx="436443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6422" y="2799762"/>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+18</a:t>
            </a:r>
          </a:p>
        </p:txBody>
      </p:sp>
      <p:sp>
        <p:nvSpPr>
          <p:cNvPr id="27" name="TextBox 26"/>
          <p:cNvSpPr txBox="1"/>
          <p:nvPr/>
        </p:nvSpPr>
        <p:spPr>
          <a:xfrm>
            <a:off x="502920" y="3459432"/>
            <a:ext cx="1554480" cy="380999"/>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Derm Seal Gold</a:t>
            </a:r>
          </a:p>
          <a:p>
            <a:pPr algn="r">
              <a:spcBef>
                <a:spcPts val="0"/>
              </a:spcBef>
              <a:spcAft>
                <a:spcPts val="0"/>
              </a:spcAft>
            </a:pPr>
            <a:r>
              <a:rPr sz="1200" b="0" i="0">
                <a:solidFill>
                  <a:srgbClr val="1E2D44"/>
                </a:solidFill>
                <a:latin typeface="Karla"/>
              </a:rPr>
              <a:t>Std</a:t>
            </a:r>
          </a:p>
        </p:txBody>
      </p:sp>
      <p:sp>
        <p:nvSpPr>
          <p:cNvPr id="28" name="Rectangle 27"/>
          <p:cNvSpPr/>
          <p:nvPr/>
        </p:nvSpPr>
        <p:spPr>
          <a:xfrm>
            <a:off x="2167128" y="3473910"/>
            <a:ext cx="145481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76802" y="347391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+6</a:t>
            </a:r>
          </a:p>
        </p:txBody>
      </p:sp>
      <p:sp>
        <p:nvSpPr>
          <p:cNvPr id="30" name="Rectangle 29"/>
          <p:cNvSpPr/>
          <p:nvPr/>
        </p:nvSpPr>
        <p:spPr>
          <a:xfrm>
            <a:off x="2167128" y="3670506"/>
            <a:ext cx="2667152"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9144" y="367050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+11</a:t>
            </a:r>
          </a:p>
        </p:txBody>
      </p:sp>
      <p:sp>
        <p:nvSpPr>
          <p:cNvPr id="32" name="TextBox 31"/>
          <p:cNvSpPr txBox="1"/>
          <p:nvPr/>
        </p:nvSpPr>
        <p:spPr>
          <a:xfrm>
            <a:off x="502920" y="4344654"/>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Derm Seal Gold Low</a:t>
            </a:r>
          </a:p>
          <a:p>
            <a:pPr algn="r">
              <a:spcBef>
                <a:spcPts val="0"/>
              </a:spcBef>
              <a:spcAft>
                <a:spcPts val="0"/>
              </a:spcAft>
            </a:pPr>
            <a:r>
              <a:rPr sz="1100" b="0" i="0">
                <a:solidFill>
                  <a:srgbClr val="1E2D44"/>
                </a:solidFill>
                <a:latin typeface="Karla"/>
              </a:rPr>
              <a:t>Right</a:t>
            </a:r>
          </a:p>
        </p:txBody>
      </p:sp>
      <p:sp>
        <p:nvSpPr>
          <p:cNvPr id="33" name="Rectangle 32"/>
          <p:cNvSpPr/>
          <p:nvPr/>
        </p:nvSpPr>
        <p:spPr>
          <a:xfrm>
            <a:off x="2167128" y="4344654"/>
            <a:ext cx="1697278"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19270" y="434465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+7</a:t>
            </a:r>
          </a:p>
        </p:txBody>
      </p:sp>
      <p:sp>
        <p:nvSpPr>
          <p:cNvPr id="35" name="Rectangle 34"/>
          <p:cNvSpPr/>
          <p:nvPr/>
        </p:nvSpPr>
        <p:spPr>
          <a:xfrm>
            <a:off x="2167128" y="4541250"/>
            <a:ext cx="242468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46675" y="4541250"/>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+10</a:t>
            </a:r>
          </a:p>
        </p:txBody>
      </p:sp>
      <p:sp>
        <p:nvSpPr>
          <p:cNvPr id="37" name="Rectangle 36"/>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9" name="Rectangle 38"/>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41" name="Rounded Rectangle 4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20080" y="425196"/>
            <a:ext cx="1540702"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D8.png"/>
          <p:cNvPicPr>
            <a:picLocks noChangeAspect="1"/>
          </p:cNvPicPr>
          <p:nvPr/>
        </p:nvPicPr>
        <p:blipFill>
          <a:blip r:embed="rId2"/>
          <a:stretch>
            <a:fillRect/>
          </a:stretch>
        </p:blipFill>
        <p:spPr>
          <a:xfrm>
            <a:off x="8033796" y="438912"/>
            <a:ext cx="1513270" cy="1682495"/>
          </a:xfrm>
          <a:prstGeom prst="rect">
            <a:avLst/>
          </a:prstGeom>
        </p:spPr>
      </p:pic>
      <p:sp>
        <p:nvSpPr>
          <p:cNvPr id="44" name="TextBox 43"/>
          <p:cNvSpPr txBox="1"/>
          <p:nvPr/>
        </p:nvSpPr>
        <p:spPr>
          <a:xfrm>
            <a:off x="7912607" y="217627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Derm Seal Variant</a:t>
            </a:r>
          </a:p>
          <a:p>
            <a:pPr algn="ctr">
              <a:spcBef>
                <a:spcPts val="0"/>
              </a:spcBef>
              <a:spcAft>
                <a:spcPts val="0"/>
              </a:spcAft>
            </a:pPr>
            <a:r>
              <a:rPr sz="1200" b="0" i="0">
                <a:solidFill>
                  <a:srgbClr val="1E2D44"/>
                </a:solidFill>
                <a:latin typeface="Karla"/>
              </a:rPr>
              <a:t>Top Left</a:t>
            </a:r>
          </a:p>
        </p:txBody>
      </p:sp>
      <p:sp>
        <p:nvSpPr>
          <p:cNvPr id="45" name="TextBox 44"/>
          <p:cNvSpPr txBox="1"/>
          <p:nvPr/>
        </p:nvSpPr>
        <p:spPr>
          <a:xfrm>
            <a:off x="7912607" y="254203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+18*</a:t>
            </a:r>
          </a:p>
        </p:txBody>
      </p:sp>
      <p:sp>
        <p:nvSpPr>
          <p:cNvPr id="46" name="Rectangle 45"/>
          <p:cNvSpPr/>
          <p:nvPr/>
        </p:nvSpPr>
        <p:spPr>
          <a:xfrm>
            <a:off x="9940320" y="425196"/>
            <a:ext cx="1540702"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D4.png"/>
          <p:cNvPicPr>
            <a:picLocks noChangeAspect="1"/>
          </p:cNvPicPr>
          <p:nvPr/>
        </p:nvPicPr>
        <p:blipFill>
          <a:blip r:embed="rId3"/>
          <a:stretch>
            <a:fillRect/>
          </a:stretch>
        </p:blipFill>
        <p:spPr>
          <a:xfrm>
            <a:off x="9954036" y="438912"/>
            <a:ext cx="1513270" cy="1682495"/>
          </a:xfrm>
          <a:prstGeom prst="rect">
            <a:avLst/>
          </a:prstGeom>
        </p:spPr>
      </p:pic>
      <p:sp>
        <p:nvSpPr>
          <p:cNvPr id="48" name="TextBox 47"/>
          <p:cNvSpPr txBox="1"/>
          <p:nvPr/>
        </p:nvSpPr>
        <p:spPr>
          <a:xfrm>
            <a:off x="9832847" y="217627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Derm Seal Gold Top</a:t>
            </a:r>
          </a:p>
          <a:p>
            <a:pPr algn="ctr">
              <a:spcBef>
                <a:spcPts val="0"/>
              </a:spcBef>
              <a:spcAft>
                <a:spcPts val="0"/>
              </a:spcAft>
            </a:pPr>
            <a:r>
              <a:rPr sz="1200" b="0" i="0">
                <a:solidFill>
                  <a:srgbClr val="1E2D44"/>
                </a:solidFill>
                <a:latin typeface="Karla"/>
              </a:rPr>
              <a:t>Left</a:t>
            </a:r>
          </a:p>
        </p:txBody>
      </p:sp>
      <p:sp>
        <p:nvSpPr>
          <p:cNvPr id="49" name="TextBox 48"/>
          <p:cNvSpPr txBox="1"/>
          <p:nvPr/>
        </p:nvSpPr>
        <p:spPr>
          <a:xfrm>
            <a:off x="9832847" y="254203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+16*</a:t>
            </a:r>
          </a:p>
        </p:txBody>
      </p:sp>
      <p:sp>
        <p:nvSpPr>
          <p:cNvPr id="50" name="Rectangle 49"/>
          <p:cNvSpPr/>
          <p:nvPr/>
        </p:nvSpPr>
        <p:spPr>
          <a:xfrm>
            <a:off x="8020080" y="2985515"/>
            <a:ext cx="1540702"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D1.png"/>
          <p:cNvPicPr>
            <a:picLocks noChangeAspect="1"/>
          </p:cNvPicPr>
          <p:nvPr/>
        </p:nvPicPr>
        <p:blipFill>
          <a:blip r:embed="rId4"/>
          <a:stretch>
            <a:fillRect/>
          </a:stretch>
        </p:blipFill>
        <p:spPr>
          <a:xfrm>
            <a:off x="8033796" y="2999232"/>
            <a:ext cx="1513270" cy="1682495"/>
          </a:xfrm>
          <a:prstGeom prst="rect">
            <a:avLst/>
          </a:prstGeom>
        </p:spPr>
      </p:pic>
      <p:sp>
        <p:nvSpPr>
          <p:cNvPr id="52" name="TextBox 51"/>
          <p:cNvSpPr txBox="1"/>
          <p:nvPr/>
        </p:nvSpPr>
        <p:spPr>
          <a:xfrm>
            <a:off x="7912607" y="4736591"/>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Derm Seal Gold Std</a:t>
            </a:r>
          </a:p>
        </p:txBody>
      </p:sp>
      <p:sp>
        <p:nvSpPr>
          <p:cNvPr id="53" name="TextBox 52"/>
          <p:cNvSpPr txBox="1"/>
          <p:nvPr/>
        </p:nvSpPr>
        <p:spPr>
          <a:xfrm>
            <a:off x="7912607" y="5102351"/>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54" name="Rectangle 53"/>
          <p:cNvSpPr/>
          <p:nvPr/>
        </p:nvSpPr>
        <p:spPr>
          <a:xfrm>
            <a:off x="9940320" y="2985515"/>
            <a:ext cx="1540702"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D3.png"/>
          <p:cNvPicPr>
            <a:picLocks noChangeAspect="1"/>
          </p:cNvPicPr>
          <p:nvPr/>
        </p:nvPicPr>
        <p:blipFill>
          <a:blip r:embed="rId5"/>
          <a:stretch>
            <a:fillRect/>
          </a:stretch>
        </p:blipFill>
        <p:spPr>
          <a:xfrm>
            <a:off x="9954036" y="2999232"/>
            <a:ext cx="1513270" cy="1682495"/>
          </a:xfrm>
          <a:prstGeom prst="rect">
            <a:avLst/>
          </a:prstGeom>
        </p:spPr>
      </p:pic>
      <p:sp>
        <p:nvSpPr>
          <p:cNvPr id="56" name="TextBox 55"/>
          <p:cNvSpPr txBox="1"/>
          <p:nvPr/>
        </p:nvSpPr>
        <p:spPr>
          <a:xfrm>
            <a:off x="9832847" y="4736591"/>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Derm Seal Gold Low</a:t>
            </a:r>
          </a:p>
          <a:p>
            <a:pPr algn="ctr">
              <a:spcBef>
                <a:spcPts val="0"/>
              </a:spcBef>
              <a:spcAft>
                <a:spcPts val="0"/>
              </a:spcAft>
            </a:pPr>
            <a:r>
              <a:rPr sz="1200" b="0" i="0">
                <a:solidFill>
                  <a:srgbClr val="1E2D44"/>
                </a:solidFill>
                <a:latin typeface="Karla"/>
              </a:rPr>
              <a:t>Right</a:t>
            </a:r>
          </a:p>
        </p:txBody>
      </p:sp>
      <p:sp>
        <p:nvSpPr>
          <p:cNvPr id="57" name="TextBox 56"/>
          <p:cNvSpPr txBox="1"/>
          <p:nvPr/>
        </p:nvSpPr>
        <p:spPr>
          <a:xfrm>
            <a:off x="9832847" y="5102351"/>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58" name="Rounded Rectangle 57"/>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Both groups rank Derm Seal Variant Top Left first. The widest segment gap is Derm Seal Variant Std: +4 non-users / +10 users.</a:t>
            </a:r>
          </a:p>
        </p:txBody>
      </p:sp>
      <p:sp>
        <p:nvSpPr>
          <p:cNvPr id="59" name="Rectangle 5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61" name="TextBox 6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DERM SEAL   ·   2 of 2</a:t>
            </a:r>
          </a:p>
        </p:txBody>
      </p:sp>
      <p:sp>
        <p:nvSpPr>
          <p:cNvPr id="3" name="TextBox 2"/>
          <p:cNvSpPr txBox="1"/>
          <p:nvPr/>
        </p:nvSpPr>
        <p:spPr>
          <a:xfrm>
            <a:off x="502920" y="438912"/>
            <a:ext cx="7043927" cy="354203"/>
          </a:xfrm>
          <a:prstGeom prst="rect">
            <a:avLst/>
          </a:prstGeom>
          <a:noFill/>
        </p:spPr>
        <p:txBody>
          <a:bodyPr wrap="square" anchor="t" lIns="0" rIns="0" tIns="0" bIns="0"/>
          <a:lstStyle/>
          <a:p>
            <a:pPr algn="l">
              <a:spcBef>
                <a:spcPts val="0"/>
              </a:spcBef>
              <a:spcAft>
                <a:spcPts val="0"/>
              </a:spcAft>
              <a:lnSpc>
                <a:spcPts val="2645"/>
              </a:lnSpc>
            </a:pPr>
            <a:r>
              <a:rPr sz="2300" b="1" i="0">
                <a:solidFill>
                  <a:srgbClr val="1E2D44"/>
                </a:solidFill>
                <a:latin typeface="Karla"/>
              </a:rPr>
              <a:t>Derm Seal Variant Top Left leads in both groups</a:t>
            </a:r>
          </a:p>
        </p:txBody>
      </p:sp>
      <p:sp>
        <p:nvSpPr>
          <p:cNvPr id="4" name="TextBox 3"/>
          <p:cNvSpPr txBox="1"/>
          <p:nvPr/>
        </p:nvSpPr>
        <p:spPr>
          <a:xfrm>
            <a:off x="502920" y="866266"/>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Derm Seal Variant Top Left leads both groups; Derm Seal Gold High ranks last.</a:t>
            </a:r>
          </a:p>
        </p:txBody>
      </p:sp>
      <p:sp>
        <p:nvSpPr>
          <p:cNvPr id="5" name="Rectangle 4"/>
          <p:cNvSpPr/>
          <p:nvPr/>
        </p:nvSpPr>
        <p:spPr>
          <a:xfrm>
            <a:off x="502920" y="1162177"/>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DERM SEAL</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591811" y="1473073"/>
            <a:ext cx="9144" cy="3482974"/>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7016495" y="1473073"/>
            <a:ext cx="9144" cy="3482974"/>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2167128" y="1473073"/>
            <a:ext cx="10972" cy="3482974"/>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732422"/>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Derm Seal Variant</a:t>
            </a:r>
          </a:p>
          <a:p>
            <a:pPr algn="r">
              <a:spcBef>
                <a:spcPts val="0"/>
              </a:spcBef>
              <a:spcAft>
                <a:spcPts val="0"/>
              </a:spcAft>
            </a:pPr>
            <a:r>
              <a:rPr sz="1100" b="0" i="0">
                <a:solidFill>
                  <a:srgbClr val="1E2D44"/>
                </a:solidFill>
                <a:latin typeface="Karla"/>
              </a:rPr>
              <a:t>Std</a:t>
            </a:r>
          </a:p>
        </p:txBody>
      </p:sp>
      <p:sp>
        <p:nvSpPr>
          <p:cNvPr id="14" name="Rectangle 13"/>
          <p:cNvSpPr/>
          <p:nvPr/>
        </p:nvSpPr>
        <p:spPr>
          <a:xfrm>
            <a:off x="2167128" y="1732422"/>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61739" y="1732422"/>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+4</a:t>
            </a:r>
          </a:p>
        </p:txBody>
      </p:sp>
      <p:sp>
        <p:nvSpPr>
          <p:cNvPr id="16" name="Rectangle 15"/>
          <p:cNvSpPr/>
          <p:nvPr/>
        </p:nvSpPr>
        <p:spPr>
          <a:xfrm>
            <a:off x="2167128" y="1929018"/>
            <a:ext cx="484936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71359" y="192901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+10</a:t>
            </a:r>
          </a:p>
        </p:txBody>
      </p:sp>
      <p:sp>
        <p:nvSpPr>
          <p:cNvPr id="18" name="TextBox 17"/>
          <p:cNvSpPr txBox="1"/>
          <p:nvPr/>
        </p:nvSpPr>
        <p:spPr>
          <a:xfrm>
            <a:off x="502920" y="2603166"/>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Derm Seal Gold</a:t>
            </a:r>
          </a:p>
          <a:p>
            <a:pPr algn="r">
              <a:spcBef>
                <a:spcPts val="0"/>
              </a:spcBef>
              <a:spcAft>
                <a:spcPts val="0"/>
              </a:spcAft>
            </a:pPr>
            <a:r>
              <a:rPr sz="1100" b="0" i="0">
                <a:solidFill>
                  <a:srgbClr val="1E2D44"/>
                </a:solidFill>
                <a:latin typeface="Karla"/>
              </a:rPr>
              <a:t>High</a:t>
            </a:r>
          </a:p>
        </p:txBody>
      </p:sp>
      <p:sp>
        <p:nvSpPr>
          <p:cNvPr id="19" name="Rectangle 18"/>
          <p:cNvSpPr/>
          <p:nvPr/>
        </p:nvSpPr>
        <p:spPr>
          <a:xfrm>
            <a:off x="2167128" y="2603166"/>
            <a:ext cx="242468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6675" y="2603166"/>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+5</a:t>
            </a:r>
          </a:p>
        </p:txBody>
      </p:sp>
      <p:sp>
        <p:nvSpPr>
          <p:cNvPr id="21" name="Rectangle 20"/>
          <p:cNvSpPr/>
          <p:nvPr/>
        </p:nvSpPr>
        <p:spPr>
          <a:xfrm>
            <a:off x="2167128" y="2799762"/>
            <a:ext cx="436443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6422" y="2799762"/>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+9</a:t>
            </a:r>
          </a:p>
        </p:txBody>
      </p:sp>
      <p:sp>
        <p:nvSpPr>
          <p:cNvPr id="23" name="TextBox 22"/>
          <p:cNvSpPr txBox="1"/>
          <p:nvPr/>
        </p:nvSpPr>
        <p:spPr>
          <a:xfrm>
            <a:off x="502920" y="3473910"/>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Derm Seal Variant</a:t>
            </a:r>
          </a:p>
          <a:p>
            <a:pPr algn="r">
              <a:spcBef>
                <a:spcPts val="0"/>
              </a:spcBef>
              <a:spcAft>
                <a:spcPts val="0"/>
              </a:spcAft>
            </a:pPr>
            <a:r>
              <a:rPr sz="1100" b="0" i="0">
                <a:solidFill>
                  <a:srgbClr val="1E2D44"/>
                </a:solidFill>
                <a:latin typeface="Karla"/>
              </a:rPr>
              <a:t>High</a:t>
            </a:r>
          </a:p>
        </p:txBody>
      </p:sp>
      <p:sp>
        <p:nvSpPr>
          <p:cNvPr id="24" name="Rectangle 23"/>
          <p:cNvSpPr/>
          <p:nvPr/>
        </p:nvSpPr>
        <p:spPr>
          <a:xfrm>
            <a:off x="2167128" y="3473910"/>
            <a:ext cx="339455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16549" y="347391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+7</a:t>
            </a:r>
          </a:p>
        </p:txBody>
      </p:sp>
      <p:sp>
        <p:nvSpPr>
          <p:cNvPr id="26" name="Rectangle 25"/>
          <p:cNvSpPr/>
          <p:nvPr/>
        </p:nvSpPr>
        <p:spPr>
          <a:xfrm>
            <a:off x="2167128" y="3670506"/>
            <a:ext cx="436443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6422" y="367050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+9</a:t>
            </a:r>
          </a:p>
        </p:txBody>
      </p:sp>
      <p:sp>
        <p:nvSpPr>
          <p:cNvPr id="28" name="TextBox 27"/>
          <p:cNvSpPr txBox="1"/>
          <p:nvPr/>
        </p:nvSpPr>
        <p:spPr>
          <a:xfrm>
            <a:off x="502920" y="4344654"/>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Derm Seal Variant</a:t>
            </a:r>
          </a:p>
          <a:p>
            <a:pPr algn="r">
              <a:spcBef>
                <a:spcPts val="0"/>
              </a:spcBef>
              <a:spcAft>
                <a:spcPts val="0"/>
              </a:spcAft>
            </a:pPr>
            <a:r>
              <a:rPr sz="1100" b="0" i="0">
                <a:solidFill>
                  <a:srgbClr val="1E2D44"/>
                </a:solidFill>
                <a:latin typeface="Karla"/>
              </a:rPr>
              <a:t>Low Right</a:t>
            </a:r>
          </a:p>
        </p:txBody>
      </p:sp>
      <p:sp>
        <p:nvSpPr>
          <p:cNvPr id="29" name="Rectangle 28"/>
          <p:cNvSpPr/>
          <p:nvPr/>
        </p:nvSpPr>
        <p:spPr>
          <a:xfrm>
            <a:off x="2167128" y="4344654"/>
            <a:ext cx="290962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31612" y="434465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+6</a:t>
            </a:r>
          </a:p>
        </p:txBody>
      </p:sp>
      <p:sp>
        <p:nvSpPr>
          <p:cNvPr id="31" name="Rectangle 30"/>
          <p:cNvSpPr/>
          <p:nvPr/>
        </p:nvSpPr>
        <p:spPr>
          <a:xfrm>
            <a:off x="2167128" y="4541250"/>
            <a:ext cx="436443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6422" y="4541250"/>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+9</a:t>
            </a:r>
          </a:p>
        </p:txBody>
      </p:sp>
      <p:sp>
        <p:nvSpPr>
          <p:cNvPr id="33" name="Rectangle 32"/>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5" name="Rectangle 34"/>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7" name="Rounded Rectangle 36"/>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20080" y="425196"/>
            <a:ext cx="1540702"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D7.png"/>
          <p:cNvPicPr>
            <a:picLocks noChangeAspect="1"/>
          </p:cNvPicPr>
          <p:nvPr/>
        </p:nvPicPr>
        <p:blipFill>
          <a:blip r:embed="rId2"/>
          <a:stretch>
            <a:fillRect/>
          </a:stretch>
        </p:blipFill>
        <p:spPr>
          <a:xfrm>
            <a:off x="8033796" y="438912"/>
            <a:ext cx="1513270" cy="1682495"/>
          </a:xfrm>
          <a:prstGeom prst="rect">
            <a:avLst/>
          </a:prstGeom>
        </p:spPr>
      </p:pic>
      <p:sp>
        <p:nvSpPr>
          <p:cNvPr id="40" name="TextBox 39"/>
          <p:cNvSpPr txBox="1"/>
          <p:nvPr/>
        </p:nvSpPr>
        <p:spPr>
          <a:xfrm>
            <a:off x="7912607" y="217627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Derm Seal Variant</a:t>
            </a:r>
          </a:p>
          <a:p>
            <a:pPr algn="ctr">
              <a:spcBef>
                <a:spcPts val="0"/>
              </a:spcBef>
              <a:spcAft>
                <a:spcPts val="0"/>
              </a:spcAft>
            </a:pPr>
            <a:r>
              <a:rPr sz="1200" b="0" i="0">
                <a:solidFill>
                  <a:srgbClr val="1E2D44"/>
                </a:solidFill>
                <a:latin typeface="Karla"/>
              </a:rPr>
              <a:t>Std</a:t>
            </a:r>
          </a:p>
        </p:txBody>
      </p:sp>
      <p:sp>
        <p:nvSpPr>
          <p:cNvPr id="41" name="TextBox 40"/>
          <p:cNvSpPr txBox="1"/>
          <p:nvPr/>
        </p:nvSpPr>
        <p:spPr>
          <a:xfrm>
            <a:off x="7912607" y="254203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+7*</a:t>
            </a:r>
          </a:p>
        </p:txBody>
      </p:sp>
      <p:sp>
        <p:nvSpPr>
          <p:cNvPr id="42" name="Rectangle 41"/>
          <p:cNvSpPr/>
          <p:nvPr/>
        </p:nvSpPr>
        <p:spPr>
          <a:xfrm>
            <a:off x="9940320" y="425196"/>
            <a:ext cx="1540702"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D2.png"/>
          <p:cNvPicPr>
            <a:picLocks noChangeAspect="1"/>
          </p:cNvPicPr>
          <p:nvPr/>
        </p:nvPicPr>
        <p:blipFill>
          <a:blip r:embed="rId3"/>
          <a:stretch>
            <a:fillRect/>
          </a:stretch>
        </p:blipFill>
        <p:spPr>
          <a:xfrm>
            <a:off x="9954036" y="438912"/>
            <a:ext cx="1513270" cy="1682495"/>
          </a:xfrm>
          <a:prstGeom prst="rect">
            <a:avLst/>
          </a:prstGeom>
        </p:spPr>
      </p:pic>
      <p:sp>
        <p:nvSpPr>
          <p:cNvPr id="44" name="TextBox 43"/>
          <p:cNvSpPr txBox="1"/>
          <p:nvPr/>
        </p:nvSpPr>
        <p:spPr>
          <a:xfrm>
            <a:off x="9832847" y="217627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Derm Seal Gold High</a:t>
            </a:r>
          </a:p>
        </p:txBody>
      </p:sp>
      <p:sp>
        <p:nvSpPr>
          <p:cNvPr id="45" name="TextBox 44"/>
          <p:cNvSpPr txBox="1"/>
          <p:nvPr/>
        </p:nvSpPr>
        <p:spPr>
          <a:xfrm>
            <a:off x="9832847" y="254203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+7*</a:t>
            </a:r>
          </a:p>
        </p:txBody>
      </p:sp>
      <p:sp>
        <p:nvSpPr>
          <p:cNvPr id="46" name="Rectangle 45"/>
          <p:cNvSpPr/>
          <p:nvPr/>
        </p:nvSpPr>
        <p:spPr>
          <a:xfrm>
            <a:off x="8020080" y="2985515"/>
            <a:ext cx="1540702"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D5.png"/>
          <p:cNvPicPr>
            <a:picLocks noChangeAspect="1"/>
          </p:cNvPicPr>
          <p:nvPr/>
        </p:nvPicPr>
        <p:blipFill>
          <a:blip r:embed="rId4"/>
          <a:stretch>
            <a:fillRect/>
          </a:stretch>
        </p:blipFill>
        <p:spPr>
          <a:xfrm>
            <a:off x="8033796" y="2999232"/>
            <a:ext cx="1513270" cy="1682495"/>
          </a:xfrm>
          <a:prstGeom prst="rect">
            <a:avLst/>
          </a:prstGeom>
        </p:spPr>
      </p:pic>
      <p:sp>
        <p:nvSpPr>
          <p:cNvPr id="48" name="TextBox 47"/>
          <p:cNvSpPr txBox="1"/>
          <p:nvPr/>
        </p:nvSpPr>
        <p:spPr>
          <a:xfrm>
            <a:off x="7912607" y="4736591"/>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Derm Seal Variant</a:t>
            </a:r>
          </a:p>
          <a:p>
            <a:pPr algn="ctr">
              <a:spcBef>
                <a:spcPts val="0"/>
              </a:spcBef>
              <a:spcAft>
                <a:spcPts val="0"/>
              </a:spcAft>
            </a:pPr>
            <a:r>
              <a:rPr sz="1200" b="0" i="0">
                <a:solidFill>
                  <a:srgbClr val="1E2D44"/>
                </a:solidFill>
                <a:latin typeface="Karla"/>
              </a:rPr>
              <a:t>High</a:t>
            </a:r>
          </a:p>
        </p:txBody>
      </p:sp>
      <p:sp>
        <p:nvSpPr>
          <p:cNvPr id="49" name="TextBox 48"/>
          <p:cNvSpPr txBox="1"/>
          <p:nvPr/>
        </p:nvSpPr>
        <p:spPr>
          <a:xfrm>
            <a:off x="7912607" y="5102351"/>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50" name="Rectangle 49"/>
          <p:cNvSpPr/>
          <p:nvPr/>
        </p:nvSpPr>
        <p:spPr>
          <a:xfrm>
            <a:off x="9940320" y="2985515"/>
            <a:ext cx="1540702"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D6.png"/>
          <p:cNvPicPr>
            <a:picLocks noChangeAspect="1"/>
          </p:cNvPicPr>
          <p:nvPr/>
        </p:nvPicPr>
        <p:blipFill>
          <a:blip r:embed="rId5"/>
          <a:stretch>
            <a:fillRect/>
          </a:stretch>
        </p:blipFill>
        <p:spPr>
          <a:xfrm>
            <a:off x="9954036" y="2999232"/>
            <a:ext cx="1513270" cy="1682495"/>
          </a:xfrm>
          <a:prstGeom prst="rect">
            <a:avLst/>
          </a:prstGeom>
        </p:spPr>
      </p:pic>
      <p:sp>
        <p:nvSpPr>
          <p:cNvPr id="52" name="TextBox 51"/>
          <p:cNvSpPr txBox="1"/>
          <p:nvPr/>
        </p:nvSpPr>
        <p:spPr>
          <a:xfrm>
            <a:off x="9832847" y="4736591"/>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Derm Seal Variant</a:t>
            </a:r>
          </a:p>
          <a:p>
            <a:pPr algn="ctr">
              <a:spcBef>
                <a:spcPts val="0"/>
              </a:spcBef>
              <a:spcAft>
                <a:spcPts val="0"/>
              </a:spcAft>
            </a:pPr>
            <a:r>
              <a:rPr sz="1200" b="0" i="0">
                <a:solidFill>
                  <a:srgbClr val="1E2D44"/>
                </a:solidFill>
                <a:latin typeface="Karla"/>
              </a:rPr>
              <a:t>Low Right</a:t>
            </a:r>
          </a:p>
        </p:txBody>
      </p:sp>
      <p:sp>
        <p:nvSpPr>
          <p:cNvPr id="53" name="TextBox 52"/>
          <p:cNvSpPr txBox="1"/>
          <p:nvPr/>
        </p:nvSpPr>
        <p:spPr>
          <a:xfrm>
            <a:off x="9832847" y="5102351"/>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54" name="Rounded Rectangle 53"/>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Both groups rank Derm Seal Variant Top Left first. The widest segment gap is Derm Seal Variant Std: +4 non-users / +10 users.</a:t>
            </a:r>
          </a:p>
        </p:txBody>
      </p:sp>
      <p:sp>
        <p:nvSpPr>
          <p:cNvPr id="55" name="Rectangle 5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57" name="TextBox 5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LOZ LOW CTR   ·   1 of 2</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Loz Low Ctr splits across the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Non-users favor Loz Gold Outline Low Ctr; Dove users favor Loz Gold Fill Low Ctr.</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LOZ LOW CTR</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783583"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097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5400039"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743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914059"/>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Gold Fill Low</a:t>
            </a:r>
          </a:p>
          <a:p>
            <a:pPr algn="r">
              <a:spcBef>
                <a:spcPts val="0"/>
              </a:spcBef>
              <a:spcAft>
                <a:spcPts val="0"/>
              </a:spcAft>
            </a:pPr>
            <a:r>
              <a:rPr sz="1100" b="0" i="0">
                <a:solidFill>
                  <a:srgbClr val="1E2D44"/>
                </a:solidFill>
                <a:latin typeface="Karla"/>
              </a:rPr>
              <a:t>Ctr</a:t>
            </a:r>
          </a:p>
        </p:txBody>
      </p:sp>
      <p:sp>
        <p:nvSpPr>
          <p:cNvPr id="16" name="Rectangle 15"/>
          <p:cNvSpPr/>
          <p:nvPr/>
        </p:nvSpPr>
        <p:spPr>
          <a:xfrm>
            <a:off x="2167128" y="1914059"/>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61739" y="191405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+12</a:t>
            </a:r>
          </a:p>
        </p:txBody>
      </p:sp>
      <p:sp>
        <p:nvSpPr>
          <p:cNvPr id="18" name="Rectangle 17"/>
          <p:cNvSpPr/>
          <p:nvPr/>
        </p:nvSpPr>
        <p:spPr>
          <a:xfrm>
            <a:off x="2167128" y="2110655"/>
            <a:ext cx="3556202"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78194" y="211065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+22</a:t>
            </a:r>
          </a:p>
        </p:txBody>
      </p:sp>
      <p:sp>
        <p:nvSpPr>
          <p:cNvPr id="20" name="TextBox 19"/>
          <p:cNvSpPr txBox="1"/>
          <p:nvPr/>
        </p:nvSpPr>
        <p:spPr>
          <a:xfrm>
            <a:off x="502920" y="3060445"/>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Variant Fill</a:t>
            </a:r>
          </a:p>
          <a:p>
            <a:pPr algn="r">
              <a:spcBef>
                <a:spcPts val="0"/>
              </a:spcBef>
              <a:spcAft>
                <a:spcPts val="0"/>
              </a:spcAft>
            </a:pPr>
            <a:r>
              <a:rPr sz="1100" b="0" i="0">
                <a:solidFill>
                  <a:srgbClr val="1E2D44"/>
                </a:solidFill>
                <a:latin typeface="Karla"/>
              </a:rPr>
              <a:t>Low Ctr</a:t>
            </a:r>
          </a:p>
        </p:txBody>
      </p:sp>
      <p:sp>
        <p:nvSpPr>
          <p:cNvPr id="21" name="Rectangle 20"/>
          <p:cNvSpPr/>
          <p:nvPr/>
        </p:nvSpPr>
        <p:spPr>
          <a:xfrm>
            <a:off x="2167128" y="3060445"/>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61739" y="306044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+12</a:t>
            </a:r>
          </a:p>
        </p:txBody>
      </p:sp>
      <p:sp>
        <p:nvSpPr>
          <p:cNvPr id="23" name="Rectangle 22"/>
          <p:cNvSpPr/>
          <p:nvPr/>
        </p:nvSpPr>
        <p:spPr>
          <a:xfrm>
            <a:off x="2167128" y="3257041"/>
            <a:ext cx="290962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31612" y="325704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+18</a:t>
            </a:r>
          </a:p>
        </p:txBody>
      </p:sp>
      <p:sp>
        <p:nvSpPr>
          <p:cNvPr id="25" name="TextBox 24"/>
          <p:cNvSpPr txBox="1"/>
          <p:nvPr/>
        </p:nvSpPr>
        <p:spPr>
          <a:xfrm>
            <a:off x="502920" y="4206832"/>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Variant</a:t>
            </a:r>
          </a:p>
          <a:p>
            <a:pPr algn="r">
              <a:spcBef>
                <a:spcPts val="0"/>
              </a:spcBef>
              <a:spcAft>
                <a:spcPts val="0"/>
              </a:spcAft>
            </a:pPr>
            <a:r>
              <a:rPr sz="1100" b="0" i="0">
                <a:solidFill>
                  <a:srgbClr val="1E2D44"/>
                </a:solidFill>
                <a:latin typeface="Karla"/>
              </a:rPr>
              <a:t>Outline Low Ctr</a:t>
            </a:r>
          </a:p>
        </p:txBody>
      </p:sp>
      <p:sp>
        <p:nvSpPr>
          <p:cNvPr id="26" name="Rectangle 25"/>
          <p:cNvSpPr/>
          <p:nvPr/>
        </p:nvSpPr>
        <p:spPr>
          <a:xfrm>
            <a:off x="2167128" y="4206832"/>
            <a:ext cx="1616455"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38447" y="4206832"/>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+10</a:t>
            </a:r>
          </a:p>
        </p:txBody>
      </p:sp>
      <p:sp>
        <p:nvSpPr>
          <p:cNvPr id="28" name="Rectangle 27"/>
          <p:cNvSpPr/>
          <p:nvPr/>
        </p:nvSpPr>
        <p:spPr>
          <a:xfrm>
            <a:off x="2167128" y="4403428"/>
            <a:ext cx="290962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31612" y="440342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+18</a:t>
            </a:r>
          </a:p>
        </p:txBody>
      </p:sp>
      <p:sp>
        <p:nvSpPr>
          <p:cNvPr id="30" name="Rectangle 29"/>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2" name="Rectangle 31"/>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4" name="Rounded Rectangle 33"/>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091044" y="425195"/>
            <a:ext cx="1319013"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E1.png"/>
          <p:cNvPicPr>
            <a:picLocks noChangeAspect="1"/>
          </p:cNvPicPr>
          <p:nvPr/>
        </p:nvPicPr>
        <p:blipFill>
          <a:blip r:embed="rId2"/>
          <a:stretch>
            <a:fillRect/>
          </a:stretch>
        </p:blipFill>
        <p:spPr>
          <a:xfrm>
            <a:off x="9104760" y="438911"/>
            <a:ext cx="1291581" cy="829055"/>
          </a:xfrm>
          <a:prstGeom prst="rect">
            <a:avLst/>
          </a:prstGeom>
        </p:spPr>
      </p:pic>
      <p:sp>
        <p:nvSpPr>
          <p:cNvPr id="37" name="TextBox 36"/>
          <p:cNvSpPr txBox="1"/>
          <p:nvPr/>
        </p:nvSpPr>
        <p:spPr>
          <a:xfrm>
            <a:off x="7912607" y="132283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Gold Fill Low Ctr</a:t>
            </a:r>
          </a:p>
        </p:txBody>
      </p:sp>
      <p:sp>
        <p:nvSpPr>
          <p:cNvPr id="38" name="TextBox 37"/>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+17*</a:t>
            </a:r>
          </a:p>
        </p:txBody>
      </p:sp>
      <p:sp>
        <p:nvSpPr>
          <p:cNvPr id="39" name="Rectangle 38"/>
          <p:cNvSpPr/>
          <p:nvPr/>
        </p:nvSpPr>
        <p:spPr>
          <a:xfrm>
            <a:off x="9091044" y="2132075"/>
            <a:ext cx="1319013"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E2.png"/>
          <p:cNvPicPr>
            <a:picLocks noChangeAspect="1"/>
          </p:cNvPicPr>
          <p:nvPr/>
        </p:nvPicPr>
        <p:blipFill>
          <a:blip r:embed="rId3"/>
          <a:stretch>
            <a:fillRect/>
          </a:stretch>
        </p:blipFill>
        <p:spPr>
          <a:xfrm>
            <a:off x="9104760" y="2145791"/>
            <a:ext cx="1291581" cy="829055"/>
          </a:xfrm>
          <a:prstGeom prst="rect">
            <a:avLst/>
          </a:prstGeom>
        </p:spPr>
      </p:pic>
      <p:sp>
        <p:nvSpPr>
          <p:cNvPr id="41" name="TextBox 40"/>
          <p:cNvSpPr txBox="1"/>
          <p:nvPr/>
        </p:nvSpPr>
        <p:spPr>
          <a:xfrm>
            <a:off x="7912607" y="302971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Variant Fill Low Ctr</a:t>
            </a:r>
          </a:p>
        </p:txBody>
      </p:sp>
      <p:sp>
        <p:nvSpPr>
          <p:cNvPr id="42" name="TextBox 41"/>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+15*</a:t>
            </a:r>
          </a:p>
        </p:txBody>
      </p:sp>
      <p:sp>
        <p:nvSpPr>
          <p:cNvPr id="43" name="Rectangle 42"/>
          <p:cNvSpPr/>
          <p:nvPr/>
        </p:nvSpPr>
        <p:spPr>
          <a:xfrm>
            <a:off x="9091044" y="3838956"/>
            <a:ext cx="1319013"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E4.png"/>
          <p:cNvPicPr>
            <a:picLocks noChangeAspect="1"/>
          </p:cNvPicPr>
          <p:nvPr/>
        </p:nvPicPr>
        <p:blipFill>
          <a:blip r:embed="rId4"/>
          <a:stretch>
            <a:fillRect/>
          </a:stretch>
        </p:blipFill>
        <p:spPr>
          <a:xfrm>
            <a:off x="9104760" y="3852671"/>
            <a:ext cx="1291581" cy="829055"/>
          </a:xfrm>
          <a:prstGeom prst="rect">
            <a:avLst/>
          </a:prstGeom>
        </p:spPr>
      </p:pic>
      <p:sp>
        <p:nvSpPr>
          <p:cNvPr id="45" name="TextBox 44"/>
          <p:cNvSpPr txBox="1"/>
          <p:nvPr/>
        </p:nvSpPr>
        <p:spPr>
          <a:xfrm>
            <a:off x="7912607" y="473659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Variant Outline Low Ctr</a:t>
            </a:r>
          </a:p>
        </p:txBody>
      </p:sp>
      <p:sp>
        <p:nvSpPr>
          <p:cNvPr id="46" name="TextBox 45"/>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47" name="Rounded Rectangle 46"/>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Non-users favor Loz Gold Outline Low Ctr; Dove users favor Loz Gold Fill Low Ctr. The widest segment gap is Loz Gold Fill Low Ctr: +12 non-users / +22 users.</a:t>
            </a:r>
          </a:p>
        </p:txBody>
      </p:sp>
      <p:sp>
        <p:nvSpPr>
          <p:cNvPr id="48" name="Rectangle 47"/>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50" name="TextBox 49"/>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LOZ LOW CTR   ·   2 of 2</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Loz Low Ctr splits across the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Non-users favor Loz Gold Outline Low Ctr; Dove users favor Loz Gold Fill Low Ctr.</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LOZ LOW CTR</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200655"/>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Gold Outline</a:t>
            </a:r>
          </a:p>
          <a:p>
            <a:pPr algn="r">
              <a:spcBef>
                <a:spcPts val="0"/>
              </a:spcBef>
              <a:spcAft>
                <a:spcPts val="0"/>
              </a:spcAft>
            </a:pPr>
            <a:r>
              <a:rPr sz="1100" b="0" i="0">
                <a:solidFill>
                  <a:srgbClr val="1E2D44"/>
                </a:solidFill>
                <a:latin typeface="Karla"/>
              </a:rPr>
              <a:t>Low Ctr</a:t>
            </a:r>
          </a:p>
        </p:txBody>
      </p:sp>
      <p:sp>
        <p:nvSpPr>
          <p:cNvPr id="18" name="Rectangle 17"/>
          <p:cNvSpPr/>
          <p:nvPr/>
        </p:nvSpPr>
        <p:spPr>
          <a:xfrm>
            <a:off x="2167128" y="2200655"/>
            <a:ext cx="3152089"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74081" y="220065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+13</a:t>
            </a:r>
          </a:p>
        </p:txBody>
      </p:sp>
      <p:sp>
        <p:nvSpPr>
          <p:cNvPr id="20" name="Rectangle 19"/>
          <p:cNvSpPr/>
          <p:nvPr/>
        </p:nvSpPr>
        <p:spPr>
          <a:xfrm>
            <a:off x="2167128" y="2397251"/>
            <a:ext cx="4121962"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3954" y="239725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+17</a:t>
            </a:r>
          </a:p>
        </p:txBody>
      </p:sp>
      <p:sp>
        <p:nvSpPr>
          <p:cNvPr id="22" name="TextBox 21"/>
          <p:cNvSpPr txBox="1"/>
          <p:nvPr/>
        </p:nvSpPr>
        <p:spPr>
          <a:xfrm>
            <a:off x="502920" y="3920235"/>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Loz Text Low Ctr</a:t>
            </a:r>
          </a:p>
        </p:txBody>
      </p:sp>
      <p:sp>
        <p:nvSpPr>
          <p:cNvPr id="23" name="Rectangle 22"/>
          <p:cNvSpPr/>
          <p:nvPr/>
        </p:nvSpPr>
        <p:spPr>
          <a:xfrm>
            <a:off x="2167128" y="3920235"/>
            <a:ext cx="2667152"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89144" y="392023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+11</a:t>
            </a:r>
          </a:p>
        </p:txBody>
      </p:sp>
      <p:sp>
        <p:nvSpPr>
          <p:cNvPr id="25" name="Rectangle 24"/>
          <p:cNvSpPr/>
          <p:nvPr/>
        </p:nvSpPr>
        <p:spPr>
          <a:xfrm>
            <a:off x="2167128" y="4116831"/>
            <a:ext cx="4121962"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3954" y="411683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+17</a:t>
            </a:r>
          </a:p>
        </p:txBody>
      </p:sp>
      <p:sp>
        <p:nvSpPr>
          <p:cNvPr id="27" name="Rectangle 26"/>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29" name="Rectangle 28"/>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1" name="Rounded Rectangle 3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35467" y="2006613"/>
            <a:ext cx="1709927" cy="1107412"/>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E3.png"/>
          <p:cNvPicPr>
            <a:picLocks noChangeAspect="1"/>
          </p:cNvPicPr>
          <p:nvPr/>
        </p:nvPicPr>
        <p:blipFill>
          <a:blip r:embed="rId2"/>
          <a:stretch>
            <a:fillRect/>
          </a:stretch>
        </p:blipFill>
        <p:spPr>
          <a:xfrm>
            <a:off x="7949183" y="2020329"/>
            <a:ext cx="1682495" cy="1079980"/>
          </a:xfrm>
          <a:prstGeom prst="rect">
            <a:avLst/>
          </a:prstGeom>
        </p:spPr>
      </p:pic>
      <p:sp>
        <p:nvSpPr>
          <p:cNvPr id="34" name="TextBox 33"/>
          <p:cNvSpPr txBox="1"/>
          <p:nvPr/>
        </p:nvSpPr>
        <p:spPr>
          <a:xfrm>
            <a:off x="7912607" y="3155174"/>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Loz Gold Outline</a:t>
            </a:r>
          </a:p>
          <a:p>
            <a:pPr algn="ctr">
              <a:spcBef>
                <a:spcPts val="0"/>
              </a:spcBef>
              <a:spcAft>
                <a:spcPts val="0"/>
              </a:spcAft>
            </a:pPr>
            <a:r>
              <a:rPr sz="1200" b="0" i="0">
                <a:solidFill>
                  <a:srgbClr val="1E2D44"/>
                </a:solidFill>
                <a:latin typeface="Karla"/>
              </a:rPr>
              <a:t>Low Ctr</a:t>
            </a:r>
          </a:p>
        </p:txBody>
      </p:sp>
      <p:sp>
        <p:nvSpPr>
          <p:cNvPr id="35" name="TextBox 34"/>
          <p:cNvSpPr txBox="1"/>
          <p:nvPr/>
        </p:nvSpPr>
        <p:spPr>
          <a:xfrm>
            <a:off x="7912607" y="3520934"/>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+15*</a:t>
            </a:r>
          </a:p>
        </p:txBody>
      </p:sp>
      <p:sp>
        <p:nvSpPr>
          <p:cNvPr id="36" name="Rectangle 35"/>
          <p:cNvSpPr/>
          <p:nvPr/>
        </p:nvSpPr>
        <p:spPr>
          <a:xfrm>
            <a:off x="9855707" y="2006613"/>
            <a:ext cx="1709927" cy="1107412"/>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E5.png"/>
          <p:cNvPicPr>
            <a:picLocks noChangeAspect="1"/>
          </p:cNvPicPr>
          <p:nvPr/>
        </p:nvPicPr>
        <p:blipFill>
          <a:blip r:embed="rId3"/>
          <a:stretch>
            <a:fillRect/>
          </a:stretch>
        </p:blipFill>
        <p:spPr>
          <a:xfrm>
            <a:off x="9869423" y="2020329"/>
            <a:ext cx="1682495" cy="1079980"/>
          </a:xfrm>
          <a:prstGeom prst="rect">
            <a:avLst/>
          </a:prstGeom>
        </p:spPr>
      </p:pic>
      <p:sp>
        <p:nvSpPr>
          <p:cNvPr id="38" name="TextBox 37"/>
          <p:cNvSpPr txBox="1"/>
          <p:nvPr/>
        </p:nvSpPr>
        <p:spPr>
          <a:xfrm>
            <a:off x="9832847" y="3155174"/>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Loz Text Low Ctr</a:t>
            </a:r>
          </a:p>
        </p:txBody>
      </p:sp>
      <p:sp>
        <p:nvSpPr>
          <p:cNvPr id="39" name="TextBox 38"/>
          <p:cNvSpPr txBox="1"/>
          <p:nvPr/>
        </p:nvSpPr>
        <p:spPr>
          <a:xfrm>
            <a:off x="9832847" y="3520934"/>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40" name="Rounded Rectangle 39"/>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Non-users favor Loz Gold Outline Low Ctr; Dove users favor Loz Gold Fill Low Ctr. The widest segment gap is Loz Gold Fill Low Ctr: +12 non-users / +22 users.</a:t>
            </a:r>
          </a:p>
        </p:txBody>
      </p:sp>
      <p:sp>
        <p:nvSpPr>
          <p:cNvPr id="41" name="Rectangle 4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43" name="TextBox 4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LOZ TOP CTR LOW   ·   1 of 2</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Loz Top Ctr Low splits across the groups</a:t>
            </a:r>
          </a:p>
        </p:txBody>
      </p:sp>
      <p:sp>
        <p:nvSpPr>
          <p:cNvPr id="4" name="TextBox 3"/>
          <p:cNvSpPr txBox="1"/>
          <p:nvPr/>
        </p:nvSpPr>
        <p:spPr>
          <a:xfrm>
            <a:off x="502920" y="910081"/>
            <a:ext cx="7043927" cy="193547"/>
          </a:xfrm>
          <a:prstGeom prst="rect">
            <a:avLst/>
          </a:prstGeom>
          <a:noFill/>
        </p:spPr>
        <p:txBody>
          <a:bodyPr wrap="square" anchor="t" lIns="0" rIns="0" tIns="0" bIns="0"/>
          <a:lstStyle/>
          <a:p>
            <a:pPr algn="l">
              <a:spcBef>
                <a:spcPts val="0"/>
              </a:spcBef>
              <a:spcAft>
                <a:spcPts val="0"/>
              </a:spcAft>
              <a:lnSpc>
                <a:spcPts val="1380"/>
              </a:lnSpc>
            </a:pPr>
            <a:r>
              <a:rPr sz="1200" b="0" i="0">
                <a:solidFill>
                  <a:srgbClr val="617086"/>
                </a:solidFill>
                <a:latin typeface="Karla"/>
              </a:rPr>
              <a:t>Non-users favor Loz Gold Outline Top Ctr Low; Dove users favor Loz Variant Fill Top Ctr Low.</a:t>
            </a:r>
          </a:p>
        </p:txBody>
      </p:sp>
      <p:sp>
        <p:nvSpPr>
          <p:cNvPr id="5" name="Rectangle 4"/>
          <p:cNvSpPr/>
          <p:nvPr/>
        </p:nvSpPr>
        <p:spPr>
          <a:xfrm>
            <a:off x="502920" y="118440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LOZ TOP CTR LOW</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495298"/>
            <a:ext cx="9144" cy="346074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495298"/>
            <a:ext cx="9144" cy="346074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495298"/>
            <a:ext cx="9144" cy="346074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495298"/>
            <a:ext cx="9144" cy="346074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495298"/>
            <a:ext cx="10972" cy="346074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96067"/>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Variant Fill</a:t>
            </a:r>
          </a:p>
          <a:p>
            <a:pPr algn="r">
              <a:spcBef>
                <a:spcPts val="0"/>
              </a:spcBef>
              <a:spcAft>
                <a:spcPts val="0"/>
              </a:spcAft>
            </a:pPr>
            <a:r>
              <a:rPr sz="1100" b="0" i="0">
                <a:solidFill>
                  <a:srgbClr val="1E2D44"/>
                </a:solidFill>
                <a:latin typeface="Karla"/>
              </a:rPr>
              <a:t>Top Ctr Low</a:t>
            </a:r>
          </a:p>
        </p:txBody>
      </p:sp>
      <p:sp>
        <p:nvSpPr>
          <p:cNvPr id="18" name="Rectangle 17"/>
          <p:cNvSpPr/>
          <p:nvPr/>
        </p:nvSpPr>
        <p:spPr>
          <a:xfrm>
            <a:off x="2167128" y="1896067"/>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1739" y="1896067"/>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+16</a:t>
            </a:r>
          </a:p>
        </p:txBody>
      </p:sp>
      <p:sp>
        <p:nvSpPr>
          <p:cNvPr id="20" name="Rectangle 19"/>
          <p:cNvSpPr/>
          <p:nvPr/>
        </p:nvSpPr>
        <p:spPr>
          <a:xfrm>
            <a:off x="2167128" y="2092663"/>
            <a:ext cx="327332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95315" y="2092663"/>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+27</a:t>
            </a:r>
          </a:p>
        </p:txBody>
      </p:sp>
      <p:sp>
        <p:nvSpPr>
          <p:cNvPr id="22" name="TextBox 21"/>
          <p:cNvSpPr txBox="1"/>
          <p:nvPr/>
        </p:nvSpPr>
        <p:spPr>
          <a:xfrm>
            <a:off x="502920" y="3049650"/>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Gold Fill Top</a:t>
            </a:r>
          </a:p>
          <a:p>
            <a:pPr algn="r">
              <a:spcBef>
                <a:spcPts val="0"/>
              </a:spcBef>
              <a:spcAft>
                <a:spcPts val="0"/>
              </a:spcAft>
            </a:pPr>
            <a:r>
              <a:rPr sz="1100" b="0" i="0">
                <a:solidFill>
                  <a:srgbClr val="1E2D44"/>
                </a:solidFill>
                <a:latin typeface="Karla"/>
              </a:rPr>
              <a:t>Ctr Low</a:t>
            </a:r>
          </a:p>
        </p:txBody>
      </p:sp>
      <p:sp>
        <p:nvSpPr>
          <p:cNvPr id="23" name="Rectangle 22"/>
          <p:cNvSpPr/>
          <p:nvPr/>
        </p:nvSpPr>
        <p:spPr>
          <a:xfrm>
            <a:off x="2167128" y="3049650"/>
            <a:ext cx="2060981"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82973" y="304965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+17</a:t>
            </a:r>
          </a:p>
        </p:txBody>
      </p:sp>
      <p:sp>
        <p:nvSpPr>
          <p:cNvPr id="25" name="Rectangle 24"/>
          <p:cNvSpPr/>
          <p:nvPr/>
        </p:nvSpPr>
        <p:spPr>
          <a:xfrm>
            <a:off x="2167128" y="3246246"/>
            <a:ext cx="3152089"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74081" y="324624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+26</a:t>
            </a:r>
          </a:p>
        </p:txBody>
      </p:sp>
      <p:sp>
        <p:nvSpPr>
          <p:cNvPr id="27" name="TextBox 26"/>
          <p:cNvSpPr txBox="1"/>
          <p:nvPr/>
        </p:nvSpPr>
        <p:spPr>
          <a:xfrm>
            <a:off x="502920" y="4203234"/>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Variant</a:t>
            </a:r>
          </a:p>
          <a:p>
            <a:pPr algn="r">
              <a:spcBef>
                <a:spcPts val="0"/>
              </a:spcBef>
              <a:spcAft>
                <a:spcPts val="0"/>
              </a:spcAft>
            </a:pPr>
            <a:r>
              <a:rPr sz="1100" b="0" i="0">
                <a:solidFill>
                  <a:srgbClr val="1E2D44"/>
                </a:solidFill>
                <a:latin typeface="Karla"/>
              </a:rPr>
              <a:t>Outline Top Ctr…</a:t>
            </a:r>
          </a:p>
        </p:txBody>
      </p:sp>
      <p:sp>
        <p:nvSpPr>
          <p:cNvPr id="28" name="Rectangle 27"/>
          <p:cNvSpPr/>
          <p:nvPr/>
        </p:nvSpPr>
        <p:spPr>
          <a:xfrm>
            <a:off x="2167128" y="4203234"/>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61739" y="420323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+16</a:t>
            </a:r>
          </a:p>
        </p:txBody>
      </p:sp>
      <p:sp>
        <p:nvSpPr>
          <p:cNvPr id="30" name="Rectangle 29"/>
          <p:cNvSpPr/>
          <p:nvPr/>
        </p:nvSpPr>
        <p:spPr>
          <a:xfrm>
            <a:off x="2167128" y="4399830"/>
            <a:ext cx="3152089"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74081" y="4399830"/>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+26</a:t>
            </a:r>
          </a:p>
        </p:txBody>
      </p:sp>
      <p:sp>
        <p:nvSpPr>
          <p:cNvPr id="32" name="Rectangle 31"/>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4" name="Rectangle 33"/>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6" name="Rounded Rectangle 35"/>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94425" y="425195"/>
            <a:ext cx="1312251"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F2.png"/>
          <p:cNvPicPr>
            <a:picLocks noChangeAspect="1"/>
          </p:cNvPicPr>
          <p:nvPr/>
        </p:nvPicPr>
        <p:blipFill>
          <a:blip r:embed="rId2"/>
          <a:stretch>
            <a:fillRect/>
          </a:stretch>
        </p:blipFill>
        <p:spPr>
          <a:xfrm>
            <a:off x="9108141" y="438911"/>
            <a:ext cx="1284819" cy="829055"/>
          </a:xfrm>
          <a:prstGeom prst="rect">
            <a:avLst/>
          </a:prstGeom>
        </p:spPr>
      </p:pic>
      <p:sp>
        <p:nvSpPr>
          <p:cNvPr id="39" name="TextBox 38"/>
          <p:cNvSpPr txBox="1"/>
          <p:nvPr/>
        </p:nvSpPr>
        <p:spPr>
          <a:xfrm>
            <a:off x="7912607" y="132283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Variant Fill Top Ctr Low</a:t>
            </a:r>
          </a:p>
        </p:txBody>
      </p:sp>
      <p:sp>
        <p:nvSpPr>
          <p:cNvPr id="40" name="TextBox 39"/>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41" name="Rectangle 40"/>
          <p:cNvSpPr/>
          <p:nvPr/>
        </p:nvSpPr>
        <p:spPr>
          <a:xfrm>
            <a:off x="9094425" y="2132075"/>
            <a:ext cx="1312251"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F1.png"/>
          <p:cNvPicPr>
            <a:picLocks noChangeAspect="1"/>
          </p:cNvPicPr>
          <p:nvPr/>
        </p:nvPicPr>
        <p:blipFill>
          <a:blip r:embed="rId3"/>
          <a:stretch>
            <a:fillRect/>
          </a:stretch>
        </p:blipFill>
        <p:spPr>
          <a:xfrm>
            <a:off x="9108141" y="2145791"/>
            <a:ext cx="1284819" cy="829055"/>
          </a:xfrm>
          <a:prstGeom prst="rect">
            <a:avLst/>
          </a:prstGeom>
        </p:spPr>
      </p:pic>
      <p:sp>
        <p:nvSpPr>
          <p:cNvPr id="43" name="TextBox 42"/>
          <p:cNvSpPr txBox="1"/>
          <p:nvPr/>
        </p:nvSpPr>
        <p:spPr>
          <a:xfrm>
            <a:off x="7912607" y="302971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Gold Fill Top Ctr Low</a:t>
            </a:r>
          </a:p>
        </p:txBody>
      </p:sp>
      <p:sp>
        <p:nvSpPr>
          <p:cNvPr id="44" name="TextBox 43"/>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45" name="Rectangle 44"/>
          <p:cNvSpPr/>
          <p:nvPr/>
        </p:nvSpPr>
        <p:spPr>
          <a:xfrm>
            <a:off x="9094425" y="3838956"/>
            <a:ext cx="1312251"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F4.png"/>
          <p:cNvPicPr>
            <a:picLocks noChangeAspect="1"/>
          </p:cNvPicPr>
          <p:nvPr/>
        </p:nvPicPr>
        <p:blipFill>
          <a:blip r:embed="rId4"/>
          <a:stretch>
            <a:fillRect/>
          </a:stretch>
        </p:blipFill>
        <p:spPr>
          <a:xfrm>
            <a:off x="9108141" y="3852671"/>
            <a:ext cx="1284819" cy="829055"/>
          </a:xfrm>
          <a:prstGeom prst="rect">
            <a:avLst/>
          </a:prstGeom>
        </p:spPr>
      </p:pic>
      <p:sp>
        <p:nvSpPr>
          <p:cNvPr id="47" name="TextBox 46"/>
          <p:cNvSpPr txBox="1"/>
          <p:nvPr/>
        </p:nvSpPr>
        <p:spPr>
          <a:xfrm>
            <a:off x="7912607" y="473659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Variant Outline Top Ctr Low</a:t>
            </a:r>
          </a:p>
        </p:txBody>
      </p:sp>
      <p:sp>
        <p:nvSpPr>
          <p:cNvPr id="48" name="TextBox 47"/>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49" name="Rounded Rectangle 48"/>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Non-users favor Loz Gold Outline Top Ctr Low; Dove users favor Loz Variant Fill Top Ctr Low. The widest segment gap is Loz Variant Fill Top Ctr Low: +16 non-users / +27 users.</a:t>
            </a:r>
          </a:p>
        </p:txBody>
      </p:sp>
      <p:sp>
        <p:nvSpPr>
          <p:cNvPr id="50" name="Rectangle 49"/>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52" name="TextBox 51"/>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LOZ TOP CTR LOW   ·   2 of 2</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Loz Top Ctr Low splits across the groups</a:t>
            </a:r>
          </a:p>
        </p:txBody>
      </p:sp>
      <p:sp>
        <p:nvSpPr>
          <p:cNvPr id="4" name="TextBox 3"/>
          <p:cNvSpPr txBox="1"/>
          <p:nvPr/>
        </p:nvSpPr>
        <p:spPr>
          <a:xfrm>
            <a:off x="502920" y="910081"/>
            <a:ext cx="7043927" cy="193547"/>
          </a:xfrm>
          <a:prstGeom prst="rect">
            <a:avLst/>
          </a:prstGeom>
          <a:noFill/>
        </p:spPr>
        <p:txBody>
          <a:bodyPr wrap="square" anchor="t" lIns="0" rIns="0" tIns="0" bIns="0"/>
          <a:lstStyle/>
          <a:p>
            <a:pPr algn="l">
              <a:spcBef>
                <a:spcPts val="0"/>
              </a:spcBef>
              <a:spcAft>
                <a:spcPts val="0"/>
              </a:spcAft>
              <a:lnSpc>
                <a:spcPts val="1380"/>
              </a:lnSpc>
            </a:pPr>
            <a:r>
              <a:rPr sz="1200" b="0" i="0">
                <a:solidFill>
                  <a:srgbClr val="617086"/>
                </a:solidFill>
                <a:latin typeface="Karla"/>
              </a:rPr>
              <a:t>Non-users favor Loz Gold Outline Top Ctr Low; Dove users favor Loz Variant Fill Top Ctr Low.</a:t>
            </a:r>
          </a:p>
        </p:txBody>
      </p:sp>
      <p:sp>
        <p:nvSpPr>
          <p:cNvPr id="5" name="Rectangle 4"/>
          <p:cNvSpPr/>
          <p:nvPr/>
        </p:nvSpPr>
        <p:spPr>
          <a:xfrm>
            <a:off x="502920" y="118440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LOZ TOP CTR LOW</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495298"/>
            <a:ext cx="9144" cy="346074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495298"/>
            <a:ext cx="9144" cy="346074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495298"/>
            <a:ext cx="9144" cy="346074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495298"/>
            <a:ext cx="9144" cy="346074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495298"/>
            <a:ext cx="10972" cy="346074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184463"/>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Gold Outline</a:t>
            </a:r>
          </a:p>
          <a:p>
            <a:pPr algn="r">
              <a:spcBef>
                <a:spcPts val="0"/>
              </a:spcBef>
              <a:spcAft>
                <a:spcPts val="0"/>
              </a:spcAft>
            </a:pPr>
            <a:r>
              <a:rPr sz="1100" b="0" i="0">
                <a:solidFill>
                  <a:srgbClr val="1E2D44"/>
                </a:solidFill>
                <a:latin typeface="Karla"/>
              </a:rPr>
              <a:t>Top Ctr Low</a:t>
            </a:r>
          </a:p>
        </p:txBody>
      </p:sp>
      <p:sp>
        <p:nvSpPr>
          <p:cNvPr id="18" name="Rectangle 17"/>
          <p:cNvSpPr/>
          <p:nvPr/>
        </p:nvSpPr>
        <p:spPr>
          <a:xfrm>
            <a:off x="2167128" y="2184463"/>
            <a:ext cx="2303449"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5441" y="2184463"/>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+19</a:t>
            </a:r>
          </a:p>
        </p:txBody>
      </p:sp>
      <p:sp>
        <p:nvSpPr>
          <p:cNvPr id="20" name="Rectangle 19"/>
          <p:cNvSpPr/>
          <p:nvPr/>
        </p:nvSpPr>
        <p:spPr>
          <a:xfrm>
            <a:off x="2167128" y="2381059"/>
            <a:ext cx="303085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2846" y="2381059"/>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+25</a:t>
            </a:r>
          </a:p>
        </p:txBody>
      </p:sp>
      <p:sp>
        <p:nvSpPr>
          <p:cNvPr id="22" name="TextBox 21"/>
          <p:cNvSpPr txBox="1"/>
          <p:nvPr/>
        </p:nvSpPr>
        <p:spPr>
          <a:xfrm>
            <a:off x="502920" y="3914838"/>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Text Top Ctr</a:t>
            </a:r>
          </a:p>
          <a:p>
            <a:pPr algn="r">
              <a:spcBef>
                <a:spcPts val="0"/>
              </a:spcBef>
              <a:spcAft>
                <a:spcPts val="0"/>
              </a:spcAft>
            </a:pPr>
            <a:r>
              <a:rPr sz="1100" b="0" i="0">
                <a:solidFill>
                  <a:srgbClr val="1E2D44"/>
                </a:solidFill>
                <a:latin typeface="Karla"/>
              </a:rPr>
              <a:t>Low</a:t>
            </a:r>
          </a:p>
        </p:txBody>
      </p:sp>
      <p:sp>
        <p:nvSpPr>
          <p:cNvPr id="23" name="Rectangle 22"/>
          <p:cNvSpPr/>
          <p:nvPr/>
        </p:nvSpPr>
        <p:spPr>
          <a:xfrm>
            <a:off x="2167128" y="3914838"/>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1739" y="3914838"/>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+16</a:t>
            </a:r>
          </a:p>
        </p:txBody>
      </p:sp>
      <p:sp>
        <p:nvSpPr>
          <p:cNvPr id="25" name="Rectangle 24"/>
          <p:cNvSpPr/>
          <p:nvPr/>
        </p:nvSpPr>
        <p:spPr>
          <a:xfrm>
            <a:off x="2167128" y="4111434"/>
            <a:ext cx="2788386"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10378" y="4111434"/>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+23</a:t>
            </a:r>
          </a:p>
        </p:txBody>
      </p:sp>
      <p:sp>
        <p:nvSpPr>
          <p:cNvPr id="27" name="Rectangle 26"/>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29" name="Rectangle 28"/>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1" name="Rounded Rectangle 3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35467" y="2003771"/>
            <a:ext cx="1709927" cy="111309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F3.png"/>
          <p:cNvPicPr>
            <a:picLocks noChangeAspect="1"/>
          </p:cNvPicPr>
          <p:nvPr/>
        </p:nvPicPr>
        <p:blipFill>
          <a:blip r:embed="rId2"/>
          <a:stretch>
            <a:fillRect/>
          </a:stretch>
        </p:blipFill>
        <p:spPr>
          <a:xfrm>
            <a:off x="7949183" y="2017487"/>
            <a:ext cx="1682495" cy="1085664"/>
          </a:xfrm>
          <a:prstGeom prst="rect">
            <a:avLst/>
          </a:prstGeom>
        </p:spPr>
      </p:pic>
      <p:sp>
        <p:nvSpPr>
          <p:cNvPr id="34" name="TextBox 33"/>
          <p:cNvSpPr txBox="1"/>
          <p:nvPr/>
        </p:nvSpPr>
        <p:spPr>
          <a:xfrm>
            <a:off x="7912607" y="315801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Loz Gold Outline</a:t>
            </a:r>
          </a:p>
          <a:p>
            <a:pPr algn="ctr">
              <a:spcBef>
                <a:spcPts val="0"/>
              </a:spcBef>
              <a:spcAft>
                <a:spcPts val="0"/>
              </a:spcAft>
            </a:pPr>
            <a:r>
              <a:rPr sz="1200" b="0" i="0">
                <a:solidFill>
                  <a:srgbClr val="1E2D44"/>
                </a:solidFill>
                <a:latin typeface="Karla"/>
              </a:rPr>
              <a:t>Top Ctr Low</a:t>
            </a:r>
          </a:p>
        </p:txBody>
      </p:sp>
      <p:sp>
        <p:nvSpPr>
          <p:cNvPr id="35" name="TextBox 34"/>
          <p:cNvSpPr txBox="1"/>
          <p:nvPr/>
        </p:nvSpPr>
        <p:spPr>
          <a:xfrm>
            <a:off x="7912607" y="352377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36" name="Rectangle 35"/>
          <p:cNvSpPr/>
          <p:nvPr/>
        </p:nvSpPr>
        <p:spPr>
          <a:xfrm>
            <a:off x="9855707" y="2003771"/>
            <a:ext cx="1709927" cy="111309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F5.png"/>
          <p:cNvPicPr>
            <a:picLocks noChangeAspect="1"/>
          </p:cNvPicPr>
          <p:nvPr/>
        </p:nvPicPr>
        <p:blipFill>
          <a:blip r:embed="rId3"/>
          <a:stretch>
            <a:fillRect/>
          </a:stretch>
        </p:blipFill>
        <p:spPr>
          <a:xfrm>
            <a:off x="9869423" y="2017487"/>
            <a:ext cx="1682495" cy="1085664"/>
          </a:xfrm>
          <a:prstGeom prst="rect">
            <a:avLst/>
          </a:prstGeom>
        </p:spPr>
      </p:pic>
      <p:sp>
        <p:nvSpPr>
          <p:cNvPr id="38" name="TextBox 37"/>
          <p:cNvSpPr txBox="1"/>
          <p:nvPr/>
        </p:nvSpPr>
        <p:spPr>
          <a:xfrm>
            <a:off x="9832847" y="315801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Loz Text Top Ctr</a:t>
            </a:r>
          </a:p>
          <a:p>
            <a:pPr algn="ctr">
              <a:spcBef>
                <a:spcPts val="0"/>
              </a:spcBef>
              <a:spcAft>
                <a:spcPts val="0"/>
              </a:spcAft>
            </a:pPr>
            <a:r>
              <a:rPr sz="1200" b="0" i="0">
                <a:solidFill>
                  <a:srgbClr val="1E2D44"/>
                </a:solidFill>
                <a:latin typeface="Karla"/>
              </a:rPr>
              <a:t>Low</a:t>
            </a:r>
          </a:p>
        </p:txBody>
      </p:sp>
      <p:sp>
        <p:nvSpPr>
          <p:cNvPr id="39" name="TextBox 38"/>
          <p:cNvSpPr txBox="1"/>
          <p:nvPr/>
        </p:nvSpPr>
        <p:spPr>
          <a:xfrm>
            <a:off x="9832847" y="352377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40" name="Rounded Rectangle 39"/>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Non-users favor Loz Gold Outline Top Ctr Low; Dove users favor Loz Variant Fill Top Ctr Low. The widest segment gap is Loz Variant Fill Top Ctr Low: +16 non-users / +27 users.</a:t>
            </a:r>
          </a:p>
        </p:txBody>
      </p:sp>
      <p:sp>
        <p:nvSpPr>
          <p:cNvPr id="41" name="Rectangle 4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43" name="TextBox 4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LOZ TOP CTR   ·   1 of 2</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Loz Gold Fill Top Ctr leads in both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Loz Gold Fill Top Ctr leads both groups; Loz Variant Fill Top Ctr ranks last.</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LOZ TOP CTR</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914059"/>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Gold Fill Top</a:t>
            </a:r>
          </a:p>
          <a:p>
            <a:pPr algn="r">
              <a:spcBef>
                <a:spcPts val="0"/>
              </a:spcBef>
              <a:spcAft>
                <a:spcPts val="0"/>
              </a:spcAft>
            </a:pPr>
            <a:r>
              <a:rPr sz="1100" b="0" i="0">
                <a:solidFill>
                  <a:srgbClr val="1E2D44"/>
                </a:solidFill>
                <a:latin typeface="Karla"/>
              </a:rPr>
              <a:t>Ctr</a:t>
            </a:r>
          </a:p>
        </p:txBody>
      </p:sp>
      <p:sp>
        <p:nvSpPr>
          <p:cNvPr id="18" name="Rectangle 17"/>
          <p:cNvSpPr/>
          <p:nvPr/>
        </p:nvSpPr>
        <p:spPr>
          <a:xfrm>
            <a:off x="2167128" y="1914059"/>
            <a:ext cx="242468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6675" y="191405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+20</a:t>
            </a:r>
          </a:p>
        </p:txBody>
      </p:sp>
      <p:sp>
        <p:nvSpPr>
          <p:cNvPr id="20" name="Rectangle 19"/>
          <p:cNvSpPr/>
          <p:nvPr/>
        </p:nvSpPr>
        <p:spPr>
          <a:xfrm>
            <a:off x="2167128" y="2110655"/>
            <a:ext cx="3515791"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37783" y="211065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+29</a:t>
            </a:r>
          </a:p>
        </p:txBody>
      </p:sp>
      <p:sp>
        <p:nvSpPr>
          <p:cNvPr id="22" name="TextBox 21"/>
          <p:cNvSpPr txBox="1"/>
          <p:nvPr/>
        </p:nvSpPr>
        <p:spPr>
          <a:xfrm>
            <a:off x="502920" y="3060445"/>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Loz Text Top Ctr</a:t>
            </a:r>
          </a:p>
        </p:txBody>
      </p:sp>
      <p:sp>
        <p:nvSpPr>
          <p:cNvPr id="23" name="Rectangle 22"/>
          <p:cNvSpPr/>
          <p:nvPr/>
        </p:nvSpPr>
        <p:spPr>
          <a:xfrm>
            <a:off x="2167128" y="3060445"/>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1739" y="306044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+16</a:t>
            </a:r>
          </a:p>
        </p:txBody>
      </p:sp>
      <p:sp>
        <p:nvSpPr>
          <p:cNvPr id="25" name="Rectangle 24"/>
          <p:cNvSpPr/>
          <p:nvPr/>
        </p:nvSpPr>
        <p:spPr>
          <a:xfrm>
            <a:off x="2167128" y="3257041"/>
            <a:ext cx="327332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95315" y="325704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+27</a:t>
            </a:r>
          </a:p>
        </p:txBody>
      </p:sp>
      <p:sp>
        <p:nvSpPr>
          <p:cNvPr id="27" name="TextBox 26"/>
          <p:cNvSpPr txBox="1"/>
          <p:nvPr/>
        </p:nvSpPr>
        <p:spPr>
          <a:xfrm>
            <a:off x="502920" y="4206832"/>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Gold Outline</a:t>
            </a:r>
          </a:p>
          <a:p>
            <a:pPr algn="r">
              <a:spcBef>
                <a:spcPts val="0"/>
              </a:spcBef>
              <a:spcAft>
                <a:spcPts val="0"/>
              </a:spcAft>
            </a:pPr>
            <a:r>
              <a:rPr sz="1100" b="0" i="0">
                <a:solidFill>
                  <a:srgbClr val="1E2D44"/>
                </a:solidFill>
                <a:latin typeface="Karla"/>
              </a:rPr>
              <a:t>Top Ctr</a:t>
            </a:r>
          </a:p>
        </p:txBody>
      </p:sp>
      <p:sp>
        <p:nvSpPr>
          <p:cNvPr id="28" name="Rectangle 27"/>
          <p:cNvSpPr/>
          <p:nvPr/>
        </p:nvSpPr>
        <p:spPr>
          <a:xfrm>
            <a:off x="2167128" y="4206832"/>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61739" y="4206832"/>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+16</a:t>
            </a:r>
          </a:p>
        </p:txBody>
      </p:sp>
      <p:sp>
        <p:nvSpPr>
          <p:cNvPr id="30" name="Rectangle 29"/>
          <p:cNvSpPr/>
          <p:nvPr/>
        </p:nvSpPr>
        <p:spPr>
          <a:xfrm>
            <a:off x="2167128" y="4403428"/>
            <a:ext cx="3152089"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74081" y="440342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+26</a:t>
            </a:r>
          </a:p>
        </p:txBody>
      </p:sp>
      <p:sp>
        <p:nvSpPr>
          <p:cNvPr id="32" name="Rectangle 31"/>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4" name="Rectangle 33"/>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6" name="Rounded Rectangle 35"/>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94425" y="425195"/>
            <a:ext cx="1312251"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G1.png"/>
          <p:cNvPicPr>
            <a:picLocks noChangeAspect="1"/>
          </p:cNvPicPr>
          <p:nvPr/>
        </p:nvPicPr>
        <p:blipFill>
          <a:blip r:embed="rId2"/>
          <a:stretch>
            <a:fillRect/>
          </a:stretch>
        </p:blipFill>
        <p:spPr>
          <a:xfrm>
            <a:off x="9108141" y="438911"/>
            <a:ext cx="1284819" cy="829055"/>
          </a:xfrm>
          <a:prstGeom prst="rect">
            <a:avLst/>
          </a:prstGeom>
        </p:spPr>
      </p:pic>
      <p:sp>
        <p:nvSpPr>
          <p:cNvPr id="39" name="TextBox 38"/>
          <p:cNvSpPr txBox="1"/>
          <p:nvPr/>
        </p:nvSpPr>
        <p:spPr>
          <a:xfrm>
            <a:off x="7912607" y="132283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Gold Fill Top Ctr</a:t>
            </a:r>
          </a:p>
        </p:txBody>
      </p:sp>
      <p:sp>
        <p:nvSpPr>
          <p:cNvPr id="40" name="TextBox 39"/>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+24*</a:t>
            </a:r>
          </a:p>
        </p:txBody>
      </p:sp>
      <p:sp>
        <p:nvSpPr>
          <p:cNvPr id="41" name="Rectangle 40"/>
          <p:cNvSpPr/>
          <p:nvPr/>
        </p:nvSpPr>
        <p:spPr>
          <a:xfrm>
            <a:off x="9094425" y="2132075"/>
            <a:ext cx="1312251"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G5.png"/>
          <p:cNvPicPr>
            <a:picLocks noChangeAspect="1"/>
          </p:cNvPicPr>
          <p:nvPr/>
        </p:nvPicPr>
        <p:blipFill>
          <a:blip r:embed="rId3"/>
          <a:stretch>
            <a:fillRect/>
          </a:stretch>
        </p:blipFill>
        <p:spPr>
          <a:xfrm>
            <a:off x="9108141" y="2145791"/>
            <a:ext cx="1284819" cy="829055"/>
          </a:xfrm>
          <a:prstGeom prst="rect">
            <a:avLst/>
          </a:prstGeom>
        </p:spPr>
      </p:pic>
      <p:sp>
        <p:nvSpPr>
          <p:cNvPr id="43" name="TextBox 42"/>
          <p:cNvSpPr txBox="1"/>
          <p:nvPr/>
        </p:nvSpPr>
        <p:spPr>
          <a:xfrm>
            <a:off x="7912607" y="302971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Text Top Ctr</a:t>
            </a:r>
          </a:p>
        </p:txBody>
      </p:sp>
      <p:sp>
        <p:nvSpPr>
          <p:cNvPr id="44" name="TextBox 43"/>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45" name="Rectangle 44"/>
          <p:cNvSpPr/>
          <p:nvPr/>
        </p:nvSpPr>
        <p:spPr>
          <a:xfrm>
            <a:off x="9094425" y="3838956"/>
            <a:ext cx="1312251"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G3.png"/>
          <p:cNvPicPr>
            <a:picLocks noChangeAspect="1"/>
          </p:cNvPicPr>
          <p:nvPr/>
        </p:nvPicPr>
        <p:blipFill>
          <a:blip r:embed="rId4"/>
          <a:stretch>
            <a:fillRect/>
          </a:stretch>
        </p:blipFill>
        <p:spPr>
          <a:xfrm>
            <a:off x="9108141" y="3852671"/>
            <a:ext cx="1284819" cy="829055"/>
          </a:xfrm>
          <a:prstGeom prst="rect">
            <a:avLst/>
          </a:prstGeom>
        </p:spPr>
      </p:pic>
      <p:sp>
        <p:nvSpPr>
          <p:cNvPr id="47" name="TextBox 46"/>
          <p:cNvSpPr txBox="1"/>
          <p:nvPr/>
        </p:nvSpPr>
        <p:spPr>
          <a:xfrm>
            <a:off x="7912607" y="473659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Gold Outline Top Ctr</a:t>
            </a:r>
          </a:p>
        </p:txBody>
      </p:sp>
      <p:sp>
        <p:nvSpPr>
          <p:cNvPr id="48" name="TextBox 47"/>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49" name="Rounded Rectangle 48"/>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Both groups rank Loz Gold Fill Top Ctr first. The widest segment gap is Loz Text Top Ctr: +16 non-users / +27 users.</a:t>
            </a:r>
          </a:p>
        </p:txBody>
      </p:sp>
      <p:sp>
        <p:nvSpPr>
          <p:cNvPr id="50" name="Rectangle 49"/>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52" name="TextBox 51"/>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LOZ TOP CTR   ·   2 of 2</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Loz Gold Fill Top Ctr leads in both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Loz Gold Fill Top Ctr leads both groups; Loz Variant Fill Top Ctr ranks last.</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LOZ TOP CTR</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200655"/>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Variant</a:t>
            </a:r>
          </a:p>
          <a:p>
            <a:pPr algn="r">
              <a:spcBef>
                <a:spcPts val="0"/>
              </a:spcBef>
              <a:spcAft>
                <a:spcPts val="0"/>
              </a:spcAft>
            </a:pPr>
            <a:r>
              <a:rPr sz="1100" b="0" i="0">
                <a:solidFill>
                  <a:srgbClr val="1E2D44"/>
                </a:solidFill>
                <a:latin typeface="Karla"/>
              </a:rPr>
              <a:t>Outline Top Ctr</a:t>
            </a:r>
          </a:p>
        </p:txBody>
      </p:sp>
      <p:sp>
        <p:nvSpPr>
          <p:cNvPr id="18" name="Rectangle 17"/>
          <p:cNvSpPr/>
          <p:nvPr/>
        </p:nvSpPr>
        <p:spPr>
          <a:xfrm>
            <a:off x="2167128" y="2200655"/>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1739" y="220065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+16</a:t>
            </a:r>
          </a:p>
        </p:txBody>
      </p:sp>
      <p:sp>
        <p:nvSpPr>
          <p:cNvPr id="20" name="Rectangle 19"/>
          <p:cNvSpPr/>
          <p:nvPr/>
        </p:nvSpPr>
        <p:spPr>
          <a:xfrm>
            <a:off x="2167128" y="2397251"/>
            <a:ext cx="3152089"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74081" y="239725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+26</a:t>
            </a:r>
          </a:p>
        </p:txBody>
      </p:sp>
      <p:sp>
        <p:nvSpPr>
          <p:cNvPr id="22" name="TextBox 21"/>
          <p:cNvSpPr txBox="1"/>
          <p:nvPr/>
        </p:nvSpPr>
        <p:spPr>
          <a:xfrm>
            <a:off x="502920" y="3920235"/>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Variant Fill</a:t>
            </a:r>
          </a:p>
          <a:p>
            <a:pPr algn="r">
              <a:spcBef>
                <a:spcPts val="0"/>
              </a:spcBef>
              <a:spcAft>
                <a:spcPts val="0"/>
              </a:spcAft>
            </a:pPr>
            <a:r>
              <a:rPr sz="1100" b="0" i="0">
                <a:solidFill>
                  <a:srgbClr val="1E2D44"/>
                </a:solidFill>
                <a:latin typeface="Karla"/>
              </a:rPr>
              <a:t>Top Ctr</a:t>
            </a:r>
          </a:p>
        </p:txBody>
      </p:sp>
      <p:sp>
        <p:nvSpPr>
          <p:cNvPr id="23" name="Rectangle 22"/>
          <p:cNvSpPr/>
          <p:nvPr/>
        </p:nvSpPr>
        <p:spPr>
          <a:xfrm>
            <a:off x="2167128" y="3920235"/>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1739" y="392023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+16</a:t>
            </a:r>
          </a:p>
        </p:txBody>
      </p:sp>
      <p:sp>
        <p:nvSpPr>
          <p:cNvPr id="25" name="Rectangle 24"/>
          <p:cNvSpPr/>
          <p:nvPr/>
        </p:nvSpPr>
        <p:spPr>
          <a:xfrm>
            <a:off x="2167128" y="4116831"/>
            <a:ext cx="303085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52846" y="411683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+25</a:t>
            </a:r>
          </a:p>
        </p:txBody>
      </p:sp>
      <p:sp>
        <p:nvSpPr>
          <p:cNvPr id="27" name="Rectangle 26"/>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29" name="Rectangle 28"/>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1" name="Rounded Rectangle 3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35467" y="2003771"/>
            <a:ext cx="1709927" cy="111309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G4.png"/>
          <p:cNvPicPr>
            <a:picLocks noChangeAspect="1"/>
          </p:cNvPicPr>
          <p:nvPr/>
        </p:nvPicPr>
        <p:blipFill>
          <a:blip r:embed="rId2"/>
          <a:stretch>
            <a:fillRect/>
          </a:stretch>
        </p:blipFill>
        <p:spPr>
          <a:xfrm>
            <a:off x="7949183" y="2017487"/>
            <a:ext cx="1682495" cy="1085664"/>
          </a:xfrm>
          <a:prstGeom prst="rect">
            <a:avLst/>
          </a:prstGeom>
        </p:spPr>
      </p:pic>
      <p:sp>
        <p:nvSpPr>
          <p:cNvPr id="34" name="TextBox 33"/>
          <p:cNvSpPr txBox="1"/>
          <p:nvPr/>
        </p:nvSpPr>
        <p:spPr>
          <a:xfrm>
            <a:off x="7912607" y="315801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Loz Variant Outline</a:t>
            </a:r>
          </a:p>
          <a:p>
            <a:pPr algn="ctr">
              <a:spcBef>
                <a:spcPts val="0"/>
              </a:spcBef>
              <a:spcAft>
                <a:spcPts val="0"/>
              </a:spcAft>
            </a:pPr>
            <a:r>
              <a:rPr sz="1200" b="0" i="0">
                <a:solidFill>
                  <a:srgbClr val="1E2D44"/>
                </a:solidFill>
                <a:latin typeface="Karla"/>
              </a:rPr>
              <a:t>Top Ctr</a:t>
            </a:r>
          </a:p>
        </p:txBody>
      </p:sp>
      <p:sp>
        <p:nvSpPr>
          <p:cNvPr id="35" name="TextBox 34"/>
          <p:cNvSpPr txBox="1"/>
          <p:nvPr/>
        </p:nvSpPr>
        <p:spPr>
          <a:xfrm>
            <a:off x="7912607" y="352377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36" name="Rectangle 35"/>
          <p:cNvSpPr/>
          <p:nvPr/>
        </p:nvSpPr>
        <p:spPr>
          <a:xfrm>
            <a:off x="9855707" y="2003771"/>
            <a:ext cx="1709927" cy="111309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G2.png"/>
          <p:cNvPicPr>
            <a:picLocks noChangeAspect="1"/>
          </p:cNvPicPr>
          <p:nvPr/>
        </p:nvPicPr>
        <p:blipFill>
          <a:blip r:embed="rId3"/>
          <a:stretch>
            <a:fillRect/>
          </a:stretch>
        </p:blipFill>
        <p:spPr>
          <a:xfrm>
            <a:off x="9869423" y="2017487"/>
            <a:ext cx="1682495" cy="1085664"/>
          </a:xfrm>
          <a:prstGeom prst="rect">
            <a:avLst/>
          </a:prstGeom>
        </p:spPr>
      </p:pic>
      <p:sp>
        <p:nvSpPr>
          <p:cNvPr id="38" name="TextBox 37"/>
          <p:cNvSpPr txBox="1"/>
          <p:nvPr/>
        </p:nvSpPr>
        <p:spPr>
          <a:xfrm>
            <a:off x="9832847" y="315801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Loz Variant Fill</a:t>
            </a:r>
          </a:p>
          <a:p>
            <a:pPr algn="ctr">
              <a:spcBef>
                <a:spcPts val="0"/>
              </a:spcBef>
              <a:spcAft>
                <a:spcPts val="0"/>
              </a:spcAft>
            </a:pPr>
            <a:r>
              <a:rPr sz="1200" b="0" i="0">
                <a:solidFill>
                  <a:srgbClr val="1E2D44"/>
                </a:solidFill>
                <a:latin typeface="Karla"/>
              </a:rPr>
              <a:t>Top Ctr</a:t>
            </a:r>
          </a:p>
        </p:txBody>
      </p:sp>
      <p:sp>
        <p:nvSpPr>
          <p:cNvPr id="39" name="TextBox 38"/>
          <p:cNvSpPr txBox="1"/>
          <p:nvPr/>
        </p:nvSpPr>
        <p:spPr>
          <a:xfrm>
            <a:off x="9832847" y="352377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40" name="Rounded Rectangle 39"/>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Both groups rank Loz Gold Fill Top Ctr first. The widest segment gap is Loz Text Top Ctr: +16 non-users / +27 users.</a:t>
            </a:r>
          </a:p>
        </p:txBody>
      </p:sp>
      <p:sp>
        <p:nvSpPr>
          <p:cNvPr id="41" name="Rectangle 4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43" name="TextBox 4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LOZ TOP LEFT LOW   ·   1 of 2</a:t>
            </a:r>
          </a:p>
        </p:txBody>
      </p:sp>
      <p:sp>
        <p:nvSpPr>
          <p:cNvPr id="3" name="TextBox 2"/>
          <p:cNvSpPr txBox="1"/>
          <p:nvPr/>
        </p:nvSpPr>
        <p:spPr>
          <a:xfrm>
            <a:off x="502920" y="438912"/>
            <a:ext cx="7043927" cy="339598"/>
          </a:xfrm>
          <a:prstGeom prst="rect">
            <a:avLst/>
          </a:prstGeom>
          <a:noFill/>
        </p:spPr>
        <p:txBody>
          <a:bodyPr wrap="square" anchor="t" lIns="0" rIns="0" tIns="0" bIns="0"/>
          <a:lstStyle/>
          <a:p>
            <a:pPr algn="l">
              <a:spcBef>
                <a:spcPts val="0"/>
              </a:spcBef>
              <a:spcAft>
                <a:spcPts val="0"/>
              </a:spcAft>
              <a:lnSpc>
                <a:spcPts val="2530"/>
              </a:lnSpc>
            </a:pPr>
            <a:r>
              <a:rPr sz="2200" b="1" i="0">
                <a:solidFill>
                  <a:srgbClr val="1E2D44"/>
                </a:solidFill>
                <a:latin typeface="Karla"/>
              </a:rPr>
              <a:t>Loz Variant Fill Top Left Low leads in both groups</a:t>
            </a:r>
          </a:p>
        </p:txBody>
      </p:sp>
      <p:sp>
        <p:nvSpPr>
          <p:cNvPr id="4" name="TextBox 3"/>
          <p:cNvSpPr txBox="1"/>
          <p:nvPr/>
        </p:nvSpPr>
        <p:spPr>
          <a:xfrm>
            <a:off x="502920" y="85166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Loz Variant Fill Top Left Low leads both groups; Loz Text Top Left Low ranks last.</a:t>
            </a:r>
          </a:p>
        </p:txBody>
      </p:sp>
      <p:sp>
        <p:nvSpPr>
          <p:cNvPr id="5" name="Rectangle 4"/>
          <p:cNvSpPr/>
          <p:nvPr/>
        </p:nvSpPr>
        <p:spPr>
          <a:xfrm>
            <a:off x="502920" y="114757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LOZ TOP LEFT LOW</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458468"/>
            <a:ext cx="9144" cy="349757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458468"/>
            <a:ext cx="9144" cy="349757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458468"/>
            <a:ext cx="9144" cy="349757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458468"/>
            <a:ext cx="9144" cy="349757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458468"/>
            <a:ext cx="10972" cy="349757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65376"/>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Variant Fill</a:t>
            </a:r>
          </a:p>
          <a:p>
            <a:pPr algn="r">
              <a:spcBef>
                <a:spcPts val="0"/>
              </a:spcBef>
              <a:spcAft>
                <a:spcPts val="0"/>
              </a:spcAft>
            </a:pPr>
            <a:r>
              <a:rPr sz="1100" b="0" i="0">
                <a:solidFill>
                  <a:srgbClr val="1E2D44"/>
                </a:solidFill>
                <a:latin typeface="Karla"/>
              </a:rPr>
              <a:t>Top Left Low</a:t>
            </a:r>
          </a:p>
        </p:txBody>
      </p:sp>
      <p:sp>
        <p:nvSpPr>
          <p:cNvPr id="18" name="Rectangle 17"/>
          <p:cNvSpPr/>
          <p:nvPr/>
        </p:nvSpPr>
        <p:spPr>
          <a:xfrm>
            <a:off x="2167128" y="1865376"/>
            <a:ext cx="2303449"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5441" y="1865376"/>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+19</a:t>
            </a:r>
          </a:p>
        </p:txBody>
      </p:sp>
      <p:sp>
        <p:nvSpPr>
          <p:cNvPr id="20" name="Rectangle 19"/>
          <p:cNvSpPr/>
          <p:nvPr/>
        </p:nvSpPr>
        <p:spPr>
          <a:xfrm>
            <a:off x="2167128" y="2061972"/>
            <a:ext cx="3758259"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0251" y="2061972"/>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+31</a:t>
            </a:r>
          </a:p>
        </p:txBody>
      </p:sp>
      <p:sp>
        <p:nvSpPr>
          <p:cNvPr id="22" name="TextBox 21"/>
          <p:cNvSpPr txBox="1"/>
          <p:nvPr/>
        </p:nvSpPr>
        <p:spPr>
          <a:xfrm>
            <a:off x="502920" y="3031235"/>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Gold Outline</a:t>
            </a:r>
          </a:p>
          <a:p>
            <a:pPr algn="r">
              <a:spcBef>
                <a:spcPts val="0"/>
              </a:spcBef>
              <a:spcAft>
                <a:spcPts val="0"/>
              </a:spcAft>
            </a:pPr>
            <a:r>
              <a:rPr sz="1100" b="0" i="0">
                <a:solidFill>
                  <a:srgbClr val="1E2D44"/>
                </a:solidFill>
                <a:latin typeface="Karla"/>
              </a:rPr>
              <a:t>Top Left Low</a:t>
            </a:r>
          </a:p>
        </p:txBody>
      </p:sp>
      <p:sp>
        <p:nvSpPr>
          <p:cNvPr id="23" name="Rectangle 22"/>
          <p:cNvSpPr/>
          <p:nvPr/>
        </p:nvSpPr>
        <p:spPr>
          <a:xfrm>
            <a:off x="2167128" y="3031235"/>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1739" y="303123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+16</a:t>
            </a:r>
          </a:p>
        </p:txBody>
      </p:sp>
      <p:sp>
        <p:nvSpPr>
          <p:cNvPr id="25" name="Rectangle 24"/>
          <p:cNvSpPr/>
          <p:nvPr/>
        </p:nvSpPr>
        <p:spPr>
          <a:xfrm>
            <a:off x="2167128" y="3227831"/>
            <a:ext cx="339455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16549" y="322783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+28</a:t>
            </a:r>
          </a:p>
        </p:txBody>
      </p:sp>
      <p:sp>
        <p:nvSpPr>
          <p:cNvPr id="27" name="TextBox 26"/>
          <p:cNvSpPr txBox="1"/>
          <p:nvPr/>
        </p:nvSpPr>
        <p:spPr>
          <a:xfrm>
            <a:off x="502920" y="4197096"/>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Variant</a:t>
            </a:r>
          </a:p>
          <a:p>
            <a:pPr algn="r">
              <a:spcBef>
                <a:spcPts val="0"/>
              </a:spcBef>
              <a:spcAft>
                <a:spcPts val="0"/>
              </a:spcAft>
            </a:pPr>
            <a:r>
              <a:rPr sz="1100" b="0" i="0">
                <a:solidFill>
                  <a:srgbClr val="1E2D44"/>
                </a:solidFill>
                <a:latin typeface="Karla"/>
              </a:rPr>
              <a:t>Outline Top Left…</a:t>
            </a:r>
          </a:p>
        </p:txBody>
      </p:sp>
      <p:sp>
        <p:nvSpPr>
          <p:cNvPr id="28" name="Rectangle 27"/>
          <p:cNvSpPr/>
          <p:nvPr/>
        </p:nvSpPr>
        <p:spPr>
          <a:xfrm>
            <a:off x="2167128" y="4197096"/>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61739" y="4197096"/>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+16</a:t>
            </a:r>
          </a:p>
        </p:txBody>
      </p:sp>
      <p:sp>
        <p:nvSpPr>
          <p:cNvPr id="30" name="Rectangle 29"/>
          <p:cNvSpPr/>
          <p:nvPr/>
        </p:nvSpPr>
        <p:spPr>
          <a:xfrm>
            <a:off x="2167128" y="4393692"/>
            <a:ext cx="327332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95315" y="4393692"/>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+27</a:t>
            </a:r>
          </a:p>
        </p:txBody>
      </p:sp>
      <p:sp>
        <p:nvSpPr>
          <p:cNvPr id="32" name="Rectangle 31"/>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4" name="Rectangle 33"/>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6" name="Rounded Rectangle 35"/>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94425" y="425195"/>
            <a:ext cx="1312251"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H1.png"/>
          <p:cNvPicPr>
            <a:picLocks noChangeAspect="1"/>
          </p:cNvPicPr>
          <p:nvPr/>
        </p:nvPicPr>
        <p:blipFill>
          <a:blip r:embed="rId2"/>
          <a:stretch>
            <a:fillRect/>
          </a:stretch>
        </p:blipFill>
        <p:spPr>
          <a:xfrm>
            <a:off x="9108141" y="438911"/>
            <a:ext cx="1284819" cy="829055"/>
          </a:xfrm>
          <a:prstGeom prst="rect">
            <a:avLst/>
          </a:prstGeom>
        </p:spPr>
      </p:pic>
      <p:sp>
        <p:nvSpPr>
          <p:cNvPr id="39" name="TextBox 38"/>
          <p:cNvSpPr txBox="1"/>
          <p:nvPr/>
        </p:nvSpPr>
        <p:spPr>
          <a:xfrm>
            <a:off x="7912607" y="132283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Variant Fill Top Left Low</a:t>
            </a:r>
          </a:p>
        </p:txBody>
      </p:sp>
      <p:sp>
        <p:nvSpPr>
          <p:cNvPr id="40" name="TextBox 39"/>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+25*</a:t>
            </a:r>
          </a:p>
        </p:txBody>
      </p:sp>
      <p:sp>
        <p:nvSpPr>
          <p:cNvPr id="41" name="Rectangle 40"/>
          <p:cNvSpPr/>
          <p:nvPr/>
        </p:nvSpPr>
        <p:spPr>
          <a:xfrm>
            <a:off x="9094425" y="2132075"/>
            <a:ext cx="1312251"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H2.png"/>
          <p:cNvPicPr>
            <a:picLocks noChangeAspect="1"/>
          </p:cNvPicPr>
          <p:nvPr/>
        </p:nvPicPr>
        <p:blipFill>
          <a:blip r:embed="rId3"/>
          <a:stretch>
            <a:fillRect/>
          </a:stretch>
        </p:blipFill>
        <p:spPr>
          <a:xfrm>
            <a:off x="9108141" y="2145791"/>
            <a:ext cx="1284819" cy="829055"/>
          </a:xfrm>
          <a:prstGeom prst="rect">
            <a:avLst/>
          </a:prstGeom>
        </p:spPr>
      </p:pic>
      <p:sp>
        <p:nvSpPr>
          <p:cNvPr id="43" name="TextBox 42"/>
          <p:cNvSpPr txBox="1"/>
          <p:nvPr/>
        </p:nvSpPr>
        <p:spPr>
          <a:xfrm>
            <a:off x="7912607" y="302971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Gold Outline Top Left Low</a:t>
            </a:r>
          </a:p>
        </p:txBody>
      </p:sp>
      <p:sp>
        <p:nvSpPr>
          <p:cNvPr id="44" name="TextBox 43"/>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45" name="Rectangle 44"/>
          <p:cNvSpPr/>
          <p:nvPr/>
        </p:nvSpPr>
        <p:spPr>
          <a:xfrm>
            <a:off x="9094425" y="3838956"/>
            <a:ext cx="1312251"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H3.png"/>
          <p:cNvPicPr>
            <a:picLocks noChangeAspect="1"/>
          </p:cNvPicPr>
          <p:nvPr/>
        </p:nvPicPr>
        <p:blipFill>
          <a:blip r:embed="rId4"/>
          <a:stretch>
            <a:fillRect/>
          </a:stretch>
        </p:blipFill>
        <p:spPr>
          <a:xfrm>
            <a:off x="9108141" y="3852671"/>
            <a:ext cx="1284819" cy="829055"/>
          </a:xfrm>
          <a:prstGeom prst="rect">
            <a:avLst/>
          </a:prstGeom>
        </p:spPr>
      </p:pic>
      <p:sp>
        <p:nvSpPr>
          <p:cNvPr id="47" name="TextBox 46"/>
          <p:cNvSpPr txBox="1"/>
          <p:nvPr/>
        </p:nvSpPr>
        <p:spPr>
          <a:xfrm>
            <a:off x="7912607" y="473659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Variant Outline Top Left Low</a:t>
            </a:r>
          </a:p>
        </p:txBody>
      </p:sp>
      <p:sp>
        <p:nvSpPr>
          <p:cNvPr id="48" name="TextBox 47"/>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49" name="Rounded Rectangle 48"/>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Both groups rank Loz Variant Fill Top Left Low first. The widest segment gap is Loz Variant Fill Top Left Low: +19 non-users / +31 users.</a:t>
            </a:r>
          </a:p>
        </p:txBody>
      </p:sp>
      <p:sp>
        <p:nvSpPr>
          <p:cNvPr id="50" name="Rectangle 49"/>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52" name="TextBox 51"/>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LOZ TOP LEFT LOW   ·   2 of 2</a:t>
            </a:r>
          </a:p>
        </p:txBody>
      </p:sp>
      <p:sp>
        <p:nvSpPr>
          <p:cNvPr id="3" name="TextBox 2"/>
          <p:cNvSpPr txBox="1"/>
          <p:nvPr/>
        </p:nvSpPr>
        <p:spPr>
          <a:xfrm>
            <a:off x="502920" y="438912"/>
            <a:ext cx="7043927" cy="339598"/>
          </a:xfrm>
          <a:prstGeom prst="rect">
            <a:avLst/>
          </a:prstGeom>
          <a:noFill/>
        </p:spPr>
        <p:txBody>
          <a:bodyPr wrap="square" anchor="t" lIns="0" rIns="0" tIns="0" bIns="0"/>
          <a:lstStyle/>
          <a:p>
            <a:pPr algn="l">
              <a:spcBef>
                <a:spcPts val="0"/>
              </a:spcBef>
              <a:spcAft>
                <a:spcPts val="0"/>
              </a:spcAft>
              <a:lnSpc>
                <a:spcPts val="2530"/>
              </a:lnSpc>
            </a:pPr>
            <a:r>
              <a:rPr sz="2200" b="1" i="0">
                <a:solidFill>
                  <a:srgbClr val="1E2D44"/>
                </a:solidFill>
                <a:latin typeface="Karla"/>
              </a:rPr>
              <a:t>Loz Variant Fill Top Left Low leads in both groups</a:t>
            </a:r>
          </a:p>
        </p:txBody>
      </p:sp>
      <p:sp>
        <p:nvSpPr>
          <p:cNvPr id="4" name="TextBox 3"/>
          <p:cNvSpPr txBox="1"/>
          <p:nvPr/>
        </p:nvSpPr>
        <p:spPr>
          <a:xfrm>
            <a:off x="502920" y="85166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Loz Variant Fill Top Left Low leads both groups; Loz Text Top Left Low ranks last.</a:t>
            </a:r>
          </a:p>
        </p:txBody>
      </p:sp>
      <p:sp>
        <p:nvSpPr>
          <p:cNvPr id="5" name="Rectangle 4"/>
          <p:cNvSpPr/>
          <p:nvPr/>
        </p:nvSpPr>
        <p:spPr>
          <a:xfrm>
            <a:off x="502920" y="114757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LOZ TOP LEFT LOW</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458468"/>
            <a:ext cx="9144" cy="349757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458468"/>
            <a:ext cx="9144" cy="349757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458468"/>
            <a:ext cx="9144" cy="349757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458468"/>
            <a:ext cx="9144" cy="349757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458468"/>
            <a:ext cx="10972" cy="349757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156840"/>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Gold Fill Top</a:t>
            </a:r>
          </a:p>
          <a:p>
            <a:pPr algn="r">
              <a:spcBef>
                <a:spcPts val="0"/>
              </a:spcBef>
              <a:spcAft>
                <a:spcPts val="0"/>
              </a:spcAft>
            </a:pPr>
            <a:r>
              <a:rPr sz="1100" b="0" i="0">
                <a:solidFill>
                  <a:srgbClr val="1E2D44"/>
                </a:solidFill>
                <a:latin typeface="Karla"/>
              </a:rPr>
              <a:t>Left Low</a:t>
            </a:r>
          </a:p>
        </p:txBody>
      </p:sp>
      <p:sp>
        <p:nvSpPr>
          <p:cNvPr id="18" name="Rectangle 17"/>
          <p:cNvSpPr/>
          <p:nvPr/>
        </p:nvSpPr>
        <p:spPr>
          <a:xfrm>
            <a:off x="2167128" y="2156840"/>
            <a:ext cx="2182215"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207" y="215684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+18</a:t>
            </a:r>
          </a:p>
        </p:txBody>
      </p:sp>
      <p:sp>
        <p:nvSpPr>
          <p:cNvPr id="20" name="Rectangle 19"/>
          <p:cNvSpPr/>
          <p:nvPr/>
        </p:nvSpPr>
        <p:spPr>
          <a:xfrm>
            <a:off x="2167128" y="2353436"/>
            <a:ext cx="303085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2846" y="235343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+25</a:t>
            </a:r>
          </a:p>
        </p:txBody>
      </p:sp>
      <p:sp>
        <p:nvSpPr>
          <p:cNvPr id="22" name="TextBox 21"/>
          <p:cNvSpPr txBox="1"/>
          <p:nvPr/>
        </p:nvSpPr>
        <p:spPr>
          <a:xfrm>
            <a:off x="502920" y="3905630"/>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Text Top Left</a:t>
            </a:r>
          </a:p>
          <a:p>
            <a:pPr algn="r">
              <a:spcBef>
                <a:spcPts val="0"/>
              </a:spcBef>
              <a:spcAft>
                <a:spcPts val="0"/>
              </a:spcAft>
            </a:pPr>
            <a:r>
              <a:rPr sz="1100" b="0" i="0">
                <a:solidFill>
                  <a:srgbClr val="1E2D44"/>
                </a:solidFill>
                <a:latin typeface="Karla"/>
              </a:rPr>
              <a:t>Low</a:t>
            </a:r>
          </a:p>
        </p:txBody>
      </p:sp>
      <p:sp>
        <p:nvSpPr>
          <p:cNvPr id="23" name="Rectangle 22"/>
          <p:cNvSpPr/>
          <p:nvPr/>
        </p:nvSpPr>
        <p:spPr>
          <a:xfrm>
            <a:off x="2167128" y="3905630"/>
            <a:ext cx="2060981"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82973" y="390563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+17</a:t>
            </a:r>
          </a:p>
        </p:txBody>
      </p:sp>
      <p:sp>
        <p:nvSpPr>
          <p:cNvPr id="25" name="Rectangle 24"/>
          <p:cNvSpPr/>
          <p:nvPr/>
        </p:nvSpPr>
        <p:spPr>
          <a:xfrm>
            <a:off x="2167128" y="4102226"/>
            <a:ext cx="290962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31612" y="410222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+24</a:t>
            </a:r>
          </a:p>
        </p:txBody>
      </p:sp>
      <p:sp>
        <p:nvSpPr>
          <p:cNvPr id="27" name="Rectangle 26"/>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29" name="Rectangle 28"/>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1" name="Rounded Rectangle 3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35467" y="2003771"/>
            <a:ext cx="1709927" cy="111309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H5.png"/>
          <p:cNvPicPr>
            <a:picLocks noChangeAspect="1"/>
          </p:cNvPicPr>
          <p:nvPr/>
        </p:nvPicPr>
        <p:blipFill>
          <a:blip r:embed="rId2"/>
          <a:stretch>
            <a:fillRect/>
          </a:stretch>
        </p:blipFill>
        <p:spPr>
          <a:xfrm>
            <a:off x="7949183" y="2017487"/>
            <a:ext cx="1682495" cy="1085664"/>
          </a:xfrm>
          <a:prstGeom prst="rect">
            <a:avLst/>
          </a:prstGeom>
        </p:spPr>
      </p:pic>
      <p:sp>
        <p:nvSpPr>
          <p:cNvPr id="34" name="TextBox 33"/>
          <p:cNvSpPr txBox="1"/>
          <p:nvPr/>
        </p:nvSpPr>
        <p:spPr>
          <a:xfrm>
            <a:off x="7912607" y="315801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Loz Gold Fill Top</a:t>
            </a:r>
          </a:p>
          <a:p>
            <a:pPr algn="ctr">
              <a:spcBef>
                <a:spcPts val="0"/>
              </a:spcBef>
              <a:spcAft>
                <a:spcPts val="0"/>
              </a:spcAft>
            </a:pPr>
            <a:r>
              <a:rPr sz="1200" b="0" i="0">
                <a:solidFill>
                  <a:srgbClr val="1E2D44"/>
                </a:solidFill>
                <a:latin typeface="Karla"/>
              </a:rPr>
              <a:t>Left Low</a:t>
            </a:r>
          </a:p>
        </p:txBody>
      </p:sp>
      <p:sp>
        <p:nvSpPr>
          <p:cNvPr id="35" name="TextBox 34"/>
          <p:cNvSpPr txBox="1"/>
          <p:nvPr/>
        </p:nvSpPr>
        <p:spPr>
          <a:xfrm>
            <a:off x="7912607" y="352377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36" name="Rectangle 35"/>
          <p:cNvSpPr/>
          <p:nvPr/>
        </p:nvSpPr>
        <p:spPr>
          <a:xfrm>
            <a:off x="9855707" y="2003771"/>
            <a:ext cx="1709927" cy="111309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H4.png"/>
          <p:cNvPicPr>
            <a:picLocks noChangeAspect="1"/>
          </p:cNvPicPr>
          <p:nvPr/>
        </p:nvPicPr>
        <p:blipFill>
          <a:blip r:embed="rId3"/>
          <a:stretch>
            <a:fillRect/>
          </a:stretch>
        </p:blipFill>
        <p:spPr>
          <a:xfrm>
            <a:off x="9869423" y="2017487"/>
            <a:ext cx="1682495" cy="1085664"/>
          </a:xfrm>
          <a:prstGeom prst="rect">
            <a:avLst/>
          </a:prstGeom>
        </p:spPr>
      </p:pic>
      <p:sp>
        <p:nvSpPr>
          <p:cNvPr id="38" name="TextBox 37"/>
          <p:cNvSpPr txBox="1"/>
          <p:nvPr/>
        </p:nvSpPr>
        <p:spPr>
          <a:xfrm>
            <a:off x="9832847" y="315801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Loz Text Top Left</a:t>
            </a:r>
          </a:p>
          <a:p>
            <a:pPr algn="ctr">
              <a:spcBef>
                <a:spcPts val="0"/>
              </a:spcBef>
              <a:spcAft>
                <a:spcPts val="0"/>
              </a:spcAft>
            </a:pPr>
            <a:r>
              <a:rPr sz="1200" b="0" i="0">
                <a:solidFill>
                  <a:srgbClr val="1E2D44"/>
                </a:solidFill>
                <a:latin typeface="Karla"/>
              </a:rPr>
              <a:t>Low</a:t>
            </a:r>
          </a:p>
        </p:txBody>
      </p:sp>
      <p:sp>
        <p:nvSpPr>
          <p:cNvPr id="39" name="TextBox 38"/>
          <p:cNvSpPr txBox="1"/>
          <p:nvPr/>
        </p:nvSpPr>
        <p:spPr>
          <a:xfrm>
            <a:off x="9832847" y="352377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40" name="Rounded Rectangle 39"/>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Both groups rank Loz Variant Fill Top Left Low first. The widest segment gap is Loz Variant Fill Top Left Low: +19 non-users / +31 users.</a:t>
            </a:r>
          </a:p>
        </p:txBody>
      </p:sp>
      <p:sp>
        <p:nvSpPr>
          <p:cNvPr id="41" name="Rectangle 4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43" name="TextBox 4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LOZ TOP LEFT   ·   1 of 2</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Loz Top Left splits across the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Non-users favor Loz Gold Outline Top Left; Dove users favor Loz Text Top Left.</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LOZ TOP LEFT</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899581"/>
            <a:ext cx="1554480" cy="380999"/>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Loz Text Top</a:t>
            </a:r>
          </a:p>
          <a:p>
            <a:pPr algn="r">
              <a:spcBef>
                <a:spcPts val="0"/>
              </a:spcBef>
              <a:spcAft>
                <a:spcPts val="0"/>
              </a:spcAft>
            </a:pPr>
            <a:r>
              <a:rPr sz="1200" b="0" i="0">
                <a:solidFill>
                  <a:srgbClr val="1E2D44"/>
                </a:solidFill>
                <a:latin typeface="Karla"/>
              </a:rPr>
              <a:t>Left</a:t>
            </a:r>
          </a:p>
        </p:txBody>
      </p:sp>
      <p:sp>
        <p:nvSpPr>
          <p:cNvPr id="18" name="Rectangle 17"/>
          <p:cNvSpPr/>
          <p:nvPr/>
        </p:nvSpPr>
        <p:spPr>
          <a:xfrm>
            <a:off x="2167128" y="1914059"/>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1739" y="191405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+16</a:t>
            </a:r>
          </a:p>
        </p:txBody>
      </p:sp>
      <p:sp>
        <p:nvSpPr>
          <p:cNvPr id="20" name="Rectangle 19"/>
          <p:cNvSpPr/>
          <p:nvPr/>
        </p:nvSpPr>
        <p:spPr>
          <a:xfrm>
            <a:off x="2167128" y="2110655"/>
            <a:ext cx="327332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95315" y="211065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+27</a:t>
            </a:r>
          </a:p>
        </p:txBody>
      </p:sp>
      <p:sp>
        <p:nvSpPr>
          <p:cNvPr id="22" name="TextBox 21"/>
          <p:cNvSpPr txBox="1"/>
          <p:nvPr/>
        </p:nvSpPr>
        <p:spPr>
          <a:xfrm>
            <a:off x="502920" y="3060445"/>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Variant Fill</a:t>
            </a:r>
          </a:p>
          <a:p>
            <a:pPr algn="r">
              <a:spcBef>
                <a:spcPts val="0"/>
              </a:spcBef>
              <a:spcAft>
                <a:spcPts val="0"/>
              </a:spcAft>
            </a:pPr>
            <a:r>
              <a:rPr sz="1100" b="0" i="0">
                <a:solidFill>
                  <a:srgbClr val="1E2D44"/>
                </a:solidFill>
                <a:latin typeface="Karla"/>
              </a:rPr>
              <a:t>Top Left</a:t>
            </a:r>
          </a:p>
        </p:txBody>
      </p:sp>
      <p:sp>
        <p:nvSpPr>
          <p:cNvPr id="23" name="Rectangle 22"/>
          <p:cNvSpPr/>
          <p:nvPr/>
        </p:nvSpPr>
        <p:spPr>
          <a:xfrm>
            <a:off x="2167128" y="3060445"/>
            <a:ext cx="1818512"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40504" y="306044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+15</a:t>
            </a:r>
          </a:p>
        </p:txBody>
      </p:sp>
      <p:sp>
        <p:nvSpPr>
          <p:cNvPr id="25" name="Rectangle 24"/>
          <p:cNvSpPr/>
          <p:nvPr/>
        </p:nvSpPr>
        <p:spPr>
          <a:xfrm>
            <a:off x="2167128" y="3257041"/>
            <a:ext cx="327332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95315" y="325704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+27</a:t>
            </a:r>
          </a:p>
        </p:txBody>
      </p:sp>
      <p:sp>
        <p:nvSpPr>
          <p:cNvPr id="27" name="TextBox 26"/>
          <p:cNvSpPr txBox="1"/>
          <p:nvPr/>
        </p:nvSpPr>
        <p:spPr>
          <a:xfrm>
            <a:off x="502920" y="4206832"/>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Gold Outline</a:t>
            </a:r>
          </a:p>
          <a:p>
            <a:pPr algn="r">
              <a:spcBef>
                <a:spcPts val="0"/>
              </a:spcBef>
              <a:spcAft>
                <a:spcPts val="0"/>
              </a:spcAft>
            </a:pPr>
            <a:r>
              <a:rPr sz="1100" b="0" i="0">
                <a:solidFill>
                  <a:srgbClr val="1E2D44"/>
                </a:solidFill>
                <a:latin typeface="Karla"/>
              </a:rPr>
              <a:t>Top Left</a:t>
            </a:r>
          </a:p>
        </p:txBody>
      </p:sp>
      <p:sp>
        <p:nvSpPr>
          <p:cNvPr id="28" name="Rectangle 27"/>
          <p:cNvSpPr/>
          <p:nvPr/>
        </p:nvSpPr>
        <p:spPr>
          <a:xfrm>
            <a:off x="2167128" y="4206832"/>
            <a:ext cx="2303449"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5441" y="4206832"/>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+19</a:t>
            </a:r>
          </a:p>
        </p:txBody>
      </p:sp>
      <p:sp>
        <p:nvSpPr>
          <p:cNvPr id="30" name="Rectangle 29"/>
          <p:cNvSpPr/>
          <p:nvPr/>
        </p:nvSpPr>
        <p:spPr>
          <a:xfrm>
            <a:off x="2167128" y="4403428"/>
            <a:ext cx="3273323"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95315" y="440342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+27</a:t>
            </a:r>
          </a:p>
        </p:txBody>
      </p:sp>
      <p:sp>
        <p:nvSpPr>
          <p:cNvPr id="32" name="Rectangle 31"/>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4" name="Rectangle 33"/>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6" name="Rounded Rectangle 35"/>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94425" y="425195"/>
            <a:ext cx="1312251"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1.png"/>
          <p:cNvPicPr>
            <a:picLocks noChangeAspect="1"/>
          </p:cNvPicPr>
          <p:nvPr/>
        </p:nvPicPr>
        <p:blipFill>
          <a:blip r:embed="rId2"/>
          <a:stretch>
            <a:fillRect/>
          </a:stretch>
        </p:blipFill>
        <p:spPr>
          <a:xfrm>
            <a:off x="9108141" y="438911"/>
            <a:ext cx="1284819" cy="829055"/>
          </a:xfrm>
          <a:prstGeom prst="rect">
            <a:avLst/>
          </a:prstGeom>
        </p:spPr>
      </p:pic>
      <p:sp>
        <p:nvSpPr>
          <p:cNvPr id="39" name="TextBox 38"/>
          <p:cNvSpPr txBox="1"/>
          <p:nvPr/>
        </p:nvSpPr>
        <p:spPr>
          <a:xfrm>
            <a:off x="7912607" y="132283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Text Top Left</a:t>
            </a:r>
          </a:p>
        </p:txBody>
      </p:sp>
      <p:sp>
        <p:nvSpPr>
          <p:cNvPr id="40" name="TextBox 39"/>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+22*</a:t>
            </a:r>
          </a:p>
        </p:txBody>
      </p:sp>
      <p:sp>
        <p:nvSpPr>
          <p:cNvPr id="41" name="Rectangle 40"/>
          <p:cNvSpPr/>
          <p:nvPr/>
        </p:nvSpPr>
        <p:spPr>
          <a:xfrm>
            <a:off x="9094425" y="2132075"/>
            <a:ext cx="1312251"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3.png"/>
          <p:cNvPicPr>
            <a:picLocks noChangeAspect="1"/>
          </p:cNvPicPr>
          <p:nvPr/>
        </p:nvPicPr>
        <p:blipFill>
          <a:blip r:embed="rId3"/>
          <a:stretch>
            <a:fillRect/>
          </a:stretch>
        </p:blipFill>
        <p:spPr>
          <a:xfrm>
            <a:off x="9108141" y="2145791"/>
            <a:ext cx="1284819" cy="829055"/>
          </a:xfrm>
          <a:prstGeom prst="rect">
            <a:avLst/>
          </a:prstGeom>
        </p:spPr>
      </p:pic>
      <p:sp>
        <p:nvSpPr>
          <p:cNvPr id="43" name="TextBox 42"/>
          <p:cNvSpPr txBox="1"/>
          <p:nvPr/>
        </p:nvSpPr>
        <p:spPr>
          <a:xfrm>
            <a:off x="7912607" y="302971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Variant Fill Top Left</a:t>
            </a:r>
          </a:p>
        </p:txBody>
      </p:sp>
      <p:sp>
        <p:nvSpPr>
          <p:cNvPr id="44" name="TextBox 43"/>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45" name="Rectangle 44"/>
          <p:cNvSpPr/>
          <p:nvPr/>
        </p:nvSpPr>
        <p:spPr>
          <a:xfrm>
            <a:off x="9094425" y="3838956"/>
            <a:ext cx="1312251" cy="85648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4.png"/>
          <p:cNvPicPr>
            <a:picLocks noChangeAspect="1"/>
          </p:cNvPicPr>
          <p:nvPr/>
        </p:nvPicPr>
        <p:blipFill>
          <a:blip r:embed="rId4"/>
          <a:stretch>
            <a:fillRect/>
          </a:stretch>
        </p:blipFill>
        <p:spPr>
          <a:xfrm>
            <a:off x="9108141" y="3852671"/>
            <a:ext cx="1284819" cy="829055"/>
          </a:xfrm>
          <a:prstGeom prst="rect">
            <a:avLst/>
          </a:prstGeom>
        </p:spPr>
      </p:pic>
      <p:sp>
        <p:nvSpPr>
          <p:cNvPr id="47" name="TextBox 46"/>
          <p:cNvSpPr txBox="1"/>
          <p:nvPr/>
        </p:nvSpPr>
        <p:spPr>
          <a:xfrm>
            <a:off x="7912607" y="4736591"/>
            <a:ext cx="3675887" cy="365760"/>
          </a:xfrm>
          <a:prstGeom prst="rect">
            <a:avLst/>
          </a:prstGeom>
          <a:noFill/>
        </p:spPr>
        <p:txBody>
          <a:bodyPr wrap="square" anchor="ctr" lIns="0" rIns="0" tIns="0" bIns="0"/>
          <a:lstStyle/>
          <a:p>
            <a:pPr algn="ctr">
              <a:spcBef>
                <a:spcPts val="0"/>
              </a:spcBef>
              <a:spcAft>
                <a:spcPts val="0"/>
              </a:spcAft>
            </a:pPr>
            <a:r>
              <a:rPr sz="1300" b="0" i="0">
                <a:solidFill>
                  <a:srgbClr val="1E2D44"/>
                </a:solidFill>
                <a:latin typeface="Karla"/>
              </a:rPr>
              <a:t>Loz Gold Outline Top Left</a:t>
            </a:r>
          </a:p>
        </p:txBody>
      </p:sp>
      <p:sp>
        <p:nvSpPr>
          <p:cNvPr id="48" name="TextBox 47"/>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+23*</a:t>
            </a:r>
          </a:p>
        </p:txBody>
      </p:sp>
      <p:sp>
        <p:nvSpPr>
          <p:cNvPr id="49" name="Rounded Rectangle 48"/>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Non-users favor Loz Gold Outline Top Left; Dove users favor Loz Text Top Left. The widest segment gap is Loz Variant Outline Top Left: +13 non-users / +26 users.</a:t>
            </a:r>
          </a:p>
        </p:txBody>
      </p:sp>
      <p:sp>
        <p:nvSpPr>
          <p:cNvPr id="50" name="Rectangle 49"/>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52" name="TextBox 51"/>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LOZ TOP LEFT   ·   2 of 2</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Loz Top Left splits across the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Non-users favor Loz Gold Outline Top Left; Dove users favor Loz Text Top Left.</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LOZ TOP LEFT</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9" name="Rectangle 8"/>
          <p:cNvSpPr/>
          <p:nvPr/>
        </p:nvSpPr>
        <p:spPr>
          <a:xfrm>
            <a:off x="4591811"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1" name="Rectangle 10"/>
          <p:cNvSpPr/>
          <p:nvPr/>
        </p:nvSpPr>
        <p:spPr>
          <a:xfrm>
            <a:off x="5804153"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30</a:t>
            </a:r>
          </a:p>
        </p:txBody>
      </p:sp>
      <p:sp>
        <p:nvSpPr>
          <p:cNvPr id="13" name="Rectangle 12"/>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40</a:t>
            </a:r>
          </a:p>
        </p:txBody>
      </p:sp>
      <p:sp>
        <p:nvSpPr>
          <p:cNvPr id="15" name="Rectangle 14"/>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200655"/>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Gold Fill Top</a:t>
            </a:r>
          </a:p>
          <a:p>
            <a:pPr algn="r">
              <a:spcBef>
                <a:spcPts val="0"/>
              </a:spcBef>
              <a:spcAft>
                <a:spcPts val="0"/>
              </a:spcAft>
            </a:pPr>
            <a:r>
              <a:rPr sz="1100" b="0" i="0">
                <a:solidFill>
                  <a:srgbClr val="1E2D44"/>
                </a:solidFill>
                <a:latin typeface="Karla"/>
              </a:rPr>
              <a:t>Left</a:t>
            </a:r>
          </a:p>
        </p:txBody>
      </p:sp>
      <p:sp>
        <p:nvSpPr>
          <p:cNvPr id="18" name="Rectangle 17"/>
          <p:cNvSpPr/>
          <p:nvPr/>
        </p:nvSpPr>
        <p:spPr>
          <a:xfrm>
            <a:off x="2167128" y="2200655"/>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1739" y="220065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+16</a:t>
            </a:r>
          </a:p>
        </p:txBody>
      </p:sp>
      <p:sp>
        <p:nvSpPr>
          <p:cNvPr id="20" name="Rectangle 19"/>
          <p:cNvSpPr/>
          <p:nvPr/>
        </p:nvSpPr>
        <p:spPr>
          <a:xfrm>
            <a:off x="2167128" y="2397251"/>
            <a:ext cx="3152089"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74081" y="239725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+26</a:t>
            </a:r>
          </a:p>
        </p:txBody>
      </p:sp>
      <p:sp>
        <p:nvSpPr>
          <p:cNvPr id="22" name="TextBox 21"/>
          <p:cNvSpPr txBox="1"/>
          <p:nvPr/>
        </p:nvSpPr>
        <p:spPr>
          <a:xfrm>
            <a:off x="502920" y="3920235"/>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Loz Variant</a:t>
            </a:r>
          </a:p>
          <a:p>
            <a:pPr algn="r">
              <a:spcBef>
                <a:spcPts val="0"/>
              </a:spcBef>
              <a:spcAft>
                <a:spcPts val="0"/>
              </a:spcAft>
            </a:pPr>
            <a:r>
              <a:rPr sz="1100" b="0" i="0">
                <a:solidFill>
                  <a:srgbClr val="1E2D44"/>
                </a:solidFill>
                <a:latin typeface="Karla"/>
              </a:rPr>
              <a:t>Outline Top Left</a:t>
            </a:r>
          </a:p>
        </p:txBody>
      </p:sp>
      <p:sp>
        <p:nvSpPr>
          <p:cNvPr id="23" name="Rectangle 22"/>
          <p:cNvSpPr/>
          <p:nvPr/>
        </p:nvSpPr>
        <p:spPr>
          <a:xfrm>
            <a:off x="2167128" y="3920235"/>
            <a:ext cx="1576044"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98036" y="392023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+13</a:t>
            </a:r>
          </a:p>
        </p:txBody>
      </p:sp>
      <p:sp>
        <p:nvSpPr>
          <p:cNvPr id="25" name="Rectangle 24"/>
          <p:cNvSpPr/>
          <p:nvPr/>
        </p:nvSpPr>
        <p:spPr>
          <a:xfrm>
            <a:off x="2167128" y="4116831"/>
            <a:ext cx="3152089"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74081" y="411683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+26</a:t>
            </a:r>
          </a:p>
        </p:txBody>
      </p:sp>
      <p:sp>
        <p:nvSpPr>
          <p:cNvPr id="27" name="Rectangle 26"/>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29" name="Rectangle 28"/>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1" name="Rounded Rectangle 3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35467" y="2003771"/>
            <a:ext cx="1709927" cy="111309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2.png"/>
          <p:cNvPicPr>
            <a:picLocks noChangeAspect="1"/>
          </p:cNvPicPr>
          <p:nvPr/>
        </p:nvPicPr>
        <p:blipFill>
          <a:blip r:embed="rId2"/>
          <a:stretch>
            <a:fillRect/>
          </a:stretch>
        </p:blipFill>
        <p:spPr>
          <a:xfrm>
            <a:off x="7949183" y="2017487"/>
            <a:ext cx="1682495" cy="1085664"/>
          </a:xfrm>
          <a:prstGeom prst="rect">
            <a:avLst/>
          </a:prstGeom>
        </p:spPr>
      </p:pic>
      <p:sp>
        <p:nvSpPr>
          <p:cNvPr id="34" name="TextBox 33"/>
          <p:cNvSpPr txBox="1"/>
          <p:nvPr/>
        </p:nvSpPr>
        <p:spPr>
          <a:xfrm>
            <a:off x="7912607" y="315801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Loz Gold Fill Top</a:t>
            </a:r>
          </a:p>
          <a:p>
            <a:pPr algn="ctr">
              <a:spcBef>
                <a:spcPts val="0"/>
              </a:spcBef>
              <a:spcAft>
                <a:spcPts val="0"/>
              </a:spcAft>
            </a:pPr>
            <a:r>
              <a:rPr sz="1200" b="0" i="0">
                <a:solidFill>
                  <a:srgbClr val="1E2D44"/>
                </a:solidFill>
                <a:latin typeface="Karla"/>
              </a:rPr>
              <a:t>Left</a:t>
            </a:r>
          </a:p>
        </p:txBody>
      </p:sp>
      <p:sp>
        <p:nvSpPr>
          <p:cNvPr id="35" name="TextBox 34"/>
          <p:cNvSpPr txBox="1"/>
          <p:nvPr/>
        </p:nvSpPr>
        <p:spPr>
          <a:xfrm>
            <a:off x="7912607" y="352377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+21*</a:t>
            </a:r>
          </a:p>
        </p:txBody>
      </p:sp>
      <p:sp>
        <p:nvSpPr>
          <p:cNvPr id="36" name="Rectangle 35"/>
          <p:cNvSpPr/>
          <p:nvPr/>
        </p:nvSpPr>
        <p:spPr>
          <a:xfrm>
            <a:off x="9855707" y="2003771"/>
            <a:ext cx="1709927" cy="1113096"/>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5.png"/>
          <p:cNvPicPr>
            <a:picLocks noChangeAspect="1"/>
          </p:cNvPicPr>
          <p:nvPr/>
        </p:nvPicPr>
        <p:blipFill>
          <a:blip r:embed="rId3"/>
          <a:stretch>
            <a:fillRect/>
          </a:stretch>
        </p:blipFill>
        <p:spPr>
          <a:xfrm>
            <a:off x="9869423" y="2017487"/>
            <a:ext cx="1682495" cy="1085664"/>
          </a:xfrm>
          <a:prstGeom prst="rect">
            <a:avLst/>
          </a:prstGeom>
        </p:spPr>
      </p:pic>
      <p:sp>
        <p:nvSpPr>
          <p:cNvPr id="38" name="TextBox 37"/>
          <p:cNvSpPr txBox="1"/>
          <p:nvPr/>
        </p:nvSpPr>
        <p:spPr>
          <a:xfrm>
            <a:off x="9832847" y="3158016"/>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Loz Variant Outline</a:t>
            </a:r>
          </a:p>
          <a:p>
            <a:pPr algn="ctr">
              <a:spcBef>
                <a:spcPts val="0"/>
              </a:spcBef>
              <a:spcAft>
                <a:spcPts val="0"/>
              </a:spcAft>
            </a:pPr>
            <a:r>
              <a:rPr sz="1200" b="0" i="0">
                <a:solidFill>
                  <a:srgbClr val="1E2D44"/>
                </a:solidFill>
                <a:latin typeface="Karla"/>
              </a:rPr>
              <a:t>Top Left</a:t>
            </a:r>
          </a:p>
        </p:txBody>
      </p:sp>
      <p:sp>
        <p:nvSpPr>
          <p:cNvPr id="39" name="TextBox 38"/>
          <p:cNvSpPr txBox="1"/>
          <p:nvPr/>
        </p:nvSpPr>
        <p:spPr>
          <a:xfrm>
            <a:off x="9832847" y="3523776"/>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+20*</a:t>
            </a:r>
          </a:p>
        </p:txBody>
      </p:sp>
      <p:sp>
        <p:nvSpPr>
          <p:cNvPr id="40" name="Rounded Rectangle 39"/>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Non-users favor Loz Gold Outline Top Left; Dove users favor Loz Text Top Left. The widest segment gap is Loz Variant Outline Top Left: +13 non-users / +26 users.</a:t>
            </a:r>
          </a:p>
        </p:txBody>
      </p:sp>
      <p:sp>
        <p:nvSpPr>
          <p:cNvPr id="41" name="Rectangle 4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43" name="TextBox 4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ADVANCED CARE</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Advanced Care splits across the groups</a:t>
            </a:r>
          </a:p>
        </p:txBody>
      </p:sp>
      <p:sp>
        <p:nvSpPr>
          <p:cNvPr id="4" name="TextBox 3"/>
          <p:cNvSpPr txBox="1"/>
          <p:nvPr/>
        </p:nvSpPr>
        <p:spPr>
          <a:xfrm>
            <a:off x="502920" y="910081"/>
            <a:ext cx="7043927" cy="427228"/>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Non-users favor Adv Care Lowercase No Wordmark; Dove users favor Adv Care Caps No Wordmark.</a:t>
            </a:r>
          </a:p>
        </p:txBody>
      </p:sp>
      <p:sp>
        <p:nvSpPr>
          <p:cNvPr id="5" name="Rectangle 4"/>
          <p:cNvSpPr/>
          <p:nvPr/>
        </p:nvSpPr>
        <p:spPr>
          <a:xfrm>
            <a:off x="502920" y="141046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ADVANCED CARE</a:t>
            </a:r>
          </a:p>
        </p:txBody>
      </p:sp>
      <p:sp>
        <p:nvSpPr>
          <p:cNvPr id="6" name="TextBox 5"/>
          <p:cNvSpPr txBox="1"/>
          <p:nvPr/>
        </p:nvSpPr>
        <p:spPr>
          <a:xfrm>
            <a:off x="1874520"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591811" y="1721358"/>
            <a:ext cx="9144" cy="323468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9203"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7016495" y="1721358"/>
            <a:ext cx="9144" cy="323468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3887" y="4974336"/>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2167128" y="1721358"/>
            <a:ext cx="10972" cy="323468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67128" y="4956048"/>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949672"/>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Adv Care Caps No</a:t>
            </a:r>
          </a:p>
          <a:p>
            <a:pPr algn="r">
              <a:spcBef>
                <a:spcPts val="0"/>
              </a:spcBef>
              <a:spcAft>
                <a:spcPts val="0"/>
              </a:spcAft>
            </a:pPr>
            <a:r>
              <a:rPr sz="1100" b="0" i="0">
                <a:solidFill>
                  <a:srgbClr val="1E2D44"/>
                </a:solidFill>
                <a:latin typeface="Karla"/>
              </a:rPr>
              <a:t>Wordmark</a:t>
            </a:r>
          </a:p>
        </p:txBody>
      </p:sp>
      <p:sp>
        <p:nvSpPr>
          <p:cNvPr id="14" name="Rectangle 13"/>
          <p:cNvSpPr/>
          <p:nvPr/>
        </p:nvSpPr>
        <p:spPr>
          <a:xfrm>
            <a:off x="2167128" y="1949672"/>
            <a:ext cx="145481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6802" y="1949672"/>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+3</a:t>
            </a:r>
          </a:p>
        </p:txBody>
      </p:sp>
      <p:sp>
        <p:nvSpPr>
          <p:cNvPr id="16" name="Rectangle 15"/>
          <p:cNvSpPr/>
          <p:nvPr/>
        </p:nvSpPr>
        <p:spPr>
          <a:xfrm>
            <a:off x="2167128" y="2146268"/>
            <a:ext cx="387949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01486" y="214626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+8</a:t>
            </a:r>
          </a:p>
        </p:txBody>
      </p:sp>
      <p:sp>
        <p:nvSpPr>
          <p:cNvPr id="18" name="TextBox 17"/>
          <p:cNvSpPr txBox="1"/>
          <p:nvPr/>
        </p:nvSpPr>
        <p:spPr>
          <a:xfrm>
            <a:off x="502920" y="2758344"/>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Adv Care Caps</a:t>
            </a:r>
          </a:p>
          <a:p>
            <a:pPr algn="r">
              <a:spcBef>
                <a:spcPts val="0"/>
              </a:spcBef>
              <a:spcAft>
                <a:spcPts val="0"/>
              </a:spcAft>
            </a:pPr>
            <a:r>
              <a:rPr sz="1100" b="0" i="0">
                <a:solidFill>
                  <a:srgbClr val="1E2D44"/>
                </a:solidFill>
                <a:latin typeface="Karla"/>
              </a:rPr>
              <a:t>Under Logo</a:t>
            </a:r>
          </a:p>
        </p:txBody>
      </p:sp>
      <p:sp>
        <p:nvSpPr>
          <p:cNvPr id="19" name="Rectangle 18"/>
          <p:cNvSpPr/>
          <p:nvPr/>
        </p:nvSpPr>
        <p:spPr>
          <a:xfrm>
            <a:off x="2167128" y="2758344"/>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61739" y="2758344"/>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+4</a:t>
            </a:r>
          </a:p>
        </p:txBody>
      </p:sp>
      <p:sp>
        <p:nvSpPr>
          <p:cNvPr id="21" name="Rectangle 20"/>
          <p:cNvSpPr/>
          <p:nvPr/>
        </p:nvSpPr>
        <p:spPr>
          <a:xfrm>
            <a:off x="2167128" y="2954940"/>
            <a:ext cx="387949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01486" y="2954940"/>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+8</a:t>
            </a:r>
          </a:p>
        </p:txBody>
      </p:sp>
      <p:sp>
        <p:nvSpPr>
          <p:cNvPr id="23" name="TextBox 22"/>
          <p:cNvSpPr txBox="1"/>
          <p:nvPr/>
        </p:nvSpPr>
        <p:spPr>
          <a:xfrm>
            <a:off x="502920" y="3567017"/>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Adv Care Lowercase</a:t>
            </a:r>
          </a:p>
          <a:p>
            <a:pPr algn="r">
              <a:spcBef>
                <a:spcPts val="0"/>
              </a:spcBef>
              <a:spcAft>
                <a:spcPts val="0"/>
              </a:spcAft>
            </a:pPr>
            <a:r>
              <a:rPr sz="1100" b="0" i="0">
                <a:solidFill>
                  <a:srgbClr val="1E2D44"/>
                </a:solidFill>
                <a:latin typeface="Karla"/>
              </a:rPr>
              <a:t>No Wordmark</a:t>
            </a:r>
          </a:p>
        </p:txBody>
      </p:sp>
      <p:sp>
        <p:nvSpPr>
          <p:cNvPr id="24" name="Rectangle 23"/>
          <p:cNvSpPr/>
          <p:nvPr/>
        </p:nvSpPr>
        <p:spPr>
          <a:xfrm>
            <a:off x="2167128" y="3567017"/>
            <a:ext cx="242468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6675" y="3567017"/>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+5</a:t>
            </a:r>
          </a:p>
        </p:txBody>
      </p:sp>
      <p:sp>
        <p:nvSpPr>
          <p:cNvPr id="26" name="Rectangle 25"/>
          <p:cNvSpPr/>
          <p:nvPr/>
        </p:nvSpPr>
        <p:spPr>
          <a:xfrm>
            <a:off x="2167128" y="3763613"/>
            <a:ext cx="339455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16549" y="3763613"/>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+7</a:t>
            </a:r>
          </a:p>
        </p:txBody>
      </p:sp>
      <p:sp>
        <p:nvSpPr>
          <p:cNvPr id="28" name="TextBox 27"/>
          <p:cNvSpPr txBox="1"/>
          <p:nvPr/>
        </p:nvSpPr>
        <p:spPr>
          <a:xfrm>
            <a:off x="502920" y="4375689"/>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Adv Care Lowercase</a:t>
            </a:r>
          </a:p>
          <a:p>
            <a:pPr algn="r">
              <a:spcBef>
                <a:spcPts val="0"/>
              </a:spcBef>
              <a:spcAft>
                <a:spcPts val="0"/>
              </a:spcAft>
            </a:pPr>
            <a:r>
              <a:rPr sz="1100" b="0" i="0">
                <a:solidFill>
                  <a:srgbClr val="1E2D44"/>
                </a:solidFill>
                <a:latin typeface="Karla"/>
              </a:rPr>
              <a:t>Under Logo</a:t>
            </a:r>
          </a:p>
        </p:txBody>
      </p:sp>
      <p:sp>
        <p:nvSpPr>
          <p:cNvPr id="29" name="Rectangle 28"/>
          <p:cNvSpPr/>
          <p:nvPr/>
        </p:nvSpPr>
        <p:spPr>
          <a:xfrm>
            <a:off x="2167128" y="4375689"/>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1739" y="437568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+4</a:t>
            </a:r>
          </a:p>
        </p:txBody>
      </p:sp>
      <p:sp>
        <p:nvSpPr>
          <p:cNvPr id="31" name="Rectangle 30"/>
          <p:cNvSpPr/>
          <p:nvPr/>
        </p:nvSpPr>
        <p:spPr>
          <a:xfrm>
            <a:off x="2167128" y="4572285"/>
            <a:ext cx="339455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16549" y="457228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+7</a:t>
            </a:r>
          </a:p>
        </p:txBody>
      </p:sp>
      <p:sp>
        <p:nvSpPr>
          <p:cNvPr id="33" name="Rectangle 32"/>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5" name="Rectangle 34"/>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7" name="Rounded Rectangle 36"/>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35467" y="721257"/>
            <a:ext cx="1709927" cy="111780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J1.png"/>
          <p:cNvPicPr>
            <a:picLocks noChangeAspect="1"/>
          </p:cNvPicPr>
          <p:nvPr/>
        </p:nvPicPr>
        <p:blipFill>
          <a:blip r:embed="rId2"/>
          <a:stretch>
            <a:fillRect/>
          </a:stretch>
        </p:blipFill>
        <p:spPr>
          <a:xfrm>
            <a:off x="7949183" y="734973"/>
            <a:ext cx="1682495" cy="1090372"/>
          </a:xfrm>
          <a:prstGeom prst="rect">
            <a:avLst/>
          </a:prstGeom>
        </p:spPr>
      </p:pic>
      <p:sp>
        <p:nvSpPr>
          <p:cNvPr id="40" name="TextBox 39"/>
          <p:cNvSpPr txBox="1"/>
          <p:nvPr/>
        </p:nvSpPr>
        <p:spPr>
          <a:xfrm>
            <a:off x="7912607" y="188021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Adv Care Caps No</a:t>
            </a:r>
          </a:p>
          <a:p>
            <a:pPr algn="ctr">
              <a:spcBef>
                <a:spcPts val="0"/>
              </a:spcBef>
              <a:spcAft>
                <a:spcPts val="0"/>
              </a:spcAft>
            </a:pPr>
            <a:r>
              <a:rPr sz="1200" b="0" i="0">
                <a:solidFill>
                  <a:srgbClr val="1E2D44"/>
                </a:solidFill>
                <a:latin typeface="Karla"/>
              </a:rPr>
              <a:t>Wordmark</a:t>
            </a:r>
          </a:p>
        </p:txBody>
      </p:sp>
      <p:sp>
        <p:nvSpPr>
          <p:cNvPr id="41" name="TextBox 40"/>
          <p:cNvSpPr txBox="1"/>
          <p:nvPr/>
        </p:nvSpPr>
        <p:spPr>
          <a:xfrm>
            <a:off x="7912607" y="224597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42" name="Rectangle 41"/>
          <p:cNvSpPr/>
          <p:nvPr/>
        </p:nvSpPr>
        <p:spPr>
          <a:xfrm>
            <a:off x="9855707" y="721257"/>
            <a:ext cx="1709927" cy="111780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J2.png"/>
          <p:cNvPicPr>
            <a:picLocks noChangeAspect="1"/>
          </p:cNvPicPr>
          <p:nvPr/>
        </p:nvPicPr>
        <p:blipFill>
          <a:blip r:embed="rId3"/>
          <a:stretch>
            <a:fillRect/>
          </a:stretch>
        </p:blipFill>
        <p:spPr>
          <a:xfrm>
            <a:off x="9869423" y="734973"/>
            <a:ext cx="1682495" cy="1090372"/>
          </a:xfrm>
          <a:prstGeom prst="rect">
            <a:avLst/>
          </a:prstGeom>
        </p:spPr>
      </p:pic>
      <p:sp>
        <p:nvSpPr>
          <p:cNvPr id="44" name="TextBox 43"/>
          <p:cNvSpPr txBox="1"/>
          <p:nvPr/>
        </p:nvSpPr>
        <p:spPr>
          <a:xfrm>
            <a:off x="9832847" y="188021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Adv Care Caps Under</a:t>
            </a:r>
          </a:p>
          <a:p>
            <a:pPr algn="ctr">
              <a:spcBef>
                <a:spcPts val="0"/>
              </a:spcBef>
              <a:spcAft>
                <a:spcPts val="0"/>
              </a:spcAft>
            </a:pPr>
            <a:r>
              <a:rPr sz="1200" b="0" i="0">
                <a:solidFill>
                  <a:srgbClr val="1E2D44"/>
                </a:solidFill>
                <a:latin typeface="Karla"/>
              </a:rPr>
              <a:t>Logo</a:t>
            </a:r>
          </a:p>
        </p:txBody>
      </p:sp>
      <p:sp>
        <p:nvSpPr>
          <p:cNvPr id="45" name="TextBox 44"/>
          <p:cNvSpPr txBox="1"/>
          <p:nvPr/>
        </p:nvSpPr>
        <p:spPr>
          <a:xfrm>
            <a:off x="9832847" y="224597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46" name="Rectangle 45"/>
          <p:cNvSpPr/>
          <p:nvPr/>
        </p:nvSpPr>
        <p:spPr>
          <a:xfrm>
            <a:off x="7935467" y="3281577"/>
            <a:ext cx="1709927" cy="111780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J3.png"/>
          <p:cNvPicPr>
            <a:picLocks noChangeAspect="1"/>
          </p:cNvPicPr>
          <p:nvPr/>
        </p:nvPicPr>
        <p:blipFill>
          <a:blip r:embed="rId4"/>
          <a:stretch>
            <a:fillRect/>
          </a:stretch>
        </p:blipFill>
        <p:spPr>
          <a:xfrm>
            <a:off x="7949183" y="3295293"/>
            <a:ext cx="1682495" cy="1090372"/>
          </a:xfrm>
          <a:prstGeom prst="rect">
            <a:avLst/>
          </a:prstGeom>
        </p:spPr>
      </p:pic>
      <p:sp>
        <p:nvSpPr>
          <p:cNvPr id="48" name="TextBox 47"/>
          <p:cNvSpPr txBox="1"/>
          <p:nvPr/>
        </p:nvSpPr>
        <p:spPr>
          <a:xfrm>
            <a:off x="7912607" y="444053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Adv Care Lowercase</a:t>
            </a:r>
          </a:p>
          <a:p>
            <a:pPr algn="ctr">
              <a:spcBef>
                <a:spcPts val="0"/>
              </a:spcBef>
              <a:spcAft>
                <a:spcPts val="0"/>
              </a:spcAft>
            </a:pPr>
            <a:r>
              <a:rPr sz="1200" b="0" i="0">
                <a:solidFill>
                  <a:srgbClr val="1E2D44"/>
                </a:solidFill>
                <a:latin typeface="Karla"/>
              </a:rPr>
              <a:t>No Wordmark</a:t>
            </a:r>
          </a:p>
        </p:txBody>
      </p:sp>
      <p:sp>
        <p:nvSpPr>
          <p:cNvPr id="49" name="TextBox 48"/>
          <p:cNvSpPr txBox="1"/>
          <p:nvPr/>
        </p:nvSpPr>
        <p:spPr>
          <a:xfrm>
            <a:off x="7912607" y="480629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50" name="Rectangle 49"/>
          <p:cNvSpPr/>
          <p:nvPr/>
        </p:nvSpPr>
        <p:spPr>
          <a:xfrm>
            <a:off x="9855707" y="3281577"/>
            <a:ext cx="1709927" cy="1117804"/>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J4.png"/>
          <p:cNvPicPr>
            <a:picLocks noChangeAspect="1"/>
          </p:cNvPicPr>
          <p:nvPr/>
        </p:nvPicPr>
        <p:blipFill>
          <a:blip r:embed="rId5"/>
          <a:stretch>
            <a:fillRect/>
          </a:stretch>
        </p:blipFill>
        <p:spPr>
          <a:xfrm>
            <a:off x="9869423" y="3295293"/>
            <a:ext cx="1682495" cy="1090372"/>
          </a:xfrm>
          <a:prstGeom prst="rect">
            <a:avLst/>
          </a:prstGeom>
        </p:spPr>
      </p:pic>
      <p:sp>
        <p:nvSpPr>
          <p:cNvPr id="52" name="TextBox 51"/>
          <p:cNvSpPr txBox="1"/>
          <p:nvPr/>
        </p:nvSpPr>
        <p:spPr>
          <a:xfrm>
            <a:off x="9832847" y="4440530"/>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Adv Care Lowercase</a:t>
            </a:r>
          </a:p>
          <a:p>
            <a:pPr algn="ctr">
              <a:spcBef>
                <a:spcPts val="0"/>
              </a:spcBef>
              <a:spcAft>
                <a:spcPts val="0"/>
              </a:spcAft>
            </a:pPr>
            <a:r>
              <a:rPr sz="1200" b="0" i="0">
                <a:solidFill>
                  <a:srgbClr val="1E2D44"/>
                </a:solidFill>
                <a:latin typeface="Karla"/>
              </a:rPr>
              <a:t>Under Logo</a:t>
            </a:r>
          </a:p>
        </p:txBody>
      </p:sp>
      <p:sp>
        <p:nvSpPr>
          <p:cNvPr id="53" name="TextBox 52"/>
          <p:cNvSpPr txBox="1"/>
          <p:nvPr/>
        </p:nvSpPr>
        <p:spPr>
          <a:xfrm>
            <a:off x="9832847" y="480629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54" name="Rounded Rectangle 53"/>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Non-users favor Adv Care Lowercase No Wordmark; Dove users favor Adv Care Caps No Wordmark. The widest segment gap is Adv Care Caps No Wordmark: +3 non-users / +8 users.</a:t>
            </a:r>
          </a:p>
        </p:txBody>
      </p:sp>
      <p:sp>
        <p:nvSpPr>
          <p:cNvPr id="55" name="Rectangle 5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57" name="TextBox 5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WORDMARK</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Wordmark 100% leads in both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Wordmark 100% leads both groups; Wordmark Grey ranks last.</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WORDMARK</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4591811"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5804153"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15</a:t>
            </a:r>
          </a:p>
        </p:txBody>
      </p:sp>
      <p:sp>
        <p:nvSpPr>
          <p:cNvPr id="13" name="Rectangle 12"/>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20</a:t>
            </a:r>
          </a:p>
        </p:txBody>
      </p:sp>
      <p:sp>
        <p:nvSpPr>
          <p:cNvPr id="15" name="Rectangle 14"/>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770760"/>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Wordmark 100%</a:t>
            </a:r>
          </a:p>
        </p:txBody>
      </p:sp>
      <p:sp>
        <p:nvSpPr>
          <p:cNvPr id="18" name="Rectangle 17"/>
          <p:cNvSpPr/>
          <p:nvPr/>
        </p:nvSpPr>
        <p:spPr>
          <a:xfrm>
            <a:off x="2167128" y="1770760"/>
            <a:ext cx="2667152"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89144" y="177076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+11</a:t>
            </a:r>
          </a:p>
        </p:txBody>
      </p:sp>
      <p:sp>
        <p:nvSpPr>
          <p:cNvPr id="20" name="Rectangle 19"/>
          <p:cNvSpPr/>
          <p:nvPr/>
        </p:nvSpPr>
        <p:spPr>
          <a:xfrm>
            <a:off x="2167128" y="1967356"/>
            <a:ext cx="436443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6422" y="196735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+18</a:t>
            </a:r>
          </a:p>
        </p:txBody>
      </p:sp>
      <p:sp>
        <p:nvSpPr>
          <p:cNvPr id="22" name="TextBox 21"/>
          <p:cNvSpPr txBox="1"/>
          <p:nvPr/>
        </p:nvSpPr>
        <p:spPr>
          <a:xfrm>
            <a:off x="502920" y="2630550"/>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Wordmark 60%</a:t>
            </a:r>
          </a:p>
        </p:txBody>
      </p:sp>
      <p:sp>
        <p:nvSpPr>
          <p:cNvPr id="23" name="Rectangle 22"/>
          <p:cNvSpPr/>
          <p:nvPr/>
        </p:nvSpPr>
        <p:spPr>
          <a:xfrm>
            <a:off x="2167128" y="2630550"/>
            <a:ext cx="2182215"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4207" y="263055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+9</a:t>
            </a:r>
          </a:p>
        </p:txBody>
      </p:sp>
      <p:sp>
        <p:nvSpPr>
          <p:cNvPr id="25" name="Rectangle 24"/>
          <p:cNvSpPr/>
          <p:nvPr/>
        </p:nvSpPr>
        <p:spPr>
          <a:xfrm>
            <a:off x="2167128" y="2827146"/>
            <a:ext cx="339455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16549" y="282714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+14</a:t>
            </a:r>
          </a:p>
        </p:txBody>
      </p:sp>
      <p:sp>
        <p:nvSpPr>
          <p:cNvPr id="27" name="TextBox 26"/>
          <p:cNvSpPr txBox="1"/>
          <p:nvPr/>
        </p:nvSpPr>
        <p:spPr>
          <a:xfrm>
            <a:off x="502920" y="3490340"/>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Wordmark 75%</a:t>
            </a:r>
          </a:p>
        </p:txBody>
      </p:sp>
      <p:sp>
        <p:nvSpPr>
          <p:cNvPr id="28" name="Rectangle 27"/>
          <p:cNvSpPr/>
          <p:nvPr/>
        </p:nvSpPr>
        <p:spPr>
          <a:xfrm>
            <a:off x="2167128" y="3490340"/>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61739" y="349034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+8</a:t>
            </a:r>
          </a:p>
        </p:txBody>
      </p:sp>
      <p:sp>
        <p:nvSpPr>
          <p:cNvPr id="30" name="Rectangle 29"/>
          <p:cNvSpPr/>
          <p:nvPr/>
        </p:nvSpPr>
        <p:spPr>
          <a:xfrm>
            <a:off x="2167128" y="3686936"/>
            <a:ext cx="339455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16549" y="368693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+14</a:t>
            </a:r>
          </a:p>
        </p:txBody>
      </p:sp>
      <p:sp>
        <p:nvSpPr>
          <p:cNvPr id="32" name="TextBox 31"/>
          <p:cNvSpPr txBox="1"/>
          <p:nvPr/>
        </p:nvSpPr>
        <p:spPr>
          <a:xfrm>
            <a:off x="502920" y="4350131"/>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Wordmark Grey</a:t>
            </a:r>
          </a:p>
        </p:txBody>
      </p:sp>
      <p:sp>
        <p:nvSpPr>
          <p:cNvPr id="33" name="Rectangle 32"/>
          <p:cNvSpPr/>
          <p:nvPr/>
        </p:nvSpPr>
        <p:spPr>
          <a:xfrm>
            <a:off x="2167128" y="4350131"/>
            <a:ext cx="96987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91865" y="4350131"/>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+4</a:t>
            </a:r>
          </a:p>
        </p:txBody>
      </p:sp>
      <p:sp>
        <p:nvSpPr>
          <p:cNvPr id="35" name="Rectangle 34"/>
          <p:cNvSpPr/>
          <p:nvPr/>
        </p:nvSpPr>
        <p:spPr>
          <a:xfrm>
            <a:off x="2167128" y="4546727"/>
            <a:ext cx="2182215"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04207" y="4546727"/>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+9</a:t>
            </a:r>
          </a:p>
        </p:txBody>
      </p:sp>
      <p:sp>
        <p:nvSpPr>
          <p:cNvPr id="37" name="Rectangle 36"/>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9" name="Rectangle 38"/>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41" name="Rounded Rectangle 40"/>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935467" y="1048110"/>
            <a:ext cx="1709927" cy="610402"/>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K1.png"/>
          <p:cNvPicPr>
            <a:picLocks noChangeAspect="1"/>
          </p:cNvPicPr>
          <p:nvPr/>
        </p:nvPicPr>
        <p:blipFill>
          <a:blip r:embed="rId2"/>
          <a:stretch>
            <a:fillRect/>
          </a:stretch>
        </p:blipFill>
        <p:spPr>
          <a:xfrm>
            <a:off x="7949183" y="1061826"/>
            <a:ext cx="1682495" cy="582970"/>
          </a:xfrm>
          <a:prstGeom prst="rect">
            <a:avLst/>
          </a:prstGeom>
        </p:spPr>
      </p:pic>
      <p:sp>
        <p:nvSpPr>
          <p:cNvPr id="44" name="TextBox 43"/>
          <p:cNvSpPr txBox="1"/>
          <p:nvPr/>
        </p:nvSpPr>
        <p:spPr>
          <a:xfrm>
            <a:off x="7912607" y="1784984"/>
            <a:ext cx="1755647" cy="219456"/>
          </a:xfrm>
          <a:prstGeom prst="rect">
            <a:avLst/>
          </a:prstGeom>
          <a:noFill/>
        </p:spPr>
        <p:txBody>
          <a:bodyPr wrap="none" anchor="ctr" lIns="0" rIns="0" tIns="0" bIns="0"/>
          <a:lstStyle/>
          <a:p>
            <a:pPr algn="ctr">
              <a:spcBef>
                <a:spcPts val="0"/>
              </a:spcBef>
              <a:spcAft>
                <a:spcPts val="0"/>
              </a:spcAft>
            </a:pPr>
            <a:r>
              <a:rPr sz="1200" b="0" i="0">
                <a:solidFill>
                  <a:srgbClr val="1E2D44"/>
                </a:solidFill>
                <a:latin typeface="Karla"/>
              </a:rPr>
              <a:t>Wordmark 100%</a:t>
            </a:r>
          </a:p>
        </p:txBody>
      </p:sp>
      <p:sp>
        <p:nvSpPr>
          <p:cNvPr id="45" name="TextBox 44"/>
          <p:cNvSpPr txBox="1"/>
          <p:nvPr/>
        </p:nvSpPr>
        <p:spPr>
          <a:xfrm>
            <a:off x="7912607" y="200444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+14*</a:t>
            </a:r>
          </a:p>
        </p:txBody>
      </p:sp>
      <p:sp>
        <p:nvSpPr>
          <p:cNvPr id="46" name="Rectangle 45"/>
          <p:cNvSpPr/>
          <p:nvPr/>
        </p:nvSpPr>
        <p:spPr>
          <a:xfrm>
            <a:off x="9855707" y="1010412"/>
            <a:ext cx="1709927" cy="685799"/>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K2.png"/>
          <p:cNvPicPr>
            <a:picLocks noChangeAspect="1"/>
          </p:cNvPicPr>
          <p:nvPr/>
        </p:nvPicPr>
        <p:blipFill>
          <a:blip r:embed="rId3"/>
          <a:stretch>
            <a:fillRect/>
          </a:stretch>
        </p:blipFill>
        <p:spPr>
          <a:xfrm>
            <a:off x="9869423" y="1024127"/>
            <a:ext cx="1682495" cy="658367"/>
          </a:xfrm>
          <a:prstGeom prst="rect">
            <a:avLst/>
          </a:prstGeom>
        </p:spPr>
      </p:pic>
      <p:sp>
        <p:nvSpPr>
          <p:cNvPr id="48" name="TextBox 47"/>
          <p:cNvSpPr txBox="1"/>
          <p:nvPr/>
        </p:nvSpPr>
        <p:spPr>
          <a:xfrm>
            <a:off x="9832847" y="1784984"/>
            <a:ext cx="1755647" cy="219456"/>
          </a:xfrm>
          <a:prstGeom prst="rect">
            <a:avLst/>
          </a:prstGeom>
          <a:noFill/>
        </p:spPr>
        <p:txBody>
          <a:bodyPr wrap="none" anchor="ctr" lIns="0" rIns="0" tIns="0" bIns="0"/>
          <a:lstStyle/>
          <a:p>
            <a:pPr algn="ctr">
              <a:spcBef>
                <a:spcPts val="0"/>
              </a:spcBef>
              <a:spcAft>
                <a:spcPts val="0"/>
              </a:spcAft>
            </a:pPr>
            <a:r>
              <a:rPr sz="1200" b="0" i="0">
                <a:solidFill>
                  <a:srgbClr val="1E2D44"/>
                </a:solidFill>
                <a:latin typeface="Karla"/>
              </a:rPr>
              <a:t>Wordmark 60%</a:t>
            </a:r>
          </a:p>
        </p:txBody>
      </p:sp>
      <p:sp>
        <p:nvSpPr>
          <p:cNvPr id="49" name="TextBox 48"/>
          <p:cNvSpPr txBox="1"/>
          <p:nvPr/>
        </p:nvSpPr>
        <p:spPr>
          <a:xfrm>
            <a:off x="9832847" y="200444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+12*</a:t>
            </a:r>
          </a:p>
        </p:txBody>
      </p:sp>
      <p:sp>
        <p:nvSpPr>
          <p:cNvPr id="50" name="Rectangle 49"/>
          <p:cNvSpPr/>
          <p:nvPr/>
        </p:nvSpPr>
        <p:spPr>
          <a:xfrm>
            <a:off x="7935467" y="3586893"/>
            <a:ext cx="1709927" cy="65347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K3.png"/>
          <p:cNvPicPr>
            <a:picLocks noChangeAspect="1"/>
          </p:cNvPicPr>
          <p:nvPr/>
        </p:nvPicPr>
        <p:blipFill>
          <a:blip r:embed="rId4"/>
          <a:stretch>
            <a:fillRect/>
          </a:stretch>
        </p:blipFill>
        <p:spPr>
          <a:xfrm>
            <a:off x="7949183" y="3600609"/>
            <a:ext cx="1682495" cy="626045"/>
          </a:xfrm>
          <a:prstGeom prst="rect">
            <a:avLst/>
          </a:prstGeom>
        </p:spPr>
      </p:pic>
      <p:sp>
        <p:nvSpPr>
          <p:cNvPr id="52" name="TextBox 51"/>
          <p:cNvSpPr txBox="1"/>
          <p:nvPr/>
        </p:nvSpPr>
        <p:spPr>
          <a:xfrm>
            <a:off x="7912607" y="4345304"/>
            <a:ext cx="1755647" cy="219456"/>
          </a:xfrm>
          <a:prstGeom prst="rect">
            <a:avLst/>
          </a:prstGeom>
          <a:noFill/>
        </p:spPr>
        <p:txBody>
          <a:bodyPr wrap="none" anchor="ctr" lIns="0" rIns="0" tIns="0" bIns="0"/>
          <a:lstStyle/>
          <a:p>
            <a:pPr algn="ctr">
              <a:spcBef>
                <a:spcPts val="0"/>
              </a:spcBef>
              <a:spcAft>
                <a:spcPts val="0"/>
              </a:spcAft>
            </a:pPr>
            <a:r>
              <a:rPr sz="1200" b="0" i="0">
                <a:solidFill>
                  <a:srgbClr val="1E2D44"/>
                </a:solidFill>
                <a:latin typeface="Karla"/>
              </a:rPr>
              <a:t>Wordmark 75%</a:t>
            </a:r>
          </a:p>
        </p:txBody>
      </p:sp>
      <p:sp>
        <p:nvSpPr>
          <p:cNvPr id="53" name="TextBox 52"/>
          <p:cNvSpPr txBox="1"/>
          <p:nvPr/>
        </p:nvSpPr>
        <p:spPr>
          <a:xfrm>
            <a:off x="7912607" y="456476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+11*</a:t>
            </a:r>
          </a:p>
        </p:txBody>
      </p:sp>
      <p:sp>
        <p:nvSpPr>
          <p:cNvPr id="54" name="Rectangle 53"/>
          <p:cNvSpPr/>
          <p:nvPr/>
        </p:nvSpPr>
        <p:spPr>
          <a:xfrm>
            <a:off x="9855707" y="3523106"/>
            <a:ext cx="1709927" cy="781049"/>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K4.png"/>
          <p:cNvPicPr>
            <a:picLocks noChangeAspect="1"/>
          </p:cNvPicPr>
          <p:nvPr/>
        </p:nvPicPr>
        <p:blipFill>
          <a:blip r:embed="rId5"/>
          <a:stretch>
            <a:fillRect/>
          </a:stretch>
        </p:blipFill>
        <p:spPr>
          <a:xfrm>
            <a:off x="9869423" y="3536823"/>
            <a:ext cx="1682495" cy="753617"/>
          </a:xfrm>
          <a:prstGeom prst="rect">
            <a:avLst/>
          </a:prstGeom>
        </p:spPr>
      </p:pic>
      <p:sp>
        <p:nvSpPr>
          <p:cNvPr id="56" name="TextBox 55"/>
          <p:cNvSpPr txBox="1"/>
          <p:nvPr/>
        </p:nvSpPr>
        <p:spPr>
          <a:xfrm>
            <a:off x="9832847" y="4345304"/>
            <a:ext cx="1755647" cy="219456"/>
          </a:xfrm>
          <a:prstGeom prst="rect">
            <a:avLst/>
          </a:prstGeom>
          <a:noFill/>
        </p:spPr>
        <p:txBody>
          <a:bodyPr wrap="none" anchor="ctr" lIns="0" rIns="0" tIns="0" bIns="0"/>
          <a:lstStyle/>
          <a:p>
            <a:pPr algn="ctr">
              <a:spcBef>
                <a:spcPts val="0"/>
              </a:spcBef>
              <a:spcAft>
                <a:spcPts val="0"/>
              </a:spcAft>
            </a:pPr>
            <a:r>
              <a:rPr sz="1200" b="0" i="0">
                <a:solidFill>
                  <a:srgbClr val="1E2D44"/>
                </a:solidFill>
                <a:latin typeface="Karla"/>
              </a:rPr>
              <a:t>Wordmark Grey</a:t>
            </a:r>
          </a:p>
        </p:txBody>
      </p:sp>
      <p:sp>
        <p:nvSpPr>
          <p:cNvPr id="57" name="TextBox 56"/>
          <p:cNvSpPr txBox="1"/>
          <p:nvPr/>
        </p:nvSpPr>
        <p:spPr>
          <a:xfrm>
            <a:off x="9832847" y="4564760"/>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+6*</a:t>
            </a:r>
          </a:p>
        </p:txBody>
      </p:sp>
      <p:sp>
        <p:nvSpPr>
          <p:cNvPr id="58" name="Rounded Rectangle 57"/>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Both groups rank Wordmark 100% first. The widest segment gap is Wordmark 100%: +11 non-users / +18 users.</a:t>
            </a:r>
          </a:p>
        </p:txBody>
      </p:sp>
      <p:sp>
        <p:nvSpPr>
          <p:cNvPr id="59" name="Rectangle 58"/>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61" name="TextBox 60"/>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BIRD TREATMENT</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Bird Treatment splits across the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Non-users favor Bird Variant Gravure; Dove users favor Bird Gold Cold Foil.</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BIRD TREATMENT</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591811"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5</a:t>
            </a:r>
          </a:p>
        </p:txBody>
      </p:sp>
      <p:sp>
        <p:nvSpPr>
          <p:cNvPr id="9" name="Rectangle 8"/>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10</a:t>
            </a:r>
          </a:p>
        </p:txBody>
      </p:sp>
      <p:sp>
        <p:nvSpPr>
          <p:cNvPr id="11" name="Rectangle 10"/>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770760"/>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Bird Gold Cold</a:t>
            </a:r>
          </a:p>
          <a:p>
            <a:pPr algn="r">
              <a:spcBef>
                <a:spcPts val="0"/>
              </a:spcBef>
              <a:spcAft>
                <a:spcPts val="0"/>
              </a:spcAft>
            </a:pPr>
            <a:r>
              <a:rPr sz="1100" b="0" i="0">
                <a:solidFill>
                  <a:srgbClr val="1E2D44"/>
                </a:solidFill>
                <a:latin typeface="Karla"/>
              </a:rPr>
              <a:t>Foil</a:t>
            </a:r>
          </a:p>
        </p:txBody>
      </p:sp>
      <p:sp>
        <p:nvSpPr>
          <p:cNvPr id="14" name="Rectangle 13"/>
          <p:cNvSpPr/>
          <p:nvPr/>
        </p:nvSpPr>
        <p:spPr>
          <a:xfrm>
            <a:off x="2167128" y="1770760"/>
            <a:ext cx="290962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31612" y="177076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+6</a:t>
            </a:r>
          </a:p>
        </p:txBody>
      </p:sp>
      <p:sp>
        <p:nvSpPr>
          <p:cNvPr id="16" name="Rectangle 15"/>
          <p:cNvSpPr/>
          <p:nvPr/>
        </p:nvSpPr>
        <p:spPr>
          <a:xfrm>
            <a:off x="2167128" y="1967356"/>
            <a:ext cx="436443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6422" y="196735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+9</a:t>
            </a:r>
          </a:p>
        </p:txBody>
      </p:sp>
      <p:sp>
        <p:nvSpPr>
          <p:cNvPr id="18" name="TextBox 17"/>
          <p:cNvSpPr txBox="1"/>
          <p:nvPr/>
        </p:nvSpPr>
        <p:spPr>
          <a:xfrm>
            <a:off x="502920" y="2616072"/>
            <a:ext cx="1554480" cy="380999"/>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Bird Gold</a:t>
            </a:r>
          </a:p>
          <a:p>
            <a:pPr algn="r">
              <a:spcBef>
                <a:spcPts val="0"/>
              </a:spcBef>
              <a:spcAft>
                <a:spcPts val="0"/>
              </a:spcAft>
            </a:pPr>
            <a:r>
              <a:rPr sz="1200" b="0" i="0">
                <a:solidFill>
                  <a:srgbClr val="1E2D44"/>
                </a:solidFill>
                <a:latin typeface="Karla"/>
              </a:rPr>
              <a:t>Gravure</a:t>
            </a:r>
          </a:p>
        </p:txBody>
      </p:sp>
      <p:sp>
        <p:nvSpPr>
          <p:cNvPr id="19" name="Rectangle 18"/>
          <p:cNvSpPr/>
          <p:nvPr/>
        </p:nvSpPr>
        <p:spPr>
          <a:xfrm>
            <a:off x="2167128" y="2630550"/>
            <a:ext cx="290962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31612" y="263055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+6</a:t>
            </a:r>
          </a:p>
        </p:txBody>
      </p:sp>
      <p:sp>
        <p:nvSpPr>
          <p:cNvPr id="21" name="Rectangle 20"/>
          <p:cNvSpPr/>
          <p:nvPr/>
        </p:nvSpPr>
        <p:spPr>
          <a:xfrm>
            <a:off x="2167128" y="2827146"/>
            <a:ext cx="436443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6422" y="282714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+9</a:t>
            </a:r>
          </a:p>
        </p:txBody>
      </p:sp>
      <p:sp>
        <p:nvSpPr>
          <p:cNvPr id="23" name="TextBox 22"/>
          <p:cNvSpPr txBox="1"/>
          <p:nvPr/>
        </p:nvSpPr>
        <p:spPr>
          <a:xfrm>
            <a:off x="502920" y="3490340"/>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Bird Holo Foil</a:t>
            </a:r>
          </a:p>
        </p:txBody>
      </p:sp>
      <p:sp>
        <p:nvSpPr>
          <p:cNvPr id="24" name="Rectangle 23"/>
          <p:cNvSpPr/>
          <p:nvPr/>
        </p:nvSpPr>
        <p:spPr>
          <a:xfrm>
            <a:off x="2167128" y="3490340"/>
            <a:ext cx="290962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31612" y="3490340"/>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+6</a:t>
            </a:r>
          </a:p>
        </p:txBody>
      </p:sp>
      <p:sp>
        <p:nvSpPr>
          <p:cNvPr id="26" name="Rectangle 25"/>
          <p:cNvSpPr/>
          <p:nvPr/>
        </p:nvSpPr>
        <p:spPr>
          <a:xfrm>
            <a:off x="2167128" y="3686936"/>
            <a:ext cx="436443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6422" y="3686936"/>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+9</a:t>
            </a:r>
          </a:p>
        </p:txBody>
      </p:sp>
      <p:sp>
        <p:nvSpPr>
          <p:cNvPr id="28" name="TextBox 27"/>
          <p:cNvSpPr txBox="1"/>
          <p:nvPr/>
        </p:nvSpPr>
        <p:spPr>
          <a:xfrm>
            <a:off x="502920" y="4350131"/>
            <a:ext cx="1554480" cy="352044"/>
          </a:xfrm>
          <a:prstGeom prst="rect">
            <a:avLst/>
          </a:prstGeom>
          <a:noFill/>
        </p:spPr>
        <p:txBody>
          <a:bodyPr wrap="none" anchor="ctr" lIns="0" rIns="0" tIns="0" bIns="0"/>
          <a:lstStyle/>
          <a:p>
            <a:pPr algn="r">
              <a:spcBef>
                <a:spcPts val="0"/>
              </a:spcBef>
              <a:spcAft>
                <a:spcPts val="0"/>
              </a:spcAft>
            </a:pPr>
            <a:r>
              <a:rPr sz="1100" b="0" i="0">
                <a:solidFill>
                  <a:srgbClr val="1E2D44"/>
                </a:solidFill>
                <a:latin typeface="Karla"/>
              </a:rPr>
              <a:t>Bird Variant</a:t>
            </a:r>
          </a:p>
          <a:p>
            <a:pPr algn="r">
              <a:spcBef>
                <a:spcPts val="0"/>
              </a:spcBef>
              <a:spcAft>
                <a:spcPts val="0"/>
              </a:spcAft>
            </a:pPr>
            <a:r>
              <a:rPr sz="1100" b="0" i="0">
                <a:solidFill>
                  <a:srgbClr val="1E2D44"/>
                </a:solidFill>
                <a:latin typeface="Karla"/>
              </a:rPr>
              <a:t>Gravure</a:t>
            </a:r>
          </a:p>
        </p:txBody>
      </p:sp>
      <p:sp>
        <p:nvSpPr>
          <p:cNvPr id="29" name="Rectangle 28"/>
          <p:cNvSpPr/>
          <p:nvPr/>
        </p:nvSpPr>
        <p:spPr>
          <a:xfrm>
            <a:off x="2167128" y="4350131"/>
            <a:ext cx="339455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16549" y="4350131"/>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+7</a:t>
            </a:r>
          </a:p>
        </p:txBody>
      </p:sp>
      <p:sp>
        <p:nvSpPr>
          <p:cNvPr id="31" name="Rectangle 30"/>
          <p:cNvSpPr/>
          <p:nvPr/>
        </p:nvSpPr>
        <p:spPr>
          <a:xfrm>
            <a:off x="2167128" y="4546727"/>
            <a:ext cx="387949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01486" y="4546727"/>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+8</a:t>
            </a:r>
          </a:p>
        </p:txBody>
      </p:sp>
      <p:sp>
        <p:nvSpPr>
          <p:cNvPr id="33" name="Rectangle 32"/>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5" name="Rectangle 34"/>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7" name="Rounded Rectangle 36"/>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19592" y="425196"/>
            <a:ext cx="1541678"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L1.png"/>
          <p:cNvPicPr>
            <a:picLocks noChangeAspect="1"/>
          </p:cNvPicPr>
          <p:nvPr/>
        </p:nvPicPr>
        <p:blipFill>
          <a:blip r:embed="rId2"/>
          <a:stretch>
            <a:fillRect/>
          </a:stretch>
        </p:blipFill>
        <p:spPr>
          <a:xfrm>
            <a:off x="8033308" y="438912"/>
            <a:ext cx="1514246" cy="1682495"/>
          </a:xfrm>
          <a:prstGeom prst="rect">
            <a:avLst/>
          </a:prstGeom>
        </p:spPr>
      </p:pic>
      <p:sp>
        <p:nvSpPr>
          <p:cNvPr id="40" name="TextBox 39"/>
          <p:cNvSpPr txBox="1"/>
          <p:nvPr/>
        </p:nvSpPr>
        <p:spPr>
          <a:xfrm>
            <a:off x="7912607" y="217627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Bird Gold Cold Foil</a:t>
            </a:r>
          </a:p>
        </p:txBody>
      </p:sp>
      <p:sp>
        <p:nvSpPr>
          <p:cNvPr id="41" name="TextBox 40"/>
          <p:cNvSpPr txBox="1"/>
          <p:nvPr/>
        </p:nvSpPr>
        <p:spPr>
          <a:xfrm>
            <a:off x="7912607" y="254203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42" name="Rectangle 41"/>
          <p:cNvSpPr/>
          <p:nvPr/>
        </p:nvSpPr>
        <p:spPr>
          <a:xfrm>
            <a:off x="9939832" y="425196"/>
            <a:ext cx="1541678"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L2.png"/>
          <p:cNvPicPr>
            <a:picLocks noChangeAspect="1"/>
          </p:cNvPicPr>
          <p:nvPr/>
        </p:nvPicPr>
        <p:blipFill>
          <a:blip r:embed="rId3"/>
          <a:stretch>
            <a:fillRect/>
          </a:stretch>
        </p:blipFill>
        <p:spPr>
          <a:xfrm>
            <a:off x="9953548" y="438912"/>
            <a:ext cx="1514246" cy="1682495"/>
          </a:xfrm>
          <a:prstGeom prst="rect">
            <a:avLst/>
          </a:prstGeom>
        </p:spPr>
      </p:pic>
      <p:sp>
        <p:nvSpPr>
          <p:cNvPr id="44" name="TextBox 43"/>
          <p:cNvSpPr txBox="1"/>
          <p:nvPr/>
        </p:nvSpPr>
        <p:spPr>
          <a:xfrm>
            <a:off x="9832847" y="2176272"/>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Bird Gold Gravure</a:t>
            </a:r>
          </a:p>
        </p:txBody>
      </p:sp>
      <p:sp>
        <p:nvSpPr>
          <p:cNvPr id="45" name="TextBox 44"/>
          <p:cNvSpPr txBox="1"/>
          <p:nvPr/>
        </p:nvSpPr>
        <p:spPr>
          <a:xfrm>
            <a:off x="9832847" y="2542032"/>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46" name="Rectangle 45"/>
          <p:cNvSpPr/>
          <p:nvPr/>
        </p:nvSpPr>
        <p:spPr>
          <a:xfrm>
            <a:off x="8019592" y="2985515"/>
            <a:ext cx="1541678"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L3.png"/>
          <p:cNvPicPr>
            <a:picLocks noChangeAspect="1"/>
          </p:cNvPicPr>
          <p:nvPr/>
        </p:nvPicPr>
        <p:blipFill>
          <a:blip r:embed="rId4"/>
          <a:stretch>
            <a:fillRect/>
          </a:stretch>
        </p:blipFill>
        <p:spPr>
          <a:xfrm>
            <a:off x="8033308" y="2999232"/>
            <a:ext cx="1514246" cy="1682495"/>
          </a:xfrm>
          <a:prstGeom prst="rect">
            <a:avLst/>
          </a:prstGeom>
        </p:spPr>
      </p:pic>
      <p:sp>
        <p:nvSpPr>
          <p:cNvPr id="48" name="TextBox 47"/>
          <p:cNvSpPr txBox="1"/>
          <p:nvPr/>
        </p:nvSpPr>
        <p:spPr>
          <a:xfrm>
            <a:off x="7912607" y="4736591"/>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Bird Holo Foil</a:t>
            </a:r>
          </a:p>
        </p:txBody>
      </p:sp>
      <p:sp>
        <p:nvSpPr>
          <p:cNvPr id="49" name="TextBox 48"/>
          <p:cNvSpPr txBox="1"/>
          <p:nvPr/>
        </p:nvSpPr>
        <p:spPr>
          <a:xfrm>
            <a:off x="7912607" y="5102351"/>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50" name="Rectangle 49"/>
          <p:cNvSpPr/>
          <p:nvPr/>
        </p:nvSpPr>
        <p:spPr>
          <a:xfrm>
            <a:off x="9939832" y="2985515"/>
            <a:ext cx="1541678" cy="1709927"/>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L4.png"/>
          <p:cNvPicPr>
            <a:picLocks noChangeAspect="1"/>
          </p:cNvPicPr>
          <p:nvPr/>
        </p:nvPicPr>
        <p:blipFill>
          <a:blip r:embed="rId5"/>
          <a:stretch>
            <a:fillRect/>
          </a:stretch>
        </p:blipFill>
        <p:spPr>
          <a:xfrm>
            <a:off x="9953548" y="2999232"/>
            <a:ext cx="1514246" cy="1682495"/>
          </a:xfrm>
          <a:prstGeom prst="rect">
            <a:avLst/>
          </a:prstGeom>
        </p:spPr>
      </p:pic>
      <p:sp>
        <p:nvSpPr>
          <p:cNvPr id="52" name="TextBox 51"/>
          <p:cNvSpPr txBox="1"/>
          <p:nvPr/>
        </p:nvSpPr>
        <p:spPr>
          <a:xfrm>
            <a:off x="9832847" y="4736591"/>
            <a:ext cx="1755647" cy="365760"/>
          </a:xfrm>
          <a:prstGeom prst="rect">
            <a:avLst/>
          </a:prstGeom>
          <a:noFill/>
        </p:spPr>
        <p:txBody>
          <a:bodyPr wrap="square" anchor="ctr" lIns="0" rIns="0" tIns="0" bIns="0"/>
          <a:lstStyle/>
          <a:p>
            <a:pPr algn="ctr">
              <a:spcBef>
                <a:spcPts val="0"/>
              </a:spcBef>
              <a:spcAft>
                <a:spcPts val="0"/>
              </a:spcAft>
            </a:pPr>
            <a:r>
              <a:rPr sz="1200" b="0" i="0">
                <a:solidFill>
                  <a:srgbClr val="1E2D44"/>
                </a:solidFill>
                <a:latin typeface="Karla"/>
              </a:rPr>
              <a:t>Bird Variant</a:t>
            </a:r>
          </a:p>
          <a:p>
            <a:pPr algn="ctr">
              <a:spcBef>
                <a:spcPts val="0"/>
              </a:spcBef>
              <a:spcAft>
                <a:spcPts val="0"/>
              </a:spcAft>
            </a:pPr>
            <a:r>
              <a:rPr sz="1200" b="0" i="0">
                <a:solidFill>
                  <a:srgbClr val="1E2D44"/>
                </a:solidFill>
                <a:latin typeface="Karla"/>
              </a:rPr>
              <a:t>Gravure</a:t>
            </a:r>
          </a:p>
        </p:txBody>
      </p:sp>
      <p:sp>
        <p:nvSpPr>
          <p:cNvPr id="53" name="TextBox 52"/>
          <p:cNvSpPr txBox="1"/>
          <p:nvPr/>
        </p:nvSpPr>
        <p:spPr>
          <a:xfrm>
            <a:off x="9832847" y="5102351"/>
            <a:ext cx="175564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+8*</a:t>
            </a:r>
          </a:p>
        </p:txBody>
      </p:sp>
      <p:sp>
        <p:nvSpPr>
          <p:cNvPr id="54" name="Rounded Rectangle 53"/>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Non-users favor Bird Variant Gravure; Dove users favor Bird Gold Cold Foil. The widest segment gap is Bird Gold Cold Foil: +6 non-users / +9 users.</a:t>
            </a:r>
          </a:p>
        </p:txBody>
      </p:sp>
      <p:sp>
        <p:nvSpPr>
          <p:cNvPr id="55" name="Rectangle 5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57" name="TextBox 5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GOLD FOIL BAND</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Gold Band On leads in both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Gold Band On leads both groups; Gold Band Off ranks last.</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GOLD FOIL BAND</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3379469"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6861"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1</a:t>
            </a:r>
          </a:p>
        </p:txBody>
      </p:sp>
      <p:sp>
        <p:nvSpPr>
          <p:cNvPr id="9" name="Rectangle 8"/>
          <p:cNvSpPr/>
          <p:nvPr/>
        </p:nvSpPr>
        <p:spPr>
          <a:xfrm>
            <a:off x="4591811"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9203"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a:t>
            </a:r>
          </a:p>
        </p:txBody>
      </p:sp>
      <p:sp>
        <p:nvSpPr>
          <p:cNvPr id="11" name="Rectangle 10"/>
          <p:cNvSpPr/>
          <p:nvPr/>
        </p:nvSpPr>
        <p:spPr>
          <a:xfrm>
            <a:off x="5804153"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11545"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3</a:t>
            </a:r>
          </a:p>
        </p:txBody>
      </p:sp>
      <p:sp>
        <p:nvSpPr>
          <p:cNvPr id="13" name="Rectangle 12"/>
          <p:cNvSpPr/>
          <p:nvPr/>
        </p:nvSpPr>
        <p:spPr>
          <a:xfrm>
            <a:off x="701649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88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a:t>
            </a:r>
          </a:p>
        </p:txBody>
      </p:sp>
      <p:sp>
        <p:nvSpPr>
          <p:cNvPr id="15" name="Rectangle 14"/>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914059"/>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Gold Band On</a:t>
            </a:r>
          </a:p>
        </p:txBody>
      </p:sp>
      <p:sp>
        <p:nvSpPr>
          <p:cNvPr id="18" name="Rectangle 17"/>
          <p:cNvSpPr/>
          <p:nvPr/>
        </p:nvSpPr>
        <p:spPr>
          <a:xfrm>
            <a:off x="2167128" y="1914059"/>
            <a:ext cx="3637025"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59017" y="191405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+3</a:t>
            </a:r>
          </a:p>
        </p:txBody>
      </p:sp>
      <p:sp>
        <p:nvSpPr>
          <p:cNvPr id="20" name="Rectangle 19"/>
          <p:cNvSpPr/>
          <p:nvPr/>
        </p:nvSpPr>
        <p:spPr>
          <a:xfrm>
            <a:off x="2167128" y="2110655"/>
            <a:ext cx="484936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71359" y="211065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+4</a:t>
            </a:r>
          </a:p>
        </p:txBody>
      </p:sp>
      <p:sp>
        <p:nvSpPr>
          <p:cNvPr id="22" name="TextBox 21"/>
          <p:cNvSpPr txBox="1"/>
          <p:nvPr/>
        </p:nvSpPr>
        <p:spPr>
          <a:xfrm>
            <a:off x="502920" y="3060445"/>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Gold Band Blue</a:t>
            </a:r>
          </a:p>
        </p:txBody>
      </p:sp>
      <p:sp>
        <p:nvSpPr>
          <p:cNvPr id="23" name="Rectangle 22"/>
          <p:cNvSpPr/>
          <p:nvPr/>
        </p:nvSpPr>
        <p:spPr>
          <a:xfrm>
            <a:off x="2167128" y="3060445"/>
            <a:ext cx="2424683"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46675" y="306044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+2</a:t>
            </a:r>
          </a:p>
        </p:txBody>
      </p:sp>
      <p:sp>
        <p:nvSpPr>
          <p:cNvPr id="25" name="Rectangle 24"/>
          <p:cNvSpPr/>
          <p:nvPr/>
        </p:nvSpPr>
        <p:spPr>
          <a:xfrm>
            <a:off x="2167128" y="3257041"/>
            <a:ext cx="484936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71359" y="325704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+4</a:t>
            </a:r>
          </a:p>
        </p:txBody>
      </p:sp>
      <p:sp>
        <p:nvSpPr>
          <p:cNvPr id="27" name="TextBox 26"/>
          <p:cNvSpPr txBox="1"/>
          <p:nvPr/>
        </p:nvSpPr>
        <p:spPr>
          <a:xfrm>
            <a:off x="502920" y="4206832"/>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Gold Band Off</a:t>
            </a:r>
          </a:p>
        </p:txBody>
      </p:sp>
      <p:sp>
        <p:nvSpPr>
          <p:cNvPr id="28" name="Rectangle 27"/>
          <p:cNvSpPr/>
          <p:nvPr/>
        </p:nvSpPr>
        <p:spPr>
          <a:xfrm>
            <a:off x="2167128" y="4206832"/>
            <a:ext cx="27432"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21992" y="4206832"/>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0</a:t>
            </a:r>
          </a:p>
        </p:txBody>
      </p:sp>
      <p:sp>
        <p:nvSpPr>
          <p:cNvPr id="30" name="Rectangle 29"/>
          <p:cNvSpPr/>
          <p:nvPr/>
        </p:nvSpPr>
        <p:spPr>
          <a:xfrm>
            <a:off x="2167128" y="4403428"/>
            <a:ext cx="3637025"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59017" y="440342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+3</a:t>
            </a:r>
          </a:p>
        </p:txBody>
      </p:sp>
      <p:sp>
        <p:nvSpPr>
          <p:cNvPr id="32" name="Rectangle 31"/>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4" name="Rectangle 33"/>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6" name="Rounded Rectangle 35"/>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63455" y="425196"/>
            <a:ext cx="1374192" cy="1002791"/>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M2.png"/>
          <p:cNvPicPr>
            <a:picLocks noChangeAspect="1"/>
          </p:cNvPicPr>
          <p:nvPr/>
        </p:nvPicPr>
        <p:blipFill>
          <a:blip r:embed="rId2"/>
          <a:stretch>
            <a:fillRect/>
          </a:stretch>
        </p:blipFill>
        <p:spPr>
          <a:xfrm>
            <a:off x="9077171" y="438912"/>
            <a:ext cx="1346760" cy="975359"/>
          </a:xfrm>
          <a:prstGeom prst="rect">
            <a:avLst/>
          </a:prstGeom>
        </p:spPr>
      </p:pic>
      <p:sp>
        <p:nvSpPr>
          <p:cNvPr id="39" name="TextBox 38"/>
          <p:cNvSpPr txBox="1"/>
          <p:nvPr/>
        </p:nvSpPr>
        <p:spPr>
          <a:xfrm>
            <a:off x="7912607" y="1469135"/>
            <a:ext cx="3675887" cy="219456"/>
          </a:xfrm>
          <a:prstGeom prst="rect">
            <a:avLst/>
          </a:prstGeom>
          <a:noFill/>
        </p:spPr>
        <p:txBody>
          <a:bodyPr wrap="none" anchor="ctr" lIns="0" rIns="0" tIns="0" bIns="0"/>
          <a:lstStyle/>
          <a:p>
            <a:pPr algn="ctr">
              <a:spcBef>
                <a:spcPts val="0"/>
              </a:spcBef>
              <a:spcAft>
                <a:spcPts val="0"/>
              </a:spcAft>
            </a:pPr>
            <a:r>
              <a:rPr sz="1300" b="0" i="0">
                <a:solidFill>
                  <a:srgbClr val="1E2D44"/>
                </a:solidFill>
                <a:latin typeface="Karla"/>
              </a:rPr>
              <a:t>Gold Band On</a:t>
            </a:r>
          </a:p>
        </p:txBody>
      </p:sp>
      <p:sp>
        <p:nvSpPr>
          <p:cNvPr id="40" name="TextBox 39"/>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41" name="Rectangle 40"/>
          <p:cNvSpPr/>
          <p:nvPr/>
        </p:nvSpPr>
        <p:spPr>
          <a:xfrm>
            <a:off x="9063455" y="2132075"/>
            <a:ext cx="1374192" cy="1002791"/>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M3.png"/>
          <p:cNvPicPr>
            <a:picLocks noChangeAspect="1"/>
          </p:cNvPicPr>
          <p:nvPr/>
        </p:nvPicPr>
        <p:blipFill>
          <a:blip r:embed="rId3"/>
          <a:stretch>
            <a:fillRect/>
          </a:stretch>
        </p:blipFill>
        <p:spPr>
          <a:xfrm>
            <a:off x="9077171" y="2145791"/>
            <a:ext cx="1346760" cy="975359"/>
          </a:xfrm>
          <a:prstGeom prst="rect">
            <a:avLst/>
          </a:prstGeom>
        </p:spPr>
      </p:pic>
      <p:sp>
        <p:nvSpPr>
          <p:cNvPr id="43" name="TextBox 42"/>
          <p:cNvSpPr txBox="1"/>
          <p:nvPr/>
        </p:nvSpPr>
        <p:spPr>
          <a:xfrm>
            <a:off x="7912607" y="3176015"/>
            <a:ext cx="3675887" cy="219456"/>
          </a:xfrm>
          <a:prstGeom prst="rect">
            <a:avLst/>
          </a:prstGeom>
          <a:noFill/>
        </p:spPr>
        <p:txBody>
          <a:bodyPr wrap="none" anchor="ctr" lIns="0" rIns="0" tIns="0" bIns="0"/>
          <a:lstStyle/>
          <a:p>
            <a:pPr algn="ctr">
              <a:spcBef>
                <a:spcPts val="0"/>
              </a:spcBef>
              <a:spcAft>
                <a:spcPts val="0"/>
              </a:spcAft>
            </a:pPr>
            <a:r>
              <a:rPr sz="1300" b="0" i="0">
                <a:solidFill>
                  <a:srgbClr val="1E2D44"/>
                </a:solidFill>
                <a:latin typeface="Karla"/>
              </a:rPr>
              <a:t>Gold Band Blue</a:t>
            </a:r>
          </a:p>
        </p:txBody>
      </p:sp>
      <p:sp>
        <p:nvSpPr>
          <p:cNvPr id="44" name="TextBox 43"/>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+3*</a:t>
            </a:r>
          </a:p>
        </p:txBody>
      </p:sp>
      <p:sp>
        <p:nvSpPr>
          <p:cNvPr id="45" name="Rectangle 44"/>
          <p:cNvSpPr/>
          <p:nvPr/>
        </p:nvSpPr>
        <p:spPr>
          <a:xfrm>
            <a:off x="9063455" y="3838956"/>
            <a:ext cx="1374192" cy="1002791"/>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M1.png"/>
          <p:cNvPicPr>
            <a:picLocks noChangeAspect="1"/>
          </p:cNvPicPr>
          <p:nvPr/>
        </p:nvPicPr>
        <p:blipFill>
          <a:blip r:embed="rId4"/>
          <a:stretch>
            <a:fillRect/>
          </a:stretch>
        </p:blipFill>
        <p:spPr>
          <a:xfrm>
            <a:off x="9077171" y="3852671"/>
            <a:ext cx="1346760" cy="975359"/>
          </a:xfrm>
          <a:prstGeom prst="rect">
            <a:avLst/>
          </a:prstGeom>
        </p:spPr>
      </p:pic>
      <p:sp>
        <p:nvSpPr>
          <p:cNvPr id="47" name="TextBox 46"/>
          <p:cNvSpPr txBox="1"/>
          <p:nvPr/>
        </p:nvSpPr>
        <p:spPr>
          <a:xfrm>
            <a:off x="7912607" y="4882895"/>
            <a:ext cx="3675887" cy="219456"/>
          </a:xfrm>
          <a:prstGeom prst="rect">
            <a:avLst/>
          </a:prstGeom>
          <a:noFill/>
        </p:spPr>
        <p:txBody>
          <a:bodyPr wrap="none" anchor="ctr" lIns="0" rIns="0" tIns="0" bIns="0"/>
          <a:lstStyle/>
          <a:p>
            <a:pPr algn="ctr">
              <a:spcBef>
                <a:spcPts val="0"/>
              </a:spcBef>
              <a:spcAft>
                <a:spcPts val="0"/>
              </a:spcAft>
            </a:pPr>
            <a:r>
              <a:rPr sz="1300" b="0" i="0">
                <a:solidFill>
                  <a:srgbClr val="1E2D44"/>
                </a:solidFill>
                <a:latin typeface="Karla"/>
              </a:rPr>
              <a:t>Gold Band Off</a:t>
            </a:r>
          </a:p>
        </p:txBody>
      </p:sp>
      <p:sp>
        <p:nvSpPr>
          <p:cNvPr id="48" name="TextBox 47"/>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a:t>
            </a:r>
          </a:p>
        </p:txBody>
      </p:sp>
      <p:sp>
        <p:nvSpPr>
          <p:cNvPr id="49" name="Rounded Rectangle 48"/>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Both groups rank Gold Band On first. The widest segment gap is Gold Band Off: 0 non-users / +3 users.</a:t>
            </a:r>
          </a:p>
        </p:txBody>
      </p:sp>
      <p:sp>
        <p:nvSpPr>
          <p:cNvPr id="50" name="Rectangle 49"/>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52" name="TextBox 51"/>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7043927" cy="193547"/>
          </a:xfrm>
          <a:prstGeom prst="rect">
            <a:avLst/>
          </a:prstGeom>
          <a:noFill/>
        </p:spPr>
        <p:txBody>
          <a:bodyPr wrap="square" anchor="t" lIns="0" rIns="0" tIns="0" bIns="0"/>
          <a:lstStyle/>
          <a:p>
            <a:pPr algn="l">
              <a:spcBef>
                <a:spcPts val="0"/>
              </a:spcBef>
              <a:spcAft>
                <a:spcPts val="0"/>
              </a:spcAft>
              <a:lnSpc>
                <a:spcPts val="1380"/>
              </a:lnSpc>
            </a:pPr>
            <a:r>
              <a:rPr sz="1200" b="1" i="0">
                <a:solidFill>
                  <a:srgbClr val="04746E"/>
                </a:solidFill>
                <a:latin typeface="Karla"/>
              </a:rPr>
              <a:t>ELEMENT WINNERS: CAP COLOR</a:t>
            </a:r>
          </a:p>
        </p:txBody>
      </p:sp>
      <p:sp>
        <p:nvSpPr>
          <p:cNvPr id="3" name="TextBox 2"/>
          <p:cNvSpPr txBox="1"/>
          <p:nvPr/>
        </p:nvSpPr>
        <p:spPr>
          <a:xfrm>
            <a:off x="502920" y="438912"/>
            <a:ext cx="7043927" cy="398018"/>
          </a:xfrm>
          <a:prstGeom prst="rect">
            <a:avLst/>
          </a:prstGeom>
          <a:noFill/>
        </p:spPr>
        <p:txBody>
          <a:bodyPr wrap="square" anchor="t" lIns="0" rIns="0" tIns="0" bIns="0"/>
          <a:lstStyle/>
          <a:p>
            <a:pPr algn="l">
              <a:spcBef>
                <a:spcPts val="0"/>
              </a:spcBef>
              <a:spcAft>
                <a:spcPts val="0"/>
              </a:spcAft>
              <a:lnSpc>
                <a:spcPts val="2990"/>
              </a:lnSpc>
            </a:pPr>
            <a:r>
              <a:rPr sz="2600" b="1" i="0">
                <a:solidFill>
                  <a:srgbClr val="1E2D44"/>
                </a:solidFill>
                <a:latin typeface="Karla"/>
              </a:rPr>
              <a:t>Cap Pearl White leads in both groups</a:t>
            </a:r>
          </a:p>
        </p:txBody>
      </p:sp>
      <p:sp>
        <p:nvSpPr>
          <p:cNvPr id="4" name="TextBox 3"/>
          <p:cNvSpPr txBox="1"/>
          <p:nvPr/>
        </p:nvSpPr>
        <p:spPr>
          <a:xfrm>
            <a:off x="502920" y="910081"/>
            <a:ext cx="7043927" cy="222757"/>
          </a:xfrm>
          <a:prstGeom prst="rect">
            <a:avLst/>
          </a:prstGeom>
          <a:noFill/>
        </p:spPr>
        <p:txBody>
          <a:bodyPr wrap="square" anchor="t" lIns="0" rIns="0" tIns="0" bIns="0"/>
          <a:lstStyle/>
          <a:p>
            <a:pPr algn="l">
              <a:spcBef>
                <a:spcPts val="0"/>
              </a:spcBef>
              <a:spcAft>
                <a:spcPts val="0"/>
              </a:spcAft>
              <a:lnSpc>
                <a:spcPts val="1610"/>
              </a:lnSpc>
            </a:pPr>
            <a:r>
              <a:rPr sz="1400" b="0" i="0">
                <a:solidFill>
                  <a:srgbClr val="617086"/>
                </a:solidFill>
                <a:latin typeface="Karla"/>
              </a:rPr>
              <a:t>Cap Pearl White leads both groups; Cap Gold ranks last.</a:t>
            </a:r>
          </a:p>
        </p:txBody>
      </p:sp>
      <p:sp>
        <p:nvSpPr>
          <p:cNvPr id="5" name="Rectangle 4"/>
          <p:cNvSpPr/>
          <p:nvPr/>
        </p:nvSpPr>
        <p:spPr>
          <a:xfrm>
            <a:off x="502920" y="1205992"/>
            <a:ext cx="7043927" cy="256032"/>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100" b="1">
                <a:solidFill>
                  <a:srgbClr val="1E2D44"/>
                </a:solidFill>
                <a:latin typeface="Karla"/>
              </a:rPr>
              <a:t>CAP COLOR</a:t>
            </a:r>
          </a:p>
        </p:txBody>
      </p:sp>
      <p:sp>
        <p:nvSpPr>
          <p:cNvPr id="6" name="TextBox 5"/>
          <p:cNvSpPr txBox="1"/>
          <p:nvPr/>
        </p:nvSpPr>
        <p:spPr>
          <a:xfrm>
            <a:off x="1874520"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0</a:t>
            </a:r>
          </a:p>
        </p:txBody>
      </p:sp>
      <p:sp>
        <p:nvSpPr>
          <p:cNvPr id="7" name="Rectangle 6"/>
          <p:cNvSpPr/>
          <p:nvPr/>
        </p:nvSpPr>
        <p:spPr>
          <a:xfrm>
            <a:off x="4106875"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14267"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2</a:t>
            </a:r>
          </a:p>
        </p:txBody>
      </p:sp>
      <p:sp>
        <p:nvSpPr>
          <p:cNvPr id="9" name="Rectangle 8"/>
          <p:cNvSpPr/>
          <p:nvPr/>
        </p:nvSpPr>
        <p:spPr>
          <a:xfrm>
            <a:off x="6046622" y="1516888"/>
            <a:ext cx="9144" cy="3439159"/>
          </a:xfrm>
          <a:prstGeom prst="rect">
            <a:avLst/>
          </a:prstGeom>
          <a:solidFill>
            <a:srgbClr val="E4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54014" y="4974335"/>
            <a:ext cx="585216" cy="182880"/>
          </a:xfrm>
          <a:prstGeom prst="rect">
            <a:avLst/>
          </a:prstGeom>
          <a:noFill/>
        </p:spPr>
        <p:txBody>
          <a:bodyPr wrap="none" anchor="ctr" lIns="0" rIns="0" tIns="0" bIns="0"/>
          <a:lstStyle/>
          <a:p>
            <a:pPr algn="ctr">
              <a:spcBef>
                <a:spcPts val="0"/>
              </a:spcBef>
              <a:spcAft>
                <a:spcPts val="0"/>
              </a:spcAft>
            </a:pPr>
            <a:r>
              <a:rPr sz="1000" b="0" i="0">
                <a:solidFill>
                  <a:srgbClr val="617086"/>
                </a:solidFill>
                <a:latin typeface="Karla"/>
              </a:rPr>
              <a:t>4</a:t>
            </a:r>
          </a:p>
        </p:txBody>
      </p:sp>
      <p:sp>
        <p:nvSpPr>
          <p:cNvPr id="11" name="Rectangle 10"/>
          <p:cNvSpPr/>
          <p:nvPr/>
        </p:nvSpPr>
        <p:spPr>
          <a:xfrm>
            <a:off x="2167128" y="1516888"/>
            <a:ext cx="10972" cy="3439159"/>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67128" y="4956047"/>
            <a:ext cx="4849367" cy="10972"/>
          </a:xfrm>
          <a:prstGeom prst="rect">
            <a:avLst/>
          </a:prstGeom>
          <a:solidFill>
            <a:srgbClr val="C5C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914059"/>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Cap Pearl White</a:t>
            </a:r>
          </a:p>
        </p:txBody>
      </p:sp>
      <p:sp>
        <p:nvSpPr>
          <p:cNvPr id="14" name="Rectangle 13"/>
          <p:cNvSpPr/>
          <p:nvPr/>
        </p:nvSpPr>
        <p:spPr>
          <a:xfrm>
            <a:off x="2167128" y="1914059"/>
            <a:ext cx="290962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31612" y="1914059"/>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+3</a:t>
            </a:r>
          </a:p>
        </p:txBody>
      </p:sp>
      <p:sp>
        <p:nvSpPr>
          <p:cNvPr id="16" name="Rectangle 15"/>
          <p:cNvSpPr/>
          <p:nvPr/>
        </p:nvSpPr>
        <p:spPr>
          <a:xfrm>
            <a:off x="2167128" y="2110655"/>
            <a:ext cx="4849367"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71359" y="2110655"/>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+5</a:t>
            </a:r>
          </a:p>
        </p:txBody>
      </p:sp>
      <p:sp>
        <p:nvSpPr>
          <p:cNvPr id="18" name="TextBox 17"/>
          <p:cNvSpPr txBox="1"/>
          <p:nvPr/>
        </p:nvSpPr>
        <p:spPr>
          <a:xfrm>
            <a:off x="502920" y="3045967"/>
            <a:ext cx="1554480" cy="380999"/>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Cap Variant</a:t>
            </a:r>
          </a:p>
          <a:p>
            <a:pPr algn="r">
              <a:spcBef>
                <a:spcPts val="0"/>
              </a:spcBef>
              <a:spcAft>
                <a:spcPts val="0"/>
              </a:spcAft>
            </a:pPr>
            <a:r>
              <a:rPr sz="1200" b="0" i="0">
                <a:solidFill>
                  <a:srgbClr val="1E2D44"/>
                </a:solidFill>
                <a:latin typeface="Karla"/>
              </a:rPr>
              <a:t>Match</a:t>
            </a:r>
          </a:p>
        </p:txBody>
      </p:sp>
      <p:sp>
        <p:nvSpPr>
          <p:cNvPr id="19" name="Rectangle 18"/>
          <p:cNvSpPr/>
          <p:nvPr/>
        </p:nvSpPr>
        <p:spPr>
          <a:xfrm>
            <a:off x="2167128" y="3060445"/>
            <a:ext cx="2909620"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31612" y="3060445"/>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+3</a:t>
            </a:r>
          </a:p>
        </p:txBody>
      </p:sp>
      <p:sp>
        <p:nvSpPr>
          <p:cNvPr id="21" name="Rectangle 20"/>
          <p:cNvSpPr/>
          <p:nvPr/>
        </p:nvSpPr>
        <p:spPr>
          <a:xfrm>
            <a:off x="2167128" y="3257041"/>
            <a:ext cx="3879494"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01486" y="3257041"/>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+4</a:t>
            </a:r>
          </a:p>
        </p:txBody>
      </p:sp>
      <p:sp>
        <p:nvSpPr>
          <p:cNvPr id="23" name="TextBox 22"/>
          <p:cNvSpPr txBox="1"/>
          <p:nvPr/>
        </p:nvSpPr>
        <p:spPr>
          <a:xfrm>
            <a:off x="502920" y="4206832"/>
            <a:ext cx="1554480" cy="352044"/>
          </a:xfrm>
          <a:prstGeom prst="rect">
            <a:avLst/>
          </a:prstGeom>
          <a:noFill/>
        </p:spPr>
        <p:txBody>
          <a:bodyPr wrap="none" anchor="ctr" lIns="0" rIns="0" tIns="0" bIns="0"/>
          <a:lstStyle/>
          <a:p>
            <a:pPr algn="r">
              <a:spcBef>
                <a:spcPts val="0"/>
              </a:spcBef>
              <a:spcAft>
                <a:spcPts val="0"/>
              </a:spcAft>
            </a:pPr>
            <a:r>
              <a:rPr sz="1200" b="0" i="0">
                <a:solidFill>
                  <a:srgbClr val="1E2D44"/>
                </a:solidFill>
                <a:latin typeface="Karla"/>
              </a:rPr>
              <a:t>Cap Gold</a:t>
            </a:r>
          </a:p>
        </p:txBody>
      </p:sp>
      <p:sp>
        <p:nvSpPr>
          <p:cNvPr id="24" name="Rectangle 23"/>
          <p:cNvSpPr/>
          <p:nvPr/>
        </p:nvSpPr>
        <p:spPr>
          <a:xfrm>
            <a:off x="2167128" y="4206832"/>
            <a:ext cx="1939747" cy="155448"/>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61739" y="4206832"/>
            <a:ext cx="457200" cy="155448"/>
          </a:xfrm>
          <a:prstGeom prst="rect">
            <a:avLst/>
          </a:prstGeom>
          <a:noFill/>
        </p:spPr>
        <p:txBody>
          <a:bodyPr wrap="none" anchor="ctr" lIns="0" rIns="0" tIns="0" bIns="0"/>
          <a:lstStyle/>
          <a:p>
            <a:pPr algn="l">
              <a:spcBef>
                <a:spcPts val="0"/>
              </a:spcBef>
              <a:spcAft>
                <a:spcPts val="0"/>
              </a:spcAft>
            </a:pPr>
            <a:r>
              <a:rPr sz="1200" b="1" i="0">
                <a:solidFill>
                  <a:srgbClr val="1A2332"/>
                </a:solidFill>
                <a:latin typeface="Karla"/>
              </a:rPr>
              <a:t>+2</a:t>
            </a:r>
          </a:p>
        </p:txBody>
      </p:sp>
      <p:sp>
        <p:nvSpPr>
          <p:cNvPr id="26" name="Rectangle 25"/>
          <p:cNvSpPr/>
          <p:nvPr/>
        </p:nvSpPr>
        <p:spPr>
          <a:xfrm>
            <a:off x="2167128" y="4403428"/>
            <a:ext cx="2909620" cy="155448"/>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31612" y="4403428"/>
            <a:ext cx="457200" cy="155448"/>
          </a:xfrm>
          <a:prstGeom prst="rect">
            <a:avLst/>
          </a:prstGeom>
          <a:noFill/>
        </p:spPr>
        <p:txBody>
          <a:bodyPr wrap="none" anchor="ctr" lIns="0" rIns="0" tIns="0" bIns="0"/>
          <a:lstStyle/>
          <a:p>
            <a:pPr algn="l">
              <a:spcBef>
                <a:spcPts val="0"/>
              </a:spcBef>
              <a:spcAft>
                <a:spcPts val="0"/>
              </a:spcAft>
            </a:pPr>
            <a:r>
              <a:rPr sz="1200" b="1" i="0">
                <a:solidFill>
                  <a:srgbClr val="04746E"/>
                </a:solidFill>
                <a:latin typeface="Karla"/>
              </a:rPr>
              <a:t>+3</a:t>
            </a:r>
          </a:p>
        </p:txBody>
      </p:sp>
      <p:sp>
        <p:nvSpPr>
          <p:cNvPr id="28" name="Rectangle 27"/>
          <p:cNvSpPr/>
          <p:nvPr/>
        </p:nvSpPr>
        <p:spPr>
          <a:xfrm>
            <a:off x="2171191" y="5381244"/>
            <a:ext cx="100584" cy="100584"/>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44927" y="5321807"/>
            <a:ext cx="2034032"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Non-users (basesize = 308)</a:t>
            </a:r>
          </a:p>
        </p:txBody>
      </p:sp>
      <p:sp>
        <p:nvSpPr>
          <p:cNvPr id="30" name="Rectangle 29"/>
          <p:cNvSpPr/>
          <p:nvPr/>
        </p:nvSpPr>
        <p:spPr>
          <a:xfrm>
            <a:off x="4726431" y="5381244"/>
            <a:ext cx="100584" cy="10058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00167" y="5321807"/>
            <a:ext cx="2112264" cy="219456"/>
          </a:xfrm>
          <a:prstGeom prst="rect">
            <a:avLst/>
          </a:prstGeom>
          <a:noFill/>
        </p:spPr>
        <p:txBody>
          <a:bodyPr wrap="none" anchor="ctr" lIns="0" rIns="0" tIns="0" bIns="0"/>
          <a:lstStyle/>
          <a:p>
            <a:pPr algn="l">
              <a:spcBef>
                <a:spcPts val="0"/>
              </a:spcBef>
              <a:spcAft>
                <a:spcPts val="0"/>
              </a:spcAft>
            </a:pPr>
            <a:r>
              <a:rPr sz="1100" b="0" i="0">
                <a:solidFill>
                  <a:srgbClr val="2C3A4A"/>
                </a:solidFill>
                <a:latin typeface="Karla"/>
              </a:rPr>
              <a:t>Dove users (basesize = 293)</a:t>
            </a:r>
          </a:p>
        </p:txBody>
      </p:sp>
      <p:sp>
        <p:nvSpPr>
          <p:cNvPr id="32" name="Rounded Rectangle 31"/>
          <p:cNvSpPr/>
          <p:nvPr/>
        </p:nvSpPr>
        <p:spPr>
          <a:xfrm>
            <a:off x="7729727" y="237744"/>
            <a:ext cx="4041648" cy="5303520"/>
          </a:xfrm>
          <a:prstGeom prst="roundRect">
            <a:avLst>
              <a:gd name="adj" fmla="val 8000"/>
            </a:avLst>
          </a:prstGeom>
          <a:solidFill>
            <a:srgbClr val="FFFFFF"/>
          </a:solidFill>
          <a:ln w="12700">
            <a:solidFill>
              <a:srgbClr val="E3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222137" y="425196"/>
            <a:ext cx="1056828" cy="1002791"/>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N2.png"/>
          <p:cNvPicPr>
            <a:picLocks noChangeAspect="1"/>
          </p:cNvPicPr>
          <p:nvPr/>
        </p:nvPicPr>
        <p:blipFill>
          <a:blip r:embed="rId2"/>
          <a:stretch>
            <a:fillRect/>
          </a:stretch>
        </p:blipFill>
        <p:spPr>
          <a:xfrm>
            <a:off x="9235853" y="438912"/>
            <a:ext cx="1029396" cy="975359"/>
          </a:xfrm>
          <a:prstGeom prst="rect">
            <a:avLst/>
          </a:prstGeom>
        </p:spPr>
      </p:pic>
      <p:sp>
        <p:nvSpPr>
          <p:cNvPr id="35" name="TextBox 34"/>
          <p:cNvSpPr txBox="1"/>
          <p:nvPr/>
        </p:nvSpPr>
        <p:spPr>
          <a:xfrm>
            <a:off x="7912607" y="1469135"/>
            <a:ext cx="3675887" cy="219456"/>
          </a:xfrm>
          <a:prstGeom prst="rect">
            <a:avLst/>
          </a:prstGeom>
          <a:noFill/>
        </p:spPr>
        <p:txBody>
          <a:bodyPr wrap="none" anchor="ctr" lIns="0" rIns="0" tIns="0" bIns="0"/>
          <a:lstStyle/>
          <a:p>
            <a:pPr algn="ctr">
              <a:spcBef>
                <a:spcPts val="0"/>
              </a:spcBef>
              <a:spcAft>
                <a:spcPts val="0"/>
              </a:spcAft>
            </a:pPr>
            <a:r>
              <a:rPr sz="1300" b="0" i="0">
                <a:solidFill>
                  <a:srgbClr val="1E2D44"/>
                </a:solidFill>
                <a:latin typeface="Karla"/>
              </a:rPr>
              <a:t>Cap Pearl White</a:t>
            </a:r>
          </a:p>
        </p:txBody>
      </p:sp>
      <p:sp>
        <p:nvSpPr>
          <p:cNvPr id="36" name="TextBox 35"/>
          <p:cNvSpPr txBox="1"/>
          <p:nvPr/>
        </p:nvSpPr>
        <p:spPr>
          <a:xfrm>
            <a:off x="7912607" y="168859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37" name="Rectangle 36"/>
          <p:cNvSpPr/>
          <p:nvPr/>
        </p:nvSpPr>
        <p:spPr>
          <a:xfrm>
            <a:off x="9222137" y="2132075"/>
            <a:ext cx="1056828" cy="1002791"/>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N3.png"/>
          <p:cNvPicPr>
            <a:picLocks noChangeAspect="1"/>
          </p:cNvPicPr>
          <p:nvPr/>
        </p:nvPicPr>
        <p:blipFill>
          <a:blip r:embed="rId3"/>
          <a:stretch>
            <a:fillRect/>
          </a:stretch>
        </p:blipFill>
        <p:spPr>
          <a:xfrm>
            <a:off x="9235853" y="2145791"/>
            <a:ext cx="1029396" cy="975359"/>
          </a:xfrm>
          <a:prstGeom prst="rect">
            <a:avLst/>
          </a:prstGeom>
        </p:spPr>
      </p:pic>
      <p:sp>
        <p:nvSpPr>
          <p:cNvPr id="39" name="TextBox 38"/>
          <p:cNvSpPr txBox="1"/>
          <p:nvPr/>
        </p:nvSpPr>
        <p:spPr>
          <a:xfrm>
            <a:off x="7912607" y="3176015"/>
            <a:ext cx="3675887" cy="219456"/>
          </a:xfrm>
          <a:prstGeom prst="rect">
            <a:avLst/>
          </a:prstGeom>
          <a:noFill/>
        </p:spPr>
        <p:txBody>
          <a:bodyPr wrap="none" anchor="ctr" lIns="0" rIns="0" tIns="0" bIns="0"/>
          <a:lstStyle/>
          <a:p>
            <a:pPr algn="ctr">
              <a:spcBef>
                <a:spcPts val="0"/>
              </a:spcBef>
              <a:spcAft>
                <a:spcPts val="0"/>
              </a:spcAft>
            </a:pPr>
            <a:r>
              <a:rPr sz="1300" b="0" i="0">
                <a:solidFill>
                  <a:srgbClr val="1E2D44"/>
                </a:solidFill>
                <a:latin typeface="Karla"/>
              </a:rPr>
              <a:t>Cap Variant Match</a:t>
            </a:r>
          </a:p>
        </p:txBody>
      </p:sp>
      <p:sp>
        <p:nvSpPr>
          <p:cNvPr id="40" name="TextBox 39"/>
          <p:cNvSpPr txBox="1"/>
          <p:nvPr/>
        </p:nvSpPr>
        <p:spPr>
          <a:xfrm>
            <a:off x="7912607" y="339547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+4*</a:t>
            </a:r>
          </a:p>
        </p:txBody>
      </p:sp>
      <p:sp>
        <p:nvSpPr>
          <p:cNvPr id="41" name="Rectangle 40"/>
          <p:cNvSpPr/>
          <p:nvPr/>
        </p:nvSpPr>
        <p:spPr>
          <a:xfrm>
            <a:off x="9222137" y="3838956"/>
            <a:ext cx="1056828" cy="1002791"/>
          </a:xfrm>
          <a:prstGeom prst="rect">
            <a:avLst/>
          </a:prstGeom>
          <a:solidFill>
            <a:srgbClr val="FFFFFF"/>
          </a:solidFill>
          <a:ln w="12700">
            <a:solidFill>
              <a:srgbClr val="E2E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N1.png"/>
          <p:cNvPicPr>
            <a:picLocks noChangeAspect="1"/>
          </p:cNvPicPr>
          <p:nvPr/>
        </p:nvPicPr>
        <p:blipFill>
          <a:blip r:embed="rId4"/>
          <a:stretch>
            <a:fillRect/>
          </a:stretch>
        </p:blipFill>
        <p:spPr>
          <a:xfrm>
            <a:off x="9235853" y="3852671"/>
            <a:ext cx="1029396" cy="975359"/>
          </a:xfrm>
          <a:prstGeom prst="rect">
            <a:avLst/>
          </a:prstGeom>
        </p:spPr>
      </p:pic>
      <p:sp>
        <p:nvSpPr>
          <p:cNvPr id="43" name="TextBox 42"/>
          <p:cNvSpPr txBox="1"/>
          <p:nvPr/>
        </p:nvSpPr>
        <p:spPr>
          <a:xfrm>
            <a:off x="7912607" y="4882895"/>
            <a:ext cx="3675887" cy="219456"/>
          </a:xfrm>
          <a:prstGeom prst="rect">
            <a:avLst/>
          </a:prstGeom>
          <a:noFill/>
        </p:spPr>
        <p:txBody>
          <a:bodyPr wrap="none" anchor="ctr" lIns="0" rIns="0" tIns="0" bIns="0"/>
          <a:lstStyle/>
          <a:p>
            <a:pPr algn="ctr">
              <a:spcBef>
                <a:spcPts val="0"/>
              </a:spcBef>
              <a:spcAft>
                <a:spcPts val="0"/>
              </a:spcAft>
            </a:pPr>
            <a:r>
              <a:rPr sz="1300" b="0" i="0">
                <a:solidFill>
                  <a:srgbClr val="1E2D44"/>
                </a:solidFill>
                <a:latin typeface="Karla"/>
              </a:rPr>
              <a:t>Cap Gold</a:t>
            </a:r>
          </a:p>
        </p:txBody>
      </p:sp>
      <p:sp>
        <p:nvSpPr>
          <p:cNvPr id="44" name="TextBox 43"/>
          <p:cNvSpPr txBox="1"/>
          <p:nvPr/>
        </p:nvSpPr>
        <p:spPr>
          <a:xfrm>
            <a:off x="7912607" y="5102351"/>
            <a:ext cx="3675887" cy="237744"/>
          </a:xfrm>
          <a:prstGeom prst="rect">
            <a:avLst/>
          </a:prstGeom>
          <a:noFill/>
        </p:spPr>
        <p:txBody>
          <a:bodyPr wrap="square" anchor="t" lIns="0" rIns="0" tIns="0" bIns="0"/>
          <a:lstStyle/>
          <a:p>
            <a:pPr algn="ctr">
              <a:spcBef>
                <a:spcPts val="0"/>
              </a:spcBef>
              <a:spcAft>
                <a:spcPts val="0"/>
              </a:spcAft>
            </a:pPr>
            <a:r>
              <a:rPr sz="1500" b="1" i="0">
                <a:solidFill>
                  <a:srgbClr val="008935"/>
                </a:solidFill>
                <a:latin typeface="Karla"/>
              </a:rPr>
              <a:t>+2*</a:t>
            </a:r>
          </a:p>
        </p:txBody>
      </p:sp>
      <p:sp>
        <p:nvSpPr>
          <p:cNvPr id="45" name="Rounded Rectangle 44"/>
          <p:cNvSpPr/>
          <p:nvPr/>
        </p:nvSpPr>
        <p:spPr>
          <a:xfrm>
            <a:off x="502920" y="5632704"/>
            <a:ext cx="11268455" cy="530352"/>
          </a:xfrm>
          <a:prstGeom prst="roundRect">
            <a:avLst>
              <a:gd name="adj" fmla="val 12000"/>
            </a:avLst>
          </a:prstGeom>
          <a:solidFill>
            <a:srgbClr val="FBF4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spcBef>
                <a:spcPts val="0"/>
              </a:spcBef>
              <a:spcAft>
                <a:spcPts val="0"/>
              </a:spcAft>
            </a:pPr>
            <a:r>
              <a:rPr sz="1300" b="0">
                <a:solidFill>
                  <a:srgbClr val="1E2D44"/>
                </a:solidFill>
                <a:latin typeface="Karla"/>
              </a:rPr>
              <a:t>Both groups rank Cap Pearl White first. The widest segment gap is Cap Pearl White: +3 non-users / +5 users.</a:t>
            </a:r>
          </a:p>
        </p:txBody>
      </p:sp>
      <p:sp>
        <p:nvSpPr>
          <p:cNvPr id="46" name="Rectangle 4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Non-users basesize = 308; Dove users basesize = 293. Top-2 scores rounded to whole points. *Average of the groups in the legend.</a:t>
            </a:r>
          </a:p>
        </p:txBody>
      </p:sp>
      <p:sp>
        <p:nvSpPr>
          <p:cNvPr id="48" name="TextBox 4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606040"/>
            <a:ext cx="10058400" cy="1005840"/>
          </a:xfrm>
          <a:prstGeom prst="rect">
            <a:avLst/>
          </a:prstGeom>
          <a:noFill/>
        </p:spPr>
        <p:txBody>
          <a:bodyPr wrap="square" anchor="t"/>
          <a:lstStyle/>
          <a:p>
            <a:pPr algn="l">
              <a:spcAft>
                <a:spcPts val="400"/>
              </a:spcAft>
            </a:pPr>
            <a:r>
              <a:rPr sz="5400" b="1" i="0">
                <a:solidFill>
                  <a:srgbClr val="1E2D44"/>
                </a:solidFill>
                <a:latin typeface="Karla"/>
              </a:rPr>
              <a:t>Appendix</a:t>
            </a:r>
          </a:p>
        </p:txBody>
      </p:sp>
      <p:sp>
        <p:nvSpPr>
          <p:cNvPr id="4" name="Rectangle 3"/>
          <p:cNvSpPr/>
          <p:nvPr/>
        </p:nvSpPr>
        <p:spPr>
          <a:xfrm>
            <a:off x="822960" y="3794760"/>
            <a:ext cx="1280160" cy="5486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APPENDIX  ·  FULL ELEMENT LIFT SUMMARY</a:t>
            </a:r>
          </a:p>
        </p:txBody>
      </p:sp>
      <p:sp>
        <p:nvSpPr>
          <p:cNvPr id="3" name="TextBox 2"/>
          <p:cNvSpPr txBox="1"/>
          <p:nvPr/>
        </p:nvSpPr>
        <p:spPr>
          <a:xfrm>
            <a:off x="566928" y="658368"/>
            <a:ext cx="10972800" cy="457200"/>
          </a:xfrm>
          <a:prstGeom prst="rect">
            <a:avLst/>
          </a:prstGeom>
          <a:noFill/>
        </p:spPr>
        <p:txBody>
          <a:bodyPr wrap="square" anchor="t"/>
          <a:lstStyle/>
          <a:p>
            <a:pPr algn="l">
              <a:spcAft>
                <a:spcPts val="400"/>
              </a:spcAft>
            </a:pPr>
            <a:r>
              <a:rPr sz="3000" b="1" i="0">
                <a:solidFill>
                  <a:srgbClr val="1E2D44"/>
                </a:solidFill>
                <a:latin typeface="Karla"/>
              </a:rPr>
              <a:t>Every element, one silo per page</a:t>
            </a:r>
          </a:p>
        </p:txBody>
      </p:sp>
      <p:sp>
        <p:nvSpPr>
          <p:cNvPr id="4" name="TextBox 3"/>
          <p:cNvSpPr txBox="1"/>
          <p:nvPr/>
        </p:nvSpPr>
        <p:spPr>
          <a:xfrm>
            <a:off x="566928" y="1234440"/>
            <a:ext cx="10972800" cy="640080"/>
          </a:xfrm>
          <a:prstGeom prst="rect">
            <a:avLst/>
          </a:prstGeom>
          <a:noFill/>
        </p:spPr>
        <p:txBody>
          <a:bodyPr wrap="square" anchor="t"/>
          <a:lstStyle/>
          <a:p>
            <a:pPr algn="l">
              <a:spcAft>
                <a:spcPts val="400"/>
              </a:spcAft>
            </a:pPr>
            <a:r>
              <a:rPr sz="1600" b="0" i="0">
                <a:solidFill>
                  <a:srgbClr val="617086"/>
                </a:solidFill>
                <a:latin typeface="Karla"/>
              </a:rPr>
              <a:t>Scores are Top-2 Box coefficients (ratings 4–5), rounded the same way as the charts. Green is lift above the baseline. Red is lift below it. Overall is the full sample. The other columns are Non-users, Dove users.</a:t>
            </a:r>
          </a:p>
        </p:txBody>
      </p:sp>
      <p:sp>
        <p:nvSpPr>
          <p:cNvPr id="5" name="Rounded Rectangle 4"/>
          <p:cNvSpPr/>
          <p:nvPr/>
        </p:nvSpPr>
        <p:spPr>
          <a:xfrm>
            <a:off x="566928" y="2103120"/>
            <a:ext cx="3474720" cy="1371600"/>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240280"/>
            <a:ext cx="3108960" cy="640080"/>
          </a:xfrm>
          <a:prstGeom prst="rect">
            <a:avLst/>
          </a:prstGeom>
          <a:noFill/>
        </p:spPr>
        <p:txBody>
          <a:bodyPr wrap="square" anchor="t"/>
          <a:lstStyle/>
          <a:p>
            <a:pPr algn="l">
              <a:spcAft>
                <a:spcPts val="400"/>
              </a:spcAft>
            </a:pPr>
            <a:r>
              <a:rPr sz="3200" b="1" i="0">
                <a:solidFill>
                  <a:srgbClr val="1E2D44"/>
                </a:solidFill>
                <a:latin typeface="Karla"/>
              </a:rPr>
              <a:t>No intercept</a:t>
            </a:r>
          </a:p>
        </p:txBody>
      </p:sp>
      <p:sp>
        <p:nvSpPr>
          <p:cNvPr id="7" name="TextBox 6"/>
          <p:cNvSpPr txBox="1"/>
          <p:nvPr/>
        </p:nvSpPr>
        <p:spPr>
          <a:xfrm>
            <a:off x="777240" y="2926080"/>
            <a:ext cx="3108960" cy="320040"/>
          </a:xfrm>
          <a:prstGeom prst="rect">
            <a:avLst/>
          </a:prstGeom>
          <a:noFill/>
        </p:spPr>
        <p:txBody>
          <a:bodyPr wrap="square" anchor="t"/>
          <a:lstStyle/>
          <a:p>
            <a:pPr algn="l">
              <a:spcAft>
                <a:spcPts val="400"/>
              </a:spcAft>
            </a:pPr>
            <a:r>
              <a:rPr sz="1400" b="0" i="0">
                <a:solidFill>
                  <a:srgbClr val="617086"/>
                </a:solidFill>
                <a:latin typeface="Karla"/>
              </a:rPr>
              <a:t>Base appeal</a:t>
            </a:r>
          </a:p>
        </p:txBody>
      </p:sp>
      <p:sp>
        <p:nvSpPr>
          <p:cNvPr id="8" name="Rounded Rectangle 7"/>
          <p:cNvSpPr/>
          <p:nvPr/>
        </p:nvSpPr>
        <p:spPr>
          <a:xfrm>
            <a:off x="4251960" y="2103120"/>
            <a:ext cx="3474720" cy="1371600"/>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2240280"/>
            <a:ext cx="3108960" cy="640080"/>
          </a:xfrm>
          <a:prstGeom prst="rect">
            <a:avLst/>
          </a:prstGeom>
          <a:noFill/>
        </p:spPr>
        <p:txBody>
          <a:bodyPr wrap="square" anchor="t"/>
          <a:lstStyle/>
          <a:p>
            <a:pPr algn="l">
              <a:spcAft>
                <a:spcPts val="400"/>
              </a:spcAft>
            </a:pPr>
            <a:r>
              <a:rPr sz="3200" b="1" i="0">
                <a:solidFill>
                  <a:srgbClr val="1E2D44"/>
                </a:solidFill>
                <a:latin typeface="Karla"/>
              </a:rPr>
              <a:t>14</a:t>
            </a:r>
          </a:p>
        </p:txBody>
      </p:sp>
      <p:sp>
        <p:nvSpPr>
          <p:cNvPr id="10" name="TextBox 9"/>
          <p:cNvSpPr txBox="1"/>
          <p:nvPr/>
        </p:nvSpPr>
        <p:spPr>
          <a:xfrm>
            <a:off x="4480560" y="2926080"/>
            <a:ext cx="3108960" cy="320040"/>
          </a:xfrm>
          <a:prstGeom prst="rect">
            <a:avLst/>
          </a:prstGeom>
          <a:noFill/>
        </p:spPr>
        <p:txBody>
          <a:bodyPr wrap="square" anchor="t"/>
          <a:lstStyle/>
          <a:p>
            <a:pPr algn="l">
              <a:spcAft>
                <a:spcPts val="400"/>
              </a:spcAft>
            </a:pPr>
            <a:r>
              <a:rPr sz="1400" b="0" i="0">
                <a:solidFill>
                  <a:srgbClr val="617086"/>
                </a:solidFill>
                <a:latin typeface="Karla"/>
              </a:rPr>
              <a:t>Silos in the tables</a:t>
            </a:r>
          </a:p>
        </p:txBody>
      </p:sp>
      <p:sp>
        <p:nvSpPr>
          <p:cNvPr id="11" name="Rounded Rectangle 10"/>
          <p:cNvSpPr/>
          <p:nvPr/>
        </p:nvSpPr>
        <p:spPr>
          <a:xfrm>
            <a:off x="7936992" y="2103120"/>
            <a:ext cx="3611880" cy="1371600"/>
          </a:xfrm>
          <a:prstGeom prst="roundRect">
            <a:avLst>
              <a:gd name="adj" fmla="val 8000"/>
            </a:avLst>
          </a:prstGeom>
          <a:solidFill>
            <a:srgbClr val="F8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2240280"/>
            <a:ext cx="3200400" cy="640080"/>
          </a:xfrm>
          <a:prstGeom prst="rect">
            <a:avLst/>
          </a:prstGeom>
          <a:noFill/>
        </p:spPr>
        <p:txBody>
          <a:bodyPr wrap="square" anchor="t"/>
          <a:lstStyle/>
          <a:p>
            <a:pPr algn="l">
              <a:spcAft>
                <a:spcPts val="400"/>
              </a:spcAft>
            </a:pPr>
            <a:r>
              <a:rPr sz="3200" b="1" i="0">
                <a:solidFill>
                  <a:srgbClr val="1E2D44"/>
                </a:solidFill>
                <a:latin typeface="Karla"/>
              </a:rPr>
              <a:t>69</a:t>
            </a:r>
          </a:p>
        </p:txBody>
      </p:sp>
      <p:sp>
        <p:nvSpPr>
          <p:cNvPr id="13" name="TextBox 12"/>
          <p:cNvSpPr txBox="1"/>
          <p:nvPr/>
        </p:nvSpPr>
        <p:spPr>
          <a:xfrm>
            <a:off x="8138160" y="2926080"/>
            <a:ext cx="3200400" cy="320040"/>
          </a:xfrm>
          <a:prstGeom prst="rect">
            <a:avLst/>
          </a:prstGeom>
          <a:noFill/>
        </p:spPr>
        <p:txBody>
          <a:bodyPr wrap="square" anchor="t"/>
          <a:lstStyle/>
          <a:p>
            <a:pPr algn="l">
              <a:spcAft>
                <a:spcPts val="400"/>
              </a:spcAft>
            </a:pPr>
            <a:r>
              <a:rPr sz="1400" b="0" i="0">
                <a:solidFill>
                  <a:srgbClr val="617086"/>
                </a:solidFill>
                <a:latin typeface="Karla"/>
              </a:rPr>
              <a:t>Elements scored</a:t>
            </a:r>
          </a:p>
        </p:txBody>
      </p:sp>
      <p:sp>
        <p:nvSpPr>
          <p:cNvPr id="14" name="Rectangle 13"/>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16" name="TextBox 15"/>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566928" y="512064"/>
            <a:ext cx="11064240" cy="427228"/>
          </a:xfrm>
          <a:prstGeom prst="rect">
            <a:avLst/>
          </a:prstGeom>
          <a:noFill/>
        </p:spPr>
        <p:txBody>
          <a:bodyPr wrap="square" anchor="t" lIns="0" rIns="0" tIns="0" bIns="0"/>
          <a:lstStyle/>
          <a:p>
            <a:pPr algn="l">
              <a:spcBef>
                <a:spcPts val="0"/>
              </a:spcBef>
              <a:spcAft>
                <a:spcPts val="0"/>
              </a:spcAft>
              <a:lnSpc>
                <a:spcPts val="3220"/>
              </a:lnSpc>
            </a:pPr>
            <a:r>
              <a:rPr sz="2800" b="1" i="0">
                <a:solidFill>
                  <a:srgbClr val="1E2D44"/>
                </a:solidFill>
                <a:latin typeface="Karla"/>
              </a:rPr>
              <a:t>Deboss — Element Lift Summary</a:t>
            </a:r>
          </a:p>
        </p:txBody>
      </p:sp>
      <p:sp>
        <p:nvSpPr>
          <p:cNvPr id="4" name="TextBox 3"/>
          <p:cNvSpPr txBox="1"/>
          <p:nvPr/>
        </p:nvSpPr>
        <p:spPr>
          <a:xfrm>
            <a:off x="566928" y="1012444"/>
            <a:ext cx="11064240" cy="237363"/>
          </a:xfrm>
          <a:prstGeom prst="rect">
            <a:avLst/>
          </a:prstGeom>
          <a:noFill/>
        </p:spPr>
        <p:txBody>
          <a:bodyPr wrap="square" anchor="t" lIns="0" rIns="0" tIns="0" bIns="0"/>
          <a:lstStyle/>
          <a:p>
            <a:pPr algn="l">
              <a:spcBef>
                <a:spcPts val="0"/>
              </a:spcBef>
              <a:spcAft>
                <a:spcPts val="0"/>
              </a:spcAft>
              <a:lnSpc>
                <a:spcPts val="1725"/>
              </a:lnSpc>
            </a:pPr>
            <a:r>
              <a:rPr sz="1500" b="0" i="0">
                <a:solidFill>
                  <a:srgbClr val="617086"/>
                </a:solidFill>
                <a:latin typeface="Karla"/>
              </a:rPr>
              <a:t>Deboss Blue leads both groups; Deboss Off ranks last.</a:t>
            </a:r>
          </a:p>
        </p:txBody>
      </p:sp>
      <p:sp>
        <p:nvSpPr>
          <p:cNvPr id="5" name="Rectangle 4"/>
          <p:cNvSpPr/>
          <p:nvPr/>
        </p:nvSpPr>
        <p:spPr>
          <a:xfrm>
            <a:off x="566928" y="1396111"/>
            <a:ext cx="11064240" cy="292608"/>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DEBOSS</a:t>
            </a:r>
          </a:p>
        </p:txBody>
      </p:sp>
      <p:sp>
        <p:nvSpPr>
          <p:cNvPr id="6" name="TextBox 5"/>
          <p:cNvSpPr txBox="1"/>
          <p:nvPr/>
        </p:nvSpPr>
        <p:spPr>
          <a:xfrm>
            <a:off x="566928" y="1688719"/>
            <a:ext cx="6812279" cy="329184"/>
          </a:xfrm>
          <a:prstGeom prst="rect">
            <a:avLst/>
          </a:prstGeom>
          <a:noFill/>
        </p:spPr>
        <p:txBody>
          <a:bodyPr wrap="square" anchor="ctr" lIns="0" rIns="0" tIns="0" bIns="0"/>
          <a:lstStyle/>
          <a:p>
            <a:pPr algn="l">
              <a:spcBef>
                <a:spcPts val="0"/>
              </a:spcBef>
              <a:spcAft>
                <a:spcPts val="0"/>
              </a:spcAft>
              <a:lnSpc>
                <a:spcPts val="1380"/>
              </a:lnSpc>
            </a:pPr>
            <a:r>
              <a:rPr sz="1200" b="1" i="0">
                <a:solidFill>
                  <a:srgbClr val="1E2D44"/>
                </a:solidFill>
                <a:latin typeface="Karla"/>
              </a:rPr>
              <a:t>Element</a:t>
            </a:r>
          </a:p>
        </p:txBody>
      </p:sp>
      <p:sp>
        <p:nvSpPr>
          <p:cNvPr id="7" name="TextBox 6"/>
          <p:cNvSpPr txBox="1"/>
          <p:nvPr/>
        </p:nvSpPr>
        <p:spPr>
          <a:xfrm>
            <a:off x="739749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Overall</a:t>
            </a:r>
          </a:p>
        </p:txBody>
      </p:sp>
      <p:sp>
        <p:nvSpPr>
          <p:cNvPr id="8" name="TextBox 7"/>
          <p:cNvSpPr txBox="1"/>
          <p:nvPr/>
        </p:nvSpPr>
        <p:spPr>
          <a:xfrm>
            <a:off x="881481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Non-users</a:t>
            </a:r>
          </a:p>
        </p:txBody>
      </p:sp>
      <p:sp>
        <p:nvSpPr>
          <p:cNvPr id="9" name="TextBox 8"/>
          <p:cNvSpPr txBox="1"/>
          <p:nvPr/>
        </p:nvSpPr>
        <p:spPr>
          <a:xfrm>
            <a:off x="10232136"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Dove users</a:t>
            </a:r>
          </a:p>
        </p:txBody>
      </p:sp>
      <p:sp>
        <p:nvSpPr>
          <p:cNvPr id="10" name="Rectangle 9"/>
          <p:cNvSpPr/>
          <p:nvPr/>
        </p:nvSpPr>
        <p:spPr>
          <a:xfrm>
            <a:off x="566928" y="2017903"/>
            <a:ext cx="11064240" cy="10972"/>
          </a:xfrm>
          <a:prstGeom prst="rect">
            <a:avLst/>
          </a:prstGeom>
          <a:solidFill>
            <a:srgbClr val="E7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7903"/>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Deboss Blue</a:t>
            </a:r>
          </a:p>
        </p:txBody>
      </p:sp>
      <p:sp>
        <p:nvSpPr>
          <p:cNvPr id="12" name="TextBox 11"/>
          <p:cNvSpPr txBox="1"/>
          <p:nvPr/>
        </p:nvSpPr>
        <p:spPr>
          <a:xfrm>
            <a:off x="7379207"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+7</a:t>
            </a:r>
          </a:p>
        </p:txBody>
      </p:sp>
      <p:sp>
        <p:nvSpPr>
          <p:cNvPr id="13" name="TextBox 12"/>
          <p:cNvSpPr txBox="1"/>
          <p:nvPr/>
        </p:nvSpPr>
        <p:spPr>
          <a:xfrm>
            <a:off x="879652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+5</a:t>
            </a:r>
          </a:p>
        </p:txBody>
      </p:sp>
      <p:sp>
        <p:nvSpPr>
          <p:cNvPr id="14" name="TextBox 13"/>
          <p:cNvSpPr txBox="1"/>
          <p:nvPr/>
        </p:nvSpPr>
        <p:spPr>
          <a:xfrm>
            <a:off x="1021384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+10</a:t>
            </a:r>
          </a:p>
        </p:txBody>
      </p:sp>
      <p:sp>
        <p:nvSpPr>
          <p:cNvPr id="15" name="Rectangle 14"/>
          <p:cNvSpPr/>
          <p:nvPr/>
        </p:nvSpPr>
        <p:spPr>
          <a:xfrm>
            <a:off x="566928" y="243121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38527"/>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Deboss On</a:t>
            </a:r>
          </a:p>
        </p:txBody>
      </p:sp>
      <p:sp>
        <p:nvSpPr>
          <p:cNvPr id="17" name="TextBox 16"/>
          <p:cNvSpPr txBox="1"/>
          <p:nvPr/>
        </p:nvSpPr>
        <p:spPr>
          <a:xfrm>
            <a:off x="7379207"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+3</a:t>
            </a:r>
          </a:p>
        </p:txBody>
      </p:sp>
      <p:sp>
        <p:nvSpPr>
          <p:cNvPr id="18" name="TextBox 17"/>
          <p:cNvSpPr txBox="1"/>
          <p:nvPr/>
        </p:nvSpPr>
        <p:spPr>
          <a:xfrm>
            <a:off x="879652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+3</a:t>
            </a:r>
          </a:p>
        </p:txBody>
      </p:sp>
      <p:sp>
        <p:nvSpPr>
          <p:cNvPr id="19" name="TextBox 18"/>
          <p:cNvSpPr txBox="1"/>
          <p:nvPr/>
        </p:nvSpPr>
        <p:spPr>
          <a:xfrm>
            <a:off x="1021384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+4</a:t>
            </a:r>
          </a:p>
        </p:txBody>
      </p:sp>
      <p:sp>
        <p:nvSpPr>
          <p:cNvPr id="20" name="Rectangle 19"/>
          <p:cNvSpPr/>
          <p:nvPr/>
        </p:nvSpPr>
        <p:spPr>
          <a:xfrm>
            <a:off x="566928" y="285183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859151"/>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Deboss Off</a:t>
            </a:r>
          </a:p>
        </p:txBody>
      </p:sp>
      <p:sp>
        <p:nvSpPr>
          <p:cNvPr id="22" name="TextBox 21"/>
          <p:cNvSpPr txBox="1"/>
          <p:nvPr/>
        </p:nvSpPr>
        <p:spPr>
          <a:xfrm>
            <a:off x="7379207"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a:t>
            </a:r>
          </a:p>
        </p:txBody>
      </p:sp>
      <p:sp>
        <p:nvSpPr>
          <p:cNvPr id="23" name="TextBox 22"/>
          <p:cNvSpPr txBox="1"/>
          <p:nvPr/>
        </p:nvSpPr>
        <p:spPr>
          <a:xfrm>
            <a:off x="879652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a:t>
            </a:r>
          </a:p>
        </p:txBody>
      </p:sp>
      <p:sp>
        <p:nvSpPr>
          <p:cNvPr id="24" name="TextBox 23"/>
          <p:cNvSpPr txBox="1"/>
          <p:nvPr/>
        </p:nvSpPr>
        <p:spPr>
          <a:xfrm>
            <a:off x="1021384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a:t>
            </a:r>
          </a:p>
        </p:txBody>
      </p:sp>
      <p:sp>
        <p:nvSpPr>
          <p:cNvPr id="25" name="Rectangle 24"/>
          <p:cNvSpPr/>
          <p:nvPr/>
        </p:nvSpPr>
        <p:spPr>
          <a:xfrm>
            <a:off x="566928" y="327245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28" name="TextBox 2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566928" y="512064"/>
            <a:ext cx="11064240" cy="427228"/>
          </a:xfrm>
          <a:prstGeom prst="rect">
            <a:avLst/>
          </a:prstGeom>
          <a:noFill/>
        </p:spPr>
        <p:txBody>
          <a:bodyPr wrap="square" anchor="t" lIns="0" rIns="0" tIns="0" bIns="0"/>
          <a:lstStyle/>
          <a:p>
            <a:pPr algn="l">
              <a:spcBef>
                <a:spcPts val="0"/>
              </a:spcBef>
              <a:spcAft>
                <a:spcPts val="0"/>
              </a:spcAft>
              <a:lnSpc>
                <a:spcPts val="3220"/>
              </a:lnSpc>
            </a:pPr>
            <a:r>
              <a:rPr sz="2800" b="1" i="0">
                <a:solidFill>
                  <a:srgbClr val="1E2D44"/>
                </a:solidFill>
                <a:latin typeface="Karla"/>
              </a:rPr>
              <a:t>Imagery — Element Lift Summary</a:t>
            </a:r>
          </a:p>
        </p:txBody>
      </p:sp>
      <p:sp>
        <p:nvSpPr>
          <p:cNvPr id="4" name="TextBox 3"/>
          <p:cNvSpPr txBox="1"/>
          <p:nvPr/>
        </p:nvSpPr>
        <p:spPr>
          <a:xfrm>
            <a:off x="566928" y="1012444"/>
            <a:ext cx="11064240" cy="237363"/>
          </a:xfrm>
          <a:prstGeom prst="rect">
            <a:avLst/>
          </a:prstGeom>
          <a:noFill/>
        </p:spPr>
        <p:txBody>
          <a:bodyPr wrap="square" anchor="t" lIns="0" rIns="0" tIns="0" bIns="0"/>
          <a:lstStyle/>
          <a:p>
            <a:pPr algn="l">
              <a:spcBef>
                <a:spcPts val="0"/>
              </a:spcBef>
              <a:spcAft>
                <a:spcPts val="0"/>
              </a:spcAft>
              <a:lnSpc>
                <a:spcPts val="1725"/>
              </a:lnSpc>
            </a:pPr>
            <a:r>
              <a:rPr sz="1500" b="0" i="0">
                <a:solidFill>
                  <a:srgbClr val="617086"/>
                </a:solidFill>
                <a:latin typeface="Karla"/>
              </a:rPr>
              <a:t>Splash High leads both groups; Swipe Low ranks last.</a:t>
            </a:r>
          </a:p>
        </p:txBody>
      </p:sp>
      <p:sp>
        <p:nvSpPr>
          <p:cNvPr id="5" name="Rectangle 4"/>
          <p:cNvSpPr/>
          <p:nvPr/>
        </p:nvSpPr>
        <p:spPr>
          <a:xfrm>
            <a:off x="566928" y="1396111"/>
            <a:ext cx="11064240" cy="292608"/>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IMAGERY</a:t>
            </a:r>
          </a:p>
        </p:txBody>
      </p:sp>
      <p:sp>
        <p:nvSpPr>
          <p:cNvPr id="6" name="TextBox 5"/>
          <p:cNvSpPr txBox="1"/>
          <p:nvPr/>
        </p:nvSpPr>
        <p:spPr>
          <a:xfrm>
            <a:off x="566928" y="1688719"/>
            <a:ext cx="6812279" cy="329184"/>
          </a:xfrm>
          <a:prstGeom prst="rect">
            <a:avLst/>
          </a:prstGeom>
          <a:noFill/>
        </p:spPr>
        <p:txBody>
          <a:bodyPr wrap="square" anchor="ctr" lIns="0" rIns="0" tIns="0" bIns="0"/>
          <a:lstStyle/>
          <a:p>
            <a:pPr algn="l">
              <a:spcBef>
                <a:spcPts val="0"/>
              </a:spcBef>
              <a:spcAft>
                <a:spcPts val="0"/>
              </a:spcAft>
              <a:lnSpc>
                <a:spcPts val="1380"/>
              </a:lnSpc>
            </a:pPr>
            <a:r>
              <a:rPr sz="1200" b="1" i="0">
                <a:solidFill>
                  <a:srgbClr val="1E2D44"/>
                </a:solidFill>
                <a:latin typeface="Karla"/>
              </a:rPr>
              <a:t>Element</a:t>
            </a:r>
          </a:p>
        </p:txBody>
      </p:sp>
      <p:sp>
        <p:nvSpPr>
          <p:cNvPr id="7" name="TextBox 6"/>
          <p:cNvSpPr txBox="1"/>
          <p:nvPr/>
        </p:nvSpPr>
        <p:spPr>
          <a:xfrm>
            <a:off x="739749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Overall</a:t>
            </a:r>
          </a:p>
        </p:txBody>
      </p:sp>
      <p:sp>
        <p:nvSpPr>
          <p:cNvPr id="8" name="TextBox 7"/>
          <p:cNvSpPr txBox="1"/>
          <p:nvPr/>
        </p:nvSpPr>
        <p:spPr>
          <a:xfrm>
            <a:off x="881481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Non-users</a:t>
            </a:r>
          </a:p>
        </p:txBody>
      </p:sp>
      <p:sp>
        <p:nvSpPr>
          <p:cNvPr id="9" name="TextBox 8"/>
          <p:cNvSpPr txBox="1"/>
          <p:nvPr/>
        </p:nvSpPr>
        <p:spPr>
          <a:xfrm>
            <a:off x="10232136"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Dove users</a:t>
            </a:r>
          </a:p>
        </p:txBody>
      </p:sp>
      <p:sp>
        <p:nvSpPr>
          <p:cNvPr id="10" name="Rectangle 9"/>
          <p:cNvSpPr/>
          <p:nvPr/>
        </p:nvSpPr>
        <p:spPr>
          <a:xfrm>
            <a:off x="566928" y="2017903"/>
            <a:ext cx="11064240" cy="10972"/>
          </a:xfrm>
          <a:prstGeom prst="rect">
            <a:avLst/>
          </a:prstGeom>
          <a:solidFill>
            <a:srgbClr val="E7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7903"/>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Splash High</a:t>
            </a:r>
          </a:p>
        </p:txBody>
      </p:sp>
      <p:sp>
        <p:nvSpPr>
          <p:cNvPr id="12" name="TextBox 11"/>
          <p:cNvSpPr txBox="1"/>
          <p:nvPr/>
        </p:nvSpPr>
        <p:spPr>
          <a:xfrm>
            <a:off x="7379207" y="2017903"/>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+24</a:t>
            </a:r>
          </a:p>
        </p:txBody>
      </p:sp>
      <p:sp>
        <p:nvSpPr>
          <p:cNvPr id="13" name="TextBox 12"/>
          <p:cNvSpPr txBox="1"/>
          <p:nvPr/>
        </p:nvSpPr>
        <p:spPr>
          <a:xfrm>
            <a:off x="8796528" y="2017903"/>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+20</a:t>
            </a:r>
          </a:p>
        </p:txBody>
      </p:sp>
      <p:sp>
        <p:nvSpPr>
          <p:cNvPr id="14" name="TextBox 13"/>
          <p:cNvSpPr txBox="1"/>
          <p:nvPr/>
        </p:nvSpPr>
        <p:spPr>
          <a:xfrm>
            <a:off x="10213848" y="2017903"/>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+27</a:t>
            </a:r>
          </a:p>
        </p:txBody>
      </p:sp>
      <p:sp>
        <p:nvSpPr>
          <p:cNvPr id="15" name="Rectangle 14"/>
          <p:cNvSpPr/>
          <p:nvPr/>
        </p:nvSpPr>
        <p:spPr>
          <a:xfrm>
            <a:off x="566928" y="239463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01951"/>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Dollop High</a:t>
            </a:r>
          </a:p>
        </p:txBody>
      </p:sp>
      <p:sp>
        <p:nvSpPr>
          <p:cNvPr id="17" name="TextBox 16"/>
          <p:cNvSpPr txBox="1"/>
          <p:nvPr/>
        </p:nvSpPr>
        <p:spPr>
          <a:xfrm>
            <a:off x="7379207" y="2401951"/>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+21</a:t>
            </a:r>
          </a:p>
        </p:txBody>
      </p:sp>
      <p:sp>
        <p:nvSpPr>
          <p:cNvPr id="18" name="TextBox 17"/>
          <p:cNvSpPr txBox="1"/>
          <p:nvPr/>
        </p:nvSpPr>
        <p:spPr>
          <a:xfrm>
            <a:off x="8796528" y="2401951"/>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+17</a:t>
            </a:r>
          </a:p>
        </p:txBody>
      </p:sp>
      <p:sp>
        <p:nvSpPr>
          <p:cNvPr id="19" name="TextBox 18"/>
          <p:cNvSpPr txBox="1"/>
          <p:nvPr/>
        </p:nvSpPr>
        <p:spPr>
          <a:xfrm>
            <a:off x="10213848" y="2401951"/>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+25</a:t>
            </a:r>
          </a:p>
        </p:txBody>
      </p:sp>
      <p:sp>
        <p:nvSpPr>
          <p:cNvPr id="20" name="Rectangle 19"/>
          <p:cNvSpPr/>
          <p:nvPr/>
        </p:nvSpPr>
        <p:spPr>
          <a:xfrm>
            <a:off x="566928" y="2778683"/>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785999"/>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Dollop Standard</a:t>
            </a:r>
          </a:p>
        </p:txBody>
      </p:sp>
      <p:sp>
        <p:nvSpPr>
          <p:cNvPr id="22" name="TextBox 21"/>
          <p:cNvSpPr txBox="1"/>
          <p:nvPr/>
        </p:nvSpPr>
        <p:spPr>
          <a:xfrm>
            <a:off x="7379207" y="2785999"/>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+20</a:t>
            </a:r>
          </a:p>
        </p:txBody>
      </p:sp>
      <p:sp>
        <p:nvSpPr>
          <p:cNvPr id="23" name="TextBox 22"/>
          <p:cNvSpPr txBox="1"/>
          <p:nvPr/>
        </p:nvSpPr>
        <p:spPr>
          <a:xfrm>
            <a:off x="8796528" y="2785999"/>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+18</a:t>
            </a:r>
          </a:p>
        </p:txBody>
      </p:sp>
      <p:sp>
        <p:nvSpPr>
          <p:cNvPr id="24" name="TextBox 23"/>
          <p:cNvSpPr txBox="1"/>
          <p:nvPr/>
        </p:nvSpPr>
        <p:spPr>
          <a:xfrm>
            <a:off x="10213848" y="2785999"/>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+21</a:t>
            </a:r>
          </a:p>
        </p:txBody>
      </p:sp>
      <p:sp>
        <p:nvSpPr>
          <p:cNvPr id="25" name="Rectangle 24"/>
          <p:cNvSpPr/>
          <p:nvPr/>
        </p:nvSpPr>
        <p:spPr>
          <a:xfrm>
            <a:off x="566928" y="316273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170046"/>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Splash Standard</a:t>
            </a:r>
          </a:p>
        </p:txBody>
      </p:sp>
      <p:sp>
        <p:nvSpPr>
          <p:cNvPr id="27" name="TextBox 26"/>
          <p:cNvSpPr txBox="1"/>
          <p:nvPr/>
        </p:nvSpPr>
        <p:spPr>
          <a:xfrm>
            <a:off x="7379207" y="3170046"/>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+19</a:t>
            </a:r>
          </a:p>
        </p:txBody>
      </p:sp>
      <p:sp>
        <p:nvSpPr>
          <p:cNvPr id="28" name="TextBox 27"/>
          <p:cNvSpPr txBox="1"/>
          <p:nvPr/>
        </p:nvSpPr>
        <p:spPr>
          <a:xfrm>
            <a:off x="8796528" y="3170046"/>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+18</a:t>
            </a:r>
          </a:p>
        </p:txBody>
      </p:sp>
      <p:sp>
        <p:nvSpPr>
          <p:cNvPr id="29" name="TextBox 28"/>
          <p:cNvSpPr txBox="1"/>
          <p:nvPr/>
        </p:nvSpPr>
        <p:spPr>
          <a:xfrm>
            <a:off x="10213848" y="3170046"/>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+20</a:t>
            </a:r>
          </a:p>
        </p:txBody>
      </p:sp>
      <p:sp>
        <p:nvSpPr>
          <p:cNvPr id="30" name="Rectangle 29"/>
          <p:cNvSpPr/>
          <p:nvPr/>
        </p:nvSpPr>
        <p:spPr>
          <a:xfrm>
            <a:off x="566928" y="354677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554094"/>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Swipe High</a:t>
            </a:r>
          </a:p>
        </p:txBody>
      </p:sp>
      <p:sp>
        <p:nvSpPr>
          <p:cNvPr id="32" name="TextBox 31"/>
          <p:cNvSpPr txBox="1"/>
          <p:nvPr/>
        </p:nvSpPr>
        <p:spPr>
          <a:xfrm>
            <a:off x="7379207" y="3554094"/>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+19</a:t>
            </a:r>
          </a:p>
        </p:txBody>
      </p:sp>
      <p:sp>
        <p:nvSpPr>
          <p:cNvPr id="33" name="TextBox 32"/>
          <p:cNvSpPr txBox="1"/>
          <p:nvPr/>
        </p:nvSpPr>
        <p:spPr>
          <a:xfrm>
            <a:off x="8796528" y="3554094"/>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+14</a:t>
            </a:r>
          </a:p>
        </p:txBody>
      </p:sp>
      <p:sp>
        <p:nvSpPr>
          <p:cNvPr id="34" name="TextBox 33"/>
          <p:cNvSpPr txBox="1"/>
          <p:nvPr/>
        </p:nvSpPr>
        <p:spPr>
          <a:xfrm>
            <a:off x="10213848" y="3554094"/>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+24</a:t>
            </a:r>
          </a:p>
        </p:txBody>
      </p:sp>
      <p:sp>
        <p:nvSpPr>
          <p:cNvPr id="35" name="Rectangle 34"/>
          <p:cNvSpPr/>
          <p:nvPr/>
        </p:nvSpPr>
        <p:spPr>
          <a:xfrm>
            <a:off x="566928" y="3930827"/>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3938143"/>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Splash Low</a:t>
            </a:r>
          </a:p>
        </p:txBody>
      </p:sp>
      <p:sp>
        <p:nvSpPr>
          <p:cNvPr id="37" name="TextBox 36"/>
          <p:cNvSpPr txBox="1"/>
          <p:nvPr/>
        </p:nvSpPr>
        <p:spPr>
          <a:xfrm>
            <a:off x="7379207" y="3938143"/>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+14</a:t>
            </a:r>
          </a:p>
        </p:txBody>
      </p:sp>
      <p:sp>
        <p:nvSpPr>
          <p:cNvPr id="38" name="TextBox 37"/>
          <p:cNvSpPr txBox="1"/>
          <p:nvPr/>
        </p:nvSpPr>
        <p:spPr>
          <a:xfrm>
            <a:off x="8796528" y="3938143"/>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+13</a:t>
            </a:r>
          </a:p>
        </p:txBody>
      </p:sp>
      <p:sp>
        <p:nvSpPr>
          <p:cNvPr id="39" name="TextBox 38"/>
          <p:cNvSpPr txBox="1"/>
          <p:nvPr/>
        </p:nvSpPr>
        <p:spPr>
          <a:xfrm>
            <a:off x="10213848" y="3938143"/>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+14</a:t>
            </a:r>
          </a:p>
        </p:txBody>
      </p:sp>
      <p:sp>
        <p:nvSpPr>
          <p:cNvPr id="40" name="Rectangle 39"/>
          <p:cNvSpPr/>
          <p:nvPr/>
        </p:nvSpPr>
        <p:spPr>
          <a:xfrm>
            <a:off x="566928" y="431487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4322191"/>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Swipe Standard</a:t>
            </a:r>
          </a:p>
        </p:txBody>
      </p:sp>
      <p:sp>
        <p:nvSpPr>
          <p:cNvPr id="42" name="TextBox 41"/>
          <p:cNvSpPr txBox="1"/>
          <p:nvPr/>
        </p:nvSpPr>
        <p:spPr>
          <a:xfrm>
            <a:off x="7379207" y="4322191"/>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+13</a:t>
            </a:r>
          </a:p>
        </p:txBody>
      </p:sp>
      <p:sp>
        <p:nvSpPr>
          <p:cNvPr id="43" name="TextBox 42"/>
          <p:cNvSpPr txBox="1"/>
          <p:nvPr/>
        </p:nvSpPr>
        <p:spPr>
          <a:xfrm>
            <a:off x="8796528" y="4322191"/>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+11</a:t>
            </a:r>
          </a:p>
        </p:txBody>
      </p:sp>
      <p:sp>
        <p:nvSpPr>
          <p:cNvPr id="44" name="TextBox 43"/>
          <p:cNvSpPr txBox="1"/>
          <p:nvPr/>
        </p:nvSpPr>
        <p:spPr>
          <a:xfrm>
            <a:off x="10213848" y="4322191"/>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+15</a:t>
            </a:r>
          </a:p>
        </p:txBody>
      </p:sp>
      <p:sp>
        <p:nvSpPr>
          <p:cNvPr id="45" name="Rectangle 44"/>
          <p:cNvSpPr/>
          <p:nvPr/>
        </p:nvSpPr>
        <p:spPr>
          <a:xfrm>
            <a:off x="566928" y="4698923"/>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4706239"/>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Dollop Low</a:t>
            </a:r>
          </a:p>
        </p:txBody>
      </p:sp>
      <p:sp>
        <p:nvSpPr>
          <p:cNvPr id="47" name="TextBox 46"/>
          <p:cNvSpPr txBox="1"/>
          <p:nvPr/>
        </p:nvSpPr>
        <p:spPr>
          <a:xfrm>
            <a:off x="7379207" y="4706239"/>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+12</a:t>
            </a:r>
          </a:p>
        </p:txBody>
      </p:sp>
      <p:sp>
        <p:nvSpPr>
          <p:cNvPr id="48" name="TextBox 47"/>
          <p:cNvSpPr txBox="1"/>
          <p:nvPr/>
        </p:nvSpPr>
        <p:spPr>
          <a:xfrm>
            <a:off x="8796528" y="4706239"/>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+9</a:t>
            </a:r>
          </a:p>
        </p:txBody>
      </p:sp>
      <p:sp>
        <p:nvSpPr>
          <p:cNvPr id="49" name="TextBox 48"/>
          <p:cNvSpPr txBox="1"/>
          <p:nvPr/>
        </p:nvSpPr>
        <p:spPr>
          <a:xfrm>
            <a:off x="10213848" y="4706239"/>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+14</a:t>
            </a:r>
          </a:p>
        </p:txBody>
      </p:sp>
      <p:sp>
        <p:nvSpPr>
          <p:cNvPr id="50" name="Rectangle 49"/>
          <p:cNvSpPr/>
          <p:nvPr/>
        </p:nvSpPr>
        <p:spPr>
          <a:xfrm>
            <a:off x="566928" y="508297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66928" y="5090287"/>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Swipe Low</a:t>
            </a:r>
          </a:p>
        </p:txBody>
      </p:sp>
      <p:sp>
        <p:nvSpPr>
          <p:cNvPr id="52" name="TextBox 51"/>
          <p:cNvSpPr txBox="1"/>
          <p:nvPr/>
        </p:nvSpPr>
        <p:spPr>
          <a:xfrm>
            <a:off x="7379207" y="5090287"/>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+8</a:t>
            </a:r>
          </a:p>
        </p:txBody>
      </p:sp>
      <p:sp>
        <p:nvSpPr>
          <p:cNvPr id="53" name="TextBox 52"/>
          <p:cNvSpPr txBox="1"/>
          <p:nvPr/>
        </p:nvSpPr>
        <p:spPr>
          <a:xfrm>
            <a:off x="8796528" y="5090287"/>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+8</a:t>
            </a:r>
          </a:p>
        </p:txBody>
      </p:sp>
      <p:sp>
        <p:nvSpPr>
          <p:cNvPr id="54" name="TextBox 53"/>
          <p:cNvSpPr txBox="1"/>
          <p:nvPr/>
        </p:nvSpPr>
        <p:spPr>
          <a:xfrm>
            <a:off x="10213848" y="5090287"/>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+9</a:t>
            </a:r>
          </a:p>
        </p:txBody>
      </p:sp>
      <p:sp>
        <p:nvSpPr>
          <p:cNvPr id="55" name="Rectangle 54"/>
          <p:cNvSpPr/>
          <p:nvPr/>
        </p:nvSpPr>
        <p:spPr>
          <a:xfrm>
            <a:off x="566928" y="546701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58" name="TextBox 5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566928" y="512064"/>
            <a:ext cx="11064240" cy="427228"/>
          </a:xfrm>
          <a:prstGeom prst="rect">
            <a:avLst/>
          </a:prstGeom>
          <a:noFill/>
        </p:spPr>
        <p:txBody>
          <a:bodyPr wrap="square" anchor="t" lIns="0" rIns="0" tIns="0" bIns="0"/>
          <a:lstStyle/>
          <a:p>
            <a:pPr algn="l">
              <a:spcBef>
                <a:spcPts val="0"/>
              </a:spcBef>
              <a:spcAft>
                <a:spcPts val="0"/>
              </a:spcAft>
              <a:lnSpc>
                <a:spcPts val="3220"/>
              </a:lnSpc>
            </a:pPr>
            <a:r>
              <a:rPr sz="2800" b="1" i="0">
                <a:solidFill>
                  <a:srgbClr val="1E2D44"/>
                </a:solidFill>
                <a:latin typeface="Karla"/>
              </a:rPr>
              <a:t>Variant — Element Lift Summary</a:t>
            </a:r>
          </a:p>
        </p:txBody>
      </p:sp>
      <p:sp>
        <p:nvSpPr>
          <p:cNvPr id="4" name="TextBox 3"/>
          <p:cNvSpPr txBox="1"/>
          <p:nvPr/>
        </p:nvSpPr>
        <p:spPr>
          <a:xfrm>
            <a:off x="566928" y="1012444"/>
            <a:ext cx="11064240" cy="237363"/>
          </a:xfrm>
          <a:prstGeom prst="rect">
            <a:avLst/>
          </a:prstGeom>
          <a:noFill/>
        </p:spPr>
        <p:txBody>
          <a:bodyPr wrap="square" anchor="t" lIns="0" rIns="0" tIns="0" bIns="0"/>
          <a:lstStyle/>
          <a:p>
            <a:pPr algn="l">
              <a:spcBef>
                <a:spcPts val="0"/>
              </a:spcBef>
              <a:spcAft>
                <a:spcPts val="0"/>
              </a:spcAft>
              <a:lnSpc>
                <a:spcPts val="1725"/>
              </a:lnSpc>
            </a:pPr>
            <a:r>
              <a:rPr sz="1500" b="0" i="0">
                <a:solidFill>
                  <a:srgbClr val="617086"/>
                </a:solidFill>
                <a:latin typeface="Karla"/>
              </a:rPr>
              <a:t>Non-users favor Variant Left Low; Dove users favor Variant Ctr Low.</a:t>
            </a:r>
          </a:p>
        </p:txBody>
      </p:sp>
      <p:sp>
        <p:nvSpPr>
          <p:cNvPr id="5" name="Rectangle 4"/>
          <p:cNvSpPr/>
          <p:nvPr/>
        </p:nvSpPr>
        <p:spPr>
          <a:xfrm>
            <a:off x="566928" y="1396111"/>
            <a:ext cx="11064240" cy="292608"/>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VARIANT</a:t>
            </a:r>
          </a:p>
        </p:txBody>
      </p:sp>
      <p:sp>
        <p:nvSpPr>
          <p:cNvPr id="6" name="TextBox 5"/>
          <p:cNvSpPr txBox="1"/>
          <p:nvPr/>
        </p:nvSpPr>
        <p:spPr>
          <a:xfrm>
            <a:off x="566928" y="1688719"/>
            <a:ext cx="6812279" cy="329184"/>
          </a:xfrm>
          <a:prstGeom prst="rect">
            <a:avLst/>
          </a:prstGeom>
          <a:noFill/>
        </p:spPr>
        <p:txBody>
          <a:bodyPr wrap="square" anchor="ctr" lIns="0" rIns="0" tIns="0" bIns="0"/>
          <a:lstStyle/>
          <a:p>
            <a:pPr algn="l">
              <a:spcBef>
                <a:spcPts val="0"/>
              </a:spcBef>
              <a:spcAft>
                <a:spcPts val="0"/>
              </a:spcAft>
              <a:lnSpc>
                <a:spcPts val="1380"/>
              </a:lnSpc>
            </a:pPr>
            <a:r>
              <a:rPr sz="1200" b="1" i="0">
                <a:solidFill>
                  <a:srgbClr val="1E2D44"/>
                </a:solidFill>
                <a:latin typeface="Karla"/>
              </a:rPr>
              <a:t>Element</a:t>
            </a:r>
          </a:p>
        </p:txBody>
      </p:sp>
      <p:sp>
        <p:nvSpPr>
          <p:cNvPr id="7" name="TextBox 6"/>
          <p:cNvSpPr txBox="1"/>
          <p:nvPr/>
        </p:nvSpPr>
        <p:spPr>
          <a:xfrm>
            <a:off x="739749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Overall</a:t>
            </a:r>
          </a:p>
        </p:txBody>
      </p:sp>
      <p:sp>
        <p:nvSpPr>
          <p:cNvPr id="8" name="TextBox 7"/>
          <p:cNvSpPr txBox="1"/>
          <p:nvPr/>
        </p:nvSpPr>
        <p:spPr>
          <a:xfrm>
            <a:off x="881481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Non-users</a:t>
            </a:r>
          </a:p>
        </p:txBody>
      </p:sp>
      <p:sp>
        <p:nvSpPr>
          <p:cNvPr id="9" name="TextBox 8"/>
          <p:cNvSpPr txBox="1"/>
          <p:nvPr/>
        </p:nvSpPr>
        <p:spPr>
          <a:xfrm>
            <a:off x="10232136"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Dove users</a:t>
            </a:r>
          </a:p>
        </p:txBody>
      </p:sp>
      <p:sp>
        <p:nvSpPr>
          <p:cNvPr id="10" name="Rectangle 9"/>
          <p:cNvSpPr/>
          <p:nvPr/>
        </p:nvSpPr>
        <p:spPr>
          <a:xfrm>
            <a:off x="566928" y="2017903"/>
            <a:ext cx="11064240" cy="10972"/>
          </a:xfrm>
          <a:prstGeom prst="rect">
            <a:avLst/>
          </a:prstGeom>
          <a:solidFill>
            <a:srgbClr val="E7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7903"/>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Variant Ctr Low</a:t>
            </a:r>
          </a:p>
        </p:txBody>
      </p:sp>
      <p:sp>
        <p:nvSpPr>
          <p:cNvPr id="12" name="TextBox 11"/>
          <p:cNvSpPr txBox="1"/>
          <p:nvPr/>
        </p:nvSpPr>
        <p:spPr>
          <a:xfrm>
            <a:off x="7379207"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+29</a:t>
            </a:r>
          </a:p>
        </p:txBody>
      </p:sp>
      <p:sp>
        <p:nvSpPr>
          <p:cNvPr id="13" name="TextBox 12"/>
          <p:cNvSpPr txBox="1"/>
          <p:nvPr/>
        </p:nvSpPr>
        <p:spPr>
          <a:xfrm>
            <a:off x="879652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+25</a:t>
            </a:r>
          </a:p>
        </p:txBody>
      </p:sp>
      <p:sp>
        <p:nvSpPr>
          <p:cNvPr id="14" name="TextBox 13"/>
          <p:cNvSpPr txBox="1"/>
          <p:nvPr/>
        </p:nvSpPr>
        <p:spPr>
          <a:xfrm>
            <a:off x="1021384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+34</a:t>
            </a:r>
          </a:p>
        </p:txBody>
      </p:sp>
      <p:sp>
        <p:nvSpPr>
          <p:cNvPr id="15" name="Rectangle 14"/>
          <p:cNvSpPr/>
          <p:nvPr/>
        </p:nvSpPr>
        <p:spPr>
          <a:xfrm>
            <a:off x="566928" y="243121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38527"/>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Variant Left Low</a:t>
            </a:r>
          </a:p>
        </p:txBody>
      </p:sp>
      <p:sp>
        <p:nvSpPr>
          <p:cNvPr id="17" name="TextBox 16"/>
          <p:cNvSpPr txBox="1"/>
          <p:nvPr/>
        </p:nvSpPr>
        <p:spPr>
          <a:xfrm>
            <a:off x="7379207"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+28</a:t>
            </a:r>
          </a:p>
        </p:txBody>
      </p:sp>
      <p:sp>
        <p:nvSpPr>
          <p:cNvPr id="18" name="TextBox 17"/>
          <p:cNvSpPr txBox="1"/>
          <p:nvPr/>
        </p:nvSpPr>
        <p:spPr>
          <a:xfrm>
            <a:off x="879652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+27</a:t>
            </a:r>
          </a:p>
        </p:txBody>
      </p:sp>
      <p:sp>
        <p:nvSpPr>
          <p:cNvPr id="19" name="TextBox 18"/>
          <p:cNvSpPr txBox="1"/>
          <p:nvPr/>
        </p:nvSpPr>
        <p:spPr>
          <a:xfrm>
            <a:off x="1021384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+30</a:t>
            </a:r>
          </a:p>
        </p:txBody>
      </p:sp>
      <p:sp>
        <p:nvSpPr>
          <p:cNvPr id="20" name="Rectangle 19"/>
          <p:cNvSpPr/>
          <p:nvPr/>
        </p:nvSpPr>
        <p:spPr>
          <a:xfrm>
            <a:off x="566928" y="285183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859151"/>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Variant Ctr Top Lowered</a:t>
            </a:r>
          </a:p>
        </p:txBody>
      </p:sp>
      <p:sp>
        <p:nvSpPr>
          <p:cNvPr id="22" name="TextBox 21"/>
          <p:cNvSpPr txBox="1"/>
          <p:nvPr/>
        </p:nvSpPr>
        <p:spPr>
          <a:xfrm>
            <a:off x="7379207"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+21</a:t>
            </a:r>
          </a:p>
        </p:txBody>
      </p:sp>
      <p:sp>
        <p:nvSpPr>
          <p:cNvPr id="23" name="TextBox 22"/>
          <p:cNvSpPr txBox="1"/>
          <p:nvPr/>
        </p:nvSpPr>
        <p:spPr>
          <a:xfrm>
            <a:off x="879652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+22</a:t>
            </a:r>
          </a:p>
        </p:txBody>
      </p:sp>
      <p:sp>
        <p:nvSpPr>
          <p:cNvPr id="24" name="TextBox 23"/>
          <p:cNvSpPr txBox="1"/>
          <p:nvPr/>
        </p:nvSpPr>
        <p:spPr>
          <a:xfrm>
            <a:off x="1021384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+20</a:t>
            </a:r>
          </a:p>
        </p:txBody>
      </p:sp>
      <p:sp>
        <p:nvSpPr>
          <p:cNvPr id="25" name="Rectangle 24"/>
          <p:cNvSpPr/>
          <p:nvPr/>
        </p:nvSpPr>
        <p:spPr>
          <a:xfrm>
            <a:off x="566928" y="327245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279775"/>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Variant Left Top</a:t>
            </a:r>
          </a:p>
        </p:txBody>
      </p:sp>
      <p:sp>
        <p:nvSpPr>
          <p:cNvPr id="27" name="TextBox 26"/>
          <p:cNvSpPr txBox="1"/>
          <p:nvPr/>
        </p:nvSpPr>
        <p:spPr>
          <a:xfrm>
            <a:off x="7379207"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+19</a:t>
            </a:r>
          </a:p>
        </p:txBody>
      </p:sp>
      <p:sp>
        <p:nvSpPr>
          <p:cNvPr id="28" name="TextBox 27"/>
          <p:cNvSpPr txBox="1"/>
          <p:nvPr/>
        </p:nvSpPr>
        <p:spPr>
          <a:xfrm>
            <a:off x="879652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+18</a:t>
            </a:r>
          </a:p>
        </p:txBody>
      </p:sp>
      <p:sp>
        <p:nvSpPr>
          <p:cNvPr id="29" name="TextBox 28"/>
          <p:cNvSpPr txBox="1"/>
          <p:nvPr/>
        </p:nvSpPr>
        <p:spPr>
          <a:xfrm>
            <a:off x="1021384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+19</a:t>
            </a:r>
          </a:p>
        </p:txBody>
      </p:sp>
      <p:sp>
        <p:nvSpPr>
          <p:cNvPr id="30" name="Rectangle 29"/>
          <p:cNvSpPr/>
          <p:nvPr/>
        </p:nvSpPr>
        <p:spPr>
          <a:xfrm>
            <a:off x="566928" y="3693083"/>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700399"/>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Variant Ctr Top</a:t>
            </a:r>
          </a:p>
        </p:txBody>
      </p:sp>
      <p:sp>
        <p:nvSpPr>
          <p:cNvPr id="32" name="TextBox 31"/>
          <p:cNvSpPr txBox="1"/>
          <p:nvPr/>
        </p:nvSpPr>
        <p:spPr>
          <a:xfrm>
            <a:off x="7379207"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+19</a:t>
            </a:r>
          </a:p>
        </p:txBody>
      </p:sp>
      <p:sp>
        <p:nvSpPr>
          <p:cNvPr id="33" name="TextBox 32"/>
          <p:cNvSpPr txBox="1"/>
          <p:nvPr/>
        </p:nvSpPr>
        <p:spPr>
          <a:xfrm>
            <a:off x="8796528"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+20</a:t>
            </a:r>
          </a:p>
        </p:txBody>
      </p:sp>
      <p:sp>
        <p:nvSpPr>
          <p:cNvPr id="34" name="TextBox 33"/>
          <p:cNvSpPr txBox="1"/>
          <p:nvPr/>
        </p:nvSpPr>
        <p:spPr>
          <a:xfrm>
            <a:off x="10213848"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+18</a:t>
            </a:r>
          </a:p>
        </p:txBody>
      </p:sp>
      <p:sp>
        <p:nvSpPr>
          <p:cNvPr id="35" name="Rectangle 34"/>
          <p:cNvSpPr/>
          <p:nvPr/>
        </p:nvSpPr>
        <p:spPr>
          <a:xfrm>
            <a:off x="566928" y="4113707"/>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4121022"/>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Variant Left Top Lowered</a:t>
            </a:r>
          </a:p>
        </p:txBody>
      </p:sp>
      <p:sp>
        <p:nvSpPr>
          <p:cNvPr id="37" name="TextBox 36"/>
          <p:cNvSpPr txBox="1"/>
          <p:nvPr/>
        </p:nvSpPr>
        <p:spPr>
          <a:xfrm>
            <a:off x="7379207" y="4121022"/>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+18</a:t>
            </a:r>
          </a:p>
        </p:txBody>
      </p:sp>
      <p:sp>
        <p:nvSpPr>
          <p:cNvPr id="38" name="TextBox 37"/>
          <p:cNvSpPr txBox="1"/>
          <p:nvPr/>
        </p:nvSpPr>
        <p:spPr>
          <a:xfrm>
            <a:off x="8796528" y="4121022"/>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+19</a:t>
            </a:r>
          </a:p>
        </p:txBody>
      </p:sp>
      <p:sp>
        <p:nvSpPr>
          <p:cNvPr id="39" name="TextBox 38"/>
          <p:cNvSpPr txBox="1"/>
          <p:nvPr/>
        </p:nvSpPr>
        <p:spPr>
          <a:xfrm>
            <a:off x="10213848" y="4121022"/>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+18</a:t>
            </a:r>
          </a:p>
        </p:txBody>
      </p:sp>
      <p:sp>
        <p:nvSpPr>
          <p:cNvPr id="40" name="Rectangle 39"/>
          <p:cNvSpPr/>
          <p:nvPr/>
        </p:nvSpPr>
        <p:spPr>
          <a:xfrm>
            <a:off x="566928" y="453433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43" name="TextBox 4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566928" y="512064"/>
            <a:ext cx="11064240" cy="427228"/>
          </a:xfrm>
          <a:prstGeom prst="rect">
            <a:avLst/>
          </a:prstGeom>
          <a:noFill/>
        </p:spPr>
        <p:txBody>
          <a:bodyPr wrap="square" anchor="t" lIns="0" rIns="0" tIns="0" bIns="0"/>
          <a:lstStyle/>
          <a:p>
            <a:pPr algn="l">
              <a:spcBef>
                <a:spcPts val="0"/>
              </a:spcBef>
              <a:spcAft>
                <a:spcPts val="0"/>
              </a:spcAft>
              <a:lnSpc>
                <a:spcPts val="3220"/>
              </a:lnSpc>
            </a:pPr>
            <a:r>
              <a:rPr sz="2800" b="1" i="0">
                <a:solidFill>
                  <a:srgbClr val="1E2D44"/>
                </a:solidFill>
                <a:latin typeface="Karla"/>
              </a:rPr>
              <a:t>Derm Seal — Element Lift Summary</a:t>
            </a:r>
          </a:p>
        </p:txBody>
      </p:sp>
      <p:sp>
        <p:nvSpPr>
          <p:cNvPr id="4" name="TextBox 3"/>
          <p:cNvSpPr txBox="1"/>
          <p:nvPr/>
        </p:nvSpPr>
        <p:spPr>
          <a:xfrm>
            <a:off x="566928" y="1012444"/>
            <a:ext cx="11064240" cy="237363"/>
          </a:xfrm>
          <a:prstGeom prst="rect">
            <a:avLst/>
          </a:prstGeom>
          <a:noFill/>
        </p:spPr>
        <p:txBody>
          <a:bodyPr wrap="square" anchor="t" lIns="0" rIns="0" tIns="0" bIns="0"/>
          <a:lstStyle/>
          <a:p>
            <a:pPr algn="l">
              <a:spcBef>
                <a:spcPts val="0"/>
              </a:spcBef>
              <a:spcAft>
                <a:spcPts val="0"/>
              </a:spcAft>
              <a:lnSpc>
                <a:spcPts val="1725"/>
              </a:lnSpc>
            </a:pPr>
            <a:r>
              <a:rPr sz="1500" b="0" i="0">
                <a:solidFill>
                  <a:srgbClr val="617086"/>
                </a:solidFill>
                <a:latin typeface="Karla"/>
              </a:rPr>
              <a:t>Derm Seal Variant Top Left leads both groups; Derm Seal Gold High ranks last.</a:t>
            </a:r>
          </a:p>
        </p:txBody>
      </p:sp>
      <p:sp>
        <p:nvSpPr>
          <p:cNvPr id="5" name="Rectangle 4"/>
          <p:cNvSpPr/>
          <p:nvPr/>
        </p:nvSpPr>
        <p:spPr>
          <a:xfrm>
            <a:off x="566928" y="1396111"/>
            <a:ext cx="11064240" cy="292608"/>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DERM SEAL</a:t>
            </a:r>
          </a:p>
        </p:txBody>
      </p:sp>
      <p:sp>
        <p:nvSpPr>
          <p:cNvPr id="6" name="TextBox 5"/>
          <p:cNvSpPr txBox="1"/>
          <p:nvPr/>
        </p:nvSpPr>
        <p:spPr>
          <a:xfrm>
            <a:off x="566928" y="1688719"/>
            <a:ext cx="6812279" cy="329184"/>
          </a:xfrm>
          <a:prstGeom prst="rect">
            <a:avLst/>
          </a:prstGeom>
          <a:noFill/>
        </p:spPr>
        <p:txBody>
          <a:bodyPr wrap="square" anchor="ctr" lIns="0" rIns="0" tIns="0" bIns="0"/>
          <a:lstStyle/>
          <a:p>
            <a:pPr algn="l">
              <a:spcBef>
                <a:spcPts val="0"/>
              </a:spcBef>
              <a:spcAft>
                <a:spcPts val="0"/>
              </a:spcAft>
              <a:lnSpc>
                <a:spcPts val="1380"/>
              </a:lnSpc>
            </a:pPr>
            <a:r>
              <a:rPr sz="1200" b="1" i="0">
                <a:solidFill>
                  <a:srgbClr val="1E2D44"/>
                </a:solidFill>
                <a:latin typeface="Karla"/>
              </a:rPr>
              <a:t>Element</a:t>
            </a:r>
          </a:p>
        </p:txBody>
      </p:sp>
      <p:sp>
        <p:nvSpPr>
          <p:cNvPr id="7" name="TextBox 6"/>
          <p:cNvSpPr txBox="1"/>
          <p:nvPr/>
        </p:nvSpPr>
        <p:spPr>
          <a:xfrm>
            <a:off x="739749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Overall</a:t>
            </a:r>
          </a:p>
        </p:txBody>
      </p:sp>
      <p:sp>
        <p:nvSpPr>
          <p:cNvPr id="8" name="TextBox 7"/>
          <p:cNvSpPr txBox="1"/>
          <p:nvPr/>
        </p:nvSpPr>
        <p:spPr>
          <a:xfrm>
            <a:off x="881481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Non-users</a:t>
            </a:r>
          </a:p>
        </p:txBody>
      </p:sp>
      <p:sp>
        <p:nvSpPr>
          <p:cNvPr id="9" name="TextBox 8"/>
          <p:cNvSpPr txBox="1"/>
          <p:nvPr/>
        </p:nvSpPr>
        <p:spPr>
          <a:xfrm>
            <a:off x="10232136"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Dove users</a:t>
            </a:r>
          </a:p>
        </p:txBody>
      </p:sp>
      <p:sp>
        <p:nvSpPr>
          <p:cNvPr id="10" name="Rectangle 9"/>
          <p:cNvSpPr/>
          <p:nvPr/>
        </p:nvSpPr>
        <p:spPr>
          <a:xfrm>
            <a:off x="566928" y="2017903"/>
            <a:ext cx="11064240" cy="10972"/>
          </a:xfrm>
          <a:prstGeom prst="rect">
            <a:avLst/>
          </a:prstGeom>
          <a:solidFill>
            <a:srgbClr val="E7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7903"/>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Derm Seal Variant Top Left</a:t>
            </a:r>
          </a:p>
        </p:txBody>
      </p:sp>
      <p:sp>
        <p:nvSpPr>
          <p:cNvPr id="12" name="TextBox 11"/>
          <p:cNvSpPr txBox="1"/>
          <p:nvPr/>
        </p:nvSpPr>
        <p:spPr>
          <a:xfrm>
            <a:off x="7379207" y="2017903"/>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+18</a:t>
            </a:r>
          </a:p>
        </p:txBody>
      </p:sp>
      <p:sp>
        <p:nvSpPr>
          <p:cNvPr id="13" name="TextBox 12"/>
          <p:cNvSpPr txBox="1"/>
          <p:nvPr/>
        </p:nvSpPr>
        <p:spPr>
          <a:xfrm>
            <a:off x="8796528" y="2017903"/>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+15</a:t>
            </a:r>
          </a:p>
        </p:txBody>
      </p:sp>
      <p:sp>
        <p:nvSpPr>
          <p:cNvPr id="14" name="TextBox 13"/>
          <p:cNvSpPr txBox="1"/>
          <p:nvPr/>
        </p:nvSpPr>
        <p:spPr>
          <a:xfrm>
            <a:off x="10213848" y="2017903"/>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+20</a:t>
            </a:r>
          </a:p>
        </p:txBody>
      </p:sp>
      <p:sp>
        <p:nvSpPr>
          <p:cNvPr id="15" name="Rectangle 14"/>
          <p:cNvSpPr/>
          <p:nvPr/>
        </p:nvSpPr>
        <p:spPr>
          <a:xfrm>
            <a:off x="566928" y="239463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01951"/>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Derm Seal Gold Top Left</a:t>
            </a:r>
          </a:p>
        </p:txBody>
      </p:sp>
      <p:sp>
        <p:nvSpPr>
          <p:cNvPr id="17" name="TextBox 16"/>
          <p:cNvSpPr txBox="1"/>
          <p:nvPr/>
        </p:nvSpPr>
        <p:spPr>
          <a:xfrm>
            <a:off x="7379207" y="2401951"/>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+16</a:t>
            </a:r>
          </a:p>
        </p:txBody>
      </p:sp>
      <p:sp>
        <p:nvSpPr>
          <p:cNvPr id="18" name="TextBox 17"/>
          <p:cNvSpPr txBox="1"/>
          <p:nvPr/>
        </p:nvSpPr>
        <p:spPr>
          <a:xfrm>
            <a:off x="8796528" y="2401951"/>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+13</a:t>
            </a:r>
          </a:p>
        </p:txBody>
      </p:sp>
      <p:sp>
        <p:nvSpPr>
          <p:cNvPr id="19" name="TextBox 18"/>
          <p:cNvSpPr txBox="1"/>
          <p:nvPr/>
        </p:nvSpPr>
        <p:spPr>
          <a:xfrm>
            <a:off x="10213848" y="2401951"/>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+18</a:t>
            </a:r>
          </a:p>
        </p:txBody>
      </p:sp>
      <p:sp>
        <p:nvSpPr>
          <p:cNvPr id="20" name="Rectangle 19"/>
          <p:cNvSpPr/>
          <p:nvPr/>
        </p:nvSpPr>
        <p:spPr>
          <a:xfrm>
            <a:off x="566928" y="2778683"/>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785999"/>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Derm Seal Gold Low Right</a:t>
            </a:r>
          </a:p>
        </p:txBody>
      </p:sp>
      <p:sp>
        <p:nvSpPr>
          <p:cNvPr id="22" name="TextBox 21"/>
          <p:cNvSpPr txBox="1"/>
          <p:nvPr/>
        </p:nvSpPr>
        <p:spPr>
          <a:xfrm>
            <a:off x="7379207" y="2785999"/>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+9</a:t>
            </a:r>
          </a:p>
        </p:txBody>
      </p:sp>
      <p:sp>
        <p:nvSpPr>
          <p:cNvPr id="23" name="TextBox 22"/>
          <p:cNvSpPr txBox="1"/>
          <p:nvPr/>
        </p:nvSpPr>
        <p:spPr>
          <a:xfrm>
            <a:off x="8796528" y="2785999"/>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+7</a:t>
            </a:r>
          </a:p>
        </p:txBody>
      </p:sp>
      <p:sp>
        <p:nvSpPr>
          <p:cNvPr id="24" name="TextBox 23"/>
          <p:cNvSpPr txBox="1"/>
          <p:nvPr/>
        </p:nvSpPr>
        <p:spPr>
          <a:xfrm>
            <a:off x="10213848" y="2785999"/>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+10</a:t>
            </a:r>
          </a:p>
        </p:txBody>
      </p:sp>
      <p:sp>
        <p:nvSpPr>
          <p:cNvPr id="25" name="Rectangle 24"/>
          <p:cNvSpPr/>
          <p:nvPr/>
        </p:nvSpPr>
        <p:spPr>
          <a:xfrm>
            <a:off x="566928" y="316273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170046"/>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Derm Seal Gold Std</a:t>
            </a:r>
          </a:p>
        </p:txBody>
      </p:sp>
      <p:sp>
        <p:nvSpPr>
          <p:cNvPr id="27" name="TextBox 26"/>
          <p:cNvSpPr txBox="1"/>
          <p:nvPr/>
        </p:nvSpPr>
        <p:spPr>
          <a:xfrm>
            <a:off x="7379207" y="3170046"/>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+8</a:t>
            </a:r>
          </a:p>
        </p:txBody>
      </p:sp>
      <p:sp>
        <p:nvSpPr>
          <p:cNvPr id="28" name="TextBox 27"/>
          <p:cNvSpPr txBox="1"/>
          <p:nvPr/>
        </p:nvSpPr>
        <p:spPr>
          <a:xfrm>
            <a:off x="8796528" y="3170046"/>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+6</a:t>
            </a:r>
          </a:p>
        </p:txBody>
      </p:sp>
      <p:sp>
        <p:nvSpPr>
          <p:cNvPr id="29" name="TextBox 28"/>
          <p:cNvSpPr txBox="1"/>
          <p:nvPr/>
        </p:nvSpPr>
        <p:spPr>
          <a:xfrm>
            <a:off x="10213848" y="3170046"/>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+11</a:t>
            </a:r>
          </a:p>
        </p:txBody>
      </p:sp>
      <p:sp>
        <p:nvSpPr>
          <p:cNvPr id="30" name="Rectangle 29"/>
          <p:cNvSpPr/>
          <p:nvPr/>
        </p:nvSpPr>
        <p:spPr>
          <a:xfrm>
            <a:off x="566928" y="354677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554094"/>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Derm Seal Variant High</a:t>
            </a:r>
          </a:p>
        </p:txBody>
      </p:sp>
      <p:sp>
        <p:nvSpPr>
          <p:cNvPr id="32" name="TextBox 31"/>
          <p:cNvSpPr txBox="1"/>
          <p:nvPr/>
        </p:nvSpPr>
        <p:spPr>
          <a:xfrm>
            <a:off x="7379207" y="3554094"/>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+8</a:t>
            </a:r>
          </a:p>
        </p:txBody>
      </p:sp>
      <p:sp>
        <p:nvSpPr>
          <p:cNvPr id="33" name="TextBox 32"/>
          <p:cNvSpPr txBox="1"/>
          <p:nvPr/>
        </p:nvSpPr>
        <p:spPr>
          <a:xfrm>
            <a:off x="8796528" y="3554094"/>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+7</a:t>
            </a:r>
          </a:p>
        </p:txBody>
      </p:sp>
      <p:sp>
        <p:nvSpPr>
          <p:cNvPr id="34" name="TextBox 33"/>
          <p:cNvSpPr txBox="1"/>
          <p:nvPr/>
        </p:nvSpPr>
        <p:spPr>
          <a:xfrm>
            <a:off x="10213848" y="3554094"/>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+9</a:t>
            </a:r>
          </a:p>
        </p:txBody>
      </p:sp>
      <p:sp>
        <p:nvSpPr>
          <p:cNvPr id="35" name="Rectangle 34"/>
          <p:cNvSpPr/>
          <p:nvPr/>
        </p:nvSpPr>
        <p:spPr>
          <a:xfrm>
            <a:off x="566928" y="3930827"/>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3938143"/>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Derm Seal Variant Low Right</a:t>
            </a:r>
          </a:p>
        </p:txBody>
      </p:sp>
      <p:sp>
        <p:nvSpPr>
          <p:cNvPr id="37" name="TextBox 36"/>
          <p:cNvSpPr txBox="1"/>
          <p:nvPr/>
        </p:nvSpPr>
        <p:spPr>
          <a:xfrm>
            <a:off x="7379207" y="3938143"/>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+8</a:t>
            </a:r>
          </a:p>
        </p:txBody>
      </p:sp>
      <p:sp>
        <p:nvSpPr>
          <p:cNvPr id="38" name="TextBox 37"/>
          <p:cNvSpPr txBox="1"/>
          <p:nvPr/>
        </p:nvSpPr>
        <p:spPr>
          <a:xfrm>
            <a:off x="8796528" y="3938143"/>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+6</a:t>
            </a:r>
          </a:p>
        </p:txBody>
      </p:sp>
      <p:sp>
        <p:nvSpPr>
          <p:cNvPr id="39" name="TextBox 38"/>
          <p:cNvSpPr txBox="1"/>
          <p:nvPr/>
        </p:nvSpPr>
        <p:spPr>
          <a:xfrm>
            <a:off x="10213848" y="3938143"/>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+9</a:t>
            </a:r>
          </a:p>
        </p:txBody>
      </p:sp>
      <p:sp>
        <p:nvSpPr>
          <p:cNvPr id="40" name="Rectangle 39"/>
          <p:cNvSpPr/>
          <p:nvPr/>
        </p:nvSpPr>
        <p:spPr>
          <a:xfrm>
            <a:off x="566928" y="431487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4322191"/>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Derm Seal Gold High</a:t>
            </a:r>
          </a:p>
        </p:txBody>
      </p:sp>
      <p:sp>
        <p:nvSpPr>
          <p:cNvPr id="42" name="TextBox 41"/>
          <p:cNvSpPr txBox="1"/>
          <p:nvPr/>
        </p:nvSpPr>
        <p:spPr>
          <a:xfrm>
            <a:off x="7379207" y="4322191"/>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+7</a:t>
            </a:r>
          </a:p>
        </p:txBody>
      </p:sp>
      <p:sp>
        <p:nvSpPr>
          <p:cNvPr id="43" name="TextBox 42"/>
          <p:cNvSpPr txBox="1"/>
          <p:nvPr/>
        </p:nvSpPr>
        <p:spPr>
          <a:xfrm>
            <a:off x="8796528" y="4322191"/>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+5</a:t>
            </a:r>
          </a:p>
        </p:txBody>
      </p:sp>
      <p:sp>
        <p:nvSpPr>
          <p:cNvPr id="44" name="TextBox 43"/>
          <p:cNvSpPr txBox="1"/>
          <p:nvPr/>
        </p:nvSpPr>
        <p:spPr>
          <a:xfrm>
            <a:off x="10213848" y="4322191"/>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+9</a:t>
            </a:r>
          </a:p>
        </p:txBody>
      </p:sp>
      <p:sp>
        <p:nvSpPr>
          <p:cNvPr id="45" name="Rectangle 44"/>
          <p:cNvSpPr/>
          <p:nvPr/>
        </p:nvSpPr>
        <p:spPr>
          <a:xfrm>
            <a:off x="566928" y="4698923"/>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4706239"/>
            <a:ext cx="6739127" cy="384048"/>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Derm Seal Variant Std</a:t>
            </a:r>
          </a:p>
        </p:txBody>
      </p:sp>
      <p:sp>
        <p:nvSpPr>
          <p:cNvPr id="47" name="TextBox 46"/>
          <p:cNvSpPr txBox="1"/>
          <p:nvPr/>
        </p:nvSpPr>
        <p:spPr>
          <a:xfrm>
            <a:off x="7379207" y="4706239"/>
            <a:ext cx="1417320" cy="384048"/>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+7</a:t>
            </a:r>
          </a:p>
        </p:txBody>
      </p:sp>
      <p:sp>
        <p:nvSpPr>
          <p:cNvPr id="48" name="TextBox 47"/>
          <p:cNvSpPr txBox="1"/>
          <p:nvPr/>
        </p:nvSpPr>
        <p:spPr>
          <a:xfrm>
            <a:off x="8796528" y="4706239"/>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+4</a:t>
            </a:r>
          </a:p>
        </p:txBody>
      </p:sp>
      <p:sp>
        <p:nvSpPr>
          <p:cNvPr id="49" name="TextBox 48"/>
          <p:cNvSpPr txBox="1"/>
          <p:nvPr/>
        </p:nvSpPr>
        <p:spPr>
          <a:xfrm>
            <a:off x="10213848" y="4706239"/>
            <a:ext cx="1417320" cy="384048"/>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+10</a:t>
            </a:r>
          </a:p>
        </p:txBody>
      </p:sp>
      <p:sp>
        <p:nvSpPr>
          <p:cNvPr id="50" name="Rectangle 49"/>
          <p:cNvSpPr/>
          <p:nvPr/>
        </p:nvSpPr>
        <p:spPr>
          <a:xfrm>
            <a:off x="566928" y="508297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53" name="TextBox 5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566928" y="512064"/>
            <a:ext cx="11064240" cy="427228"/>
          </a:xfrm>
          <a:prstGeom prst="rect">
            <a:avLst/>
          </a:prstGeom>
          <a:noFill/>
        </p:spPr>
        <p:txBody>
          <a:bodyPr wrap="square" anchor="t" lIns="0" rIns="0" tIns="0" bIns="0"/>
          <a:lstStyle/>
          <a:p>
            <a:pPr algn="l">
              <a:spcBef>
                <a:spcPts val="0"/>
              </a:spcBef>
              <a:spcAft>
                <a:spcPts val="0"/>
              </a:spcAft>
              <a:lnSpc>
                <a:spcPts val="3220"/>
              </a:lnSpc>
            </a:pPr>
            <a:r>
              <a:rPr sz="2800" b="1" i="0">
                <a:solidFill>
                  <a:srgbClr val="1E2D44"/>
                </a:solidFill>
                <a:latin typeface="Karla"/>
              </a:rPr>
              <a:t>Loz Low Ctr — Element Lift Summary</a:t>
            </a:r>
          </a:p>
        </p:txBody>
      </p:sp>
      <p:sp>
        <p:nvSpPr>
          <p:cNvPr id="4" name="TextBox 3"/>
          <p:cNvSpPr txBox="1"/>
          <p:nvPr/>
        </p:nvSpPr>
        <p:spPr>
          <a:xfrm>
            <a:off x="566928" y="1012444"/>
            <a:ext cx="11064240" cy="237363"/>
          </a:xfrm>
          <a:prstGeom prst="rect">
            <a:avLst/>
          </a:prstGeom>
          <a:noFill/>
        </p:spPr>
        <p:txBody>
          <a:bodyPr wrap="square" anchor="t" lIns="0" rIns="0" tIns="0" bIns="0"/>
          <a:lstStyle/>
          <a:p>
            <a:pPr algn="l">
              <a:spcBef>
                <a:spcPts val="0"/>
              </a:spcBef>
              <a:spcAft>
                <a:spcPts val="0"/>
              </a:spcAft>
              <a:lnSpc>
                <a:spcPts val="1725"/>
              </a:lnSpc>
            </a:pPr>
            <a:r>
              <a:rPr sz="1500" b="0" i="0">
                <a:solidFill>
                  <a:srgbClr val="617086"/>
                </a:solidFill>
                <a:latin typeface="Karla"/>
              </a:rPr>
              <a:t>Non-users favor Loz Gold Outline Low Ctr; Dove users favor Loz Gold Fill Low Ctr.</a:t>
            </a:r>
          </a:p>
        </p:txBody>
      </p:sp>
      <p:sp>
        <p:nvSpPr>
          <p:cNvPr id="5" name="Rectangle 4"/>
          <p:cNvSpPr/>
          <p:nvPr/>
        </p:nvSpPr>
        <p:spPr>
          <a:xfrm>
            <a:off x="566928" y="1396111"/>
            <a:ext cx="11064240" cy="292608"/>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LOZ LOW CTR</a:t>
            </a:r>
          </a:p>
        </p:txBody>
      </p:sp>
      <p:sp>
        <p:nvSpPr>
          <p:cNvPr id="6" name="TextBox 5"/>
          <p:cNvSpPr txBox="1"/>
          <p:nvPr/>
        </p:nvSpPr>
        <p:spPr>
          <a:xfrm>
            <a:off x="566928" y="1688719"/>
            <a:ext cx="6812279" cy="329184"/>
          </a:xfrm>
          <a:prstGeom prst="rect">
            <a:avLst/>
          </a:prstGeom>
          <a:noFill/>
        </p:spPr>
        <p:txBody>
          <a:bodyPr wrap="square" anchor="ctr" lIns="0" rIns="0" tIns="0" bIns="0"/>
          <a:lstStyle/>
          <a:p>
            <a:pPr algn="l">
              <a:spcBef>
                <a:spcPts val="0"/>
              </a:spcBef>
              <a:spcAft>
                <a:spcPts val="0"/>
              </a:spcAft>
              <a:lnSpc>
                <a:spcPts val="1380"/>
              </a:lnSpc>
            </a:pPr>
            <a:r>
              <a:rPr sz="1200" b="1" i="0">
                <a:solidFill>
                  <a:srgbClr val="1E2D44"/>
                </a:solidFill>
                <a:latin typeface="Karla"/>
              </a:rPr>
              <a:t>Element</a:t>
            </a:r>
          </a:p>
        </p:txBody>
      </p:sp>
      <p:sp>
        <p:nvSpPr>
          <p:cNvPr id="7" name="TextBox 6"/>
          <p:cNvSpPr txBox="1"/>
          <p:nvPr/>
        </p:nvSpPr>
        <p:spPr>
          <a:xfrm>
            <a:off x="739749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Overall</a:t>
            </a:r>
          </a:p>
        </p:txBody>
      </p:sp>
      <p:sp>
        <p:nvSpPr>
          <p:cNvPr id="8" name="TextBox 7"/>
          <p:cNvSpPr txBox="1"/>
          <p:nvPr/>
        </p:nvSpPr>
        <p:spPr>
          <a:xfrm>
            <a:off x="881481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Non-users</a:t>
            </a:r>
          </a:p>
        </p:txBody>
      </p:sp>
      <p:sp>
        <p:nvSpPr>
          <p:cNvPr id="9" name="TextBox 8"/>
          <p:cNvSpPr txBox="1"/>
          <p:nvPr/>
        </p:nvSpPr>
        <p:spPr>
          <a:xfrm>
            <a:off x="10232136"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Dove users</a:t>
            </a:r>
          </a:p>
        </p:txBody>
      </p:sp>
      <p:sp>
        <p:nvSpPr>
          <p:cNvPr id="10" name="Rectangle 9"/>
          <p:cNvSpPr/>
          <p:nvPr/>
        </p:nvSpPr>
        <p:spPr>
          <a:xfrm>
            <a:off x="566928" y="2017903"/>
            <a:ext cx="11064240" cy="10972"/>
          </a:xfrm>
          <a:prstGeom prst="rect">
            <a:avLst/>
          </a:prstGeom>
          <a:solidFill>
            <a:srgbClr val="E7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7903"/>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Gold Fill Low Ctr</a:t>
            </a:r>
          </a:p>
        </p:txBody>
      </p:sp>
      <p:sp>
        <p:nvSpPr>
          <p:cNvPr id="12" name="TextBox 11"/>
          <p:cNvSpPr txBox="1"/>
          <p:nvPr/>
        </p:nvSpPr>
        <p:spPr>
          <a:xfrm>
            <a:off x="7379207"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+17</a:t>
            </a:r>
          </a:p>
        </p:txBody>
      </p:sp>
      <p:sp>
        <p:nvSpPr>
          <p:cNvPr id="13" name="TextBox 12"/>
          <p:cNvSpPr txBox="1"/>
          <p:nvPr/>
        </p:nvSpPr>
        <p:spPr>
          <a:xfrm>
            <a:off x="879652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+12</a:t>
            </a:r>
          </a:p>
        </p:txBody>
      </p:sp>
      <p:sp>
        <p:nvSpPr>
          <p:cNvPr id="14" name="TextBox 13"/>
          <p:cNvSpPr txBox="1"/>
          <p:nvPr/>
        </p:nvSpPr>
        <p:spPr>
          <a:xfrm>
            <a:off x="1021384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+22</a:t>
            </a:r>
          </a:p>
        </p:txBody>
      </p:sp>
      <p:sp>
        <p:nvSpPr>
          <p:cNvPr id="15" name="Rectangle 14"/>
          <p:cNvSpPr/>
          <p:nvPr/>
        </p:nvSpPr>
        <p:spPr>
          <a:xfrm>
            <a:off x="566928" y="243121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38527"/>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Variant Fill Low Ctr</a:t>
            </a:r>
          </a:p>
        </p:txBody>
      </p:sp>
      <p:sp>
        <p:nvSpPr>
          <p:cNvPr id="17" name="TextBox 16"/>
          <p:cNvSpPr txBox="1"/>
          <p:nvPr/>
        </p:nvSpPr>
        <p:spPr>
          <a:xfrm>
            <a:off x="7379207"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+15</a:t>
            </a:r>
          </a:p>
        </p:txBody>
      </p:sp>
      <p:sp>
        <p:nvSpPr>
          <p:cNvPr id="18" name="TextBox 17"/>
          <p:cNvSpPr txBox="1"/>
          <p:nvPr/>
        </p:nvSpPr>
        <p:spPr>
          <a:xfrm>
            <a:off x="879652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+12</a:t>
            </a:r>
          </a:p>
        </p:txBody>
      </p:sp>
      <p:sp>
        <p:nvSpPr>
          <p:cNvPr id="19" name="TextBox 18"/>
          <p:cNvSpPr txBox="1"/>
          <p:nvPr/>
        </p:nvSpPr>
        <p:spPr>
          <a:xfrm>
            <a:off x="1021384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+18</a:t>
            </a:r>
          </a:p>
        </p:txBody>
      </p:sp>
      <p:sp>
        <p:nvSpPr>
          <p:cNvPr id="20" name="Rectangle 19"/>
          <p:cNvSpPr/>
          <p:nvPr/>
        </p:nvSpPr>
        <p:spPr>
          <a:xfrm>
            <a:off x="566928" y="285183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859151"/>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Gold Outline Low Ctr</a:t>
            </a:r>
          </a:p>
        </p:txBody>
      </p:sp>
      <p:sp>
        <p:nvSpPr>
          <p:cNvPr id="22" name="TextBox 21"/>
          <p:cNvSpPr txBox="1"/>
          <p:nvPr/>
        </p:nvSpPr>
        <p:spPr>
          <a:xfrm>
            <a:off x="7379207"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+15</a:t>
            </a:r>
          </a:p>
        </p:txBody>
      </p:sp>
      <p:sp>
        <p:nvSpPr>
          <p:cNvPr id="23" name="TextBox 22"/>
          <p:cNvSpPr txBox="1"/>
          <p:nvPr/>
        </p:nvSpPr>
        <p:spPr>
          <a:xfrm>
            <a:off x="879652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+13</a:t>
            </a:r>
          </a:p>
        </p:txBody>
      </p:sp>
      <p:sp>
        <p:nvSpPr>
          <p:cNvPr id="24" name="TextBox 23"/>
          <p:cNvSpPr txBox="1"/>
          <p:nvPr/>
        </p:nvSpPr>
        <p:spPr>
          <a:xfrm>
            <a:off x="1021384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+17</a:t>
            </a:r>
          </a:p>
        </p:txBody>
      </p:sp>
      <p:sp>
        <p:nvSpPr>
          <p:cNvPr id="25" name="Rectangle 24"/>
          <p:cNvSpPr/>
          <p:nvPr/>
        </p:nvSpPr>
        <p:spPr>
          <a:xfrm>
            <a:off x="566928" y="327245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279775"/>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Variant Outline Low Ctr</a:t>
            </a:r>
          </a:p>
        </p:txBody>
      </p:sp>
      <p:sp>
        <p:nvSpPr>
          <p:cNvPr id="27" name="TextBox 26"/>
          <p:cNvSpPr txBox="1"/>
          <p:nvPr/>
        </p:nvSpPr>
        <p:spPr>
          <a:xfrm>
            <a:off x="7379207"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+14</a:t>
            </a:r>
          </a:p>
        </p:txBody>
      </p:sp>
      <p:sp>
        <p:nvSpPr>
          <p:cNvPr id="28" name="TextBox 27"/>
          <p:cNvSpPr txBox="1"/>
          <p:nvPr/>
        </p:nvSpPr>
        <p:spPr>
          <a:xfrm>
            <a:off x="879652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+10</a:t>
            </a:r>
          </a:p>
        </p:txBody>
      </p:sp>
      <p:sp>
        <p:nvSpPr>
          <p:cNvPr id="29" name="TextBox 28"/>
          <p:cNvSpPr txBox="1"/>
          <p:nvPr/>
        </p:nvSpPr>
        <p:spPr>
          <a:xfrm>
            <a:off x="1021384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+18</a:t>
            </a:r>
          </a:p>
        </p:txBody>
      </p:sp>
      <p:sp>
        <p:nvSpPr>
          <p:cNvPr id="30" name="Rectangle 29"/>
          <p:cNvSpPr/>
          <p:nvPr/>
        </p:nvSpPr>
        <p:spPr>
          <a:xfrm>
            <a:off x="566928" y="3693083"/>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700399"/>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Text Low Ctr</a:t>
            </a:r>
          </a:p>
        </p:txBody>
      </p:sp>
      <p:sp>
        <p:nvSpPr>
          <p:cNvPr id="32" name="TextBox 31"/>
          <p:cNvSpPr txBox="1"/>
          <p:nvPr/>
        </p:nvSpPr>
        <p:spPr>
          <a:xfrm>
            <a:off x="7379207"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+14</a:t>
            </a:r>
          </a:p>
        </p:txBody>
      </p:sp>
      <p:sp>
        <p:nvSpPr>
          <p:cNvPr id="33" name="TextBox 32"/>
          <p:cNvSpPr txBox="1"/>
          <p:nvPr/>
        </p:nvSpPr>
        <p:spPr>
          <a:xfrm>
            <a:off x="8796528"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+11</a:t>
            </a:r>
          </a:p>
        </p:txBody>
      </p:sp>
      <p:sp>
        <p:nvSpPr>
          <p:cNvPr id="34" name="TextBox 33"/>
          <p:cNvSpPr txBox="1"/>
          <p:nvPr/>
        </p:nvSpPr>
        <p:spPr>
          <a:xfrm>
            <a:off x="10213848"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+17</a:t>
            </a:r>
          </a:p>
        </p:txBody>
      </p:sp>
      <p:sp>
        <p:nvSpPr>
          <p:cNvPr id="35" name="Rectangle 34"/>
          <p:cNvSpPr/>
          <p:nvPr/>
        </p:nvSpPr>
        <p:spPr>
          <a:xfrm>
            <a:off x="566928" y="4113707"/>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38" name="TextBox 3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566928" y="512064"/>
            <a:ext cx="11064240" cy="427228"/>
          </a:xfrm>
          <a:prstGeom prst="rect">
            <a:avLst/>
          </a:prstGeom>
          <a:noFill/>
        </p:spPr>
        <p:txBody>
          <a:bodyPr wrap="square" anchor="t" lIns="0" rIns="0" tIns="0" bIns="0"/>
          <a:lstStyle/>
          <a:p>
            <a:pPr algn="l">
              <a:spcBef>
                <a:spcPts val="0"/>
              </a:spcBef>
              <a:spcAft>
                <a:spcPts val="0"/>
              </a:spcAft>
              <a:lnSpc>
                <a:spcPts val="3220"/>
              </a:lnSpc>
            </a:pPr>
            <a:r>
              <a:rPr sz="2800" b="1" i="0">
                <a:solidFill>
                  <a:srgbClr val="1E2D44"/>
                </a:solidFill>
                <a:latin typeface="Karla"/>
              </a:rPr>
              <a:t>Loz Top Ctr Low — Element Lift Summary</a:t>
            </a:r>
          </a:p>
        </p:txBody>
      </p:sp>
      <p:sp>
        <p:nvSpPr>
          <p:cNvPr id="4" name="TextBox 3"/>
          <p:cNvSpPr txBox="1"/>
          <p:nvPr/>
        </p:nvSpPr>
        <p:spPr>
          <a:xfrm>
            <a:off x="566928" y="1012444"/>
            <a:ext cx="11064240" cy="237363"/>
          </a:xfrm>
          <a:prstGeom prst="rect">
            <a:avLst/>
          </a:prstGeom>
          <a:noFill/>
        </p:spPr>
        <p:txBody>
          <a:bodyPr wrap="square" anchor="t" lIns="0" rIns="0" tIns="0" bIns="0"/>
          <a:lstStyle/>
          <a:p>
            <a:pPr algn="l">
              <a:spcBef>
                <a:spcPts val="0"/>
              </a:spcBef>
              <a:spcAft>
                <a:spcPts val="0"/>
              </a:spcAft>
              <a:lnSpc>
                <a:spcPts val="1725"/>
              </a:lnSpc>
            </a:pPr>
            <a:r>
              <a:rPr sz="1500" b="0" i="0">
                <a:solidFill>
                  <a:srgbClr val="617086"/>
                </a:solidFill>
                <a:latin typeface="Karla"/>
              </a:rPr>
              <a:t>Non-users favor Loz Gold Outline Top Ctr Low; Dove users favor Loz Variant Fill Top Ctr Low.</a:t>
            </a:r>
          </a:p>
        </p:txBody>
      </p:sp>
      <p:sp>
        <p:nvSpPr>
          <p:cNvPr id="5" name="Rectangle 4"/>
          <p:cNvSpPr/>
          <p:nvPr/>
        </p:nvSpPr>
        <p:spPr>
          <a:xfrm>
            <a:off x="566928" y="1396111"/>
            <a:ext cx="11064240" cy="292608"/>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LOZ TOP CTR LOW</a:t>
            </a:r>
          </a:p>
        </p:txBody>
      </p:sp>
      <p:sp>
        <p:nvSpPr>
          <p:cNvPr id="6" name="TextBox 5"/>
          <p:cNvSpPr txBox="1"/>
          <p:nvPr/>
        </p:nvSpPr>
        <p:spPr>
          <a:xfrm>
            <a:off x="566928" y="1688719"/>
            <a:ext cx="6812279" cy="329184"/>
          </a:xfrm>
          <a:prstGeom prst="rect">
            <a:avLst/>
          </a:prstGeom>
          <a:noFill/>
        </p:spPr>
        <p:txBody>
          <a:bodyPr wrap="square" anchor="ctr" lIns="0" rIns="0" tIns="0" bIns="0"/>
          <a:lstStyle/>
          <a:p>
            <a:pPr algn="l">
              <a:spcBef>
                <a:spcPts val="0"/>
              </a:spcBef>
              <a:spcAft>
                <a:spcPts val="0"/>
              </a:spcAft>
              <a:lnSpc>
                <a:spcPts val="1380"/>
              </a:lnSpc>
            </a:pPr>
            <a:r>
              <a:rPr sz="1200" b="1" i="0">
                <a:solidFill>
                  <a:srgbClr val="1E2D44"/>
                </a:solidFill>
                <a:latin typeface="Karla"/>
              </a:rPr>
              <a:t>Element</a:t>
            </a:r>
          </a:p>
        </p:txBody>
      </p:sp>
      <p:sp>
        <p:nvSpPr>
          <p:cNvPr id="7" name="TextBox 6"/>
          <p:cNvSpPr txBox="1"/>
          <p:nvPr/>
        </p:nvSpPr>
        <p:spPr>
          <a:xfrm>
            <a:off x="739749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Overall</a:t>
            </a:r>
          </a:p>
        </p:txBody>
      </p:sp>
      <p:sp>
        <p:nvSpPr>
          <p:cNvPr id="8" name="TextBox 7"/>
          <p:cNvSpPr txBox="1"/>
          <p:nvPr/>
        </p:nvSpPr>
        <p:spPr>
          <a:xfrm>
            <a:off x="881481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Non-users</a:t>
            </a:r>
          </a:p>
        </p:txBody>
      </p:sp>
      <p:sp>
        <p:nvSpPr>
          <p:cNvPr id="9" name="TextBox 8"/>
          <p:cNvSpPr txBox="1"/>
          <p:nvPr/>
        </p:nvSpPr>
        <p:spPr>
          <a:xfrm>
            <a:off x="10232136"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Dove users</a:t>
            </a:r>
          </a:p>
        </p:txBody>
      </p:sp>
      <p:sp>
        <p:nvSpPr>
          <p:cNvPr id="10" name="Rectangle 9"/>
          <p:cNvSpPr/>
          <p:nvPr/>
        </p:nvSpPr>
        <p:spPr>
          <a:xfrm>
            <a:off x="566928" y="2017903"/>
            <a:ext cx="11064240" cy="10972"/>
          </a:xfrm>
          <a:prstGeom prst="rect">
            <a:avLst/>
          </a:prstGeom>
          <a:solidFill>
            <a:srgbClr val="E7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7903"/>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Gold Outline Top Ctr Low</a:t>
            </a:r>
          </a:p>
        </p:txBody>
      </p:sp>
      <p:sp>
        <p:nvSpPr>
          <p:cNvPr id="12" name="TextBox 11"/>
          <p:cNvSpPr txBox="1"/>
          <p:nvPr/>
        </p:nvSpPr>
        <p:spPr>
          <a:xfrm>
            <a:off x="7379207"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+22</a:t>
            </a:r>
          </a:p>
        </p:txBody>
      </p:sp>
      <p:sp>
        <p:nvSpPr>
          <p:cNvPr id="13" name="TextBox 12"/>
          <p:cNvSpPr txBox="1"/>
          <p:nvPr/>
        </p:nvSpPr>
        <p:spPr>
          <a:xfrm>
            <a:off x="879652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+19</a:t>
            </a:r>
          </a:p>
        </p:txBody>
      </p:sp>
      <p:sp>
        <p:nvSpPr>
          <p:cNvPr id="14" name="TextBox 13"/>
          <p:cNvSpPr txBox="1"/>
          <p:nvPr/>
        </p:nvSpPr>
        <p:spPr>
          <a:xfrm>
            <a:off x="1021384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+25</a:t>
            </a:r>
          </a:p>
        </p:txBody>
      </p:sp>
      <p:sp>
        <p:nvSpPr>
          <p:cNvPr id="15" name="Rectangle 14"/>
          <p:cNvSpPr/>
          <p:nvPr/>
        </p:nvSpPr>
        <p:spPr>
          <a:xfrm>
            <a:off x="566928" y="243121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38527"/>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Gold Fill Top Ctr Low</a:t>
            </a:r>
          </a:p>
        </p:txBody>
      </p:sp>
      <p:sp>
        <p:nvSpPr>
          <p:cNvPr id="17" name="TextBox 16"/>
          <p:cNvSpPr txBox="1"/>
          <p:nvPr/>
        </p:nvSpPr>
        <p:spPr>
          <a:xfrm>
            <a:off x="7379207"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+21</a:t>
            </a:r>
          </a:p>
        </p:txBody>
      </p:sp>
      <p:sp>
        <p:nvSpPr>
          <p:cNvPr id="18" name="TextBox 17"/>
          <p:cNvSpPr txBox="1"/>
          <p:nvPr/>
        </p:nvSpPr>
        <p:spPr>
          <a:xfrm>
            <a:off x="879652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+17</a:t>
            </a:r>
          </a:p>
        </p:txBody>
      </p:sp>
      <p:sp>
        <p:nvSpPr>
          <p:cNvPr id="19" name="TextBox 18"/>
          <p:cNvSpPr txBox="1"/>
          <p:nvPr/>
        </p:nvSpPr>
        <p:spPr>
          <a:xfrm>
            <a:off x="1021384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+26</a:t>
            </a:r>
          </a:p>
        </p:txBody>
      </p:sp>
      <p:sp>
        <p:nvSpPr>
          <p:cNvPr id="20" name="Rectangle 19"/>
          <p:cNvSpPr/>
          <p:nvPr/>
        </p:nvSpPr>
        <p:spPr>
          <a:xfrm>
            <a:off x="566928" y="285183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859151"/>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Variant Fill Top Ctr Low</a:t>
            </a:r>
          </a:p>
        </p:txBody>
      </p:sp>
      <p:sp>
        <p:nvSpPr>
          <p:cNvPr id="22" name="TextBox 21"/>
          <p:cNvSpPr txBox="1"/>
          <p:nvPr/>
        </p:nvSpPr>
        <p:spPr>
          <a:xfrm>
            <a:off x="7379207"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+21</a:t>
            </a:r>
          </a:p>
        </p:txBody>
      </p:sp>
      <p:sp>
        <p:nvSpPr>
          <p:cNvPr id="23" name="TextBox 22"/>
          <p:cNvSpPr txBox="1"/>
          <p:nvPr/>
        </p:nvSpPr>
        <p:spPr>
          <a:xfrm>
            <a:off x="879652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+16</a:t>
            </a:r>
          </a:p>
        </p:txBody>
      </p:sp>
      <p:sp>
        <p:nvSpPr>
          <p:cNvPr id="24" name="TextBox 23"/>
          <p:cNvSpPr txBox="1"/>
          <p:nvPr/>
        </p:nvSpPr>
        <p:spPr>
          <a:xfrm>
            <a:off x="1021384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+27</a:t>
            </a:r>
          </a:p>
        </p:txBody>
      </p:sp>
      <p:sp>
        <p:nvSpPr>
          <p:cNvPr id="25" name="Rectangle 24"/>
          <p:cNvSpPr/>
          <p:nvPr/>
        </p:nvSpPr>
        <p:spPr>
          <a:xfrm>
            <a:off x="566928" y="327245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279775"/>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Variant Outline Top Ctr Low</a:t>
            </a:r>
          </a:p>
        </p:txBody>
      </p:sp>
      <p:sp>
        <p:nvSpPr>
          <p:cNvPr id="27" name="TextBox 26"/>
          <p:cNvSpPr txBox="1"/>
          <p:nvPr/>
        </p:nvSpPr>
        <p:spPr>
          <a:xfrm>
            <a:off x="7379207"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+21</a:t>
            </a:r>
          </a:p>
        </p:txBody>
      </p:sp>
      <p:sp>
        <p:nvSpPr>
          <p:cNvPr id="28" name="TextBox 27"/>
          <p:cNvSpPr txBox="1"/>
          <p:nvPr/>
        </p:nvSpPr>
        <p:spPr>
          <a:xfrm>
            <a:off x="879652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+16</a:t>
            </a:r>
          </a:p>
        </p:txBody>
      </p:sp>
      <p:sp>
        <p:nvSpPr>
          <p:cNvPr id="29" name="TextBox 28"/>
          <p:cNvSpPr txBox="1"/>
          <p:nvPr/>
        </p:nvSpPr>
        <p:spPr>
          <a:xfrm>
            <a:off x="1021384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+26</a:t>
            </a:r>
          </a:p>
        </p:txBody>
      </p:sp>
      <p:sp>
        <p:nvSpPr>
          <p:cNvPr id="30" name="Rectangle 29"/>
          <p:cNvSpPr/>
          <p:nvPr/>
        </p:nvSpPr>
        <p:spPr>
          <a:xfrm>
            <a:off x="566928" y="3693083"/>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700399"/>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Text Top Ctr Low</a:t>
            </a:r>
          </a:p>
        </p:txBody>
      </p:sp>
      <p:sp>
        <p:nvSpPr>
          <p:cNvPr id="32" name="TextBox 31"/>
          <p:cNvSpPr txBox="1"/>
          <p:nvPr/>
        </p:nvSpPr>
        <p:spPr>
          <a:xfrm>
            <a:off x="7379207"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+19</a:t>
            </a:r>
          </a:p>
        </p:txBody>
      </p:sp>
      <p:sp>
        <p:nvSpPr>
          <p:cNvPr id="33" name="TextBox 32"/>
          <p:cNvSpPr txBox="1"/>
          <p:nvPr/>
        </p:nvSpPr>
        <p:spPr>
          <a:xfrm>
            <a:off x="8796528"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+16</a:t>
            </a:r>
          </a:p>
        </p:txBody>
      </p:sp>
      <p:sp>
        <p:nvSpPr>
          <p:cNvPr id="34" name="TextBox 33"/>
          <p:cNvSpPr txBox="1"/>
          <p:nvPr/>
        </p:nvSpPr>
        <p:spPr>
          <a:xfrm>
            <a:off x="10213848"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+23</a:t>
            </a:r>
          </a:p>
        </p:txBody>
      </p:sp>
      <p:sp>
        <p:nvSpPr>
          <p:cNvPr id="35" name="Rectangle 34"/>
          <p:cNvSpPr/>
          <p:nvPr/>
        </p:nvSpPr>
        <p:spPr>
          <a:xfrm>
            <a:off x="566928" y="4113707"/>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38" name="TextBox 3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566928" y="512064"/>
            <a:ext cx="11064240" cy="427228"/>
          </a:xfrm>
          <a:prstGeom prst="rect">
            <a:avLst/>
          </a:prstGeom>
          <a:noFill/>
        </p:spPr>
        <p:txBody>
          <a:bodyPr wrap="square" anchor="t" lIns="0" rIns="0" tIns="0" bIns="0"/>
          <a:lstStyle/>
          <a:p>
            <a:pPr algn="l">
              <a:spcBef>
                <a:spcPts val="0"/>
              </a:spcBef>
              <a:spcAft>
                <a:spcPts val="0"/>
              </a:spcAft>
              <a:lnSpc>
                <a:spcPts val="3220"/>
              </a:lnSpc>
            </a:pPr>
            <a:r>
              <a:rPr sz="2800" b="1" i="0">
                <a:solidFill>
                  <a:srgbClr val="1E2D44"/>
                </a:solidFill>
                <a:latin typeface="Karla"/>
              </a:rPr>
              <a:t>Loz Top Ctr — Element Lift Summary</a:t>
            </a:r>
          </a:p>
        </p:txBody>
      </p:sp>
      <p:sp>
        <p:nvSpPr>
          <p:cNvPr id="4" name="TextBox 3"/>
          <p:cNvSpPr txBox="1"/>
          <p:nvPr/>
        </p:nvSpPr>
        <p:spPr>
          <a:xfrm>
            <a:off x="566928" y="1012444"/>
            <a:ext cx="11064240" cy="237363"/>
          </a:xfrm>
          <a:prstGeom prst="rect">
            <a:avLst/>
          </a:prstGeom>
          <a:noFill/>
        </p:spPr>
        <p:txBody>
          <a:bodyPr wrap="square" anchor="t" lIns="0" rIns="0" tIns="0" bIns="0"/>
          <a:lstStyle/>
          <a:p>
            <a:pPr algn="l">
              <a:spcBef>
                <a:spcPts val="0"/>
              </a:spcBef>
              <a:spcAft>
                <a:spcPts val="0"/>
              </a:spcAft>
              <a:lnSpc>
                <a:spcPts val="1725"/>
              </a:lnSpc>
            </a:pPr>
            <a:r>
              <a:rPr sz="1500" b="0" i="0">
                <a:solidFill>
                  <a:srgbClr val="617086"/>
                </a:solidFill>
                <a:latin typeface="Karla"/>
              </a:rPr>
              <a:t>Loz Gold Fill Top Ctr leads both groups; Loz Variant Fill Top Ctr ranks last.</a:t>
            </a:r>
          </a:p>
        </p:txBody>
      </p:sp>
      <p:sp>
        <p:nvSpPr>
          <p:cNvPr id="5" name="Rectangle 4"/>
          <p:cNvSpPr/>
          <p:nvPr/>
        </p:nvSpPr>
        <p:spPr>
          <a:xfrm>
            <a:off x="566928" y="1396111"/>
            <a:ext cx="11064240" cy="292608"/>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LOZ TOP CTR</a:t>
            </a:r>
          </a:p>
        </p:txBody>
      </p:sp>
      <p:sp>
        <p:nvSpPr>
          <p:cNvPr id="6" name="TextBox 5"/>
          <p:cNvSpPr txBox="1"/>
          <p:nvPr/>
        </p:nvSpPr>
        <p:spPr>
          <a:xfrm>
            <a:off x="566928" y="1688719"/>
            <a:ext cx="6812279" cy="329184"/>
          </a:xfrm>
          <a:prstGeom prst="rect">
            <a:avLst/>
          </a:prstGeom>
          <a:noFill/>
        </p:spPr>
        <p:txBody>
          <a:bodyPr wrap="square" anchor="ctr" lIns="0" rIns="0" tIns="0" bIns="0"/>
          <a:lstStyle/>
          <a:p>
            <a:pPr algn="l">
              <a:spcBef>
                <a:spcPts val="0"/>
              </a:spcBef>
              <a:spcAft>
                <a:spcPts val="0"/>
              </a:spcAft>
              <a:lnSpc>
                <a:spcPts val="1380"/>
              </a:lnSpc>
            </a:pPr>
            <a:r>
              <a:rPr sz="1200" b="1" i="0">
                <a:solidFill>
                  <a:srgbClr val="1E2D44"/>
                </a:solidFill>
                <a:latin typeface="Karla"/>
              </a:rPr>
              <a:t>Element</a:t>
            </a:r>
          </a:p>
        </p:txBody>
      </p:sp>
      <p:sp>
        <p:nvSpPr>
          <p:cNvPr id="7" name="TextBox 6"/>
          <p:cNvSpPr txBox="1"/>
          <p:nvPr/>
        </p:nvSpPr>
        <p:spPr>
          <a:xfrm>
            <a:off x="739749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Overall</a:t>
            </a:r>
          </a:p>
        </p:txBody>
      </p:sp>
      <p:sp>
        <p:nvSpPr>
          <p:cNvPr id="8" name="TextBox 7"/>
          <p:cNvSpPr txBox="1"/>
          <p:nvPr/>
        </p:nvSpPr>
        <p:spPr>
          <a:xfrm>
            <a:off x="881481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Non-users</a:t>
            </a:r>
          </a:p>
        </p:txBody>
      </p:sp>
      <p:sp>
        <p:nvSpPr>
          <p:cNvPr id="9" name="TextBox 8"/>
          <p:cNvSpPr txBox="1"/>
          <p:nvPr/>
        </p:nvSpPr>
        <p:spPr>
          <a:xfrm>
            <a:off x="10232136"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Dove users</a:t>
            </a:r>
          </a:p>
        </p:txBody>
      </p:sp>
      <p:sp>
        <p:nvSpPr>
          <p:cNvPr id="10" name="Rectangle 9"/>
          <p:cNvSpPr/>
          <p:nvPr/>
        </p:nvSpPr>
        <p:spPr>
          <a:xfrm>
            <a:off x="566928" y="2017903"/>
            <a:ext cx="11064240" cy="10972"/>
          </a:xfrm>
          <a:prstGeom prst="rect">
            <a:avLst/>
          </a:prstGeom>
          <a:solidFill>
            <a:srgbClr val="E7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7903"/>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Gold Fill Top Ctr</a:t>
            </a:r>
          </a:p>
        </p:txBody>
      </p:sp>
      <p:sp>
        <p:nvSpPr>
          <p:cNvPr id="12" name="TextBox 11"/>
          <p:cNvSpPr txBox="1"/>
          <p:nvPr/>
        </p:nvSpPr>
        <p:spPr>
          <a:xfrm>
            <a:off x="7379207"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+24</a:t>
            </a:r>
          </a:p>
        </p:txBody>
      </p:sp>
      <p:sp>
        <p:nvSpPr>
          <p:cNvPr id="13" name="TextBox 12"/>
          <p:cNvSpPr txBox="1"/>
          <p:nvPr/>
        </p:nvSpPr>
        <p:spPr>
          <a:xfrm>
            <a:off x="879652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+20</a:t>
            </a:r>
          </a:p>
        </p:txBody>
      </p:sp>
      <p:sp>
        <p:nvSpPr>
          <p:cNvPr id="14" name="TextBox 13"/>
          <p:cNvSpPr txBox="1"/>
          <p:nvPr/>
        </p:nvSpPr>
        <p:spPr>
          <a:xfrm>
            <a:off x="1021384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+29</a:t>
            </a:r>
          </a:p>
        </p:txBody>
      </p:sp>
      <p:sp>
        <p:nvSpPr>
          <p:cNvPr id="15" name="Rectangle 14"/>
          <p:cNvSpPr/>
          <p:nvPr/>
        </p:nvSpPr>
        <p:spPr>
          <a:xfrm>
            <a:off x="566928" y="243121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38527"/>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Text Top Ctr</a:t>
            </a:r>
          </a:p>
        </p:txBody>
      </p:sp>
      <p:sp>
        <p:nvSpPr>
          <p:cNvPr id="17" name="TextBox 16"/>
          <p:cNvSpPr txBox="1"/>
          <p:nvPr/>
        </p:nvSpPr>
        <p:spPr>
          <a:xfrm>
            <a:off x="7379207"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+22</a:t>
            </a:r>
          </a:p>
        </p:txBody>
      </p:sp>
      <p:sp>
        <p:nvSpPr>
          <p:cNvPr id="18" name="TextBox 17"/>
          <p:cNvSpPr txBox="1"/>
          <p:nvPr/>
        </p:nvSpPr>
        <p:spPr>
          <a:xfrm>
            <a:off x="879652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+16</a:t>
            </a:r>
          </a:p>
        </p:txBody>
      </p:sp>
      <p:sp>
        <p:nvSpPr>
          <p:cNvPr id="19" name="TextBox 18"/>
          <p:cNvSpPr txBox="1"/>
          <p:nvPr/>
        </p:nvSpPr>
        <p:spPr>
          <a:xfrm>
            <a:off x="1021384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+27</a:t>
            </a:r>
          </a:p>
        </p:txBody>
      </p:sp>
      <p:sp>
        <p:nvSpPr>
          <p:cNvPr id="20" name="Rectangle 19"/>
          <p:cNvSpPr/>
          <p:nvPr/>
        </p:nvSpPr>
        <p:spPr>
          <a:xfrm>
            <a:off x="566928" y="285183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859151"/>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Gold Outline Top Ctr</a:t>
            </a:r>
          </a:p>
        </p:txBody>
      </p:sp>
      <p:sp>
        <p:nvSpPr>
          <p:cNvPr id="22" name="TextBox 21"/>
          <p:cNvSpPr txBox="1"/>
          <p:nvPr/>
        </p:nvSpPr>
        <p:spPr>
          <a:xfrm>
            <a:off x="7379207"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+21</a:t>
            </a:r>
          </a:p>
        </p:txBody>
      </p:sp>
      <p:sp>
        <p:nvSpPr>
          <p:cNvPr id="23" name="TextBox 22"/>
          <p:cNvSpPr txBox="1"/>
          <p:nvPr/>
        </p:nvSpPr>
        <p:spPr>
          <a:xfrm>
            <a:off x="879652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+16</a:t>
            </a:r>
          </a:p>
        </p:txBody>
      </p:sp>
      <p:sp>
        <p:nvSpPr>
          <p:cNvPr id="24" name="TextBox 23"/>
          <p:cNvSpPr txBox="1"/>
          <p:nvPr/>
        </p:nvSpPr>
        <p:spPr>
          <a:xfrm>
            <a:off x="1021384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+26</a:t>
            </a:r>
          </a:p>
        </p:txBody>
      </p:sp>
      <p:sp>
        <p:nvSpPr>
          <p:cNvPr id="25" name="Rectangle 24"/>
          <p:cNvSpPr/>
          <p:nvPr/>
        </p:nvSpPr>
        <p:spPr>
          <a:xfrm>
            <a:off x="566928" y="327245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279775"/>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Variant Outline Top Ctr</a:t>
            </a:r>
          </a:p>
        </p:txBody>
      </p:sp>
      <p:sp>
        <p:nvSpPr>
          <p:cNvPr id="27" name="TextBox 26"/>
          <p:cNvSpPr txBox="1"/>
          <p:nvPr/>
        </p:nvSpPr>
        <p:spPr>
          <a:xfrm>
            <a:off x="7379207"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+21</a:t>
            </a:r>
          </a:p>
        </p:txBody>
      </p:sp>
      <p:sp>
        <p:nvSpPr>
          <p:cNvPr id="28" name="TextBox 27"/>
          <p:cNvSpPr txBox="1"/>
          <p:nvPr/>
        </p:nvSpPr>
        <p:spPr>
          <a:xfrm>
            <a:off x="879652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+16</a:t>
            </a:r>
          </a:p>
        </p:txBody>
      </p:sp>
      <p:sp>
        <p:nvSpPr>
          <p:cNvPr id="29" name="TextBox 28"/>
          <p:cNvSpPr txBox="1"/>
          <p:nvPr/>
        </p:nvSpPr>
        <p:spPr>
          <a:xfrm>
            <a:off x="1021384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+26</a:t>
            </a:r>
          </a:p>
        </p:txBody>
      </p:sp>
      <p:sp>
        <p:nvSpPr>
          <p:cNvPr id="30" name="Rectangle 29"/>
          <p:cNvSpPr/>
          <p:nvPr/>
        </p:nvSpPr>
        <p:spPr>
          <a:xfrm>
            <a:off x="566928" y="3693083"/>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700399"/>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Variant Fill Top Ctr</a:t>
            </a:r>
          </a:p>
        </p:txBody>
      </p:sp>
      <p:sp>
        <p:nvSpPr>
          <p:cNvPr id="32" name="TextBox 31"/>
          <p:cNvSpPr txBox="1"/>
          <p:nvPr/>
        </p:nvSpPr>
        <p:spPr>
          <a:xfrm>
            <a:off x="7379207"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+20</a:t>
            </a:r>
          </a:p>
        </p:txBody>
      </p:sp>
      <p:sp>
        <p:nvSpPr>
          <p:cNvPr id="33" name="TextBox 32"/>
          <p:cNvSpPr txBox="1"/>
          <p:nvPr/>
        </p:nvSpPr>
        <p:spPr>
          <a:xfrm>
            <a:off x="8796528"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+16</a:t>
            </a:r>
          </a:p>
        </p:txBody>
      </p:sp>
      <p:sp>
        <p:nvSpPr>
          <p:cNvPr id="34" name="TextBox 33"/>
          <p:cNvSpPr txBox="1"/>
          <p:nvPr/>
        </p:nvSpPr>
        <p:spPr>
          <a:xfrm>
            <a:off x="10213848"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+25</a:t>
            </a:r>
          </a:p>
        </p:txBody>
      </p:sp>
      <p:sp>
        <p:nvSpPr>
          <p:cNvPr id="35" name="Rectangle 34"/>
          <p:cNvSpPr/>
          <p:nvPr/>
        </p:nvSpPr>
        <p:spPr>
          <a:xfrm>
            <a:off x="566928" y="4113707"/>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38" name="TextBox 3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566928" y="512064"/>
            <a:ext cx="11064240" cy="427228"/>
          </a:xfrm>
          <a:prstGeom prst="rect">
            <a:avLst/>
          </a:prstGeom>
          <a:noFill/>
        </p:spPr>
        <p:txBody>
          <a:bodyPr wrap="square" anchor="t" lIns="0" rIns="0" tIns="0" bIns="0"/>
          <a:lstStyle/>
          <a:p>
            <a:pPr algn="l">
              <a:spcBef>
                <a:spcPts val="0"/>
              </a:spcBef>
              <a:spcAft>
                <a:spcPts val="0"/>
              </a:spcAft>
              <a:lnSpc>
                <a:spcPts val="3220"/>
              </a:lnSpc>
            </a:pPr>
            <a:r>
              <a:rPr sz="2800" b="1" i="0">
                <a:solidFill>
                  <a:srgbClr val="1E2D44"/>
                </a:solidFill>
                <a:latin typeface="Karla"/>
              </a:rPr>
              <a:t>Loz Top Left Low — Element Lift Summary</a:t>
            </a:r>
          </a:p>
        </p:txBody>
      </p:sp>
      <p:sp>
        <p:nvSpPr>
          <p:cNvPr id="4" name="TextBox 3"/>
          <p:cNvSpPr txBox="1"/>
          <p:nvPr/>
        </p:nvSpPr>
        <p:spPr>
          <a:xfrm>
            <a:off x="566928" y="1012444"/>
            <a:ext cx="11064240" cy="237363"/>
          </a:xfrm>
          <a:prstGeom prst="rect">
            <a:avLst/>
          </a:prstGeom>
          <a:noFill/>
        </p:spPr>
        <p:txBody>
          <a:bodyPr wrap="square" anchor="t" lIns="0" rIns="0" tIns="0" bIns="0"/>
          <a:lstStyle/>
          <a:p>
            <a:pPr algn="l">
              <a:spcBef>
                <a:spcPts val="0"/>
              </a:spcBef>
              <a:spcAft>
                <a:spcPts val="0"/>
              </a:spcAft>
              <a:lnSpc>
                <a:spcPts val="1725"/>
              </a:lnSpc>
            </a:pPr>
            <a:r>
              <a:rPr sz="1500" b="0" i="0">
                <a:solidFill>
                  <a:srgbClr val="617086"/>
                </a:solidFill>
                <a:latin typeface="Karla"/>
              </a:rPr>
              <a:t>Loz Variant Fill Top Left Low leads both groups; Loz Text Top Left Low ranks last.</a:t>
            </a:r>
          </a:p>
        </p:txBody>
      </p:sp>
      <p:sp>
        <p:nvSpPr>
          <p:cNvPr id="5" name="Rectangle 4"/>
          <p:cNvSpPr/>
          <p:nvPr/>
        </p:nvSpPr>
        <p:spPr>
          <a:xfrm>
            <a:off x="566928" y="1396111"/>
            <a:ext cx="11064240" cy="292608"/>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LOZ TOP LEFT LOW</a:t>
            </a:r>
          </a:p>
        </p:txBody>
      </p:sp>
      <p:sp>
        <p:nvSpPr>
          <p:cNvPr id="6" name="TextBox 5"/>
          <p:cNvSpPr txBox="1"/>
          <p:nvPr/>
        </p:nvSpPr>
        <p:spPr>
          <a:xfrm>
            <a:off x="566928" y="1688719"/>
            <a:ext cx="6812279" cy="329184"/>
          </a:xfrm>
          <a:prstGeom prst="rect">
            <a:avLst/>
          </a:prstGeom>
          <a:noFill/>
        </p:spPr>
        <p:txBody>
          <a:bodyPr wrap="square" anchor="ctr" lIns="0" rIns="0" tIns="0" bIns="0"/>
          <a:lstStyle/>
          <a:p>
            <a:pPr algn="l">
              <a:spcBef>
                <a:spcPts val="0"/>
              </a:spcBef>
              <a:spcAft>
                <a:spcPts val="0"/>
              </a:spcAft>
              <a:lnSpc>
                <a:spcPts val="1380"/>
              </a:lnSpc>
            </a:pPr>
            <a:r>
              <a:rPr sz="1200" b="1" i="0">
                <a:solidFill>
                  <a:srgbClr val="1E2D44"/>
                </a:solidFill>
                <a:latin typeface="Karla"/>
              </a:rPr>
              <a:t>Element</a:t>
            </a:r>
          </a:p>
        </p:txBody>
      </p:sp>
      <p:sp>
        <p:nvSpPr>
          <p:cNvPr id="7" name="TextBox 6"/>
          <p:cNvSpPr txBox="1"/>
          <p:nvPr/>
        </p:nvSpPr>
        <p:spPr>
          <a:xfrm>
            <a:off x="739749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Overall</a:t>
            </a:r>
          </a:p>
        </p:txBody>
      </p:sp>
      <p:sp>
        <p:nvSpPr>
          <p:cNvPr id="8" name="TextBox 7"/>
          <p:cNvSpPr txBox="1"/>
          <p:nvPr/>
        </p:nvSpPr>
        <p:spPr>
          <a:xfrm>
            <a:off x="881481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Non-users</a:t>
            </a:r>
          </a:p>
        </p:txBody>
      </p:sp>
      <p:sp>
        <p:nvSpPr>
          <p:cNvPr id="9" name="TextBox 8"/>
          <p:cNvSpPr txBox="1"/>
          <p:nvPr/>
        </p:nvSpPr>
        <p:spPr>
          <a:xfrm>
            <a:off x="10232136"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Dove users</a:t>
            </a:r>
          </a:p>
        </p:txBody>
      </p:sp>
      <p:sp>
        <p:nvSpPr>
          <p:cNvPr id="10" name="Rectangle 9"/>
          <p:cNvSpPr/>
          <p:nvPr/>
        </p:nvSpPr>
        <p:spPr>
          <a:xfrm>
            <a:off x="566928" y="2017903"/>
            <a:ext cx="11064240" cy="10972"/>
          </a:xfrm>
          <a:prstGeom prst="rect">
            <a:avLst/>
          </a:prstGeom>
          <a:solidFill>
            <a:srgbClr val="E7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7903"/>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Variant Fill Top Left Low</a:t>
            </a:r>
          </a:p>
        </p:txBody>
      </p:sp>
      <p:sp>
        <p:nvSpPr>
          <p:cNvPr id="12" name="TextBox 11"/>
          <p:cNvSpPr txBox="1"/>
          <p:nvPr/>
        </p:nvSpPr>
        <p:spPr>
          <a:xfrm>
            <a:off x="7379207"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+25</a:t>
            </a:r>
          </a:p>
        </p:txBody>
      </p:sp>
      <p:sp>
        <p:nvSpPr>
          <p:cNvPr id="13" name="TextBox 12"/>
          <p:cNvSpPr txBox="1"/>
          <p:nvPr/>
        </p:nvSpPr>
        <p:spPr>
          <a:xfrm>
            <a:off x="879652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+19</a:t>
            </a:r>
          </a:p>
        </p:txBody>
      </p:sp>
      <p:sp>
        <p:nvSpPr>
          <p:cNvPr id="14" name="TextBox 13"/>
          <p:cNvSpPr txBox="1"/>
          <p:nvPr/>
        </p:nvSpPr>
        <p:spPr>
          <a:xfrm>
            <a:off x="1021384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+31</a:t>
            </a:r>
          </a:p>
        </p:txBody>
      </p:sp>
      <p:sp>
        <p:nvSpPr>
          <p:cNvPr id="15" name="Rectangle 14"/>
          <p:cNvSpPr/>
          <p:nvPr/>
        </p:nvSpPr>
        <p:spPr>
          <a:xfrm>
            <a:off x="566928" y="243121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38527"/>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Gold Outline Top Left Low</a:t>
            </a:r>
          </a:p>
        </p:txBody>
      </p:sp>
      <p:sp>
        <p:nvSpPr>
          <p:cNvPr id="17" name="TextBox 16"/>
          <p:cNvSpPr txBox="1"/>
          <p:nvPr/>
        </p:nvSpPr>
        <p:spPr>
          <a:xfrm>
            <a:off x="7379207"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+22</a:t>
            </a:r>
          </a:p>
        </p:txBody>
      </p:sp>
      <p:sp>
        <p:nvSpPr>
          <p:cNvPr id="18" name="TextBox 17"/>
          <p:cNvSpPr txBox="1"/>
          <p:nvPr/>
        </p:nvSpPr>
        <p:spPr>
          <a:xfrm>
            <a:off x="879652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+16</a:t>
            </a:r>
          </a:p>
        </p:txBody>
      </p:sp>
      <p:sp>
        <p:nvSpPr>
          <p:cNvPr id="19" name="TextBox 18"/>
          <p:cNvSpPr txBox="1"/>
          <p:nvPr/>
        </p:nvSpPr>
        <p:spPr>
          <a:xfrm>
            <a:off x="1021384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+28</a:t>
            </a:r>
          </a:p>
        </p:txBody>
      </p:sp>
      <p:sp>
        <p:nvSpPr>
          <p:cNvPr id="20" name="Rectangle 19"/>
          <p:cNvSpPr/>
          <p:nvPr/>
        </p:nvSpPr>
        <p:spPr>
          <a:xfrm>
            <a:off x="566928" y="285183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859151"/>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Variant Outline Top Left Low</a:t>
            </a:r>
          </a:p>
        </p:txBody>
      </p:sp>
      <p:sp>
        <p:nvSpPr>
          <p:cNvPr id="22" name="TextBox 21"/>
          <p:cNvSpPr txBox="1"/>
          <p:nvPr/>
        </p:nvSpPr>
        <p:spPr>
          <a:xfrm>
            <a:off x="7379207"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+21</a:t>
            </a:r>
          </a:p>
        </p:txBody>
      </p:sp>
      <p:sp>
        <p:nvSpPr>
          <p:cNvPr id="23" name="TextBox 22"/>
          <p:cNvSpPr txBox="1"/>
          <p:nvPr/>
        </p:nvSpPr>
        <p:spPr>
          <a:xfrm>
            <a:off x="879652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+16</a:t>
            </a:r>
          </a:p>
        </p:txBody>
      </p:sp>
      <p:sp>
        <p:nvSpPr>
          <p:cNvPr id="24" name="TextBox 23"/>
          <p:cNvSpPr txBox="1"/>
          <p:nvPr/>
        </p:nvSpPr>
        <p:spPr>
          <a:xfrm>
            <a:off x="1021384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+27</a:t>
            </a:r>
          </a:p>
        </p:txBody>
      </p:sp>
      <p:sp>
        <p:nvSpPr>
          <p:cNvPr id="25" name="Rectangle 24"/>
          <p:cNvSpPr/>
          <p:nvPr/>
        </p:nvSpPr>
        <p:spPr>
          <a:xfrm>
            <a:off x="566928" y="327245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279775"/>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Gold Fill Top Left Low</a:t>
            </a:r>
          </a:p>
        </p:txBody>
      </p:sp>
      <p:sp>
        <p:nvSpPr>
          <p:cNvPr id="27" name="TextBox 26"/>
          <p:cNvSpPr txBox="1"/>
          <p:nvPr/>
        </p:nvSpPr>
        <p:spPr>
          <a:xfrm>
            <a:off x="7379207"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+21</a:t>
            </a:r>
          </a:p>
        </p:txBody>
      </p:sp>
      <p:sp>
        <p:nvSpPr>
          <p:cNvPr id="28" name="TextBox 27"/>
          <p:cNvSpPr txBox="1"/>
          <p:nvPr/>
        </p:nvSpPr>
        <p:spPr>
          <a:xfrm>
            <a:off x="879652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+18</a:t>
            </a:r>
          </a:p>
        </p:txBody>
      </p:sp>
      <p:sp>
        <p:nvSpPr>
          <p:cNvPr id="29" name="TextBox 28"/>
          <p:cNvSpPr txBox="1"/>
          <p:nvPr/>
        </p:nvSpPr>
        <p:spPr>
          <a:xfrm>
            <a:off x="1021384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+25</a:t>
            </a:r>
          </a:p>
        </p:txBody>
      </p:sp>
      <p:sp>
        <p:nvSpPr>
          <p:cNvPr id="30" name="Rectangle 29"/>
          <p:cNvSpPr/>
          <p:nvPr/>
        </p:nvSpPr>
        <p:spPr>
          <a:xfrm>
            <a:off x="566928" y="3693083"/>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700399"/>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Text Top Left Low</a:t>
            </a:r>
          </a:p>
        </p:txBody>
      </p:sp>
      <p:sp>
        <p:nvSpPr>
          <p:cNvPr id="32" name="TextBox 31"/>
          <p:cNvSpPr txBox="1"/>
          <p:nvPr/>
        </p:nvSpPr>
        <p:spPr>
          <a:xfrm>
            <a:off x="7379207"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+20</a:t>
            </a:r>
          </a:p>
        </p:txBody>
      </p:sp>
      <p:sp>
        <p:nvSpPr>
          <p:cNvPr id="33" name="TextBox 32"/>
          <p:cNvSpPr txBox="1"/>
          <p:nvPr/>
        </p:nvSpPr>
        <p:spPr>
          <a:xfrm>
            <a:off x="8796528"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+17</a:t>
            </a:r>
          </a:p>
        </p:txBody>
      </p:sp>
      <p:sp>
        <p:nvSpPr>
          <p:cNvPr id="34" name="TextBox 33"/>
          <p:cNvSpPr txBox="1"/>
          <p:nvPr/>
        </p:nvSpPr>
        <p:spPr>
          <a:xfrm>
            <a:off x="10213848"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+24</a:t>
            </a:r>
          </a:p>
        </p:txBody>
      </p:sp>
      <p:sp>
        <p:nvSpPr>
          <p:cNvPr id="35" name="Rectangle 34"/>
          <p:cNvSpPr/>
          <p:nvPr/>
        </p:nvSpPr>
        <p:spPr>
          <a:xfrm>
            <a:off x="566928" y="4113707"/>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38" name="TextBox 3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566928" y="512064"/>
            <a:ext cx="11064240" cy="427228"/>
          </a:xfrm>
          <a:prstGeom prst="rect">
            <a:avLst/>
          </a:prstGeom>
          <a:noFill/>
        </p:spPr>
        <p:txBody>
          <a:bodyPr wrap="square" anchor="t" lIns="0" rIns="0" tIns="0" bIns="0"/>
          <a:lstStyle/>
          <a:p>
            <a:pPr algn="l">
              <a:spcBef>
                <a:spcPts val="0"/>
              </a:spcBef>
              <a:spcAft>
                <a:spcPts val="0"/>
              </a:spcAft>
              <a:lnSpc>
                <a:spcPts val="3220"/>
              </a:lnSpc>
            </a:pPr>
            <a:r>
              <a:rPr sz="2800" b="1" i="0">
                <a:solidFill>
                  <a:srgbClr val="1E2D44"/>
                </a:solidFill>
                <a:latin typeface="Karla"/>
              </a:rPr>
              <a:t>Loz Top Left — Element Lift Summary</a:t>
            </a:r>
          </a:p>
        </p:txBody>
      </p:sp>
      <p:sp>
        <p:nvSpPr>
          <p:cNvPr id="4" name="TextBox 3"/>
          <p:cNvSpPr txBox="1"/>
          <p:nvPr/>
        </p:nvSpPr>
        <p:spPr>
          <a:xfrm>
            <a:off x="566928" y="1012444"/>
            <a:ext cx="11064240" cy="237363"/>
          </a:xfrm>
          <a:prstGeom prst="rect">
            <a:avLst/>
          </a:prstGeom>
          <a:noFill/>
        </p:spPr>
        <p:txBody>
          <a:bodyPr wrap="square" anchor="t" lIns="0" rIns="0" tIns="0" bIns="0"/>
          <a:lstStyle/>
          <a:p>
            <a:pPr algn="l">
              <a:spcBef>
                <a:spcPts val="0"/>
              </a:spcBef>
              <a:spcAft>
                <a:spcPts val="0"/>
              </a:spcAft>
              <a:lnSpc>
                <a:spcPts val="1725"/>
              </a:lnSpc>
            </a:pPr>
            <a:r>
              <a:rPr sz="1500" b="0" i="0">
                <a:solidFill>
                  <a:srgbClr val="617086"/>
                </a:solidFill>
                <a:latin typeface="Karla"/>
              </a:rPr>
              <a:t>Non-users favor Loz Gold Outline Top Left; Dove users favor Loz Text Top Left.</a:t>
            </a:r>
          </a:p>
        </p:txBody>
      </p:sp>
      <p:sp>
        <p:nvSpPr>
          <p:cNvPr id="5" name="Rectangle 4"/>
          <p:cNvSpPr/>
          <p:nvPr/>
        </p:nvSpPr>
        <p:spPr>
          <a:xfrm>
            <a:off x="566928" y="1396111"/>
            <a:ext cx="11064240" cy="292608"/>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LOZ TOP LEFT</a:t>
            </a:r>
          </a:p>
        </p:txBody>
      </p:sp>
      <p:sp>
        <p:nvSpPr>
          <p:cNvPr id="6" name="TextBox 5"/>
          <p:cNvSpPr txBox="1"/>
          <p:nvPr/>
        </p:nvSpPr>
        <p:spPr>
          <a:xfrm>
            <a:off x="566928" y="1688719"/>
            <a:ext cx="6812279" cy="329184"/>
          </a:xfrm>
          <a:prstGeom prst="rect">
            <a:avLst/>
          </a:prstGeom>
          <a:noFill/>
        </p:spPr>
        <p:txBody>
          <a:bodyPr wrap="square" anchor="ctr" lIns="0" rIns="0" tIns="0" bIns="0"/>
          <a:lstStyle/>
          <a:p>
            <a:pPr algn="l">
              <a:spcBef>
                <a:spcPts val="0"/>
              </a:spcBef>
              <a:spcAft>
                <a:spcPts val="0"/>
              </a:spcAft>
              <a:lnSpc>
                <a:spcPts val="1380"/>
              </a:lnSpc>
            </a:pPr>
            <a:r>
              <a:rPr sz="1200" b="1" i="0">
                <a:solidFill>
                  <a:srgbClr val="1E2D44"/>
                </a:solidFill>
                <a:latin typeface="Karla"/>
              </a:rPr>
              <a:t>Element</a:t>
            </a:r>
          </a:p>
        </p:txBody>
      </p:sp>
      <p:sp>
        <p:nvSpPr>
          <p:cNvPr id="7" name="TextBox 6"/>
          <p:cNvSpPr txBox="1"/>
          <p:nvPr/>
        </p:nvSpPr>
        <p:spPr>
          <a:xfrm>
            <a:off x="739749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Overall</a:t>
            </a:r>
          </a:p>
        </p:txBody>
      </p:sp>
      <p:sp>
        <p:nvSpPr>
          <p:cNvPr id="8" name="TextBox 7"/>
          <p:cNvSpPr txBox="1"/>
          <p:nvPr/>
        </p:nvSpPr>
        <p:spPr>
          <a:xfrm>
            <a:off x="881481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Non-users</a:t>
            </a:r>
          </a:p>
        </p:txBody>
      </p:sp>
      <p:sp>
        <p:nvSpPr>
          <p:cNvPr id="9" name="TextBox 8"/>
          <p:cNvSpPr txBox="1"/>
          <p:nvPr/>
        </p:nvSpPr>
        <p:spPr>
          <a:xfrm>
            <a:off x="10232136"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Dove users</a:t>
            </a:r>
          </a:p>
        </p:txBody>
      </p:sp>
      <p:sp>
        <p:nvSpPr>
          <p:cNvPr id="10" name="Rectangle 9"/>
          <p:cNvSpPr/>
          <p:nvPr/>
        </p:nvSpPr>
        <p:spPr>
          <a:xfrm>
            <a:off x="566928" y="2017903"/>
            <a:ext cx="11064240" cy="10972"/>
          </a:xfrm>
          <a:prstGeom prst="rect">
            <a:avLst/>
          </a:prstGeom>
          <a:solidFill>
            <a:srgbClr val="E7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7903"/>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Gold Outline Top Left</a:t>
            </a:r>
          </a:p>
        </p:txBody>
      </p:sp>
      <p:sp>
        <p:nvSpPr>
          <p:cNvPr id="12" name="TextBox 11"/>
          <p:cNvSpPr txBox="1"/>
          <p:nvPr/>
        </p:nvSpPr>
        <p:spPr>
          <a:xfrm>
            <a:off x="7379207"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+23</a:t>
            </a:r>
          </a:p>
        </p:txBody>
      </p:sp>
      <p:sp>
        <p:nvSpPr>
          <p:cNvPr id="13" name="TextBox 12"/>
          <p:cNvSpPr txBox="1"/>
          <p:nvPr/>
        </p:nvSpPr>
        <p:spPr>
          <a:xfrm>
            <a:off x="879652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+19</a:t>
            </a:r>
          </a:p>
        </p:txBody>
      </p:sp>
      <p:sp>
        <p:nvSpPr>
          <p:cNvPr id="14" name="TextBox 13"/>
          <p:cNvSpPr txBox="1"/>
          <p:nvPr/>
        </p:nvSpPr>
        <p:spPr>
          <a:xfrm>
            <a:off x="1021384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+27</a:t>
            </a:r>
          </a:p>
        </p:txBody>
      </p:sp>
      <p:sp>
        <p:nvSpPr>
          <p:cNvPr id="15" name="Rectangle 14"/>
          <p:cNvSpPr/>
          <p:nvPr/>
        </p:nvSpPr>
        <p:spPr>
          <a:xfrm>
            <a:off x="566928" y="243121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38527"/>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Text Top Left</a:t>
            </a:r>
          </a:p>
        </p:txBody>
      </p:sp>
      <p:sp>
        <p:nvSpPr>
          <p:cNvPr id="17" name="TextBox 16"/>
          <p:cNvSpPr txBox="1"/>
          <p:nvPr/>
        </p:nvSpPr>
        <p:spPr>
          <a:xfrm>
            <a:off x="7379207"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+21</a:t>
            </a:r>
          </a:p>
        </p:txBody>
      </p:sp>
      <p:sp>
        <p:nvSpPr>
          <p:cNvPr id="18" name="TextBox 17"/>
          <p:cNvSpPr txBox="1"/>
          <p:nvPr/>
        </p:nvSpPr>
        <p:spPr>
          <a:xfrm>
            <a:off x="879652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+16</a:t>
            </a:r>
          </a:p>
        </p:txBody>
      </p:sp>
      <p:sp>
        <p:nvSpPr>
          <p:cNvPr id="19" name="TextBox 18"/>
          <p:cNvSpPr txBox="1"/>
          <p:nvPr/>
        </p:nvSpPr>
        <p:spPr>
          <a:xfrm>
            <a:off x="1021384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+27</a:t>
            </a:r>
          </a:p>
        </p:txBody>
      </p:sp>
      <p:sp>
        <p:nvSpPr>
          <p:cNvPr id="20" name="Rectangle 19"/>
          <p:cNvSpPr/>
          <p:nvPr/>
        </p:nvSpPr>
        <p:spPr>
          <a:xfrm>
            <a:off x="566928" y="285183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859151"/>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Gold Fill Top Left</a:t>
            </a:r>
          </a:p>
        </p:txBody>
      </p:sp>
      <p:sp>
        <p:nvSpPr>
          <p:cNvPr id="22" name="TextBox 21"/>
          <p:cNvSpPr txBox="1"/>
          <p:nvPr/>
        </p:nvSpPr>
        <p:spPr>
          <a:xfrm>
            <a:off x="7379207"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+21</a:t>
            </a:r>
          </a:p>
        </p:txBody>
      </p:sp>
      <p:sp>
        <p:nvSpPr>
          <p:cNvPr id="23" name="TextBox 22"/>
          <p:cNvSpPr txBox="1"/>
          <p:nvPr/>
        </p:nvSpPr>
        <p:spPr>
          <a:xfrm>
            <a:off x="879652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+16</a:t>
            </a:r>
          </a:p>
        </p:txBody>
      </p:sp>
      <p:sp>
        <p:nvSpPr>
          <p:cNvPr id="24" name="TextBox 23"/>
          <p:cNvSpPr txBox="1"/>
          <p:nvPr/>
        </p:nvSpPr>
        <p:spPr>
          <a:xfrm>
            <a:off x="1021384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+26</a:t>
            </a:r>
          </a:p>
        </p:txBody>
      </p:sp>
      <p:sp>
        <p:nvSpPr>
          <p:cNvPr id="25" name="Rectangle 24"/>
          <p:cNvSpPr/>
          <p:nvPr/>
        </p:nvSpPr>
        <p:spPr>
          <a:xfrm>
            <a:off x="566928" y="327245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279775"/>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Variant Fill Top Left</a:t>
            </a:r>
          </a:p>
        </p:txBody>
      </p:sp>
      <p:sp>
        <p:nvSpPr>
          <p:cNvPr id="27" name="TextBox 26"/>
          <p:cNvSpPr txBox="1"/>
          <p:nvPr/>
        </p:nvSpPr>
        <p:spPr>
          <a:xfrm>
            <a:off x="7379207"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+21</a:t>
            </a:r>
          </a:p>
        </p:txBody>
      </p:sp>
      <p:sp>
        <p:nvSpPr>
          <p:cNvPr id="28" name="TextBox 27"/>
          <p:cNvSpPr txBox="1"/>
          <p:nvPr/>
        </p:nvSpPr>
        <p:spPr>
          <a:xfrm>
            <a:off x="879652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+15</a:t>
            </a:r>
          </a:p>
        </p:txBody>
      </p:sp>
      <p:sp>
        <p:nvSpPr>
          <p:cNvPr id="29" name="TextBox 28"/>
          <p:cNvSpPr txBox="1"/>
          <p:nvPr/>
        </p:nvSpPr>
        <p:spPr>
          <a:xfrm>
            <a:off x="1021384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+27</a:t>
            </a:r>
          </a:p>
        </p:txBody>
      </p:sp>
      <p:sp>
        <p:nvSpPr>
          <p:cNvPr id="30" name="Rectangle 29"/>
          <p:cNvSpPr/>
          <p:nvPr/>
        </p:nvSpPr>
        <p:spPr>
          <a:xfrm>
            <a:off x="566928" y="3693083"/>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700399"/>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Loz Variant Outline Top Left</a:t>
            </a:r>
          </a:p>
        </p:txBody>
      </p:sp>
      <p:sp>
        <p:nvSpPr>
          <p:cNvPr id="32" name="TextBox 31"/>
          <p:cNvSpPr txBox="1"/>
          <p:nvPr/>
        </p:nvSpPr>
        <p:spPr>
          <a:xfrm>
            <a:off x="7379207"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+20</a:t>
            </a:r>
          </a:p>
        </p:txBody>
      </p:sp>
      <p:sp>
        <p:nvSpPr>
          <p:cNvPr id="33" name="TextBox 32"/>
          <p:cNvSpPr txBox="1"/>
          <p:nvPr/>
        </p:nvSpPr>
        <p:spPr>
          <a:xfrm>
            <a:off x="8796528"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+13</a:t>
            </a:r>
          </a:p>
        </p:txBody>
      </p:sp>
      <p:sp>
        <p:nvSpPr>
          <p:cNvPr id="34" name="TextBox 33"/>
          <p:cNvSpPr txBox="1"/>
          <p:nvPr/>
        </p:nvSpPr>
        <p:spPr>
          <a:xfrm>
            <a:off x="10213848" y="3700399"/>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+26</a:t>
            </a:r>
          </a:p>
        </p:txBody>
      </p:sp>
      <p:sp>
        <p:nvSpPr>
          <p:cNvPr id="35" name="Rectangle 34"/>
          <p:cNvSpPr/>
          <p:nvPr/>
        </p:nvSpPr>
        <p:spPr>
          <a:xfrm>
            <a:off x="566928" y="4113707"/>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38" name="TextBox 3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566928" y="512064"/>
            <a:ext cx="11064240" cy="427228"/>
          </a:xfrm>
          <a:prstGeom prst="rect">
            <a:avLst/>
          </a:prstGeom>
          <a:noFill/>
        </p:spPr>
        <p:txBody>
          <a:bodyPr wrap="square" anchor="t" lIns="0" rIns="0" tIns="0" bIns="0"/>
          <a:lstStyle/>
          <a:p>
            <a:pPr algn="l">
              <a:spcBef>
                <a:spcPts val="0"/>
              </a:spcBef>
              <a:spcAft>
                <a:spcPts val="0"/>
              </a:spcAft>
              <a:lnSpc>
                <a:spcPts val="3220"/>
              </a:lnSpc>
            </a:pPr>
            <a:r>
              <a:rPr sz="2800" b="1" i="0">
                <a:solidFill>
                  <a:srgbClr val="1E2D44"/>
                </a:solidFill>
                <a:latin typeface="Karla"/>
              </a:rPr>
              <a:t>Advanced Care — Element Lift Summary</a:t>
            </a:r>
          </a:p>
        </p:txBody>
      </p:sp>
      <p:sp>
        <p:nvSpPr>
          <p:cNvPr id="4" name="TextBox 3"/>
          <p:cNvSpPr txBox="1"/>
          <p:nvPr/>
        </p:nvSpPr>
        <p:spPr>
          <a:xfrm>
            <a:off x="566928" y="1012444"/>
            <a:ext cx="11064240" cy="237363"/>
          </a:xfrm>
          <a:prstGeom prst="rect">
            <a:avLst/>
          </a:prstGeom>
          <a:noFill/>
        </p:spPr>
        <p:txBody>
          <a:bodyPr wrap="square" anchor="t" lIns="0" rIns="0" tIns="0" bIns="0"/>
          <a:lstStyle/>
          <a:p>
            <a:pPr algn="l">
              <a:spcBef>
                <a:spcPts val="0"/>
              </a:spcBef>
              <a:spcAft>
                <a:spcPts val="0"/>
              </a:spcAft>
              <a:lnSpc>
                <a:spcPts val="1725"/>
              </a:lnSpc>
            </a:pPr>
            <a:r>
              <a:rPr sz="1500" b="0" i="0">
                <a:solidFill>
                  <a:srgbClr val="617086"/>
                </a:solidFill>
                <a:latin typeface="Karla"/>
              </a:rPr>
              <a:t>Non-users favor Adv Care Lowercase No Wordmark; Dove users favor Adv Care Caps No Wordmark.</a:t>
            </a:r>
          </a:p>
        </p:txBody>
      </p:sp>
      <p:sp>
        <p:nvSpPr>
          <p:cNvPr id="5" name="Rectangle 4"/>
          <p:cNvSpPr/>
          <p:nvPr/>
        </p:nvSpPr>
        <p:spPr>
          <a:xfrm>
            <a:off x="566928" y="1396111"/>
            <a:ext cx="11064240" cy="292608"/>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ADVANCED CARE</a:t>
            </a:r>
          </a:p>
        </p:txBody>
      </p:sp>
      <p:sp>
        <p:nvSpPr>
          <p:cNvPr id="6" name="TextBox 5"/>
          <p:cNvSpPr txBox="1"/>
          <p:nvPr/>
        </p:nvSpPr>
        <p:spPr>
          <a:xfrm>
            <a:off x="566928" y="1688719"/>
            <a:ext cx="6812279" cy="329184"/>
          </a:xfrm>
          <a:prstGeom prst="rect">
            <a:avLst/>
          </a:prstGeom>
          <a:noFill/>
        </p:spPr>
        <p:txBody>
          <a:bodyPr wrap="square" anchor="ctr" lIns="0" rIns="0" tIns="0" bIns="0"/>
          <a:lstStyle/>
          <a:p>
            <a:pPr algn="l">
              <a:spcBef>
                <a:spcPts val="0"/>
              </a:spcBef>
              <a:spcAft>
                <a:spcPts val="0"/>
              </a:spcAft>
              <a:lnSpc>
                <a:spcPts val="1380"/>
              </a:lnSpc>
            </a:pPr>
            <a:r>
              <a:rPr sz="1200" b="1" i="0">
                <a:solidFill>
                  <a:srgbClr val="1E2D44"/>
                </a:solidFill>
                <a:latin typeface="Karla"/>
              </a:rPr>
              <a:t>Element</a:t>
            </a:r>
          </a:p>
        </p:txBody>
      </p:sp>
      <p:sp>
        <p:nvSpPr>
          <p:cNvPr id="7" name="TextBox 6"/>
          <p:cNvSpPr txBox="1"/>
          <p:nvPr/>
        </p:nvSpPr>
        <p:spPr>
          <a:xfrm>
            <a:off x="739749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Overall</a:t>
            </a:r>
          </a:p>
        </p:txBody>
      </p:sp>
      <p:sp>
        <p:nvSpPr>
          <p:cNvPr id="8" name="TextBox 7"/>
          <p:cNvSpPr txBox="1"/>
          <p:nvPr/>
        </p:nvSpPr>
        <p:spPr>
          <a:xfrm>
            <a:off x="881481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Non-users</a:t>
            </a:r>
          </a:p>
        </p:txBody>
      </p:sp>
      <p:sp>
        <p:nvSpPr>
          <p:cNvPr id="9" name="TextBox 8"/>
          <p:cNvSpPr txBox="1"/>
          <p:nvPr/>
        </p:nvSpPr>
        <p:spPr>
          <a:xfrm>
            <a:off x="10232136"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Dove users</a:t>
            </a:r>
          </a:p>
        </p:txBody>
      </p:sp>
      <p:sp>
        <p:nvSpPr>
          <p:cNvPr id="10" name="Rectangle 9"/>
          <p:cNvSpPr/>
          <p:nvPr/>
        </p:nvSpPr>
        <p:spPr>
          <a:xfrm>
            <a:off x="566928" y="2017903"/>
            <a:ext cx="11064240" cy="10972"/>
          </a:xfrm>
          <a:prstGeom prst="rect">
            <a:avLst/>
          </a:prstGeom>
          <a:solidFill>
            <a:srgbClr val="E7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7903"/>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Adv Care Caps No Wordmark</a:t>
            </a:r>
          </a:p>
        </p:txBody>
      </p:sp>
      <p:sp>
        <p:nvSpPr>
          <p:cNvPr id="12" name="TextBox 11"/>
          <p:cNvSpPr txBox="1"/>
          <p:nvPr/>
        </p:nvSpPr>
        <p:spPr>
          <a:xfrm>
            <a:off x="7379207"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+6</a:t>
            </a:r>
          </a:p>
        </p:txBody>
      </p:sp>
      <p:sp>
        <p:nvSpPr>
          <p:cNvPr id="13" name="TextBox 12"/>
          <p:cNvSpPr txBox="1"/>
          <p:nvPr/>
        </p:nvSpPr>
        <p:spPr>
          <a:xfrm>
            <a:off x="879652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+3</a:t>
            </a:r>
          </a:p>
        </p:txBody>
      </p:sp>
      <p:sp>
        <p:nvSpPr>
          <p:cNvPr id="14" name="TextBox 13"/>
          <p:cNvSpPr txBox="1"/>
          <p:nvPr/>
        </p:nvSpPr>
        <p:spPr>
          <a:xfrm>
            <a:off x="1021384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+8</a:t>
            </a:r>
          </a:p>
        </p:txBody>
      </p:sp>
      <p:sp>
        <p:nvSpPr>
          <p:cNvPr id="15" name="Rectangle 14"/>
          <p:cNvSpPr/>
          <p:nvPr/>
        </p:nvSpPr>
        <p:spPr>
          <a:xfrm>
            <a:off x="566928" y="243121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38527"/>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Adv Care Caps Under Logo</a:t>
            </a:r>
          </a:p>
        </p:txBody>
      </p:sp>
      <p:sp>
        <p:nvSpPr>
          <p:cNvPr id="17" name="TextBox 16"/>
          <p:cNvSpPr txBox="1"/>
          <p:nvPr/>
        </p:nvSpPr>
        <p:spPr>
          <a:xfrm>
            <a:off x="7379207"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+6</a:t>
            </a:r>
          </a:p>
        </p:txBody>
      </p:sp>
      <p:sp>
        <p:nvSpPr>
          <p:cNvPr id="18" name="TextBox 17"/>
          <p:cNvSpPr txBox="1"/>
          <p:nvPr/>
        </p:nvSpPr>
        <p:spPr>
          <a:xfrm>
            <a:off x="879652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+4</a:t>
            </a:r>
          </a:p>
        </p:txBody>
      </p:sp>
      <p:sp>
        <p:nvSpPr>
          <p:cNvPr id="19" name="TextBox 18"/>
          <p:cNvSpPr txBox="1"/>
          <p:nvPr/>
        </p:nvSpPr>
        <p:spPr>
          <a:xfrm>
            <a:off x="1021384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+8</a:t>
            </a:r>
          </a:p>
        </p:txBody>
      </p:sp>
      <p:sp>
        <p:nvSpPr>
          <p:cNvPr id="20" name="Rectangle 19"/>
          <p:cNvSpPr/>
          <p:nvPr/>
        </p:nvSpPr>
        <p:spPr>
          <a:xfrm>
            <a:off x="566928" y="285183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859151"/>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Adv Care Lowercase No Wordmark</a:t>
            </a:r>
          </a:p>
        </p:txBody>
      </p:sp>
      <p:sp>
        <p:nvSpPr>
          <p:cNvPr id="22" name="TextBox 21"/>
          <p:cNvSpPr txBox="1"/>
          <p:nvPr/>
        </p:nvSpPr>
        <p:spPr>
          <a:xfrm>
            <a:off x="7379207"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+6</a:t>
            </a:r>
          </a:p>
        </p:txBody>
      </p:sp>
      <p:sp>
        <p:nvSpPr>
          <p:cNvPr id="23" name="TextBox 22"/>
          <p:cNvSpPr txBox="1"/>
          <p:nvPr/>
        </p:nvSpPr>
        <p:spPr>
          <a:xfrm>
            <a:off x="879652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+5</a:t>
            </a:r>
          </a:p>
        </p:txBody>
      </p:sp>
      <p:sp>
        <p:nvSpPr>
          <p:cNvPr id="24" name="TextBox 23"/>
          <p:cNvSpPr txBox="1"/>
          <p:nvPr/>
        </p:nvSpPr>
        <p:spPr>
          <a:xfrm>
            <a:off x="1021384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+7</a:t>
            </a:r>
          </a:p>
        </p:txBody>
      </p:sp>
      <p:sp>
        <p:nvSpPr>
          <p:cNvPr id="25" name="Rectangle 24"/>
          <p:cNvSpPr/>
          <p:nvPr/>
        </p:nvSpPr>
        <p:spPr>
          <a:xfrm>
            <a:off x="566928" y="327245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279775"/>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Adv Care Lowercase Under Logo</a:t>
            </a:r>
          </a:p>
        </p:txBody>
      </p:sp>
      <p:sp>
        <p:nvSpPr>
          <p:cNvPr id="27" name="TextBox 26"/>
          <p:cNvSpPr txBox="1"/>
          <p:nvPr/>
        </p:nvSpPr>
        <p:spPr>
          <a:xfrm>
            <a:off x="7379207"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+5</a:t>
            </a:r>
          </a:p>
        </p:txBody>
      </p:sp>
      <p:sp>
        <p:nvSpPr>
          <p:cNvPr id="28" name="TextBox 27"/>
          <p:cNvSpPr txBox="1"/>
          <p:nvPr/>
        </p:nvSpPr>
        <p:spPr>
          <a:xfrm>
            <a:off x="879652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+4</a:t>
            </a:r>
          </a:p>
        </p:txBody>
      </p:sp>
      <p:sp>
        <p:nvSpPr>
          <p:cNvPr id="29" name="TextBox 28"/>
          <p:cNvSpPr txBox="1"/>
          <p:nvPr/>
        </p:nvSpPr>
        <p:spPr>
          <a:xfrm>
            <a:off x="1021384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+7</a:t>
            </a:r>
          </a:p>
        </p:txBody>
      </p:sp>
      <p:sp>
        <p:nvSpPr>
          <p:cNvPr id="30" name="Rectangle 29"/>
          <p:cNvSpPr/>
          <p:nvPr/>
        </p:nvSpPr>
        <p:spPr>
          <a:xfrm>
            <a:off x="566928" y="3693083"/>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33" name="TextBox 3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566928" y="512064"/>
            <a:ext cx="11064240" cy="427228"/>
          </a:xfrm>
          <a:prstGeom prst="rect">
            <a:avLst/>
          </a:prstGeom>
          <a:noFill/>
        </p:spPr>
        <p:txBody>
          <a:bodyPr wrap="square" anchor="t" lIns="0" rIns="0" tIns="0" bIns="0"/>
          <a:lstStyle/>
          <a:p>
            <a:pPr algn="l">
              <a:spcBef>
                <a:spcPts val="0"/>
              </a:spcBef>
              <a:spcAft>
                <a:spcPts val="0"/>
              </a:spcAft>
              <a:lnSpc>
                <a:spcPts val="3220"/>
              </a:lnSpc>
            </a:pPr>
            <a:r>
              <a:rPr sz="2800" b="1" i="0">
                <a:solidFill>
                  <a:srgbClr val="1E2D44"/>
                </a:solidFill>
                <a:latin typeface="Karla"/>
              </a:rPr>
              <a:t>Wordmark — Element Lift Summary</a:t>
            </a:r>
          </a:p>
        </p:txBody>
      </p:sp>
      <p:sp>
        <p:nvSpPr>
          <p:cNvPr id="4" name="TextBox 3"/>
          <p:cNvSpPr txBox="1"/>
          <p:nvPr/>
        </p:nvSpPr>
        <p:spPr>
          <a:xfrm>
            <a:off x="566928" y="1012444"/>
            <a:ext cx="11064240" cy="237363"/>
          </a:xfrm>
          <a:prstGeom prst="rect">
            <a:avLst/>
          </a:prstGeom>
          <a:noFill/>
        </p:spPr>
        <p:txBody>
          <a:bodyPr wrap="square" anchor="t" lIns="0" rIns="0" tIns="0" bIns="0"/>
          <a:lstStyle/>
          <a:p>
            <a:pPr algn="l">
              <a:spcBef>
                <a:spcPts val="0"/>
              </a:spcBef>
              <a:spcAft>
                <a:spcPts val="0"/>
              </a:spcAft>
              <a:lnSpc>
                <a:spcPts val="1725"/>
              </a:lnSpc>
            </a:pPr>
            <a:r>
              <a:rPr sz="1500" b="0" i="0">
                <a:solidFill>
                  <a:srgbClr val="617086"/>
                </a:solidFill>
                <a:latin typeface="Karla"/>
              </a:rPr>
              <a:t>Wordmark 100% leads both groups; Wordmark Grey ranks last.</a:t>
            </a:r>
          </a:p>
        </p:txBody>
      </p:sp>
      <p:sp>
        <p:nvSpPr>
          <p:cNvPr id="5" name="Rectangle 4"/>
          <p:cNvSpPr/>
          <p:nvPr/>
        </p:nvSpPr>
        <p:spPr>
          <a:xfrm>
            <a:off x="566928" y="1396111"/>
            <a:ext cx="11064240" cy="292608"/>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WORDMARK</a:t>
            </a:r>
          </a:p>
        </p:txBody>
      </p:sp>
      <p:sp>
        <p:nvSpPr>
          <p:cNvPr id="6" name="TextBox 5"/>
          <p:cNvSpPr txBox="1"/>
          <p:nvPr/>
        </p:nvSpPr>
        <p:spPr>
          <a:xfrm>
            <a:off x="566928" y="1688719"/>
            <a:ext cx="6812279" cy="329184"/>
          </a:xfrm>
          <a:prstGeom prst="rect">
            <a:avLst/>
          </a:prstGeom>
          <a:noFill/>
        </p:spPr>
        <p:txBody>
          <a:bodyPr wrap="square" anchor="ctr" lIns="0" rIns="0" tIns="0" bIns="0"/>
          <a:lstStyle/>
          <a:p>
            <a:pPr algn="l">
              <a:spcBef>
                <a:spcPts val="0"/>
              </a:spcBef>
              <a:spcAft>
                <a:spcPts val="0"/>
              </a:spcAft>
              <a:lnSpc>
                <a:spcPts val="1380"/>
              </a:lnSpc>
            </a:pPr>
            <a:r>
              <a:rPr sz="1200" b="1" i="0">
                <a:solidFill>
                  <a:srgbClr val="1E2D44"/>
                </a:solidFill>
                <a:latin typeface="Karla"/>
              </a:rPr>
              <a:t>Element</a:t>
            </a:r>
          </a:p>
        </p:txBody>
      </p:sp>
      <p:sp>
        <p:nvSpPr>
          <p:cNvPr id="7" name="TextBox 6"/>
          <p:cNvSpPr txBox="1"/>
          <p:nvPr/>
        </p:nvSpPr>
        <p:spPr>
          <a:xfrm>
            <a:off x="739749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Overall</a:t>
            </a:r>
          </a:p>
        </p:txBody>
      </p:sp>
      <p:sp>
        <p:nvSpPr>
          <p:cNvPr id="8" name="TextBox 7"/>
          <p:cNvSpPr txBox="1"/>
          <p:nvPr/>
        </p:nvSpPr>
        <p:spPr>
          <a:xfrm>
            <a:off x="881481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Non-users</a:t>
            </a:r>
          </a:p>
        </p:txBody>
      </p:sp>
      <p:sp>
        <p:nvSpPr>
          <p:cNvPr id="9" name="TextBox 8"/>
          <p:cNvSpPr txBox="1"/>
          <p:nvPr/>
        </p:nvSpPr>
        <p:spPr>
          <a:xfrm>
            <a:off x="10232136"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Dove users</a:t>
            </a:r>
          </a:p>
        </p:txBody>
      </p:sp>
      <p:sp>
        <p:nvSpPr>
          <p:cNvPr id="10" name="Rectangle 9"/>
          <p:cNvSpPr/>
          <p:nvPr/>
        </p:nvSpPr>
        <p:spPr>
          <a:xfrm>
            <a:off x="566928" y="2017903"/>
            <a:ext cx="11064240" cy="10972"/>
          </a:xfrm>
          <a:prstGeom prst="rect">
            <a:avLst/>
          </a:prstGeom>
          <a:solidFill>
            <a:srgbClr val="E7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7903"/>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Wordmark 100%</a:t>
            </a:r>
          </a:p>
        </p:txBody>
      </p:sp>
      <p:sp>
        <p:nvSpPr>
          <p:cNvPr id="12" name="TextBox 11"/>
          <p:cNvSpPr txBox="1"/>
          <p:nvPr/>
        </p:nvSpPr>
        <p:spPr>
          <a:xfrm>
            <a:off x="7379207"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+14</a:t>
            </a:r>
          </a:p>
        </p:txBody>
      </p:sp>
      <p:sp>
        <p:nvSpPr>
          <p:cNvPr id="13" name="TextBox 12"/>
          <p:cNvSpPr txBox="1"/>
          <p:nvPr/>
        </p:nvSpPr>
        <p:spPr>
          <a:xfrm>
            <a:off x="879652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+11</a:t>
            </a:r>
          </a:p>
        </p:txBody>
      </p:sp>
      <p:sp>
        <p:nvSpPr>
          <p:cNvPr id="14" name="TextBox 13"/>
          <p:cNvSpPr txBox="1"/>
          <p:nvPr/>
        </p:nvSpPr>
        <p:spPr>
          <a:xfrm>
            <a:off x="1021384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+18</a:t>
            </a:r>
          </a:p>
        </p:txBody>
      </p:sp>
      <p:sp>
        <p:nvSpPr>
          <p:cNvPr id="15" name="Rectangle 14"/>
          <p:cNvSpPr/>
          <p:nvPr/>
        </p:nvSpPr>
        <p:spPr>
          <a:xfrm>
            <a:off x="566928" y="243121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38527"/>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Wordmark 60%</a:t>
            </a:r>
          </a:p>
        </p:txBody>
      </p:sp>
      <p:sp>
        <p:nvSpPr>
          <p:cNvPr id="17" name="TextBox 16"/>
          <p:cNvSpPr txBox="1"/>
          <p:nvPr/>
        </p:nvSpPr>
        <p:spPr>
          <a:xfrm>
            <a:off x="7379207"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+12</a:t>
            </a:r>
          </a:p>
        </p:txBody>
      </p:sp>
      <p:sp>
        <p:nvSpPr>
          <p:cNvPr id="18" name="TextBox 17"/>
          <p:cNvSpPr txBox="1"/>
          <p:nvPr/>
        </p:nvSpPr>
        <p:spPr>
          <a:xfrm>
            <a:off x="879652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+9</a:t>
            </a:r>
          </a:p>
        </p:txBody>
      </p:sp>
      <p:sp>
        <p:nvSpPr>
          <p:cNvPr id="19" name="TextBox 18"/>
          <p:cNvSpPr txBox="1"/>
          <p:nvPr/>
        </p:nvSpPr>
        <p:spPr>
          <a:xfrm>
            <a:off x="1021384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+14</a:t>
            </a:r>
          </a:p>
        </p:txBody>
      </p:sp>
      <p:sp>
        <p:nvSpPr>
          <p:cNvPr id="20" name="Rectangle 19"/>
          <p:cNvSpPr/>
          <p:nvPr/>
        </p:nvSpPr>
        <p:spPr>
          <a:xfrm>
            <a:off x="566928" y="285183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859151"/>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Wordmark 75%</a:t>
            </a:r>
          </a:p>
        </p:txBody>
      </p:sp>
      <p:sp>
        <p:nvSpPr>
          <p:cNvPr id="22" name="TextBox 21"/>
          <p:cNvSpPr txBox="1"/>
          <p:nvPr/>
        </p:nvSpPr>
        <p:spPr>
          <a:xfrm>
            <a:off x="7379207"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+11</a:t>
            </a:r>
          </a:p>
        </p:txBody>
      </p:sp>
      <p:sp>
        <p:nvSpPr>
          <p:cNvPr id="23" name="TextBox 22"/>
          <p:cNvSpPr txBox="1"/>
          <p:nvPr/>
        </p:nvSpPr>
        <p:spPr>
          <a:xfrm>
            <a:off x="879652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+8</a:t>
            </a:r>
          </a:p>
        </p:txBody>
      </p:sp>
      <p:sp>
        <p:nvSpPr>
          <p:cNvPr id="24" name="TextBox 23"/>
          <p:cNvSpPr txBox="1"/>
          <p:nvPr/>
        </p:nvSpPr>
        <p:spPr>
          <a:xfrm>
            <a:off x="1021384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+14</a:t>
            </a:r>
          </a:p>
        </p:txBody>
      </p:sp>
      <p:sp>
        <p:nvSpPr>
          <p:cNvPr id="25" name="Rectangle 24"/>
          <p:cNvSpPr/>
          <p:nvPr/>
        </p:nvSpPr>
        <p:spPr>
          <a:xfrm>
            <a:off x="566928" y="327245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279775"/>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Wordmark Grey</a:t>
            </a:r>
          </a:p>
        </p:txBody>
      </p:sp>
      <p:sp>
        <p:nvSpPr>
          <p:cNvPr id="27" name="TextBox 26"/>
          <p:cNvSpPr txBox="1"/>
          <p:nvPr/>
        </p:nvSpPr>
        <p:spPr>
          <a:xfrm>
            <a:off x="7379207"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+6</a:t>
            </a:r>
          </a:p>
        </p:txBody>
      </p:sp>
      <p:sp>
        <p:nvSpPr>
          <p:cNvPr id="28" name="TextBox 27"/>
          <p:cNvSpPr txBox="1"/>
          <p:nvPr/>
        </p:nvSpPr>
        <p:spPr>
          <a:xfrm>
            <a:off x="879652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+4</a:t>
            </a:r>
          </a:p>
        </p:txBody>
      </p:sp>
      <p:sp>
        <p:nvSpPr>
          <p:cNvPr id="29" name="TextBox 28"/>
          <p:cNvSpPr txBox="1"/>
          <p:nvPr/>
        </p:nvSpPr>
        <p:spPr>
          <a:xfrm>
            <a:off x="1021384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+9</a:t>
            </a:r>
          </a:p>
        </p:txBody>
      </p:sp>
      <p:sp>
        <p:nvSpPr>
          <p:cNvPr id="30" name="Rectangle 29"/>
          <p:cNvSpPr/>
          <p:nvPr/>
        </p:nvSpPr>
        <p:spPr>
          <a:xfrm>
            <a:off x="566928" y="3693083"/>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33" name="TextBox 3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566928" y="512064"/>
            <a:ext cx="11064240" cy="427228"/>
          </a:xfrm>
          <a:prstGeom prst="rect">
            <a:avLst/>
          </a:prstGeom>
          <a:noFill/>
        </p:spPr>
        <p:txBody>
          <a:bodyPr wrap="square" anchor="t" lIns="0" rIns="0" tIns="0" bIns="0"/>
          <a:lstStyle/>
          <a:p>
            <a:pPr algn="l">
              <a:spcBef>
                <a:spcPts val="0"/>
              </a:spcBef>
              <a:spcAft>
                <a:spcPts val="0"/>
              </a:spcAft>
              <a:lnSpc>
                <a:spcPts val="3220"/>
              </a:lnSpc>
            </a:pPr>
            <a:r>
              <a:rPr sz="2800" b="1" i="0">
                <a:solidFill>
                  <a:srgbClr val="1E2D44"/>
                </a:solidFill>
                <a:latin typeface="Karla"/>
              </a:rPr>
              <a:t>Bird Treatment — Element Lift Summary</a:t>
            </a:r>
          </a:p>
        </p:txBody>
      </p:sp>
      <p:sp>
        <p:nvSpPr>
          <p:cNvPr id="4" name="TextBox 3"/>
          <p:cNvSpPr txBox="1"/>
          <p:nvPr/>
        </p:nvSpPr>
        <p:spPr>
          <a:xfrm>
            <a:off x="566928" y="1012444"/>
            <a:ext cx="11064240" cy="237363"/>
          </a:xfrm>
          <a:prstGeom prst="rect">
            <a:avLst/>
          </a:prstGeom>
          <a:noFill/>
        </p:spPr>
        <p:txBody>
          <a:bodyPr wrap="square" anchor="t" lIns="0" rIns="0" tIns="0" bIns="0"/>
          <a:lstStyle/>
          <a:p>
            <a:pPr algn="l">
              <a:spcBef>
                <a:spcPts val="0"/>
              </a:spcBef>
              <a:spcAft>
                <a:spcPts val="0"/>
              </a:spcAft>
              <a:lnSpc>
                <a:spcPts val="1725"/>
              </a:lnSpc>
            </a:pPr>
            <a:r>
              <a:rPr sz="1500" b="0" i="0">
                <a:solidFill>
                  <a:srgbClr val="617086"/>
                </a:solidFill>
                <a:latin typeface="Karla"/>
              </a:rPr>
              <a:t>Non-users favor Bird Variant Gravure; Dove users favor Bird Gold Cold Foil.</a:t>
            </a:r>
          </a:p>
        </p:txBody>
      </p:sp>
      <p:sp>
        <p:nvSpPr>
          <p:cNvPr id="5" name="Rectangle 4"/>
          <p:cNvSpPr/>
          <p:nvPr/>
        </p:nvSpPr>
        <p:spPr>
          <a:xfrm>
            <a:off x="566928" y="1396111"/>
            <a:ext cx="11064240" cy="292608"/>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BIRD TREATMENT</a:t>
            </a:r>
          </a:p>
        </p:txBody>
      </p:sp>
      <p:sp>
        <p:nvSpPr>
          <p:cNvPr id="6" name="TextBox 5"/>
          <p:cNvSpPr txBox="1"/>
          <p:nvPr/>
        </p:nvSpPr>
        <p:spPr>
          <a:xfrm>
            <a:off x="566928" y="1688719"/>
            <a:ext cx="6812279" cy="329184"/>
          </a:xfrm>
          <a:prstGeom prst="rect">
            <a:avLst/>
          </a:prstGeom>
          <a:noFill/>
        </p:spPr>
        <p:txBody>
          <a:bodyPr wrap="square" anchor="ctr" lIns="0" rIns="0" tIns="0" bIns="0"/>
          <a:lstStyle/>
          <a:p>
            <a:pPr algn="l">
              <a:spcBef>
                <a:spcPts val="0"/>
              </a:spcBef>
              <a:spcAft>
                <a:spcPts val="0"/>
              </a:spcAft>
              <a:lnSpc>
                <a:spcPts val="1380"/>
              </a:lnSpc>
            </a:pPr>
            <a:r>
              <a:rPr sz="1200" b="1" i="0">
                <a:solidFill>
                  <a:srgbClr val="1E2D44"/>
                </a:solidFill>
                <a:latin typeface="Karla"/>
              </a:rPr>
              <a:t>Element</a:t>
            </a:r>
          </a:p>
        </p:txBody>
      </p:sp>
      <p:sp>
        <p:nvSpPr>
          <p:cNvPr id="7" name="TextBox 6"/>
          <p:cNvSpPr txBox="1"/>
          <p:nvPr/>
        </p:nvSpPr>
        <p:spPr>
          <a:xfrm>
            <a:off x="739749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Overall</a:t>
            </a:r>
          </a:p>
        </p:txBody>
      </p:sp>
      <p:sp>
        <p:nvSpPr>
          <p:cNvPr id="8" name="TextBox 7"/>
          <p:cNvSpPr txBox="1"/>
          <p:nvPr/>
        </p:nvSpPr>
        <p:spPr>
          <a:xfrm>
            <a:off x="881481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Non-users</a:t>
            </a:r>
          </a:p>
        </p:txBody>
      </p:sp>
      <p:sp>
        <p:nvSpPr>
          <p:cNvPr id="9" name="TextBox 8"/>
          <p:cNvSpPr txBox="1"/>
          <p:nvPr/>
        </p:nvSpPr>
        <p:spPr>
          <a:xfrm>
            <a:off x="10232136"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Dove users</a:t>
            </a:r>
          </a:p>
        </p:txBody>
      </p:sp>
      <p:sp>
        <p:nvSpPr>
          <p:cNvPr id="10" name="Rectangle 9"/>
          <p:cNvSpPr/>
          <p:nvPr/>
        </p:nvSpPr>
        <p:spPr>
          <a:xfrm>
            <a:off x="566928" y="2017903"/>
            <a:ext cx="11064240" cy="10972"/>
          </a:xfrm>
          <a:prstGeom prst="rect">
            <a:avLst/>
          </a:prstGeom>
          <a:solidFill>
            <a:srgbClr val="E7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7903"/>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Bird Gold Cold Foil</a:t>
            </a:r>
          </a:p>
        </p:txBody>
      </p:sp>
      <p:sp>
        <p:nvSpPr>
          <p:cNvPr id="12" name="TextBox 11"/>
          <p:cNvSpPr txBox="1"/>
          <p:nvPr/>
        </p:nvSpPr>
        <p:spPr>
          <a:xfrm>
            <a:off x="7379207"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+7</a:t>
            </a:r>
          </a:p>
        </p:txBody>
      </p:sp>
      <p:sp>
        <p:nvSpPr>
          <p:cNvPr id="13" name="TextBox 12"/>
          <p:cNvSpPr txBox="1"/>
          <p:nvPr/>
        </p:nvSpPr>
        <p:spPr>
          <a:xfrm>
            <a:off x="879652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+6</a:t>
            </a:r>
          </a:p>
        </p:txBody>
      </p:sp>
      <p:sp>
        <p:nvSpPr>
          <p:cNvPr id="14" name="TextBox 13"/>
          <p:cNvSpPr txBox="1"/>
          <p:nvPr/>
        </p:nvSpPr>
        <p:spPr>
          <a:xfrm>
            <a:off x="1021384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+9</a:t>
            </a:r>
          </a:p>
        </p:txBody>
      </p:sp>
      <p:sp>
        <p:nvSpPr>
          <p:cNvPr id="15" name="Rectangle 14"/>
          <p:cNvSpPr/>
          <p:nvPr/>
        </p:nvSpPr>
        <p:spPr>
          <a:xfrm>
            <a:off x="566928" y="243121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38527"/>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Bird Gold Gravure</a:t>
            </a:r>
          </a:p>
        </p:txBody>
      </p:sp>
      <p:sp>
        <p:nvSpPr>
          <p:cNvPr id="17" name="TextBox 16"/>
          <p:cNvSpPr txBox="1"/>
          <p:nvPr/>
        </p:nvSpPr>
        <p:spPr>
          <a:xfrm>
            <a:off x="7379207"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+7</a:t>
            </a:r>
          </a:p>
        </p:txBody>
      </p:sp>
      <p:sp>
        <p:nvSpPr>
          <p:cNvPr id="18" name="TextBox 17"/>
          <p:cNvSpPr txBox="1"/>
          <p:nvPr/>
        </p:nvSpPr>
        <p:spPr>
          <a:xfrm>
            <a:off x="879652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+6</a:t>
            </a:r>
          </a:p>
        </p:txBody>
      </p:sp>
      <p:sp>
        <p:nvSpPr>
          <p:cNvPr id="19" name="TextBox 18"/>
          <p:cNvSpPr txBox="1"/>
          <p:nvPr/>
        </p:nvSpPr>
        <p:spPr>
          <a:xfrm>
            <a:off x="1021384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+9</a:t>
            </a:r>
          </a:p>
        </p:txBody>
      </p:sp>
      <p:sp>
        <p:nvSpPr>
          <p:cNvPr id="20" name="Rectangle 19"/>
          <p:cNvSpPr/>
          <p:nvPr/>
        </p:nvSpPr>
        <p:spPr>
          <a:xfrm>
            <a:off x="566928" y="285183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859151"/>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Bird Holo Foil</a:t>
            </a:r>
          </a:p>
        </p:txBody>
      </p:sp>
      <p:sp>
        <p:nvSpPr>
          <p:cNvPr id="22" name="TextBox 21"/>
          <p:cNvSpPr txBox="1"/>
          <p:nvPr/>
        </p:nvSpPr>
        <p:spPr>
          <a:xfrm>
            <a:off x="7379207"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+7</a:t>
            </a:r>
          </a:p>
        </p:txBody>
      </p:sp>
      <p:sp>
        <p:nvSpPr>
          <p:cNvPr id="23" name="TextBox 22"/>
          <p:cNvSpPr txBox="1"/>
          <p:nvPr/>
        </p:nvSpPr>
        <p:spPr>
          <a:xfrm>
            <a:off x="879652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+6</a:t>
            </a:r>
          </a:p>
        </p:txBody>
      </p:sp>
      <p:sp>
        <p:nvSpPr>
          <p:cNvPr id="24" name="TextBox 23"/>
          <p:cNvSpPr txBox="1"/>
          <p:nvPr/>
        </p:nvSpPr>
        <p:spPr>
          <a:xfrm>
            <a:off x="1021384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+9</a:t>
            </a:r>
          </a:p>
        </p:txBody>
      </p:sp>
      <p:sp>
        <p:nvSpPr>
          <p:cNvPr id="25" name="Rectangle 24"/>
          <p:cNvSpPr/>
          <p:nvPr/>
        </p:nvSpPr>
        <p:spPr>
          <a:xfrm>
            <a:off x="566928" y="327245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279775"/>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Bird Variant Gravure</a:t>
            </a:r>
          </a:p>
        </p:txBody>
      </p:sp>
      <p:sp>
        <p:nvSpPr>
          <p:cNvPr id="27" name="TextBox 26"/>
          <p:cNvSpPr txBox="1"/>
          <p:nvPr/>
        </p:nvSpPr>
        <p:spPr>
          <a:xfrm>
            <a:off x="7379207"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+7</a:t>
            </a:r>
          </a:p>
        </p:txBody>
      </p:sp>
      <p:sp>
        <p:nvSpPr>
          <p:cNvPr id="28" name="TextBox 27"/>
          <p:cNvSpPr txBox="1"/>
          <p:nvPr/>
        </p:nvSpPr>
        <p:spPr>
          <a:xfrm>
            <a:off x="879652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+7</a:t>
            </a:r>
          </a:p>
        </p:txBody>
      </p:sp>
      <p:sp>
        <p:nvSpPr>
          <p:cNvPr id="29" name="TextBox 28"/>
          <p:cNvSpPr txBox="1"/>
          <p:nvPr/>
        </p:nvSpPr>
        <p:spPr>
          <a:xfrm>
            <a:off x="10213848" y="3279775"/>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+8</a:t>
            </a:r>
          </a:p>
        </p:txBody>
      </p:sp>
      <p:sp>
        <p:nvSpPr>
          <p:cNvPr id="30" name="Rectangle 29"/>
          <p:cNvSpPr/>
          <p:nvPr/>
        </p:nvSpPr>
        <p:spPr>
          <a:xfrm>
            <a:off x="566928" y="3693083"/>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33" name="TextBox 3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566928" y="512064"/>
            <a:ext cx="11064240" cy="427228"/>
          </a:xfrm>
          <a:prstGeom prst="rect">
            <a:avLst/>
          </a:prstGeom>
          <a:noFill/>
        </p:spPr>
        <p:txBody>
          <a:bodyPr wrap="square" anchor="t" lIns="0" rIns="0" tIns="0" bIns="0"/>
          <a:lstStyle/>
          <a:p>
            <a:pPr algn="l">
              <a:spcBef>
                <a:spcPts val="0"/>
              </a:spcBef>
              <a:spcAft>
                <a:spcPts val="0"/>
              </a:spcAft>
              <a:lnSpc>
                <a:spcPts val="3220"/>
              </a:lnSpc>
            </a:pPr>
            <a:r>
              <a:rPr sz="2800" b="1" i="0">
                <a:solidFill>
                  <a:srgbClr val="1E2D44"/>
                </a:solidFill>
                <a:latin typeface="Karla"/>
              </a:rPr>
              <a:t>Gold Foil Band — Element Lift Summary</a:t>
            </a:r>
          </a:p>
        </p:txBody>
      </p:sp>
      <p:sp>
        <p:nvSpPr>
          <p:cNvPr id="4" name="TextBox 3"/>
          <p:cNvSpPr txBox="1"/>
          <p:nvPr/>
        </p:nvSpPr>
        <p:spPr>
          <a:xfrm>
            <a:off x="566928" y="1012444"/>
            <a:ext cx="11064240" cy="237363"/>
          </a:xfrm>
          <a:prstGeom prst="rect">
            <a:avLst/>
          </a:prstGeom>
          <a:noFill/>
        </p:spPr>
        <p:txBody>
          <a:bodyPr wrap="square" anchor="t" lIns="0" rIns="0" tIns="0" bIns="0"/>
          <a:lstStyle/>
          <a:p>
            <a:pPr algn="l">
              <a:spcBef>
                <a:spcPts val="0"/>
              </a:spcBef>
              <a:spcAft>
                <a:spcPts val="0"/>
              </a:spcAft>
              <a:lnSpc>
                <a:spcPts val="1725"/>
              </a:lnSpc>
            </a:pPr>
            <a:r>
              <a:rPr sz="1500" b="0" i="0">
                <a:solidFill>
                  <a:srgbClr val="617086"/>
                </a:solidFill>
                <a:latin typeface="Karla"/>
              </a:rPr>
              <a:t>Gold Band On leads both groups; Gold Band Off ranks last.</a:t>
            </a:r>
          </a:p>
        </p:txBody>
      </p:sp>
      <p:sp>
        <p:nvSpPr>
          <p:cNvPr id="5" name="Rectangle 4"/>
          <p:cNvSpPr/>
          <p:nvPr/>
        </p:nvSpPr>
        <p:spPr>
          <a:xfrm>
            <a:off x="566928" y="1396111"/>
            <a:ext cx="11064240" cy="292608"/>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GOLD FOIL BAND</a:t>
            </a:r>
          </a:p>
        </p:txBody>
      </p:sp>
      <p:sp>
        <p:nvSpPr>
          <p:cNvPr id="6" name="TextBox 5"/>
          <p:cNvSpPr txBox="1"/>
          <p:nvPr/>
        </p:nvSpPr>
        <p:spPr>
          <a:xfrm>
            <a:off x="566928" y="1688719"/>
            <a:ext cx="6812279" cy="329184"/>
          </a:xfrm>
          <a:prstGeom prst="rect">
            <a:avLst/>
          </a:prstGeom>
          <a:noFill/>
        </p:spPr>
        <p:txBody>
          <a:bodyPr wrap="square" anchor="ctr" lIns="0" rIns="0" tIns="0" bIns="0"/>
          <a:lstStyle/>
          <a:p>
            <a:pPr algn="l">
              <a:spcBef>
                <a:spcPts val="0"/>
              </a:spcBef>
              <a:spcAft>
                <a:spcPts val="0"/>
              </a:spcAft>
              <a:lnSpc>
                <a:spcPts val="1380"/>
              </a:lnSpc>
            </a:pPr>
            <a:r>
              <a:rPr sz="1200" b="1" i="0">
                <a:solidFill>
                  <a:srgbClr val="1E2D44"/>
                </a:solidFill>
                <a:latin typeface="Karla"/>
              </a:rPr>
              <a:t>Element</a:t>
            </a:r>
          </a:p>
        </p:txBody>
      </p:sp>
      <p:sp>
        <p:nvSpPr>
          <p:cNvPr id="7" name="TextBox 6"/>
          <p:cNvSpPr txBox="1"/>
          <p:nvPr/>
        </p:nvSpPr>
        <p:spPr>
          <a:xfrm>
            <a:off x="739749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Overall</a:t>
            </a:r>
          </a:p>
        </p:txBody>
      </p:sp>
      <p:sp>
        <p:nvSpPr>
          <p:cNvPr id="8" name="TextBox 7"/>
          <p:cNvSpPr txBox="1"/>
          <p:nvPr/>
        </p:nvSpPr>
        <p:spPr>
          <a:xfrm>
            <a:off x="881481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Non-users</a:t>
            </a:r>
          </a:p>
        </p:txBody>
      </p:sp>
      <p:sp>
        <p:nvSpPr>
          <p:cNvPr id="9" name="TextBox 8"/>
          <p:cNvSpPr txBox="1"/>
          <p:nvPr/>
        </p:nvSpPr>
        <p:spPr>
          <a:xfrm>
            <a:off x="10232136"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Dove users</a:t>
            </a:r>
          </a:p>
        </p:txBody>
      </p:sp>
      <p:sp>
        <p:nvSpPr>
          <p:cNvPr id="10" name="Rectangle 9"/>
          <p:cNvSpPr/>
          <p:nvPr/>
        </p:nvSpPr>
        <p:spPr>
          <a:xfrm>
            <a:off x="566928" y="2017903"/>
            <a:ext cx="11064240" cy="10972"/>
          </a:xfrm>
          <a:prstGeom prst="rect">
            <a:avLst/>
          </a:prstGeom>
          <a:solidFill>
            <a:srgbClr val="E7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7903"/>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Gold Band On</a:t>
            </a:r>
          </a:p>
        </p:txBody>
      </p:sp>
      <p:sp>
        <p:nvSpPr>
          <p:cNvPr id="12" name="TextBox 11"/>
          <p:cNvSpPr txBox="1"/>
          <p:nvPr/>
        </p:nvSpPr>
        <p:spPr>
          <a:xfrm>
            <a:off x="7379207"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+3</a:t>
            </a:r>
          </a:p>
        </p:txBody>
      </p:sp>
      <p:sp>
        <p:nvSpPr>
          <p:cNvPr id="13" name="TextBox 12"/>
          <p:cNvSpPr txBox="1"/>
          <p:nvPr/>
        </p:nvSpPr>
        <p:spPr>
          <a:xfrm>
            <a:off x="879652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+3</a:t>
            </a:r>
          </a:p>
        </p:txBody>
      </p:sp>
      <p:sp>
        <p:nvSpPr>
          <p:cNvPr id="14" name="TextBox 13"/>
          <p:cNvSpPr txBox="1"/>
          <p:nvPr/>
        </p:nvSpPr>
        <p:spPr>
          <a:xfrm>
            <a:off x="1021384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+4</a:t>
            </a:r>
          </a:p>
        </p:txBody>
      </p:sp>
      <p:sp>
        <p:nvSpPr>
          <p:cNvPr id="15" name="Rectangle 14"/>
          <p:cNvSpPr/>
          <p:nvPr/>
        </p:nvSpPr>
        <p:spPr>
          <a:xfrm>
            <a:off x="566928" y="243121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38527"/>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Gold Band Blue</a:t>
            </a:r>
          </a:p>
        </p:txBody>
      </p:sp>
      <p:sp>
        <p:nvSpPr>
          <p:cNvPr id="17" name="TextBox 16"/>
          <p:cNvSpPr txBox="1"/>
          <p:nvPr/>
        </p:nvSpPr>
        <p:spPr>
          <a:xfrm>
            <a:off x="7379207"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+3</a:t>
            </a:r>
          </a:p>
        </p:txBody>
      </p:sp>
      <p:sp>
        <p:nvSpPr>
          <p:cNvPr id="18" name="TextBox 17"/>
          <p:cNvSpPr txBox="1"/>
          <p:nvPr/>
        </p:nvSpPr>
        <p:spPr>
          <a:xfrm>
            <a:off x="879652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a:t>
            </a:r>
          </a:p>
        </p:txBody>
      </p:sp>
      <p:sp>
        <p:nvSpPr>
          <p:cNvPr id="19" name="TextBox 18"/>
          <p:cNvSpPr txBox="1"/>
          <p:nvPr/>
        </p:nvSpPr>
        <p:spPr>
          <a:xfrm>
            <a:off x="1021384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+4</a:t>
            </a:r>
          </a:p>
        </p:txBody>
      </p:sp>
      <p:sp>
        <p:nvSpPr>
          <p:cNvPr id="20" name="Rectangle 19"/>
          <p:cNvSpPr/>
          <p:nvPr/>
        </p:nvSpPr>
        <p:spPr>
          <a:xfrm>
            <a:off x="566928" y="285183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859151"/>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Gold Band Off</a:t>
            </a:r>
          </a:p>
        </p:txBody>
      </p:sp>
      <p:sp>
        <p:nvSpPr>
          <p:cNvPr id="22" name="TextBox 21"/>
          <p:cNvSpPr txBox="1"/>
          <p:nvPr/>
        </p:nvSpPr>
        <p:spPr>
          <a:xfrm>
            <a:off x="7379207"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+1</a:t>
            </a:r>
          </a:p>
        </p:txBody>
      </p:sp>
      <p:sp>
        <p:nvSpPr>
          <p:cNvPr id="23" name="TextBox 22"/>
          <p:cNvSpPr txBox="1"/>
          <p:nvPr/>
        </p:nvSpPr>
        <p:spPr>
          <a:xfrm>
            <a:off x="879652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617086"/>
                </a:solidFill>
                <a:latin typeface="Karla"/>
              </a:rPr>
              <a:t>0</a:t>
            </a:r>
          </a:p>
        </p:txBody>
      </p:sp>
      <p:sp>
        <p:nvSpPr>
          <p:cNvPr id="24" name="TextBox 23"/>
          <p:cNvSpPr txBox="1"/>
          <p:nvPr/>
        </p:nvSpPr>
        <p:spPr>
          <a:xfrm>
            <a:off x="1021384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+3</a:t>
            </a:r>
          </a:p>
        </p:txBody>
      </p:sp>
      <p:sp>
        <p:nvSpPr>
          <p:cNvPr id="25" name="Rectangle 24"/>
          <p:cNvSpPr/>
          <p:nvPr/>
        </p:nvSpPr>
        <p:spPr>
          <a:xfrm>
            <a:off x="566928" y="327245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28" name="TextBox 2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FULL ELEMENT LIFT SUMMARY</a:t>
            </a:r>
          </a:p>
        </p:txBody>
      </p:sp>
      <p:sp>
        <p:nvSpPr>
          <p:cNvPr id="3" name="TextBox 2"/>
          <p:cNvSpPr txBox="1"/>
          <p:nvPr/>
        </p:nvSpPr>
        <p:spPr>
          <a:xfrm>
            <a:off x="566928" y="512064"/>
            <a:ext cx="11064240" cy="427228"/>
          </a:xfrm>
          <a:prstGeom prst="rect">
            <a:avLst/>
          </a:prstGeom>
          <a:noFill/>
        </p:spPr>
        <p:txBody>
          <a:bodyPr wrap="square" anchor="t" lIns="0" rIns="0" tIns="0" bIns="0"/>
          <a:lstStyle/>
          <a:p>
            <a:pPr algn="l">
              <a:spcBef>
                <a:spcPts val="0"/>
              </a:spcBef>
              <a:spcAft>
                <a:spcPts val="0"/>
              </a:spcAft>
              <a:lnSpc>
                <a:spcPts val="3220"/>
              </a:lnSpc>
            </a:pPr>
            <a:r>
              <a:rPr sz="2800" b="1" i="0">
                <a:solidFill>
                  <a:srgbClr val="1E2D44"/>
                </a:solidFill>
                <a:latin typeface="Karla"/>
              </a:rPr>
              <a:t>Cap Color — Element Lift Summary</a:t>
            </a:r>
          </a:p>
        </p:txBody>
      </p:sp>
      <p:sp>
        <p:nvSpPr>
          <p:cNvPr id="4" name="TextBox 3"/>
          <p:cNvSpPr txBox="1"/>
          <p:nvPr/>
        </p:nvSpPr>
        <p:spPr>
          <a:xfrm>
            <a:off x="566928" y="1012444"/>
            <a:ext cx="11064240" cy="237363"/>
          </a:xfrm>
          <a:prstGeom prst="rect">
            <a:avLst/>
          </a:prstGeom>
          <a:noFill/>
        </p:spPr>
        <p:txBody>
          <a:bodyPr wrap="square" anchor="t" lIns="0" rIns="0" tIns="0" bIns="0"/>
          <a:lstStyle/>
          <a:p>
            <a:pPr algn="l">
              <a:spcBef>
                <a:spcPts val="0"/>
              </a:spcBef>
              <a:spcAft>
                <a:spcPts val="0"/>
              </a:spcAft>
              <a:lnSpc>
                <a:spcPts val="1725"/>
              </a:lnSpc>
            </a:pPr>
            <a:r>
              <a:rPr sz="1500" b="0" i="0">
                <a:solidFill>
                  <a:srgbClr val="617086"/>
                </a:solidFill>
                <a:latin typeface="Karla"/>
              </a:rPr>
              <a:t>Cap Pearl White leads both groups; Cap Gold ranks last.</a:t>
            </a:r>
          </a:p>
        </p:txBody>
      </p:sp>
      <p:sp>
        <p:nvSpPr>
          <p:cNvPr id="5" name="Rectangle 4"/>
          <p:cNvSpPr/>
          <p:nvPr/>
        </p:nvSpPr>
        <p:spPr>
          <a:xfrm>
            <a:off x="566928" y="1396111"/>
            <a:ext cx="11064240" cy="292608"/>
          </a:xfrm>
          <a:prstGeom prst="rect">
            <a:avLst/>
          </a:prstGeom>
          <a:solidFill>
            <a:srgbClr val="F7E6E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spcBef>
                <a:spcPts val="0"/>
              </a:spcBef>
              <a:spcAft>
                <a:spcPts val="0"/>
              </a:spcAft>
            </a:pPr>
            <a:r>
              <a:rPr sz="1200" b="1">
                <a:solidFill>
                  <a:srgbClr val="1E2D44"/>
                </a:solidFill>
                <a:latin typeface="Karla"/>
              </a:rPr>
              <a:t>CAP COLOR</a:t>
            </a:r>
          </a:p>
        </p:txBody>
      </p:sp>
      <p:sp>
        <p:nvSpPr>
          <p:cNvPr id="6" name="TextBox 5"/>
          <p:cNvSpPr txBox="1"/>
          <p:nvPr/>
        </p:nvSpPr>
        <p:spPr>
          <a:xfrm>
            <a:off x="566928" y="1688719"/>
            <a:ext cx="6812279" cy="329184"/>
          </a:xfrm>
          <a:prstGeom prst="rect">
            <a:avLst/>
          </a:prstGeom>
          <a:noFill/>
        </p:spPr>
        <p:txBody>
          <a:bodyPr wrap="square" anchor="ctr" lIns="0" rIns="0" tIns="0" bIns="0"/>
          <a:lstStyle/>
          <a:p>
            <a:pPr algn="l">
              <a:spcBef>
                <a:spcPts val="0"/>
              </a:spcBef>
              <a:spcAft>
                <a:spcPts val="0"/>
              </a:spcAft>
              <a:lnSpc>
                <a:spcPts val="1380"/>
              </a:lnSpc>
            </a:pPr>
            <a:r>
              <a:rPr sz="1200" b="1" i="0">
                <a:solidFill>
                  <a:srgbClr val="1E2D44"/>
                </a:solidFill>
                <a:latin typeface="Karla"/>
              </a:rPr>
              <a:t>Element</a:t>
            </a:r>
          </a:p>
        </p:txBody>
      </p:sp>
      <p:sp>
        <p:nvSpPr>
          <p:cNvPr id="7" name="TextBox 6"/>
          <p:cNvSpPr txBox="1"/>
          <p:nvPr/>
        </p:nvSpPr>
        <p:spPr>
          <a:xfrm>
            <a:off x="739749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Overall</a:t>
            </a:r>
          </a:p>
        </p:txBody>
      </p:sp>
      <p:sp>
        <p:nvSpPr>
          <p:cNvPr id="8" name="TextBox 7"/>
          <p:cNvSpPr txBox="1"/>
          <p:nvPr/>
        </p:nvSpPr>
        <p:spPr>
          <a:xfrm>
            <a:off x="8814815"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Non-users</a:t>
            </a:r>
          </a:p>
        </p:txBody>
      </p:sp>
      <p:sp>
        <p:nvSpPr>
          <p:cNvPr id="9" name="TextBox 8"/>
          <p:cNvSpPr txBox="1"/>
          <p:nvPr/>
        </p:nvSpPr>
        <p:spPr>
          <a:xfrm>
            <a:off x="10232136" y="1688719"/>
            <a:ext cx="1380744" cy="329184"/>
          </a:xfrm>
          <a:prstGeom prst="rect">
            <a:avLst/>
          </a:prstGeom>
          <a:noFill/>
        </p:spPr>
        <p:txBody>
          <a:bodyPr wrap="square" anchor="ctr" lIns="0" rIns="0" tIns="0" bIns="0"/>
          <a:lstStyle/>
          <a:p>
            <a:pPr algn="ctr">
              <a:spcBef>
                <a:spcPts val="0"/>
              </a:spcBef>
              <a:spcAft>
                <a:spcPts val="0"/>
              </a:spcAft>
              <a:lnSpc>
                <a:spcPts val="1380"/>
              </a:lnSpc>
            </a:pPr>
            <a:r>
              <a:rPr sz="1200" b="1" i="0">
                <a:solidFill>
                  <a:srgbClr val="1E2D44"/>
                </a:solidFill>
                <a:latin typeface="Karla"/>
              </a:rPr>
              <a:t>Dove users</a:t>
            </a:r>
          </a:p>
        </p:txBody>
      </p:sp>
      <p:sp>
        <p:nvSpPr>
          <p:cNvPr id="10" name="Rectangle 9"/>
          <p:cNvSpPr/>
          <p:nvPr/>
        </p:nvSpPr>
        <p:spPr>
          <a:xfrm>
            <a:off x="566928" y="2017903"/>
            <a:ext cx="11064240" cy="10972"/>
          </a:xfrm>
          <a:prstGeom prst="rect">
            <a:avLst/>
          </a:prstGeom>
          <a:solidFill>
            <a:srgbClr val="E7D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7903"/>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Cap Pearl White</a:t>
            </a:r>
          </a:p>
        </p:txBody>
      </p:sp>
      <p:sp>
        <p:nvSpPr>
          <p:cNvPr id="12" name="TextBox 11"/>
          <p:cNvSpPr txBox="1"/>
          <p:nvPr/>
        </p:nvSpPr>
        <p:spPr>
          <a:xfrm>
            <a:off x="7379207"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+4</a:t>
            </a:r>
          </a:p>
        </p:txBody>
      </p:sp>
      <p:sp>
        <p:nvSpPr>
          <p:cNvPr id="13" name="TextBox 12"/>
          <p:cNvSpPr txBox="1"/>
          <p:nvPr/>
        </p:nvSpPr>
        <p:spPr>
          <a:xfrm>
            <a:off x="879652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+3</a:t>
            </a:r>
          </a:p>
        </p:txBody>
      </p:sp>
      <p:sp>
        <p:nvSpPr>
          <p:cNvPr id="14" name="TextBox 13"/>
          <p:cNvSpPr txBox="1"/>
          <p:nvPr/>
        </p:nvSpPr>
        <p:spPr>
          <a:xfrm>
            <a:off x="10213848" y="2017903"/>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+5</a:t>
            </a:r>
          </a:p>
        </p:txBody>
      </p:sp>
      <p:sp>
        <p:nvSpPr>
          <p:cNvPr id="15" name="Rectangle 14"/>
          <p:cNvSpPr/>
          <p:nvPr/>
        </p:nvSpPr>
        <p:spPr>
          <a:xfrm>
            <a:off x="566928" y="2431211"/>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38527"/>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Cap Variant Match</a:t>
            </a:r>
          </a:p>
        </p:txBody>
      </p:sp>
      <p:sp>
        <p:nvSpPr>
          <p:cNvPr id="17" name="TextBox 16"/>
          <p:cNvSpPr txBox="1"/>
          <p:nvPr/>
        </p:nvSpPr>
        <p:spPr>
          <a:xfrm>
            <a:off x="7379207"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+3</a:t>
            </a:r>
          </a:p>
        </p:txBody>
      </p:sp>
      <p:sp>
        <p:nvSpPr>
          <p:cNvPr id="18" name="TextBox 17"/>
          <p:cNvSpPr txBox="1"/>
          <p:nvPr/>
        </p:nvSpPr>
        <p:spPr>
          <a:xfrm>
            <a:off x="879652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+3</a:t>
            </a:r>
          </a:p>
        </p:txBody>
      </p:sp>
      <p:sp>
        <p:nvSpPr>
          <p:cNvPr id="19" name="TextBox 18"/>
          <p:cNvSpPr txBox="1"/>
          <p:nvPr/>
        </p:nvSpPr>
        <p:spPr>
          <a:xfrm>
            <a:off x="10213848" y="2438527"/>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+4</a:t>
            </a:r>
          </a:p>
        </p:txBody>
      </p:sp>
      <p:sp>
        <p:nvSpPr>
          <p:cNvPr id="20" name="Rectangle 19"/>
          <p:cNvSpPr/>
          <p:nvPr/>
        </p:nvSpPr>
        <p:spPr>
          <a:xfrm>
            <a:off x="566928" y="2851835"/>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859151"/>
            <a:ext cx="6739127" cy="420624"/>
          </a:xfrm>
          <a:prstGeom prst="rect">
            <a:avLst/>
          </a:prstGeom>
          <a:noFill/>
        </p:spPr>
        <p:txBody>
          <a:bodyPr wrap="square" anchor="ctr" lIns="0" rIns="0" tIns="0" bIns="0"/>
          <a:lstStyle/>
          <a:p>
            <a:pPr algn="l">
              <a:spcBef>
                <a:spcPts val="0"/>
              </a:spcBef>
              <a:spcAft>
                <a:spcPts val="0"/>
              </a:spcAft>
              <a:lnSpc>
                <a:spcPts val="1610"/>
              </a:lnSpc>
            </a:pPr>
            <a:r>
              <a:rPr sz="1400" b="0" i="0">
                <a:solidFill>
                  <a:srgbClr val="1E2D44"/>
                </a:solidFill>
                <a:latin typeface="Karla"/>
              </a:rPr>
              <a:t>Cap Gold</a:t>
            </a:r>
          </a:p>
        </p:txBody>
      </p:sp>
      <p:sp>
        <p:nvSpPr>
          <p:cNvPr id="22" name="TextBox 21"/>
          <p:cNvSpPr txBox="1"/>
          <p:nvPr/>
        </p:nvSpPr>
        <p:spPr>
          <a:xfrm>
            <a:off x="7379207"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1" i="0">
                <a:solidFill>
                  <a:srgbClr val="008935"/>
                </a:solidFill>
                <a:latin typeface="Karla"/>
              </a:rPr>
              <a:t>+2</a:t>
            </a:r>
          </a:p>
        </p:txBody>
      </p:sp>
      <p:sp>
        <p:nvSpPr>
          <p:cNvPr id="23" name="TextBox 22"/>
          <p:cNvSpPr txBox="1"/>
          <p:nvPr/>
        </p:nvSpPr>
        <p:spPr>
          <a:xfrm>
            <a:off x="879652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+2</a:t>
            </a:r>
          </a:p>
        </p:txBody>
      </p:sp>
      <p:sp>
        <p:nvSpPr>
          <p:cNvPr id="24" name="TextBox 23"/>
          <p:cNvSpPr txBox="1"/>
          <p:nvPr/>
        </p:nvSpPr>
        <p:spPr>
          <a:xfrm>
            <a:off x="10213848" y="2859151"/>
            <a:ext cx="1417320" cy="420624"/>
          </a:xfrm>
          <a:prstGeom prst="rect">
            <a:avLst/>
          </a:prstGeom>
          <a:noFill/>
        </p:spPr>
        <p:txBody>
          <a:bodyPr wrap="square" anchor="ctr" lIns="0" rIns="0" tIns="0" bIns="0"/>
          <a:lstStyle/>
          <a:p>
            <a:pPr algn="ctr">
              <a:spcBef>
                <a:spcPts val="0"/>
              </a:spcBef>
              <a:spcAft>
                <a:spcPts val="0"/>
              </a:spcAft>
              <a:lnSpc>
                <a:spcPts val="1610"/>
              </a:lnSpc>
            </a:pPr>
            <a:r>
              <a:rPr sz="1400" b="0" i="0">
                <a:solidFill>
                  <a:srgbClr val="008935"/>
                </a:solidFill>
                <a:latin typeface="Karla"/>
              </a:rPr>
              <a:t>+3</a:t>
            </a:r>
          </a:p>
        </p:txBody>
      </p:sp>
      <p:sp>
        <p:nvSpPr>
          <p:cNvPr id="25" name="Rectangle 24"/>
          <p:cNvSpPr/>
          <p:nvPr/>
        </p:nvSpPr>
        <p:spPr>
          <a:xfrm>
            <a:off x="566928" y="3272459"/>
            <a:ext cx="11064240" cy="7315"/>
          </a:xfrm>
          <a:prstGeom prst="rect">
            <a:avLst/>
          </a:prstGeom>
          <a:solidFill>
            <a:srgbClr val="F3EA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n=308 Non-users; n=293 Dove users. Top-2 Box model: element lifts show movement above or below the model baseline. Values rounded to whole points.</a:t>
            </a:r>
          </a:p>
        </p:txBody>
      </p:sp>
      <p:sp>
        <p:nvSpPr>
          <p:cNvPr id="28" name="TextBox 27"/>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606040"/>
            <a:ext cx="10058400" cy="1005840"/>
          </a:xfrm>
          <a:prstGeom prst="rect">
            <a:avLst/>
          </a:prstGeom>
          <a:noFill/>
        </p:spPr>
        <p:txBody>
          <a:bodyPr wrap="square" anchor="t"/>
          <a:lstStyle/>
          <a:p>
            <a:pPr algn="l">
              <a:spcAft>
                <a:spcPts val="400"/>
              </a:spcAft>
            </a:pPr>
            <a:r>
              <a:rPr sz="5400" b="1" i="0">
                <a:solidFill>
                  <a:srgbClr val="1E2D44"/>
                </a:solidFill>
                <a:latin typeface="Karla"/>
              </a:rPr>
              <a:t>Element Assets</a:t>
            </a:r>
          </a:p>
        </p:txBody>
      </p:sp>
      <p:sp>
        <p:nvSpPr>
          <p:cNvPr id="4" name="Rectangle 3"/>
          <p:cNvSpPr/>
          <p:nvPr/>
        </p:nvSpPr>
        <p:spPr>
          <a:xfrm>
            <a:off x="822960" y="3794760"/>
            <a:ext cx="1280160" cy="54864"/>
          </a:xfrm>
          <a:prstGeom prst="rect">
            <a:avLst/>
          </a:prstGeom>
          <a:solidFill>
            <a:srgbClr val="04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Deboss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A   ·   3 variations</a:t>
            </a:r>
          </a:p>
        </p:txBody>
      </p:sp>
      <p:pic>
        <p:nvPicPr>
          <p:cNvPr id="5" name="Picture 4" descr="A1.png"/>
          <p:cNvPicPr>
            <a:picLocks noChangeAspect="1"/>
          </p:cNvPicPr>
          <p:nvPr/>
        </p:nvPicPr>
        <p:blipFill>
          <a:blip r:embed="rId2"/>
          <a:stretch>
            <a:fillRect/>
          </a:stretch>
        </p:blipFill>
        <p:spPr>
          <a:xfrm>
            <a:off x="2985516" y="2578608"/>
            <a:ext cx="1965960" cy="1965960"/>
          </a:xfrm>
          <a:prstGeom prst="rect">
            <a:avLst/>
          </a:prstGeom>
        </p:spPr>
      </p:pic>
      <p:sp>
        <p:nvSpPr>
          <p:cNvPr id="6" name="TextBox 5"/>
          <p:cNvSpPr txBox="1"/>
          <p:nvPr/>
        </p:nvSpPr>
        <p:spPr>
          <a:xfrm>
            <a:off x="2967228" y="4562856"/>
            <a:ext cx="2002536" cy="420624"/>
          </a:xfrm>
          <a:prstGeom prst="rect">
            <a:avLst/>
          </a:prstGeom>
          <a:noFill/>
        </p:spPr>
        <p:txBody>
          <a:bodyPr wrap="none" anchor="t"/>
          <a:lstStyle/>
          <a:p>
            <a:pPr algn="ctr">
              <a:spcAft>
                <a:spcPts val="400"/>
              </a:spcAft>
            </a:pPr>
            <a:r>
              <a:rPr sz="1000" b="0" i="0">
                <a:solidFill>
                  <a:srgbClr val="1E2D44"/>
                </a:solidFill>
                <a:latin typeface="Karla"/>
              </a:rPr>
              <a:t>Deboss Off</a:t>
            </a:r>
          </a:p>
        </p:txBody>
      </p:sp>
      <p:pic>
        <p:nvPicPr>
          <p:cNvPr id="7" name="Picture 6" descr="A2.png"/>
          <p:cNvPicPr>
            <a:picLocks noChangeAspect="1"/>
          </p:cNvPicPr>
          <p:nvPr/>
        </p:nvPicPr>
        <p:blipFill>
          <a:blip r:embed="rId3"/>
          <a:stretch>
            <a:fillRect/>
          </a:stretch>
        </p:blipFill>
        <p:spPr>
          <a:xfrm>
            <a:off x="5116068" y="2578608"/>
            <a:ext cx="1965960" cy="1965960"/>
          </a:xfrm>
          <a:prstGeom prst="rect">
            <a:avLst/>
          </a:prstGeom>
        </p:spPr>
      </p:pic>
      <p:sp>
        <p:nvSpPr>
          <p:cNvPr id="8" name="TextBox 7"/>
          <p:cNvSpPr txBox="1"/>
          <p:nvPr/>
        </p:nvSpPr>
        <p:spPr>
          <a:xfrm>
            <a:off x="5097780" y="4562856"/>
            <a:ext cx="2002536" cy="420624"/>
          </a:xfrm>
          <a:prstGeom prst="rect">
            <a:avLst/>
          </a:prstGeom>
          <a:noFill/>
        </p:spPr>
        <p:txBody>
          <a:bodyPr wrap="none" anchor="t"/>
          <a:lstStyle/>
          <a:p>
            <a:pPr algn="ctr">
              <a:spcAft>
                <a:spcPts val="400"/>
              </a:spcAft>
            </a:pPr>
            <a:r>
              <a:rPr sz="1000" b="0" i="0">
                <a:solidFill>
                  <a:srgbClr val="1E2D44"/>
                </a:solidFill>
                <a:latin typeface="Karla"/>
              </a:rPr>
              <a:t>Deboss Blue</a:t>
            </a:r>
          </a:p>
        </p:txBody>
      </p:sp>
      <p:pic>
        <p:nvPicPr>
          <p:cNvPr id="9" name="Picture 8" descr="A3.png"/>
          <p:cNvPicPr>
            <a:picLocks noChangeAspect="1"/>
          </p:cNvPicPr>
          <p:nvPr/>
        </p:nvPicPr>
        <p:blipFill>
          <a:blip r:embed="rId4"/>
          <a:stretch>
            <a:fillRect/>
          </a:stretch>
        </p:blipFill>
        <p:spPr>
          <a:xfrm>
            <a:off x="7246620" y="2578608"/>
            <a:ext cx="1965960" cy="1965960"/>
          </a:xfrm>
          <a:prstGeom prst="rect">
            <a:avLst/>
          </a:prstGeom>
        </p:spPr>
      </p:pic>
      <p:sp>
        <p:nvSpPr>
          <p:cNvPr id="10" name="TextBox 9"/>
          <p:cNvSpPr txBox="1"/>
          <p:nvPr/>
        </p:nvSpPr>
        <p:spPr>
          <a:xfrm>
            <a:off x="7228332" y="4562856"/>
            <a:ext cx="2002536" cy="420624"/>
          </a:xfrm>
          <a:prstGeom prst="rect">
            <a:avLst/>
          </a:prstGeom>
          <a:noFill/>
        </p:spPr>
        <p:txBody>
          <a:bodyPr wrap="none" anchor="t"/>
          <a:lstStyle/>
          <a:p>
            <a:pPr algn="ctr">
              <a:spcAft>
                <a:spcPts val="400"/>
              </a:spcAft>
            </a:pPr>
            <a:r>
              <a:rPr sz="1000" b="0" i="0">
                <a:solidFill>
                  <a:srgbClr val="1E2D44"/>
                </a:solidFill>
                <a:latin typeface="Karla"/>
              </a:rPr>
              <a:t>Deboss On</a:t>
            </a:r>
          </a:p>
        </p:txBody>
      </p:sp>
      <p:sp>
        <p:nvSpPr>
          <p:cNvPr id="11" name="Rectangle 1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13" name="TextBox 1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Imagery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B   ·   9 variations</a:t>
            </a:r>
          </a:p>
        </p:txBody>
      </p:sp>
      <p:pic>
        <p:nvPicPr>
          <p:cNvPr id="5" name="Picture 4" descr="B1.png"/>
          <p:cNvPicPr>
            <a:picLocks noChangeAspect="1"/>
          </p:cNvPicPr>
          <p:nvPr/>
        </p:nvPicPr>
        <p:blipFill>
          <a:blip r:embed="rId2"/>
          <a:stretch>
            <a:fillRect/>
          </a:stretch>
        </p:blipFill>
        <p:spPr>
          <a:xfrm>
            <a:off x="854963" y="1417320"/>
            <a:ext cx="1965960" cy="1965960"/>
          </a:xfrm>
          <a:prstGeom prst="rect">
            <a:avLst/>
          </a:prstGeom>
        </p:spPr>
      </p:pic>
      <p:sp>
        <p:nvSpPr>
          <p:cNvPr id="6" name="TextBox 5"/>
          <p:cNvSpPr txBox="1"/>
          <p:nvPr/>
        </p:nvSpPr>
        <p:spPr>
          <a:xfrm>
            <a:off x="836675" y="3401568"/>
            <a:ext cx="2002536" cy="420624"/>
          </a:xfrm>
          <a:prstGeom prst="rect">
            <a:avLst/>
          </a:prstGeom>
          <a:noFill/>
        </p:spPr>
        <p:txBody>
          <a:bodyPr wrap="none" anchor="t"/>
          <a:lstStyle/>
          <a:p>
            <a:pPr algn="ctr">
              <a:spcAft>
                <a:spcPts val="400"/>
              </a:spcAft>
            </a:pPr>
            <a:r>
              <a:rPr sz="1000" b="0" i="0">
                <a:solidFill>
                  <a:srgbClr val="1E2D44"/>
                </a:solidFill>
                <a:latin typeface="Karla"/>
              </a:rPr>
              <a:t>Dollop High</a:t>
            </a:r>
          </a:p>
        </p:txBody>
      </p:sp>
      <p:pic>
        <p:nvPicPr>
          <p:cNvPr id="7" name="Picture 6" descr="B2.png"/>
          <p:cNvPicPr>
            <a:picLocks noChangeAspect="1"/>
          </p:cNvPicPr>
          <p:nvPr/>
        </p:nvPicPr>
        <p:blipFill>
          <a:blip r:embed="rId3"/>
          <a:stretch>
            <a:fillRect/>
          </a:stretch>
        </p:blipFill>
        <p:spPr>
          <a:xfrm>
            <a:off x="2985515" y="1417320"/>
            <a:ext cx="1965960" cy="1965960"/>
          </a:xfrm>
          <a:prstGeom prst="rect">
            <a:avLst/>
          </a:prstGeom>
        </p:spPr>
      </p:pic>
      <p:sp>
        <p:nvSpPr>
          <p:cNvPr id="8" name="TextBox 7"/>
          <p:cNvSpPr txBox="1"/>
          <p:nvPr/>
        </p:nvSpPr>
        <p:spPr>
          <a:xfrm>
            <a:off x="2967227" y="3401568"/>
            <a:ext cx="2002536" cy="420624"/>
          </a:xfrm>
          <a:prstGeom prst="rect">
            <a:avLst/>
          </a:prstGeom>
          <a:noFill/>
        </p:spPr>
        <p:txBody>
          <a:bodyPr wrap="none" anchor="t"/>
          <a:lstStyle/>
          <a:p>
            <a:pPr algn="ctr">
              <a:spcAft>
                <a:spcPts val="400"/>
              </a:spcAft>
            </a:pPr>
            <a:r>
              <a:rPr sz="1000" b="0" i="0">
                <a:solidFill>
                  <a:srgbClr val="1E2D44"/>
                </a:solidFill>
                <a:latin typeface="Karla"/>
              </a:rPr>
              <a:t>Dollop Low</a:t>
            </a:r>
          </a:p>
        </p:txBody>
      </p:sp>
      <p:pic>
        <p:nvPicPr>
          <p:cNvPr id="9" name="Picture 8" descr="B3.png"/>
          <p:cNvPicPr>
            <a:picLocks noChangeAspect="1"/>
          </p:cNvPicPr>
          <p:nvPr/>
        </p:nvPicPr>
        <p:blipFill>
          <a:blip r:embed="rId4"/>
          <a:stretch>
            <a:fillRect/>
          </a:stretch>
        </p:blipFill>
        <p:spPr>
          <a:xfrm>
            <a:off x="5116068" y="1417320"/>
            <a:ext cx="1965960" cy="1965960"/>
          </a:xfrm>
          <a:prstGeom prst="rect">
            <a:avLst/>
          </a:prstGeom>
        </p:spPr>
      </p:pic>
      <p:sp>
        <p:nvSpPr>
          <p:cNvPr id="10" name="TextBox 9"/>
          <p:cNvSpPr txBox="1"/>
          <p:nvPr/>
        </p:nvSpPr>
        <p:spPr>
          <a:xfrm>
            <a:off x="5097780" y="3401568"/>
            <a:ext cx="2002536" cy="420624"/>
          </a:xfrm>
          <a:prstGeom prst="rect">
            <a:avLst/>
          </a:prstGeom>
          <a:noFill/>
        </p:spPr>
        <p:txBody>
          <a:bodyPr wrap="none" anchor="t"/>
          <a:lstStyle/>
          <a:p>
            <a:pPr algn="ctr">
              <a:spcAft>
                <a:spcPts val="400"/>
              </a:spcAft>
            </a:pPr>
            <a:r>
              <a:rPr sz="1000" b="0" i="0">
                <a:solidFill>
                  <a:srgbClr val="1E2D44"/>
                </a:solidFill>
                <a:latin typeface="Karla"/>
              </a:rPr>
              <a:t>Dollop Standard</a:t>
            </a:r>
          </a:p>
        </p:txBody>
      </p:sp>
      <p:pic>
        <p:nvPicPr>
          <p:cNvPr id="11" name="Picture 10" descr="B4.png"/>
          <p:cNvPicPr>
            <a:picLocks noChangeAspect="1"/>
          </p:cNvPicPr>
          <p:nvPr/>
        </p:nvPicPr>
        <p:blipFill>
          <a:blip r:embed="rId5"/>
          <a:stretch>
            <a:fillRect/>
          </a:stretch>
        </p:blipFill>
        <p:spPr>
          <a:xfrm>
            <a:off x="7246620" y="1417320"/>
            <a:ext cx="1965960" cy="1965960"/>
          </a:xfrm>
          <a:prstGeom prst="rect">
            <a:avLst/>
          </a:prstGeom>
        </p:spPr>
      </p:pic>
      <p:sp>
        <p:nvSpPr>
          <p:cNvPr id="12" name="TextBox 11"/>
          <p:cNvSpPr txBox="1"/>
          <p:nvPr/>
        </p:nvSpPr>
        <p:spPr>
          <a:xfrm>
            <a:off x="7228332" y="3401568"/>
            <a:ext cx="2002536" cy="420624"/>
          </a:xfrm>
          <a:prstGeom prst="rect">
            <a:avLst/>
          </a:prstGeom>
          <a:noFill/>
        </p:spPr>
        <p:txBody>
          <a:bodyPr wrap="none" anchor="t"/>
          <a:lstStyle/>
          <a:p>
            <a:pPr algn="ctr">
              <a:spcAft>
                <a:spcPts val="400"/>
              </a:spcAft>
            </a:pPr>
            <a:r>
              <a:rPr sz="1000" b="0" i="0">
                <a:solidFill>
                  <a:srgbClr val="1E2D44"/>
                </a:solidFill>
                <a:latin typeface="Karla"/>
              </a:rPr>
              <a:t>Splash High</a:t>
            </a:r>
          </a:p>
        </p:txBody>
      </p:sp>
      <p:pic>
        <p:nvPicPr>
          <p:cNvPr id="13" name="Picture 12" descr="B5.png"/>
          <p:cNvPicPr>
            <a:picLocks noChangeAspect="1"/>
          </p:cNvPicPr>
          <p:nvPr/>
        </p:nvPicPr>
        <p:blipFill>
          <a:blip r:embed="rId6"/>
          <a:stretch>
            <a:fillRect/>
          </a:stretch>
        </p:blipFill>
        <p:spPr>
          <a:xfrm>
            <a:off x="9377172" y="1417320"/>
            <a:ext cx="1965960" cy="1965960"/>
          </a:xfrm>
          <a:prstGeom prst="rect">
            <a:avLst/>
          </a:prstGeom>
        </p:spPr>
      </p:pic>
      <p:sp>
        <p:nvSpPr>
          <p:cNvPr id="14" name="TextBox 13"/>
          <p:cNvSpPr txBox="1"/>
          <p:nvPr/>
        </p:nvSpPr>
        <p:spPr>
          <a:xfrm>
            <a:off x="9358884" y="3401568"/>
            <a:ext cx="2002536" cy="420624"/>
          </a:xfrm>
          <a:prstGeom prst="rect">
            <a:avLst/>
          </a:prstGeom>
          <a:noFill/>
        </p:spPr>
        <p:txBody>
          <a:bodyPr wrap="none" anchor="t"/>
          <a:lstStyle/>
          <a:p>
            <a:pPr algn="ctr">
              <a:spcAft>
                <a:spcPts val="400"/>
              </a:spcAft>
            </a:pPr>
            <a:r>
              <a:rPr sz="1000" b="0" i="0">
                <a:solidFill>
                  <a:srgbClr val="1E2D44"/>
                </a:solidFill>
                <a:latin typeface="Karla"/>
              </a:rPr>
              <a:t>Splash Low</a:t>
            </a:r>
          </a:p>
        </p:txBody>
      </p:sp>
      <p:pic>
        <p:nvPicPr>
          <p:cNvPr id="15" name="Picture 14" descr="B6.png"/>
          <p:cNvPicPr>
            <a:picLocks noChangeAspect="1"/>
          </p:cNvPicPr>
          <p:nvPr/>
        </p:nvPicPr>
        <p:blipFill>
          <a:blip r:embed="rId7"/>
          <a:stretch>
            <a:fillRect/>
          </a:stretch>
        </p:blipFill>
        <p:spPr>
          <a:xfrm>
            <a:off x="1920239" y="3950208"/>
            <a:ext cx="1965960" cy="1965960"/>
          </a:xfrm>
          <a:prstGeom prst="rect">
            <a:avLst/>
          </a:prstGeom>
        </p:spPr>
      </p:pic>
      <p:sp>
        <p:nvSpPr>
          <p:cNvPr id="16" name="TextBox 15"/>
          <p:cNvSpPr txBox="1"/>
          <p:nvPr/>
        </p:nvSpPr>
        <p:spPr>
          <a:xfrm>
            <a:off x="1901951" y="5934456"/>
            <a:ext cx="2002536" cy="420624"/>
          </a:xfrm>
          <a:prstGeom prst="rect">
            <a:avLst/>
          </a:prstGeom>
          <a:noFill/>
        </p:spPr>
        <p:txBody>
          <a:bodyPr wrap="none" anchor="t"/>
          <a:lstStyle/>
          <a:p>
            <a:pPr algn="ctr">
              <a:spcAft>
                <a:spcPts val="400"/>
              </a:spcAft>
            </a:pPr>
            <a:r>
              <a:rPr sz="1000" b="0" i="0">
                <a:solidFill>
                  <a:srgbClr val="1E2D44"/>
                </a:solidFill>
                <a:latin typeface="Karla"/>
              </a:rPr>
              <a:t>Splash Standard</a:t>
            </a:r>
          </a:p>
        </p:txBody>
      </p:sp>
      <p:pic>
        <p:nvPicPr>
          <p:cNvPr id="17" name="Picture 16" descr="B7.png"/>
          <p:cNvPicPr>
            <a:picLocks noChangeAspect="1"/>
          </p:cNvPicPr>
          <p:nvPr/>
        </p:nvPicPr>
        <p:blipFill>
          <a:blip r:embed="rId8"/>
          <a:stretch>
            <a:fillRect/>
          </a:stretch>
        </p:blipFill>
        <p:spPr>
          <a:xfrm>
            <a:off x="4050791" y="3950208"/>
            <a:ext cx="1965960" cy="1965960"/>
          </a:xfrm>
          <a:prstGeom prst="rect">
            <a:avLst/>
          </a:prstGeom>
        </p:spPr>
      </p:pic>
      <p:sp>
        <p:nvSpPr>
          <p:cNvPr id="18" name="TextBox 17"/>
          <p:cNvSpPr txBox="1"/>
          <p:nvPr/>
        </p:nvSpPr>
        <p:spPr>
          <a:xfrm>
            <a:off x="4032504" y="5934456"/>
            <a:ext cx="2002536" cy="420624"/>
          </a:xfrm>
          <a:prstGeom prst="rect">
            <a:avLst/>
          </a:prstGeom>
          <a:noFill/>
        </p:spPr>
        <p:txBody>
          <a:bodyPr wrap="none" anchor="t"/>
          <a:lstStyle/>
          <a:p>
            <a:pPr algn="ctr">
              <a:spcAft>
                <a:spcPts val="400"/>
              </a:spcAft>
            </a:pPr>
            <a:r>
              <a:rPr sz="1000" b="0" i="0">
                <a:solidFill>
                  <a:srgbClr val="1E2D44"/>
                </a:solidFill>
                <a:latin typeface="Karla"/>
              </a:rPr>
              <a:t>Swipe Low</a:t>
            </a:r>
          </a:p>
        </p:txBody>
      </p:sp>
      <p:pic>
        <p:nvPicPr>
          <p:cNvPr id="19" name="Picture 18" descr="B8.png"/>
          <p:cNvPicPr>
            <a:picLocks noChangeAspect="1"/>
          </p:cNvPicPr>
          <p:nvPr/>
        </p:nvPicPr>
        <p:blipFill>
          <a:blip r:embed="rId9"/>
          <a:stretch>
            <a:fillRect/>
          </a:stretch>
        </p:blipFill>
        <p:spPr>
          <a:xfrm>
            <a:off x="6181344" y="3950208"/>
            <a:ext cx="1965960" cy="1965960"/>
          </a:xfrm>
          <a:prstGeom prst="rect">
            <a:avLst/>
          </a:prstGeom>
        </p:spPr>
      </p:pic>
      <p:sp>
        <p:nvSpPr>
          <p:cNvPr id="20" name="TextBox 19"/>
          <p:cNvSpPr txBox="1"/>
          <p:nvPr/>
        </p:nvSpPr>
        <p:spPr>
          <a:xfrm>
            <a:off x="6163056" y="5934456"/>
            <a:ext cx="2002536" cy="420624"/>
          </a:xfrm>
          <a:prstGeom prst="rect">
            <a:avLst/>
          </a:prstGeom>
          <a:noFill/>
        </p:spPr>
        <p:txBody>
          <a:bodyPr wrap="none" anchor="t"/>
          <a:lstStyle/>
          <a:p>
            <a:pPr algn="ctr">
              <a:spcAft>
                <a:spcPts val="400"/>
              </a:spcAft>
            </a:pPr>
            <a:r>
              <a:rPr sz="1000" b="0" i="0">
                <a:solidFill>
                  <a:srgbClr val="1E2D44"/>
                </a:solidFill>
                <a:latin typeface="Karla"/>
              </a:rPr>
              <a:t>Swipe High</a:t>
            </a:r>
          </a:p>
        </p:txBody>
      </p:sp>
      <p:pic>
        <p:nvPicPr>
          <p:cNvPr id="21" name="Picture 20" descr="B9.png"/>
          <p:cNvPicPr>
            <a:picLocks noChangeAspect="1"/>
          </p:cNvPicPr>
          <p:nvPr/>
        </p:nvPicPr>
        <p:blipFill>
          <a:blip r:embed="rId10"/>
          <a:stretch>
            <a:fillRect/>
          </a:stretch>
        </p:blipFill>
        <p:spPr>
          <a:xfrm>
            <a:off x="8311896" y="3950208"/>
            <a:ext cx="1965960" cy="1965960"/>
          </a:xfrm>
          <a:prstGeom prst="rect">
            <a:avLst/>
          </a:prstGeom>
        </p:spPr>
      </p:pic>
      <p:sp>
        <p:nvSpPr>
          <p:cNvPr id="22" name="TextBox 21"/>
          <p:cNvSpPr txBox="1"/>
          <p:nvPr/>
        </p:nvSpPr>
        <p:spPr>
          <a:xfrm>
            <a:off x="8293608" y="5934456"/>
            <a:ext cx="2002536" cy="420624"/>
          </a:xfrm>
          <a:prstGeom prst="rect">
            <a:avLst/>
          </a:prstGeom>
          <a:noFill/>
        </p:spPr>
        <p:txBody>
          <a:bodyPr wrap="none" anchor="t"/>
          <a:lstStyle/>
          <a:p>
            <a:pPr algn="ctr">
              <a:spcAft>
                <a:spcPts val="400"/>
              </a:spcAft>
            </a:pPr>
            <a:r>
              <a:rPr sz="1000" b="0" i="0">
                <a:solidFill>
                  <a:srgbClr val="1E2D44"/>
                </a:solidFill>
                <a:latin typeface="Karla"/>
              </a:rPr>
              <a:t>Swipe Standard</a:t>
            </a:r>
          </a:p>
        </p:txBody>
      </p:sp>
      <p:sp>
        <p:nvSpPr>
          <p:cNvPr id="23" name="Rectangle 22"/>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25" name="TextBox 24"/>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Variant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C   ·   6 variations</a:t>
            </a:r>
          </a:p>
        </p:txBody>
      </p:sp>
      <p:pic>
        <p:nvPicPr>
          <p:cNvPr id="5" name="Picture 4" descr="C1.png"/>
          <p:cNvPicPr>
            <a:picLocks noChangeAspect="1"/>
          </p:cNvPicPr>
          <p:nvPr/>
        </p:nvPicPr>
        <p:blipFill>
          <a:blip r:embed="rId2"/>
          <a:stretch>
            <a:fillRect/>
          </a:stretch>
        </p:blipFill>
        <p:spPr>
          <a:xfrm>
            <a:off x="854963" y="1417320"/>
            <a:ext cx="1965960" cy="1965960"/>
          </a:xfrm>
          <a:prstGeom prst="rect">
            <a:avLst/>
          </a:prstGeom>
        </p:spPr>
      </p:pic>
      <p:sp>
        <p:nvSpPr>
          <p:cNvPr id="6" name="TextBox 5"/>
          <p:cNvSpPr txBox="1"/>
          <p:nvPr/>
        </p:nvSpPr>
        <p:spPr>
          <a:xfrm>
            <a:off x="836675" y="3401568"/>
            <a:ext cx="2002536" cy="420624"/>
          </a:xfrm>
          <a:prstGeom prst="rect">
            <a:avLst/>
          </a:prstGeom>
          <a:noFill/>
        </p:spPr>
        <p:txBody>
          <a:bodyPr wrap="none" anchor="t"/>
          <a:lstStyle/>
          <a:p>
            <a:pPr algn="ctr">
              <a:spcAft>
                <a:spcPts val="400"/>
              </a:spcAft>
            </a:pPr>
            <a:r>
              <a:rPr sz="1000" b="0" i="0">
                <a:solidFill>
                  <a:srgbClr val="1E2D44"/>
                </a:solidFill>
                <a:latin typeface="Karla"/>
              </a:rPr>
              <a:t>Variant Ctr Low</a:t>
            </a:r>
          </a:p>
        </p:txBody>
      </p:sp>
      <p:pic>
        <p:nvPicPr>
          <p:cNvPr id="7" name="Picture 6" descr="C2.png"/>
          <p:cNvPicPr>
            <a:picLocks noChangeAspect="1"/>
          </p:cNvPicPr>
          <p:nvPr/>
        </p:nvPicPr>
        <p:blipFill>
          <a:blip r:embed="rId3"/>
          <a:stretch>
            <a:fillRect/>
          </a:stretch>
        </p:blipFill>
        <p:spPr>
          <a:xfrm>
            <a:off x="2985515" y="1417320"/>
            <a:ext cx="1965960" cy="1965960"/>
          </a:xfrm>
          <a:prstGeom prst="rect">
            <a:avLst/>
          </a:prstGeom>
        </p:spPr>
      </p:pic>
      <p:sp>
        <p:nvSpPr>
          <p:cNvPr id="8" name="TextBox 7"/>
          <p:cNvSpPr txBox="1"/>
          <p:nvPr/>
        </p:nvSpPr>
        <p:spPr>
          <a:xfrm>
            <a:off x="2967227" y="3401568"/>
            <a:ext cx="2002536" cy="420624"/>
          </a:xfrm>
          <a:prstGeom prst="rect">
            <a:avLst/>
          </a:prstGeom>
          <a:noFill/>
        </p:spPr>
        <p:txBody>
          <a:bodyPr wrap="none" anchor="t"/>
          <a:lstStyle/>
          <a:p>
            <a:pPr algn="ctr">
              <a:spcAft>
                <a:spcPts val="400"/>
              </a:spcAft>
            </a:pPr>
            <a:r>
              <a:rPr sz="1000" b="0" i="0">
                <a:solidFill>
                  <a:srgbClr val="1E2D44"/>
                </a:solidFill>
                <a:latin typeface="Karla"/>
              </a:rPr>
              <a:t>Variant Ctr Top Lowered</a:t>
            </a:r>
          </a:p>
        </p:txBody>
      </p:sp>
      <p:pic>
        <p:nvPicPr>
          <p:cNvPr id="9" name="Picture 8" descr="C3.png"/>
          <p:cNvPicPr>
            <a:picLocks noChangeAspect="1"/>
          </p:cNvPicPr>
          <p:nvPr/>
        </p:nvPicPr>
        <p:blipFill>
          <a:blip r:embed="rId4"/>
          <a:stretch>
            <a:fillRect/>
          </a:stretch>
        </p:blipFill>
        <p:spPr>
          <a:xfrm>
            <a:off x="5116068" y="1417320"/>
            <a:ext cx="1965960" cy="1965960"/>
          </a:xfrm>
          <a:prstGeom prst="rect">
            <a:avLst/>
          </a:prstGeom>
        </p:spPr>
      </p:pic>
      <p:sp>
        <p:nvSpPr>
          <p:cNvPr id="10" name="TextBox 9"/>
          <p:cNvSpPr txBox="1"/>
          <p:nvPr/>
        </p:nvSpPr>
        <p:spPr>
          <a:xfrm>
            <a:off x="5097780" y="3401568"/>
            <a:ext cx="2002536" cy="420624"/>
          </a:xfrm>
          <a:prstGeom prst="rect">
            <a:avLst/>
          </a:prstGeom>
          <a:noFill/>
        </p:spPr>
        <p:txBody>
          <a:bodyPr wrap="none" anchor="t"/>
          <a:lstStyle/>
          <a:p>
            <a:pPr algn="ctr">
              <a:spcAft>
                <a:spcPts val="400"/>
              </a:spcAft>
            </a:pPr>
            <a:r>
              <a:rPr sz="1000" b="0" i="0">
                <a:solidFill>
                  <a:srgbClr val="1E2D44"/>
                </a:solidFill>
                <a:latin typeface="Karla"/>
              </a:rPr>
              <a:t>Variant Left Low</a:t>
            </a:r>
          </a:p>
        </p:txBody>
      </p:sp>
      <p:pic>
        <p:nvPicPr>
          <p:cNvPr id="11" name="Picture 10" descr="C4.png"/>
          <p:cNvPicPr>
            <a:picLocks noChangeAspect="1"/>
          </p:cNvPicPr>
          <p:nvPr/>
        </p:nvPicPr>
        <p:blipFill>
          <a:blip r:embed="rId5"/>
          <a:stretch>
            <a:fillRect/>
          </a:stretch>
        </p:blipFill>
        <p:spPr>
          <a:xfrm>
            <a:off x="7246620" y="1417320"/>
            <a:ext cx="1965960" cy="1965960"/>
          </a:xfrm>
          <a:prstGeom prst="rect">
            <a:avLst/>
          </a:prstGeom>
        </p:spPr>
      </p:pic>
      <p:sp>
        <p:nvSpPr>
          <p:cNvPr id="12" name="TextBox 11"/>
          <p:cNvSpPr txBox="1"/>
          <p:nvPr/>
        </p:nvSpPr>
        <p:spPr>
          <a:xfrm>
            <a:off x="7228332" y="3401568"/>
            <a:ext cx="2002536" cy="420624"/>
          </a:xfrm>
          <a:prstGeom prst="rect">
            <a:avLst/>
          </a:prstGeom>
          <a:noFill/>
        </p:spPr>
        <p:txBody>
          <a:bodyPr wrap="none" anchor="t"/>
          <a:lstStyle/>
          <a:p>
            <a:pPr algn="ctr">
              <a:spcAft>
                <a:spcPts val="400"/>
              </a:spcAft>
            </a:pPr>
            <a:r>
              <a:rPr sz="1000" b="0" i="0">
                <a:solidFill>
                  <a:srgbClr val="1E2D44"/>
                </a:solidFill>
                <a:latin typeface="Karla"/>
              </a:rPr>
              <a:t>Variant Left Top Lowered</a:t>
            </a:r>
          </a:p>
        </p:txBody>
      </p:sp>
      <p:pic>
        <p:nvPicPr>
          <p:cNvPr id="13" name="Picture 12" descr="C5.png"/>
          <p:cNvPicPr>
            <a:picLocks noChangeAspect="1"/>
          </p:cNvPicPr>
          <p:nvPr/>
        </p:nvPicPr>
        <p:blipFill>
          <a:blip r:embed="rId6"/>
          <a:stretch>
            <a:fillRect/>
          </a:stretch>
        </p:blipFill>
        <p:spPr>
          <a:xfrm>
            <a:off x="9377172" y="1417320"/>
            <a:ext cx="1965960" cy="1965960"/>
          </a:xfrm>
          <a:prstGeom prst="rect">
            <a:avLst/>
          </a:prstGeom>
        </p:spPr>
      </p:pic>
      <p:sp>
        <p:nvSpPr>
          <p:cNvPr id="14" name="TextBox 13"/>
          <p:cNvSpPr txBox="1"/>
          <p:nvPr/>
        </p:nvSpPr>
        <p:spPr>
          <a:xfrm>
            <a:off x="9358884" y="3401568"/>
            <a:ext cx="2002536" cy="420624"/>
          </a:xfrm>
          <a:prstGeom prst="rect">
            <a:avLst/>
          </a:prstGeom>
          <a:noFill/>
        </p:spPr>
        <p:txBody>
          <a:bodyPr wrap="none" anchor="t"/>
          <a:lstStyle/>
          <a:p>
            <a:pPr algn="ctr">
              <a:spcAft>
                <a:spcPts val="400"/>
              </a:spcAft>
            </a:pPr>
            <a:r>
              <a:rPr sz="1000" b="0" i="0">
                <a:solidFill>
                  <a:srgbClr val="1E2D44"/>
                </a:solidFill>
                <a:latin typeface="Karla"/>
              </a:rPr>
              <a:t>Variant Left Top</a:t>
            </a:r>
          </a:p>
        </p:txBody>
      </p:sp>
      <p:pic>
        <p:nvPicPr>
          <p:cNvPr id="15" name="Picture 14" descr="C6.png"/>
          <p:cNvPicPr>
            <a:picLocks noChangeAspect="1"/>
          </p:cNvPicPr>
          <p:nvPr/>
        </p:nvPicPr>
        <p:blipFill>
          <a:blip r:embed="rId7"/>
          <a:stretch>
            <a:fillRect/>
          </a:stretch>
        </p:blipFill>
        <p:spPr>
          <a:xfrm>
            <a:off x="5116068" y="3950208"/>
            <a:ext cx="1965960" cy="1965960"/>
          </a:xfrm>
          <a:prstGeom prst="rect">
            <a:avLst/>
          </a:prstGeom>
        </p:spPr>
      </p:pic>
      <p:sp>
        <p:nvSpPr>
          <p:cNvPr id="16" name="TextBox 15"/>
          <p:cNvSpPr txBox="1"/>
          <p:nvPr/>
        </p:nvSpPr>
        <p:spPr>
          <a:xfrm>
            <a:off x="5097780" y="5934456"/>
            <a:ext cx="2002536" cy="420624"/>
          </a:xfrm>
          <a:prstGeom prst="rect">
            <a:avLst/>
          </a:prstGeom>
          <a:noFill/>
        </p:spPr>
        <p:txBody>
          <a:bodyPr wrap="none" anchor="t"/>
          <a:lstStyle/>
          <a:p>
            <a:pPr algn="ctr">
              <a:spcAft>
                <a:spcPts val="400"/>
              </a:spcAft>
            </a:pPr>
            <a:r>
              <a:rPr sz="1000" b="0" i="0">
                <a:solidFill>
                  <a:srgbClr val="1E2D44"/>
                </a:solidFill>
                <a:latin typeface="Karla"/>
              </a:rPr>
              <a:t>Variant Ctr Top</a:t>
            </a:r>
          </a:p>
        </p:txBody>
      </p:sp>
      <p:sp>
        <p:nvSpPr>
          <p:cNvPr id="17" name="Rectangle 16"/>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19" name="TextBox 18"/>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Derm Seal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D   ·   8 variations</a:t>
            </a:r>
          </a:p>
        </p:txBody>
      </p:sp>
      <p:pic>
        <p:nvPicPr>
          <p:cNvPr id="5" name="Picture 4" descr="D1.png"/>
          <p:cNvPicPr>
            <a:picLocks noChangeAspect="1"/>
          </p:cNvPicPr>
          <p:nvPr/>
        </p:nvPicPr>
        <p:blipFill>
          <a:blip r:embed="rId2"/>
          <a:stretch>
            <a:fillRect/>
          </a:stretch>
        </p:blipFill>
        <p:spPr>
          <a:xfrm>
            <a:off x="854963" y="1417320"/>
            <a:ext cx="1965960" cy="1965960"/>
          </a:xfrm>
          <a:prstGeom prst="rect">
            <a:avLst/>
          </a:prstGeom>
        </p:spPr>
      </p:pic>
      <p:sp>
        <p:nvSpPr>
          <p:cNvPr id="6" name="TextBox 5"/>
          <p:cNvSpPr txBox="1"/>
          <p:nvPr/>
        </p:nvSpPr>
        <p:spPr>
          <a:xfrm>
            <a:off x="836675" y="3401568"/>
            <a:ext cx="2002536" cy="420624"/>
          </a:xfrm>
          <a:prstGeom prst="rect">
            <a:avLst/>
          </a:prstGeom>
          <a:noFill/>
        </p:spPr>
        <p:txBody>
          <a:bodyPr wrap="none" anchor="t"/>
          <a:lstStyle/>
          <a:p>
            <a:pPr algn="ctr">
              <a:spcAft>
                <a:spcPts val="400"/>
              </a:spcAft>
            </a:pPr>
            <a:r>
              <a:rPr sz="1000" b="0" i="0">
                <a:solidFill>
                  <a:srgbClr val="1E2D44"/>
                </a:solidFill>
                <a:latin typeface="Karla"/>
              </a:rPr>
              <a:t>Derm Seal Gold Std</a:t>
            </a:r>
          </a:p>
        </p:txBody>
      </p:sp>
      <p:pic>
        <p:nvPicPr>
          <p:cNvPr id="7" name="Picture 6" descr="D2.png"/>
          <p:cNvPicPr>
            <a:picLocks noChangeAspect="1"/>
          </p:cNvPicPr>
          <p:nvPr/>
        </p:nvPicPr>
        <p:blipFill>
          <a:blip r:embed="rId3"/>
          <a:stretch>
            <a:fillRect/>
          </a:stretch>
        </p:blipFill>
        <p:spPr>
          <a:xfrm>
            <a:off x="2985515" y="1417320"/>
            <a:ext cx="1965960" cy="1965960"/>
          </a:xfrm>
          <a:prstGeom prst="rect">
            <a:avLst/>
          </a:prstGeom>
        </p:spPr>
      </p:pic>
      <p:sp>
        <p:nvSpPr>
          <p:cNvPr id="8" name="TextBox 7"/>
          <p:cNvSpPr txBox="1"/>
          <p:nvPr/>
        </p:nvSpPr>
        <p:spPr>
          <a:xfrm>
            <a:off x="2967227" y="3401568"/>
            <a:ext cx="2002536" cy="420624"/>
          </a:xfrm>
          <a:prstGeom prst="rect">
            <a:avLst/>
          </a:prstGeom>
          <a:noFill/>
        </p:spPr>
        <p:txBody>
          <a:bodyPr wrap="none" anchor="t"/>
          <a:lstStyle/>
          <a:p>
            <a:pPr algn="ctr">
              <a:spcAft>
                <a:spcPts val="400"/>
              </a:spcAft>
            </a:pPr>
            <a:r>
              <a:rPr sz="1000" b="0" i="0">
                <a:solidFill>
                  <a:srgbClr val="1E2D44"/>
                </a:solidFill>
                <a:latin typeface="Karla"/>
              </a:rPr>
              <a:t>Derm Seal Gold High</a:t>
            </a:r>
          </a:p>
        </p:txBody>
      </p:sp>
      <p:pic>
        <p:nvPicPr>
          <p:cNvPr id="9" name="Picture 8" descr="D3.png"/>
          <p:cNvPicPr>
            <a:picLocks noChangeAspect="1"/>
          </p:cNvPicPr>
          <p:nvPr/>
        </p:nvPicPr>
        <p:blipFill>
          <a:blip r:embed="rId4"/>
          <a:stretch>
            <a:fillRect/>
          </a:stretch>
        </p:blipFill>
        <p:spPr>
          <a:xfrm>
            <a:off x="5116068" y="1417320"/>
            <a:ext cx="1965960" cy="1965960"/>
          </a:xfrm>
          <a:prstGeom prst="rect">
            <a:avLst/>
          </a:prstGeom>
        </p:spPr>
      </p:pic>
      <p:sp>
        <p:nvSpPr>
          <p:cNvPr id="10" name="TextBox 9"/>
          <p:cNvSpPr txBox="1"/>
          <p:nvPr/>
        </p:nvSpPr>
        <p:spPr>
          <a:xfrm>
            <a:off x="5097780" y="3401568"/>
            <a:ext cx="2002536" cy="420624"/>
          </a:xfrm>
          <a:prstGeom prst="rect">
            <a:avLst/>
          </a:prstGeom>
          <a:noFill/>
        </p:spPr>
        <p:txBody>
          <a:bodyPr wrap="none" anchor="t"/>
          <a:lstStyle/>
          <a:p>
            <a:pPr algn="ctr">
              <a:spcAft>
                <a:spcPts val="400"/>
              </a:spcAft>
            </a:pPr>
            <a:r>
              <a:rPr sz="1000" b="0" i="0">
                <a:solidFill>
                  <a:srgbClr val="1E2D44"/>
                </a:solidFill>
                <a:latin typeface="Karla"/>
              </a:rPr>
              <a:t>Derm Seal Gold Low Right</a:t>
            </a:r>
          </a:p>
        </p:txBody>
      </p:sp>
      <p:pic>
        <p:nvPicPr>
          <p:cNvPr id="11" name="Picture 10" descr="D4.png"/>
          <p:cNvPicPr>
            <a:picLocks noChangeAspect="1"/>
          </p:cNvPicPr>
          <p:nvPr/>
        </p:nvPicPr>
        <p:blipFill>
          <a:blip r:embed="rId5"/>
          <a:stretch>
            <a:fillRect/>
          </a:stretch>
        </p:blipFill>
        <p:spPr>
          <a:xfrm>
            <a:off x="7246620" y="1417320"/>
            <a:ext cx="1965960" cy="1965960"/>
          </a:xfrm>
          <a:prstGeom prst="rect">
            <a:avLst/>
          </a:prstGeom>
        </p:spPr>
      </p:pic>
      <p:sp>
        <p:nvSpPr>
          <p:cNvPr id="12" name="TextBox 11"/>
          <p:cNvSpPr txBox="1"/>
          <p:nvPr/>
        </p:nvSpPr>
        <p:spPr>
          <a:xfrm>
            <a:off x="7228332" y="3401568"/>
            <a:ext cx="2002536" cy="420624"/>
          </a:xfrm>
          <a:prstGeom prst="rect">
            <a:avLst/>
          </a:prstGeom>
          <a:noFill/>
        </p:spPr>
        <p:txBody>
          <a:bodyPr wrap="none" anchor="t"/>
          <a:lstStyle/>
          <a:p>
            <a:pPr algn="ctr">
              <a:spcAft>
                <a:spcPts val="400"/>
              </a:spcAft>
            </a:pPr>
            <a:r>
              <a:rPr sz="1000" b="0" i="0">
                <a:solidFill>
                  <a:srgbClr val="1E2D44"/>
                </a:solidFill>
                <a:latin typeface="Karla"/>
              </a:rPr>
              <a:t>Derm Seal Gold Top Left</a:t>
            </a:r>
          </a:p>
        </p:txBody>
      </p:sp>
      <p:pic>
        <p:nvPicPr>
          <p:cNvPr id="13" name="Picture 12" descr="D5.png"/>
          <p:cNvPicPr>
            <a:picLocks noChangeAspect="1"/>
          </p:cNvPicPr>
          <p:nvPr/>
        </p:nvPicPr>
        <p:blipFill>
          <a:blip r:embed="rId6"/>
          <a:stretch>
            <a:fillRect/>
          </a:stretch>
        </p:blipFill>
        <p:spPr>
          <a:xfrm>
            <a:off x="9377172" y="1417320"/>
            <a:ext cx="1965960" cy="1965960"/>
          </a:xfrm>
          <a:prstGeom prst="rect">
            <a:avLst/>
          </a:prstGeom>
        </p:spPr>
      </p:pic>
      <p:sp>
        <p:nvSpPr>
          <p:cNvPr id="14" name="TextBox 13"/>
          <p:cNvSpPr txBox="1"/>
          <p:nvPr/>
        </p:nvSpPr>
        <p:spPr>
          <a:xfrm>
            <a:off x="9358884" y="3401568"/>
            <a:ext cx="2002536" cy="420624"/>
          </a:xfrm>
          <a:prstGeom prst="rect">
            <a:avLst/>
          </a:prstGeom>
          <a:noFill/>
        </p:spPr>
        <p:txBody>
          <a:bodyPr wrap="none" anchor="t"/>
          <a:lstStyle/>
          <a:p>
            <a:pPr algn="ctr">
              <a:spcAft>
                <a:spcPts val="400"/>
              </a:spcAft>
            </a:pPr>
            <a:r>
              <a:rPr sz="1000" b="0" i="0">
                <a:solidFill>
                  <a:srgbClr val="1E2D44"/>
                </a:solidFill>
                <a:latin typeface="Karla"/>
              </a:rPr>
              <a:t>Derm Seal Variant High</a:t>
            </a:r>
          </a:p>
        </p:txBody>
      </p:sp>
      <p:pic>
        <p:nvPicPr>
          <p:cNvPr id="15" name="Picture 14" descr="D6.png"/>
          <p:cNvPicPr>
            <a:picLocks noChangeAspect="1"/>
          </p:cNvPicPr>
          <p:nvPr/>
        </p:nvPicPr>
        <p:blipFill>
          <a:blip r:embed="rId7"/>
          <a:stretch>
            <a:fillRect/>
          </a:stretch>
        </p:blipFill>
        <p:spPr>
          <a:xfrm>
            <a:off x="2985516" y="3950208"/>
            <a:ext cx="1965960" cy="1965960"/>
          </a:xfrm>
          <a:prstGeom prst="rect">
            <a:avLst/>
          </a:prstGeom>
        </p:spPr>
      </p:pic>
      <p:sp>
        <p:nvSpPr>
          <p:cNvPr id="16" name="TextBox 15"/>
          <p:cNvSpPr txBox="1"/>
          <p:nvPr/>
        </p:nvSpPr>
        <p:spPr>
          <a:xfrm>
            <a:off x="2967228" y="5934456"/>
            <a:ext cx="2002536" cy="420624"/>
          </a:xfrm>
          <a:prstGeom prst="rect">
            <a:avLst/>
          </a:prstGeom>
          <a:noFill/>
        </p:spPr>
        <p:txBody>
          <a:bodyPr wrap="none" anchor="t"/>
          <a:lstStyle/>
          <a:p>
            <a:pPr algn="ctr">
              <a:spcAft>
                <a:spcPts val="400"/>
              </a:spcAft>
            </a:pPr>
            <a:r>
              <a:rPr sz="1000" b="0" i="0">
                <a:solidFill>
                  <a:srgbClr val="1E2D44"/>
                </a:solidFill>
                <a:latin typeface="Karla"/>
              </a:rPr>
              <a:t>Derm Seal Variant Low</a:t>
            </a:r>
          </a:p>
          <a:p>
            <a:pPr algn="ctr">
              <a:spcAft>
                <a:spcPts val="400"/>
              </a:spcAft>
            </a:pPr>
            <a:r>
              <a:rPr sz="1000" b="0" i="0">
                <a:solidFill>
                  <a:srgbClr val="1E2D44"/>
                </a:solidFill>
                <a:latin typeface="Karla"/>
              </a:rPr>
              <a:t>Right</a:t>
            </a:r>
          </a:p>
        </p:txBody>
      </p:sp>
      <p:pic>
        <p:nvPicPr>
          <p:cNvPr id="17" name="Picture 16" descr="D7.png"/>
          <p:cNvPicPr>
            <a:picLocks noChangeAspect="1"/>
          </p:cNvPicPr>
          <p:nvPr/>
        </p:nvPicPr>
        <p:blipFill>
          <a:blip r:embed="rId8"/>
          <a:stretch>
            <a:fillRect/>
          </a:stretch>
        </p:blipFill>
        <p:spPr>
          <a:xfrm>
            <a:off x="5116068" y="3950208"/>
            <a:ext cx="1965960" cy="1965960"/>
          </a:xfrm>
          <a:prstGeom prst="rect">
            <a:avLst/>
          </a:prstGeom>
        </p:spPr>
      </p:pic>
      <p:sp>
        <p:nvSpPr>
          <p:cNvPr id="18" name="TextBox 17"/>
          <p:cNvSpPr txBox="1"/>
          <p:nvPr/>
        </p:nvSpPr>
        <p:spPr>
          <a:xfrm>
            <a:off x="5097780" y="5934456"/>
            <a:ext cx="2002536" cy="420624"/>
          </a:xfrm>
          <a:prstGeom prst="rect">
            <a:avLst/>
          </a:prstGeom>
          <a:noFill/>
        </p:spPr>
        <p:txBody>
          <a:bodyPr wrap="none" anchor="t"/>
          <a:lstStyle/>
          <a:p>
            <a:pPr algn="ctr">
              <a:spcAft>
                <a:spcPts val="400"/>
              </a:spcAft>
            </a:pPr>
            <a:r>
              <a:rPr sz="1000" b="0" i="0">
                <a:solidFill>
                  <a:srgbClr val="1E2D44"/>
                </a:solidFill>
                <a:latin typeface="Karla"/>
              </a:rPr>
              <a:t>Derm Seal Variant Std</a:t>
            </a:r>
          </a:p>
        </p:txBody>
      </p:sp>
      <p:pic>
        <p:nvPicPr>
          <p:cNvPr id="19" name="Picture 18" descr="D8.png"/>
          <p:cNvPicPr>
            <a:picLocks noChangeAspect="1"/>
          </p:cNvPicPr>
          <p:nvPr/>
        </p:nvPicPr>
        <p:blipFill>
          <a:blip r:embed="rId9"/>
          <a:stretch>
            <a:fillRect/>
          </a:stretch>
        </p:blipFill>
        <p:spPr>
          <a:xfrm>
            <a:off x="7246620" y="3950208"/>
            <a:ext cx="1965960" cy="1965960"/>
          </a:xfrm>
          <a:prstGeom prst="rect">
            <a:avLst/>
          </a:prstGeom>
        </p:spPr>
      </p:pic>
      <p:sp>
        <p:nvSpPr>
          <p:cNvPr id="20" name="TextBox 19"/>
          <p:cNvSpPr txBox="1"/>
          <p:nvPr/>
        </p:nvSpPr>
        <p:spPr>
          <a:xfrm>
            <a:off x="7228332" y="5934456"/>
            <a:ext cx="2002536" cy="420624"/>
          </a:xfrm>
          <a:prstGeom prst="rect">
            <a:avLst/>
          </a:prstGeom>
          <a:noFill/>
        </p:spPr>
        <p:txBody>
          <a:bodyPr wrap="none" anchor="t"/>
          <a:lstStyle/>
          <a:p>
            <a:pPr algn="ctr">
              <a:spcAft>
                <a:spcPts val="400"/>
              </a:spcAft>
            </a:pPr>
            <a:r>
              <a:rPr sz="1000" b="0" i="0">
                <a:solidFill>
                  <a:srgbClr val="1E2D44"/>
                </a:solidFill>
                <a:latin typeface="Karla"/>
              </a:rPr>
              <a:t>Derm Seal Variant Top Left</a:t>
            </a:r>
          </a:p>
        </p:txBody>
      </p:sp>
      <p:sp>
        <p:nvSpPr>
          <p:cNvPr id="21" name="Rectangle 2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23" name="TextBox 2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Loz Low Ctr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E   ·   5 variations</a:t>
            </a:r>
          </a:p>
        </p:txBody>
      </p:sp>
      <p:pic>
        <p:nvPicPr>
          <p:cNvPr id="5" name="Picture 4" descr="E1.png"/>
          <p:cNvPicPr>
            <a:picLocks noChangeAspect="1"/>
          </p:cNvPicPr>
          <p:nvPr/>
        </p:nvPicPr>
        <p:blipFill>
          <a:blip r:embed="rId2"/>
          <a:stretch>
            <a:fillRect/>
          </a:stretch>
        </p:blipFill>
        <p:spPr>
          <a:xfrm>
            <a:off x="854963" y="2578608"/>
            <a:ext cx="1965960" cy="1965960"/>
          </a:xfrm>
          <a:prstGeom prst="rect">
            <a:avLst/>
          </a:prstGeom>
        </p:spPr>
      </p:pic>
      <p:sp>
        <p:nvSpPr>
          <p:cNvPr id="6" name="TextBox 5"/>
          <p:cNvSpPr txBox="1"/>
          <p:nvPr/>
        </p:nvSpPr>
        <p:spPr>
          <a:xfrm>
            <a:off x="836675" y="4562856"/>
            <a:ext cx="2002536" cy="420624"/>
          </a:xfrm>
          <a:prstGeom prst="rect">
            <a:avLst/>
          </a:prstGeom>
          <a:noFill/>
        </p:spPr>
        <p:txBody>
          <a:bodyPr wrap="none" anchor="t"/>
          <a:lstStyle/>
          <a:p>
            <a:pPr algn="ctr">
              <a:spcAft>
                <a:spcPts val="400"/>
              </a:spcAft>
            </a:pPr>
            <a:r>
              <a:rPr sz="1000" b="0" i="0">
                <a:solidFill>
                  <a:srgbClr val="1E2D44"/>
                </a:solidFill>
                <a:latin typeface="Karla"/>
              </a:rPr>
              <a:t>Loz Gold Fill Low Ctr</a:t>
            </a:r>
          </a:p>
        </p:txBody>
      </p:sp>
      <p:pic>
        <p:nvPicPr>
          <p:cNvPr id="7" name="Picture 6" descr="E2.png"/>
          <p:cNvPicPr>
            <a:picLocks noChangeAspect="1"/>
          </p:cNvPicPr>
          <p:nvPr/>
        </p:nvPicPr>
        <p:blipFill>
          <a:blip r:embed="rId3"/>
          <a:stretch>
            <a:fillRect/>
          </a:stretch>
        </p:blipFill>
        <p:spPr>
          <a:xfrm>
            <a:off x="2985515" y="2578608"/>
            <a:ext cx="1965960" cy="1965960"/>
          </a:xfrm>
          <a:prstGeom prst="rect">
            <a:avLst/>
          </a:prstGeom>
        </p:spPr>
      </p:pic>
      <p:sp>
        <p:nvSpPr>
          <p:cNvPr id="8" name="TextBox 7"/>
          <p:cNvSpPr txBox="1"/>
          <p:nvPr/>
        </p:nvSpPr>
        <p:spPr>
          <a:xfrm>
            <a:off x="2967227" y="4562856"/>
            <a:ext cx="2002536" cy="420624"/>
          </a:xfrm>
          <a:prstGeom prst="rect">
            <a:avLst/>
          </a:prstGeom>
          <a:noFill/>
        </p:spPr>
        <p:txBody>
          <a:bodyPr wrap="none" anchor="t"/>
          <a:lstStyle/>
          <a:p>
            <a:pPr algn="ctr">
              <a:spcAft>
                <a:spcPts val="400"/>
              </a:spcAft>
            </a:pPr>
            <a:r>
              <a:rPr sz="1000" b="0" i="0">
                <a:solidFill>
                  <a:srgbClr val="1E2D44"/>
                </a:solidFill>
                <a:latin typeface="Karla"/>
              </a:rPr>
              <a:t>Loz Variant Fill Low Ctr</a:t>
            </a:r>
          </a:p>
        </p:txBody>
      </p:sp>
      <p:pic>
        <p:nvPicPr>
          <p:cNvPr id="9" name="Picture 8" descr="E3.png"/>
          <p:cNvPicPr>
            <a:picLocks noChangeAspect="1"/>
          </p:cNvPicPr>
          <p:nvPr/>
        </p:nvPicPr>
        <p:blipFill>
          <a:blip r:embed="rId4"/>
          <a:stretch>
            <a:fillRect/>
          </a:stretch>
        </p:blipFill>
        <p:spPr>
          <a:xfrm>
            <a:off x="5116068" y="2578608"/>
            <a:ext cx="1965960" cy="1965960"/>
          </a:xfrm>
          <a:prstGeom prst="rect">
            <a:avLst/>
          </a:prstGeom>
        </p:spPr>
      </p:pic>
      <p:sp>
        <p:nvSpPr>
          <p:cNvPr id="10" name="TextBox 9"/>
          <p:cNvSpPr txBox="1"/>
          <p:nvPr/>
        </p:nvSpPr>
        <p:spPr>
          <a:xfrm>
            <a:off x="5097780" y="4562856"/>
            <a:ext cx="2002536" cy="420624"/>
          </a:xfrm>
          <a:prstGeom prst="rect">
            <a:avLst/>
          </a:prstGeom>
          <a:noFill/>
        </p:spPr>
        <p:txBody>
          <a:bodyPr wrap="none" anchor="t"/>
          <a:lstStyle/>
          <a:p>
            <a:pPr algn="ctr">
              <a:spcAft>
                <a:spcPts val="400"/>
              </a:spcAft>
            </a:pPr>
            <a:r>
              <a:rPr sz="1000" b="0" i="0">
                <a:solidFill>
                  <a:srgbClr val="1E2D44"/>
                </a:solidFill>
                <a:latin typeface="Karla"/>
              </a:rPr>
              <a:t>Loz Gold Outline Low Ctr</a:t>
            </a:r>
          </a:p>
        </p:txBody>
      </p:sp>
      <p:pic>
        <p:nvPicPr>
          <p:cNvPr id="11" name="Picture 10" descr="E4.png"/>
          <p:cNvPicPr>
            <a:picLocks noChangeAspect="1"/>
          </p:cNvPicPr>
          <p:nvPr/>
        </p:nvPicPr>
        <p:blipFill>
          <a:blip r:embed="rId5"/>
          <a:stretch>
            <a:fillRect/>
          </a:stretch>
        </p:blipFill>
        <p:spPr>
          <a:xfrm>
            <a:off x="7246620" y="2578608"/>
            <a:ext cx="1965960" cy="1965960"/>
          </a:xfrm>
          <a:prstGeom prst="rect">
            <a:avLst/>
          </a:prstGeom>
        </p:spPr>
      </p:pic>
      <p:sp>
        <p:nvSpPr>
          <p:cNvPr id="12" name="TextBox 11"/>
          <p:cNvSpPr txBox="1"/>
          <p:nvPr/>
        </p:nvSpPr>
        <p:spPr>
          <a:xfrm>
            <a:off x="7228332" y="4562856"/>
            <a:ext cx="2002536" cy="420624"/>
          </a:xfrm>
          <a:prstGeom prst="rect">
            <a:avLst/>
          </a:prstGeom>
          <a:noFill/>
        </p:spPr>
        <p:txBody>
          <a:bodyPr wrap="none" anchor="t"/>
          <a:lstStyle/>
          <a:p>
            <a:pPr algn="ctr">
              <a:spcAft>
                <a:spcPts val="400"/>
              </a:spcAft>
            </a:pPr>
            <a:r>
              <a:rPr sz="1000" b="0" i="0">
                <a:solidFill>
                  <a:srgbClr val="1E2D44"/>
                </a:solidFill>
                <a:latin typeface="Karla"/>
              </a:rPr>
              <a:t>Loz Variant Outline Low</a:t>
            </a:r>
          </a:p>
          <a:p>
            <a:pPr algn="ctr">
              <a:spcAft>
                <a:spcPts val="400"/>
              </a:spcAft>
            </a:pPr>
            <a:r>
              <a:rPr sz="1000" b="0" i="0">
                <a:solidFill>
                  <a:srgbClr val="1E2D44"/>
                </a:solidFill>
                <a:latin typeface="Karla"/>
              </a:rPr>
              <a:t>Ctr</a:t>
            </a:r>
          </a:p>
        </p:txBody>
      </p:sp>
      <p:pic>
        <p:nvPicPr>
          <p:cNvPr id="13" name="Picture 12" descr="E5.png"/>
          <p:cNvPicPr>
            <a:picLocks noChangeAspect="1"/>
          </p:cNvPicPr>
          <p:nvPr/>
        </p:nvPicPr>
        <p:blipFill>
          <a:blip r:embed="rId6"/>
          <a:stretch>
            <a:fillRect/>
          </a:stretch>
        </p:blipFill>
        <p:spPr>
          <a:xfrm>
            <a:off x="9377172" y="2578608"/>
            <a:ext cx="1965960" cy="1965960"/>
          </a:xfrm>
          <a:prstGeom prst="rect">
            <a:avLst/>
          </a:prstGeom>
        </p:spPr>
      </p:pic>
      <p:sp>
        <p:nvSpPr>
          <p:cNvPr id="14" name="TextBox 13"/>
          <p:cNvSpPr txBox="1"/>
          <p:nvPr/>
        </p:nvSpPr>
        <p:spPr>
          <a:xfrm>
            <a:off x="9358884" y="4562856"/>
            <a:ext cx="2002536" cy="420624"/>
          </a:xfrm>
          <a:prstGeom prst="rect">
            <a:avLst/>
          </a:prstGeom>
          <a:noFill/>
        </p:spPr>
        <p:txBody>
          <a:bodyPr wrap="none" anchor="t"/>
          <a:lstStyle/>
          <a:p>
            <a:pPr algn="ctr">
              <a:spcAft>
                <a:spcPts val="400"/>
              </a:spcAft>
            </a:pPr>
            <a:r>
              <a:rPr sz="1000" b="0" i="0">
                <a:solidFill>
                  <a:srgbClr val="1E2D44"/>
                </a:solidFill>
                <a:latin typeface="Karla"/>
              </a:rPr>
              <a:t>Loz Text Low Ctr</a:t>
            </a:r>
          </a:p>
        </p:txBody>
      </p:sp>
      <p:sp>
        <p:nvSpPr>
          <p:cNvPr id="15" name="Rectangle 1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17" name="TextBox 1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Loz Top Ctr Low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F   ·   5 variations</a:t>
            </a:r>
          </a:p>
        </p:txBody>
      </p:sp>
      <p:pic>
        <p:nvPicPr>
          <p:cNvPr id="5" name="Picture 4" descr="F1.png"/>
          <p:cNvPicPr>
            <a:picLocks noChangeAspect="1"/>
          </p:cNvPicPr>
          <p:nvPr/>
        </p:nvPicPr>
        <p:blipFill>
          <a:blip r:embed="rId2"/>
          <a:stretch>
            <a:fillRect/>
          </a:stretch>
        </p:blipFill>
        <p:spPr>
          <a:xfrm>
            <a:off x="854963" y="2578608"/>
            <a:ext cx="1965960" cy="1965960"/>
          </a:xfrm>
          <a:prstGeom prst="rect">
            <a:avLst/>
          </a:prstGeom>
        </p:spPr>
      </p:pic>
      <p:sp>
        <p:nvSpPr>
          <p:cNvPr id="6" name="TextBox 5"/>
          <p:cNvSpPr txBox="1"/>
          <p:nvPr/>
        </p:nvSpPr>
        <p:spPr>
          <a:xfrm>
            <a:off x="836675" y="4562856"/>
            <a:ext cx="2002536" cy="420624"/>
          </a:xfrm>
          <a:prstGeom prst="rect">
            <a:avLst/>
          </a:prstGeom>
          <a:noFill/>
        </p:spPr>
        <p:txBody>
          <a:bodyPr wrap="none" anchor="t"/>
          <a:lstStyle/>
          <a:p>
            <a:pPr algn="ctr">
              <a:spcAft>
                <a:spcPts val="400"/>
              </a:spcAft>
            </a:pPr>
            <a:r>
              <a:rPr sz="1000" b="0" i="0">
                <a:solidFill>
                  <a:srgbClr val="1E2D44"/>
                </a:solidFill>
                <a:latin typeface="Karla"/>
              </a:rPr>
              <a:t>Loz Gold Fill Top Ctr Low</a:t>
            </a:r>
          </a:p>
        </p:txBody>
      </p:sp>
      <p:pic>
        <p:nvPicPr>
          <p:cNvPr id="7" name="Picture 6" descr="F2.png"/>
          <p:cNvPicPr>
            <a:picLocks noChangeAspect="1"/>
          </p:cNvPicPr>
          <p:nvPr/>
        </p:nvPicPr>
        <p:blipFill>
          <a:blip r:embed="rId3"/>
          <a:stretch>
            <a:fillRect/>
          </a:stretch>
        </p:blipFill>
        <p:spPr>
          <a:xfrm>
            <a:off x="2985515" y="2578608"/>
            <a:ext cx="1965960" cy="1965960"/>
          </a:xfrm>
          <a:prstGeom prst="rect">
            <a:avLst/>
          </a:prstGeom>
        </p:spPr>
      </p:pic>
      <p:sp>
        <p:nvSpPr>
          <p:cNvPr id="8" name="TextBox 7"/>
          <p:cNvSpPr txBox="1"/>
          <p:nvPr/>
        </p:nvSpPr>
        <p:spPr>
          <a:xfrm>
            <a:off x="2967227" y="4562856"/>
            <a:ext cx="2002536" cy="420624"/>
          </a:xfrm>
          <a:prstGeom prst="rect">
            <a:avLst/>
          </a:prstGeom>
          <a:noFill/>
        </p:spPr>
        <p:txBody>
          <a:bodyPr wrap="none" anchor="t"/>
          <a:lstStyle/>
          <a:p>
            <a:pPr algn="ctr">
              <a:spcAft>
                <a:spcPts val="400"/>
              </a:spcAft>
            </a:pPr>
            <a:r>
              <a:rPr sz="1000" b="0" i="0">
                <a:solidFill>
                  <a:srgbClr val="1E2D44"/>
                </a:solidFill>
                <a:latin typeface="Karla"/>
              </a:rPr>
              <a:t>Loz Variant Fill Top Ctr</a:t>
            </a:r>
          </a:p>
          <a:p>
            <a:pPr algn="ctr">
              <a:spcAft>
                <a:spcPts val="400"/>
              </a:spcAft>
            </a:pPr>
            <a:r>
              <a:rPr sz="1000" b="0" i="0">
                <a:solidFill>
                  <a:srgbClr val="1E2D44"/>
                </a:solidFill>
                <a:latin typeface="Karla"/>
              </a:rPr>
              <a:t>Low</a:t>
            </a:r>
          </a:p>
        </p:txBody>
      </p:sp>
      <p:pic>
        <p:nvPicPr>
          <p:cNvPr id="9" name="Picture 8" descr="F3.png"/>
          <p:cNvPicPr>
            <a:picLocks noChangeAspect="1"/>
          </p:cNvPicPr>
          <p:nvPr/>
        </p:nvPicPr>
        <p:blipFill>
          <a:blip r:embed="rId4"/>
          <a:stretch>
            <a:fillRect/>
          </a:stretch>
        </p:blipFill>
        <p:spPr>
          <a:xfrm>
            <a:off x="5116068" y="2578608"/>
            <a:ext cx="1965960" cy="1965960"/>
          </a:xfrm>
          <a:prstGeom prst="rect">
            <a:avLst/>
          </a:prstGeom>
        </p:spPr>
      </p:pic>
      <p:sp>
        <p:nvSpPr>
          <p:cNvPr id="10" name="TextBox 9"/>
          <p:cNvSpPr txBox="1"/>
          <p:nvPr/>
        </p:nvSpPr>
        <p:spPr>
          <a:xfrm>
            <a:off x="5097780" y="4562856"/>
            <a:ext cx="2002536" cy="420624"/>
          </a:xfrm>
          <a:prstGeom prst="rect">
            <a:avLst/>
          </a:prstGeom>
          <a:noFill/>
        </p:spPr>
        <p:txBody>
          <a:bodyPr wrap="none" anchor="t"/>
          <a:lstStyle/>
          <a:p>
            <a:pPr algn="ctr">
              <a:spcAft>
                <a:spcPts val="400"/>
              </a:spcAft>
            </a:pPr>
            <a:r>
              <a:rPr sz="1000" b="0" i="0">
                <a:solidFill>
                  <a:srgbClr val="1E2D44"/>
                </a:solidFill>
                <a:latin typeface="Karla"/>
              </a:rPr>
              <a:t>Loz Gold Outline Top Ctr</a:t>
            </a:r>
          </a:p>
          <a:p>
            <a:pPr algn="ctr">
              <a:spcAft>
                <a:spcPts val="400"/>
              </a:spcAft>
            </a:pPr>
            <a:r>
              <a:rPr sz="1000" b="0" i="0">
                <a:solidFill>
                  <a:srgbClr val="1E2D44"/>
                </a:solidFill>
                <a:latin typeface="Karla"/>
              </a:rPr>
              <a:t>Low</a:t>
            </a:r>
          </a:p>
        </p:txBody>
      </p:sp>
      <p:pic>
        <p:nvPicPr>
          <p:cNvPr id="11" name="Picture 10" descr="F4.png"/>
          <p:cNvPicPr>
            <a:picLocks noChangeAspect="1"/>
          </p:cNvPicPr>
          <p:nvPr/>
        </p:nvPicPr>
        <p:blipFill>
          <a:blip r:embed="rId5"/>
          <a:stretch>
            <a:fillRect/>
          </a:stretch>
        </p:blipFill>
        <p:spPr>
          <a:xfrm>
            <a:off x="7246620" y="2578608"/>
            <a:ext cx="1965960" cy="1965960"/>
          </a:xfrm>
          <a:prstGeom prst="rect">
            <a:avLst/>
          </a:prstGeom>
        </p:spPr>
      </p:pic>
      <p:sp>
        <p:nvSpPr>
          <p:cNvPr id="12" name="TextBox 11"/>
          <p:cNvSpPr txBox="1"/>
          <p:nvPr/>
        </p:nvSpPr>
        <p:spPr>
          <a:xfrm>
            <a:off x="7228332" y="4562856"/>
            <a:ext cx="2002536" cy="420624"/>
          </a:xfrm>
          <a:prstGeom prst="rect">
            <a:avLst/>
          </a:prstGeom>
          <a:noFill/>
        </p:spPr>
        <p:txBody>
          <a:bodyPr wrap="none" anchor="t"/>
          <a:lstStyle/>
          <a:p>
            <a:pPr algn="ctr">
              <a:spcAft>
                <a:spcPts val="400"/>
              </a:spcAft>
            </a:pPr>
            <a:r>
              <a:rPr sz="1000" b="0" i="0">
                <a:solidFill>
                  <a:srgbClr val="1E2D44"/>
                </a:solidFill>
                <a:latin typeface="Karla"/>
              </a:rPr>
              <a:t>Loz Variant Outline Top</a:t>
            </a:r>
          </a:p>
          <a:p>
            <a:pPr algn="ctr">
              <a:spcAft>
                <a:spcPts val="400"/>
              </a:spcAft>
            </a:pPr>
            <a:r>
              <a:rPr sz="1000" b="0" i="0">
                <a:solidFill>
                  <a:srgbClr val="1E2D44"/>
                </a:solidFill>
                <a:latin typeface="Karla"/>
              </a:rPr>
              <a:t>Ctr Low</a:t>
            </a:r>
          </a:p>
        </p:txBody>
      </p:sp>
      <p:pic>
        <p:nvPicPr>
          <p:cNvPr id="13" name="Picture 12" descr="F5.png"/>
          <p:cNvPicPr>
            <a:picLocks noChangeAspect="1"/>
          </p:cNvPicPr>
          <p:nvPr/>
        </p:nvPicPr>
        <p:blipFill>
          <a:blip r:embed="rId6"/>
          <a:stretch>
            <a:fillRect/>
          </a:stretch>
        </p:blipFill>
        <p:spPr>
          <a:xfrm>
            <a:off x="9377172" y="2578608"/>
            <a:ext cx="1965960" cy="1965960"/>
          </a:xfrm>
          <a:prstGeom prst="rect">
            <a:avLst/>
          </a:prstGeom>
        </p:spPr>
      </p:pic>
      <p:sp>
        <p:nvSpPr>
          <p:cNvPr id="14" name="TextBox 13"/>
          <p:cNvSpPr txBox="1"/>
          <p:nvPr/>
        </p:nvSpPr>
        <p:spPr>
          <a:xfrm>
            <a:off x="9358884" y="4562856"/>
            <a:ext cx="2002536" cy="420624"/>
          </a:xfrm>
          <a:prstGeom prst="rect">
            <a:avLst/>
          </a:prstGeom>
          <a:noFill/>
        </p:spPr>
        <p:txBody>
          <a:bodyPr wrap="none" anchor="t"/>
          <a:lstStyle/>
          <a:p>
            <a:pPr algn="ctr">
              <a:spcAft>
                <a:spcPts val="400"/>
              </a:spcAft>
            </a:pPr>
            <a:r>
              <a:rPr sz="1000" b="0" i="0">
                <a:solidFill>
                  <a:srgbClr val="1E2D44"/>
                </a:solidFill>
                <a:latin typeface="Karla"/>
              </a:rPr>
              <a:t>Loz Text Top Ctr Low</a:t>
            </a:r>
          </a:p>
        </p:txBody>
      </p:sp>
      <p:sp>
        <p:nvSpPr>
          <p:cNvPr id="15" name="Rectangle 1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17" name="TextBox 1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Loz Top Ctr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G   ·   5 variations</a:t>
            </a:r>
          </a:p>
        </p:txBody>
      </p:sp>
      <p:pic>
        <p:nvPicPr>
          <p:cNvPr id="5" name="Picture 4" descr="G1.png"/>
          <p:cNvPicPr>
            <a:picLocks noChangeAspect="1"/>
          </p:cNvPicPr>
          <p:nvPr/>
        </p:nvPicPr>
        <p:blipFill>
          <a:blip r:embed="rId2"/>
          <a:stretch>
            <a:fillRect/>
          </a:stretch>
        </p:blipFill>
        <p:spPr>
          <a:xfrm>
            <a:off x="854963" y="2578608"/>
            <a:ext cx="1965960" cy="1965960"/>
          </a:xfrm>
          <a:prstGeom prst="rect">
            <a:avLst/>
          </a:prstGeom>
        </p:spPr>
      </p:pic>
      <p:sp>
        <p:nvSpPr>
          <p:cNvPr id="6" name="TextBox 5"/>
          <p:cNvSpPr txBox="1"/>
          <p:nvPr/>
        </p:nvSpPr>
        <p:spPr>
          <a:xfrm>
            <a:off x="836675" y="4562856"/>
            <a:ext cx="2002536" cy="420624"/>
          </a:xfrm>
          <a:prstGeom prst="rect">
            <a:avLst/>
          </a:prstGeom>
          <a:noFill/>
        </p:spPr>
        <p:txBody>
          <a:bodyPr wrap="none" anchor="t"/>
          <a:lstStyle/>
          <a:p>
            <a:pPr algn="ctr">
              <a:spcAft>
                <a:spcPts val="400"/>
              </a:spcAft>
            </a:pPr>
            <a:r>
              <a:rPr sz="1000" b="0" i="0">
                <a:solidFill>
                  <a:srgbClr val="1E2D44"/>
                </a:solidFill>
                <a:latin typeface="Karla"/>
              </a:rPr>
              <a:t>Loz Gold Fill Top Ctr</a:t>
            </a:r>
          </a:p>
        </p:txBody>
      </p:sp>
      <p:pic>
        <p:nvPicPr>
          <p:cNvPr id="7" name="Picture 6" descr="G2.png"/>
          <p:cNvPicPr>
            <a:picLocks noChangeAspect="1"/>
          </p:cNvPicPr>
          <p:nvPr/>
        </p:nvPicPr>
        <p:blipFill>
          <a:blip r:embed="rId3"/>
          <a:stretch>
            <a:fillRect/>
          </a:stretch>
        </p:blipFill>
        <p:spPr>
          <a:xfrm>
            <a:off x="2985515" y="2578608"/>
            <a:ext cx="1965960" cy="1965960"/>
          </a:xfrm>
          <a:prstGeom prst="rect">
            <a:avLst/>
          </a:prstGeom>
        </p:spPr>
      </p:pic>
      <p:sp>
        <p:nvSpPr>
          <p:cNvPr id="8" name="TextBox 7"/>
          <p:cNvSpPr txBox="1"/>
          <p:nvPr/>
        </p:nvSpPr>
        <p:spPr>
          <a:xfrm>
            <a:off x="2967227" y="4562856"/>
            <a:ext cx="2002536" cy="420624"/>
          </a:xfrm>
          <a:prstGeom prst="rect">
            <a:avLst/>
          </a:prstGeom>
          <a:noFill/>
        </p:spPr>
        <p:txBody>
          <a:bodyPr wrap="none" anchor="t"/>
          <a:lstStyle/>
          <a:p>
            <a:pPr algn="ctr">
              <a:spcAft>
                <a:spcPts val="400"/>
              </a:spcAft>
            </a:pPr>
            <a:r>
              <a:rPr sz="1000" b="0" i="0">
                <a:solidFill>
                  <a:srgbClr val="1E2D44"/>
                </a:solidFill>
                <a:latin typeface="Karla"/>
              </a:rPr>
              <a:t>Loz Variant Fill Top Ctr</a:t>
            </a:r>
          </a:p>
        </p:txBody>
      </p:sp>
      <p:pic>
        <p:nvPicPr>
          <p:cNvPr id="9" name="Picture 8" descr="G3.png"/>
          <p:cNvPicPr>
            <a:picLocks noChangeAspect="1"/>
          </p:cNvPicPr>
          <p:nvPr/>
        </p:nvPicPr>
        <p:blipFill>
          <a:blip r:embed="rId4"/>
          <a:stretch>
            <a:fillRect/>
          </a:stretch>
        </p:blipFill>
        <p:spPr>
          <a:xfrm>
            <a:off x="5116068" y="2578608"/>
            <a:ext cx="1965960" cy="1965960"/>
          </a:xfrm>
          <a:prstGeom prst="rect">
            <a:avLst/>
          </a:prstGeom>
        </p:spPr>
      </p:pic>
      <p:sp>
        <p:nvSpPr>
          <p:cNvPr id="10" name="TextBox 9"/>
          <p:cNvSpPr txBox="1"/>
          <p:nvPr/>
        </p:nvSpPr>
        <p:spPr>
          <a:xfrm>
            <a:off x="5097780" y="4562856"/>
            <a:ext cx="2002536" cy="420624"/>
          </a:xfrm>
          <a:prstGeom prst="rect">
            <a:avLst/>
          </a:prstGeom>
          <a:noFill/>
        </p:spPr>
        <p:txBody>
          <a:bodyPr wrap="none" anchor="t"/>
          <a:lstStyle/>
          <a:p>
            <a:pPr algn="ctr">
              <a:spcAft>
                <a:spcPts val="400"/>
              </a:spcAft>
            </a:pPr>
            <a:r>
              <a:rPr sz="1000" b="0" i="0">
                <a:solidFill>
                  <a:srgbClr val="1E2D44"/>
                </a:solidFill>
                <a:latin typeface="Karla"/>
              </a:rPr>
              <a:t>Loz Gold Outline Top Ctr</a:t>
            </a:r>
          </a:p>
        </p:txBody>
      </p:sp>
      <p:pic>
        <p:nvPicPr>
          <p:cNvPr id="11" name="Picture 10" descr="G4.png"/>
          <p:cNvPicPr>
            <a:picLocks noChangeAspect="1"/>
          </p:cNvPicPr>
          <p:nvPr/>
        </p:nvPicPr>
        <p:blipFill>
          <a:blip r:embed="rId5"/>
          <a:stretch>
            <a:fillRect/>
          </a:stretch>
        </p:blipFill>
        <p:spPr>
          <a:xfrm>
            <a:off x="7246620" y="2578608"/>
            <a:ext cx="1965960" cy="1965960"/>
          </a:xfrm>
          <a:prstGeom prst="rect">
            <a:avLst/>
          </a:prstGeom>
        </p:spPr>
      </p:pic>
      <p:sp>
        <p:nvSpPr>
          <p:cNvPr id="12" name="TextBox 11"/>
          <p:cNvSpPr txBox="1"/>
          <p:nvPr/>
        </p:nvSpPr>
        <p:spPr>
          <a:xfrm>
            <a:off x="7228332" y="4562856"/>
            <a:ext cx="2002536" cy="420624"/>
          </a:xfrm>
          <a:prstGeom prst="rect">
            <a:avLst/>
          </a:prstGeom>
          <a:noFill/>
        </p:spPr>
        <p:txBody>
          <a:bodyPr wrap="none" anchor="t"/>
          <a:lstStyle/>
          <a:p>
            <a:pPr algn="ctr">
              <a:spcAft>
                <a:spcPts val="400"/>
              </a:spcAft>
            </a:pPr>
            <a:r>
              <a:rPr sz="1000" b="0" i="0">
                <a:solidFill>
                  <a:srgbClr val="1E2D44"/>
                </a:solidFill>
                <a:latin typeface="Karla"/>
              </a:rPr>
              <a:t>Loz Variant Outline Top</a:t>
            </a:r>
          </a:p>
          <a:p>
            <a:pPr algn="ctr">
              <a:spcAft>
                <a:spcPts val="400"/>
              </a:spcAft>
            </a:pPr>
            <a:r>
              <a:rPr sz="1000" b="0" i="0">
                <a:solidFill>
                  <a:srgbClr val="1E2D44"/>
                </a:solidFill>
                <a:latin typeface="Karla"/>
              </a:rPr>
              <a:t>Ctr</a:t>
            </a:r>
          </a:p>
        </p:txBody>
      </p:sp>
      <p:pic>
        <p:nvPicPr>
          <p:cNvPr id="13" name="Picture 12" descr="G5.png"/>
          <p:cNvPicPr>
            <a:picLocks noChangeAspect="1"/>
          </p:cNvPicPr>
          <p:nvPr/>
        </p:nvPicPr>
        <p:blipFill>
          <a:blip r:embed="rId6"/>
          <a:stretch>
            <a:fillRect/>
          </a:stretch>
        </p:blipFill>
        <p:spPr>
          <a:xfrm>
            <a:off x="9377172" y="2578608"/>
            <a:ext cx="1965960" cy="1965960"/>
          </a:xfrm>
          <a:prstGeom prst="rect">
            <a:avLst/>
          </a:prstGeom>
        </p:spPr>
      </p:pic>
      <p:sp>
        <p:nvSpPr>
          <p:cNvPr id="14" name="TextBox 13"/>
          <p:cNvSpPr txBox="1"/>
          <p:nvPr/>
        </p:nvSpPr>
        <p:spPr>
          <a:xfrm>
            <a:off x="9358884" y="4562856"/>
            <a:ext cx="2002536" cy="420624"/>
          </a:xfrm>
          <a:prstGeom prst="rect">
            <a:avLst/>
          </a:prstGeom>
          <a:noFill/>
        </p:spPr>
        <p:txBody>
          <a:bodyPr wrap="none" anchor="t"/>
          <a:lstStyle/>
          <a:p>
            <a:pPr algn="ctr">
              <a:spcAft>
                <a:spcPts val="400"/>
              </a:spcAft>
            </a:pPr>
            <a:r>
              <a:rPr sz="1000" b="0" i="0">
                <a:solidFill>
                  <a:srgbClr val="1E2D44"/>
                </a:solidFill>
                <a:latin typeface="Karla"/>
              </a:rPr>
              <a:t>Loz Text Top Ctr</a:t>
            </a:r>
          </a:p>
        </p:txBody>
      </p:sp>
      <p:sp>
        <p:nvSpPr>
          <p:cNvPr id="15" name="Rectangle 1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17" name="TextBox 1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Loz Top Left Low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H   ·   5 variations</a:t>
            </a:r>
          </a:p>
        </p:txBody>
      </p:sp>
      <p:pic>
        <p:nvPicPr>
          <p:cNvPr id="5" name="Picture 4" descr="H1.png"/>
          <p:cNvPicPr>
            <a:picLocks noChangeAspect="1"/>
          </p:cNvPicPr>
          <p:nvPr/>
        </p:nvPicPr>
        <p:blipFill>
          <a:blip r:embed="rId2"/>
          <a:stretch>
            <a:fillRect/>
          </a:stretch>
        </p:blipFill>
        <p:spPr>
          <a:xfrm>
            <a:off x="854963" y="2578608"/>
            <a:ext cx="1965960" cy="1965960"/>
          </a:xfrm>
          <a:prstGeom prst="rect">
            <a:avLst/>
          </a:prstGeom>
        </p:spPr>
      </p:pic>
      <p:sp>
        <p:nvSpPr>
          <p:cNvPr id="6" name="TextBox 5"/>
          <p:cNvSpPr txBox="1"/>
          <p:nvPr/>
        </p:nvSpPr>
        <p:spPr>
          <a:xfrm>
            <a:off x="836675" y="4562856"/>
            <a:ext cx="2002536" cy="420624"/>
          </a:xfrm>
          <a:prstGeom prst="rect">
            <a:avLst/>
          </a:prstGeom>
          <a:noFill/>
        </p:spPr>
        <p:txBody>
          <a:bodyPr wrap="none" anchor="t"/>
          <a:lstStyle/>
          <a:p>
            <a:pPr algn="ctr">
              <a:spcAft>
                <a:spcPts val="400"/>
              </a:spcAft>
            </a:pPr>
            <a:r>
              <a:rPr sz="1000" b="0" i="0">
                <a:solidFill>
                  <a:srgbClr val="1E2D44"/>
                </a:solidFill>
                <a:latin typeface="Karla"/>
              </a:rPr>
              <a:t>Loz Variant Fill Top Left</a:t>
            </a:r>
          </a:p>
          <a:p>
            <a:pPr algn="ctr">
              <a:spcAft>
                <a:spcPts val="400"/>
              </a:spcAft>
            </a:pPr>
            <a:r>
              <a:rPr sz="1000" b="0" i="0">
                <a:solidFill>
                  <a:srgbClr val="1E2D44"/>
                </a:solidFill>
                <a:latin typeface="Karla"/>
              </a:rPr>
              <a:t>Low</a:t>
            </a:r>
          </a:p>
        </p:txBody>
      </p:sp>
      <p:pic>
        <p:nvPicPr>
          <p:cNvPr id="7" name="Picture 6" descr="H2.png"/>
          <p:cNvPicPr>
            <a:picLocks noChangeAspect="1"/>
          </p:cNvPicPr>
          <p:nvPr/>
        </p:nvPicPr>
        <p:blipFill>
          <a:blip r:embed="rId3"/>
          <a:stretch>
            <a:fillRect/>
          </a:stretch>
        </p:blipFill>
        <p:spPr>
          <a:xfrm>
            <a:off x="2985515" y="2578608"/>
            <a:ext cx="1965960" cy="1965960"/>
          </a:xfrm>
          <a:prstGeom prst="rect">
            <a:avLst/>
          </a:prstGeom>
        </p:spPr>
      </p:pic>
      <p:sp>
        <p:nvSpPr>
          <p:cNvPr id="8" name="TextBox 7"/>
          <p:cNvSpPr txBox="1"/>
          <p:nvPr/>
        </p:nvSpPr>
        <p:spPr>
          <a:xfrm>
            <a:off x="2967227" y="4562856"/>
            <a:ext cx="2002536" cy="420624"/>
          </a:xfrm>
          <a:prstGeom prst="rect">
            <a:avLst/>
          </a:prstGeom>
          <a:noFill/>
        </p:spPr>
        <p:txBody>
          <a:bodyPr wrap="none" anchor="t"/>
          <a:lstStyle/>
          <a:p>
            <a:pPr algn="ctr">
              <a:spcAft>
                <a:spcPts val="400"/>
              </a:spcAft>
            </a:pPr>
            <a:r>
              <a:rPr sz="1000" b="0" i="0">
                <a:solidFill>
                  <a:srgbClr val="1E2D44"/>
                </a:solidFill>
                <a:latin typeface="Karla"/>
              </a:rPr>
              <a:t>Loz Gold Outline Top Left</a:t>
            </a:r>
          </a:p>
          <a:p>
            <a:pPr algn="ctr">
              <a:spcAft>
                <a:spcPts val="400"/>
              </a:spcAft>
            </a:pPr>
            <a:r>
              <a:rPr sz="1000" b="0" i="0">
                <a:solidFill>
                  <a:srgbClr val="1E2D44"/>
                </a:solidFill>
                <a:latin typeface="Karla"/>
              </a:rPr>
              <a:t>Low</a:t>
            </a:r>
          </a:p>
        </p:txBody>
      </p:sp>
      <p:pic>
        <p:nvPicPr>
          <p:cNvPr id="9" name="Picture 8" descr="H3.png"/>
          <p:cNvPicPr>
            <a:picLocks noChangeAspect="1"/>
          </p:cNvPicPr>
          <p:nvPr/>
        </p:nvPicPr>
        <p:blipFill>
          <a:blip r:embed="rId4"/>
          <a:stretch>
            <a:fillRect/>
          </a:stretch>
        </p:blipFill>
        <p:spPr>
          <a:xfrm>
            <a:off x="5116068" y="2578608"/>
            <a:ext cx="1965960" cy="1965960"/>
          </a:xfrm>
          <a:prstGeom prst="rect">
            <a:avLst/>
          </a:prstGeom>
        </p:spPr>
      </p:pic>
      <p:sp>
        <p:nvSpPr>
          <p:cNvPr id="10" name="TextBox 9"/>
          <p:cNvSpPr txBox="1"/>
          <p:nvPr/>
        </p:nvSpPr>
        <p:spPr>
          <a:xfrm>
            <a:off x="5097780" y="4562856"/>
            <a:ext cx="2002536" cy="420624"/>
          </a:xfrm>
          <a:prstGeom prst="rect">
            <a:avLst/>
          </a:prstGeom>
          <a:noFill/>
        </p:spPr>
        <p:txBody>
          <a:bodyPr wrap="none" anchor="t"/>
          <a:lstStyle/>
          <a:p>
            <a:pPr algn="ctr">
              <a:spcAft>
                <a:spcPts val="400"/>
              </a:spcAft>
            </a:pPr>
            <a:r>
              <a:rPr sz="1000" b="0" i="0">
                <a:solidFill>
                  <a:srgbClr val="1E2D44"/>
                </a:solidFill>
                <a:latin typeface="Karla"/>
              </a:rPr>
              <a:t>Loz Variant Outline Top</a:t>
            </a:r>
          </a:p>
          <a:p>
            <a:pPr algn="ctr">
              <a:spcAft>
                <a:spcPts val="400"/>
              </a:spcAft>
            </a:pPr>
            <a:r>
              <a:rPr sz="1000" b="0" i="0">
                <a:solidFill>
                  <a:srgbClr val="1E2D44"/>
                </a:solidFill>
                <a:latin typeface="Karla"/>
              </a:rPr>
              <a:t>Left Low</a:t>
            </a:r>
          </a:p>
        </p:txBody>
      </p:sp>
      <p:pic>
        <p:nvPicPr>
          <p:cNvPr id="11" name="Picture 10" descr="H4.png"/>
          <p:cNvPicPr>
            <a:picLocks noChangeAspect="1"/>
          </p:cNvPicPr>
          <p:nvPr/>
        </p:nvPicPr>
        <p:blipFill>
          <a:blip r:embed="rId5"/>
          <a:stretch>
            <a:fillRect/>
          </a:stretch>
        </p:blipFill>
        <p:spPr>
          <a:xfrm>
            <a:off x="7246620" y="2578608"/>
            <a:ext cx="1965960" cy="1965960"/>
          </a:xfrm>
          <a:prstGeom prst="rect">
            <a:avLst/>
          </a:prstGeom>
        </p:spPr>
      </p:pic>
      <p:sp>
        <p:nvSpPr>
          <p:cNvPr id="12" name="TextBox 11"/>
          <p:cNvSpPr txBox="1"/>
          <p:nvPr/>
        </p:nvSpPr>
        <p:spPr>
          <a:xfrm>
            <a:off x="7228332" y="4562856"/>
            <a:ext cx="2002536" cy="420624"/>
          </a:xfrm>
          <a:prstGeom prst="rect">
            <a:avLst/>
          </a:prstGeom>
          <a:noFill/>
        </p:spPr>
        <p:txBody>
          <a:bodyPr wrap="none" anchor="t"/>
          <a:lstStyle/>
          <a:p>
            <a:pPr algn="ctr">
              <a:spcAft>
                <a:spcPts val="400"/>
              </a:spcAft>
            </a:pPr>
            <a:r>
              <a:rPr sz="1000" b="0" i="0">
                <a:solidFill>
                  <a:srgbClr val="1E2D44"/>
                </a:solidFill>
                <a:latin typeface="Karla"/>
              </a:rPr>
              <a:t>Loz Text Top Left Low</a:t>
            </a:r>
          </a:p>
        </p:txBody>
      </p:sp>
      <p:pic>
        <p:nvPicPr>
          <p:cNvPr id="13" name="Picture 12" descr="H5.png"/>
          <p:cNvPicPr>
            <a:picLocks noChangeAspect="1"/>
          </p:cNvPicPr>
          <p:nvPr/>
        </p:nvPicPr>
        <p:blipFill>
          <a:blip r:embed="rId6"/>
          <a:stretch>
            <a:fillRect/>
          </a:stretch>
        </p:blipFill>
        <p:spPr>
          <a:xfrm>
            <a:off x="9377172" y="2578608"/>
            <a:ext cx="1965960" cy="1965960"/>
          </a:xfrm>
          <a:prstGeom prst="rect">
            <a:avLst/>
          </a:prstGeom>
        </p:spPr>
      </p:pic>
      <p:sp>
        <p:nvSpPr>
          <p:cNvPr id="14" name="TextBox 13"/>
          <p:cNvSpPr txBox="1"/>
          <p:nvPr/>
        </p:nvSpPr>
        <p:spPr>
          <a:xfrm>
            <a:off x="9358884" y="4562856"/>
            <a:ext cx="2002536" cy="420624"/>
          </a:xfrm>
          <a:prstGeom prst="rect">
            <a:avLst/>
          </a:prstGeom>
          <a:noFill/>
        </p:spPr>
        <p:txBody>
          <a:bodyPr wrap="none" anchor="t"/>
          <a:lstStyle/>
          <a:p>
            <a:pPr algn="ctr">
              <a:spcAft>
                <a:spcPts val="400"/>
              </a:spcAft>
            </a:pPr>
            <a:r>
              <a:rPr sz="1000" b="0" i="0">
                <a:solidFill>
                  <a:srgbClr val="1E2D44"/>
                </a:solidFill>
                <a:latin typeface="Karla"/>
              </a:rPr>
              <a:t>Loz Gold Fill Top Left Low</a:t>
            </a:r>
          </a:p>
        </p:txBody>
      </p:sp>
      <p:sp>
        <p:nvSpPr>
          <p:cNvPr id="15" name="Rectangle 1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17" name="TextBox 1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Loz Top Left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I   ·   5 variations</a:t>
            </a:r>
          </a:p>
        </p:txBody>
      </p:sp>
      <p:pic>
        <p:nvPicPr>
          <p:cNvPr id="5" name="Picture 4" descr="I1.png"/>
          <p:cNvPicPr>
            <a:picLocks noChangeAspect="1"/>
          </p:cNvPicPr>
          <p:nvPr/>
        </p:nvPicPr>
        <p:blipFill>
          <a:blip r:embed="rId2"/>
          <a:stretch>
            <a:fillRect/>
          </a:stretch>
        </p:blipFill>
        <p:spPr>
          <a:xfrm>
            <a:off x="854963" y="2578608"/>
            <a:ext cx="1965960" cy="1965960"/>
          </a:xfrm>
          <a:prstGeom prst="rect">
            <a:avLst/>
          </a:prstGeom>
        </p:spPr>
      </p:pic>
      <p:sp>
        <p:nvSpPr>
          <p:cNvPr id="6" name="TextBox 5"/>
          <p:cNvSpPr txBox="1"/>
          <p:nvPr/>
        </p:nvSpPr>
        <p:spPr>
          <a:xfrm>
            <a:off x="836675" y="4562856"/>
            <a:ext cx="2002536" cy="420624"/>
          </a:xfrm>
          <a:prstGeom prst="rect">
            <a:avLst/>
          </a:prstGeom>
          <a:noFill/>
        </p:spPr>
        <p:txBody>
          <a:bodyPr wrap="none" anchor="t"/>
          <a:lstStyle/>
          <a:p>
            <a:pPr algn="ctr">
              <a:spcAft>
                <a:spcPts val="400"/>
              </a:spcAft>
            </a:pPr>
            <a:r>
              <a:rPr sz="1000" b="0" i="0">
                <a:solidFill>
                  <a:srgbClr val="1E2D44"/>
                </a:solidFill>
                <a:latin typeface="Karla"/>
              </a:rPr>
              <a:t>Loz Text Top Left</a:t>
            </a:r>
          </a:p>
        </p:txBody>
      </p:sp>
      <p:pic>
        <p:nvPicPr>
          <p:cNvPr id="7" name="Picture 6" descr="I2.png"/>
          <p:cNvPicPr>
            <a:picLocks noChangeAspect="1"/>
          </p:cNvPicPr>
          <p:nvPr/>
        </p:nvPicPr>
        <p:blipFill>
          <a:blip r:embed="rId3"/>
          <a:stretch>
            <a:fillRect/>
          </a:stretch>
        </p:blipFill>
        <p:spPr>
          <a:xfrm>
            <a:off x="2985515" y="2578608"/>
            <a:ext cx="1965960" cy="1965960"/>
          </a:xfrm>
          <a:prstGeom prst="rect">
            <a:avLst/>
          </a:prstGeom>
        </p:spPr>
      </p:pic>
      <p:sp>
        <p:nvSpPr>
          <p:cNvPr id="8" name="TextBox 7"/>
          <p:cNvSpPr txBox="1"/>
          <p:nvPr/>
        </p:nvSpPr>
        <p:spPr>
          <a:xfrm>
            <a:off x="2967227" y="4562856"/>
            <a:ext cx="2002536" cy="420624"/>
          </a:xfrm>
          <a:prstGeom prst="rect">
            <a:avLst/>
          </a:prstGeom>
          <a:noFill/>
        </p:spPr>
        <p:txBody>
          <a:bodyPr wrap="none" anchor="t"/>
          <a:lstStyle/>
          <a:p>
            <a:pPr algn="ctr">
              <a:spcAft>
                <a:spcPts val="400"/>
              </a:spcAft>
            </a:pPr>
            <a:r>
              <a:rPr sz="1000" b="0" i="0">
                <a:solidFill>
                  <a:srgbClr val="1E2D44"/>
                </a:solidFill>
                <a:latin typeface="Karla"/>
              </a:rPr>
              <a:t>Loz Gold Fill Top Left</a:t>
            </a:r>
          </a:p>
        </p:txBody>
      </p:sp>
      <p:pic>
        <p:nvPicPr>
          <p:cNvPr id="9" name="Picture 8" descr="I3.png"/>
          <p:cNvPicPr>
            <a:picLocks noChangeAspect="1"/>
          </p:cNvPicPr>
          <p:nvPr/>
        </p:nvPicPr>
        <p:blipFill>
          <a:blip r:embed="rId4"/>
          <a:stretch>
            <a:fillRect/>
          </a:stretch>
        </p:blipFill>
        <p:spPr>
          <a:xfrm>
            <a:off x="5116068" y="2578608"/>
            <a:ext cx="1965960" cy="1965960"/>
          </a:xfrm>
          <a:prstGeom prst="rect">
            <a:avLst/>
          </a:prstGeom>
        </p:spPr>
      </p:pic>
      <p:sp>
        <p:nvSpPr>
          <p:cNvPr id="10" name="TextBox 9"/>
          <p:cNvSpPr txBox="1"/>
          <p:nvPr/>
        </p:nvSpPr>
        <p:spPr>
          <a:xfrm>
            <a:off x="5097780" y="4562856"/>
            <a:ext cx="2002536" cy="420624"/>
          </a:xfrm>
          <a:prstGeom prst="rect">
            <a:avLst/>
          </a:prstGeom>
          <a:noFill/>
        </p:spPr>
        <p:txBody>
          <a:bodyPr wrap="none" anchor="t"/>
          <a:lstStyle/>
          <a:p>
            <a:pPr algn="ctr">
              <a:spcAft>
                <a:spcPts val="400"/>
              </a:spcAft>
            </a:pPr>
            <a:r>
              <a:rPr sz="1000" b="0" i="0">
                <a:solidFill>
                  <a:srgbClr val="1E2D44"/>
                </a:solidFill>
                <a:latin typeface="Karla"/>
              </a:rPr>
              <a:t>Loz Variant Fill Top Left</a:t>
            </a:r>
          </a:p>
        </p:txBody>
      </p:sp>
      <p:pic>
        <p:nvPicPr>
          <p:cNvPr id="11" name="Picture 10" descr="I4.png"/>
          <p:cNvPicPr>
            <a:picLocks noChangeAspect="1"/>
          </p:cNvPicPr>
          <p:nvPr/>
        </p:nvPicPr>
        <p:blipFill>
          <a:blip r:embed="rId5"/>
          <a:stretch>
            <a:fillRect/>
          </a:stretch>
        </p:blipFill>
        <p:spPr>
          <a:xfrm>
            <a:off x="7246620" y="2578608"/>
            <a:ext cx="1965960" cy="1965960"/>
          </a:xfrm>
          <a:prstGeom prst="rect">
            <a:avLst/>
          </a:prstGeom>
        </p:spPr>
      </p:pic>
      <p:sp>
        <p:nvSpPr>
          <p:cNvPr id="12" name="TextBox 11"/>
          <p:cNvSpPr txBox="1"/>
          <p:nvPr/>
        </p:nvSpPr>
        <p:spPr>
          <a:xfrm>
            <a:off x="7228332" y="4562856"/>
            <a:ext cx="2002536" cy="420624"/>
          </a:xfrm>
          <a:prstGeom prst="rect">
            <a:avLst/>
          </a:prstGeom>
          <a:noFill/>
        </p:spPr>
        <p:txBody>
          <a:bodyPr wrap="none" anchor="t"/>
          <a:lstStyle/>
          <a:p>
            <a:pPr algn="ctr">
              <a:spcAft>
                <a:spcPts val="400"/>
              </a:spcAft>
            </a:pPr>
            <a:r>
              <a:rPr sz="1000" b="0" i="0">
                <a:solidFill>
                  <a:srgbClr val="1E2D44"/>
                </a:solidFill>
                <a:latin typeface="Karla"/>
              </a:rPr>
              <a:t>Loz Gold Outline Top Left</a:t>
            </a:r>
          </a:p>
        </p:txBody>
      </p:sp>
      <p:pic>
        <p:nvPicPr>
          <p:cNvPr id="13" name="Picture 12" descr="I5.png"/>
          <p:cNvPicPr>
            <a:picLocks noChangeAspect="1"/>
          </p:cNvPicPr>
          <p:nvPr/>
        </p:nvPicPr>
        <p:blipFill>
          <a:blip r:embed="rId6"/>
          <a:stretch>
            <a:fillRect/>
          </a:stretch>
        </p:blipFill>
        <p:spPr>
          <a:xfrm>
            <a:off x="9377172" y="2578608"/>
            <a:ext cx="1965960" cy="1965960"/>
          </a:xfrm>
          <a:prstGeom prst="rect">
            <a:avLst/>
          </a:prstGeom>
        </p:spPr>
      </p:pic>
      <p:sp>
        <p:nvSpPr>
          <p:cNvPr id="14" name="TextBox 13"/>
          <p:cNvSpPr txBox="1"/>
          <p:nvPr/>
        </p:nvSpPr>
        <p:spPr>
          <a:xfrm>
            <a:off x="9358884" y="4562856"/>
            <a:ext cx="2002536" cy="420624"/>
          </a:xfrm>
          <a:prstGeom prst="rect">
            <a:avLst/>
          </a:prstGeom>
          <a:noFill/>
        </p:spPr>
        <p:txBody>
          <a:bodyPr wrap="none" anchor="t"/>
          <a:lstStyle/>
          <a:p>
            <a:pPr algn="ctr">
              <a:spcAft>
                <a:spcPts val="400"/>
              </a:spcAft>
            </a:pPr>
            <a:r>
              <a:rPr sz="1000" b="0" i="0">
                <a:solidFill>
                  <a:srgbClr val="1E2D44"/>
                </a:solidFill>
                <a:latin typeface="Karla"/>
              </a:rPr>
              <a:t>Loz Variant Outline Top</a:t>
            </a:r>
          </a:p>
          <a:p>
            <a:pPr algn="ctr">
              <a:spcAft>
                <a:spcPts val="400"/>
              </a:spcAft>
            </a:pPr>
            <a:r>
              <a:rPr sz="1000" b="0" i="0">
                <a:solidFill>
                  <a:srgbClr val="1E2D44"/>
                </a:solidFill>
                <a:latin typeface="Karla"/>
              </a:rPr>
              <a:t>Left</a:t>
            </a:r>
          </a:p>
        </p:txBody>
      </p:sp>
      <p:sp>
        <p:nvSpPr>
          <p:cNvPr id="15" name="Rectangle 14"/>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17" name="TextBox 16"/>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Advanced Care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J   ·   4 variations</a:t>
            </a:r>
          </a:p>
        </p:txBody>
      </p:sp>
      <p:pic>
        <p:nvPicPr>
          <p:cNvPr id="5" name="Picture 4" descr="J1.png"/>
          <p:cNvPicPr>
            <a:picLocks noChangeAspect="1"/>
          </p:cNvPicPr>
          <p:nvPr/>
        </p:nvPicPr>
        <p:blipFill>
          <a:blip r:embed="rId2"/>
          <a:stretch>
            <a:fillRect/>
          </a:stretch>
        </p:blipFill>
        <p:spPr>
          <a:xfrm>
            <a:off x="1920239" y="2578608"/>
            <a:ext cx="1965960" cy="1965960"/>
          </a:xfrm>
          <a:prstGeom prst="rect">
            <a:avLst/>
          </a:prstGeom>
        </p:spPr>
      </p:pic>
      <p:sp>
        <p:nvSpPr>
          <p:cNvPr id="6" name="TextBox 5"/>
          <p:cNvSpPr txBox="1"/>
          <p:nvPr/>
        </p:nvSpPr>
        <p:spPr>
          <a:xfrm>
            <a:off x="1901951" y="4562856"/>
            <a:ext cx="2002536" cy="420624"/>
          </a:xfrm>
          <a:prstGeom prst="rect">
            <a:avLst/>
          </a:prstGeom>
          <a:noFill/>
        </p:spPr>
        <p:txBody>
          <a:bodyPr wrap="none" anchor="t"/>
          <a:lstStyle/>
          <a:p>
            <a:pPr algn="ctr">
              <a:spcAft>
                <a:spcPts val="400"/>
              </a:spcAft>
            </a:pPr>
            <a:r>
              <a:rPr sz="1000" b="0" i="0">
                <a:solidFill>
                  <a:srgbClr val="1E2D44"/>
                </a:solidFill>
                <a:latin typeface="Karla"/>
              </a:rPr>
              <a:t>Adv Care Caps No Wordmark</a:t>
            </a:r>
          </a:p>
        </p:txBody>
      </p:sp>
      <p:pic>
        <p:nvPicPr>
          <p:cNvPr id="7" name="Picture 6" descr="J2.png"/>
          <p:cNvPicPr>
            <a:picLocks noChangeAspect="1"/>
          </p:cNvPicPr>
          <p:nvPr/>
        </p:nvPicPr>
        <p:blipFill>
          <a:blip r:embed="rId3"/>
          <a:stretch>
            <a:fillRect/>
          </a:stretch>
        </p:blipFill>
        <p:spPr>
          <a:xfrm>
            <a:off x="4050791" y="2578608"/>
            <a:ext cx="1965960" cy="1965960"/>
          </a:xfrm>
          <a:prstGeom prst="rect">
            <a:avLst/>
          </a:prstGeom>
        </p:spPr>
      </p:pic>
      <p:sp>
        <p:nvSpPr>
          <p:cNvPr id="8" name="TextBox 7"/>
          <p:cNvSpPr txBox="1"/>
          <p:nvPr/>
        </p:nvSpPr>
        <p:spPr>
          <a:xfrm>
            <a:off x="4032504" y="4562856"/>
            <a:ext cx="2002536" cy="420624"/>
          </a:xfrm>
          <a:prstGeom prst="rect">
            <a:avLst/>
          </a:prstGeom>
          <a:noFill/>
        </p:spPr>
        <p:txBody>
          <a:bodyPr wrap="none" anchor="t"/>
          <a:lstStyle/>
          <a:p>
            <a:pPr algn="ctr">
              <a:spcAft>
                <a:spcPts val="400"/>
              </a:spcAft>
            </a:pPr>
            <a:r>
              <a:rPr sz="1000" b="0" i="0">
                <a:solidFill>
                  <a:srgbClr val="1E2D44"/>
                </a:solidFill>
                <a:latin typeface="Karla"/>
              </a:rPr>
              <a:t>Adv Care Caps Under Logo</a:t>
            </a:r>
          </a:p>
        </p:txBody>
      </p:sp>
      <p:pic>
        <p:nvPicPr>
          <p:cNvPr id="9" name="Picture 8" descr="J3.png"/>
          <p:cNvPicPr>
            <a:picLocks noChangeAspect="1"/>
          </p:cNvPicPr>
          <p:nvPr/>
        </p:nvPicPr>
        <p:blipFill>
          <a:blip r:embed="rId4"/>
          <a:stretch>
            <a:fillRect/>
          </a:stretch>
        </p:blipFill>
        <p:spPr>
          <a:xfrm>
            <a:off x="6181344" y="2578608"/>
            <a:ext cx="1965960" cy="1965960"/>
          </a:xfrm>
          <a:prstGeom prst="rect">
            <a:avLst/>
          </a:prstGeom>
        </p:spPr>
      </p:pic>
      <p:sp>
        <p:nvSpPr>
          <p:cNvPr id="10" name="TextBox 9"/>
          <p:cNvSpPr txBox="1"/>
          <p:nvPr/>
        </p:nvSpPr>
        <p:spPr>
          <a:xfrm>
            <a:off x="6163056" y="4562856"/>
            <a:ext cx="2002536" cy="420624"/>
          </a:xfrm>
          <a:prstGeom prst="rect">
            <a:avLst/>
          </a:prstGeom>
          <a:noFill/>
        </p:spPr>
        <p:txBody>
          <a:bodyPr wrap="none" anchor="t"/>
          <a:lstStyle/>
          <a:p>
            <a:pPr algn="ctr">
              <a:spcAft>
                <a:spcPts val="400"/>
              </a:spcAft>
            </a:pPr>
            <a:r>
              <a:rPr sz="1000" b="0" i="0">
                <a:solidFill>
                  <a:srgbClr val="1E2D44"/>
                </a:solidFill>
                <a:latin typeface="Karla"/>
              </a:rPr>
              <a:t>Adv Care Lowercase No</a:t>
            </a:r>
          </a:p>
          <a:p>
            <a:pPr algn="ctr">
              <a:spcAft>
                <a:spcPts val="400"/>
              </a:spcAft>
            </a:pPr>
            <a:r>
              <a:rPr sz="1000" b="0" i="0">
                <a:solidFill>
                  <a:srgbClr val="1E2D44"/>
                </a:solidFill>
                <a:latin typeface="Karla"/>
              </a:rPr>
              <a:t>Wordmark</a:t>
            </a:r>
          </a:p>
        </p:txBody>
      </p:sp>
      <p:pic>
        <p:nvPicPr>
          <p:cNvPr id="11" name="Picture 10" descr="J4.png"/>
          <p:cNvPicPr>
            <a:picLocks noChangeAspect="1"/>
          </p:cNvPicPr>
          <p:nvPr/>
        </p:nvPicPr>
        <p:blipFill>
          <a:blip r:embed="rId5"/>
          <a:stretch>
            <a:fillRect/>
          </a:stretch>
        </p:blipFill>
        <p:spPr>
          <a:xfrm>
            <a:off x="8311896" y="2578608"/>
            <a:ext cx="1965960" cy="1965960"/>
          </a:xfrm>
          <a:prstGeom prst="rect">
            <a:avLst/>
          </a:prstGeom>
        </p:spPr>
      </p:pic>
      <p:sp>
        <p:nvSpPr>
          <p:cNvPr id="12" name="TextBox 11"/>
          <p:cNvSpPr txBox="1"/>
          <p:nvPr/>
        </p:nvSpPr>
        <p:spPr>
          <a:xfrm>
            <a:off x="8293608" y="4562856"/>
            <a:ext cx="2002536" cy="420624"/>
          </a:xfrm>
          <a:prstGeom prst="rect">
            <a:avLst/>
          </a:prstGeom>
          <a:noFill/>
        </p:spPr>
        <p:txBody>
          <a:bodyPr wrap="none" anchor="t"/>
          <a:lstStyle/>
          <a:p>
            <a:pPr algn="ctr">
              <a:spcAft>
                <a:spcPts val="400"/>
              </a:spcAft>
            </a:pPr>
            <a:r>
              <a:rPr sz="1000" b="0" i="0">
                <a:solidFill>
                  <a:srgbClr val="1E2D44"/>
                </a:solidFill>
                <a:latin typeface="Karla"/>
              </a:rPr>
              <a:t>Adv Care Lowercase Under</a:t>
            </a:r>
          </a:p>
          <a:p>
            <a:pPr algn="ctr">
              <a:spcAft>
                <a:spcPts val="400"/>
              </a:spcAft>
            </a:pPr>
            <a:r>
              <a:rPr sz="1000" b="0" i="0">
                <a:solidFill>
                  <a:srgbClr val="1E2D44"/>
                </a:solidFill>
                <a:latin typeface="Karla"/>
              </a:rPr>
              <a:t>Logo</a:t>
            </a:r>
          </a:p>
        </p:txBody>
      </p:sp>
      <p:sp>
        <p:nvSpPr>
          <p:cNvPr id="13" name="Rectangle 12"/>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15" name="TextBox 14"/>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Wordmark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K   ·   4 variations</a:t>
            </a:r>
          </a:p>
        </p:txBody>
      </p:sp>
      <p:pic>
        <p:nvPicPr>
          <p:cNvPr id="5" name="Picture 4" descr="K1.png"/>
          <p:cNvPicPr>
            <a:picLocks noChangeAspect="1"/>
          </p:cNvPicPr>
          <p:nvPr/>
        </p:nvPicPr>
        <p:blipFill>
          <a:blip r:embed="rId2"/>
          <a:stretch>
            <a:fillRect/>
          </a:stretch>
        </p:blipFill>
        <p:spPr>
          <a:xfrm>
            <a:off x="1920239" y="2578608"/>
            <a:ext cx="1965960" cy="1965960"/>
          </a:xfrm>
          <a:prstGeom prst="rect">
            <a:avLst/>
          </a:prstGeom>
        </p:spPr>
      </p:pic>
      <p:sp>
        <p:nvSpPr>
          <p:cNvPr id="6" name="TextBox 5"/>
          <p:cNvSpPr txBox="1"/>
          <p:nvPr/>
        </p:nvSpPr>
        <p:spPr>
          <a:xfrm>
            <a:off x="1901951" y="4562856"/>
            <a:ext cx="2002536" cy="420624"/>
          </a:xfrm>
          <a:prstGeom prst="rect">
            <a:avLst/>
          </a:prstGeom>
          <a:noFill/>
        </p:spPr>
        <p:txBody>
          <a:bodyPr wrap="none" anchor="t"/>
          <a:lstStyle/>
          <a:p>
            <a:pPr algn="ctr">
              <a:spcAft>
                <a:spcPts val="400"/>
              </a:spcAft>
            </a:pPr>
            <a:r>
              <a:rPr sz="1000" b="0" i="0">
                <a:solidFill>
                  <a:srgbClr val="1E2D44"/>
                </a:solidFill>
                <a:latin typeface="Karla"/>
              </a:rPr>
              <a:t>Wordmark 100%</a:t>
            </a:r>
          </a:p>
        </p:txBody>
      </p:sp>
      <p:pic>
        <p:nvPicPr>
          <p:cNvPr id="7" name="Picture 6" descr="K2.png"/>
          <p:cNvPicPr>
            <a:picLocks noChangeAspect="1"/>
          </p:cNvPicPr>
          <p:nvPr/>
        </p:nvPicPr>
        <p:blipFill>
          <a:blip r:embed="rId3"/>
          <a:stretch>
            <a:fillRect/>
          </a:stretch>
        </p:blipFill>
        <p:spPr>
          <a:xfrm>
            <a:off x="4050791" y="2578608"/>
            <a:ext cx="1965960" cy="1965960"/>
          </a:xfrm>
          <a:prstGeom prst="rect">
            <a:avLst/>
          </a:prstGeom>
        </p:spPr>
      </p:pic>
      <p:sp>
        <p:nvSpPr>
          <p:cNvPr id="8" name="TextBox 7"/>
          <p:cNvSpPr txBox="1"/>
          <p:nvPr/>
        </p:nvSpPr>
        <p:spPr>
          <a:xfrm>
            <a:off x="4032504" y="4562856"/>
            <a:ext cx="2002536" cy="420624"/>
          </a:xfrm>
          <a:prstGeom prst="rect">
            <a:avLst/>
          </a:prstGeom>
          <a:noFill/>
        </p:spPr>
        <p:txBody>
          <a:bodyPr wrap="none" anchor="t"/>
          <a:lstStyle/>
          <a:p>
            <a:pPr algn="ctr">
              <a:spcAft>
                <a:spcPts val="400"/>
              </a:spcAft>
            </a:pPr>
            <a:r>
              <a:rPr sz="1000" b="0" i="0">
                <a:solidFill>
                  <a:srgbClr val="1E2D44"/>
                </a:solidFill>
                <a:latin typeface="Karla"/>
              </a:rPr>
              <a:t>Wordmark 60%</a:t>
            </a:r>
          </a:p>
        </p:txBody>
      </p:sp>
      <p:pic>
        <p:nvPicPr>
          <p:cNvPr id="9" name="Picture 8" descr="K3.png"/>
          <p:cNvPicPr>
            <a:picLocks noChangeAspect="1"/>
          </p:cNvPicPr>
          <p:nvPr/>
        </p:nvPicPr>
        <p:blipFill>
          <a:blip r:embed="rId4"/>
          <a:stretch>
            <a:fillRect/>
          </a:stretch>
        </p:blipFill>
        <p:spPr>
          <a:xfrm>
            <a:off x="6181344" y="2578608"/>
            <a:ext cx="1965960" cy="1965960"/>
          </a:xfrm>
          <a:prstGeom prst="rect">
            <a:avLst/>
          </a:prstGeom>
        </p:spPr>
      </p:pic>
      <p:sp>
        <p:nvSpPr>
          <p:cNvPr id="10" name="TextBox 9"/>
          <p:cNvSpPr txBox="1"/>
          <p:nvPr/>
        </p:nvSpPr>
        <p:spPr>
          <a:xfrm>
            <a:off x="6163056" y="4562856"/>
            <a:ext cx="2002536" cy="420624"/>
          </a:xfrm>
          <a:prstGeom prst="rect">
            <a:avLst/>
          </a:prstGeom>
          <a:noFill/>
        </p:spPr>
        <p:txBody>
          <a:bodyPr wrap="none" anchor="t"/>
          <a:lstStyle/>
          <a:p>
            <a:pPr algn="ctr">
              <a:spcAft>
                <a:spcPts val="400"/>
              </a:spcAft>
            </a:pPr>
            <a:r>
              <a:rPr sz="1000" b="0" i="0">
                <a:solidFill>
                  <a:srgbClr val="1E2D44"/>
                </a:solidFill>
                <a:latin typeface="Karla"/>
              </a:rPr>
              <a:t>Wordmark 75%</a:t>
            </a:r>
          </a:p>
        </p:txBody>
      </p:sp>
      <p:pic>
        <p:nvPicPr>
          <p:cNvPr id="11" name="Picture 10" descr="K4.png"/>
          <p:cNvPicPr>
            <a:picLocks noChangeAspect="1"/>
          </p:cNvPicPr>
          <p:nvPr/>
        </p:nvPicPr>
        <p:blipFill>
          <a:blip r:embed="rId5"/>
          <a:stretch>
            <a:fillRect/>
          </a:stretch>
        </p:blipFill>
        <p:spPr>
          <a:xfrm>
            <a:off x="8311896" y="2578608"/>
            <a:ext cx="1965960" cy="1965960"/>
          </a:xfrm>
          <a:prstGeom prst="rect">
            <a:avLst/>
          </a:prstGeom>
        </p:spPr>
      </p:pic>
      <p:sp>
        <p:nvSpPr>
          <p:cNvPr id="12" name="TextBox 11"/>
          <p:cNvSpPr txBox="1"/>
          <p:nvPr/>
        </p:nvSpPr>
        <p:spPr>
          <a:xfrm>
            <a:off x="8293608" y="4562856"/>
            <a:ext cx="2002536" cy="420624"/>
          </a:xfrm>
          <a:prstGeom prst="rect">
            <a:avLst/>
          </a:prstGeom>
          <a:noFill/>
        </p:spPr>
        <p:txBody>
          <a:bodyPr wrap="none" anchor="t"/>
          <a:lstStyle/>
          <a:p>
            <a:pPr algn="ctr">
              <a:spcAft>
                <a:spcPts val="400"/>
              </a:spcAft>
            </a:pPr>
            <a:r>
              <a:rPr sz="1000" b="0" i="0">
                <a:solidFill>
                  <a:srgbClr val="1E2D44"/>
                </a:solidFill>
                <a:latin typeface="Karla"/>
              </a:rPr>
              <a:t>Wordmark Grey</a:t>
            </a:r>
          </a:p>
        </p:txBody>
      </p:sp>
      <p:sp>
        <p:nvSpPr>
          <p:cNvPr id="13" name="Rectangle 12"/>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15" name="TextBox 14"/>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Bird Treatment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L   ·   4 variations</a:t>
            </a:r>
          </a:p>
        </p:txBody>
      </p:sp>
      <p:pic>
        <p:nvPicPr>
          <p:cNvPr id="5" name="Picture 4" descr="L1.png"/>
          <p:cNvPicPr>
            <a:picLocks noChangeAspect="1"/>
          </p:cNvPicPr>
          <p:nvPr/>
        </p:nvPicPr>
        <p:blipFill>
          <a:blip r:embed="rId2"/>
          <a:stretch>
            <a:fillRect/>
          </a:stretch>
        </p:blipFill>
        <p:spPr>
          <a:xfrm>
            <a:off x="1920239" y="2578608"/>
            <a:ext cx="1965960" cy="1965960"/>
          </a:xfrm>
          <a:prstGeom prst="rect">
            <a:avLst/>
          </a:prstGeom>
        </p:spPr>
      </p:pic>
      <p:sp>
        <p:nvSpPr>
          <p:cNvPr id="6" name="TextBox 5"/>
          <p:cNvSpPr txBox="1"/>
          <p:nvPr/>
        </p:nvSpPr>
        <p:spPr>
          <a:xfrm>
            <a:off x="1901951" y="4562856"/>
            <a:ext cx="2002536" cy="420624"/>
          </a:xfrm>
          <a:prstGeom prst="rect">
            <a:avLst/>
          </a:prstGeom>
          <a:noFill/>
        </p:spPr>
        <p:txBody>
          <a:bodyPr wrap="none" anchor="t"/>
          <a:lstStyle/>
          <a:p>
            <a:pPr algn="ctr">
              <a:spcAft>
                <a:spcPts val="400"/>
              </a:spcAft>
            </a:pPr>
            <a:r>
              <a:rPr sz="1000" b="0" i="0">
                <a:solidFill>
                  <a:srgbClr val="1E2D44"/>
                </a:solidFill>
                <a:latin typeface="Karla"/>
              </a:rPr>
              <a:t>Bird Gold Cold Foil</a:t>
            </a:r>
          </a:p>
        </p:txBody>
      </p:sp>
      <p:pic>
        <p:nvPicPr>
          <p:cNvPr id="7" name="Picture 6" descr="L2.png"/>
          <p:cNvPicPr>
            <a:picLocks noChangeAspect="1"/>
          </p:cNvPicPr>
          <p:nvPr/>
        </p:nvPicPr>
        <p:blipFill>
          <a:blip r:embed="rId3"/>
          <a:stretch>
            <a:fillRect/>
          </a:stretch>
        </p:blipFill>
        <p:spPr>
          <a:xfrm>
            <a:off x="4050791" y="2578608"/>
            <a:ext cx="1965960" cy="1965960"/>
          </a:xfrm>
          <a:prstGeom prst="rect">
            <a:avLst/>
          </a:prstGeom>
        </p:spPr>
      </p:pic>
      <p:sp>
        <p:nvSpPr>
          <p:cNvPr id="8" name="TextBox 7"/>
          <p:cNvSpPr txBox="1"/>
          <p:nvPr/>
        </p:nvSpPr>
        <p:spPr>
          <a:xfrm>
            <a:off x="4032504" y="4562856"/>
            <a:ext cx="2002536" cy="420624"/>
          </a:xfrm>
          <a:prstGeom prst="rect">
            <a:avLst/>
          </a:prstGeom>
          <a:noFill/>
        </p:spPr>
        <p:txBody>
          <a:bodyPr wrap="none" anchor="t"/>
          <a:lstStyle/>
          <a:p>
            <a:pPr algn="ctr">
              <a:spcAft>
                <a:spcPts val="400"/>
              </a:spcAft>
            </a:pPr>
            <a:r>
              <a:rPr sz="1000" b="0" i="0">
                <a:solidFill>
                  <a:srgbClr val="1E2D44"/>
                </a:solidFill>
                <a:latin typeface="Karla"/>
              </a:rPr>
              <a:t>Bird Gold Gravure</a:t>
            </a:r>
          </a:p>
        </p:txBody>
      </p:sp>
      <p:pic>
        <p:nvPicPr>
          <p:cNvPr id="9" name="Picture 8" descr="L3.png"/>
          <p:cNvPicPr>
            <a:picLocks noChangeAspect="1"/>
          </p:cNvPicPr>
          <p:nvPr/>
        </p:nvPicPr>
        <p:blipFill>
          <a:blip r:embed="rId4"/>
          <a:stretch>
            <a:fillRect/>
          </a:stretch>
        </p:blipFill>
        <p:spPr>
          <a:xfrm>
            <a:off x="6181344" y="2578608"/>
            <a:ext cx="1965960" cy="1965960"/>
          </a:xfrm>
          <a:prstGeom prst="rect">
            <a:avLst/>
          </a:prstGeom>
        </p:spPr>
      </p:pic>
      <p:sp>
        <p:nvSpPr>
          <p:cNvPr id="10" name="TextBox 9"/>
          <p:cNvSpPr txBox="1"/>
          <p:nvPr/>
        </p:nvSpPr>
        <p:spPr>
          <a:xfrm>
            <a:off x="6163056" y="4562856"/>
            <a:ext cx="2002536" cy="420624"/>
          </a:xfrm>
          <a:prstGeom prst="rect">
            <a:avLst/>
          </a:prstGeom>
          <a:noFill/>
        </p:spPr>
        <p:txBody>
          <a:bodyPr wrap="none" anchor="t"/>
          <a:lstStyle/>
          <a:p>
            <a:pPr algn="ctr">
              <a:spcAft>
                <a:spcPts val="400"/>
              </a:spcAft>
            </a:pPr>
            <a:r>
              <a:rPr sz="1000" b="0" i="0">
                <a:solidFill>
                  <a:srgbClr val="1E2D44"/>
                </a:solidFill>
                <a:latin typeface="Karla"/>
              </a:rPr>
              <a:t>Bird Holo Foil</a:t>
            </a:r>
          </a:p>
        </p:txBody>
      </p:sp>
      <p:pic>
        <p:nvPicPr>
          <p:cNvPr id="11" name="Picture 10" descr="L4.png"/>
          <p:cNvPicPr>
            <a:picLocks noChangeAspect="1"/>
          </p:cNvPicPr>
          <p:nvPr/>
        </p:nvPicPr>
        <p:blipFill>
          <a:blip r:embed="rId5"/>
          <a:stretch>
            <a:fillRect/>
          </a:stretch>
        </p:blipFill>
        <p:spPr>
          <a:xfrm>
            <a:off x="8311896" y="2578608"/>
            <a:ext cx="1965960" cy="1965960"/>
          </a:xfrm>
          <a:prstGeom prst="rect">
            <a:avLst/>
          </a:prstGeom>
        </p:spPr>
      </p:pic>
      <p:sp>
        <p:nvSpPr>
          <p:cNvPr id="12" name="TextBox 11"/>
          <p:cNvSpPr txBox="1"/>
          <p:nvPr/>
        </p:nvSpPr>
        <p:spPr>
          <a:xfrm>
            <a:off x="8293608" y="4562856"/>
            <a:ext cx="2002536" cy="420624"/>
          </a:xfrm>
          <a:prstGeom prst="rect">
            <a:avLst/>
          </a:prstGeom>
          <a:noFill/>
        </p:spPr>
        <p:txBody>
          <a:bodyPr wrap="none" anchor="t"/>
          <a:lstStyle/>
          <a:p>
            <a:pPr algn="ctr">
              <a:spcAft>
                <a:spcPts val="400"/>
              </a:spcAft>
            </a:pPr>
            <a:r>
              <a:rPr sz="1000" b="0" i="0">
                <a:solidFill>
                  <a:srgbClr val="1E2D44"/>
                </a:solidFill>
                <a:latin typeface="Karla"/>
              </a:rPr>
              <a:t>Bird Variant Gravure</a:t>
            </a:r>
          </a:p>
        </p:txBody>
      </p:sp>
      <p:sp>
        <p:nvSpPr>
          <p:cNvPr id="13" name="Rectangle 12"/>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15" name="TextBox 14"/>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Gold Foil Band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M   ·   3 variations</a:t>
            </a:r>
          </a:p>
        </p:txBody>
      </p:sp>
      <p:pic>
        <p:nvPicPr>
          <p:cNvPr id="5" name="Picture 4" descr="A1.png"/>
          <p:cNvPicPr>
            <a:picLocks noChangeAspect="1"/>
          </p:cNvPicPr>
          <p:nvPr/>
        </p:nvPicPr>
        <p:blipFill>
          <a:blip r:embed="rId2"/>
          <a:stretch>
            <a:fillRect/>
          </a:stretch>
        </p:blipFill>
        <p:spPr>
          <a:xfrm>
            <a:off x="2985516" y="2578608"/>
            <a:ext cx="1965960" cy="1965960"/>
          </a:xfrm>
          <a:prstGeom prst="rect">
            <a:avLst/>
          </a:prstGeom>
        </p:spPr>
      </p:pic>
      <p:sp>
        <p:nvSpPr>
          <p:cNvPr id="6" name="TextBox 5"/>
          <p:cNvSpPr txBox="1"/>
          <p:nvPr/>
        </p:nvSpPr>
        <p:spPr>
          <a:xfrm>
            <a:off x="2967228" y="4562856"/>
            <a:ext cx="2002536" cy="420624"/>
          </a:xfrm>
          <a:prstGeom prst="rect">
            <a:avLst/>
          </a:prstGeom>
          <a:noFill/>
        </p:spPr>
        <p:txBody>
          <a:bodyPr wrap="none" anchor="t"/>
          <a:lstStyle/>
          <a:p>
            <a:pPr algn="ctr">
              <a:spcAft>
                <a:spcPts val="400"/>
              </a:spcAft>
            </a:pPr>
            <a:r>
              <a:rPr sz="1000" b="0" i="0">
                <a:solidFill>
                  <a:srgbClr val="1E2D44"/>
                </a:solidFill>
                <a:latin typeface="Karla"/>
              </a:rPr>
              <a:t>Gold Band Off</a:t>
            </a:r>
          </a:p>
        </p:txBody>
      </p:sp>
      <p:pic>
        <p:nvPicPr>
          <p:cNvPr id="7" name="Picture 6" descr="M2.png"/>
          <p:cNvPicPr>
            <a:picLocks noChangeAspect="1"/>
          </p:cNvPicPr>
          <p:nvPr/>
        </p:nvPicPr>
        <p:blipFill>
          <a:blip r:embed="rId3"/>
          <a:stretch>
            <a:fillRect/>
          </a:stretch>
        </p:blipFill>
        <p:spPr>
          <a:xfrm>
            <a:off x="5116068" y="2578608"/>
            <a:ext cx="1965960" cy="1965960"/>
          </a:xfrm>
          <a:prstGeom prst="rect">
            <a:avLst/>
          </a:prstGeom>
        </p:spPr>
      </p:pic>
      <p:sp>
        <p:nvSpPr>
          <p:cNvPr id="8" name="TextBox 7"/>
          <p:cNvSpPr txBox="1"/>
          <p:nvPr/>
        </p:nvSpPr>
        <p:spPr>
          <a:xfrm>
            <a:off x="5097780" y="4562856"/>
            <a:ext cx="2002536" cy="420624"/>
          </a:xfrm>
          <a:prstGeom prst="rect">
            <a:avLst/>
          </a:prstGeom>
          <a:noFill/>
        </p:spPr>
        <p:txBody>
          <a:bodyPr wrap="none" anchor="t"/>
          <a:lstStyle/>
          <a:p>
            <a:pPr algn="ctr">
              <a:spcAft>
                <a:spcPts val="400"/>
              </a:spcAft>
            </a:pPr>
            <a:r>
              <a:rPr sz="1000" b="0" i="0">
                <a:solidFill>
                  <a:srgbClr val="1E2D44"/>
                </a:solidFill>
                <a:latin typeface="Karla"/>
              </a:rPr>
              <a:t>Gold Band On</a:t>
            </a:r>
          </a:p>
        </p:txBody>
      </p:sp>
      <p:pic>
        <p:nvPicPr>
          <p:cNvPr id="9" name="Picture 8" descr="M3.png"/>
          <p:cNvPicPr>
            <a:picLocks noChangeAspect="1"/>
          </p:cNvPicPr>
          <p:nvPr/>
        </p:nvPicPr>
        <p:blipFill>
          <a:blip r:embed="rId4"/>
          <a:stretch>
            <a:fillRect/>
          </a:stretch>
        </p:blipFill>
        <p:spPr>
          <a:xfrm>
            <a:off x="7246620" y="2578608"/>
            <a:ext cx="1965960" cy="1965960"/>
          </a:xfrm>
          <a:prstGeom prst="rect">
            <a:avLst/>
          </a:prstGeom>
        </p:spPr>
      </p:pic>
      <p:sp>
        <p:nvSpPr>
          <p:cNvPr id="10" name="TextBox 9"/>
          <p:cNvSpPr txBox="1"/>
          <p:nvPr/>
        </p:nvSpPr>
        <p:spPr>
          <a:xfrm>
            <a:off x="7228332" y="4562856"/>
            <a:ext cx="2002536" cy="420624"/>
          </a:xfrm>
          <a:prstGeom prst="rect">
            <a:avLst/>
          </a:prstGeom>
          <a:noFill/>
        </p:spPr>
        <p:txBody>
          <a:bodyPr wrap="none" anchor="t"/>
          <a:lstStyle/>
          <a:p>
            <a:pPr algn="ctr">
              <a:spcAft>
                <a:spcPts val="400"/>
              </a:spcAft>
            </a:pPr>
            <a:r>
              <a:rPr sz="1000" b="0" i="0">
                <a:solidFill>
                  <a:srgbClr val="1E2D44"/>
                </a:solidFill>
                <a:latin typeface="Karla"/>
              </a:rPr>
              <a:t>Gold Band Blue</a:t>
            </a:r>
          </a:p>
        </p:txBody>
      </p:sp>
      <p:sp>
        <p:nvSpPr>
          <p:cNvPr id="11" name="Rectangle 1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13" name="TextBox 1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256032"/>
          </a:xfrm>
          <a:prstGeom prst="rect">
            <a:avLst/>
          </a:prstGeom>
          <a:noFill/>
        </p:spPr>
        <p:txBody>
          <a:bodyPr wrap="square" anchor="t"/>
          <a:lstStyle/>
          <a:p>
            <a:pPr algn="l">
              <a:spcAft>
                <a:spcPts val="400"/>
              </a:spcAft>
            </a:pPr>
            <a:r>
              <a:rPr sz="1200" b="1" i="0">
                <a:solidFill>
                  <a:srgbClr val="04746E"/>
                </a:solidFill>
                <a:latin typeface="Karla"/>
              </a:rPr>
              <a:t>ELEMENT ASSETS</a:t>
            </a:r>
          </a:p>
        </p:txBody>
      </p:sp>
      <p:sp>
        <p:nvSpPr>
          <p:cNvPr id="3" name="TextBox 2"/>
          <p:cNvSpPr txBox="1"/>
          <p:nvPr/>
        </p:nvSpPr>
        <p:spPr>
          <a:xfrm>
            <a:off x="566928" y="621792"/>
            <a:ext cx="10972800" cy="384048"/>
          </a:xfrm>
          <a:prstGeom prst="rect">
            <a:avLst/>
          </a:prstGeom>
          <a:noFill/>
        </p:spPr>
        <p:txBody>
          <a:bodyPr wrap="square" anchor="t"/>
          <a:lstStyle/>
          <a:p>
            <a:pPr algn="l">
              <a:spcAft>
                <a:spcPts val="400"/>
              </a:spcAft>
            </a:pPr>
            <a:r>
              <a:rPr sz="2600" b="1" i="0">
                <a:solidFill>
                  <a:srgbClr val="1E2D44"/>
                </a:solidFill>
                <a:latin typeface="Karla"/>
              </a:rPr>
              <a:t>Cap Color  —  element assets</a:t>
            </a:r>
          </a:p>
        </p:txBody>
      </p:sp>
      <p:sp>
        <p:nvSpPr>
          <p:cNvPr id="4" name="TextBox 3"/>
          <p:cNvSpPr txBox="1"/>
          <p:nvPr/>
        </p:nvSpPr>
        <p:spPr>
          <a:xfrm>
            <a:off x="566928" y="1051560"/>
            <a:ext cx="10972800" cy="274320"/>
          </a:xfrm>
          <a:prstGeom prst="rect">
            <a:avLst/>
          </a:prstGeom>
          <a:noFill/>
        </p:spPr>
        <p:txBody>
          <a:bodyPr wrap="square" anchor="t"/>
          <a:lstStyle/>
          <a:p>
            <a:pPr algn="l">
              <a:spcAft>
                <a:spcPts val="400"/>
              </a:spcAft>
            </a:pPr>
            <a:r>
              <a:rPr sz="1400" b="0" i="0">
                <a:solidFill>
                  <a:srgbClr val="617086"/>
                </a:solidFill>
                <a:latin typeface="Karla"/>
              </a:rPr>
              <a:t>N   ·   3 variations</a:t>
            </a:r>
          </a:p>
        </p:txBody>
      </p:sp>
      <p:pic>
        <p:nvPicPr>
          <p:cNvPr id="5" name="Picture 4" descr="N1.png"/>
          <p:cNvPicPr>
            <a:picLocks noChangeAspect="1"/>
          </p:cNvPicPr>
          <p:nvPr/>
        </p:nvPicPr>
        <p:blipFill>
          <a:blip r:embed="rId2"/>
          <a:stretch>
            <a:fillRect/>
          </a:stretch>
        </p:blipFill>
        <p:spPr>
          <a:xfrm>
            <a:off x="2985516" y="2578608"/>
            <a:ext cx="1965960" cy="1965960"/>
          </a:xfrm>
          <a:prstGeom prst="rect">
            <a:avLst/>
          </a:prstGeom>
        </p:spPr>
      </p:pic>
      <p:sp>
        <p:nvSpPr>
          <p:cNvPr id="6" name="TextBox 5"/>
          <p:cNvSpPr txBox="1"/>
          <p:nvPr/>
        </p:nvSpPr>
        <p:spPr>
          <a:xfrm>
            <a:off x="2967228" y="4562856"/>
            <a:ext cx="2002536" cy="420624"/>
          </a:xfrm>
          <a:prstGeom prst="rect">
            <a:avLst/>
          </a:prstGeom>
          <a:noFill/>
        </p:spPr>
        <p:txBody>
          <a:bodyPr wrap="none" anchor="t"/>
          <a:lstStyle/>
          <a:p>
            <a:pPr algn="ctr">
              <a:spcAft>
                <a:spcPts val="400"/>
              </a:spcAft>
            </a:pPr>
            <a:r>
              <a:rPr sz="1000" b="0" i="0">
                <a:solidFill>
                  <a:srgbClr val="1E2D44"/>
                </a:solidFill>
                <a:latin typeface="Karla"/>
              </a:rPr>
              <a:t>Cap Gold</a:t>
            </a:r>
          </a:p>
        </p:txBody>
      </p:sp>
      <p:pic>
        <p:nvPicPr>
          <p:cNvPr id="7" name="Picture 6" descr="N2.png"/>
          <p:cNvPicPr>
            <a:picLocks noChangeAspect="1"/>
          </p:cNvPicPr>
          <p:nvPr/>
        </p:nvPicPr>
        <p:blipFill>
          <a:blip r:embed="rId3"/>
          <a:stretch>
            <a:fillRect/>
          </a:stretch>
        </p:blipFill>
        <p:spPr>
          <a:xfrm>
            <a:off x="5116068" y="2578608"/>
            <a:ext cx="1965960" cy="1965960"/>
          </a:xfrm>
          <a:prstGeom prst="rect">
            <a:avLst/>
          </a:prstGeom>
        </p:spPr>
      </p:pic>
      <p:sp>
        <p:nvSpPr>
          <p:cNvPr id="8" name="TextBox 7"/>
          <p:cNvSpPr txBox="1"/>
          <p:nvPr/>
        </p:nvSpPr>
        <p:spPr>
          <a:xfrm>
            <a:off x="5097780" y="4562856"/>
            <a:ext cx="2002536" cy="420624"/>
          </a:xfrm>
          <a:prstGeom prst="rect">
            <a:avLst/>
          </a:prstGeom>
          <a:noFill/>
        </p:spPr>
        <p:txBody>
          <a:bodyPr wrap="none" anchor="t"/>
          <a:lstStyle/>
          <a:p>
            <a:pPr algn="ctr">
              <a:spcAft>
                <a:spcPts val="400"/>
              </a:spcAft>
            </a:pPr>
            <a:r>
              <a:rPr sz="1000" b="0" i="0">
                <a:solidFill>
                  <a:srgbClr val="1E2D44"/>
                </a:solidFill>
                <a:latin typeface="Karla"/>
              </a:rPr>
              <a:t>Cap Pearl White</a:t>
            </a:r>
          </a:p>
        </p:txBody>
      </p:sp>
      <p:pic>
        <p:nvPicPr>
          <p:cNvPr id="9" name="Picture 8" descr="N3.png"/>
          <p:cNvPicPr>
            <a:picLocks noChangeAspect="1"/>
          </p:cNvPicPr>
          <p:nvPr/>
        </p:nvPicPr>
        <p:blipFill>
          <a:blip r:embed="rId4"/>
          <a:stretch>
            <a:fillRect/>
          </a:stretch>
        </p:blipFill>
        <p:spPr>
          <a:xfrm>
            <a:off x="7246620" y="2578608"/>
            <a:ext cx="1965960" cy="1965960"/>
          </a:xfrm>
          <a:prstGeom prst="rect">
            <a:avLst/>
          </a:prstGeom>
        </p:spPr>
      </p:pic>
      <p:sp>
        <p:nvSpPr>
          <p:cNvPr id="10" name="TextBox 9"/>
          <p:cNvSpPr txBox="1"/>
          <p:nvPr/>
        </p:nvSpPr>
        <p:spPr>
          <a:xfrm>
            <a:off x="7228332" y="4562856"/>
            <a:ext cx="2002536" cy="420624"/>
          </a:xfrm>
          <a:prstGeom prst="rect">
            <a:avLst/>
          </a:prstGeom>
          <a:noFill/>
        </p:spPr>
        <p:txBody>
          <a:bodyPr wrap="none" anchor="t"/>
          <a:lstStyle/>
          <a:p>
            <a:pPr algn="ctr">
              <a:spcAft>
                <a:spcPts val="400"/>
              </a:spcAft>
            </a:pPr>
            <a:r>
              <a:rPr sz="1000" b="0" i="0">
                <a:solidFill>
                  <a:srgbClr val="1E2D44"/>
                </a:solidFill>
                <a:latin typeface="Karla"/>
              </a:rPr>
              <a:t>Cap Variant Match</a:t>
            </a:r>
          </a:p>
        </p:txBody>
      </p:sp>
      <p:sp>
        <p:nvSpPr>
          <p:cNvPr id="11" name="Rectangle 10"/>
          <p:cNvSpPr/>
          <p:nvPr/>
        </p:nvSpPr>
        <p:spPr>
          <a:xfrm>
            <a:off x="566928" y="6382512"/>
            <a:ext cx="11064240" cy="9144"/>
          </a:xfrm>
          <a:prstGeom prst="rect">
            <a:avLst/>
          </a:prstGeom>
          <a:solidFill>
            <a:srgbClr val="EAC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6446520"/>
            <a:ext cx="9509760" cy="274320"/>
          </a:xfrm>
          <a:prstGeom prst="rect">
            <a:avLst/>
          </a:prstGeom>
          <a:noFill/>
        </p:spPr>
        <p:txBody>
          <a:bodyPr wrap="square" anchor="ctr"/>
          <a:lstStyle/>
          <a:p>
            <a:pPr algn="l">
              <a:spcAft>
                <a:spcPts val="400"/>
              </a:spcAft>
              <a:lnSpc>
                <a:spcPts val="1150"/>
              </a:lnSpc>
            </a:pPr>
            <a:r>
              <a:rPr sz="1000" b="0" i="0">
                <a:solidFill>
                  <a:srgbClr val="617086"/>
                </a:solidFill>
                <a:latin typeface="Karla"/>
              </a:rPr>
              <a:t>n=601 respondents.  Top-2 Box model (ratings 4–5): element lifts show movement above or below the model baseline.</a:t>
            </a:r>
          </a:p>
        </p:txBody>
      </p:sp>
      <p:sp>
        <p:nvSpPr>
          <p:cNvPr id="13" name="TextBox 12"/>
          <p:cNvSpPr txBox="1"/>
          <p:nvPr/>
        </p:nvSpPr>
        <p:spPr>
          <a:xfrm>
            <a:off x="10698480" y="6446520"/>
            <a:ext cx="914400" cy="292608"/>
          </a:xfrm>
          <a:prstGeom prst="rect">
            <a:avLst/>
          </a:prstGeom>
          <a:noFill/>
        </p:spPr>
        <p:txBody>
          <a:bodyPr wrap="square" anchor="ctr"/>
          <a:lstStyle/>
          <a:p>
            <a:pPr algn="r">
              <a:spcAft>
                <a:spcPts val="400"/>
              </a:spcAft>
            </a:pPr>
            <a:r>
              <a:rPr sz="1100" b="1" i="0">
                <a:solidFill>
                  <a:srgbClr val="1E2D44"/>
                </a:solidFill>
                <a:latin typeface="Karla"/>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6F8"/>
        </a:solidFill>
        <a:effectLst/>
      </p:bgPr>
    </p:bg>
    <p:spTree>
      <p:nvGrpSpPr>
        <p:cNvPr id="1" name=""/>
        <p:cNvGrpSpPr/>
        <p:nvPr/>
      </p:nvGrpSpPr>
      <p:grpSpPr/>
      <p:pic>
        <p:nvPicPr>
          <p:cNvPr id="2" name="Picture 1" descr="cover_Picture_17.png"/>
          <p:cNvPicPr>
            <a:picLocks noChangeAspect="1"/>
          </p:cNvPicPr>
          <p:nvPr/>
        </p:nvPicPr>
        <p:blipFill>
          <a:blip r:embed="rId2"/>
          <a:stretch>
            <a:fillRect/>
          </a:stretch>
        </p:blipFill>
        <p:spPr>
          <a:xfrm>
            <a:off x="1259128" y="3579876"/>
            <a:ext cx="1641348" cy="1641348"/>
          </a:xfrm>
          <a:prstGeom prst="rect">
            <a:avLst/>
          </a:prstGeom>
        </p:spPr>
      </p:pic>
      <p:cxnSp>
        <p:nvCxnSpPr>
          <p:cNvPr id="3" name="Connector 2"/>
          <p:cNvCxnSpPr/>
          <p:nvPr/>
        </p:nvCxnSpPr>
        <p:spPr>
          <a:xfrm>
            <a:off x="3882908" y="1232428"/>
            <a:ext cx="0" cy="4373209"/>
          </a:xfrm>
          <a:prstGeom prst="line">
            <a:avLst/>
          </a:prstGeom>
          <a:ln w="9525">
            <a:solidFill>
              <a:srgbClr val="F2C6C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205874" y="3429000"/>
            <a:ext cx="6268303" cy="0"/>
          </a:xfrm>
          <a:prstGeom prst="line">
            <a:avLst/>
          </a:prstGeom>
          <a:ln w="9525">
            <a:solidFill>
              <a:srgbClr val="F2C6C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206240" y="1805940"/>
            <a:ext cx="7132320" cy="768096"/>
          </a:xfrm>
          <a:prstGeom prst="rect">
            <a:avLst/>
          </a:prstGeom>
          <a:noFill/>
        </p:spPr>
        <p:txBody>
          <a:bodyPr wrap="square" anchor="t"/>
          <a:lstStyle/>
          <a:p>
            <a:pPr algn="l">
              <a:spcAft>
                <a:spcPts val="400"/>
              </a:spcAft>
            </a:pPr>
            <a:r>
              <a:rPr sz="4400" b="1" i="0">
                <a:solidFill>
                  <a:srgbClr val="1E2D44"/>
                </a:solidFill>
                <a:latin typeface="Karla"/>
              </a:rPr>
              <a:t>Thank you</a:t>
            </a:r>
          </a:p>
        </p:txBody>
      </p:sp>
      <p:sp>
        <p:nvSpPr>
          <p:cNvPr id="6" name="TextBox 5"/>
          <p:cNvSpPr txBox="1"/>
          <p:nvPr/>
        </p:nvSpPr>
        <p:spPr>
          <a:xfrm>
            <a:off x="4206240" y="2578608"/>
            <a:ext cx="6583680" cy="365760"/>
          </a:xfrm>
          <a:prstGeom prst="rect">
            <a:avLst/>
          </a:prstGeom>
          <a:noFill/>
        </p:spPr>
        <p:txBody>
          <a:bodyPr wrap="square" anchor="t"/>
          <a:lstStyle/>
          <a:p>
            <a:pPr algn="l">
              <a:spcAft>
                <a:spcPts val="400"/>
              </a:spcAft>
            </a:pPr>
            <a:r>
              <a:rPr sz="1600" b="0" i="0">
                <a:solidFill>
                  <a:srgbClr val="1E2D44"/>
                </a:solidFill>
                <a:latin typeface="Karla"/>
              </a:rPr>
              <a:t>We look forward to discussing the full report and next steps.</a:t>
            </a:r>
          </a:p>
        </p:txBody>
      </p:sp>
      <p:sp>
        <p:nvSpPr>
          <p:cNvPr id="7" name="TextBox 6"/>
          <p:cNvSpPr txBox="1"/>
          <p:nvPr/>
        </p:nvSpPr>
        <p:spPr>
          <a:xfrm>
            <a:off x="4206240" y="3880713"/>
            <a:ext cx="6583680" cy="338328"/>
          </a:xfrm>
          <a:prstGeom prst="rect">
            <a:avLst/>
          </a:prstGeom>
          <a:noFill/>
        </p:spPr>
        <p:txBody>
          <a:bodyPr wrap="square" anchor="t"/>
          <a:lstStyle/>
          <a:p>
            <a:pPr algn="l">
              <a:spcAft>
                <a:spcPts val="400"/>
              </a:spcAft>
            </a:pPr>
            <a:r>
              <a:rPr sz="1600" b="0" i="0">
                <a:solidFill>
                  <a:srgbClr val="1E2D44"/>
                </a:solidFill>
                <a:latin typeface="Karla"/>
              </a:rPr>
              <a:t>Dove Core Skin Cleansing Study Live Appeal Report  |  October 2026</a:t>
            </a:r>
          </a:p>
        </p:txBody>
      </p:sp>
      <p:sp>
        <p:nvSpPr>
          <p:cNvPr id="8" name="TextBox 7"/>
          <p:cNvSpPr txBox="1"/>
          <p:nvPr/>
        </p:nvSpPr>
        <p:spPr>
          <a:xfrm>
            <a:off x="4206240" y="4231843"/>
            <a:ext cx="6986016" cy="338328"/>
          </a:xfrm>
          <a:prstGeom prst="rect">
            <a:avLst/>
          </a:prstGeom>
          <a:noFill/>
        </p:spPr>
        <p:txBody>
          <a:bodyPr wrap="square" anchor="t"/>
          <a:lstStyle/>
          <a:p>
            <a:pPr algn="l">
              <a:spcAft>
                <a:spcPts val="400"/>
              </a:spcAft>
            </a:pPr>
            <a:r>
              <a:rPr sz="1600" b="0" i="0">
                <a:solidFill>
                  <a:srgbClr val="1E2D44"/>
                </a:solidFill>
                <a:latin typeface="Karla"/>
              </a:rPr>
              <a:t>Prepared by: J Brown Fitterman | jbrown@mindgenomicsassociates.com</a:t>
            </a:r>
          </a:p>
        </p:txBody>
      </p:sp>
      <p:sp>
        <p:nvSpPr>
          <p:cNvPr id="9" name="TextBox 8"/>
          <p:cNvSpPr txBox="1"/>
          <p:nvPr/>
        </p:nvSpPr>
        <p:spPr>
          <a:xfrm>
            <a:off x="4206240" y="4582972"/>
            <a:ext cx="3840480" cy="338328"/>
          </a:xfrm>
          <a:prstGeom prst="rect">
            <a:avLst/>
          </a:prstGeom>
          <a:noFill/>
        </p:spPr>
        <p:txBody>
          <a:bodyPr wrap="square" anchor="t"/>
          <a:lstStyle/>
          <a:p>
            <a:pPr algn="l">
              <a:spcAft>
                <a:spcPts val="400"/>
              </a:spcAft>
            </a:pPr>
            <a:r>
              <a:rPr sz="1600" b="0" i="0">
                <a:solidFill>
                  <a:srgbClr val="1E2D44"/>
                </a:solidFill>
                <a:latin typeface="Karla"/>
              </a:rPr>
              <a:t>Mind Genomics Associates, Inc</a:t>
            </a:r>
          </a:p>
        </p:txBody>
      </p:sp>
      <p:sp>
        <p:nvSpPr>
          <p:cNvPr id="10" name="TextBox 9"/>
          <p:cNvSpPr txBox="1"/>
          <p:nvPr/>
        </p:nvSpPr>
        <p:spPr>
          <a:xfrm>
            <a:off x="4206240" y="5222138"/>
            <a:ext cx="7680960" cy="502920"/>
          </a:xfrm>
          <a:prstGeom prst="rect">
            <a:avLst/>
          </a:prstGeom>
          <a:noFill/>
        </p:spPr>
        <p:txBody>
          <a:bodyPr wrap="square" anchor="t"/>
          <a:lstStyle/>
          <a:p>
            <a:pPr algn="l">
              <a:spcAft>
                <a:spcPts val="400"/>
              </a:spcAft>
            </a:pPr>
            <a:r>
              <a:rPr sz="2000" b="0" i="0">
                <a:solidFill>
                  <a:srgbClr val="1E2D44"/>
                </a:solidFill>
                <a:latin typeface="Karla"/>
              </a:rPr>
              <a:t>Dove Core Skin Cleansing Study Live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Dove Core Skin Cleansing Study Live</dc:title>
  <dc:subject>Design Element Appeal Report</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Top-2 Box</cp:category>
</cp:coreProperties>
</file>