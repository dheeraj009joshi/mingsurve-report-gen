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Cream
Delivery Graphic</c:v>
                </c:pt>
                <c:pt idx="1">
                  <c:v>Cream · Produce</c:v>
                </c:pt>
                <c:pt idx="2">
                  <c:v>Melon
Delivery Graphic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45.0</c:v>
                </c:pt>
                <c:pt idx="2">
                  <c:v>45.0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Win a Free Month of Groceries
80 Sourced Within 70 Miles</c:v>
                </c:pt>
                <c:pt idx="1">
                  <c:v>Win a Free Month of Groceries
Visit Our Booth for 50 Off</c:v>
                </c:pt>
                <c:pt idx="2">
                  <c:v>Visit Our Booth for 50 Off
80 Sourced Within 70 Miles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51.0</c:v>
                </c:pt>
                <c:pt idx="1">
                  <c:v>51.0</c:v>
                </c:pt>
                <c:pt idx="2">
                  <c:v>51.0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Win a Free Month of Groceries!</c:v>
                </c:pt>
                <c:pt idx="1">
                  <c:v>Lemon</c:v>
                </c:pt>
                <c:pt idx="2">
                  <c:v>Good for People and the Planet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19.0</c:v>
                </c:pt>
                <c:pt idx="2">
                  <c:v>18.0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Lemon
Georgia Farms Delivered</c:v>
                </c:pt>
                <c:pt idx="1">
                  <c:v>Melon
Georgia Farms Delivered</c:v>
                </c:pt>
                <c:pt idx="2">
                  <c:v>Lemon
Good for People and the Planet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Melon</c:v>
                </c:pt>
                <c:pt idx="1">
                  <c:v>Good for People and the Planet</c:v>
                </c:pt>
                <c:pt idx="2">
                  <c:v>Cotton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1.4272554201858403</c:v>
                </c:pt>
                <c:pt idx="1">
                  <c:v>1.4236528812881657</c:v>
                </c:pt>
                <c:pt idx="2">
                  <c:v>1.420028980254283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0.4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40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MGA</a:t>
            </a:r>
          </a:p>
        </p:txBody>
      </p:sp>
      <p:pic>
        <p:nvPicPr>
          <p:cNvPr id="3" name="Picture 2" descr="m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246120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10512"/>
            <a:ext cx="7754112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Design Combination Readout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77056"/>
            <a:ext cx="7498079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 |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3672"/>
            <a:ext cx="6986016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1144"/>
            <a:ext cx="3840480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1224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United States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0175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4746E"/>
                </a:solidFill>
                <a:latin typeface="Karla"/>
              </a:rPr>
              <a:t>HOW TO READ THIS REPORT: UNDERSTANDING ELEMENT LIFTS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621792"/>
            <a:ext cx="10972800" cy="420624"/>
          </a:xfrm>
          <a:prstGeom prst="roundRect">
            <a:avLst>
              <a:gd name="adj" fmla="val 8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676656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2D44"/>
                </a:solidFill>
                <a:latin typeface="Karla"/>
              </a:rPr>
              <a:t>Top builds are created by selecting the strongest option in each element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1207008"/>
            <a:ext cx="553212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5331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How the model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Respondents rated a large number of sign combinations — each showing different design elements. The model then separates those ratings into an individual lift score.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Each lift score shows how much that element raises or lowers appeal relative to the model baseline.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A saved combination keeps one option from each layer. Swapping one element only changes that slot. Everything else stays, because each score was measured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207008"/>
            <a:ext cx="5257800" cy="498348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207008"/>
            <a:ext cx="5257800" cy="9144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4173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Example from the saved builds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1965960"/>
            <a:ext cx="4892040" cy="3931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In Female · 18-24 · 25-34 · Atlanta, ITP · $75000 or more, one build uses Lemon (-1.0) in Backgrounds.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Swapping to Good for People and the Planet (-2.0) only changes that slot. The other layers stay as they are.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The result: Good for People and the Planet totals +18.0 against +19.0 for Lemon — a difference of 1.0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Top 3 Performing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Top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TOP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TOP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Cream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062649"/>
            <a:ext cx="1213104" cy="2156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Cream · Delivery 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pic>
        <p:nvPicPr>
          <p:cNvPr id="12" name="Picture 11" descr="Background_Layer_Cream-HEADLINE_Georgia_Farms_Delivered-Sub_Header_Skip_The_Grocery_Store-Image_Layer_Produce-CTA_Good_for_People_and_the_Pla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062649"/>
            <a:ext cx="1213104" cy="2156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Cream ·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pic>
        <p:nvPicPr>
          <p:cNvPr id="15" name="Picture 14" descr="Background_Layer_Melon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062649"/>
            <a:ext cx="1213104" cy="2156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 · Delivery 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50.1.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1 —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Delivery Graphic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Cream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2 — SECOND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Cream-HEADLINE_Georgia_Farms_Delivered-Sub_Header_Skip_The_Grocery_Store-Image_Layer_Produce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3 — THIRD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Delivery Graphic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Melon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Top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TOP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TOP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Cotton-HEADLINE_Win_a_Free_Month_of_Groceries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062649"/>
            <a:ext cx="1213104" cy="2156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 · 80 Sourced Within 70 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pic>
        <p:nvPicPr>
          <p:cNvPr id="12" name="Picture 11" descr="Background_Layer_Cotton-HEADLINE_Win_a_Free_Month_of_Groceries-Sub_Header_Visit_Our_Booth_for_50_Off-Image_Layer_Box-CTA_Guess_the_Price_of_Our_Box_to_Wi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062649"/>
            <a:ext cx="1213104" cy="2156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 · Visit Our Booth for 50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pic>
        <p:nvPicPr>
          <p:cNvPr id="15" name="Picture 14" descr="Background_Layer_Cotton-HEADLINE_Visit_Our_Booth_for_50_Off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062649"/>
            <a:ext cx="1213104" cy="2156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Visit Our Booth for 50 Off · 80 Sourced Within 70 Miles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5 or more · Metro Atlanta, OTP. Scores are from the overall model. Base appeal 50.1.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1 —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80 Sourced Within 70 Miles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Win_a_Free_Month_of_Groceries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2 — SECOND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Visit Our Booth for 50 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Win_a_Free_Month_of_Groceries-Sub_Header_Visit_Our_Booth_for_50_Off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3 — THIRD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Visit Our Booth for 50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80 Sourced Within 70 Miles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Visit_Our_Booth_for_50_Off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Bottom 3 Performing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Bottom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BOTTOM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BOTTOM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062649"/>
            <a:ext cx="1213104" cy="2156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+20.0</a:t>
            </a:r>
          </a:p>
        </p:txBody>
      </p:sp>
      <p:pic>
        <p:nvPicPr>
          <p:cNvPr id="12" name="Picture 11" descr="Background_Layer_Lemon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062649"/>
            <a:ext cx="1213104" cy="2156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+19.0</a:t>
            </a:r>
          </a:p>
        </p:txBody>
      </p:sp>
      <p:pic>
        <p:nvPicPr>
          <p:cNvPr id="15" name="Picture 14" descr="HEADLINE_Good_for_People_and_the_Planet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062649"/>
            <a:ext cx="1213104" cy="2156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25.6.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1 — LOWEST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2944368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01752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01752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+20.0</a:t>
            </a:r>
          </a:p>
        </p:txBody>
      </p:sp>
      <p:pic>
        <p:nvPicPr>
          <p:cNvPr id="27" name="Picture 26" descr="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+19.0</a:t>
            </a:r>
          </a:p>
        </p:txBody>
      </p:sp>
      <p:pic>
        <p:nvPicPr>
          <p:cNvPr id="31" name="Picture 30" descr="Background_Layer_Lemon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pic>
        <p:nvPicPr>
          <p:cNvPr id="31" name="Picture 30" descr="HEADLINE_Good_for_People_and_the_Planet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Bottom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BOTTOM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BOTTOM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Lem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062649"/>
            <a:ext cx="1213104" cy="2156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 · Georgia Farms 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pic>
        <p:nvPicPr>
          <p:cNvPr id="12" name="Picture 11" descr="Background_Layer_Mel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062649"/>
            <a:ext cx="1213104" cy="2156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 · Georgia Farms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pic>
        <p:nvPicPr>
          <p:cNvPr id="15" name="Picture 14" descr="Background_Layer_Lemon-HEADLINE_Do_you_know_where_your_food_com-Sub_Header_Prefer_Big_Grocery_Chains_Kee-Image_Layer_Grocery-CTA_Good_for_People_and_the_Pla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062649"/>
            <a:ext cx="1213104" cy="2156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 · Good for People and the Planet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5 or more · Metro Atlanta, OTP. Scores are from the overall model. Base appeal 25.6.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1 — LOWEST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Lem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Mel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Lemon-HEADLINE_Do_you_know_where_your_food_com-Sub_Header_Prefer_Big_Grocery_Chains_Kee-Image_Layer_Grocery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Response Time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Response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RESPONSE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RESPONSE TIME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Mel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062649"/>
            <a:ext cx="1213104" cy="2156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+1.427</a:t>
            </a:r>
          </a:p>
        </p:txBody>
      </p:sp>
      <p:pic>
        <p:nvPicPr>
          <p:cNvPr id="12" name="Picture 11" descr="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062649"/>
            <a:ext cx="1213104" cy="2156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+1.424</a:t>
            </a:r>
          </a:p>
        </p:txBody>
      </p:sp>
      <p:pic>
        <p:nvPicPr>
          <p:cNvPr id="15" name="Picture 14" descr="Background_Layer_Cott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062649"/>
            <a:ext cx="1213104" cy="2156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292430"/>
            <a:ext cx="126796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Cotton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603326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1.838. Top-2 Box model: estimated total combination lift above baseline. Values rounded to three decimals.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+1.427</a:t>
            </a:r>
          </a:p>
        </p:txBody>
      </p:sp>
      <p:pic>
        <p:nvPicPr>
          <p:cNvPr id="35" name="Picture 34" descr="Background_Layer_Mel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+1.424</a:t>
            </a:r>
          </a:p>
        </p:txBody>
      </p:sp>
      <p:pic>
        <p:nvPicPr>
          <p:cNvPr id="31" name="Picture 30" descr="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-0.004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+1.420</a:t>
            </a:r>
          </a:p>
        </p:txBody>
      </p:sp>
      <p:pic>
        <p:nvPicPr>
          <p:cNvPr id="35" name="Picture 34" descr="Background_Layer_Cott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"/>
            <a:ext cx="3312414" cy="58887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40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MGA</a:t>
            </a:r>
          </a:p>
        </p:txBody>
      </p:sp>
      <p:pic>
        <p:nvPicPr>
          <p:cNvPr id="3" name="Picture 2" descr="m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246120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1051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5384" y="257860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exploring more combinations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877056"/>
            <a:ext cx="7498079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 |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233672"/>
            <a:ext cx="6986016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581144"/>
            <a:ext cx="3840480" cy="3383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221224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United States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Combination Readout v2 — A-FRAME SIGN STUDY</dc:title>
  <dc:subject>Design Combination Readout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