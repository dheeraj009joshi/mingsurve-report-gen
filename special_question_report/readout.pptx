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Cream
Delivery Graphic</c:v>
                </c:pt>
                <c:pt idx="1">
                  <c:v>Cream · Produce</c:v>
                </c:pt>
                <c:pt idx="2">
                  <c:v>Melon
Delivery Graphic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45.0</c:v>
                </c:pt>
                <c:pt idx="1">
                  <c:v>45.0</c:v>
                </c:pt>
                <c:pt idx="2">
                  <c:v>45.0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Win a Free Month of Groceries
80 Sourced Within 70 Miles</c:v>
                </c:pt>
                <c:pt idx="1">
                  <c:v>Win a Free Month of Groceries
Visit Our Booth for 50 Off</c:v>
                </c:pt>
                <c:pt idx="2">
                  <c:v>Visit Our Booth for 50 Off
80 Sourced Within 70 Miles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51.0</c:v>
                </c:pt>
                <c:pt idx="1">
                  <c:v>51.0</c:v>
                </c:pt>
                <c:pt idx="2">
                  <c:v>51.0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Win a Free Month of Groceries!</c:v>
                </c:pt>
                <c:pt idx="1">
                  <c:v>Lemon</c:v>
                </c:pt>
                <c:pt idx="2">
                  <c:v>Good for People and the Planet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20.0</c:v>
                </c:pt>
                <c:pt idx="1">
                  <c:v>19.0</c:v>
                </c:pt>
                <c:pt idx="2">
                  <c:v>18.0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Lemon
Georgia Farms Delivered</c:v>
                </c:pt>
                <c:pt idx="1">
                  <c:v>Melon
Georgia Farms Delivered</c:v>
                </c:pt>
                <c:pt idx="2">
                  <c:v>Lemon
Good for People and the Planet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15.0</c:v>
                </c:pt>
                <c:pt idx="1">
                  <c:v>15.0</c:v>
                </c:pt>
                <c:pt idx="2">
                  <c:v>15.0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4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Lift above baseline</c:v>
                </c:pt>
              </c:strCache>
            </c:strRef>
          </c:tx>
          <c:dPt>
            <c:idx val="0"/>
            <c:spPr>
              <a:solidFill>
                <a:srgbClr val="155E75"/>
              </a:solidFill>
            </c:spPr>
          </c:dPt>
          <c:dPt>
            <c:idx val="1"/>
            <c:spPr>
              <a:solidFill>
                <a:srgbClr val="D4632A"/>
              </a:solidFill>
            </c:spPr>
          </c:dPt>
          <c:dPt>
            <c:idx val="2"/>
            <c:spPr>
              <a:solidFill>
                <a:srgbClr val="0F766E"/>
              </a:solidFill>
            </c:spPr>
          </c:dPt>
          <c:cat>
            <c:strRef>
              <c:f>Sheet1!$A$2:$A$4</c:f>
              <c:strCache>
                <c:ptCount val="3"/>
                <c:pt idx="0">
                  <c:v>Melon</c:v>
                </c:pt>
                <c:pt idx="1">
                  <c:v>Good for People and the Planet</c:v>
                </c:pt>
                <c:pt idx="2">
                  <c:v>Cotton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1.4272554201858403</c:v>
                </c:pt>
                <c:pt idx="1">
                  <c:v>1.4236528812881657</c:v>
                </c:pt>
                <c:pt idx="2">
                  <c:v>1.420028980254283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100" b="1">
                  <a:solidFill>
                    <a:srgbClr val="1E2D44"/>
                  </a:solidFill>
                  <a:latin typeface="Karl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17086"/>
                </a:solidFill>
                <a:latin typeface="Karla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0"/>
          <c:min val="0.0"/>
        </c:scaling>
        <c:delete val="0"/>
        <c:axPos val="l"/>
        <c:majorGridlines>
          <c:spPr>
            <a:ln>
              <a:solidFill>
                <a:srgbClr val="E2E2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 b="1">
                    <a:solidFill>
                      <a:srgbClr val="1E2D44"/>
                    </a:solidFill>
                    <a:latin typeface="Karla"/>
                  </a:defRPr>
                </a:pPr>
                <a:r>
                  <a:t>Estimated total lift above baseline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9C1CA"/>
            </a:solidFill>
          </a:ln>
        </c:spPr>
        <c:txPr>
          <a:bodyPr/>
          <a:lstStyle/>
          <a:p>
            <a:pPr>
              <a:defRPr sz="900">
                <a:solidFill>
                  <a:srgbClr val="617086"/>
                </a:solidFill>
                <a:latin typeface="Karla"/>
              </a:defRPr>
            </a:pPr>
          </a:p>
        </c:txPr>
        <c:crossAx val="-2068027336"/>
        <c:crosses val="autoZero"/>
        <c:majorUnit val="0.4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240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MGA</a:t>
            </a:r>
          </a:p>
        </p:txBody>
      </p:sp>
      <p:pic>
        <p:nvPicPr>
          <p:cNvPr id="3" name="Picture 2" descr="m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246120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10512"/>
            <a:ext cx="7754112" cy="7772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1E2D44"/>
                </a:solidFill>
                <a:latin typeface="Karla"/>
              </a:rPr>
              <a:t>Design Combination Readout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3877056"/>
            <a:ext cx="7498079" cy="3383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  | 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4233672"/>
            <a:ext cx="6986016" cy="3383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581144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5221224"/>
            <a:ext cx="731520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United States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01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4746E"/>
                </a:solidFill>
                <a:latin typeface="Karla"/>
              </a:rPr>
              <a:t>HOW TO READ THIS REPORT: UNDERSTANDING ELEMENT LIFTS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621792"/>
            <a:ext cx="10972800" cy="420624"/>
          </a:xfrm>
          <a:prstGeom prst="roundRect">
            <a:avLst>
              <a:gd name="adj" fmla="val 8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676656"/>
            <a:ext cx="1069848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E2D44"/>
                </a:solidFill>
                <a:latin typeface="Karla"/>
              </a:rPr>
              <a:t>Top builds are created by selecting the strongest option in each element category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1207008"/>
            <a:ext cx="5532120" cy="4983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0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53312"/>
            <a:ext cx="5120640" cy="2926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How the model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5120640" cy="4114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Respondents rated a large number of sign combinations — each showing different design elements. The model then separates those ratings into an individual lift score.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Each lift score shows how much that layer raises or lowers appeal relative to the model baseline.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A saved combination keeps one option from each layer. Swapping one element only changes that slot. Everything else stays, because each score was measured on its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73952" y="1207008"/>
            <a:ext cx="5257800" cy="498348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1207008"/>
            <a:ext cx="5257800" cy="91440"/>
          </a:xfrm>
          <a:prstGeom prst="rect">
            <a:avLst/>
          </a:prstGeom>
          <a:solidFill>
            <a:srgbClr val="0474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4173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Example from the saved builds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1965960"/>
            <a:ext cx="4892040" cy="39319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In Female · 18-24 · 25-34 · Atlanta, ITP · $75000 or more, one build uses Lemon (-1.0) in Backgrounds.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Swapping to Good for People and the Planet (-2.0) only changes that slot. The other layers stay as they are.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72238"/>
                </a:solidFill>
                <a:latin typeface="Karla"/>
              </a:rPr>
              <a:t>The result: Good for People and the Planet totals +18.0 against +19.0 for Lemon — a difference of 1.0 points.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Top 3 Performing</a:t>
            </a:r>
          </a:p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Combinations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Top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TOP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TOP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Cream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281682"/>
            <a:ext cx="1213104" cy="17185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Cream · Delivery Graphic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+45.0</a:t>
            </a:r>
          </a:p>
        </p:txBody>
      </p:sp>
      <p:pic>
        <p:nvPicPr>
          <p:cNvPr id="12" name="Picture 11" descr="Background_Layer_Cream-HEADLINE_Georgia_Farms_Delivered-Sub_Header_Skip_The_Grocery_Store-Image_Layer_Produce-CTA_Good_for_People_and_the_Plan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281682"/>
            <a:ext cx="1213104" cy="17185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Cream · Produce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+45.0</a:t>
            </a:r>
          </a:p>
        </p:txBody>
      </p:sp>
      <p:pic>
        <p:nvPicPr>
          <p:cNvPr id="15" name="Picture 14" descr="Background_Layer_Melon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281682"/>
            <a:ext cx="1213104" cy="17185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Melon · Delivery Graphic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+45.0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Female · 18-24 · 25-34 · Atlanta, ITP · $75000 or more. Scores are from the overall model. Base appeal 50.1.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1 —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Delivery Graphic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+45.0</a:t>
            </a:r>
          </a:p>
        </p:txBody>
      </p:sp>
      <p:pic>
        <p:nvPicPr>
          <p:cNvPr id="35" name="Picture 34" descr="Background_Layer_Cream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2 — SECOND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+45.0</a:t>
            </a:r>
          </a:p>
        </p:txBody>
      </p:sp>
      <p:pic>
        <p:nvPicPr>
          <p:cNvPr id="35" name="Picture 34" descr="Background_Layer_Cream-HEADLINE_Georgia_Farms_Delivered-Sub_Header_Skip_The_Grocery_Store-Image_Layer_Produce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3 — THIRD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Melon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Delivery Graphic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+45.0</a:t>
            </a:r>
          </a:p>
        </p:txBody>
      </p:sp>
      <p:pic>
        <p:nvPicPr>
          <p:cNvPr id="35" name="Picture 34" descr="Background_Layer_Melon-HEADLINE_Georgia_Farms_Delivered-Sub_Header_Skip_The_Grocery_Store-Image_Layer_Delivery_Graphic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Top 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TOP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TOP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Cotton-HEADLINE_Win_a_Free_Month_of_Groceries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281682"/>
            <a:ext cx="1213104" cy="17185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Win a Free Month of Groceries · 80 Sourced Within 70 Miles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+51.0</a:t>
            </a:r>
          </a:p>
        </p:txBody>
      </p:sp>
      <p:pic>
        <p:nvPicPr>
          <p:cNvPr id="12" name="Picture 11" descr="Background_Layer_Cotton-HEADLINE_Win_a_Free_Month_of_Groceries-Sub_Header_Visit_Our_Booth_for_50_Off-Image_Layer_Box-CTA_Guess_the_Price_of_Our_Box_to_Win_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281682"/>
            <a:ext cx="1213104" cy="17185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Win a Free Month of Groceries · Visit Our Booth for 50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+51.0</a:t>
            </a:r>
          </a:p>
        </p:txBody>
      </p:sp>
      <p:pic>
        <p:nvPicPr>
          <p:cNvPr id="15" name="Picture 14" descr="Background_Layer_Cotton-HEADLINE_Visit_Our_Booth_for_50_Off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281682"/>
            <a:ext cx="1213104" cy="17185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Visit Our Booth for 50 Off · 80 Sourced Within 70 Miles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+51.0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5 or more · Metro Atlanta, OTP. Scores are from the overall model. Base appeal 50.1.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1 —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+17.0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80 Sourced Within 70 Miles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+9.0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Guess the Price of Our Box to Win!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+51.0</a:t>
            </a:r>
          </a:p>
        </p:txBody>
      </p:sp>
      <p:pic>
        <p:nvPicPr>
          <p:cNvPr id="35" name="Picture 34" descr="Background_Layer_Cotton-HEADLINE_Win_a_Free_Month_of_Groceries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2 — SECOND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+17.0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Visit Our Booth for 50 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+9.0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Guess the Price of Our Box to Win!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+51.0</a:t>
            </a:r>
          </a:p>
        </p:txBody>
      </p:sp>
      <p:pic>
        <p:nvPicPr>
          <p:cNvPr id="35" name="Picture 34" descr="Background_Layer_Cotton-HEADLINE_Win_a_Free_Month_of_Groceries-Sub_Header_Visit_Our_Booth_for_50_Off-Image_Layer_Box-CTA_Guess_the_Price_of_Our_Box_to_Win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TOP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TOP 3 PACK COMBINATIONS · PACK 3 — THIRD HIGHEST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Top 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50.1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(overall)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Visit Our Booth for 50 Off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+17.0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80 Sourced Within 70 Miles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+9.0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Guess the Price of Our Box to Win!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+12.0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+51.0</a:t>
            </a:r>
          </a:p>
        </p:txBody>
      </p:sp>
      <p:pic>
        <p:nvPicPr>
          <p:cNvPr id="35" name="Picture 34" descr="Background_Layer_Cotton-HEADLINE_Visit_Our_Booth_for_50_Off-Sub_Header_80_Sourced_Within_70_Miles-Image_Layer_Box-CTA_Guess_the_Price_of_Our_Box_to_Win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Bottom 3 Performing</a:t>
            </a:r>
          </a:p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Combinations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Bottom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BOTTOM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BOTTOM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281682"/>
            <a:ext cx="1213104" cy="17185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+20.0</a:t>
            </a:r>
          </a:p>
        </p:txBody>
      </p:sp>
      <p:pic>
        <p:nvPicPr>
          <p:cNvPr id="12" name="Picture 11" descr="Background_Layer_Lemon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281682"/>
            <a:ext cx="1213104" cy="17185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Lemon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+19.0</a:t>
            </a:r>
          </a:p>
        </p:txBody>
      </p:sp>
      <p:pic>
        <p:nvPicPr>
          <p:cNvPr id="15" name="Picture 14" descr="HEADLINE_Good_for_People_and_the_Planet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281682"/>
            <a:ext cx="1213104" cy="17185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Female · 18-24 · 25-34 · Atlanta, ITP · $75000 or more. Scores are from the overall model. Base appeal 25.6.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1 — LOWEST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Eat Local Eat Organic Eat Better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" y="2944368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2944368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301752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301752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+20.0</a:t>
            </a:r>
          </a:p>
        </p:txBody>
      </p:sp>
      <p:pic>
        <p:nvPicPr>
          <p:cNvPr id="27" name="Picture 26" descr="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Lemon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-1.0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Eat Local Eat Organic Eat 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+19.0</a:t>
            </a:r>
          </a:p>
        </p:txBody>
      </p:sp>
      <p:pic>
        <p:nvPicPr>
          <p:cNvPr id="31" name="Picture 30" descr="Background_Layer_Lemon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-2.0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Win a Free Month of Groceries!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Box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Eat Local Eat Organic Eat Better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+10.0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43814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+18.0</a:t>
            </a:r>
          </a:p>
        </p:txBody>
      </p:sp>
      <p:pic>
        <p:nvPicPr>
          <p:cNvPr id="31" name="Picture 30" descr="HEADLINE_Good_for_People_and_the_Planet-Sub_Header_Win_a_Free_Month_of_Groceries-Image_Layer_Box-CTA_Eat_Local_Eat_Organic_Eat_Be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Bottom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BOTTOM COMBINATIONS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5 or more · Metro Atlanta, OTP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BOTTOM COMBINATION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Lem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281682"/>
            <a:ext cx="1213104" cy="17185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Lemon · Georgia Farms 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+15.0</a:t>
            </a:r>
          </a:p>
        </p:txBody>
      </p:sp>
      <p:pic>
        <p:nvPicPr>
          <p:cNvPr id="12" name="Picture 11" descr="Background_Layer_Mel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281682"/>
            <a:ext cx="1213104" cy="17185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Melon · Georgia Farms 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+15.0</a:t>
            </a:r>
          </a:p>
        </p:txBody>
      </p:sp>
      <p:pic>
        <p:nvPicPr>
          <p:cNvPr id="15" name="Picture 14" descr="Background_Layer_Lemon-HEADLINE_Do_you_know_where_your_food_com-Sub_Header_Prefer_Big_Grocery_Chains_Kee-Image_Layer_Grocery-CTA_Good_for_People_and_the_Plan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281682"/>
            <a:ext cx="1213104" cy="17185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Lemon · Good for People and the Planet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+15.0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5 or more · Metro Atlanta, OTP. Scores are from the overall model. Base appeal 25.6. Top-2 Box model: estimated total combination lift above baseline. Values rounded to one decimal.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1 — LOWEST LIFT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Lemon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Do you know where your food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Prefer Big Grocery Chains_ Keep Walking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Grocery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+15.0</a:t>
            </a:r>
          </a:p>
        </p:txBody>
      </p:sp>
      <p:pic>
        <p:nvPicPr>
          <p:cNvPr id="35" name="Picture 34" descr="Background_Layer_Lem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Melon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Do you know where your food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Prefer Big Grocery Chains_ Keep Walking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Grocery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+15.0</a:t>
            </a:r>
          </a:p>
        </p:txBody>
      </p:sp>
      <p:pic>
        <p:nvPicPr>
          <p:cNvPr id="35" name="Picture 34" descr="Background_Layer_Melon-HEADLINE_Do_you_know_where_your_food_com-Sub_Header_Prefer_Big_Grocery_Chains_Kee-Image_Layer_Grocery-CTA_Georgia_Farms_Deliv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BOTTOM COMBINATIONS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BOTTOM 3 · BOTTOM PACK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Bottom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25.6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(bottom up)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Lemon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+3.0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Do you know where your food comes from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Prefer Big Grocery Chains_ Keep Walking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+6.0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Grocery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+4.0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713232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+15.0</a:t>
            </a:r>
          </a:p>
        </p:txBody>
      </p:sp>
      <p:pic>
        <p:nvPicPr>
          <p:cNvPr id="35" name="Picture 34" descr="Background_Layer_Lemon-HEADLINE_Do_you_know_where_your_food_com-Sub_Header_Prefer_Big_Grocery_Chains_Kee-Image_Layer_Grocery-CTA_Good_for_People_and_the_Pla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one decimal.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1042416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Response Time</a:t>
            </a:r>
          </a:p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E2D44"/>
                </a:solidFill>
                <a:latin typeface="Karla"/>
              </a:rPr>
              <a:t>Combinations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746E"/>
                </a:solidFill>
                <a:latin typeface="Karla"/>
              </a:rPr>
              <a:t>Response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21031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3C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29184"/>
            <a:ext cx="694944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746E"/>
                </a:solidFill>
                <a:latin typeface="Karla"/>
              </a:rPr>
              <a:t>KEY FINDINGS: RESPONSE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548640"/>
            <a:ext cx="694944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E2D44"/>
                </a:solidFill>
                <a:latin typeface="Karla"/>
              </a:rPr>
              <a:t>Female · 18-24 · 25-34 · Atlanta, ITP · $75000 or more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58952" y="1170432"/>
            <a:ext cx="1325879" cy="0"/>
          </a:xfrm>
          <a:prstGeom prst="line">
            <a:avLst/>
          </a:prstGeom>
          <a:ln w="19050">
            <a:solidFill>
              <a:srgbClr val="0474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8952" y="1243584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17086"/>
                </a:solidFill>
                <a:latin typeface="Karla"/>
              </a:rPr>
              <a:t>RESPONSE TIME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536192"/>
          <a:ext cx="704088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772400" y="868680"/>
            <a:ext cx="4133087" cy="5257800"/>
          </a:xfrm>
          <a:prstGeom prst="roundRect">
            <a:avLst>
              <a:gd name="adj" fmla="val 4000"/>
            </a:avLst>
          </a:prstGeom>
          <a:solidFill>
            <a:srgbClr val="F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ackground_Layer_Mel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2281682"/>
            <a:ext cx="1213104" cy="17185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27264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Melon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7264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+1.427</a:t>
            </a:r>
          </a:p>
        </p:txBody>
      </p:sp>
      <p:pic>
        <p:nvPicPr>
          <p:cNvPr id="12" name="Picture 11" descr="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392" y="2281682"/>
            <a:ext cx="1213104" cy="17185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04960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4960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+1.424</a:t>
            </a:r>
          </a:p>
        </p:txBody>
      </p:sp>
      <p:pic>
        <p:nvPicPr>
          <p:cNvPr id="15" name="Picture 14" descr="Background_Layer_Cott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2281682"/>
            <a:ext cx="1213104" cy="17185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82656" y="4073398"/>
            <a:ext cx="1267968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000" b="0" i="0">
                <a:solidFill>
                  <a:srgbClr val="1E2D44"/>
                </a:solidFill>
                <a:latin typeface="Karla"/>
              </a:rPr>
              <a:t>Cotton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82656" y="4384294"/>
            <a:ext cx="1267968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8935"/>
                </a:solidFill>
                <a:latin typeface="Karla"/>
              </a:rPr>
              <a:t>+1.420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46520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617086"/>
                </a:solidFill>
                <a:latin typeface="Karla"/>
              </a:rPr>
              <a:t>Saved segment: Female · 18-24 · 25-34 · Atlanta, ITP · $75000 or more. Scores are from the overall model. Base appeal 1.838. Top-2 Box model: estimated total combination lift above baseline. Values rounded to three decimals.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RESPONSE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RESPONSE TIME · PACK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1.838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(response 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Melon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+0.706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+1.427</a:t>
            </a:r>
          </a:p>
        </p:txBody>
      </p:sp>
      <p:pic>
        <p:nvPicPr>
          <p:cNvPr id="35" name="Picture 34" descr="Background_Layer_Mel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three decimals.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RESPONSE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RESPONSE TIME · PACK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1.838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(response 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+0.706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364992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03320" y="343814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03320" y="3438144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+1.424</a:t>
            </a:r>
          </a:p>
        </p:txBody>
      </p:sp>
      <p:pic>
        <p:nvPicPr>
          <p:cNvPr id="31" name="Picture 30" descr="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three decimals.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9768" cy="6858000"/>
          </a:xfrm>
          <a:prstGeom prst="rect">
            <a:avLst/>
          </a:prstGeom>
          <a:solidFill>
            <a:srgbClr val="F5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347472"/>
            <a:ext cx="7498079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C2535"/>
                </a:solidFill>
                <a:latin typeface="Karla"/>
              </a:rPr>
              <a:t>A-FRAME KEY FINDINGS: RESPONSE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621792"/>
            <a:ext cx="7498079" cy="329184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621792"/>
            <a:ext cx="553212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B1F4B"/>
                </a:solidFill>
                <a:latin typeface="Karla"/>
              </a:rPr>
              <a:t>RESPONSE TIME · PACK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621792"/>
            <a:ext cx="1691640" cy="32918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028090"/>
                </a:solidFill>
                <a:latin typeface="Karla"/>
              </a:rPr>
              <a:t>Response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078992"/>
            <a:ext cx="146304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A40"/>
                </a:solidFill>
                <a:latin typeface="Karla"/>
              </a:rPr>
              <a:t>Base appeal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04288" y="1005840"/>
            <a:ext cx="123444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0B1F4B"/>
                </a:solidFill>
                <a:latin typeface="Karla"/>
              </a:rPr>
              <a:t>1.838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078992"/>
            <a:ext cx="4023360" cy="34747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A9BB0"/>
                </a:solidFill>
                <a:latin typeface="Karla"/>
              </a:rPr>
              <a:t>starting point (response time)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" y="1517904"/>
            <a:ext cx="7498079" cy="10972"/>
          </a:xfrm>
          <a:prstGeom prst="rect">
            <a:avLst/>
          </a:prstGeom>
          <a:solidFill>
            <a:srgbClr val="D0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627632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Cotton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solidFill>
            <a:srgbClr val="CC3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728216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-0.004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1627632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Backgrounds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048256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Good for People and the Planet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148840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+0.706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048256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Headlines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468880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Georgia Farms Delivered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3320" y="2569464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Sub Headers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2889504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Produce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2990088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+0.085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889504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Images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3310128"/>
            <a:ext cx="2880360" cy="420624"/>
          </a:xfrm>
          <a:prstGeom prst="rect">
            <a:avLst/>
          </a:prstGeom>
          <a:noFill/>
        </p:spPr>
        <p:txBody>
          <a:bodyPr wrap="non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1A2A40"/>
                </a:solidFill>
                <a:latin typeface="Karla"/>
              </a:rPr>
              <a:t>Skip The Grocery Store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3410712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Karla"/>
              </a:rPr>
              <a:t>+0.316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310128"/>
            <a:ext cx="3703320" cy="42062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A9BB0"/>
                </a:solidFill>
                <a:latin typeface="Karla"/>
              </a:rPr>
              <a:t>CTA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solidFill>
            <a:srgbClr val="F4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785615"/>
            <a:ext cx="288036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0B1F4B"/>
                </a:solidFill>
                <a:latin typeface="Karla"/>
              </a:rPr>
              <a:t>TOTAL LIFT OVER BASE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877824" cy="21945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Karla"/>
              </a:rPr>
              <a:t>+1.420</a:t>
            </a:r>
          </a:p>
        </p:txBody>
      </p:sp>
      <p:pic>
        <p:nvPicPr>
          <p:cNvPr id="35" name="Picture 34" descr="Background_Layer_Cotton-HEADLINE_Good_for_People_and_the_Planet-Sub_Header_Georgia_Farms_Delivered-Image_Layer_Produce-CTA_Skip_The_Grocery_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871347"/>
            <a:ext cx="3520440" cy="498729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" y="65653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0" i="0">
                <a:solidFill>
                  <a:srgbClr val="8A9BB0"/>
                </a:solidFill>
                <a:latin typeface="Karla"/>
              </a:rPr>
              <a:t>Saved segment. Scores are from the overall model.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6565392"/>
            <a:ext cx="6766560" cy="182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700" b="1" i="0">
                <a:solidFill>
                  <a:srgbClr val="0B1F4B"/>
                </a:solidFill>
                <a:latin typeface="Karla"/>
              </a:rPr>
              <a:t>Top-2 Box model: element lifts show movement above or below the model baseline. Values rounded to three decimals.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84280" y="6547104"/>
            <a:ext cx="640080" cy="20116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spcAft>
                <a:spcPts val="400"/>
              </a:spcAft>
            </a:pPr>
            <a:r>
              <a:rPr sz="1100" b="1" i="0">
                <a:solidFill>
                  <a:srgbClr val="1E2D44"/>
                </a:solidFill>
                <a:latin typeface="Karla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24028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1E2D44"/>
                </a:solidFill>
                <a:latin typeface="Karla"/>
              </a:rPr>
              <a:t>MGA</a:t>
            </a:r>
          </a:p>
        </p:txBody>
      </p:sp>
      <p:pic>
        <p:nvPicPr>
          <p:cNvPr id="3" name="Picture 2" descr="mg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28" y="3246120"/>
            <a:ext cx="1641348" cy="1641348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3882908" y="1232428"/>
            <a:ext cx="0" cy="4373209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205874" y="3429000"/>
            <a:ext cx="6268303" cy="0"/>
          </a:xfrm>
          <a:prstGeom prst="line">
            <a:avLst/>
          </a:prstGeom>
          <a:ln w="9525">
            <a:solidFill>
              <a:srgbClr val="F2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206240" y="1810512"/>
            <a:ext cx="713232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2D44"/>
                </a:solidFill>
                <a:latin typeface="Karla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5384" y="257860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We look forward to exploring more combinations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877056"/>
            <a:ext cx="7498079" cy="3383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A-FRAME SIGN STUDY  |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233672"/>
            <a:ext cx="6986016" cy="3383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Prepared by: J Brown Fitterman | jbrown@mindgenomicsassociates.com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4581144"/>
            <a:ext cx="3840480" cy="3383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Mind Genomics Associates, Inc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5221224"/>
            <a:ext cx="7315200" cy="40233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1E2D44"/>
                </a:solidFill>
                <a:latin typeface="Karla"/>
              </a:rPr>
              <a:t>United States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Combination Readout v2 — A-FRAME SIGN STUDY</dc:title>
  <dc:subject>Design Combination Readout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Top-2 Box</cp:category>
</cp:coreProperties>
</file>