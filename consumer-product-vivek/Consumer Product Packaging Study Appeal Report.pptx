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12.png"/><Relationship Id="rId4" Type="http://schemas.openxmlformats.org/officeDocument/2006/relationships/image" Target="../media/image11.png"/><Relationship Id="rId5"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7.png"/><Relationship Id="rId5"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12.png"/><Relationship Id="rId4" Type="http://schemas.openxmlformats.org/officeDocument/2006/relationships/image" Target="../media/image3.png"/><Relationship Id="rId5"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10.png"/><Relationship Id="rId4" Type="http://schemas.openxmlformats.org/officeDocument/2006/relationships/image" Target="../media/image9.png"/><Relationship Id="rId5"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image" Target="../media/image1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8.png"/><Relationship Id="rId5" Type="http://schemas.openxmlformats.org/officeDocument/2006/relationships/image" Target="../media/image1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9.png"/><Relationship Id="rId4" Type="http://schemas.openxmlformats.org/officeDocument/2006/relationships/image" Target="../media/image6.png"/><Relationship Id="rId5" Type="http://schemas.openxmlformats.org/officeDocument/2006/relationships/image" Target="../media/image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1.png"/><Relationship Id="rId4" Type="http://schemas.openxmlformats.org/officeDocument/2006/relationships/image" Target="../media/image10.png"/><Relationship Id="rId5" Type="http://schemas.openxmlformats.org/officeDocument/2006/relationships/image" Target="../media/image1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1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7.png"/><Relationship Id="rId4" Type="http://schemas.openxmlformats.org/officeDocument/2006/relationships/image" Target="../media/image14.png"/><Relationship Id="rId5" Type="http://schemas.openxmlformats.org/officeDocument/2006/relationships/image" Target="../media/image1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15.png"/><Relationship Id="rId4" Type="http://schemas.openxmlformats.org/officeDocument/2006/relationships/image" Target="../media/image20.png"/><Relationship Id="rId5" Type="http://schemas.openxmlformats.org/officeDocument/2006/relationships/image" Target="../media/image2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16.png"/><Relationship Id="rId5" Type="http://schemas.openxmlformats.org/officeDocument/2006/relationships/image" Target="../media/image1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7.png"/><Relationship Id="rId4" Type="http://schemas.openxmlformats.org/officeDocument/2006/relationships/image" Target="../media/image20.png"/><Relationship Id="rId5" Type="http://schemas.openxmlformats.org/officeDocument/2006/relationships/image" Target="../media/image2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15.png"/><Relationship Id="rId4" Type="http://schemas.openxmlformats.org/officeDocument/2006/relationships/image" Target="../media/image20.png"/><Relationship Id="rId5" Type="http://schemas.openxmlformats.org/officeDocument/2006/relationships/image" Target="../media/image2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14.png"/><Relationship Id="rId5" Type="http://schemas.openxmlformats.org/officeDocument/2006/relationships/image" Target="../media/image1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1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18.png"/><Relationship Id="rId4" Type="http://schemas.openxmlformats.org/officeDocument/2006/relationships/image" Target="../media/image14.png"/><Relationship Id="rId5" Type="http://schemas.openxmlformats.org/officeDocument/2006/relationships/image" Target="../media/image1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1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2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5.png"/><Relationship Id="rId5" Type="http://schemas.openxmlformats.org/officeDocument/2006/relationships/image" Target="../media/image2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6.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5.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27.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24.png"/><Relationship Id="rId4" Type="http://schemas.openxmlformats.org/officeDocument/2006/relationships/image" Target="../media/image23.png"/><Relationship Id="rId5" Type="http://schemas.openxmlformats.org/officeDocument/2006/relationships/image" Target="../media/image2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27.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3.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31.png"/><Relationship Id="rId4" Type="http://schemas.openxmlformats.org/officeDocument/2006/relationships/image" Target="../media/image29.png"/><Relationship Id="rId5" Type="http://schemas.openxmlformats.org/officeDocument/2006/relationships/image" Target="../media/image30.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31.png"/><Relationship Id="rId4" Type="http://schemas.openxmlformats.org/officeDocument/2006/relationships/image" Target="../media/image30.png"/><Relationship Id="rId5" Type="http://schemas.openxmlformats.org/officeDocument/2006/relationships/image" Target="../media/image29.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31.png"/><Relationship Id="rId4" Type="http://schemas.openxmlformats.org/officeDocument/2006/relationships/image" Target="../media/image30.png"/><Relationship Id="rId5" Type="http://schemas.openxmlformats.org/officeDocument/2006/relationships/image" Target="../media/image29.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28.png"/><Relationship Id="rId4" Type="http://schemas.openxmlformats.org/officeDocument/2006/relationships/image" Target="../media/image30.png"/><Relationship Id="rId5" Type="http://schemas.openxmlformats.org/officeDocument/2006/relationships/image" Target="../media/image29.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30.png"/><Relationship Id="rId4" Type="http://schemas.openxmlformats.org/officeDocument/2006/relationships/image" Target="../media/image28.png"/><Relationship Id="rId5" Type="http://schemas.openxmlformats.org/officeDocument/2006/relationships/image" Target="../media/image29.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image" Target="../media/image39.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43.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image" Target="../media/image33.png"/><Relationship Id="rId4" Type="http://schemas.openxmlformats.org/officeDocument/2006/relationships/image" Target="../media/image35.png"/><Relationship Id="rId5" Type="http://schemas.openxmlformats.org/officeDocument/2006/relationships/image" Target="../media/image32.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40.png"/><Relationship Id="rId4" Type="http://schemas.openxmlformats.org/officeDocument/2006/relationships/image" Target="../media/image37.png"/><Relationship Id="rId5" Type="http://schemas.openxmlformats.org/officeDocument/2006/relationships/image" Target="../media/image4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image" Target="../media/image36.png"/><Relationship Id="rId4" Type="http://schemas.openxmlformats.org/officeDocument/2006/relationships/image" Target="../media/image43.png"/><Relationship Id="rId5" Type="http://schemas.openxmlformats.org/officeDocument/2006/relationships/image" Target="../media/image42.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32.png"/><Relationship Id="rId4" Type="http://schemas.openxmlformats.org/officeDocument/2006/relationships/image" Target="../media/image35.png"/><Relationship Id="rId5" Type="http://schemas.openxmlformats.org/officeDocument/2006/relationships/image" Target="../media/image34.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41.png"/><Relationship Id="rId4" Type="http://schemas.openxmlformats.org/officeDocument/2006/relationships/image" Target="../media/image38.png"/><Relationship Id="rId5" Type="http://schemas.openxmlformats.org/officeDocument/2006/relationships/image" Target="../media/image37.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40.png"/><Relationship Id="rId4" Type="http://schemas.openxmlformats.org/officeDocument/2006/relationships/image" Target="../media/image42.png"/><Relationship Id="rId5" Type="http://schemas.openxmlformats.org/officeDocument/2006/relationships/image" Target="../media/image43.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2.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image" Target="../media/image38.png"/><Relationship Id="rId4" Type="http://schemas.openxmlformats.org/officeDocument/2006/relationships/image" Target="../media/image37.png"/><Relationship Id="rId5" Type="http://schemas.openxmlformats.org/officeDocument/2006/relationships/image" Target="../media/image36.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image" Target="../media/image40.png"/><Relationship Id="rId4" Type="http://schemas.openxmlformats.org/officeDocument/2006/relationships/image" Target="../media/image39.png"/><Relationship Id="rId5" Type="http://schemas.openxmlformats.org/officeDocument/2006/relationships/image" Target="../media/image43.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2.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image" Target="../media/image39.png"/><Relationship Id="rId4" Type="http://schemas.openxmlformats.org/officeDocument/2006/relationships/image" Target="../media/image38.png"/><Relationship Id="rId5" Type="http://schemas.openxmlformats.org/officeDocument/2006/relationships/image" Target="../media/image36.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40.png"/><Relationship Id="rId4" Type="http://schemas.openxmlformats.org/officeDocument/2006/relationships/image" Target="../media/image42.png"/><Relationship Id="rId5" Type="http://schemas.openxmlformats.org/officeDocument/2006/relationships/image" Target="../media/image43.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34.png"/><Relationship Id="rId4" Type="http://schemas.openxmlformats.org/officeDocument/2006/relationships/image" Target="../media/image33.png"/><Relationship Id="rId5" Type="http://schemas.openxmlformats.org/officeDocument/2006/relationships/image" Target="../media/image32.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image" Target="../media/image40.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image" Target="../media/image36.png"/><Relationship Id="rId4" Type="http://schemas.openxmlformats.org/officeDocument/2006/relationships/image" Target="../media/image42.png"/><Relationship Id="rId5" Type="http://schemas.openxmlformats.org/officeDocument/2006/relationships/image" Target="../media/image39.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image" Target="../media/image45.png"/><Relationship Id="rId4" Type="http://schemas.openxmlformats.org/officeDocument/2006/relationships/image" Target="../media/image46.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image" Target="../media/image48.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image" Target="../media/image47.png"/><Relationship Id="rId4" Type="http://schemas.openxmlformats.org/officeDocument/2006/relationships/image" Target="../media/image45.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image" Target="../media/image48.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image" Target="../media/image44.png"/><Relationship Id="rId4" Type="http://schemas.openxmlformats.org/officeDocument/2006/relationships/image" Target="../media/image48.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image" Target="../media/image45.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image" Target="../media/image48.png"/><Relationship Id="rId4" Type="http://schemas.openxmlformats.org/officeDocument/2006/relationships/image" Target="../media/image46.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image" Target="../media/image47.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image" Target="../media/image44.png"/><Relationship Id="rId4" Type="http://schemas.openxmlformats.org/officeDocument/2006/relationships/image" Target="../media/image45.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image" Target="../media/image47.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image" Target="../media/image44.png"/><Relationship Id="rId4" Type="http://schemas.openxmlformats.org/officeDocument/2006/relationships/image" Target="../media/image45.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image" Target="../media/image48.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image" Target="../media/image50.png"/><Relationship Id="rId4" Type="http://schemas.openxmlformats.org/officeDocument/2006/relationships/image" Target="../media/image51.png"/><Relationship Id="rId5" Type="http://schemas.openxmlformats.org/officeDocument/2006/relationships/image" Target="../media/image52.png"/><Relationship Id="rId6" Type="http://schemas.openxmlformats.org/officeDocument/2006/relationships/image" Target="../media/image53.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 Id="rId3" Type="http://schemas.openxmlformats.org/officeDocument/2006/relationships/image" Target="../media/image55.png"/><Relationship Id="rId4" Type="http://schemas.openxmlformats.org/officeDocument/2006/relationships/image" Target="../media/image56.png"/><Relationship Id="rId5" Type="http://schemas.openxmlformats.org/officeDocument/2006/relationships/image" Target="../media/image57.png"/><Relationship Id="rId6" Type="http://schemas.openxmlformats.org/officeDocument/2006/relationships/image" Target="../media/image58.png"/><Relationship Id="rId7" Type="http://schemas.openxmlformats.org/officeDocument/2006/relationships/image" Target="../media/image59.png"/><Relationship Id="rId8" Type="http://schemas.openxmlformats.org/officeDocument/2006/relationships/image" Target="../media/image60.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image" Target="../media/image54.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5.png"/><Relationship Id="rId7" Type="http://schemas.openxmlformats.org/officeDocument/2006/relationships/image" Target="../media/image3.png"/><Relationship Id="rId8" Type="http://schemas.openxmlformats.org/officeDocument/2006/relationships/image" Target="../media/image8.png"/><Relationship Id="rId9" Type="http://schemas.openxmlformats.org/officeDocument/2006/relationships/image" Target="../media/image9.png"/><Relationship Id="rId10" Type="http://schemas.openxmlformats.org/officeDocument/2006/relationships/image" Target="../media/image10.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2.png"/><Relationship Id="rId6" Type="http://schemas.openxmlformats.org/officeDocument/2006/relationships/image" Target="../media/image38.png"/><Relationship Id="rId7" Type="http://schemas.openxmlformats.org/officeDocument/2006/relationships/image" Target="../media/image39.png"/><Relationship Id="rId8" Type="http://schemas.openxmlformats.org/officeDocument/2006/relationships/image" Target="../media/image40.png"/><Relationship Id="rId9" Type="http://schemas.openxmlformats.org/officeDocument/2006/relationships/image" Target="../media/image37.png"/><Relationship Id="rId10" Type="http://schemas.openxmlformats.org/officeDocument/2006/relationships/image" Target="../media/image41.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42.png"/><Relationship Id="rId4" Type="http://schemas.openxmlformats.org/officeDocument/2006/relationships/image" Target="../media/image43.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16.png"/><Relationship Id="rId5" Type="http://schemas.openxmlformats.org/officeDocument/2006/relationships/image" Target="../media/image14.png"/><Relationship Id="rId6" Type="http://schemas.openxmlformats.org/officeDocument/2006/relationships/image" Target="../media/image17.png"/><Relationship Id="rId7" Type="http://schemas.openxmlformats.org/officeDocument/2006/relationships/image" Target="../media/image15.png"/><Relationship Id="rId8" Type="http://schemas.openxmlformats.org/officeDocument/2006/relationships/image" Target="../media/image21.png"/><Relationship Id="rId9" Type="http://schemas.openxmlformats.org/officeDocument/2006/relationships/image" Target="../media/image20.png"/><Relationship Id="rId10" Type="http://schemas.openxmlformats.org/officeDocument/2006/relationships/image" Target="../media/image22.png"/><Relationship Id="rId11" Type="http://schemas.openxmlformats.org/officeDocument/2006/relationships/image" Target="../media/image23.png"/><Relationship Id="rId12" Type="http://schemas.openxmlformats.org/officeDocument/2006/relationships/image" Target="../media/image24.png"/><Relationship Id="rId13" Type="http://schemas.openxmlformats.org/officeDocument/2006/relationships/image" Target="../media/image25.png"/><Relationship Id="rId14" Type="http://schemas.openxmlformats.org/officeDocument/2006/relationships/image" Target="../media/image26.png"/><Relationship Id="rId15" Type="http://schemas.openxmlformats.org/officeDocument/2006/relationships/image" Target="../media/image27.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29.png"/><Relationship Id="rId6" Type="http://schemas.openxmlformats.org/officeDocument/2006/relationships/image" Target="../media/image44.png"/><Relationship Id="rId7" Type="http://schemas.openxmlformats.org/officeDocument/2006/relationships/image" Target="../media/image45.png"/><Relationship Id="rId8" Type="http://schemas.openxmlformats.org/officeDocument/2006/relationships/image" Target="../media/image46.png"/><Relationship Id="rId9" Type="http://schemas.openxmlformats.org/officeDocument/2006/relationships/image" Target="../media/image47.png"/><Relationship Id="rId10" Type="http://schemas.openxmlformats.org/officeDocument/2006/relationships/image" Target="../media/image48.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png"/><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image" Target="../media/image64.png"/><Relationship Id="rId6" Type="http://schemas.openxmlformats.org/officeDocument/2006/relationships/image" Target="../media/image65.png"/><Relationship Id="rId7" Type="http://schemas.openxmlformats.org/officeDocument/2006/relationships/image" Target="../media/image66.png"/><Relationship Id="rId8" Type="http://schemas.openxmlformats.org/officeDocument/2006/relationships/image" Target="../media/image67.png"/><Relationship Id="rId9" Type="http://schemas.openxmlformats.org/officeDocument/2006/relationships/image" Target="../media/image68.png"/><Relationship Id="rId10" Type="http://schemas.openxmlformats.org/officeDocument/2006/relationships/image" Target="../media/image69.png"/><Relationship Id="rId11" Type="http://schemas.openxmlformats.org/officeDocument/2006/relationships/image" Target="../media/image70.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1.png"/><Relationship Id="rId3" Type="http://schemas.openxmlformats.org/officeDocument/2006/relationships/image" Target="../media/image72.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3.png"/><Relationship Id="rId3" Type="http://schemas.openxmlformats.org/officeDocument/2006/relationships/image" Target="../media/image74.png"/><Relationship Id="rId4" Type="http://schemas.openxmlformats.org/officeDocument/2006/relationships/image" Target="../media/image75.png"/><Relationship Id="rId5" Type="http://schemas.openxmlformats.org/officeDocument/2006/relationships/image" Target="../media/image76.png"/><Relationship Id="rId6" Type="http://schemas.openxmlformats.org/officeDocument/2006/relationships/image" Target="../media/image77.png"/><Relationship Id="rId7" Type="http://schemas.openxmlformats.org/officeDocument/2006/relationships/image" Target="../media/image78.png"/><Relationship Id="rId8" Type="http://schemas.openxmlformats.org/officeDocument/2006/relationships/image" Target="../media/image79.png"/><Relationship Id="rId9" Type="http://schemas.openxmlformats.org/officeDocument/2006/relationships/image" Target="../media/image80.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1.png"/><Relationship Id="rId3" Type="http://schemas.openxmlformats.org/officeDocument/2006/relationships/image" Target="../media/image82.png"/><Relationship Id="rId4" Type="http://schemas.openxmlformats.org/officeDocument/2006/relationships/image" Target="../media/image83.png"/><Relationship Id="rId5" Type="http://schemas.openxmlformats.org/officeDocument/2006/relationships/image" Target="../media/image84.png"/><Relationship Id="rId6" Type="http://schemas.openxmlformats.org/officeDocument/2006/relationships/image" Target="../media/image85.png"/><Relationship Id="rId7" Type="http://schemas.openxmlformats.org/officeDocument/2006/relationships/image" Target="../media/image86.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7.png"/><Relationship Id="rId3" Type="http://schemas.openxmlformats.org/officeDocument/2006/relationships/image" Target="../media/image88.png"/><Relationship Id="rId4" Type="http://schemas.openxmlformats.org/officeDocument/2006/relationships/image" Target="../media/image89.png"/><Relationship Id="rId5" Type="http://schemas.openxmlformats.org/officeDocument/2006/relationships/image" Target="../media/image90.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1.png"/><Relationship Id="rId3" Type="http://schemas.openxmlformats.org/officeDocument/2006/relationships/image" Target="../media/image92.png"/><Relationship Id="rId4" Type="http://schemas.openxmlformats.org/officeDocument/2006/relationships/image" Target="../media/image93.png"/><Relationship Id="rId5" Type="http://schemas.openxmlformats.org/officeDocument/2006/relationships/image" Target="../media/image94.png"/><Relationship Id="rId6" Type="http://schemas.openxmlformats.org/officeDocument/2006/relationships/image" Target="../media/image95.png"/><Relationship Id="rId7" Type="http://schemas.openxmlformats.org/officeDocument/2006/relationships/image" Target="../media/image96.png"/><Relationship Id="rId8" Type="http://schemas.openxmlformats.org/officeDocument/2006/relationships/image" Target="../media/image97.png"/><Relationship Id="rId9" Type="http://schemas.openxmlformats.org/officeDocument/2006/relationships/image" Target="../media/image98.png"/><Relationship Id="rId10" Type="http://schemas.openxmlformats.org/officeDocument/2006/relationships/image" Target="../media/image99.png"/><Relationship Id="rId11" Type="http://schemas.openxmlformats.org/officeDocument/2006/relationships/image" Target="../media/image100.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1.png"/><Relationship Id="rId3" Type="http://schemas.openxmlformats.org/officeDocument/2006/relationships/image" Target="../media/image102.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3.png"/><Relationship Id="rId3" Type="http://schemas.openxmlformats.org/officeDocument/2006/relationships/image" Target="../media/image104.png"/><Relationship Id="rId4" Type="http://schemas.openxmlformats.org/officeDocument/2006/relationships/image" Target="../media/image105.png"/><Relationship Id="rId5" Type="http://schemas.openxmlformats.org/officeDocument/2006/relationships/image" Target="../media/image106.png"/><Relationship Id="rId6" Type="http://schemas.openxmlformats.org/officeDocument/2006/relationships/image" Target="../media/image107.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6F8"/>
        </a:solidFill>
        <a:effectLst/>
      </p:bgPr>
    </p:bg>
    <p:spTree>
      <p:nvGrpSpPr>
        <p:cNvPr id="1" name=""/>
        <p:cNvGrpSpPr/>
        <p:nvPr/>
      </p:nvGrpSpPr>
      <p:grpSpPr/>
      <p:pic>
        <p:nvPicPr>
          <p:cNvPr id="2" name="Picture 1" descr="cover_Picture_17.png"/>
          <p:cNvPicPr>
            <a:picLocks noChangeAspect="1"/>
          </p:cNvPicPr>
          <p:nvPr/>
        </p:nvPicPr>
        <p:blipFill>
          <a:blip r:embed="rId2"/>
          <a:stretch>
            <a:fillRect/>
          </a:stretch>
        </p:blipFill>
        <p:spPr>
          <a:xfrm>
            <a:off x="1259128" y="3579876"/>
            <a:ext cx="1641348" cy="1641348"/>
          </a:xfrm>
          <a:prstGeom prst="rect">
            <a:avLst/>
          </a:prstGeom>
        </p:spPr>
      </p:pic>
      <p:cxnSp>
        <p:nvCxnSpPr>
          <p:cNvPr id="3" name="Connector 2"/>
          <p:cNvCxnSpPr/>
          <p:nvPr/>
        </p:nvCxnSpPr>
        <p:spPr>
          <a:xfrm>
            <a:off x="3882908" y="1232428"/>
            <a:ext cx="0" cy="4373209"/>
          </a:xfrm>
          <a:prstGeom prst="line">
            <a:avLst/>
          </a:prstGeom>
          <a:ln w="9525">
            <a:solidFill>
              <a:srgbClr val="F2C6CF"/>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4205874" y="3429000"/>
            <a:ext cx="6268303" cy="0"/>
          </a:xfrm>
          <a:prstGeom prst="line">
            <a:avLst/>
          </a:prstGeom>
          <a:ln w="9525">
            <a:solidFill>
              <a:srgbClr val="F2C6C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206240" y="1805940"/>
            <a:ext cx="7755026" cy="1200607"/>
          </a:xfrm>
          <a:prstGeom prst="rect">
            <a:avLst/>
          </a:prstGeom>
          <a:noFill/>
        </p:spPr>
        <p:txBody>
          <a:bodyPr wrap="square" anchor="t"/>
          <a:lstStyle/>
          <a:p>
            <a:pPr algn="l">
              <a:spcAft>
                <a:spcPts val="400"/>
              </a:spcAft>
            </a:pPr>
            <a:r>
              <a:rPr sz="3600" b="1" i="0">
                <a:solidFill>
                  <a:srgbClr val="1E2D44"/>
                </a:solidFill>
                <a:latin typeface="Karla"/>
              </a:rPr>
              <a:t>Which design elements drive consumer appeal?</a:t>
            </a:r>
          </a:p>
        </p:txBody>
      </p:sp>
      <p:sp>
        <p:nvSpPr>
          <p:cNvPr id="6" name="TextBox 5"/>
          <p:cNvSpPr txBox="1"/>
          <p:nvPr/>
        </p:nvSpPr>
        <p:spPr>
          <a:xfrm>
            <a:off x="4206240" y="3880713"/>
            <a:ext cx="6583680" cy="338328"/>
          </a:xfrm>
          <a:prstGeom prst="rect">
            <a:avLst/>
          </a:prstGeom>
          <a:noFill/>
        </p:spPr>
        <p:txBody>
          <a:bodyPr wrap="square" anchor="t"/>
          <a:lstStyle/>
          <a:p>
            <a:pPr algn="l">
              <a:spcAft>
                <a:spcPts val="400"/>
              </a:spcAft>
            </a:pPr>
            <a:r>
              <a:rPr sz="1600" b="0" i="0">
                <a:solidFill>
                  <a:srgbClr val="1E2D44"/>
                </a:solidFill>
                <a:latin typeface="Karla"/>
              </a:rPr>
              <a:t>Consumer Product Packaging Study Appeal Report  |  October 2026</a:t>
            </a:r>
          </a:p>
        </p:txBody>
      </p:sp>
      <p:sp>
        <p:nvSpPr>
          <p:cNvPr id="7" name="TextBox 6"/>
          <p:cNvSpPr txBox="1"/>
          <p:nvPr/>
        </p:nvSpPr>
        <p:spPr>
          <a:xfrm>
            <a:off x="4206240" y="4231843"/>
            <a:ext cx="6986016" cy="338328"/>
          </a:xfrm>
          <a:prstGeom prst="rect">
            <a:avLst/>
          </a:prstGeom>
          <a:noFill/>
        </p:spPr>
        <p:txBody>
          <a:bodyPr wrap="square" anchor="t"/>
          <a:lstStyle/>
          <a:p>
            <a:pPr algn="l">
              <a:spcAft>
                <a:spcPts val="400"/>
              </a:spcAft>
            </a:pPr>
            <a:r>
              <a:rPr sz="1600" b="0" i="0">
                <a:solidFill>
                  <a:srgbClr val="1E2D44"/>
                </a:solidFill>
                <a:latin typeface="Karla"/>
              </a:rPr>
              <a:t>Prepared by: J Brown Fitterman | jbrown@mindgenomicsassociates.com</a:t>
            </a:r>
          </a:p>
        </p:txBody>
      </p:sp>
      <p:sp>
        <p:nvSpPr>
          <p:cNvPr id="8" name="TextBox 7"/>
          <p:cNvSpPr txBox="1"/>
          <p:nvPr/>
        </p:nvSpPr>
        <p:spPr>
          <a:xfrm>
            <a:off x="4206240" y="4582972"/>
            <a:ext cx="3840480" cy="338328"/>
          </a:xfrm>
          <a:prstGeom prst="rect">
            <a:avLst/>
          </a:prstGeom>
          <a:noFill/>
        </p:spPr>
        <p:txBody>
          <a:bodyPr wrap="square" anchor="t"/>
          <a:lstStyle/>
          <a:p>
            <a:pPr algn="l">
              <a:spcAft>
                <a:spcPts val="400"/>
              </a:spcAft>
            </a:pPr>
            <a:r>
              <a:rPr sz="1600" b="0" i="0">
                <a:solidFill>
                  <a:srgbClr val="1E2D44"/>
                </a:solidFill>
                <a:latin typeface="Karla"/>
              </a:rPr>
              <a:t>Mind Genomics Associates, Inc</a:t>
            </a:r>
          </a:p>
        </p:txBody>
      </p:sp>
      <p:sp>
        <p:nvSpPr>
          <p:cNvPr id="9" name="TextBox 8"/>
          <p:cNvSpPr txBox="1"/>
          <p:nvPr/>
        </p:nvSpPr>
        <p:spPr>
          <a:xfrm>
            <a:off x="4206240" y="5222138"/>
            <a:ext cx="7680960" cy="502920"/>
          </a:xfrm>
          <a:prstGeom prst="rect">
            <a:avLst/>
          </a:prstGeom>
          <a:noFill/>
        </p:spPr>
        <p:txBody>
          <a:bodyPr wrap="square" anchor="t"/>
          <a:lstStyle/>
          <a:p>
            <a:pPr algn="l">
              <a:spcAft>
                <a:spcPts val="400"/>
              </a:spcAft>
            </a:pPr>
            <a:r>
              <a:rPr sz="1600" b="0" i="0">
                <a:solidFill>
                  <a:srgbClr val="1E2D44"/>
                </a:solidFill>
                <a:latin typeface="Karla"/>
              </a:rPr>
              <a:t>Consumer Product Packaging Study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6F8"/>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606040"/>
            <a:ext cx="10058400" cy="1005840"/>
          </a:xfrm>
          <a:prstGeom prst="rect">
            <a:avLst/>
          </a:prstGeom>
          <a:noFill/>
        </p:spPr>
        <p:txBody>
          <a:bodyPr wrap="square" anchor="t"/>
          <a:lstStyle/>
          <a:p>
            <a:pPr algn="l">
              <a:spcAft>
                <a:spcPts val="400"/>
              </a:spcAft>
            </a:pPr>
            <a:r>
              <a:rPr sz="5400" b="1" i="0">
                <a:solidFill>
                  <a:srgbClr val="1E2D44"/>
                </a:solidFill>
                <a:latin typeface="Karla"/>
              </a:rPr>
              <a:t>Inputs</a:t>
            </a:r>
          </a:p>
        </p:txBody>
      </p:sp>
      <p:sp>
        <p:nvSpPr>
          <p:cNvPr id="4" name="Rectangle 3"/>
          <p:cNvSpPr/>
          <p:nvPr/>
        </p:nvSpPr>
        <p:spPr>
          <a:xfrm>
            <a:off x="822960" y="3794760"/>
            <a:ext cx="1280160" cy="5486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56616" cy="6858000"/>
          </a:xfrm>
          <a:prstGeom prst="rect">
            <a:avLst/>
          </a:prstGeom>
          <a:solidFill>
            <a:srgbClr val="F3C9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75488"/>
            <a:ext cx="10698480" cy="502920"/>
          </a:xfrm>
          <a:prstGeom prst="rect">
            <a:avLst/>
          </a:prstGeom>
          <a:noFill/>
        </p:spPr>
        <p:txBody>
          <a:bodyPr wrap="square" anchor="t" lIns="0" rIns="0" tIns="0" bIns="0"/>
          <a:lstStyle/>
          <a:p>
            <a:pPr algn="l">
              <a:spcBef>
                <a:spcPts val="0"/>
              </a:spcBef>
              <a:spcAft>
                <a:spcPts val="0"/>
              </a:spcAft>
            </a:pPr>
            <a:r>
              <a:rPr sz="3400" b="1" i="0">
                <a:solidFill>
                  <a:srgbClr val="172238"/>
                </a:solidFill>
                <a:latin typeface="Karla"/>
              </a:rPr>
              <a:t>The study in this report</a:t>
            </a:r>
          </a:p>
        </p:txBody>
      </p:sp>
      <p:cxnSp>
        <p:nvCxnSpPr>
          <p:cNvPr id="4" name="Connector 3"/>
          <p:cNvCxnSpPr/>
          <p:nvPr/>
        </p:nvCxnSpPr>
        <p:spPr>
          <a:xfrm>
            <a:off x="658368" y="1097280"/>
            <a:ext cx="1261871" cy="0"/>
          </a:xfrm>
          <a:prstGeom prst="line">
            <a:avLst/>
          </a:prstGeom>
          <a:ln w="17780">
            <a:solidFill>
              <a:srgbClr val="F3C9D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58368" y="1353312"/>
            <a:ext cx="9144000" cy="292608"/>
          </a:xfrm>
          <a:prstGeom prst="rect">
            <a:avLst/>
          </a:prstGeom>
          <a:noFill/>
        </p:spPr>
        <p:txBody>
          <a:bodyPr wrap="square" anchor="t" lIns="0" rIns="0" tIns="0" bIns="0"/>
          <a:lstStyle/>
          <a:p>
            <a:pPr algn="l">
              <a:spcBef>
                <a:spcPts val="0"/>
              </a:spcBef>
              <a:spcAft>
                <a:spcPts val="0"/>
              </a:spcAft>
            </a:pPr>
            <a:r>
              <a:rPr sz="1550" b="0" i="1">
                <a:solidFill>
                  <a:srgbClr val="172238"/>
                </a:solidFill>
                <a:latin typeface="Karla"/>
              </a:rPr>
              <a:t>Scores in the pages that follow come from this file.</a:t>
            </a:r>
          </a:p>
        </p:txBody>
      </p:sp>
      <p:sp>
        <p:nvSpPr>
          <p:cNvPr id="6" name="Rounded Rectangle 5"/>
          <p:cNvSpPr/>
          <p:nvPr/>
        </p:nvSpPr>
        <p:spPr>
          <a:xfrm>
            <a:off x="804672" y="1847088"/>
            <a:ext cx="10561320" cy="2103120"/>
          </a:xfrm>
          <a:prstGeom prst="roundRect">
            <a:avLst>
              <a:gd name="adj" fmla="val 2600"/>
            </a:avLst>
          </a:prstGeom>
          <a:solidFill>
            <a:srgbClr val="FB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04672" y="1847088"/>
            <a:ext cx="10561320" cy="12801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24712" y="2212848"/>
            <a:ext cx="9921240" cy="777240"/>
          </a:xfrm>
          <a:prstGeom prst="rect">
            <a:avLst/>
          </a:prstGeom>
          <a:noFill/>
        </p:spPr>
        <p:txBody>
          <a:bodyPr wrap="square" anchor="t" lIns="0" rIns="0" tIns="0" bIns="0"/>
          <a:lstStyle/>
          <a:p>
            <a:pPr algn="l">
              <a:spcBef>
                <a:spcPts val="0"/>
              </a:spcBef>
              <a:spcAft>
                <a:spcPts val="0"/>
              </a:spcAft>
            </a:pPr>
            <a:r>
              <a:rPr sz="2200" b="1" i="0">
                <a:solidFill>
                  <a:srgbClr val="172238"/>
                </a:solidFill>
                <a:latin typeface="Karla"/>
              </a:rPr>
              <a:t>Consumer Product Packaging Study</a:t>
            </a:r>
          </a:p>
        </p:txBody>
      </p:sp>
      <p:sp>
        <p:nvSpPr>
          <p:cNvPr id="9" name="TextBox 8"/>
          <p:cNvSpPr txBox="1"/>
          <p:nvPr/>
        </p:nvSpPr>
        <p:spPr>
          <a:xfrm>
            <a:off x="1124712" y="3054096"/>
            <a:ext cx="9921240" cy="292608"/>
          </a:xfrm>
          <a:prstGeom prst="rect">
            <a:avLst/>
          </a:prstGeom>
          <a:noFill/>
        </p:spPr>
        <p:txBody>
          <a:bodyPr wrap="square" anchor="t" lIns="0" rIns="0" tIns="0" bIns="0"/>
          <a:lstStyle/>
          <a:p>
            <a:pPr algn="l">
              <a:spcBef>
                <a:spcPts val="0"/>
              </a:spcBef>
              <a:spcAft>
                <a:spcPts val="0"/>
              </a:spcAft>
            </a:pPr>
            <a:r>
              <a:rPr sz="1500" b="0" i="0">
                <a:solidFill>
                  <a:srgbClr val="172238"/>
                </a:solidFill>
                <a:latin typeface="Karla"/>
              </a:rPr>
              <a:t>6 silos  ·  47 elements</a:t>
            </a:r>
          </a:p>
        </p:txBody>
      </p:sp>
      <p:sp>
        <p:nvSpPr>
          <p:cNvPr id="10" name="TextBox 9"/>
          <p:cNvSpPr txBox="1"/>
          <p:nvPr/>
        </p:nvSpPr>
        <p:spPr>
          <a:xfrm>
            <a:off x="1124712" y="3419856"/>
            <a:ext cx="9921240" cy="274320"/>
          </a:xfrm>
          <a:prstGeom prst="rect">
            <a:avLst/>
          </a:prstGeom>
          <a:noFill/>
        </p:spPr>
        <p:txBody>
          <a:bodyPr wrap="square" anchor="t" lIns="0" rIns="0" tIns="0" bIns="0"/>
          <a:lstStyle/>
          <a:p>
            <a:pPr algn="l">
              <a:spcBef>
                <a:spcPts val="0"/>
              </a:spcBef>
              <a:spcAft>
                <a:spcPts val="0"/>
              </a:spcAft>
            </a:pPr>
            <a:r>
              <a:rPr sz="1400" b="0" i="0">
                <a:solidFill>
                  <a:srgbClr val="04746E"/>
                </a:solidFill>
                <a:latin typeface="Karla"/>
              </a:rPr>
              <a:t>150 respondents</a:t>
            </a:r>
          </a:p>
        </p:txBody>
      </p:sp>
      <p:sp>
        <p:nvSpPr>
          <p:cNvPr id="11" name="Rectangle 10"/>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n=150 respondents.  Top-2 Box model (ratings 4–5): element lifts show movement above or below the model baseline.</a:t>
            </a:r>
          </a:p>
        </p:txBody>
      </p:sp>
      <p:sp>
        <p:nvSpPr>
          <p:cNvPr id="13" name="TextBox 12"/>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56616" cy="6858000"/>
          </a:xfrm>
          <a:prstGeom prst="rect">
            <a:avLst/>
          </a:prstGeom>
          <a:solidFill>
            <a:srgbClr val="F3C9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38912"/>
            <a:ext cx="10515600" cy="475488"/>
          </a:xfrm>
          <a:prstGeom prst="rect">
            <a:avLst/>
          </a:prstGeom>
          <a:noFill/>
        </p:spPr>
        <p:txBody>
          <a:bodyPr wrap="square" anchor="t" lIns="0" rIns="0" tIns="0" bIns="0"/>
          <a:lstStyle/>
          <a:p>
            <a:pPr algn="l">
              <a:spcBef>
                <a:spcPts val="0"/>
              </a:spcBef>
              <a:spcAft>
                <a:spcPts val="0"/>
              </a:spcAft>
            </a:pPr>
            <a:r>
              <a:rPr sz="3400" b="1" i="0">
                <a:solidFill>
                  <a:srgbClr val="172238"/>
                </a:solidFill>
                <a:latin typeface="Karla"/>
              </a:rPr>
              <a:t>How the method works</a:t>
            </a:r>
          </a:p>
        </p:txBody>
      </p:sp>
      <p:cxnSp>
        <p:nvCxnSpPr>
          <p:cNvPr id="4" name="Connector 3"/>
          <p:cNvCxnSpPr/>
          <p:nvPr/>
        </p:nvCxnSpPr>
        <p:spPr>
          <a:xfrm>
            <a:off x="658368" y="1024128"/>
            <a:ext cx="1261871" cy="0"/>
          </a:xfrm>
          <a:prstGeom prst="line">
            <a:avLst/>
          </a:prstGeom>
          <a:ln w="17780">
            <a:solidFill>
              <a:srgbClr val="F3C9D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58368" y="1170432"/>
            <a:ext cx="10607040" cy="292608"/>
          </a:xfrm>
          <a:prstGeom prst="rect">
            <a:avLst/>
          </a:prstGeom>
          <a:noFill/>
        </p:spPr>
        <p:txBody>
          <a:bodyPr wrap="square" anchor="t" lIns="0" rIns="0" tIns="0" bIns="0"/>
          <a:lstStyle/>
          <a:p>
            <a:pPr algn="l">
              <a:spcBef>
                <a:spcPts val="0"/>
              </a:spcBef>
              <a:spcAft>
                <a:spcPts val="0"/>
              </a:spcAft>
            </a:pPr>
            <a:r>
              <a:rPr sz="1500" b="0" i="1">
                <a:solidFill>
                  <a:srgbClr val="172238"/>
                </a:solidFill>
                <a:latin typeface="Karla"/>
              </a:rPr>
              <a:t>Every respondent sees their own mix of design variations, and we learn what individually moves the appeal score.</a:t>
            </a:r>
          </a:p>
        </p:txBody>
      </p:sp>
      <p:sp>
        <p:nvSpPr>
          <p:cNvPr id="6" name="Rounded Rectangle 5"/>
          <p:cNvSpPr/>
          <p:nvPr/>
        </p:nvSpPr>
        <p:spPr>
          <a:xfrm>
            <a:off x="658368" y="1572768"/>
            <a:ext cx="10881360" cy="804672"/>
          </a:xfrm>
          <a:prstGeom prst="roundRect">
            <a:avLst>
              <a:gd name="adj" fmla="val 8300"/>
            </a:avLst>
          </a:prstGeom>
          <a:solidFill>
            <a:srgbClr val="FB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1682495"/>
            <a:ext cx="585216" cy="585216"/>
          </a:xfrm>
          <a:prstGeom prst="ellipse">
            <a:avLst/>
          </a:prstGeom>
          <a:solidFill>
            <a:srgbClr val="1E2D4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400" b="1">
                <a:solidFill>
                  <a:srgbClr val="FFFFFF"/>
                </a:solidFill>
                <a:latin typeface="Karla"/>
              </a:rPr>
              <a:t>01</a:t>
            </a:r>
          </a:p>
        </p:txBody>
      </p:sp>
      <p:sp>
        <p:nvSpPr>
          <p:cNvPr id="8" name="TextBox 7"/>
          <p:cNvSpPr txBox="1"/>
          <p:nvPr/>
        </p:nvSpPr>
        <p:spPr>
          <a:xfrm>
            <a:off x="1572768" y="1700784"/>
            <a:ext cx="9601200" cy="274320"/>
          </a:xfrm>
          <a:prstGeom prst="rect">
            <a:avLst/>
          </a:prstGeom>
          <a:noFill/>
        </p:spPr>
        <p:txBody>
          <a:bodyPr wrap="square" anchor="t" lIns="0" rIns="0" tIns="0" bIns="0"/>
          <a:lstStyle/>
          <a:p>
            <a:pPr algn="l">
              <a:spcBef>
                <a:spcPts val="0"/>
              </a:spcBef>
              <a:spcAft>
                <a:spcPts val="0"/>
              </a:spcAft>
            </a:pPr>
            <a:r>
              <a:rPr sz="1600" b="1" i="0">
                <a:solidFill>
                  <a:srgbClr val="172238"/>
                </a:solidFill>
                <a:latin typeface="Karla"/>
              </a:rPr>
              <a:t>We slice the design into unique elements</a:t>
            </a:r>
          </a:p>
        </p:txBody>
      </p:sp>
      <p:sp>
        <p:nvSpPr>
          <p:cNvPr id="9" name="TextBox 8"/>
          <p:cNvSpPr txBox="1"/>
          <p:nvPr/>
        </p:nvSpPr>
        <p:spPr>
          <a:xfrm>
            <a:off x="1572768" y="1993392"/>
            <a:ext cx="9601200" cy="274320"/>
          </a:xfrm>
          <a:prstGeom prst="rect">
            <a:avLst/>
          </a:prstGeom>
          <a:noFill/>
        </p:spPr>
        <p:txBody>
          <a:bodyPr wrap="square" anchor="t" lIns="0" rIns="0" tIns="0" bIns="0"/>
          <a:lstStyle/>
          <a:p>
            <a:pPr algn="l">
              <a:spcBef>
                <a:spcPts val="0"/>
              </a:spcBef>
              <a:spcAft>
                <a:spcPts val="0"/>
              </a:spcAft>
            </a:pPr>
            <a:r>
              <a:rPr sz="1300" b="0" i="0">
                <a:solidFill>
                  <a:srgbClr val="172238"/>
                </a:solidFill>
                <a:latin typeface="Karla"/>
              </a:rPr>
              <a:t>Each element is one design choice — A_Background, B_Cookie, C_Claim, D_Logo, E_Flavour, and F_Gluten-free.</a:t>
            </a:r>
          </a:p>
        </p:txBody>
      </p:sp>
      <p:sp>
        <p:nvSpPr>
          <p:cNvPr id="10" name="Rounded Rectangle 9"/>
          <p:cNvSpPr/>
          <p:nvPr/>
        </p:nvSpPr>
        <p:spPr>
          <a:xfrm>
            <a:off x="658368" y="2450591"/>
            <a:ext cx="10881360" cy="804672"/>
          </a:xfrm>
          <a:prstGeom prst="roundRect">
            <a:avLst>
              <a:gd name="adj" fmla="val 8300"/>
            </a:avLst>
          </a:prstGeom>
          <a:solidFill>
            <a:srgbClr val="FB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22960" y="2560320"/>
            <a:ext cx="585216" cy="585216"/>
          </a:xfrm>
          <a:prstGeom prst="ellipse">
            <a:avLst/>
          </a:prstGeom>
          <a:solidFill>
            <a:srgbClr val="1E2D4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400" b="1">
                <a:solidFill>
                  <a:srgbClr val="FFFFFF"/>
                </a:solidFill>
                <a:latin typeface="Karla"/>
              </a:rPr>
              <a:t>02</a:t>
            </a:r>
          </a:p>
        </p:txBody>
      </p:sp>
      <p:sp>
        <p:nvSpPr>
          <p:cNvPr id="12" name="TextBox 11"/>
          <p:cNvSpPr txBox="1"/>
          <p:nvPr/>
        </p:nvSpPr>
        <p:spPr>
          <a:xfrm>
            <a:off x="1572768" y="2578608"/>
            <a:ext cx="9601200" cy="274320"/>
          </a:xfrm>
          <a:prstGeom prst="rect">
            <a:avLst/>
          </a:prstGeom>
          <a:noFill/>
        </p:spPr>
        <p:txBody>
          <a:bodyPr wrap="square" anchor="t" lIns="0" rIns="0" tIns="0" bIns="0"/>
          <a:lstStyle/>
          <a:p>
            <a:pPr algn="l">
              <a:spcBef>
                <a:spcPts val="0"/>
              </a:spcBef>
              <a:spcAft>
                <a:spcPts val="0"/>
              </a:spcAft>
            </a:pPr>
            <a:r>
              <a:rPr sz="1600" b="1" i="0">
                <a:solidFill>
                  <a:srgbClr val="172238"/>
                </a:solidFill>
                <a:latin typeface="Karla"/>
              </a:rPr>
              <a:t>Each element has 4–12 possible variations</a:t>
            </a:r>
          </a:p>
        </p:txBody>
      </p:sp>
      <p:sp>
        <p:nvSpPr>
          <p:cNvPr id="13" name="TextBox 12"/>
          <p:cNvSpPr txBox="1"/>
          <p:nvPr/>
        </p:nvSpPr>
        <p:spPr>
          <a:xfrm>
            <a:off x="1572768" y="2871215"/>
            <a:ext cx="9601200" cy="274320"/>
          </a:xfrm>
          <a:prstGeom prst="rect">
            <a:avLst/>
          </a:prstGeom>
          <a:noFill/>
        </p:spPr>
        <p:txBody>
          <a:bodyPr wrap="square" anchor="t" lIns="0" rIns="0" tIns="0" bIns="0"/>
          <a:lstStyle/>
          <a:p>
            <a:pPr algn="l">
              <a:spcBef>
                <a:spcPts val="0"/>
              </a:spcBef>
              <a:spcAft>
                <a:spcPts val="0"/>
              </a:spcAft>
            </a:pPr>
            <a:r>
              <a:rPr sz="1300" b="0" i="0">
                <a:solidFill>
                  <a:srgbClr val="172238"/>
                </a:solidFill>
                <a:latin typeface="Karla"/>
              </a:rPr>
              <a:t>Like the small choices a designer would make between the options in a silo.</a:t>
            </a:r>
          </a:p>
        </p:txBody>
      </p:sp>
      <p:sp>
        <p:nvSpPr>
          <p:cNvPr id="14" name="Rounded Rectangle 13"/>
          <p:cNvSpPr/>
          <p:nvPr/>
        </p:nvSpPr>
        <p:spPr>
          <a:xfrm>
            <a:off x="658368" y="3328415"/>
            <a:ext cx="10881360" cy="804672"/>
          </a:xfrm>
          <a:prstGeom prst="roundRect">
            <a:avLst>
              <a:gd name="adj" fmla="val 8300"/>
            </a:avLst>
          </a:prstGeom>
          <a:solidFill>
            <a:srgbClr val="FB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22960" y="3438144"/>
            <a:ext cx="585216" cy="585216"/>
          </a:xfrm>
          <a:prstGeom prst="ellipse">
            <a:avLst/>
          </a:prstGeom>
          <a:solidFill>
            <a:srgbClr val="1E2D4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400" b="1">
                <a:solidFill>
                  <a:srgbClr val="FFFFFF"/>
                </a:solidFill>
                <a:latin typeface="Karla"/>
              </a:rPr>
              <a:t>03</a:t>
            </a:r>
          </a:p>
        </p:txBody>
      </p:sp>
      <p:sp>
        <p:nvSpPr>
          <p:cNvPr id="16" name="TextBox 15"/>
          <p:cNvSpPr txBox="1"/>
          <p:nvPr/>
        </p:nvSpPr>
        <p:spPr>
          <a:xfrm>
            <a:off x="1572768" y="3456432"/>
            <a:ext cx="9601200" cy="274320"/>
          </a:xfrm>
          <a:prstGeom prst="rect">
            <a:avLst/>
          </a:prstGeom>
          <a:noFill/>
        </p:spPr>
        <p:txBody>
          <a:bodyPr wrap="square" anchor="t" lIns="0" rIns="0" tIns="0" bIns="0"/>
          <a:lstStyle/>
          <a:p>
            <a:pPr algn="l">
              <a:spcBef>
                <a:spcPts val="0"/>
              </a:spcBef>
              <a:spcAft>
                <a:spcPts val="0"/>
              </a:spcAft>
            </a:pPr>
            <a:r>
              <a:rPr sz="1600" b="1" i="0">
                <a:solidFill>
                  <a:srgbClr val="172238"/>
                </a:solidFill>
                <a:latin typeface="Karla"/>
              </a:rPr>
              <a:t>Each respondent sees a set of pack designs</a:t>
            </a:r>
          </a:p>
        </p:txBody>
      </p:sp>
      <p:sp>
        <p:nvSpPr>
          <p:cNvPr id="17" name="TextBox 16"/>
          <p:cNvSpPr txBox="1"/>
          <p:nvPr/>
        </p:nvSpPr>
        <p:spPr>
          <a:xfrm>
            <a:off x="1572768" y="3749039"/>
            <a:ext cx="9601200" cy="274320"/>
          </a:xfrm>
          <a:prstGeom prst="rect">
            <a:avLst/>
          </a:prstGeom>
          <a:noFill/>
        </p:spPr>
        <p:txBody>
          <a:bodyPr wrap="square" anchor="t" lIns="0" rIns="0" tIns="0" bIns="0"/>
          <a:lstStyle/>
          <a:p>
            <a:pPr algn="l">
              <a:spcBef>
                <a:spcPts val="0"/>
              </a:spcBef>
              <a:spcAft>
                <a:spcPts val="0"/>
              </a:spcAft>
            </a:pPr>
            <a:r>
              <a:rPr sz="1300" b="0" i="0">
                <a:solidFill>
                  <a:srgbClr val="172238"/>
                </a:solidFill>
                <a:latin typeface="Karla"/>
              </a:rPr>
              <a:t>Each pack is a unique combination of variations — never quite the same as anyone else’s.</a:t>
            </a:r>
          </a:p>
        </p:txBody>
      </p:sp>
      <p:sp>
        <p:nvSpPr>
          <p:cNvPr id="18" name="Rounded Rectangle 17"/>
          <p:cNvSpPr/>
          <p:nvPr/>
        </p:nvSpPr>
        <p:spPr>
          <a:xfrm>
            <a:off x="658368" y="4206240"/>
            <a:ext cx="10881360" cy="804672"/>
          </a:xfrm>
          <a:prstGeom prst="roundRect">
            <a:avLst>
              <a:gd name="adj" fmla="val 8300"/>
            </a:avLst>
          </a:prstGeom>
          <a:solidFill>
            <a:srgbClr val="FB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2960" y="4315968"/>
            <a:ext cx="585216" cy="585216"/>
          </a:xfrm>
          <a:prstGeom prst="ellipse">
            <a:avLst/>
          </a:prstGeom>
          <a:solidFill>
            <a:srgbClr val="1E2D4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400" b="1">
                <a:solidFill>
                  <a:srgbClr val="FFFFFF"/>
                </a:solidFill>
                <a:latin typeface="Karla"/>
              </a:rPr>
              <a:t>04</a:t>
            </a:r>
          </a:p>
        </p:txBody>
      </p:sp>
      <p:sp>
        <p:nvSpPr>
          <p:cNvPr id="20" name="TextBox 19"/>
          <p:cNvSpPr txBox="1"/>
          <p:nvPr/>
        </p:nvSpPr>
        <p:spPr>
          <a:xfrm>
            <a:off x="1572768" y="4334255"/>
            <a:ext cx="9601200" cy="274320"/>
          </a:xfrm>
          <a:prstGeom prst="rect">
            <a:avLst/>
          </a:prstGeom>
          <a:noFill/>
        </p:spPr>
        <p:txBody>
          <a:bodyPr wrap="square" anchor="t" lIns="0" rIns="0" tIns="0" bIns="0"/>
          <a:lstStyle/>
          <a:p>
            <a:pPr algn="l">
              <a:spcBef>
                <a:spcPts val="0"/>
              </a:spcBef>
              <a:spcAft>
                <a:spcPts val="0"/>
              </a:spcAft>
            </a:pPr>
            <a:r>
              <a:rPr sz="1600" b="1" i="0">
                <a:solidFill>
                  <a:srgbClr val="172238"/>
                </a:solidFill>
                <a:latin typeface="Karla"/>
              </a:rPr>
              <a:t>They rate each one</a:t>
            </a:r>
          </a:p>
        </p:txBody>
      </p:sp>
      <p:sp>
        <p:nvSpPr>
          <p:cNvPr id="21" name="TextBox 20"/>
          <p:cNvSpPr txBox="1"/>
          <p:nvPr/>
        </p:nvSpPr>
        <p:spPr>
          <a:xfrm>
            <a:off x="1572768" y="4626864"/>
            <a:ext cx="9601200" cy="274320"/>
          </a:xfrm>
          <a:prstGeom prst="rect">
            <a:avLst/>
          </a:prstGeom>
          <a:noFill/>
        </p:spPr>
        <p:txBody>
          <a:bodyPr wrap="square" anchor="t" lIns="0" rIns="0" tIns="0" bIns="0"/>
          <a:lstStyle/>
          <a:p>
            <a:pPr algn="l">
              <a:spcBef>
                <a:spcPts val="0"/>
              </a:spcBef>
              <a:spcAft>
                <a:spcPts val="0"/>
              </a:spcAft>
            </a:pPr>
            <a:r>
              <a:rPr sz="1300" b="0" i="0">
                <a:solidFill>
                  <a:srgbClr val="172238"/>
                </a:solidFill>
                <a:latin typeface="Karla"/>
              </a:rPr>
              <a:t>The same rating scale is used on every task. The variation does the work.</a:t>
            </a:r>
          </a:p>
        </p:txBody>
      </p:sp>
      <p:sp>
        <p:nvSpPr>
          <p:cNvPr id="22" name="Rounded Rectangle 21"/>
          <p:cNvSpPr/>
          <p:nvPr/>
        </p:nvSpPr>
        <p:spPr>
          <a:xfrm>
            <a:off x="658368" y="5084064"/>
            <a:ext cx="10881360" cy="804672"/>
          </a:xfrm>
          <a:prstGeom prst="roundRect">
            <a:avLst>
              <a:gd name="adj" fmla="val 8300"/>
            </a:avLst>
          </a:prstGeom>
          <a:solidFill>
            <a:srgbClr val="FB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22960" y="5193792"/>
            <a:ext cx="585216" cy="585216"/>
          </a:xfrm>
          <a:prstGeom prst="ellipse">
            <a:avLst/>
          </a:prstGeom>
          <a:solidFill>
            <a:srgbClr val="1E2D4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400" b="1">
                <a:solidFill>
                  <a:srgbClr val="FFFFFF"/>
                </a:solidFill>
                <a:latin typeface="Karla"/>
              </a:rPr>
              <a:t>05</a:t>
            </a:r>
          </a:p>
        </p:txBody>
      </p:sp>
      <p:sp>
        <p:nvSpPr>
          <p:cNvPr id="24" name="TextBox 23"/>
          <p:cNvSpPr txBox="1"/>
          <p:nvPr/>
        </p:nvSpPr>
        <p:spPr>
          <a:xfrm>
            <a:off x="1572768" y="5212079"/>
            <a:ext cx="9601200" cy="274320"/>
          </a:xfrm>
          <a:prstGeom prst="rect">
            <a:avLst/>
          </a:prstGeom>
          <a:noFill/>
        </p:spPr>
        <p:txBody>
          <a:bodyPr wrap="square" anchor="t" lIns="0" rIns="0" tIns="0" bIns="0"/>
          <a:lstStyle/>
          <a:p>
            <a:pPr algn="l">
              <a:spcBef>
                <a:spcPts val="0"/>
              </a:spcBef>
              <a:spcAft>
                <a:spcPts val="0"/>
              </a:spcAft>
            </a:pPr>
            <a:r>
              <a:rPr sz="1600" b="1" i="0">
                <a:solidFill>
                  <a:srgbClr val="172238"/>
                </a:solidFill>
                <a:latin typeface="Karla"/>
              </a:rPr>
              <a:t>We learn what drives the rating</a:t>
            </a:r>
          </a:p>
        </p:txBody>
      </p:sp>
      <p:sp>
        <p:nvSpPr>
          <p:cNvPr id="25" name="TextBox 24"/>
          <p:cNvSpPr txBox="1"/>
          <p:nvPr/>
        </p:nvSpPr>
        <p:spPr>
          <a:xfrm>
            <a:off x="1572768" y="5504688"/>
            <a:ext cx="9601200" cy="274320"/>
          </a:xfrm>
          <a:prstGeom prst="rect">
            <a:avLst/>
          </a:prstGeom>
          <a:noFill/>
        </p:spPr>
        <p:txBody>
          <a:bodyPr wrap="square" anchor="t" lIns="0" rIns="0" tIns="0" bIns="0"/>
          <a:lstStyle/>
          <a:p>
            <a:pPr algn="l">
              <a:spcBef>
                <a:spcPts val="0"/>
              </a:spcBef>
              <a:spcAft>
                <a:spcPts val="0"/>
              </a:spcAft>
            </a:pPr>
            <a:r>
              <a:rPr sz="1300" b="0" i="0">
                <a:solidFill>
                  <a:srgbClr val="172238"/>
                </a:solidFill>
                <a:latin typeface="Karla"/>
              </a:rPr>
              <a:t>The model separates the baseline from the movement each element creates, on its own.</a:t>
            </a:r>
          </a:p>
        </p:txBody>
      </p:sp>
      <p:sp>
        <p:nvSpPr>
          <p:cNvPr id="26" name="Rectangle 25"/>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n=150 respondents.  Top-2 Box model (ratings 4–5): element lifts show movement above or below the model baseline.</a:t>
            </a:r>
          </a:p>
        </p:txBody>
      </p:sp>
      <p:sp>
        <p:nvSpPr>
          <p:cNvPr id="28" name="TextBox 27"/>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84048" cy="6858000"/>
          </a:xfrm>
          <a:prstGeom prst="rect">
            <a:avLst/>
          </a:prstGeom>
          <a:solidFill>
            <a:srgbClr val="EBC6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38912"/>
            <a:ext cx="9144000" cy="475488"/>
          </a:xfrm>
          <a:prstGeom prst="rect">
            <a:avLst/>
          </a:prstGeom>
          <a:noFill/>
        </p:spPr>
        <p:txBody>
          <a:bodyPr wrap="square" anchor="t" lIns="0" rIns="0" tIns="0" bIns="0"/>
          <a:lstStyle/>
          <a:p>
            <a:pPr algn="l">
              <a:spcBef>
                <a:spcPts val="0"/>
              </a:spcBef>
              <a:spcAft>
                <a:spcPts val="0"/>
              </a:spcAft>
            </a:pPr>
            <a:r>
              <a:rPr sz="3400" b="1" i="0">
                <a:solidFill>
                  <a:srgbClr val="1E2D44"/>
                </a:solidFill>
                <a:latin typeface="Karla"/>
              </a:rPr>
              <a:t>Design elements</a:t>
            </a:r>
          </a:p>
        </p:txBody>
      </p:sp>
      <p:sp>
        <p:nvSpPr>
          <p:cNvPr id="4" name="TextBox 3"/>
          <p:cNvSpPr txBox="1"/>
          <p:nvPr/>
        </p:nvSpPr>
        <p:spPr>
          <a:xfrm>
            <a:off x="640080" y="1024128"/>
            <a:ext cx="9144000" cy="256032"/>
          </a:xfrm>
          <a:prstGeom prst="rect">
            <a:avLst/>
          </a:prstGeom>
          <a:noFill/>
        </p:spPr>
        <p:txBody>
          <a:bodyPr wrap="square" anchor="t" lIns="0" rIns="0" tIns="0" bIns="0"/>
          <a:lstStyle/>
          <a:p>
            <a:pPr algn="l">
              <a:spcBef>
                <a:spcPts val="0"/>
              </a:spcBef>
              <a:spcAft>
                <a:spcPts val="0"/>
              </a:spcAft>
            </a:pPr>
            <a:r>
              <a:rPr sz="1400" b="0" i="0">
                <a:solidFill>
                  <a:srgbClr val="626F7B"/>
                </a:solidFill>
                <a:latin typeface="Karla"/>
              </a:rPr>
              <a:t>6 design silos, 47 element variations in total.</a:t>
            </a:r>
          </a:p>
        </p:txBody>
      </p:sp>
      <p:sp>
        <p:nvSpPr>
          <p:cNvPr id="5" name="Rectangle 4"/>
          <p:cNvSpPr/>
          <p:nvPr/>
        </p:nvSpPr>
        <p:spPr>
          <a:xfrm>
            <a:off x="640080" y="1444752"/>
            <a:ext cx="2542032" cy="100584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44752"/>
            <a:ext cx="91440" cy="1005840"/>
          </a:xfrm>
          <a:prstGeom prst="rect">
            <a:avLst/>
          </a:prstGeom>
          <a:solidFill>
            <a:srgbClr val="007B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1" y="1536192"/>
            <a:ext cx="384048" cy="384048"/>
          </a:xfrm>
          <a:prstGeom prst="rect">
            <a:avLst/>
          </a:prstGeom>
          <a:noFill/>
        </p:spPr>
        <p:txBody>
          <a:bodyPr wrap="square" anchor="t" lIns="0" rIns="0" tIns="0" bIns="0"/>
          <a:lstStyle/>
          <a:p>
            <a:pPr algn="l">
              <a:spcBef>
                <a:spcPts val="0"/>
              </a:spcBef>
              <a:spcAft>
                <a:spcPts val="0"/>
              </a:spcAft>
            </a:pPr>
            <a:r>
              <a:rPr sz="2600" b="1" i="0">
                <a:solidFill>
                  <a:srgbClr val="007B7F"/>
                </a:solidFill>
                <a:latin typeface="Karla"/>
              </a:rPr>
              <a:t>A</a:t>
            </a:r>
          </a:p>
        </p:txBody>
      </p:sp>
      <p:sp>
        <p:nvSpPr>
          <p:cNvPr id="8" name="TextBox 7"/>
          <p:cNvSpPr txBox="1"/>
          <p:nvPr/>
        </p:nvSpPr>
        <p:spPr>
          <a:xfrm>
            <a:off x="1207007" y="1591056"/>
            <a:ext cx="1536192" cy="256032"/>
          </a:xfrm>
          <a:prstGeom prst="rect">
            <a:avLst/>
          </a:prstGeom>
          <a:noFill/>
        </p:spPr>
        <p:txBody>
          <a:bodyPr wrap="none" anchor="t" lIns="0" rIns="0" tIns="0" bIns="0"/>
          <a:lstStyle/>
          <a:p>
            <a:pPr algn="l">
              <a:spcBef>
                <a:spcPts val="0"/>
              </a:spcBef>
              <a:spcAft>
                <a:spcPts val="0"/>
              </a:spcAft>
            </a:pPr>
            <a:r>
              <a:rPr sz="1300" b="1" i="0">
                <a:solidFill>
                  <a:srgbClr val="1E2D44"/>
                </a:solidFill>
                <a:latin typeface="Karla"/>
              </a:rPr>
              <a:t>A_Background</a:t>
            </a:r>
          </a:p>
        </p:txBody>
      </p:sp>
      <p:sp>
        <p:nvSpPr>
          <p:cNvPr id="9" name="TextBox 8"/>
          <p:cNvSpPr txBox="1"/>
          <p:nvPr/>
        </p:nvSpPr>
        <p:spPr>
          <a:xfrm>
            <a:off x="2743199" y="1591056"/>
            <a:ext cx="329184" cy="256032"/>
          </a:xfrm>
          <a:prstGeom prst="rect">
            <a:avLst/>
          </a:prstGeom>
          <a:noFill/>
        </p:spPr>
        <p:txBody>
          <a:bodyPr wrap="square" anchor="t" lIns="0" rIns="0" tIns="0" bIns="0"/>
          <a:lstStyle/>
          <a:p>
            <a:pPr algn="r">
              <a:spcBef>
                <a:spcPts val="0"/>
              </a:spcBef>
              <a:spcAft>
                <a:spcPts val="0"/>
              </a:spcAft>
            </a:pPr>
            <a:r>
              <a:rPr sz="1400" b="1" i="0">
                <a:solidFill>
                  <a:srgbClr val="626F7B"/>
                </a:solidFill>
                <a:latin typeface="Karla"/>
              </a:rPr>
              <a:t>12</a:t>
            </a:r>
          </a:p>
        </p:txBody>
      </p:sp>
      <p:sp>
        <p:nvSpPr>
          <p:cNvPr id="10" name="TextBox 9"/>
          <p:cNvSpPr txBox="1"/>
          <p:nvPr/>
        </p:nvSpPr>
        <p:spPr>
          <a:xfrm>
            <a:off x="804671" y="2029968"/>
            <a:ext cx="2249424" cy="329184"/>
          </a:xfrm>
          <a:prstGeom prst="rect">
            <a:avLst/>
          </a:prstGeom>
          <a:noFill/>
        </p:spPr>
        <p:txBody>
          <a:bodyPr wrap="square" anchor="t" lIns="0" rIns="0" tIns="0" bIns="0"/>
          <a:lstStyle/>
          <a:p>
            <a:pPr algn="l">
              <a:spcBef>
                <a:spcPts val="0"/>
              </a:spcBef>
              <a:spcAft>
                <a:spcPts val="0"/>
              </a:spcAft>
            </a:pPr>
            <a:r>
              <a:rPr sz="1100" b="0" i="0">
                <a:solidFill>
                  <a:srgbClr val="626F7B"/>
                </a:solidFill>
                <a:latin typeface="Karla"/>
              </a:rPr>
              <a:t>A01 D1 Blue Wrapper, +11</a:t>
            </a:r>
          </a:p>
        </p:txBody>
      </p:sp>
      <p:sp>
        <p:nvSpPr>
          <p:cNvPr id="11" name="Rectangle 10"/>
          <p:cNvSpPr/>
          <p:nvPr/>
        </p:nvSpPr>
        <p:spPr>
          <a:xfrm>
            <a:off x="3300983" y="1444752"/>
            <a:ext cx="2542032" cy="100584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00983" y="1444752"/>
            <a:ext cx="91440" cy="1005840"/>
          </a:xfrm>
          <a:prstGeom prst="rect">
            <a:avLst/>
          </a:prstGeom>
          <a:solidFill>
            <a:srgbClr val="007B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65575" y="1536192"/>
            <a:ext cx="384048" cy="384048"/>
          </a:xfrm>
          <a:prstGeom prst="rect">
            <a:avLst/>
          </a:prstGeom>
          <a:noFill/>
        </p:spPr>
        <p:txBody>
          <a:bodyPr wrap="square" anchor="t" lIns="0" rIns="0" tIns="0" bIns="0"/>
          <a:lstStyle/>
          <a:p>
            <a:pPr algn="l">
              <a:spcBef>
                <a:spcPts val="0"/>
              </a:spcBef>
              <a:spcAft>
                <a:spcPts val="0"/>
              </a:spcAft>
            </a:pPr>
            <a:r>
              <a:rPr sz="2600" b="1" i="0">
                <a:solidFill>
                  <a:srgbClr val="007B7F"/>
                </a:solidFill>
                <a:latin typeface="Karla"/>
              </a:rPr>
              <a:t>B</a:t>
            </a:r>
          </a:p>
        </p:txBody>
      </p:sp>
      <p:sp>
        <p:nvSpPr>
          <p:cNvPr id="14" name="TextBox 13"/>
          <p:cNvSpPr txBox="1"/>
          <p:nvPr/>
        </p:nvSpPr>
        <p:spPr>
          <a:xfrm>
            <a:off x="3867911" y="1591056"/>
            <a:ext cx="1536192" cy="256032"/>
          </a:xfrm>
          <a:prstGeom prst="rect">
            <a:avLst/>
          </a:prstGeom>
          <a:noFill/>
        </p:spPr>
        <p:txBody>
          <a:bodyPr wrap="none" anchor="t" lIns="0" rIns="0" tIns="0" bIns="0"/>
          <a:lstStyle/>
          <a:p>
            <a:pPr algn="l">
              <a:spcBef>
                <a:spcPts val="0"/>
              </a:spcBef>
              <a:spcAft>
                <a:spcPts val="0"/>
              </a:spcAft>
            </a:pPr>
            <a:r>
              <a:rPr sz="1300" b="1" i="0">
                <a:solidFill>
                  <a:srgbClr val="1E2D44"/>
                </a:solidFill>
                <a:latin typeface="Karla"/>
              </a:rPr>
              <a:t>B_Cookie</a:t>
            </a:r>
          </a:p>
        </p:txBody>
      </p:sp>
      <p:sp>
        <p:nvSpPr>
          <p:cNvPr id="15" name="TextBox 14"/>
          <p:cNvSpPr txBox="1"/>
          <p:nvPr/>
        </p:nvSpPr>
        <p:spPr>
          <a:xfrm>
            <a:off x="5404103" y="1591056"/>
            <a:ext cx="329184" cy="256032"/>
          </a:xfrm>
          <a:prstGeom prst="rect">
            <a:avLst/>
          </a:prstGeom>
          <a:noFill/>
        </p:spPr>
        <p:txBody>
          <a:bodyPr wrap="square" anchor="t" lIns="0" rIns="0" tIns="0" bIns="0"/>
          <a:lstStyle/>
          <a:p>
            <a:pPr algn="r">
              <a:spcBef>
                <a:spcPts val="0"/>
              </a:spcBef>
              <a:spcAft>
                <a:spcPts val="0"/>
              </a:spcAft>
            </a:pPr>
            <a:r>
              <a:rPr sz="1400" b="1" i="0">
                <a:solidFill>
                  <a:srgbClr val="626F7B"/>
                </a:solidFill>
                <a:latin typeface="Karla"/>
              </a:rPr>
              <a:t>8</a:t>
            </a:r>
          </a:p>
        </p:txBody>
      </p:sp>
      <p:sp>
        <p:nvSpPr>
          <p:cNvPr id="16" name="TextBox 15"/>
          <p:cNvSpPr txBox="1"/>
          <p:nvPr/>
        </p:nvSpPr>
        <p:spPr>
          <a:xfrm>
            <a:off x="3465575" y="2029968"/>
            <a:ext cx="2249424" cy="329184"/>
          </a:xfrm>
          <a:prstGeom prst="rect">
            <a:avLst/>
          </a:prstGeom>
          <a:noFill/>
        </p:spPr>
        <p:txBody>
          <a:bodyPr wrap="square" anchor="t" lIns="0" rIns="0" tIns="0" bIns="0"/>
          <a:lstStyle/>
          <a:p>
            <a:pPr algn="l">
              <a:spcBef>
                <a:spcPts val="0"/>
              </a:spcBef>
              <a:spcAft>
                <a:spcPts val="0"/>
              </a:spcAft>
            </a:pPr>
            <a:r>
              <a:rPr sz="1100" b="0" i="0">
                <a:solidFill>
                  <a:srgbClr val="626F7B"/>
                </a:solidFill>
                <a:latin typeface="Karla"/>
              </a:rPr>
              <a:t>B01 Cookie Chocolate Filling Right Upper D2D3, +7</a:t>
            </a:r>
          </a:p>
        </p:txBody>
      </p:sp>
      <p:sp>
        <p:nvSpPr>
          <p:cNvPr id="17" name="Rectangle 16"/>
          <p:cNvSpPr/>
          <p:nvPr/>
        </p:nvSpPr>
        <p:spPr>
          <a:xfrm>
            <a:off x="5961888" y="1444752"/>
            <a:ext cx="2542032" cy="100584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961888" y="1444752"/>
            <a:ext cx="91440" cy="1005840"/>
          </a:xfrm>
          <a:prstGeom prst="rect">
            <a:avLst/>
          </a:prstGeom>
          <a:solidFill>
            <a:srgbClr val="007B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26479" y="1536192"/>
            <a:ext cx="384048" cy="384048"/>
          </a:xfrm>
          <a:prstGeom prst="rect">
            <a:avLst/>
          </a:prstGeom>
          <a:noFill/>
        </p:spPr>
        <p:txBody>
          <a:bodyPr wrap="square" anchor="t" lIns="0" rIns="0" tIns="0" bIns="0"/>
          <a:lstStyle/>
          <a:p>
            <a:pPr algn="l">
              <a:spcBef>
                <a:spcPts val="0"/>
              </a:spcBef>
              <a:spcAft>
                <a:spcPts val="0"/>
              </a:spcAft>
            </a:pPr>
            <a:r>
              <a:rPr sz="2600" b="1" i="0">
                <a:solidFill>
                  <a:srgbClr val="007B7F"/>
                </a:solidFill>
                <a:latin typeface="Karla"/>
              </a:rPr>
              <a:t>C</a:t>
            </a:r>
          </a:p>
        </p:txBody>
      </p:sp>
      <p:sp>
        <p:nvSpPr>
          <p:cNvPr id="20" name="TextBox 19"/>
          <p:cNvSpPr txBox="1"/>
          <p:nvPr/>
        </p:nvSpPr>
        <p:spPr>
          <a:xfrm>
            <a:off x="6528816" y="1591056"/>
            <a:ext cx="1536192" cy="256032"/>
          </a:xfrm>
          <a:prstGeom prst="rect">
            <a:avLst/>
          </a:prstGeom>
          <a:noFill/>
        </p:spPr>
        <p:txBody>
          <a:bodyPr wrap="none" anchor="t" lIns="0" rIns="0" tIns="0" bIns="0"/>
          <a:lstStyle/>
          <a:p>
            <a:pPr algn="l">
              <a:spcBef>
                <a:spcPts val="0"/>
              </a:spcBef>
              <a:spcAft>
                <a:spcPts val="0"/>
              </a:spcAft>
            </a:pPr>
            <a:r>
              <a:rPr sz="1300" b="1" i="0">
                <a:solidFill>
                  <a:srgbClr val="1E2D44"/>
                </a:solidFill>
                <a:latin typeface="Karla"/>
              </a:rPr>
              <a:t>C_Claim</a:t>
            </a:r>
          </a:p>
        </p:txBody>
      </p:sp>
      <p:sp>
        <p:nvSpPr>
          <p:cNvPr id="21" name="TextBox 20"/>
          <p:cNvSpPr txBox="1"/>
          <p:nvPr/>
        </p:nvSpPr>
        <p:spPr>
          <a:xfrm>
            <a:off x="8065007" y="1591056"/>
            <a:ext cx="329184" cy="256032"/>
          </a:xfrm>
          <a:prstGeom prst="rect">
            <a:avLst/>
          </a:prstGeom>
          <a:noFill/>
        </p:spPr>
        <p:txBody>
          <a:bodyPr wrap="square" anchor="t" lIns="0" rIns="0" tIns="0" bIns="0"/>
          <a:lstStyle/>
          <a:p>
            <a:pPr algn="r">
              <a:spcBef>
                <a:spcPts val="0"/>
              </a:spcBef>
              <a:spcAft>
                <a:spcPts val="0"/>
              </a:spcAft>
            </a:pPr>
            <a:r>
              <a:rPr sz="1400" b="1" i="0">
                <a:solidFill>
                  <a:srgbClr val="626F7B"/>
                </a:solidFill>
                <a:latin typeface="Karla"/>
              </a:rPr>
              <a:t>6</a:t>
            </a:r>
          </a:p>
        </p:txBody>
      </p:sp>
      <p:sp>
        <p:nvSpPr>
          <p:cNvPr id="22" name="TextBox 21"/>
          <p:cNvSpPr txBox="1"/>
          <p:nvPr/>
        </p:nvSpPr>
        <p:spPr>
          <a:xfrm>
            <a:off x="6126479" y="2029968"/>
            <a:ext cx="2249424" cy="329184"/>
          </a:xfrm>
          <a:prstGeom prst="rect">
            <a:avLst/>
          </a:prstGeom>
          <a:noFill/>
        </p:spPr>
        <p:txBody>
          <a:bodyPr wrap="square" anchor="t" lIns="0" rIns="0" tIns="0" bIns="0"/>
          <a:lstStyle/>
          <a:p>
            <a:pPr algn="l">
              <a:spcBef>
                <a:spcPts val="0"/>
              </a:spcBef>
              <a:spcAft>
                <a:spcPts val="0"/>
              </a:spcAft>
            </a:pPr>
            <a:r>
              <a:rPr sz="1100" b="0" i="0">
                <a:solidFill>
                  <a:srgbClr val="626F7B"/>
                </a:solidFill>
                <a:latin typeface="Karla"/>
              </a:rPr>
              <a:t>C01 Claim Full Block Fibrecollagen 33 Protein 20gno Sugar Bottom Centre D2D3, +5</a:t>
            </a:r>
          </a:p>
        </p:txBody>
      </p:sp>
      <p:sp>
        <p:nvSpPr>
          <p:cNvPr id="23" name="Rectangle 22"/>
          <p:cNvSpPr/>
          <p:nvPr/>
        </p:nvSpPr>
        <p:spPr>
          <a:xfrm>
            <a:off x="8622791" y="1444752"/>
            <a:ext cx="2542032" cy="100584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622791" y="1444752"/>
            <a:ext cx="91440" cy="1005840"/>
          </a:xfrm>
          <a:prstGeom prst="rect">
            <a:avLst/>
          </a:prstGeom>
          <a:solidFill>
            <a:srgbClr val="007B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787383" y="1536192"/>
            <a:ext cx="384048" cy="384048"/>
          </a:xfrm>
          <a:prstGeom prst="rect">
            <a:avLst/>
          </a:prstGeom>
          <a:noFill/>
        </p:spPr>
        <p:txBody>
          <a:bodyPr wrap="square" anchor="t" lIns="0" rIns="0" tIns="0" bIns="0"/>
          <a:lstStyle/>
          <a:p>
            <a:pPr algn="l">
              <a:spcBef>
                <a:spcPts val="0"/>
              </a:spcBef>
              <a:spcAft>
                <a:spcPts val="0"/>
              </a:spcAft>
            </a:pPr>
            <a:r>
              <a:rPr sz="2600" b="1" i="0">
                <a:solidFill>
                  <a:srgbClr val="007B7F"/>
                </a:solidFill>
                <a:latin typeface="Karla"/>
              </a:rPr>
              <a:t>D</a:t>
            </a:r>
          </a:p>
        </p:txBody>
      </p:sp>
      <p:sp>
        <p:nvSpPr>
          <p:cNvPr id="26" name="TextBox 25"/>
          <p:cNvSpPr txBox="1"/>
          <p:nvPr/>
        </p:nvSpPr>
        <p:spPr>
          <a:xfrm>
            <a:off x="9189719" y="1591056"/>
            <a:ext cx="1536192" cy="256032"/>
          </a:xfrm>
          <a:prstGeom prst="rect">
            <a:avLst/>
          </a:prstGeom>
          <a:noFill/>
        </p:spPr>
        <p:txBody>
          <a:bodyPr wrap="none" anchor="t" lIns="0" rIns="0" tIns="0" bIns="0"/>
          <a:lstStyle/>
          <a:p>
            <a:pPr algn="l">
              <a:spcBef>
                <a:spcPts val="0"/>
              </a:spcBef>
              <a:spcAft>
                <a:spcPts val="0"/>
              </a:spcAft>
            </a:pPr>
            <a:r>
              <a:rPr sz="1300" b="1" i="0">
                <a:solidFill>
                  <a:srgbClr val="1E2D44"/>
                </a:solidFill>
                <a:latin typeface="Karla"/>
              </a:rPr>
              <a:t>D_Logo</a:t>
            </a:r>
          </a:p>
        </p:txBody>
      </p:sp>
      <p:sp>
        <p:nvSpPr>
          <p:cNvPr id="27" name="TextBox 26"/>
          <p:cNvSpPr txBox="1"/>
          <p:nvPr/>
        </p:nvSpPr>
        <p:spPr>
          <a:xfrm>
            <a:off x="10725911" y="1591056"/>
            <a:ext cx="329184" cy="256032"/>
          </a:xfrm>
          <a:prstGeom prst="rect">
            <a:avLst/>
          </a:prstGeom>
          <a:noFill/>
        </p:spPr>
        <p:txBody>
          <a:bodyPr wrap="square" anchor="t" lIns="0" rIns="0" tIns="0" bIns="0"/>
          <a:lstStyle/>
          <a:p>
            <a:pPr algn="r">
              <a:spcBef>
                <a:spcPts val="0"/>
              </a:spcBef>
              <a:spcAft>
                <a:spcPts val="0"/>
              </a:spcAft>
            </a:pPr>
            <a:r>
              <a:rPr sz="1400" b="1" i="0">
                <a:solidFill>
                  <a:srgbClr val="626F7B"/>
                </a:solidFill>
                <a:latin typeface="Karla"/>
              </a:rPr>
              <a:t>4</a:t>
            </a:r>
          </a:p>
        </p:txBody>
      </p:sp>
      <p:sp>
        <p:nvSpPr>
          <p:cNvPr id="28" name="TextBox 27"/>
          <p:cNvSpPr txBox="1"/>
          <p:nvPr/>
        </p:nvSpPr>
        <p:spPr>
          <a:xfrm>
            <a:off x="8787383" y="2029968"/>
            <a:ext cx="2249424" cy="329184"/>
          </a:xfrm>
          <a:prstGeom prst="rect">
            <a:avLst/>
          </a:prstGeom>
          <a:noFill/>
        </p:spPr>
        <p:txBody>
          <a:bodyPr wrap="square" anchor="t" lIns="0" rIns="0" tIns="0" bIns="0"/>
          <a:lstStyle/>
          <a:p>
            <a:pPr algn="l">
              <a:spcBef>
                <a:spcPts val="0"/>
              </a:spcBef>
              <a:spcAft>
                <a:spcPts val="0"/>
              </a:spcAft>
            </a:pPr>
            <a:r>
              <a:rPr sz="1100" b="0" i="0">
                <a:solidFill>
                  <a:srgbClr val="626F7B"/>
                </a:solidFill>
                <a:latin typeface="Karla"/>
              </a:rPr>
              <a:t>D01 Logo Small Top Left D2, +3</a:t>
            </a:r>
          </a:p>
        </p:txBody>
      </p:sp>
      <p:sp>
        <p:nvSpPr>
          <p:cNvPr id="29" name="Rectangle 28"/>
          <p:cNvSpPr/>
          <p:nvPr/>
        </p:nvSpPr>
        <p:spPr>
          <a:xfrm>
            <a:off x="640080" y="2569464"/>
            <a:ext cx="2542032" cy="100584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40080" y="2569464"/>
            <a:ext cx="91440" cy="1005840"/>
          </a:xfrm>
          <a:prstGeom prst="rect">
            <a:avLst/>
          </a:prstGeom>
          <a:solidFill>
            <a:srgbClr val="007B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4671" y="2660904"/>
            <a:ext cx="384048" cy="384048"/>
          </a:xfrm>
          <a:prstGeom prst="rect">
            <a:avLst/>
          </a:prstGeom>
          <a:noFill/>
        </p:spPr>
        <p:txBody>
          <a:bodyPr wrap="square" anchor="t" lIns="0" rIns="0" tIns="0" bIns="0"/>
          <a:lstStyle/>
          <a:p>
            <a:pPr algn="l">
              <a:spcBef>
                <a:spcPts val="0"/>
              </a:spcBef>
              <a:spcAft>
                <a:spcPts val="0"/>
              </a:spcAft>
            </a:pPr>
            <a:r>
              <a:rPr sz="2600" b="1" i="0">
                <a:solidFill>
                  <a:srgbClr val="007B7F"/>
                </a:solidFill>
                <a:latin typeface="Karla"/>
              </a:rPr>
              <a:t>E</a:t>
            </a:r>
          </a:p>
        </p:txBody>
      </p:sp>
      <p:sp>
        <p:nvSpPr>
          <p:cNvPr id="32" name="TextBox 31"/>
          <p:cNvSpPr txBox="1"/>
          <p:nvPr/>
        </p:nvSpPr>
        <p:spPr>
          <a:xfrm>
            <a:off x="1207007" y="2715768"/>
            <a:ext cx="1536192" cy="256032"/>
          </a:xfrm>
          <a:prstGeom prst="rect">
            <a:avLst/>
          </a:prstGeom>
          <a:noFill/>
        </p:spPr>
        <p:txBody>
          <a:bodyPr wrap="none" anchor="t" lIns="0" rIns="0" tIns="0" bIns="0"/>
          <a:lstStyle/>
          <a:p>
            <a:pPr algn="l">
              <a:spcBef>
                <a:spcPts val="0"/>
              </a:spcBef>
              <a:spcAft>
                <a:spcPts val="0"/>
              </a:spcAft>
            </a:pPr>
            <a:r>
              <a:rPr sz="1300" b="1" i="0">
                <a:solidFill>
                  <a:srgbClr val="1E2D44"/>
                </a:solidFill>
                <a:latin typeface="Karla"/>
              </a:rPr>
              <a:t>E_Flavour</a:t>
            </a:r>
          </a:p>
        </p:txBody>
      </p:sp>
      <p:sp>
        <p:nvSpPr>
          <p:cNvPr id="33" name="TextBox 32"/>
          <p:cNvSpPr txBox="1"/>
          <p:nvPr/>
        </p:nvSpPr>
        <p:spPr>
          <a:xfrm>
            <a:off x="2743199" y="2715768"/>
            <a:ext cx="329184" cy="256032"/>
          </a:xfrm>
          <a:prstGeom prst="rect">
            <a:avLst/>
          </a:prstGeom>
          <a:noFill/>
        </p:spPr>
        <p:txBody>
          <a:bodyPr wrap="square" anchor="t" lIns="0" rIns="0" tIns="0" bIns="0"/>
          <a:lstStyle/>
          <a:p>
            <a:pPr algn="r">
              <a:spcBef>
                <a:spcPts val="0"/>
              </a:spcBef>
              <a:spcAft>
                <a:spcPts val="0"/>
              </a:spcAft>
            </a:pPr>
            <a:r>
              <a:rPr sz="1400" b="1" i="0">
                <a:solidFill>
                  <a:srgbClr val="626F7B"/>
                </a:solidFill>
                <a:latin typeface="Karla"/>
              </a:rPr>
              <a:t>12</a:t>
            </a:r>
          </a:p>
        </p:txBody>
      </p:sp>
      <p:sp>
        <p:nvSpPr>
          <p:cNvPr id="34" name="TextBox 33"/>
          <p:cNvSpPr txBox="1"/>
          <p:nvPr/>
        </p:nvSpPr>
        <p:spPr>
          <a:xfrm>
            <a:off x="804671" y="3154680"/>
            <a:ext cx="2249424" cy="329184"/>
          </a:xfrm>
          <a:prstGeom prst="rect">
            <a:avLst/>
          </a:prstGeom>
          <a:noFill/>
        </p:spPr>
        <p:txBody>
          <a:bodyPr wrap="square" anchor="t" lIns="0" rIns="0" tIns="0" bIns="0"/>
          <a:lstStyle/>
          <a:p>
            <a:pPr algn="l">
              <a:spcBef>
                <a:spcPts val="0"/>
              </a:spcBef>
              <a:spcAft>
                <a:spcPts val="0"/>
              </a:spcAft>
            </a:pPr>
            <a:r>
              <a:rPr sz="1100" b="0" i="0">
                <a:solidFill>
                  <a:srgbClr val="626F7B"/>
                </a:solidFill>
                <a:latin typeface="Karla"/>
              </a:rPr>
              <a:t>E01 Tripple Chocolate Chip Top Centre Dark Text D2D3 Panel, +11</a:t>
            </a:r>
          </a:p>
        </p:txBody>
      </p:sp>
      <p:sp>
        <p:nvSpPr>
          <p:cNvPr id="35" name="Rectangle 34"/>
          <p:cNvSpPr/>
          <p:nvPr/>
        </p:nvSpPr>
        <p:spPr>
          <a:xfrm>
            <a:off x="3300983" y="2569464"/>
            <a:ext cx="2542032" cy="100584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300983" y="2569464"/>
            <a:ext cx="91440" cy="1005840"/>
          </a:xfrm>
          <a:prstGeom prst="rect">
            <a:avLst/>
          </a:prstGeom>
          <a:solidFill>
            <a:srgbClr val="007B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465575" y="2660904"/>
            <a:ext cx="384048" cy="384048"/>
          </a:xfrm>
          <a:prstGeom prst="rect">
            <a:avLst/>
          </a:prstGeom>
          <a:noFill/>
        </p:spPr>
        <p:txBody>
          <a:bodyPr wrap="square" anchor="t" lIns="0" rIns="0" tIns="0" bIns="0"/>
          <a:lstStyle/>
          <a:p>
            <a:pPr algn="l">
              <a:spcBef>
                <a:spcPts val="0"/>
              </a:spcBef>
              <a:spcAft>
                <a:spcPts val="0"/>
              </a:spcAft>
            </a:pPr>
            <a:r>
              <a:rPr sz="2600" b="1" i="0">
                <a:solidFill>
                  <a:srgbClr val="007B7F"/>
                </a:solidFill>
                <a:latin typeface="Karla"/>
              </a:rPr>
              <a:t>F</a:t>
            </a:r>
          </a:p>
        </p:txBody>
      </p:sp>
      <p:sp>
        <p:nvSpPr>
          <p:cNvPr id="38" name="TextBox 37"/>
          <p:cNvSpPr txBox="1"/>
          <p:nvPr/>
        </p:nvSpPr>
        <p:spPr>
          <a:xfrm>
            <a:off x="3867911" y="2715768"/>
            <a:ext cx="1536192" cy="256032"/>
          </a:xfrm>
          <a:prstGeom prst="rect">
            <a:avLst/>
          </a:prstGeom>
          <a:noFill/>
        </p:spPr>
        <p:txBody>
          <a:bodyPr wrap="none" anchor="t" lIns="0" rIns="0" tIns="0" bIns="0"/>
          <a:lstStyle/>
          <a:p>
            <a:pPr algn="l">
              <a:spcBef>
                <a:spcPts val="0"/>
              </a:spcBef>
              <a:spcAft>
                <a:spcPts val="0"/>
              </a:spcAft>
            </a:pPr>
            <a:r>
              <a:rPr sz="1300" b="1" i="0">
                <a:solidFill>
                  <a:srgbClr val="1E2D44"/>
                </a:solidFill>
                <a:latin typeface="Karla"/>
              </a:rPr>
              <a:t>F_Gluten-free</a:t>
            </a:r>
          </a:p>
        </p:txBody>
      </p:sp>
      <p:sp>
        <p:nvSpPr>
          <p:cNvPr id="39" name="TextBox 38"/>
          <p:cNvSpPr txBox="1"/>
          <p:nvPr/>
        </p:nvSpPr>
        <p:spPr>
          <a:xfrm>
            <a:off x="5404103" y="2715768"/>
            <a:ext cx="329184" cy="256032"/>
          </a:xfrm>
          <a:prstGeom prst="rect">
            <a:avLst/>
          </a:prstGeom>
          <a:noFill/>
        </p:spPr>
        <p:txBody>
          <a:bodyPr wrap="square" anchor="t" lIns="0" rIns="0" tIns="0" bIns="0"/>
          <a:lstStyle/>
          <a:p>
            <a:pPr algn="r">
              <a:spcBef>
                <a:spcPts val="0"/>
              </a:spcBef>
              <a:spcAft>
                <a:spcPts val="0"/>
              </a:spcAft>
            </a:pPr>
            <a:r>
              <a:rPr sz="1400" b="1" i="0">
                <a:solidFill>
                  <a:srgbClr val="626F7B"/>
                </a:solidFill>
                <a:latin typeface="Karla"/>
              </a:rPr>
              <a:t>5</a:t>
            </a:r>
          </a:p>
        </p:txBody>
      </p:sp>
      <p:sp>
        <p:nvSpPr>
          <p:cNvPr id="40" name="TextBox 39"/>
          <p:cNvSpPr txBox="1"/>
          <p:nvPr/>
        </p:nvSpPr>
        <p:spPr>
          <a:xfrm>
            <a:off x="3465575" y="3154680"/>
            <a:ext cx="2249424" cy="329184"/>
          </a:xfrm>
          <a:prstGeom prst="rect">
            <a:avLst/>
          </a:prstGeom>
          <a:noFill/>
        </p:spPr>
        <p:txBody>
          <a:bodyPr wrap="square" anchor="t" lIns="0" rIns="0" tIns="0" bIns="0"/>
          <a:lstStyle/>
          <a:p>
            <a:pPr algn="l">
              <a:spcBef>
                <a:spcPts val="0"/>
              </a:spcBef>
              <a:spcAft>
                <a:spcPts val="0"/>
              </a:spcAft>
            </a:pPr>
            <a:r>
              <a:rPr sz="1100" b="0" i="0">
                <a:solidFill>
                  <a:srgbClr val="626F7B"/>
                </a:solidFill>
                <a:latin typeface="Karla"/>
              </a:rPr>
              <a:t>F01 Gluten Free Badge Dark Bottom Right D2D3, +4</a:t>
            </a:r>
          </a:p>
        </p:txBody>
      </p:sp>
      <p:sp>
        <p:nvSpPr>
          <p:cNvPr id="41" name="TextBox 40"/>
          <p:cNvSpPr txBox="1"/>
          <p:nvPr/>
        </p:nvSpPr>
        <p:spPr>
          <a:xfrm>
            <a:off x="640080" y="6053328"/>
            <a:ext cx="10515600" cy="219456"/>
          </a:xfrm>
          <a:prstGeom prst="rect">
            <a:avLst/>
          </a:prstGeom>
          <a:noFill/>
        </p:spPr>
        <p:txBody>
          <a:bodyPr wrap="square" anchor="t" lIns="0" rIns="0" tIns="0" bIns="0"/>
          <a:lstStyle/>
          <a:p>
            <a:pPr algn="l">
              <a:spcBef>
                <a:spcPts val="0"/>
              </a:spcBef>
              <a:spcAft>
                <a:spcPts val="0"/>
              </a:spcAft>
            </a:pPr>
            <a:r>
              <a:rPr sz="1100" b="0" i="0">
                <a:solidFill>
                  <a:srgbClr val="626F7B"/>
                </a:solidFill>
                <a:latin typeface="Karla"/>
              </a:rPr>
              <a:t>Each card shows the silo letter, the element count, and a sample of the options.</a:t>
            </a:r>
          </a:p>
        </p:txBody>
      </p:sp>
      <p:sp>
        <p:nvSpPr>
          <p:cNvPr id="42" name="Rectangle 41"/>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n=150 respondents.  Top-2 Box model (ratings 4–5): element lifts show movement above or below the model baseline.</a:t>
            </a:r>
          </a:p>
        </p:txBody>
      </p:sp>
      <p:sp>
        <p:nvSpPr>
          <p:cNvPr id="44" name="TextBox 43"/>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56032"/>
            <a:ext cx="10972800" cy="256032"/>
          </a:xfrm>
          <a:prstGeom prst="rect">
            <a:avLst/>
          </a:prstGeom>
          <a:noFill/>
        </p:spPr>
        <p:txBody>
          <a:bodyPr wrap="square" anchor="t"/>
          <a:lstStyle/>
          <a:p>
            <a:pPr algn="l">
              <a:spcAft>
                <a:spcPts val="400"/>
              </a:spcAft>
            </a:pPr>
            <a:r>
              <a:rPr sz="1200" b="1" i="0">
                <a:solidFill>
                  <a:srgbClr val="04746E"/>
                </a:solidFill>
                <a:latin typeface="Karla"/>
              </a:rPr>
              <a:t>WHAT YOU GET BACK</a:t>
            </a:r>
          </a:p>
        </p:txBody>
      </p:sp>
      <p:sp>
        <p:nvSpPr>
          <p:cNvPr id="3" name="TextBox 2"/>
          <p:cNvSpPr txBox="1"/>
          <p:nvPr/>
        </p:nvSpPr>
        <p:spPr>
          <a:xfrm>
            <a:off x="566928" y="658368"/>
            <a:ext cx="10972800" cy="640080"/>
          </a:xfrm>
          <a:prstGeom prst="rect">
            <a:avLst/>
          </a:prstGeom>
          <a:noFill/>
        </p:spPr>
        <p:txBody>
          <a:bodyPr wrap="square" anchor="t"/>
          <a:lstStyle/>
          <a:p>
            <a:pPr algn="l">
              <a:spcAft>
                <a:spcPts val="400"/>
              </a:spcAft>
            </a:pPr>
            <a:r>
              <a:rPr sz="3000" b="1" i="0">
                <a:solidFill>
                  <a:srgbClr val="1E2D44"/>
                </a:solidFill>
                <a:latin typeface="Karla"/>
              </a:rPr>
              <a:t>What design elements drive pack appeal?</a:t>
            </a:r>
          </a:p>
        </p:txBody>
      </p:sp>
      <p:sp>
        <p:nvSpPr>
          <p:cNvPr id="4" name="Rounded Rectangle 3"/>
          <p:cNvSpPr/>
          <p:nvPr/>
        </p:nvSpPr>
        <p:spPr>
          <a:xfrm>
            <a:off x="566928" y="1600200"/>
            <a:ext cx="5486400" cy="1920240"/>
          </a:xfrm>
          <a:prstGeom prst="roundRect">
            <a:avLst>
              <a:gd name="adj" fmla="val 8000"/>
            </a:avLst>
          </a:prstGeom>
          <a:solidFill>
            <a:srgbClr val="F8EA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7" y="1856232"/>
            <a:ext cx="1097280" cy="365760"/>
          </a:xfrm>
          <a:prstGeom prst="rect">
            <a:avLst/>
          </a:prstGeom>
          <a:noFill/>
        </p:spPr>
        <p:txBody>
          <a:bodyPr wrap="square" anchor="t"/>
          <a:lstStyle/>
          <a:p>
            <a:pPr algn="l">
              <a:spcAft>
                <a:spcPts val="400"/>
              </a:spcAft>
            </a:pPr>
            <a:r>
              <a:rPr sz="1800" b="1" i="0">
                <a:solidFill>
                  <a:srgbClr val="04746E"/>
                </a:solidFill>
                <a:latin typeface="Karla"/>
              </a:rPr>
              <a:t>01</a:t>
            </a:r>
          </a:p>
        </p:txBody>
      </p:sp>
      <p:sp>
        <p:nvSpPr>
          <p:cNvPr id="6" name="TextBox 5"/>
          <p:cNvSpPr txBox="1"/>
          <p:nvPr/>
        </p:nvSpPr>
        <p:spPr>
          <a:xfrm>
            <a:off x="841247" y="2286000"/>
            <a:ext cx="4937760" cy="365760"/>
          </a:xfrm>
          <a:prstGeom prst="rect">
            <a:avLst/>
          </a:prstGeom>
          <a:noFill/>
        </p:spPr>
        <p:txBody>
          <a:bodyPr wrap="square" anchor="t"/>
          <a:lstStyle/>
          <a:p>
            <a:pPr algn="l">
              <a:spcAft>
                <a:spcPts val="400"/>
              </a:spcAft>
            </a:pPr>
            <a:r>
              <a:rPr sz="2000" b="1" i="0">
                <a:solidFill>
                  <a:srgbClr val="1E2D44"/>
                </a:solidFill>
                <a:latin typeface="Karla"/>
              </a:rPr>
              <a:t>Per-element scores</a:t>
            </a:r>
          </a:p>
        </p:txBody>
      </p:sp>
      <p:sp>
        <p:nvSpPr>
          <p:cNvPr id="7" name="TextBox 6"/>
          <p:cNvSpPr txBox="1"/>
          <p:nvPr/>
        </p:nvSpPr>
        <p:spPr>
          <a:xfrm>
            <a:off x="841247" y="2743200"/>
            <a:ext cx="4937760" cy="594360"/>
          </a:xfrm>
          <a:prstGeom prst="rect">
            <a:avLst/>
          </a:prstGeom>
          <a:noFill/>
        </p:spPr>
        <p:txBody>
          <a:bodyPr wrap="square" anchor="t"/>
          <a:lstStyle/>
          <a:p>
            <a:pPr algn="l">
              <a:spcAft>
                <a:spcPts val="400"/>
              </a:spcAft>
            </a:pPr>
            <a:r>
              <a:rPr sz="1400" b="0" i="0">
                <a:solidFill>
                  <a:srgbClr val="617086"/>
                </a:solidFill>
                <a:latin typeface="Karla"/>
              </a:rPr>
              <a:t>How much each variation moves the appeal rating, on its own, above or below the baseline.</a:t>
            </a:r>
          </a:p>
        </p:txBody>
      </p:sp>
      <p:sp>
        <p:nvSpPr>
          <p:cNvPr id="8" name="Rounded Rectangle 7"/>
          <p:cNvSpPr/>
          <p:nvPr/>
        </p:nvSpPr>
        <p:spPr>
          <a:xfrm>
            <a:off x="6327648" y="1600200"/>
            <a:ext cx="5486400" cy="1920240"/>
          </a:xfrm>
          <a:prstGeom prst="roundRect">
            <a:avLst>
              <a:gd name="adj" fmla="val 8000"/>
            </a:avLst>
          </a:prstGeom>
          <a:solidFill>
            <a:srgbClr val="F8EA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01968" y="1856232"/>
            <a:ext cx="1097280" cy="365760"/>
          </a:xfrm>
          <a:prstGeom prst="rect">
            <a:avLst/>
          </a:prstGeom>
          <a:noFill/>
        </p:spPr>
        <p:txBody>
          <a:bodyPr wrap="square" anchor="t"/>
          <a:lstStyle/>
          <a:p>
            <a:pPr algn="l">
              <a:spcAft>
                <a:spcPts val="400"/>
              </a:spcAft>
            </a:pPr>
            <a:r>
              <a:rPr sz="1800" b="1" i="0">
                <a:solidFill>
                  <a:srgbClr val="04746E"/>
                </a:solidFill>
                <a:latin typeface="Karla"/>
              </a:rPr>
              <a:t>02</a:t>
            </a:r>
          </a:p>
        </p:txBody>
      </p:sp>
      <p:sp>
        <p:nvSpPr>
          <p:cNvPr id="10" name="TextBox 9"/>
          <p:cNvSpPr txBox="1"/>
          <p:nvPr/>
        </p:nvSpPr>
        <p:spPr>
          <a:xfrm>
            <a:off x="6601968" y="2286000"/>
            <a:ext cx="4937760" cy="365760"/>
          </a:xfrm>
          <a:prstGeom prst="rect">
            <a:avLst/>
          </a:prstGeom>
          <a:noFill/>
        </p:spPr>
        <p:txBody>
          <a:bodyPr wrap="square" anchor="t"/>
          <a:lstStyle/>
          <a:p>
            <a:pPr algn="l">
              <a:spcAft>
                <a:spcPts val="400"/>
              </a:spcAft>
            </a:pPr>
            <a:r>
              <a:rPr sz="2000" b="1" i="0">
                <a:solidFill>
                  <a:srgbClr val="1E2D44"/>
                </a:solidFill>
                <a:latin typeface="Karla"/>
              </a:rPr>
              <a:t>Base appeal</a:t>
            </a:r>
          </a:p>
        </p:txBody>
      </p:sp>
      <p:sp>
        <p:nvSpPr>
          <p:cNvPr id="11" name="TextBox 10"/>
          <p:cNvSpPr txBox="1"/>
          <p:nvPr/>
        </p:nvSpPr>
        <p:spPr>
          <a:xfrm>
            <a:off x="6601968" y="2743200"/>
            <a:ext cx="4937760" cy="594360"/>
          </a:xfrm>
          <a:prstGeom prst="rect">
            <a:avLst/>
          </a:prstGeom>
          <a:noFill/>
        </p:spPr>
        <p:txBody>
          <a:bodyPr wrap="square" anchor="t"/>
          <a:lstStyle/>
          <a:p>
            <a:pPr algn="l">
              <a:spcAft>
                <a:spcPts val="400"/>
              </a:spcAft>
            </a:pPr>
            <a:r>
              <a:rPr sz="1400" b="0" i="0">
                <a:solidFill>
                  <a:srgbClr val="617086"/>
                </a:solidFill>
                <a:latin typeface="Karla"/>
              </a:rPr>
              <a:t>The Top-2 Box intercept. The pack’s starting appeal before a single element is added.</a:t>
            </a:r>
          </a:p>
        </p:txBody>
      </p:sp>
      <p:sp>
        <p:nvSpPr>
          <p:cNvPr id="12" name="Rounded Rectangle 11"/>
          <p:cNvSpPr/>
          <p:nvPr/>
        </p:nvSpPr>
        <p:spPr>
          <a:xfrm>
            <a:off x="566928" y="3749039"/>
            <a:ext cx="5486400" cy="1920240"/>
          </a:xfrm>
          <a:prstGeom prst="roundRect">
            <a:avLst>
              <a:gd name="adj" fmla="val 8000"/>
            </a:avLst>
          </a:prstGeom>
          <a:solidFill>
            <a:srgbClr val="F8EA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7" y="4005072"/>
            <a:ext cx="1097280" cy="365760"/>
          </a:xfrm>
          <a:prstGeom prst="rect">
            <a:avLst/>
          </a:prstGeom>
          <a:noFill/>
        </p:spPr>
        <p:txBody>
          <a:bodyPr wrap="square" anchor="t"/>
          <a:lstStyle/>
          <a:p>
            <a:pPr algn="l">
              <a:spcAft>
                <a:spcPts val="400"/>
              </a:spcAft>
            </a:pPr>
            <a:r>
              <a:rPr sz="1800" b="1" i="0">
                <a:solidFill>
                  <a:srgbClr val="04746E"/>
                </a:solidFill>
                <a:latin typeface="Karla"/>
              </a:rPr>
              <a:t>03</a:t>
            </a:r>
          </a:p>
        </p:txBody>
      </p:sp>
      <p:sp>
        <p:nvSpPr>
          <p:cNvPr id="14" name="TextBox 13"/>
          <p:cNvSpPr txBox="1"/>
          <p:nvPr/>
        </p:nvSpPr>
        <p:spPr>
          <a:xfrm>
            <a:off x="841247" y="4434840"/>
            <a:ext cx="4937760" cy="365760"/>
          </a:xfrm>
          <a:prstGeom prst="rect">
            <a:avLst/>
          </a:prstGeom>
          <a:noFill/>
        </p:spPr>
        <p:txBody>
          <a:bodyPr wrap="square" anchor="t"/>
          <a:lstStyle/>
          <a:p>
            <a:pPr algn="l">
              <a:spcAft>
                <a:spcPts val="400"/>
              </a:spcAft>
            </a:pPr>
            <a:r>
              <a:rPr sz="2000" b="1" i="0">
                <a:solidFill>
                  <a:srgbClr val="1E2D44"/>
                </a:solidFill>
                <a:latin typeface="Karla"/>
              </a:rPr>
              <a:t>Build-up scenarios</a:t>
            </a:r>
          </a:p>
        </p:txBody>
      </p:sp>
      <p:sp>
        <p:nvSpPr>
          <p:cNvPr id="15" name="TextBox 14"/>
          <p:cNvSpPr txBox="1"/>
          <p:nvPr/>
        </p:nvSpPr>
        <p:spPr>
          <a:xfrm>
            <a:off x="841247" y="4892040"/>
            <a:ext cx="4937760" cy="594360"/>
          </a:xfrm>
          <a:prstGeom prst="rect">
            <a:avLst/>
          </a:prstGeom>
          <a:noFill/>
        </p:spPr>
        <p:txBody>
          <a:bodyPr wrap="square" anchor="t"/>
          <a:lstStyle/>
          <a:p>
            <a:pPr algn="l">
              <a:spcAft>
                <a:spcPts val="400"/>
              </a:spcAft>
            </a:pPr>
            <a:r>
              <a:rPr sz="1400" b="0" i="0">
                <a:solidFill>
                  <a:srgbClr val="617086"/>
                </a:solidFill>
                <a:latin typeface="Karla"/>
              </a:rPr>
              <a:t>The strongest option in each group, shown together, against a weaker combination of the same groups.</a:t>
            </a:r>
          </a:p>
        </p:txBody>
      </p:sp>
      <p:sp>
        <p:nvSpPr>
          <p:cNvPr id="16" name="Rounded Rectangle 15"/>
          <p:cNvSpPr/>
          <p:nvPr/>
        </p:nvSpPr>
        <p:spPr>
          <a:xfrm>
            <a:off x="6327648" y="3749039"/>
            <a:ext cx="5486400" cy="1920240"/>
          </a:xfrm>
          <a:prstGeom prst="roundRect">
            <a:avLst>
              <a:gd name="adj" fmla="val 8000"/>
            </a:avLst>
          </a:prstGeom>
          <a:solidFill>
            <a:srgbClr val="F8EA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01968" y="4005072"/>
            <a:ext cx="1097280" cy="365760"/>
          </a:xfrm>
          <a:prstGeom prst="rect">
            <a:avLst/>
          </a:prstGeom>
          <a:noFill/>
        </p:spPr>
        <p:txBody>
          <a:bodyPr wrap="square" anchor="t"/>
          <a:lstStyle/>
          <a:p>
            <a:pPr algn="l">
              <a:spcAft>
                <a:spcPts val="400"/>
              </a:spcAft>
            </a:pPr>
            <a:r>
              <a:rPr sz="1800" b="1" i="0">
                <a:solidFill>
                  <a:srgbClr val="04746E"/>
                </a:solidFill>
                <a:latin typeface="Karla"/>
              </a:rPr>
              <a:t>04</a:t>
            </a:r>
          </a:p>
        </p:txBody>
      </p:sp>
      <p:sp>
        <p:nvSpPr>
          <p:cNvPr id="18" name="TextBox 17"/>
          <p:cNvSpPr txBox="1"/>
          <p:nvPr/>
        </p:nvSpPr>
        <p:spPr>
          <a:xfrm>
            <a:off x="6601968" y="4434840"/>
            <a:ext cx="4937760" cy="365760"/>
          </a:xfrm>
          <a:prstGeom prst="rect">
            <a:avLst/>
          </a:prstGeom>
          <a:noFill/>
        </p:spPr>
        <p:txBody>
          <a:bodyPr wrap="square" anchor="t"/>
          <a:lstStyle/>
          <a:p>
            <a:pPr algn="l">
              <a:spcAft>
                <a:spcPts val="400"/>
              </a:spcAft>
            </a:pPr>
            <a:r>
              <a:rPr sz="2000" b="1" i="0">
                <a:solidFill>
                  <a:srgbClr val="1E2D44"/>
                </a:solidFill>
                <a:latin typeface="Karla"/>
              </a:rPr>
              <a:t>Full lift summary</a:t>
            </a:r>
          </a:p>
        </p:txBody>
      </p:sp>
      <p:sp>
        <p:nvSpPr>
          <p:cNvPr id="19" name="TextBox 18"/>
          <p:cNvSpPr txBox="1"/>
          <p:nvPr/>
        </p:nvSpPr>
        <p:spPr>
          <a:xfrm>
            <a:off x="6601968" y="4892040"/>
            <a:ext cx="4937760" cy="594360"/>
          </a:xfrm>
          <a:prstGeom prst="rect">
            <a:avLst/>
          </a:prstGeom>
          <a:noFill/>
        </p:spPr>
        <p:txBody>
          <a:bodyPr wrap="square" anchor="t"/>
          <a:lstStyle/>
          <a:p>
            <a:pPr algn="l">
              <a:spcAft>
                <a:spcPts val="400"/>
              </a:spcAft>
            </a:pPr>
            <a:r>
              <a:rPr sz="1400" b="0" i="0">
                <a:solidFill>
                  <a:srgbClr val="617086"/>
                </a:solidFill>
                <a:latin typeface="Karla"/>
              </a:rPr>
              <a:t>Every element, in every group, with the same score used in the charts.</a:t>
            </a:r>
          </a:p>
        </p:txBody>
      </p:sp>
      <p:sp>
        <p:nvSpPr>
          <p:cNvPr id="20" name="Rectangle 19"/>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n=150 respondents.  Top-2 Box model (ratings 4–5): element lifts show movement above or below the model baseline.</a:t>
            </a:r>
          </a:p>
        </p:txBody>
      </p:sp>
      <p:sp>
        <p:nvSpPr>
          <p:cNvPr id="22" name="TextBox 21"/>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38328" cy="6858000"/>
          </a:xfrm>
          <a:prstGeom prst="rect">
            <a:avLst/>
          </a:prstGeom>
          <a:solidFill>
            <a:srgbClr val="F2C6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84632" y="347472"/>
            <a:ext cx="11155680" cy="502920"/>
          </a:xfrm>
          <a:prstGeom prst="rect">
            <a:avLst/>
          </a:prstGeom>
          <a:noFill/>
        </p:spPr>
        <p:txBody>
          <a:bodyPr wrap="square" anchor="t" lIns="0" rIns="0" tIns="0" bIns="0"/>
          <a:lstStyle/>
          <a:p>
            <a:pPr algn="l">
              <a:spcBef>
                <a:spcPts val="0"/>
              </a:spcBef>
              <a:spcAft>
                <a:spcPts val="0"/>
              </a:spcAft>
            </a:pPr>
            <a:r>
              <a:rPr sz="2800" b="1" i="0">
                <a:solidFill>
                  <a:srgbClr val="1E2D44"/>
                </a:solidFill>
                <a:latin typeface="Karla"/>
              </a:rPr>
              <a:t>Reading The Scores – What The Coefficients Mean</a:t>
            </a:r>
          </a:p>
        </p:txBody>
      </p:sp>
      <p:cxnSp>
        <p:nvCxnSpPr>
          <p:cNvPr id="4" name="Connector 3"/>
          <p:cNvCxnSpPr/>
          <p:nvPr/>
        </p:nvCxnSpPr>
        <p:spPr>
          <a:xfrm>
            <a:off x="603504" y="896112"/>
            <a:ext cx="1371600" cy="0"/>
          </a:xfrm>
          <a:prstGeom prst="line">
            <a:avLst/>
          </a:prstGeom>
          <a:ln w="15875">
            <a:solidFill>
              <a:srgbClr val="F2C6C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1536192" y="1188720"/>
            <a:ext cx="292608" cy="292608"/>
          </a:xfrm>
          <a:prstGeom prst="ellipse">
            <a:avLst/>
          </a:prstGeom>
          <a:solidFill>
            <a:srgbClr val="1E2D4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FFFFFF"/>
                </a:solidFill>
                <a:latin typeface="Karla"/>
              </a:rPr>
              <a:t>1</a:t>
            </a:r>
          </a:p>
        </p:txBody>
      </p:sp>
      <p:sp>
        <p:nvSpPr>
          <p:cNvPr id="6" name="TextBox 5"/>
          <p:cNvSpPr txBox="1"/>
          <p:nvPr/>
        </p:nvSpPr>
        <p:spPr>
          <a:xfrm>
            <a:off x="1920240" y="1115568"/>
            <a:ext cx="7315200" cy="347472"/>
          </a:xfrm>
          <a:prstGeom prst="rect">
            <a:avLst/>
          </a:prstGeom>
          <a:noFill/>
        </p:spPr>
        <p:txBody>
          <a:bodyPr wrap="square" anchor="t" lIns="0" rIns="0" tIns="0" bIns="0"/>
          <a:lstStyle/>
          <a:p>
            <a:pPr algn="l">
              <a:spcBef>
                <a:spcPts val="0"/>
              </a:spcBef>
              <a:spcAft>
                <a:spcPts val="0"/>
              </a:spcAft>
            </a:pPr>
            <a:r>
              <a:rPr sz="1800" b="1" i="0">
                <a:solidFill>
                  <a:srgbClr val="1E2D44"/>
                </a:solidFill>
                <a:latin typeface="Karla"/>
              </a:rPr>
              <a:t>Element Lift Scores</a:t>
            </a:r>
          </a:p>
        </p:txBody>
      </p:sp>
      <p:sp>
        <p:nvSpPr>
          <p:cNvPr id="7" name="TextBox 6"/>
          <p:cNvSpPr txBox="1"/>
          <p:nvPr/>
        </p:nvSpPr>
        <p:spPr>
          <a:xfrm>
            <a:off x="1920240" y="1499616"/>
            <a:ext cx="6766560" cy="640080"/>
          </a:xfrm>
          <a:prstGeom prst="rect">
            <a:avLst/>
          </a:prstGeom>
          <a:noFill/>
        </p:spPr>
        <p:txBody>
          <a:bodyPr wrap="square" anchor="t" lIns="0" rIns="0" tIns="0" bIns="0"/>
          <a:lstStyle/>
          <a:p>
            <a:pPr algn="l">
              <a:spcBef>
                <a:spcPts val="0"/>
              </a:spcBef>
              <a:spcAft>
                <a:spcPts val="0"/>
              </a:spcAft>
            </a:pPr>
            <a:r>
              <a:rPr sz="1400" b="0" i="0">
                <a:solidFill>
                  <a:srgbClr val="1E2D44"/>
                </a:solidFill>
                <a:latin typeface="Karla"/>
              </a:rPr>
              <a:t>Element lifts show the estimated movement each design choice creates above or below the model baseline.</a:t>
            </a:r>
          </a:p>
        </p:txBody>
      </p:sp>
      <p:sp>
        <p:nvSpPr>
          <p:cNvPr id="8" name="Oval 7"/>
          <p:cNvSpPr/>
          <p:nvPr/>
        </p:nvSpPr>
        <p:spPr>
          <a:xfrm>
            <a:off x="1527048" y="3657600"/>
            <a:ext cx="292608" cy="292608"/>
          </a:xfrm>
          <a:prstGeom prst="ellipse">
            <a:avLst/>
          </a:prstGeom>
          <a:solidFill>
            <a:srgbClr val="1E2D4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FFFFFF"/>
                </a:solidFill>
                <a:latin typeface="Karla"/>
              </a:rPr>
              <a:t>2</a:t>
            </a:r>
          </a:p>
        </p:txBody>
      </p:sp>
      <p:sp>
        <p:nvSpPr>
          <p:cNvPr id="9" name="TextBox 8"/>
          <p:cNvSpPr txBox="1"/>
          <p:nvPr/>
        </p:nvSpPr>
        <p:spPr>
          <a:xfrm>
            <a:off x="1920240" y="3584448"/>
            <a:ext cx="3840480" cy="347472"/>
          </a:xfrm>
          <a:prstGeom prst="rect">
            <a:avLst/>
          </a:prstGeom>
          <a:noFill/>
        </p:spPr>
        <p:txBody>
          <a:bodyPr wrap="square" anchor="t" lIns="0" rIns="0" tIns="0" bIns="0"/>
          <a:lstStyle/>
          <a:p>
            <a:pPr algn="l">
              <a:spcBef>
                <a:spcPts val="0"/>
              </a:spcBef>
              <a:spcAft>
                <a:spcPts val="0"/>
              </a:spcAft>
            </a:pPr>
            <a:r>
              <a:rPr sz="1800" b="1" i="0">
                <a:solidFill>
                  <a:srgbClr val="1E2D44"/>
                </a:solidFill>
                <a:latin typeface="Karla"/>
              </a:rPr>
              <a:t>Explore Combinations</a:t>
            </a:r>
          </a:p>
        </p:txBody>
      </p:sp>
      <p:sp>
        <p:nvSpPr>
          <p:cNvPr id="10" name="TextBox 9"/>
          <p:cNvSpPr txBox="1"/>
          <p:nvPr/>
        </p:nvSpPr>
        <p:spPr>
          <a:xfrm>
            <a:off x="1920240" y="3968496"/>
            <a:ext cx="4023360" cy="640080"/>
          </a:xfrm>
          <a:prstGeom prst="rect">
            <a:avLst/>
          </a:prstGeom>
          <a:noFill/>
        </p:spPr>
        <p:txBody>
          <a:bodyPr wrap="square" anchor="t" lIns="0" rIns="0" tIns="0" bIns="0"/>
          <a:lstStyle/>
          <a:p>
            <a:pPr algn="l">
              <a:spcBef>
                <a:spcPts val="0"/>
              </a:spcBef>
              <a:spcAft>
                <a:spcPts val="0"/>
              </a:spcAft>
            </a:pPr>
            <a:r>
              <a:rPr sz="1400" b="0" i="0">
                <a:solidFill>
                  <a:srgbClr val="1E2D44"/>
                </a:solidFill>
                <a:latin typeface="Karla"/>
              </a:rPr>
              <a:t>These scores can be combined to explore multiple design scenarios.</a:t>
            </a:r>
          </a:p>
        </p:txBody>
      </p:sp>
      <p:sp>
        <p:nvSpPr>
          <p:cNvPr id="11" name="Oval 10"/>
          <p:cNvSpPr/>
          <p:nvPr/>
        </p:nvSpPr>
        <p:spPr>
          <a:xfrm>
            <a:off x="6757416" y="3657600"/>
            <a:ext cx="292608" cy="292608"/>
          </a:xfrm>
          <a:prstGeom prst="ellipse">
            <a:avLst/>
          </a:prstGeom>
          <a:solidFill>
            <a:srgbClr val="1E2D4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FFFFFF"/>
                </a:solidFill>
                <a:latin typeface="Karla"/>
              </a:rPr>
              <a:t>3</a:t>
            </a:r>
          </a:p>
        </p:txBody>
      </p:sp>
      <p:sp>
        <p:nvSpPr>
          <p:cNvPr id="12" name="TextBox 11"/>
          <p:cNvSpPr txBox="1"/>
          <p:nvPr/>
        </p:nvSpPr>
        <p:spPr>
          <a:xfrm>
            <a:off x="7150608" y="3584448"/>
            <a:ext cx="4023360" cy="347472"/>
          </a:xfrm>
          <a:prstGeom prst="rect">
            <a:avLst/>
          </a:prstGeom>
          <a:noFill/>
        </p:spPr>
        <p:txBody>
          <a:bodyPr wrap="square" anchor="t" lIns="0" rIns="0" tIns="0" bIns="0"/>
          <a:lstStyle/>
          <a:p>
            <a:pPr algn="l">
              <a:spcBef>
                <a:spcPts val="0"/>
              </a:spcBef>
              <a:spcAft>
                <a:spcPts val="0"/>
              </a:spcAft>
            </a:pPr>
            <a:r>
              <a:rPr sz="1800" b="1" i="0">
                <a:solidFill>
                  <a:srgbClr val="1E2D44"/>
                </a:solidFill>
                <a:latin typeface="Karla"/>
              </a:rPr>
              <a:t>Reading The Scale</a:t>
            </a:r>
          </a:p>
        </p:txBody>
      </p:sp>
      <p:sp>
        <p:nvSpPr>
          <p:cNvPr id="13" name="TextBox 12"/>
          <p:cNvSpPr txBox="1"/>
          <p:nvPr/>
        </p:nvSpPr>
        <p:spPr>
          <a:xfrm>
            <a:off x="7150608" y="3968496"/>
            <a:ext cx="4023360" cy="292608"/>
          </a:xfrm>
          <a:prstGeom prst="rect">
            <a:avLst/>
          </a:prstGeom>
          <a:noFill/>
        </p:spPr>
        <p:txBody>
          <a:bodyPr wrap="square" anchor="t" lIns="0" rIns="0" tIns="0" bIns="0"/>
          <a:lstStyle/>
          <a:p>
            <a:pPr algn="l">
              <a:spcBef>
                <a:spcPts val="0"/>
              </a:spcBef>
              <a:spcAft>
                <a:spcPts val="0"/>
              </a:spcAft>
            </a:pPr>
            <a:r>
              <a:rPr sz="1400" b="0" i="0">
                <a:solidFill>
                  <a:srgbClr val="1E2D44"/>
                </a:solidFill>
                <a:latin typeface="Karla"/>
              </a:rPr>
              <a:t>Coefficient Interpretation</a:t>
            </a:r>
          </a:p>
        </p:txBody>
      </p:sp>
      <p:cxnSp>
        <p:nvCxnSpPr>
          <p:cNvPr id="14" name="Connector 13"/>
          <p:cNvCxnSpPr/>
          <p:nvPr/>
        </p:nvCxnSpPr>
        <p:spPr>
          <a:xfrm>
            <a:off x="1737360" y="1965960"/>
            <a:ext cx="0" cy="1234440"/>
          </a:xfrm>
          <a:prstGeom prst="line">
            <a:avLst/>
          </a:prstGeom>
          <a:ln w="25400">
            <a:solidFill>
              <a:srgbClr val="273142"/>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737360" y="3200400"/>
            <a:ext cx="3803904" cy="0"/>
          </a:xfrm>
          <a:prstGeom prst="line">
            <a:avLst/>
          </a:prstGeom>
          <a:ln w="25400">
            <a:solidFill>
              <a:srgbClr val="273142"/>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541264" y="3200400"/>
            <a:ext cx="0" cy="1234440"/>
          </a:xfrm>
          <a:prstGeom prst="line">
            <a:avLst/>
          </a:prstGeom>
          <a:ln w="25400">
            <a:solidFill>
              <a:srgbClr val="273142"/>
            </a:solidFill>
          </a:ln>
        </p:spPr>
        <p:style>
          <a:lnRef idx="2">
            <a:schemeClr val="accent1"/>
          </a:lnRef>
          <a:fillRef idx="0">
            <a:schemeClr val="accent1"/>
          </a:fillRef>
          <a:effectRef idx="1">
            <a:schemeClr val="accent1"/>
          </a:effectRef>
          <a:fontRef idx="minor">
            <a:schemeClr val="tx1"/>
          </a:fontRef>
        </p:style>
      </p:cxnSp>
      <p:graphicFrame>
        <p:nvGraphicFramePr>
          <p:cNvPr id="17" name="Table 16"/>
          <p:cNvGraphicFramePr>
            <a:graphicFrameLocks noGrp="1"/>
          </p:cNvGraphicFramePr>
          <p:nvPr/>
        </p:nvGraphicFramePr>
        <p:xfrm>
          <a:off x="7141464" y="4370832"/>
          <a:ext cx="4041647" cy="1828800"/>
        </p:xfrm>
        <a:graphic>
          <a:graphicData uri="http://schemas.openxmlformats.org/drawingml/2006/table">
            <a:tbl>
              <a:tblPr firstRow="1" bandRow="1">
                <a:tableStyleId>{5C22544A-7EE6-4342-B048-85BDC9FD1C3A}</a:tableStyleId>
              </a:tblPr>
              <a:tblGrid>
                <a:gridCol w="1837943"/>
                <a:gridCol w="2203704"/>
              </a:tblGrid>
              <a:tr h="365760">
                <a:tc>
                  <a:txBody>
                    <a:bodyPr wrap="square"/>
                    <a:lstStyle/>
                    <a:p>
                      <a:pPr algn="l"/>
                      <a:r>
                        <a:rPr sz="1400" b="1">
                          <a:solidFill>
                            <a:srgbClr val="1E2D44"/>
                          </a:solidFill>
                          <a:latin typeface="Karla"/>
                        </a:rPr>
                        <a:t>Coefficient Scale</a:t>
                      </a:r>
                    </a:p>
                  </a:txBody>
                  <a:tcPr anchor="ctr" marL="73152" marR="54864" marT="36576" marB="36576">
                    <a:solidFill>
                      <a:srgbClr val="FFFFFF"/>
                    </a:solidFill>
                    <a:lnL w="12700" cap="flat" cmpd="sng" algn="ctr">
                      <a:solidFill>
                        <a:srgbClr val="273142"/>
                      </a:solidFill>
                      <a:prstDash val="solid"/>
                    </a:lnL>
                    <a:lnR w="12700" cap="flat" cmpd="sng" algn="ctr">
                      <a:solidFill>
                        <a:srgbClr val="273142"/>
                      </a:solidFill>
                      <a:prstDash val="solid"/>
                    </a:lnR>
                    <a:lnT w="12700" cap="flat" cmpd="sng" algn="ctr">
                      <a:solidFill>
                        <a:srgbClr val="273142"/>
                      </a:solidFill>
                      <a:prstDash val="solid"/>
                    </a:lnT>
                    <a:lnB w="12700" cap="flat" cmpd="sng" algn="ctr">
                      <a:solidFill>
                        <a:srgbClr val="273142"/>
                      </a:solidFill>
                      <a:prstDash val="solid"/>
                    </a:lnB>
                  </a:tcPr>
                </a:tc>
                <a:tc>
                  <a:txBody>
                    <a:bodyPr wrap="square"/>
                    <a:lstStyle/>
                    <a:p>
                      <a:pPr algn="l"/>
                      <a:r>
                        <a:rPr sz="1400" b="1">
                          <a:solidFill>
                            <a:srgbClr val="1E2D44"/>
                          </a:solidFill>
                          <a:latin typeface="Karla"/>
                        </a:rPr>
                        <a:t>Interpretation</a:t>
                      </a:r>
                    </a:p>
                  </a:txBody>
                  <a:tcPr anchor="ctr" marL="73152" marR="54864" marT="36576" marB="36576">
                    <a:solidFill>
                      <a:srgbClr val="FFFFFF"/>
                    </a:solidFill>
                    <a:lnL w="12700" cap="flat" cmpd="sng" algn="ctr">
                      <a:solidFill>
                        <a:srgbClr val="273142"/>
                      </a:solidFill>
                      <a:prstDash val="solid"/>
                    </a:lnL>
                    <a:lnR w="12700" cap="flat" cmpd="sng" algn="ctr">
                      <a:solidFill>
                        <a:srgbClr val="273142"/>
                      </a:solidFill>
                      <a:prstDash val="solid"/>
                    </a:lnR>
                    <a:lnT w="12700" cap="flat" cmpd="sng" algn="ctr">
                      <a:solidFill>
                        <a:srgbClr val="273142"/>
                      </a:solidFill>
                      <a:prstDash val="solid"/>
                    </a:lnT>
                    <a:lnB w="12700" cap="flat" cmpd="sng" algn="ctr">
                      <a:solidFill>
                        <a:srgbClr val="273142"/>
                      </a:solidFill>
                      <a:prstDash val="solid"/>
                    </a:lnB>
                  </a:tcPr>
                </a:tc>
              </a:tr>
              <a:tr h="365760">
                <a:tc>
                  <a:txBody>
                    <a:bodyPr wrap="square"/>
                    <a:lstStyle/>
                    <a:p>
                      <a:pPr algn="l"/>
                      <a:r>
                        <a:rPr sz="1400" b="0">
                          <a:solidFill>
                            <a:srgbClr val="1E2D44"/>
                          </a:solidFill>
                          <a:latin typeface="Karla"/>
                        </a:rPr>
                        <a:t>+10 or higher</a:t>
                      </a:r>
                    </a:p>
                  </a:txBody>
                  <a:tcPr anchor="ctr" marL="73152" marR="54864" marT="36576" marB="36576">
                    <a:solidFill>
                      <a:srgbClr val="DEF1D3"/>
                    </a:solidFill>
                    <a:lnL w="12700" cap="flat" cmpd="sng" algn="ctr">
                      <a:solidFill>
                        <a:srgbClr val="273142"/>
                      </a:solidFill>
                      <a:prstDash val="solid"/>
                    </a:lnL>
                    <a:lnR w="12700" cap="flat" cmpd="sng" algn="ctr">
                      <a:solidFill>
                        <a:srgbClr val="273142"/>
                      </a:solidFill>
                      <a:prstDash val="solid"/>
                    </a:lnR>
                    <a:lnT w="12700" cap="flat" cmpd="sng" algn="ctr">
                      <a:solidFill>
                        <a:srgbClr val="273142"/>
                      </a:solidFill>
                      <a:prstDash val="solid"/>
                    </a:lnT>
                    <a:lnB w="12700" cap="flat" cmpd="sng" algn="ctr">
                      <a:solidFill>
                        <a:srgbClr val="273142"/>
                      </a:solidFill>
                      <a:prstDash val="solid"/>
                    </a:lnB>
                  </a:tcPr>
                </a:tc>
                <a:tc>
                  <a:txBody>
                    <a:bodyPr wrap="square"/>
                    <a:lstStyle/>
                    <a:p>
                      <a:pPr algn="l"/>
                      <a:r>
                        <a:rPr sz="1400" b="0">
                          <a:solidFill>
                            <a:srgbClr val="1E2D44"/>
                          </a:solidFill>
                          <a:latin typeface="Karla"/>
                        </a:rPr>
                        <a:t>Strong lift</a:t>
                      </a:r>
                    </a:p>
                  </a:txBody>
                  <a:tcPr anchor="ctr" marL="73152" marR="54864" marT="36576" marB="36576">
                    <a:solidFill>
                      <a:srgbClr val="FFFFFF"/>
                    </a:solidFill>
                    <a:lnL w="12700" cap="flat" cmpd="sng" algn="ctr">
                      <a:solidFill>
                        <a:srgbClr val="273142"/>
                      </a:solidFill>
                      <a:prstDash val="solid"/>
                    </a:lnL>
                    <a:lnR w="12700" cap="flat" cmpd="sng" algn="ctr">
                      <a:solidFill>
                        <a:srgbClr val="273142"/>
                      </a:solidFill>
                      <a:prstDash val="solid"/>
                    </a:lnR>
                    <a:lnT w="12700" cap="flat" cmpd="sng" algn="ctr">
                      <a:solidFill>
                        <a:srgbClr val="273142"/>
                      </a:solidFill>
                      <a:prstDash val="solid"/>
                    </a:lnT>
                    <a:lnB w="12700" cap="flat" cmpd="sng" algn="ctr">
                      <a:solidFill>
                        <a:srgbClr val="273142"/>
                      </a:solidFill>
                      <a:prstDash val="solid"/>
                    </a:lnB>
                  </a:tcPr>
                </a:tc>
              </a:tr>
              <a:tr h="365760">
                <a:tc>
                  <a:txBody>
                    <a:bodyPr wrap="square"/>
                    <a:lstStyle/>
                    <a:p>
                      <a:pPr algn="l"/>
                      <a:r>
                        <a:rPr sz="1400" b="0">
                          <a:solidFill>
                            <a:srgbClr val="1E2D44"/>
                          </a:solidFill>
                          <a:latin typeface="Karla"/>
                        </a:rPr>
                        <a:t>+5 to +9.9</a:t>
                      </a:r>
                    </a:p>
                  </a:txBody>
                  <a:tcPr anchor="ctr" marL="73152" marR="54864" marT="36576" marB="36576">
                    <a:solidFill>
                      <a:srgbClr val="FFFFFF"/>
                    </a:solidFill>
                    <a:lnL w="12700" cap="flat" cmpd="sng" algn="ctr">
                      <a:solidFill>
                        <a:srgbClr val="273142"/>
                      </a:solidFill>
                      <a:prstDash val="solid"/>
                    </a:lnL>
                    <a:lnR w="12700" cap="flat" cmpd="sng" algn="ctr">
                      <a:solidFill>
                        <a:srgbClr val="273142"/>
                      </a:solidFill>
                      <a:prstDash val="solid"/>
                    </a:lnR>
                    <a:lnT w="12700" cap="flat" cmpd="sng" algn="ctr">
                      <a:solidFill>
                        <a:srgbClr val="273142"/>
                      </a:solidFill>
                      <a:prstDash val="solid"/>
                    </a:lnT>
                    <a:lnB w="12700" cap="flat" cmpd="sng" algn="ctr">
                      <a:solidFill>
                        <a:srgbClr val="273142"/>
                      </a:solidFill>
                      <a:prstDash val="solid"/>
                    </a:lnB>
                  </a:tcPr>
                </a:tc>
                <a:tc>
                  <a:txBody>
                    <a:bodyPr wrap="square"/>
                    <a:lstStyle/>
                    <a:p>
                      <a:pPr algn="l"/>
                      <a:r>
                        <a:rPr sz="1400" b="0">
                          <a:solidFill>
                            <a:srgbClr val="1E2D44"/>
                          </a:solidFill>
                          <a:latin typeface="Karla"/>
                        </a:rPr>
                        <a:t>Moderate lift</a:t>
                      </a:r>
                    </a:p>
                  </a:txBody>
                  <a:tcPr anchor="ctr" marL="73152" marR="54864" marT="36576" marB="36576">
                    <a:solidFill>
                      <a:srgbClr val="FFFFFF"/>
                    </a:solidFill>
                    <a:lnL w="12700" cap="flat" cmpd="sng" algn="ctr">
                      <a:solidFill>
                        <a:srgbClr val="273142"/>
                      </a:solidFill>
                      <a:prstDash val="solid"/>
                    </a:lnL>
                    <a:lnR w="12700" cap="flat" cmpd="sng" algn="ctr">
                      <a:solidFill>
                        <a:srgbClr val="273142"/>
                      </a:solidFill>
                      <a:prstDash val="solid"/>
                    </a:lnR>
                    <a:lnT w="12700" cap="flat" cmpd="sng" algn="ctr">
                      <a:solidFill>
                        <a:srgbClr val="273142"/>
                      </a:solidFill>
                      <a:prstDash val="solid"/>
                    </a:lnT>
                    <a:lnB w="12700" cap="flat" cmpd="sng" algn="ctr">
                      <a:solidFill>
                        <a:srgbClr val="273142"/>
                      </a:solidFill>
                      <a:prstDash val="solid"/>
                    </a:lnB>
                  </a:tcPr>
                </a:tc>
              </a:tr>
              <a:tr h="365760">
                <a:tc>
                  <a:txBody>
                    <a:bodyPr wrap="square"/>
                    <a:lstStyle/>
                    <a:p>
                      <a:pPr algn="l"/>
                      <a:r>
                        <a:rPr sz="1400" b="0">
                          <a:solidFill>
                            <a:srgbClr val="1E2D44"/>
                          </a:solidFill>
                          <a:latin typeface="Karla"/>
                        </a:rPr>
                        <a:t>+2 to +4.9</a:t>
                      </a:r>
                    </a:p>
                  </a:txBody>
                  <a:tcPr anchor="ctr" marL="73152" marR="54864" marT="36576" marB="36576">
                    <a:solidFill>
                      <a:srgbClr val="FFFFFF"/>
                    </a:solidFill>
                    <a:lnL w="12700" cap="flat" cmpd="sng" algn="ctr">
                      <a:solidFill>
                        <a:srgbClr val="273142"/>
                      </a:solidFill>
                      <a:prstDash val="solid"/>
                    </a:lnL>
                    <a:lnR w="12700" cap="flat" cmpd="sng" algn="ctr">
                      <a:solidFill>
                        <a:srgbClr val="273142"/>
                      </a:solidFill>
                      <a:prstDash val="solid"/>
                    </a:lnR>
                    <a:lnT w="12700" cap="flat" cmpd="sng" algn="ctr">
                      <a:solidFill>
                        <a:srgbClr val="273142"/>
                      </a:solidFill>
                      <a:prstDash val="solid"/>
                    </a:lnT>
                    <a:lnB w="12700" cap="flat" cmpd="sng" algn="ctr">
                      <a:solidFill>
                        <a:srgbClr val="273142"/>
                      </a:solidFill>
                      <a:prstDash val="solid"/>
                    </a:lnB>
                  </a:tcPr>
                </a:tc>
                <a:tc>
                  <a:txBody>
                    <a:bodyPr wrap="square"/>
                    <a:lstStyle/>
                    <a:p>
                      <a:pPr algn="l"/>
                      <a:r>
                        <a:rPr sz="1400" b="0">
                          <a:solidFill>
                            <a:srgbClr val="1E2D44"/>
                          </a:solidFill>
                          <a:latin typeface="Karla"/>
                        </a:rPr>
                        <a:t>Small lift</a:t>
                      </a:r>
                    </a:p>
                  </a:txBody>
                  <a:tcPr anchor="ctr" marL="73152" marR="54864" marT="36576" marB="36576">
                    <a:solidFill>
                      <a:srgbClr val="FFFFFF"/>
                    </a:solidFill>
                    <a:lnL w="12700" cap="flat" cmpd="sng" algn="ctr">
                      <a:solidFill>
                        <a:srgbClr val="273142"/>
                      </a:solidFill>
                      <a:prstDash val="solid"/>
                    </a:lnL>
                    <a:lnR w="12700" cap="flat" cmpd="sng" algn="ctr">
                      <a:solidFill>
                        <a:srgbClr val="273142"/>
                      </a:solidFill>
                      <a:prstDash val="solid"/>
                    </a:lnR>
                    <a:lnT w="12700" cap="flat" cmpd="sng" algn="ctr">
                      <a:solidFill>
                        <a:srgbClr val="273142"/>
                      </a:solidFill>
                      <a:prstDash val="solid"/>
                    </a:lnT>
                    <a:lnB w="12700" cap="flat" cmpd="sng" algn="ctr">
                      <a:solidFill>
                        <a:srgbClr val="273142"/>
                      </a:solidFill>
                      <a:prstDash val="solid"/>
                    </a:lnB>
                  </a:tcPr>
                </a:tc>
              </a:tr>
              <a:tr h="365760">
                <a:tc>
                  <a:txBody>
                    <a:bodyPr wrap="square"/>
                    <a:lstStyle/>
                    <a:p>
                      <a:pPr algn="l"/>
                      <a:r>
                        <a:rPr sz="1400" b="0">
                          <a:solidFill>
                            <a:srgbClr val="1E2D44"/>
                          </a:solidFill>
                          <a:latin typeface="Karla"/>
                        </a:rPr>
                        <a:t>Below +2</a:t>
                      </a:r>
                    </a:p>
                  </a:txBody>
                  <a:tcPr anchor="ctr" marL="73152" marR="54864" marT="36576" marB="36576">
                    <a:solidFill>
                      <a:srgbClr val="FFFFFF"/>
                    </a:solidFill>
                    <a:lnL w="12700" cap="flat" cmpd="sng" algn="ctr">
                      <a:solidFill>
                        <a:srgbClr val="273142"/>
                      </a:solidFill>
                      <a:prstDash val="solid"/>
                    </a:lnL>
                    <a:lnR w="12700" cap="flat" cmpd="sng" algn="ctr">
                      <a:solidFill>
                        <a:srgbClr val="273142"/>
                      </a:solidFill>
                      <a:prstDash val="solid"/>
                    </a:lnR>
                    <a:lnT w="12700" cap="flat" cmpd="sng" algn="ctr">
                      <a:solidFill>
                        <a:srgbClr val="273142"/>
                      </a:solidFill>
                      <a:prstDash val="solid"/>
                    </a:lnT>
                    <a:lnB w="12700" cap="flat" cmpd="sng" algn="ctr">
                      <a:solidFill>
                        <a:srgbClr val="273142"/>
                      </a:solidFill>
                      <a:prstDash val="solid"/>
                    </a:lnB>
                  </a:tcPr>
                </a:tc>
                <a:tc>
                  <a:txBody>
                    <a:bodyPr wrap="square"/>
                    <a:lstStyle/>
                    <a:p>
                      <a:pPr algn="l"/>
                      <a:r>
                        <a:rPr sz="1400" b="0">
                          <a:solidFill>
                            <a:srgbClr val="1E2D44"/>
                          </a:solidFill>
                          <a:latin typeface="Karla"/>
                        </a:rPr>
                        <a:t>Minimal / weak lift</a:t>
                      </a:r>
                    </a:p>
                  </a:txBody>
                  <a:tcPr anchor="ctr" marL="73152" marR="54864" marT="36576" marB="36576">
                    <a:solidFill>
                      <a:srgbClr val="FFFFFF"/>
                    </a:solidFill>
                    <a:lnL w="12700" cap="flat" cmpd="sng" algn="ctr">
                      <a:solidFill>
                        <a:srgbClr val="273142"/>
                      </a:solidFill>
                      <a:prstDash val="solid"/>
                    </a:lnL>
                    <a:lnR w="12700" cap="flat" cmpd="sng" algn="ctr">
                      <a:solidFill>
                        <a:srgbClr val="273142"/>
                      </a:solidFill>
                      <a:prstDash val="solid"/>
                    </a:lnR>
                    <a:lnT w="12700" cap="flat" cmpd="sng" algn="ctr">
                      <a:solidFill>
                        <a:srgbClr val="273142"/>
                      </a:solidFill>
                      <a:prstDash val="solid"/>
                    </a:lnT>
                    <a:lnB w="12700" cap="flat" cmpd="sng" algn="ctr">
                      <a:solidFill>
                        <a:srgbClr val="273142"/>
                      </a:solidFill>
                      <a:prstDash val="solid"/>
                    </a:lnB>
                  </a:tcPr>
                </a:tc>
              </a:tr>
            </a:tbl>
          </a:graphicData>
        </a:graphic>
      </p:graphicFrame>
      <p:sp>
        <p:nvSpPr>
          <p:cNvPr id="18" name="Rectangle 17"/>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n=150 respondents.  Top-2 Box model (ratings 4–5): element lifts show movement above or below the model baseline.</a:t>
            </a:r>
          </a:p>
        </p:txBody>
      </p:sp>
      <p:sp>
        <p:nvSpPr>
          <p:cNvPr id="20" name="TextBox 19"/>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6F8"/>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606040"/>
            <a:ext cx="10058400" cy="1005840"/>
          </a:xfrm>
          <a:prstGeom prst="rect">
            <a:avLst/>
          </a:prstGeom>
          <a:noFill/>
        </p:spPr>
        <p:txBody>
          <a:bodyPr wrap="square" anchor="t"/>
          <a:lstStyle/>
          <a:p>
            <a:pPr algn="l">
              <a:spcAft>
                <a:spcPts val="400"/>
              </a:spcAft>
            </a:pPr>
            <a:r>
              <a:rPr sz="5400" b="1" i="0">
                <a:solidFill>
                  <a:srgbClr val="1E2D44"/>
                </a:solidFill>
                <a:latin typeface="Karla"/>
              </a:rPr>
              <a:t>Key Findings</a:t>
            </a:r>
          </a:p>
        </p:txBody>
      </p:sp>
      <p:sp>
        <p:nvSpPr>
          <p:cNvPr id="4" name="Rectangle 3"/>
          <p:cNvSpPr/>
          <p:nvPr/>
        </p:nvSpPr>
        <p:spPr>
          <a:xfrm>
            <a:off x="822960" y="3794760"/>
            <a:ext cx="1280160" cy="5486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56032"/>
            <a:ext cx="10972800" cy="256032"/>
          </a:xfrm>
          <a:prstGeom prst="rect">
            <a:avLst/>
          </a:prstGeom>
          <a:noFill/>
        </p:spPr>
        <p:txBody>
          <a:bodyPr wrap="square" anchor="t"/>
          <a:lstStyle/>
          <a:p>
            <a:pPr algn="l">
              <a:spcAft>
                <a:spcPts val="400"/>
              </a:spcAft>
            </a:pPr>
            <a:r>
              <a:rPr sz="1200" b="1" i="0">
                <a:solidFill>
                  <a:srgbClr val="04746E"/>
                </a:solidFill>
                <a:latin typeface="Karla"/>
              </a:rPr>
              <a:t>KEY FINDINGS</a:t>
            </a:r>
          </a:p>
        </p:txBody>
      </p:sp>
      <p:sp>
        <p:nvSpPr>
          <p:cNvPr id="3" name="TextBox 2"/>
          <p:cNvSpPr txBox="1"/>
          <p:nvPr/>
        </p:nvSpPr>
        <p:spPr>
          <a:xfrm>
            <a:off x="566928" y="658368"/>
            <a:ext cx="10972800" cy="438912"/>
          </a:xfrm>
          <a:prstGeom prst="rect">
            <a:avLst/>
          </a:prstGeom>
          <a:noFill/>
        </p:spPr>
        <p:txBody>
          <a:bodyPr wrap="square" anchor="t"/>
          <a:lstStyle/>
          <a:p>
            <a:pPr algn="l">
              <a:spcAft>
                <a:spcPts val="400"/>
              </a:spcAft>
            </a:pPr>
            <a:r>
              <a:rPr sz="3000" b="1" i="0">
                <a:solidFill>
                  <a:srgbClr val="1E2D44"/>
                </a:solidFill>
                <a:latin typeface="Karla"/>
              </a:rPr>
              <a:t>Where appeal moves</a:t>
            </a:r>
          </a:p>
        </p:txBody>
      </p:sp>
      <p:sp>
        <p:nvSpPr>
          <p:cNvPr id="4" name="TextBox 3"/>
          <p:cNvSpPr txBox="1"/>
          <p:nvPr/>
        </p:nvSpPr>
        <p:spPr>
          <a:xfrm>
            <a:off x="566928" y="1143000"/>
            <a:ext cx="10972800" cy="320040"/>
          </a:xfrm>
          <a:prstGeom prst="rect">
            <a:avLst/>
          </a:prstGeom>
          <a:noFill/>
        </p:spPr>
        <p:txBody>
          <a:bodyPr wrap="square" anchor="t"/>
          <a:lstStyle/>
          <a:p>
            <a:pPr algn="l">
              <a:spcAft>
                <a:spcPts val="400"/>
              </a:spcAft>
            </a:pPr>
            <a:r>
              <a:rPr sz="1500" b="0" i="0">
                <a:solidFill>
                  <a:srgbClr val="617086"/>
                </a:solidFill>
                <a:latin typeface="Karla"/>
              </a:rPr>
              <a:t>The strongest movement comes from the silos and elements below. Detail charts for every silo follow.</a:t>
            </a:r>
          </a:p>
        </p:txBody>
      </p:sp>
      <p:sp>
        <p:nvSpPr>
          <p:cNvPr id="5" name="Rounded Rectangle 4"/>
          <p:cNvSpPr/>
          <p:nvPr/>
        </p:nvSpPr>
        <p:spPr>
          <a:xfrm>
            <a:off x="566928" y="1645920"/>
            <a:ext cx="11064240" cy="987552"/>
          </a:xfrm>
          <a:prstGeom prst="roundRect">
            <a:avLst>
              <a:gd name="adj" fmla="val 8000"/>
            </a:avLst>
          </a:prstGeom>
          <a:solidFill>
            <a:srgbClr val="F8EA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1645920"/>
            <a:ext cx="640080" cy="987552"/>
          </a:xfrm>
          <a:prstGeom prst="rect">
            <a:avLst/>
          </a:prstGeom>
          <a:noFill/>
        </p:spPr>
        <p:txBody>
          <a:bodyPr wrap="square" anchor="ctr"/>
          <a:lstStyle/>
          <a:p>
            <a:pPr algn="l">
              <a:spcAft>
                <a:spcPts val="400"/>
              </a:spcAft>
            </a:pPr>
            <a:r>
              <a:rPr sz="2000" b="1" i="0">
                <a:solidFill>
                  <a:srgbClr val="04746E"/>
                </a:solidFill>
                <a:latin typeface="Karla"/>
              </a:rPr>
              <a:t>01</a:t>
            </a:r>
          </a:p>
        </p:txBody>
      </p:sp>
      <p:sp>
        <p:nvSpPr>
          <p:cNvPr id="7" name="TextBox 6"/>
          <p:cNvSpPr txBox="1"/>
          <p:nvPr/>
        </p:nvSpPr>
        <p:spPr>
          <a:xfrm>
            <a:off x="1554480" y="1755648"/>
            <a:ext cx="9692640" cy="329184"/>
          </a:xfrm>
          <a:prstGeom prst="rect">
            <a:avLst/>
          </a:prstGeom>
          <a:noFill/>
        </p:spPr>
        <p:txBody>
          <a:bodyPr wrap="square" anchor="t"/>
          <a:lstStyle/>
          <a:p>
            <a:pPr algn="l">
              <a:spcAft>
                <a:spcPts val="400"/>
              </a:spcAft>
            </a:pPr>
            <a:r>
              <a:rPr sz="1600" b="1" i="0">
                <a:solidFill>
                  <a:srgbClr val="1E2D44"/>
                </a:solidFill>
                <a:latin typeface="Karla"/>
              </a:rPr>
              <a:t>The model has a clear starting point</a:t>
            </a:r>
          </a:p>
        </p:txBody>
      </p:sp>
      <p:sp>
        <p:nvSpPr>
          <p:cNvPr id="8" name="TextBox 7"/>
          <p:cNvSpPr txBox="1"/>
          <p:nvPr/>
        </p:nvSpPr>
        <p:spPr>
          <a:xfrm>
            <a:off x="1554480" y="2103120"/>
            <a:ext cx="9692640" cy="420624"/>
          </a:xfrm>
          <a:prstGeom prst="rect">
            <a:avLst/>
          </a:prstGeom>
          <a:noFill/>
        </p:spPr>
        <p:txBody>
          <a:bodyPr wrap="square" anchor="t"/>
          <a:lstStyle/>
          <a:p>
            <a:pPr algn="l">
              <a:spcAft>
                <a:spcPts val="400"/>
              </a:spcAft>
            </a:pPr>
            <a:r>
              <a:rPr sz="1300" b="0" i="0">
                <a:solidFill>
                  <a:srgbClr val="617086"/>
                </a:solidFill>
                <a:latin typeface="Karla"/>
              </a:rPr>
              <a:t>This Top-2 Box model was fit without an intercept. Each element score is the lift on its own.</a:t>
            </a:r>
          </a:p>
        </p:txBody>
      </p:sp>
      <p:sp>
        <p:nvSpPr>
          <p:cNvPr id="9" name="Rounded Rectangle 8"/>
          <p:cNvSpPr/>
          <p:nvPr/>
        </p:nvSpPr>
        <p:spPr>
          <a:xfrm>
            <a:off x="566928" y="2743200"/>
            <a:ext cx="11064240" cy="987552"/>
          </a:xfrm>
          <a:prstGeom prst="roundRect">
            <a:avLst>
              <a:gd name="adj" fmla="val 8000"/>
            </a:avLst>
          </a:prstGeom>
          <a:solidFill>
            <a:srgbClr val="FF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2743200"/>
            <a:ext cx="640080" cy="987552"/>
          </a:xfrm>
          <a:prstGeom prst="rect">
            <a:avLst/>
          </a:prstGeom>
          <a:noFill/>
        </p:spPr>
        <p:txBody>
          <a:bodyPr wrap="square" anchor="ctr"/>
          <a:lstStyle/>
          <a:p>
            <a:pPr algn="l">
              <a:spcAft>
                <a:spcPts val="400"/>
              </a:spcAft>
            </a:pPr>
            <a:r>
              <a:rPr sz="2000" b="1" i="0">
                <a:solidFill>
                  <a:srgbClr val="04746E"/>
                </a:solidFill>
                <a:latin typeface="Karla"/>
              </a:rPr>
              <a:t>02</a:t>
            </a:r>
          </a:p>
        </p:txBody>
      </p:sp>
      <p:sp>
        <p:nvSpPr>
          <p:cNvPr id="11" name="TextBox 10"/>
          <p:cNvSpPr txBox="1"/>
          <p:nvPr/>
        </p:nvSpPr>
        <p:spPr>
          <a:xfrm>
            <a:off x="1554480" y="2852928"/>
            <a:ext cx="9692640" cy="329184"/>
          </a:xfrm>
          <a:prstGeom prst="rect">
            <a:avLst/>
          </a:prstGeom>
          <a:noFill/>
        </p:spPr>
        <p:txBody>
          <a:bodyPr wrap="square" anchor="t"/>
          <a:lstStyle/>
          <a:p>
            <a:pPr algn="l">
              <a:spcAft>
                <a:spcPts val="400"/>
              </a:spcAft>
            </a:pPr>
            <a:r>
              <a:rPr sz="1600" b="1" i="0">
                <a:solidFill>
                  <a:srgbClr val="1E2D44"/>
                </a:solidFill>
                <a:latin typeface="Karla"/>
              </a:rPr>
              <a:t>B01 Cookie Chocolate Filling Right Upper D2D3 is the strongest single cue</a:t>
            </a:r>
          </a:p>
        </p:txBody>
      </p:sp>
      <p:sp>
        <p:nvSpPr>
          <p:cNvPr id="12" name="TextBox 11"/>
          <p:cNvSpPr txBox="1"/>
          <p:nvPr/>
        </p:nvSpPr>
        <p:spPr>
          <a:xfrm>
            <a:off x="1554480" y="3200400"/>
            <a:ext cx="9692640" cy="420624"/>
          </a:xfrm>
          <a:prstGeom prst="rect">
            <a:avLst/>
          </a:prstGeom>
          <a:noFill/>
        </p:spPr>
        <p:txBody>
          <a:bodyPr wrap="square" anchor="t"/>
          <a:lstStyle/>
          <a:p>
            <a:pPr algn="l">
              <a:spcAft>
                <a:spcPts val="400"/>
              </a:spcAft>
            </a:pPr>
            <a:r>
              <a:rPr sz="1300" b="0" i="0">
                <a:solidFill>
                  <a:srgbClr val="617086"/>
                </a:solidFill>
                <a:latin typeface="Karla"/>
              </a:rPr>
              <a:t>In B_Cookie, B01 Cookie Chocolate Filling Right Upper D2D3 moves appeal by +26. 47 of 47 elements sit above the baseline.</a:t>
            </a:r>
          </a:p>
        </p:txBody>
      </p:sp>
      <p:sp>
        <p:nvSpPr>
          <p:cNvPr id="13" name="Rounded Rectangle 12"/>
          <p:cNvSpPr/>
          <p:nvPr/>
        </p:nvSpPr>
        <p:spPr>
          <a:xfrm>
            <a:off x="566928" y="3840480"/>
            <a:ext cx="11064240" cy="987552"/>
          </a:xfrm>
          <a:prstGeom prst="roundRect">
            <a:avLst>
              <a:gd name="adj" fmla="val 8000"/>
            </a:avLst>
          </a:prstGeom>
          <a:solidFill>
            <a:srgbClr val="F8EA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3840480"/>
            <a:ext cx="640080" cy="987552"/>
          </a:xfrm>
          <a:prstGeom prst="rect">
            <a:avLst/>
          </a:prstGeom>
          <a:noFill/>
        </p:spPr>
        <p:txBody>
          <a:bodyPr wrap="square" anchor="ctr"/>
          <a:lstStyle/>
          <a:p>
            <a:pPr algn="l">
              <a:spcAft>
                <a:spcPts val="400"/>
              </a:spcAft>
            </a:pPr>
            <a:r>
              <a:rPr sz="2000" b="1" i="0">
                <a:solidFill>
                  <a:srgbClr val="04746E"/>
                </a:solidFill>
                <a:latin typeface="Karla"/>
              </a:rPr>
              <a:t>03</a:t>
            </a:r>
          </a:p>
        </p:txBody>
      </p:sp>
      <p:sp>
        <p:nvSpPr>
          <p:cNvPr id="15" name="TextBox 14"/>
          <p:cNvSpPr txBox="1"/>
          <p:nvPr/>
        </p:nvSpPr>
        <p:spPr>
          <a:xfrm>
            <a:off x="1554480" y="3950208"/>
            <a:ext cx="9692640" cy="329184"/>
          </a:xfrm>
          <a:prstGeom prst="rect">
            <a:avLst/>
          </a:prstGeom>
          <a:noFill/>
        </p:spPr>
        <p:txBody>
          <a:bodyPr wrap="square" anchor="t"/>
          <a:lstStyle/>
          <a:p>
            <a:pPr algn="l">
              <a:spcAft>
                <a:spcPts val="400"/>
              </a:spcAft>
            </a:pPr>
            <a:r>
              <a:rPr sz="1600" b="1" i="0">
                <a:solidFill>
                  <a:srgbClr val="1E2D44"/>
                </a:solidFill>
                <a:latin typeface="Karla"/>
              </a:rPr>
              <a:t>B_Cookie is the lead design area</a:t>
            </a:r>
          </a:p>
        </p:txBody>
      </p:sp>
      <p:sp>
        <p:nvSpPr>
          <p:cNvPr id="16" name="TextBox 15"/>
          <p:cNvSpPr txBox="1"/>
          <p:nvPr/>
        </p:nvSpPr>
        <p:spPr>
          <a:xfrm>
            <a:off x="1554480" y="4297680"/>
            <a:ext cx="9692640" cy="420624"/>
          </a:xfrm>
          <a:prstGeom prst="rect">
            <a:avLst/>
          </a:prstGeom>
          <a:noFill/>
        </p:spPr>
        <p:txBody>
          <a:bodyPr wrap="square" anchor="t"/>
          <a:lstStyle/>
          <a:p>
            <a:pPr algn="l">
              <a:spcAft>
                <a:spcPts val="400"/>
              </a:spcAft>
            </a:pPr>
            <a:r>
              <a:rPr sz="1300" b="0" i="0">
                <a:solidFill>
                  <a:srgbClr val="617086"/>
                </a:solidFill>
                <a:latin typeface="Karla"/>
              </a:rPr>
              <a:t>B01 Cookie Chocolate Filling Right Upper D2D3 tops this silo at +26. E_Flavour has the widest spread, +15 points from E04 Orange Chocolate Top Centre Dark Text D2D3 Panel to E08 Banana Chocolate Top Left Dark Text Panel.</a:t>
            </a:r>
          </a:p>
        </p:txBody>
      </p:sp>
      <p:sp>
        <p:nvSpPr>
          <p:cNvPr id="17" name="Rounded Rectangle 16"/>
          <p:cNvSpPr/>
          <p:nvPr/>
        </p:nvSpPr>
        <p:spPr>
          <a:xfrm>
            <a:off x="566928" y="4937759"/>
            <a:ext cx="11064240" cy="987552"/>
          </a:xfrm>
          <a:prstGeom prst="roundRect">
            <a:avLst>
              <a:gd name="adj" fmla="val 8000"/>
            </a:avLst>
          </a:prstGeom>
          <a:solidFill>
            <a:srgbClr val="FF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4937759"/>
            <a:ext cx="640080" cy="987552"/>
          </a:xfrm>
          <a:prstGeom prst="rect">
            <a:avLst/>
          </a:prstGeom>
          <a:noFill/>
        </p:spPr>
        <p:txBody>
          <a:bodyPr wrap="square" anchor="ctr"/>
          <a:lstStyle/>
          <a:p>
            <a:pPr algn="l">
              <a:spcAft>
                <a:spcPts val="400"/>
              </a:spcAft>
            </a:pPr>
            <a:r>
              <a:rPr sz="2000" b="1" i="0">
                <a:solidFill>
                  <a:srgbClr val="04746E"/>
                </a:solidFill>
                <a:latin typeface="Karla"/>
              </a:rPr>
              <a:t>04</a:t>
            </a:r>
          </a:p>
        </p:txBody>
      </p:sp>
      <p:sp>
        <p:nvSpPr>
          <p:cNvPr id="19" name="TextBox 18"/>
          <p:cNvSpPr txBox="1"/>
          <p:nvPr/>
        </p:nvSpPr>
        <p:spPr>
          <a:xfrm>
            <a:off x="1554480" y="5047488"/>
            <a:ext cx="9692640" cy="329184"/>
          </a:xfrm>
          <a:prstGeom prst="rect">
            <a:avLst/>
          </a:prstGeom>
          <a:noFill/>
        </p:spPr>
        <p:txBody>
          <a:bodyPr wrap="square" anchor="t"/>
          <a:lstStyle/>
          <a:p>
            <a:pPr algn="l">
              <a:spcAft>
                <a:spcPts val="400"/>
              </a:spcAft>
            </a:pPr>
            <a:r>
              <a:rPr sz="1600" b="1" i="0">
                <a:solidFill>
                  <a:srgbClr val="1E2D44"/>
                </a:solidFill>
                <a:latin typeface="Karla"/>
              </a:rPr>
              <a:t>D01 Logo Small Top Left D2 is the largest drag</a:t>
            </a:r>
          </a:p>
        </p:txBody>
      </p:sp>
      <p:sp>
        <p:nvSpPr>
          <p:cNvPr id="20" name="TextBox 19"/>
          <p:cNvSpPr txBox="1"/>
          <p:nvPr/>
        </p:nvSpPr>
        <p:spPr>
          <a:xfrm>
            <a:off x="1554480" y="5394959"/>
            <a:ext cx="9692640" cy="420624"/>
          </a:xfrm>
          <a:prstGeom prst="rect">
            <a:avLst/>
          </a:prstGeom>
          <a:noFill/>
        </p:spPr>
        <p:txBody>
          <a:bodyPr wrap="square" anchor="t"/>
          <a:lstStyle/>
          <a:p>
            <a:pPr algn="l">
              <a:spcAft>
                <a:spcPts val="400"/>
              </a:spcAft>
            </a:pPr>
            <a:r>
              <a:rPr sz="1300" b="0" i="0">
                <a:solidFill>
                  <a:srgbClr val="617086"/>
                </a:solidFill>
                <a:latin typeface="Karla"/>
              </a:rPr>
              <a:t>In D_Logo, D01 Logo Small Top Left D2 sits at +3. Negative lifts pull the appeal score below the model baseline.</a:t>
            </a:r>
          </a:p>
        </p:txBody>
      </p:sp>
      <p:sp>
        <p:nvSpPr>
          <p:cNvPr id="21" name="Rectangle 20"/>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n=150 respondents.  Top-2 Box model (ratings 4–5): element lifts show movement above or below the model baseline.</a:t>
            </a:r>
          </a:p>
        </p:txBody>
      </p:sp>
      <p:sp>
        <p:nvSpPr>
          <p:cNvPr id="23" name="TextBox 22"/>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56032"/>
            <a:ext cx="10972800" cy="256032"/>
          </a:xfrm>
          <a:prstGeom prst="rect">
            <a:avLst/>
          </a:prstGeom>
          <a:noFill/>
        </p:spPr>
        <p:txBody>
          <a:bodyPr wrap="square" anchor="t"/>
          <a:lstStyle/>
          <a:p>
            <a:pPr algn="l">
              <a:spcAft>
                <a:spcPts val="400"/>
              </a:spcAft>
            </a:pPr>
            <a:r>
              <a:rPr sz="1200" b="1" i="0">
                <a:solidFill>
                  <a:srgbClr val="04746E"/>
                </a:solidFill>
                <a:latin typeface="Karla"/>
              </a:rPr>
              <a:t>MODEL OVERVIEW: BASE APPEAL</a:t>
            </a:r>
          </a:p>
        </p:txBody>
      </p:sp>
      <p:sp>
        <p:nvSpPr>
          <p:cNvPr id="3" name="TextBox 2"/>
          <p:cNvSpPr txBox="1"/>
          <p:nvPr/>
        </p:nvSpPr>
        <p:spPr>
          <a:xfrm>
            <a:off x="566928" y="658368"/>
            <a:ext cx="10972800" cy="438912"/>
          </a:xfrm>
          <a:prstGeom prst="rect">
            <a:avLst/>
          </a:prstGeom>
          <a:noFill/>
        </p:spPr>
        <p:txBody>
          <a:bodyPr wrap="square" anchor="t"/>
          <a:lstStyle/>
          <a:p>
            <a:pPr algn="l">
              <a:spcAft>
                <a:spcPts val="400"/>
              </a:spcAft>
            </a:pPr>
            <a:r>
              <a:rPr sz="3000" b="1" i="0">
                <a:solidFill>
                  <a:srgbClr val="1E2D44"/>
                </a:solidFill>
                <a:latin typeface="Karla"/>
              </a:rPr>
              <a:t>Base appeal before element lift</a:t>
            </a:r>
          </a:p>
        </p:txBody>
      </p:sp>
      <p:sp>
        <p:nvSpPr>
          <p:cNvPr id="4" name="TextBox 3"/>
          <p:cNvSpPr txBox="1"/>
          <p:nvPr/>
        </p:nvSpPr>
        <p:spPr>
          <a:xfrm>
            <a:off x="566928" y="1170432"/>
            <a:ext cx="10972800" cy="411480"/>
          </a:xfrm>
          <a:prstGeom prst="rect">
            <a:avLst/>
          </a:prstGeom>
          <a:noFill/>
        </p:spPr>
        <p:txBody>
          <a:bodyPr wrap="square" anchor="t"/>
          <a:lstStyle/>
          <a:p>
            <a:pPr algn="l">
              <a:spcAft>
                <a:spcPts val="400"/>
              </a:spcAft>
            </a:pPr>
            <a:r>
              <a:rPr sz="1500" b="0" i="0">
                <a:solidFill>
                  <a:srgbClr val="617086"/>
                </a:solidFill>
                <a:latin typeface="Karla"/>
              </a:rPr>
              <a:t>Base appeal is this model’s starting Top-2 Box score (ratings 4–5) before individual design elements add or subtract lift.</a:t>
            </a:r>
          </a:p>
        </p:txBody>
      </p:sp>
      <p:sp>
        <p:nvSpPr>
          <p:cNvPr id="5" name="Rounded Rectangle 4"/>
          <p:cNvSpPr/>
          <p:nvPr/>
        </p:nvSpPr>
        <p:spPr>
          <a:xfrm>
            <a:off x="566928" y="1874519"/>
            <a:ext cx="5760720" cy="4023360"/>
          </a:xfrm>
          <a:prstGeom prst="roundRect">
            <a:avLst>
              <a:gd name="adj" fmla="val 8000"/>
            </a:avLst>
          </a:prstGeom>
          <a:solidFill>
            <a:srgbClr val="F5E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148840"/>
            <a:ext cx="5120640" cy="274320"/>
          </a:xfrm>
          <a:prstGeom prst="rect">
            <a:avLst/>
          </a:prstGeom>
          <a:noFill/>
        </p:spPr>
        <p:txBody>
          <a:bodyPr wrap="square" anchor="t"/>
          <a:lstStyle/>
          <a:p>
            <a:pPr algn="l">
              <a:spcAft>
                <a:spcPts val="400"/>
              </a:spcAft>
            </a:pPr>
            <a:r>
              <a:rPr sz="1300" b="1" i="0">
                <a:solidFill>
                  <a:srgbClr val="04746E"/>
                </a:solidFill>
                <a:latin typeface="Karla"/>
              </a:rPr>
              <a:t>BASE APPEAL</a:t>
            </a:r>
          </a:p>
        </p:txBody>
      </p:sp>
      <p:sp>
        <p:nvSpPr>
          <p:cNvPr id="7" name="TextBox 6"/>
          <p:cNvSpPr txBox="1"/>
          <p:nvPr/>
        </p:nvSpPr>
        <p:spPr>
          <a:xfrm>
            <a:off x="868680" y="2560320"/>
            <a:ext cx="5120640" cy="822960"/>
          </a:xfrm>
          <a:prstGeom prst="rect">
            <a:avLst/>
          </a:prstGeom>
          <a:noFill/>
        </p:spPr>
        <p:txBody>
          <a:bodyPr wrap="square" anchor="t"/>
          <a:lstStyle/>
          <a:p>
            <a:pPr algn="l">
              <a:spcAft>
                <a:spcPts val="400"/>
              </a:spcAft>
            </a:pPr>
            <a:r>
              <a:rPr sz="1600" b="0" i="0">
                <a:solidFill>
                  <a:srgbClr val="1E2D44"/>
                </a:solidFill>
                <a:latin typeface="Karla"/>
              </a:rPr>
              <a:t>Consumer Product Packaging Study</a:t>
            </a:r>
          </a:p>
        </p:txBody>
      </p:sp>
      <p:sp>
        <p:nvSpPr>
          <p:cNvPr id="8" name="TextBox 7"/>
          <p:cNvSpPr txBox="1"/>
          <p:nvPr/>
        </p:nvSpPr>
        <p:spPr>
          <a:xfrm>
            <a:off x="868680" y="3520440"/>
            <a:ext cx="5120640" cy="731520"/>
          </a:xfrm>
          <a:prstGeom prst="rect">
            <a:avLst/>
          </a:prstGeom>
          <a:noFill/>
        </p:spPr>
        <p:txBody>
          <a:bodyPr wrap="square" anchor="t"/>
          <a:lstStyle/>
          <a:p>
            <a:pPr algn="l">
              <a:spcAft>
                <a:spcPts val="400"/>
              </a:spcAft>
            </a:pPr>
            <a:r>
              <a:rPr sz="3600" b="1" i="0">
                <a:solidFill>
                  <a:srgbClr val="1E2D44"/>
                </a:solidFill>
                <a:latin typeface="Karla"/>
              </a:rPr>
              <a:t>No intercept</a:t>
            </a:r>
          </a:p>
        </p:txBody>
      </p:sp>
      <p:sp>
        <p:nvSpPr>
          <p:cNvPr id="9" name="TextBox 8"/>
          <p:cNvSpPr txBox="1"/>
          <p:nvPr/>
        </p:nvSpPr>
        <p:spPr>
          <a:xfrm>
            <a:off x="868680" y="4343400"/>
            <a:ext cx="5120640" cy="502920"/>
          </a:xfrm>
          <a:prstGeom prst="rect">
            <a:avLst/>
          </a:prstGeom>
          <a:noFill/>
        </p:spPr>
        <p:txBody>
          <a:bodyPr wrap="square" anchor="t"/>
          <a:lstStyle/>
          <a:p>
            <a:pPr algn="l">
              <a:spcAft>
                <a:spcPts val="400"/>
              </a:spcAft>
            </a:pPr>
            <a:r>
              <a:rPr sz="1400" b="0" i="0">
                <a:solidFill>
                  <a:srgbClr val="617086"/>
                </a:solidFill>
                <a:latin typeface="Karla"/>
              </a:rPr>
              <a:t>Element scores are the lift on their own</a:t>
            </a:r>
          </a:p>
        </p:txBody>
      </p:sp>
      <p:sp>
        <p:nvSpPr>
          <p:cNvPr id="10" name="TextBox 9"/>
          <p:cNvSpPr txBox="1"/>
          <p:nvPr/>
        </p:nvSpPr>
        <p:spPr>
          <a:xfrm>
            <a:off x="868680" y="5074920"/>
            <a:ext cx="5120640" cy="274320"/>
          </a:xfrm>
          <a:prstGeom prst="rect">
            <a:avLst/>
          </a:prstGeom>
          <a:noFill/>
        </p:spPr>
        <p:txBody>
          <a:bodyPr wrap="square" anchor="t"/>
          <a:lstStyle/>
          <a:p>
            <a:pPr algn="l">
              <a:spcAft>
                <a:spcPts val="400"/>
              </a:spcAft>
            </a:pPr>
            <a:r>
              <a:rPr sz="1400" b="1" i="0">
                <a:solidFill>
                  <a:srgbClr val="1E2D44"/>
                </a:solidFill>
                <a:latin typeface="Karla"/>
              </a:rPr>
              <a:t>Base size 150</a:t>
            </a:r>
          </a:p>
        </p:txBody>
      </p:sp>
      <p:sp>
        <p:nvSpPr>
          <p:cNvPr id="11" name="Rounded Rectangle 10"/>
          <p:cNvSpPr/>
          <p:nvPr/>
        </p:nvSpPr>
        <p:spPr>
          <a:xfrm>
            <a:off x="6583680" y="1874519"/>
            <a:ext cx="5029200" cy="4023360"/>
          </a:xfrm>
          <a:prstGeom prst="roundRect">
            <a:avLst>
              <a:gd name="adj" fmla="val 8000"/>
            </a:avLst>
          </a:prstGeom>
          <a:solidFill>
            <a:srgbClr val="1E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03720" y="2148840"/>
            <a:ext cx="4480560" cy="274320"/>
          </a:xfrm>
          <a:prstGeom prst="rect">
            <a:avLst/>
          </a:prstGeom>
          <a:noFill/>
        </p:spPr>
        <p:txBody>
          <a:bodyPr wrap="square" anchor="t"/>
          <a:lstStyle/>
          <a:p>
            <a:pPr algn="l">
              <a:spcAft>
                <a:spcPts val="400"/>
              </a:spcAft>
            </a:pPr>
            <a:r>
              <a:rPr sz="1300" b="1" i="0">
                <a:solidFill>
                  <a:srgbClr val="EAC8D4"/>
                </a:solidFill>
                <a:latin typeface="Karla"/>
              </a:rPr>
              <a:t>HOW TO USE IT</a:t>
            </a:r>
          </a:p>
        </p:txBody>
      </p:sp>
      <p:sp>
        <p:nvSpPr>
          <p:cNvPr id="13" name="TextBox 12"/>
          <p:cNvSpPr txBox="1"/>
          <p:nvPr/>
        </p:nvSpPr>
        <p:spPr>
          <a:xfrm>
            <a:off x="6903720" y="2606040"/>
            <a:ext cx="4434840" cy="914400"/>
          </a:xfrm>
          <a:prstGeom prst="rect">
            <a:avLst/>
          </a:prstGeom>
          <a:noFill/>
        </p:spPr>
        <p:txBody>
          <a:bodyPr wrap="square" anchor="t"/>
          <a:lstStyle/>
          <a:p>
            <a:pPr algn="l">
              <a:spcAft>
                <a:spcPts val="400"/>
              </a:spcAft>
            </a:pPr>
            <a:r>
              <a:rPr sz="1600" b="0" i="0">
                <a:solidFill>
                  <a:srgbClr val="FFFFFF"/>
                </a:solidFill>
                <a:latin typeface="Karla"/>
              </a:rPr>
              <a:t>Each element chart is movement around this number, not a new total by itself.</a:t>
            </a:r>
          </a:p>
        </p:txBody>
      </p:sp>
      <p:sp>
        <p:nvSpPr>
          <p:cNvPr id="14" name="TextBox 13"/>
          <p:cNvSpPr txBox="1"/>
          <p:nvPr/>
        </p:nvSpPr>
        <p:spPr>
          <a:xfrm>
            <a:off x="6903720" y="3703320"/>
            <a:ext cx="4434840" cy="1188720"/>
          </a:xfrm>
          <a:prstGeom prst="rect">
            <a:avLst/>
          </a:prstGeom>
          <a:noFill/>
        </p:spPr>
        <p:txBody>
          <a:bodyPr wrap="square" anchor="t"/>
          <a:lstStyle/>
          <a:p>
            <a:pPr algn="l">
              <a:spcAft>
                <a:spcPts val="400"/>
              </a:spcAft>
            </a:pPr>
            <a:r>
              <a:rPr sz="1600" b="0" i="0">
                <a:solidFill>
                  <a:srgbClr val="FFFFFF"/>
                </a:solidFill>
                <a:latin typeface="Karla"/>
              </a:rPr>
              <a:t>A build-up adds the baseline and one lift from each silo. That sum is a model scenario. It is not capped at 0 or 100.</a:t>
            </a:r>
          </a:p>
        </p:txBody>
      </p:sp>
      <p:sp>
        <p:nvSpPr>
          <p:cNvPr id="15" name="Rectangle 14"/>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n=150 respondents.  Top-2 Box model (ratings 4–5): element lifts show movement above or below the model baseline.</a:t>
            </a:r>
          </a:p>
        </p:txBody>
      </p:sp>
      <p:sp>
        <p:nvSpPr>
          <p:cNvPr id="17" name="TextBox 16"/>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84048" cy="6858000"/>
          </a:xfrm>
          <a:prstGeom prst="rect">
            <a:avLst/>
          </a:prstGeom>
          <a:solidFill>
            <a:srgbClr val="E8C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29184"/>
            <a:ext cx="5852160" cy="219456"/>
          </a:xfrm>
          <a:prstGeom prst="rect">
            <a:avLst/>
          </a:prstGeom>
          <a:noFill/>
        </p:spPr>
        <p:txBody>
          <a:bodyPr wrap="square" anchor="t" lIns="0" rIns="0" tIns="0" bIns="0"/>
          <a:lstStyle/>
          <a:p>
            <a:pPr algn="l">
              <a:spcBef>
                <a:spcPts val="0"/>
              </a:spcBef>
              <a:spcAft>
                <a:spcPts val="0"/>
              </a:spcAft>
            </a:pPr>
            <a:r>
              <a:rPr sz="1200" b="1" i="0">
                <a:solidFill>
                  <a:srgbClr val="1F2A44"/>
                </a:solidFill>
                <a:latin typeface="Karla"/>
              </a:rPr>
              <a:t>KEY FINDINGS</a:t>
            </a:r>
          </a:p>
        </p:txBody>
      </p:sp>
      <p:sp>
        <p:nvSpPr>
          <p:cNvPr id="4" name="TextBox 3"/>
          <p:cNvSpPr txBox="1"/>
          <p:nvPr/>
        </p:nvSpPr>
        <p:spPr>
          <a:xfrm>
            <a:off x="713232" y="621792"/>
            <a:ext cx="6126480" cy="1051560"/>
          </a:xfrm>
          <a:prstGeom prst="rect">
            <a:avLst/>
          </a:prstGeom>
          <a:noFill/>
        </p:spPr>
        <p:txBody>
          <a:bodyPr wrap="square" anchor="t" lIns="0" rIns="0" tIns="0" bIns="0"/>
          <a:lstStyle/>
          <a:p>
            <a:pPr algn="l">
              <a:spcBef>
                <a:spcPts val="0"/>
              </a:spcBef>
              <a:spcAft>
                <a:spcPts val="0"/>
              </a:spcAft>
            </a:pPr>
            <a:r>
              <a:rPr sz="3000" b="1" i="0">
                <a:solidFill>
                  <a:srgbClr val="1F2A44"/>
                </a:solidFill>
                <a:latin typeface="Karla"/>
              </a:rPr>
              <a:t>Appeal moves most clearly</a:t>
            </a:r>
          </a:p>
          <a:p>
            <a:pPr algn="l">
              <a:spcBef>
                <a:spcPts val="0"/>
              </a:spcBef>
              <a:spcAft>
                <a:spcPts val="0"/>
              </a:spcAft>
            </a:pPr>
            <a:r>
              <a:rPr sz="3000" b="1" i="0">
                <a:solidFill>
                  <a:srgbClr val="1F2A44"/>
                </a:solidFill>
                <a:latin typeface="Karla"/>
              </a:rPr>
              <a:t>in four design areas</a:t>
            </a:r>
          </a:p>
        </p:txBody>
      </p:sp>
      <p:sp>
        <p:nvSpPr>
          <p:cNvPr id="5" name="Rounded Rectangle 4"/>
          <p:cNvSpPr/>
          <p:nvPr/>
        </p:nvSpPr>
        <p:spPr>
          <a:xfrm>
            <a:off x="7178040" y="566928"/>
            <a:ext cx="4434840" cy="1115568"/>
          </a:xfrm>
          <a:prstGeom prst="roundRect">
            <a:avLst>
              <a:gd name="adj" fmla="val 10000"/>
            </a:avLst>
          </a:prstGeom>
          <a:solidFill>
            <a:srgbClr val="F7EC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88352" y="713232"/>
            <a:ext cx="4041648" cy="822960"/>
          </a:xfrm>
          <a:prstGeom prst="rect">
            <a:avLst/>
          </a:prstGeom>
          <a:noFill/>
        </p:spPr>
        <p:txBody>
          <a:bodyPr wrap="square" anchor="ctr" lIns="0" rIns="0" tIns="0" bIns="0"/>
          <a:lstStyle/>
          <a:p>
            <a:pPr algn="l">
              <a:spcBef>
                <a:spcPts val="0"/>
              </a:spcBef>
              <a:spcAft>
                <a:spcPts val="0"/>
              </a:spcAft>
            </a:pPr>
            <a:r>
              <a:rPr sz="1400" b="0" i="0">
                <a:solidFill>
                  <a:srgbClr val="1F2A44"/>
                </a:solidFill>
                <a:latin typeface="Karla"/>
              </a:rPr>
              <a:t>These are the silos where one element, or the gap inside the silo, moves appeal the most.</a:t>
            </a:r>
          </a:p>
        </p:txBody>
      </p:sp>
      <p:sp>
        <p:nvSpPr>
          <p:cNvPr id="7" name="TextBox 6"/>
          <p:cNvSpPr txBox="1"/>
          <p:nvPr/>
        </p:nvSpPr>
        <p:spPr>
          <a:xfrm>
            <a:off x="713232" y="1965960"/>
            <a:ext cx="5486400" cy="219456"/>
          </a:xfrm>
          <a:prstGeom prst="rect">
            <a:avLst/>
          </a:prstGeom>
          <a:noFill/>
        </p:spPr>
        <p:txBody>
          <a:bodyPr wrap="square" anchor="t" lIns="0" rIns="0" tIns="0" bIns="0"/>
          <a:lstStyle/>
          <a:p>
            <a:pPr algn="l">
              <a:spcBef>
                <a:spcPts val="0"/>
              </a:spcBef>
              <a:spcAft>
                <a:spcPts val="0"/>
              </a:spcAft>
            </a:pPr>
            <a:r>
              <a:rPr sz="1100" b="1" i="0">
                <a:solidFill>
                  <a:srgbClr val="65748B"/>
                </a:solidFill>
                <a:latin typeface="Karla"/>
              </a:rPr>
              <a:t>ROADMAP FOR THE READ</a:t>
            </a:r>
          </a:p>
        </p:txBody>
      </p:sp>
      <p:sp>
        <p:nvSpPr>
          <p:cNvPr id="8" name="Rounded Rectangle 7"/>
          <p:cNvSpPr/>
          <p:nvPr/>
        </p:nvSpPr>
        <p:spPr>
          <a:xfrm>
            <a:off x="713232" y="2267712"/>
            <a:ext cx="2670048" cy="2331720"/>
          </a:xfrm>
          <a:prstGeom prst="roundRect">
            <a:avLst>
              <a:gd name="adj" fmla="val 6000"/>
            </a:avLst>
          </a:prstGeom>
          <a:solidFill>
            <a:srgbClr val="FFFFFF"/>
          </a:solidFill>
          <a:ln w="12700">
            <a:solidFill>
              <a:srgbClr val="E4E9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2377440"/>
            <a:ext cx="2286000" cy="201168"/>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01</a:t>
            </a:r>
          </a:p>
        </p:txBody>
      </p:sp>
      <p:sp>
        <p:nvSpPr>
          <p:cNvPr id="10" name="TextBox 9"/>
          <p:cNvSpPr txBox="1"/>
          <p:nvPr/>
        </p:nvSpPr>
        <p:spPr>
          <a:xfrm>
            <a:off x="877824" y="2596896"/>
            <a:ext cx="2340864" cy="475488"/>
          </a:xfrm>
          <a:prstGeom prst="rect">
            <a:avLst/>
          </a:prstGeom>
          <a:noFill/>
        </p:spPr>
        <p:txBody>
          <a:bodyPr wrap="square" anchor="t" lIns="0" rIns="0" tIns="0" bIns="0"/>
          <a:lstStyle/>
          <a:p>
            <a:pPr algn="l">
              <a:spcBef>
                <a:spcPts val="0"/>
              </a:spcBef>
              <a:spcAft>
                <a:spcPts val="0"/>
              </a:spcAft>
            </a:pPr>
            <a:r>
              <a:rPr sz="1600" b="1" i="0">
                <a:solidFill>
                  <a:srgbClr val="1F2A44"/>
                </a:solidFill>
                <a:latin typeface="Karla"/>
              </a:rPr>
              <a:t>B_Cookie</a:t>
            </a:r>
          </a:p>
        </p:txBody>
      </p:sp>
      <p:sp>
        <p:nvSpPr>
          <p:cNvPr id="11" name="TextBox 10"/>
          <p:cNvSpPr txBox="1"/>
          <p:nvPr/>
        </p:nvSpPr>
        <p:spPr>
          <a:xfrm>
            <a:off x="877824" y="3145536"/>
            <a:ext cx="2340864" cy="1298448"/>
          </a:xfrm>
          <a:prstGeom prst="rect">
            <a:avLst/>
          </a:prstGeom>
          <a:noFill/>
        </p:spPr>
        <p:txBody>
          <a:bodyPr wrap="square" anchor="t" lIns="0" rIns="0" tIns="0" bIns="0"/>
          <a:lstStyle/>
          <a:p>
            <a:pPr algn="l">
              <a:spcBef>
                <a:spcPts val="0"/>
              </a:spcBef>
              <a:spcAft>
                <a:spcPts val="0"/>
              </a:spcAft>
            </a:pPr>
            <a:r>
              <a:rPr sz="1200" b="0" i="0">
                <a:solidFill>
                  <a:srgbClr val="65748B"/>
                </a:solidFill>
                <a:latin typeface="Karla"/>
              </a:rPr>
              <a:t>B01 Cookie Chocolate Filling Right Upper D2D3 leads at +26.</a:t>
            </a:r>
          </a:p>
          <a:p>
            <a:pPr algn="l">
              <a:spcBef>
                <a:spcPts val="0"/>
              </a:spcBef>
              <a:spcAft>
                <a:spcPts val="0"/>
              </a:spcAft>
            </a:pPr>
            <a:r>
              <a:rPr sz="1200" b="0" i="0">
                <a:solidFill>
                  <a:srgbClr val="65748B"/>
                </a:solidFill>
                <a:latin typeface="Karla"/>
              </a:rPr>
              <a:t>Low end is B06 Cookie Orange Filling Right Lower D1.</a:t>
            </a:r>
          </a:p>
        </p:txBody>
      </p:sp>
      <p:sp>
        <p:nvSpPr>
          <p:cNvPr id="12" name="Rounded Rectangle 11"/>
          <p:cNvSpPr/>
          <p:nvPr/>
        </p:nvSpPr>
        <p:spPr>
          <a:xfrm>
            <a:off x="3529584" y="2267712"/>
            <a:ext cx="2670048" cy="2331720"/>
          </a:xfrm>
          <a:prstGeom prst="roundRect">
            <a:avLst>
              <a:gd name="adj" fmla="val 6000"/>
            </a:avLst>
          </a:prstGeom>
          <a:solidFill>
            <a:srgbClr val="FFFFFF"/>
          </a:solidFill>
          <a:ln w="12700">
            <a:solidFill>
              <a:srgbClr val="E4E9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94176" y="2377440"/>
            <a:ext cx="2286000" cy="201168"/>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02</a:t>
            </a:r>
          </a:p>
        </p:txBody>
      </p:sp>
      <p:sp>
        <p:nvSpPr>
          <p:cNvPr id="14" name="TextBox 13"/>
          <p:cNvSpPr txBox="1"/>
          <p:nvPr/>
        </p:nvSpPr>
        <p:spPr>
          <a:xfrm>
            <a:off x="3694176" y="2596896"/>
            <a:ext cx="2340864" cy="475488"/>
          </a:xfrm>
          <a:prstGeom prst="rect">
            <a:avLst/>
          </a:prstGeom>
          <a:noFill/>
        </p:spPr>
        <p:txBody>
          <a:bodyPr wrap="square" anchor="t" lIns="0" rIns="0" tIns="0" bIns="0"/>
          <a:lstStyle/>
          <a:p>
            <a:pPr algn="l">
              <a:spcBef>
                <a:spcPts val="0"/>
              </a:spcBef>
              <a:spcAft>
                <a:spcPts val="0"/>
              </a:spcAft>
            </a:pPr>
            <a:r>
              <a:rPr sz="1600" b="1" i="0">
                <a:solidFill>
                  <a:srgbClr val="1F2A44"/>
                </a:solidFill>
                <a:latin typeface="Karla"/>
              </a:rPr>
              <a:t>E_Flavour</a:t>
            </a:r>
          </a:p>
        </p:txBody>
      </p:sp>
      <p:sp>
        <p:nvSpPr>
          <p:cNvPr id="15" name="TextBox 14"/>
          <p:cNvSpPr txBox="1"/>
          <p:nvPr/>
        </p:nvSpPr>
        <p:spPr>
          <a:xfrm>
            <a:off x="3694176" y="3145536"/>
            <a:ext cx="2340864" cy="1298448"/>
          </a:xfrm>
          <a:prstGeom prst="rect">
            <a:avLst/>
          </a:prstGeom>
          <a:noFill/>
        </p:spPr>
        <p:txBody>
          <a:bodyPr wrap="square" anchor="t" lIns="0" rIns="0" tIns="0" bIns="0"/>
          <a:lstStyle/>
          <a:p>
            <a:pPr algn="l">
              <a:spcBef>
                <a:spcPts val="0"/>
              </a:spcBef>
              <a:spcAft>
                <a:spcPts val="0"/>
              </a:spcAft>
            </a:pPr>
            <a:r>
              <a:rPr sz="1200" b="0" i="0">
                <a:solidFill>
                  <a:srgbClr val="65748B"/>
                </a:solidFill>
                <a:latin typeface="Karla"/>
              </a:rPr>
              <a:t>E08 Banana Chocolate Top Left Dark Text Panel leads at +23.</a:t>
            </a:r>
          </a:p>
          <a:p>
            <a:pPr algn="l">
              <a:spcBef>
                <a:spcPts val="0"/>
              </a:spcBef>
              <a:spcAft>
                <a:spcPts val="0"/>
              </a:spcAft>
            </a:pPr>
            <a:r>
              <a:rPr sz="1200" b="0" i="0">
                <a:solidFill>
                  <a:srgbClr val="65748B"/>
                </a:solidFill>
                <a:latin typeface="Karla"/>
              </a:rPr>
              <a:t>Low end is E04 Orange Chocolate Top Centre Dark Text D2D3 Panel.</a:t>
            </a:r>
          </a:p>
        </p:txBody>
      </p:sp>
      <p:sp>
        <p:nvSpPr>
          <p:cNvPr id="16" name="Rounded Rectangle 15"/>
          <p:cNvSpPr/>
          <p:nvPr/>
        </p:nvSpPr>
        <p:spPr>
          <a:xfrm>
            <a:off x="6345936" y="2267712"/>
            <a:ext cx="2670048" cy="2331720"/>
          </a:xfrm>
          <a:prstGeom prst="roundRect">
            <a:avLst>
              <a:gd name="adj" fmla="val 6000"/>
            </a:avLst>
          </a:prstGeom>
          <a:solidFill>
            <a:srgbClr val="FFFFFF"/>
          </a:solidFill>
          <a:ln w="12700">
            <a:solidFill>
              <a:srgbClr val="E4E9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10528" y="2377440"/>
            <a:ext cx="2286000" cy="201168"/>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03</a:t>
            </a:r>
          </a:p>
        </p:txBody>
      </p:sp>
      <p:sp>
        <p:nvSpPr>
          <p:cNvPr id="18" name="TextBox 17"/>
          <p:cNvSpPr txBox="1"/>
          <p:nvPr/>
        </p:nvSpPr>
        <p:spPr>
          <a:xfrm>
            <a:off x="6510528" y="2596896"/>
            <a:ext cx="2340864" cy="475488"/>
          </a:xfrm>
          <a:prstGeom prst="rect">
            <a:avLst/>
          </a:prstGeom>
          <a:noFill/>
        </p:spPr>
        <p:txBody>
          <a:bodyPr wrap="square" anchor="t" lIns="0" rIns="0" tIns="0" bIns="0"/>
          <a:lstStyle/>
          <a:p>
            <a:pPr algn="l">
              <a:spcBef>
                <a:spcPts val="0"/>
              </a:spcBef>
              <a:spcAft>
                <a:spcPts val="0"/>
              </a:spcAft>
            </a:pPr>
            <a:r>
              <a:rPr sz="1600" b="1" i="0">
                <a:solidFill>
                  <a:srgbClr val="1F2A44"/>
                </a:solidFill>
                <a:latin typeface="Karla"/>
              </a:rPr>
              <a:t>C_Claim</a:t>
            </a:r>
          </a:p>
        </p:txBody>
      </p:sp>
      <p:sp>
        <p:nvSpPr>
          <p:cNvPr id="19" name="TextBox 18"/>
          <p:cNvSpPr txBox="1"/>
          <p:nvPr/>
        </p:nvSpPr>
        <p:spPr>
          <a:xfrm>
            <a:off x="6510528" y="3145536"/>
            <a:ext cx="2340864" cy="1298448"/>
          </a:xfrm>
          <a:prstGeom prst="rect">
            <a:avLst/>
          </a:prstGeom>
          <a:noFill/>
        </p:spPr>
        <p:txBody>
          <a:bodyPr wrap="square" anchor="t" lIns="0" rIns="0" tIns="0" bIns="0"/>
          <a:lstStyle/>
          <a:p>
            <a:pPr algn="l">
              <a:spcBef>
                <a:spcPts val="0"/>
              </a:spcBef>
              <a:spcAft>
                <a:spcPts val="0"/>
              </a:spcAft>
            </a:pPr>
            <a:r>
              <a:rPr sz="1200" b="0" i="0">
                <a:solidFill>
                  <a:srgbClr val="65748B"/>
                </a:solidFill>
                <a:latin typeface="Karla"/>
              </a:rPr>
              <a:t>C04 Claim Full Block Fibrecollagen 33 Protein 20gno Sugar Mid Left D1 leads at +23.</a:t>
            </a:r>
          </a:p>
          <a:p>
            <a:pPr algn="l">
              <a:spcBef>
                <a:spcPts val="0"/>
              </a:spcBef>
              <a:spcAft>
                <a:spcPts val="0"/>
              </a:spcAft>
            </a:pPr>
            <a:r>
              <a:rPr sz="1200" b="0" i="0">
                <a:solidFill>
                  <a:srgbClr val="65748B"/>
                </a:solidFill>
                <a:latin typeface="Karla"/>
              </a:rPr>
              <a:t>Low end is C03 Claim 33 Protein Only Bottom Centre D2D3.</a:t>
            </a:r>
          </a:p>
        </p:txBody>
      </p:sp>
      <p:sp>
        <p:nvSpPr>
          <p:cNvPr id="20" name="Rounded Rectangle 19"/>
          <p:cNvSpPr/>
          <p:nvPr/>
        </p:nvSpPr>
        <p:spPr>
          <a:xfrm>
            <a:off x="9162288" y="2267712"/>
            <a:ext cx="2670048" cy="2331720"/>
          </a:xfrm>
          <a:prstGeom prst="roundRect">
            <a:avLst>
              <a:gd name="adj" fmla="val 6000"/>
            </a:avLst>
          </a:prstGeom>
          <a:solidFill>
            <a:srgbClr val="FFFFFF"/>
          </a:solidFill>
          <a:ln w="12700">
            <a:solidFill>
              <a:srgbClr val="E4E9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326880" y="2377440"/>
            <a:ext cx="2286000" cy="201168"/>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04</a:t>
            </a:r>
          </a:p>
        </p:txBody>
      </p:sp>
      <p:sp>
        <p:nvSpPr>
          <p:cNvPr id="22" name="TextBox 21"/>
          <p:cNvSpPr txBox="1"/>
          <p:nvPr/>
        </p:nvSpPr>
        <p:spPr>
          <a:xfrm>
            <a:off x="9326880" y="2596896"/>
            <a:ext cx="2340864" cy="475488"/>
          </a:xfrm>
          <a:prstGeom prst="rect">
            <a:avLst/>
          </a:prstGeom>
          <a:noFill/>
        </p:spPr>
        <p:txBody>
          <a:bodyPr wrap="square" anchor="t" lIns="0" rIns="0" tIns="0" bIns="0"/>
          <a:lstStyle/>
          <a:p>
            <a:pPr algn="l">
              <a:spcBef>
                <a:spcPts val="0"/>
              </a:spcBef>
              <a:spcAft>
                <a:spcPts val="0"/>
              </a:spcAft>
            </a:pPr>
            <a:r>
              <a:rPr sz="1600" b="1" i="0">
                <a:solidFill>
                  <a:srgbClr val="1F2A44"/>
                </a:solidFill>
                <a:latin typeface="Karla"/>
              </a:rPr>
              <a:t>A_Background</a:t>
            </a:r>
          </a:p>
        </p:txBody>
      </p:sp>
      <p:sp>
        <p:nvSpPr>
          <p:cNvPr id="23" name="TextBox 22"/>
          <p:cNvSpPr txBox="1"/>
          <p:nvPr/>
        </p:nvSpPr>
        <p:spPr>
          <a:xfrm>
            <a:off x="9326880" y="3145536"/>
            <a:ext cx="2340864" cy="1298448"/>
          </a:xfrm>
          <a:prstGeom prst="rect">
            <a:avLst/>
          </a:prstGeom>
          <a:noFill/>
        </p:spPr>
        <p:txBody>
          <a:bodyPr wrap="square" anchor="t" lIns="0" rIns="0" tIns="0" bIns="0"/>
          <a:lstStyle/>
          <a:p>
            <a:pPr algn="l">
              <a:spcBef>
                <a:spcPts val="0"/>
              </a:spcBef>
              <a:spcAft>
                <a:spcPts val="0"/>
              </a:spcAft>
            </a:pPr>
            <a:r>
              <a:rPr sz="1200" b="0" i="0">
                <a:solidFill>
                  <a:srgbClr val="65748B"/>
                </a:solidFill>
                <a:latin typeface="Karla"/>
              </a:rPr>
              <a:t>A06 D2 Orange Wrapper leads at +18.</a:t>
            </a:r>
          </a:p>
          <a:p>
            <a:pPr algn="l">
              <a:spcBef>
                <a:spcPts val="0"/>
              </a:spcBef>
              <a:spcAft>
                <a:spcPts val="0"/>
              </a:spcAft>
            </a:pPr>
            <a:r>
              <a:rPr sz="1200" b="0" i="0">
                <a:solidFill>
                  <a:srgbClr val="65748B"/>
                </a:solidFill>
                <a:latin typeface="Karla"/>
              </a:rPr>
              <a:t>Low end is A03 D1 Yellow Wrapper.</a:t>
            </a:r>
          </a:p>
        </p:txBody>
      </p:sp>
      <p:sp>
        <p:nvSpPr>
          <p:cNvPr id="24" name="Rounded Rectangle 23"/>
          <p:cNvSpPr/>
          <p:nvPr/>
        </p:nvSpPr>
        <p:spPr>
          <a:xfrm>
            <a:off x="713232" y="5020055"/>
            <a:ext cx="11119104" cy="713232"/>
          </a:xfrm>
          <a:prstGeom prst="roundRect">
            <a:avLst>
              <a:gd name="adj" fmla="val 8000"/>
            </a:avLst>
          </a:prstGeom>
          <a:solidFill>
            <a:srgbClr val="F7EC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3232" y="5020055"/>
            <a:ext cx="11119104" cy="713232"/>
          </a:xfrm>
          <a:prstGeom prst="rect">
            <a:avLst/>
          </a:prstGeom>
          <a:noFill/>
        </p:spPr>
        <p:txBody>
          <a:bodyPr wrap="square" anchor="ctr" lIns="0" rIns="0" tIns="0" bIns="0"/>
          <a:lstStyle/>
          <a:p>
            <a:pPr algn="ctr">
              <a:spcBef>
                <a:spcPts val="0"/>
              </a:spcBef>
              <a:spcAft>
                <a:spcPts val="0"/>
              </a:spcAft>
            </a:pPr>
            <a:r>
              <a:rPr sz="1500" b="0" i="0">
                <a:solidFill>
                  <a:srgbClr val="1F2A44"/>
                </a:solidFill>
                <a:latin typeface="Karla"/>
              </a:rPr>
              <a:t>The clearest appeal movement is concentrated in B_Cookie, E_Flavour, C_Claim, and A_Background.</a:t>
            </a:r>
          </a:p>
        </p:txBody>
      </p:sp>
      <p:sp>
        <p:nvSpPr>
          <p:cNvPr id="26" name="Rectangle 25"/>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n=150 respondents.  Top-2 Box model (ratings 4–5): element lifts show movement above or below the model baseline.</a:t>
            </a:r>
          </a:p>
        </p:txBody>
      </p:sp>
      <p:sp>
        <p:nvSpPr>
          <p:cNvPr id="28" name="TextBox 27"/>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37744"/>
            <a:ext cx="7043927" cy="182880"/>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KEY FINDINGS: A_BACKGROUND  ·  Can you read english?   ·   1 of 3</a:t>
            </a:r>
          </a:p>
        </p:txBody>
      </p:sp>
      <p:sp>
        <p:nvSpPr>
          <p:cNvPr id="3" name="TextBox 2"/>
          <p:cNvSpPr txBox="1"/>
          <p:nvPr/>
        </p:nvSpPr>
        <p:spPr>
          <a:xfrm>
            <a:off x="502920" y="438912"/>
            <a:ext cx="7043927" cy="365760"/>
          </a:xfrm>
          <a:prstGeom prst="rect">
            <a:avLst/>
          </a:prstGeom>
          <a:noFill/>
        </p:spPr>
        <p:txBody>
          <a:bodyPr wrap="square" anchor="t" lIns="0" rIns="0" tIns="0" bIns="0"/>
          <a:lstStyle/>
          <a:p>
            <a:pPr algn="l">
              <a:spcBef>
                <a:spcPts val="0"/>
              </a:spcBef>
              <a:spcAft>
                <a:spcPts val="0"/>
              </a:spcAft>
            </a:pPr>
            <a:r>
              <a:rPr sz="2600" b="1" i="0">
                <a:solidFill>
                  <a:srgbClr val="1E2D44"/>
                </a:solidFill>
                <a:latin typeface="Karla"/>
              </a:rPr>
              <a:t>A_Background splits across the groups</a:t>
            </a:r>
          </a:p>
        </p:txBody>
      </p:sp>
      <p:sp>
        <p:nvSpPr>
          <p:cNvPr id="4" name="TextBox 3"/>
          <p:cNvSpPr txBox="1"/>
          <p:nvPr/>
        </p:nvSpPr>
        <p:spPr>
          <a:xfrm>
            <a:off x="502920" y="822960"/>
            <a:ext cx="7043927" cy="274320"/>
          </a:xfrm>
          <a:prstGeom prst="rect">
            <a:avLst/>
          </a:prstGeom>
          <a:noFill/>
        </p:spPr>
        <p:txBody>
          <a:bodyPr wrap="square" anchor="t" lIns="0" rIns="0" tIns="0" bIns="0"/>
          <a:lstStyle/>
          <a:p>
            <a:pPr algn="l">
              <a:spcBef>
                <a:spcPts val="0"/>
              </a:spcBef>
              <a:spcAft>
                <a:spcPts val="0"/>
              </a:spcAft>
            </a:pPr>
            <a:r>
              <a:rPr sz="1300" b="0" i="0">
                <a:solidFill>
                  <a:srgbClr val="617086"/>
                </a:solidFill>
                <a:latin typeface="Karla"/>
              </a:rPr>
              <a:t>No favors A09 D3 Blue Wrapper; Yes favor A06 D2 Orange Wrapper.</a:t>
            </a:r>
          </a:p>
        </p:txBody>
      </p:sp>
      <p:sp>
        <p:nvSpPr>
          <p:cNvPr id="5" name="Rectangle 4"/>
          <p:cNvSpPr/>
          <p:nvPr/>
        </p:nvSpPr>
        <p:spPr>
          <a:xfrm>
            <a:off x="502920" y="1133856"/>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A_BACKGROUND</a:t>
            </a:r>
          </a:p>
        </p:txBody>
      </p:sp>
      <p:sp>
        <p:nvSpPr>
          <p:cNvPr id="6" name="TextBox 5"/>
          <p:cNvSpPr txBox="1"/>
          <p:nvPr/>
        </p:nvSpPr>
        <p:spPr>
          <a:xfrm>
            <a:off x="1874520"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7" name="Rectangle 6"/>
          <p:cNvSpPr/>
          <p:nvPr/>
        </p:nvSpPr>
        <p:spPr>
          <a:xfrm>
            <a:off x="3783583" y="1444752"/>
            <a:ext cx="9144" cy="351129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90975"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9" name="Rectangle 8"/>
          <p:cNvSpPr/>
          <p:nvPr/>
        </p:nvSpPr>
        <p:spPr>
          <a:xfrm>
            <a:off x="5400039" y="1444752"/>
            <a:ext cx="9144" cy="351129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7431"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1" name="Rectangle 10"/>
          <p:cNvSpPr/>
          <p:nvPr/>
        </p:nvSpPr>
        <p:spPr>
          <a:xfrm>
            <a:off x="7016495" y="1444752"/>
            <a:ext cx="9144" cy="351129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23887"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30</a:t>
            </a:r>
          </a:p>
        </p:txBody>
      </p:sp>
      <p:sp>
        <p:nvSpPr>
          <p:cNvPr id="13" name="Rectangle 12"/>
          <p:cNvSpPr/>
          <p:nvPr/>
        </p:nvSpPr>
        <p:spPr>
          <a:xfrm>
            <a:off x="2167128" y="1444752"/>
            <a:ext cx="10972" cy="3511295"/>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167128" y="4956047"/>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1707642"/>
            <a:ext cx="1554480" cy="352044"/>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A09 D3 Blue</a:t>
            </a:r>
          </a:p>
          <a:p>
            <a:pPr algn="r">
              <a:spcBef>
                <a:spcPts val="0"/>
              </a:spcBef>
              <a:spcAft>
                <a:spcPts val="0"/>
              </a:spcAft>
            </a:pPr>
            <a:r>
              <a:rPr sz="1100" b="0" i="0">
                <a:solidFill>
                  <a:srgbClr val="1E2D44"/>
                </a:solidFill>
                <a:latin typeface="Karla"/>
              </a:rPr>
              <a:t>Wrapper</a:t>
            </a:r>
          </a:p>
        </p:txBody>
      </p:sp>
      <p:sp>
        <p:nvSpPr>
          <p:cNvPr id="16" name="Rectangle 15"/>
          <p:cNvSpPr/>
          <p:nvPr/>
        </p:nvSpPr>
        <p:spPr>
          <a:xfrm>
            <a:off x="2167128" y="1707642"/>
            <a:ext cx="3717848"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39840" y="1707642"/>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+23</a:t>
            </a:r>
          </a:p>
        </p:txBody>
      </p:sp>
      <p:sp>
        <p:nvSpPr>
          <p:cNvPr id="18" name="Rectangle 17"/>
          <p:cNvSpPr/>
          <p:nvPr/>
        </p:nvSpPr>
        <p:spPr>
          <a:xfrm>
            <a:off x="2167128" y="1904238"/>
            <a:ext cx="2747975"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969967" y="1904238"/>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+17</a:t>
            </a:r>
          </a:p>
        </p:txBody>
      </p:sp>
      <p:sp>
        <p:nvSpPr>
          <p:cNvPr id="20" name="TextBox 19"/>
          <p:cNvSpPr txBox="1"/>
          <p:nvPr/>
        </p:nvSpPr>
        <p:spPr>
          <a:xfrm>
            <a:off x="502920" y="2585465"/>
            <a:ext cx="1554480" cy="352044"/>
          </a:xfrm>
          <a:prstGeom prst="rect">
            <a:avLst/>
          </a:prstGeom>
          <a:noFill/>
        </p:spPr>
        <p:txBody>
          <a:bodyPr wrap="none" anchor="ctr" lIns="0" rIns="0" tIns="0" bIns="0"/>
          <a:lstStyle/>
          <a:p>
            <a:pPr algn="r">
              <a:spcBef>
                <a:spcPts val="0"/>
              </a:spcBef>
              <a:spcAft>
                <a:spcPts val="0"/>
              </a:spcAft>
            </a:pPr>
            <a:r>
              <a:rPr sz="1200" b="0" i="0">
                <a:solidFill>
                  <a:srgbClr val="1E2D44"/>
                </a:solidFill>
                <a:latin typeface="Karla"/>
              </a:rPr>
              <a:t>D3 Pink Wrapper</a:t>
            </a:r>
          </a:p>
        </p:txBody>
      </p:sp>
      <p:sp>
        <p:nvSpPr>
          <p:cNvPr id="21" name="Rectangle 20"/>
          <p:cNvSpPr/>
          <p:nvPr/>
        </p:nvSpPr>
        <p:spPr>
          <a:xfrm>
            <a:off x="2167128" y="2585465"/>
            <a:ext cx="3071266"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93258" y="2585465"/>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+19</a:t>
            </a:r>
          </a:p>
        </p:txBody>
      </p:sp>
      <p:sp>
        <p:nvSpPr>
          <p:cNvPr id="23" name="Rectangle 22"/>
          <p:cNvSpPr/>
          <p:nvPr/>
        </p:nvSpPr>
        <p:spPr>
          <a:xfrm>
            <a:off x="2167128" y="2782061"/>
            <a:ext cx="2586329"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08321" y="2782061"/>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+16</a:t>
            </a:r>
          </a:p>
        </p:txBody>
      </p:sp>
      <p:sp>
        <p:nvSpPr>
          <p:cNvPr id="25" name="TextBox 24"/>
          <p:cNvSpPr txBox="1"/>
          <p:nvPr/>
        </p:nvSpPr>
        <p:spPr>
          <a:xfrm>
            <a:off x="502920" y="3463289"/>
            <a:ext cx="1554480" cy="352044"/>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A06 D2 Orange</a:t>
            </a:r>
          </a:p>
          <a:p>
            <a:pPr algn="r">
              <a:spcBef>
                <a:spcPts val="0"/>
              </a:spcBef>
              <a:spcAft>
                <a:spcPts val="0"/>
              </a:spcAft>
            </a:pPr>
            <a:r>
              <a:rPr sz="1100" b="0" i="0">
                <a:solidFill>
                  <a:srgbClr val="1E2D44"/>
                </a:solidFill>
                <a:latin typeface="Karla"/>
              </a:rPr>
              <a:t>Wrapper</a:t>
            </a:r>
          </a:p>
        </p:txBody>
      </p:sp>
      <p:sp>
        <p:nvSpPr>
          <p:cNvPr id="26" name="Rectangle 25"/>
          <p:cNvSpPr/>
          <p:nvPr/>
        </p:nvSpPr>
        <p:spPr>
          <a:xfrm>
            <a:off x="2167128" y="3463289"/>
            <a:ext cx="2909620"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131612" y="3463289"/>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+18</a:t>
            </a:r>
          </a:p>
        </p:txBody>
      </p:sp>
      <p:sp>
        <p:nvSpPr>
          <p:cNvPr id="28" name="Rectangle 27"/>
          <p:cNvSpPr/>
          <p:nvPr/>
        </p:nvSpPr>
        <p:spPr>
          <a:xfrm>
            <a:off x="2167128" y="3659885"/>
            <a:ext cx="2909620"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131612" y="3659885"/>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+18</a:t>
            </a:r>
          </a:p>
        </p:txBody>
      </p:sp>
      <p:sp>
        <p:nvSpPr>
          <p:cNvPr id="30" name="TextBox 29"/>
          <p:cNvSpPr txBox="1"/>
          <p:nvPr/>
        </p:nvSpPr>
        <p:spPr>
          <a:xfrm>
            <a:off x="502920" y="4341113"/>
            <a:ext cx="1554480" cy="352044"/>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A05 D2 Blue</a:t>
            </a:r>
          </a:p>
          <a:p>
            <a:pPr algn="r">
              <a:spcBef>
                <a:spcPts val="0"/>
              </a:spcBef>
              <a:spcAft>
                <a:spcPts val="0"/>
              </a:spcAft>
            </a:pPr>
            <a:r>
              <a:rPr sz="1100" b="0" i="0">
                <a:solidFill>
                  <a:srgbClr val="1E2D44"/>
                </a:solidFill>
                <a:latin typeface="Karla"/>
              </a:rPr>
              <a:t>Wrapper</a:t>
            </a:r>
          </a:p>
        </p:txBody>
      </p:sp>
      <p:sp>
        <p:nvSpPr>
          <p:cNvPr id="31" name="Rectangle 30"/>
          <p:cNvSpPr/>
          <p:nvPr/>
        </p:nvSpPr>
        <p:spPr>
          <a:xfrm>
            <a:off x="2167128" y="4341113"/>
            <a:ext cx="484936"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706928" y="4341113"/>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+3</a:t>
            </a:r>
          </a:p>
        </p:txBody>
      </p:sp>
      <p:sp>
        <p:nvSpPr>
          <p:cNvPr id="33" name="Rectangle 32"/>
          <p:cNvSpPr/>
          <p:nvPr/>
        </p:nvSpPr>
        <p:spPr>
          <a:xfrm>
            <a:off x="2167128" y="4537709"/>
            <a:ext cx="2747975"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969967" y="4537709"/>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+17</a:t>
            </a:r>
          </a:p>
        </p:txBody>
      </p:sp>
      <p:sp>
        <p:nvSpPr>
          <p:cNvPr id="35" name="Rectangle 34"/>
          <p:cNvSpPr/>
          <p:nvPr/>
        </p:nvSpPr>
        <p:spPr>
          <a:xfrm>
            <a:off x="2797047" y="5381244"/>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970783" y="5321807"/>
            <a:ext cx="1329944" cy="219456"/>
          </a:xfrm>
          <a:prstGeom prst="rect">
            <a:avLst/>
          </a:prstGeom>
          <a:noFill/>
        </p:spPr>
        <p:txBody>
          <a:bodyPr wrap="none" anchor="ctr" lIns="0" rIns="0" tIns="0" bIns="0"/>
          <a:lstStyle/>
          <a:p>
            <a:pPr algn="l">
              <a:spcBef>
                <a:spcPts val="0"/>
              </a:spcBef>
              <a:spcAft>
                <a:spcPts val="0"/>
              </a:spcAft>
            </a:pPr>
            <a:r>
              <a:rPr sz="1100" b="0" i="0">
                <a:solidFill>
                  <a:srgbClr val="2C3A4A"/>
                </a:solidFill>
                <a:latin typeface="Karla"/>
              </a:rPr>
              <a:t>No (basesize = 1)</a:t>
            </a:r>
          </a:p>
        </p:txBody>
      </p:sp>
      <p:sp>
        <p:nvSpPr>
          <p:cNvPr id="37" name="Rectangle 36"/>
          <p:cNvSpPr/>
          <p:nvPr/>
        </p:nvSpPr>
        <p:spPr>
          <a:xfrm>
            <a:off x="4648199" y="5381244"/>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821935" y="5321807"/>
            <a:ext cx="1564640" cy="219456"/>
          </a:xfrm>
          <a:prstGeom prst="rect">
            <a:avLst/>
          </a:prstGeom>
          <a:noFill/>
        </p:spPr>
        <p:txBody>
          <a:bodyPr wrap="none" anchor="ctr" lIns="0" rIns="0" tIns="0" bIns="0"/>
          <a:lstStyle/>
          <a:p>
            <a:pPr algn="l">
              <a:spcBef>
                <a:spcPts val="0"/>
              </a:spcBef>
              <a:spcAft>
                <a:spcPts val="0"/>
              </a:spcAft>
            </a:pPr>
            <a:r>
              <a:rPr sz="1100" b="0" i="0">
                <a:solidFill>
                  <a:srgbClr val="2C3A4A"/>
                </a:solidFill>
                <a:latin typeface="Karla"/>
              </a:rPr>
              <a:t>Yes (basesize = 149)</a:t>
            </a:r>
          </a:p>
        </p:txBody>
      </p:sp>
      <p:sp>
        <p:nvSpPr>
          <p:cNvPr id="39" name="Rounded Rectangle 38"/>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935467" y="601527"/>
            <a:ext cx="1709927" cy="135726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A9.png"/>
          <p:cNvPicPr>
            <a:picLocks noChangeAspect="1"/>
          </p:cNvPicPr>
          <p:nvPr/>
        </p:nvPicPr>
        <p:blipFill>
          <a:blip r:embed="rId2"/>
          <a:stretch>
            <a:fillRect/>
          </a:stretch>
        </p:blipFill>
        <p:spPr>
          <a:xfrm>
            <a:off x="7949183" y="615243"/>
            <a:ext cx="1682495" cy="1329833"/>
          </a:xfrm>
          <a:prstGeom prst="rect">
            <a:avLst/>
          </a:prstGeom>
        </p:spPr>
      </p:pic>
      <p:sp>
        <p:nvSpPr>
          <p:cNvPr id="42" name="TextBox 41"/>
          <p:cNvSpPr txBox="1"/>
          <p:nvPr/>
        </p:nvSpPr>
        <p:spPr>
          <a:xfrm>
            <a:off x="7912607" y="1999940"/>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A09 D3 Blue Wrapper</a:t>
            </a:r>
          </a:p>
        </p:txBody>
      </p:sp>
      <p:sp>
        <p:nvSpPr>
          <p:cNvPr id="43" name="TextBox 42"/>
          <p:cNvSpPr txBox="1"/>
          <p:nvPr/>
        </p:nvSpPr>
        <p:spPr>
          <a:xfrm>
            <a:off x="7912607" y="2365700"/>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+20*</a:t>
            </a:r>
          </a:p>
        </p:txBody>
      </p:sp>
      <p:sp>
        <p:nvSpPr>
          <p:cNvPr id="44" name="Rectangle 43"/>
          <p:cNvSpPr/>
          <p:nvPr/>
        </p:nvSpPr>
        <p:spPr>
          <a:xfrm>
            <a:off x="9855707" y="601527"/>
            <a:ext cx="1709927" cy="135726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5" name="Picture 44" descr="A12.png"/>
          <p:cNvPicPr>
            <a:picLocks noChangeAspect="1"/>
          </p:cNvPicPr>
          <p:nvPr/>
        </p:nvPicPr>
        <p:blipFill>
          <a:blip r:embed="rId3"/>
          <a:stretch>
            <a:fillRect/>
          </a:stretch>
        </p:blipFill>
        <p:spPr>
          <a:xfrm>
            <a:off x="9869423" y="615243"/>
            <a:ext cx="1682495" cy="1329833"/>
          </a:xfrm>
          <a:prstGeom prst="rect">
            <a:avLst/>
          </a:prstGeom>
        </p:spPr>
      </p:pic>
      <p:sp>
        <p:nvSpPr>
          <p:cNvPr id="46" name="TextBox 45"/>
          <p:cNvSpPr txBox="1"/>
          <p:nvPr/>
        </p:nvSpPr>
        <p:spPr>
          <a:xfrm>
            <a:off x="9832847" y="1999940"/>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D3 Pink Wrapper</a:t>
            </a:r>
          </a:p>
        </p:txBody>
      </p:sp>
      <p:sp>
        <p:nvSpPr>
          <p:cNvPr id="47" name="TextBox 46"/>
          <p:cNvSpPr txBox="1"/>
          <p:nvPr/>
        </p:nvSpPr>
        <p:spPr>
          <a:xfrm>
            <a:off x="9832847" y="2365700"/>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+18*</a:t>
            </a:r>
          </a:p>
        </p:txBody>
      </p:sp>
      <p:sp>
        <p:nvSpPr>
          <p:cNvPr id="48" name="Rectangle 47"/>
          <p:cNvSpPr/>
          <p:nvPr/>
        </p:nvSpPr>
        <p:spPr>
          <a:xfrm>
            <a:off x="7935467" y="3161847"/>
            <a:ext cx="1709927" cy="135726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9" name="Picture 48" descr="A6.png"/>
          <p:cNvPicPr>
            <a:picLocks noChangeAspect="1"/>
          </p:cNvPicPr>
          <p:nvPr/>
        </p:nvPicPr>
        <p:blipFill>
          <a:blip r:embed="rId4"/>
          <a:stretch>
            <a:fillRect/>
          </a:stretch>
        </p:blipFill>
        <p:spPr>
          <a:xfrm>
            <a:off x="7949183" y="3175563"/>
            <a:ext cx="1682495" cy="1329833"/>
          </a:xfrm>
          <a:prstGeom prst="rect">
            <a:avLst/>
          </a:prstGeom>
        </p:spPr>
      </p:pic>
      <p:sp>
        <p:nvSpPr>
          <p:cNvPr id="50" name="TextBox 49"/>
          <p:cNvSpPr txBox="1"/>
          <p:nvPr/>
        </p:nvSpPr>
        <p:spPr>
          <a:xfrm>
            <a:off x="7912607" y="4560260"/>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A06 D2 Orange</a:t>
            </a:r>
          </a:p>
          <a:p>
            <a:pPr algn="ctr">
              <a:spcBef>
                <a:spcPts val="0"/>
              </a:spcBef>
              <a:spcAft>
                <a:spcPts val="0"/>
              </a:spcAft>
            </a:pPr>
            <a:r>
              <a:rPr sz="1200" b="0" i="0">
                <a:solidFill>
                  <a:srgbClr val="1E2D44"/>
                </a:solidFill>
                <a:latin typeface="Karla"/>
              </a:rPr>
              <a:t>Wrapper</a:t>
            </a:r>
          </a:p>
        </p:txBody>
      </p:sp>
      <p:sp>
        <p:nvSpPr>
          <p:cNvPr id="51" name="TextBox 50"/>
          <p:cNvSpPr txBox="1"/>
          <p:nvPr/>
        </p:nvSpPr>
        <p:spPr>
          <a:xfrm>
            <a:off x="7912607" y="4926020"/>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+18*</a:t>
            </a:r>
          </a:p>
        </p:txBody>
      </p:sp>
      <p:sp>
        <p:nvSpPr>
          <p:cNvPr id="52" name="Rectangle 51"/>
          <p:cNvSpPr/>
          <p:nvPr/>
        </p:nvSpPr>
        <p:spPr>
          <a:xfrm>
            <a:off x="9855707" y="3161847"/>
            <a:ext cx="1709927" cy="135726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3" name="Picture 52" descr="A5.png"/>
          <p:cNvPicPr>
            <a:picLocks noChangeAspect="1"/>
          </p:cNvPicPr>
          <p:nvPr/>
        </p:nvPicPr>
        <p:blipFill>
          <a:blip r:embed="rId5"/>
          <a:stretch>
            <a:fillRect/>
          </a:stretch>
        </p:blipFill>
        <p:spPr>
          <a:xfrm>
            <a:off x="9869423" y="3175563"/>
            <a:ext cx="1682495" cy="1329833"/>
          </a:xfrm>
          <a:prstGeom prst="rect">
            <a:avLst/>
          </a:prstGeom>
        </p:spPr>
      </p:pic>
      <p:sp>
        <p:nvSpPr>
          <p:cNvPr id="54" name="TextBox 53"/>
          <p:cNvSpPr txBox="1"/>
          <p:nvPr/>
        </p:nvSpPr>
        <p:spPr>
          <a:xfrm>
            <a:off x="9832847" y="4560260"/>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A05 D2 Blue Wrapper</a:t>
            </a:r>
          </a:p>
        </p:txBody>
      </p:sp>
      <p:sp>
        <p:nvSpPr>
          <p:cNvPr id="55" name="TextBox 54"/>
          <p:cNvSpPr txBox="1"/>
          <p:nvPr/>
        </p:nvSpPr>
        <p:spPr>
          <a:xfrm>
            <a:off x="9832847" y="4926020"/>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+10*</a:t>
            </a:r>
          </a:p>
        </p:txBody>
      </p:sp>
      <p:sp>
        <p:nvSpPr>
          <p:cNvPr id="56" name="Rounded Rectangle 55"/>
          <p:cNvSpPr/>
          <p:nvPr/>
        </p:nvSpPr>
        <p:spPr>
          <a:xfrm>
            <a:off x="502920" y="5632704"/>
            <a:ext cx="11268455" cy="530352"/>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300" b="0">
                <a:solidFill>
                  <a:srgbClr val="1E2D44"/>
                </a:solidFill>
                <a:latin typeface="Karla"/>
              </a:rPr>
              <a:t>No favors A09 D3 Blue Wrapper; Yes favor A06 D2 Orange Wrapper. The widest segment gap is A01 D1 Blue Wrapper: -6 no / +13 yes.</a:t>
            </a:r>
          </a:p>
        </p:txBody>
      </p:sp>
      <p:sp>
        <p:nvSpPr>
          <p:cNvPr id="57" name="Rectangle 56"/>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No basesize = 1; Yes basesize = 149. Top-2 scores rounded to whole points. *Average of the groups in the legend.</a:t>
            </a:r>
          </a:p>
        </p:txBody>
      </p:sp>
      <p:sp>
        <p:nvSpPr>
          <p:cNvPr id="59" name="TextBox 58"/>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37744"/>
            <a:ext cx="7043927" cy="182880"/>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KEY FINDINGS: A_BACKGROUND  ·  Can you read english?   ·   2 of 3</a:t>
            </a:r>
          </a:p>
        </p:txBody>
      </p:sp>
      <p:sp>
        <p:nvSpPr>
          <p:cNvPr id="3" name="TextBox 2"/>
          <p:cNvSpPr txBox="1"/>
          <p:nvPr/>
        </p:nvSpPr>
        <p:spPr>
          <a:xfrm>
            <a:off x="502920" y="438912"/>
            <a:ext cx="7043927" cy="365760"/>
          </a:xfrm>
          <a:prstGeom prst="rect">
            <a:avLst/>
          </a:prstGeom>
          <a:noFill/>
        </p:spPr>
        <p:txBody>
          <a:bodyPr wrap="square" anchor="t" lIns="0" rIns="0" tIns="0" bIns="0"/>
          <a:lstStyle/>
          <a:p>
            <a:pPr algn="l">
              <a:spcBef>
                <a:spcPts val="0"/>
              </a:spcBef>
              <a:spcAft>
                <a:spcPts val="0"/>
              </a:spcAft>
            </a:pPr>
            <a:r>
              <a:rPr sz="2600" b="1" i="0">
                <a:solidFill>
                  <a:srgbClr val="1E2D44"/>
                </a:solidFill>
                <a:latin typeface="Karla"/>
              </a:rPr>
              <a:t>A_Background splits across the groups</a:t>
            </a:r>
          </a:p>
        </p:txBody>
      </p:sp>
      <p:sp>
        <p:nvSpPr>
          <p:cNvPr id="4" name="TextBox 3"/>
          <p:cNvSpPr txBox="1"/>
          <p:nvPr/>
        </p:nvSpPr>
        <p:spPr>
          <a:xfrm>
            <a:off x="502920" y="822960"/>
            <a:ext cx="7043927" cy="274320"/>
          </a:xfrm>
          <a:prstGeom prst="rect">
            <a:avLst/>
          </a:prstGeom>
          <a:noFill/>
        </p:spPr>
        <p:txBody>
          <a:bodyPr wrap="square" anchor="t" lIns="0" rIns="0" tIns="0" bIns="0"/>
          <a:lstStyle/>
          <a:p>
            <a:pPr algn="l">
              <a:spcBef>
                <a:spcPts val="0"/>
              </a:spcBef>
              <a:spcAft>
                <a:spcPts val="0"/>
              </a:spcAft>
            </a:pPr>
            <a:r>
              <a:rPr sz="1300" b="0" i="0">
                <a:solidFill>
                  <a:srgbClr val="617086"/>
                </a:solidFill>
                <a:latin typeface="Karla"/>
              </a:rPr>
              <a:t>No favors A09 D3 Blue Wrapper; Yes favor A06 D2 Orange Wrapper.</a:t>
            </a:r>
          </a:p>
        </p:txBody>
      </p:sp>
      <p:sp>
        <p:nvSpPr>
          <p:cNvPr id="5" name="Rectangle 4"/>
          <p:cNvSpPr/>
          <p:nvPr/>
        </p:nvSpPr>
        <p:spPr>
          <a:xfrm>
            <a:off x="502920" y="1133856"/>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A_BACKGROUND</a:t>
            </a:r>
          </a:p>
        </p:txBody>
      </p:sp>
      <p:sp>
        <p:nvSpPr>
          <p:cNvPr id="6" name="Rectangle 5"/>
          <p:cNvSpPr/>
          <p:nvPr/>
        </p:nvSpPr>
        <p:spPr>
          <a:xfrm>
            <a:off x="2167128" y="1444752"/>
            <a:ext cx="9144" cy="351129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74520"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8" name="TextBox 7"/>
          <p:cNvSpPr txBox="1"/>
          <p:nvPr/>
        </p:nvSpPr>
        <p:spPr>
          <a:xfrm>
            <a:off x="3490975"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9" name="Rectangle 8"/>
          <p:cNvSpPr/>
          <p:nvPr/>
        </p:nvSpPr>
        <p:spPr>
          <a:xfrm>
            <a:off x="5400039" y="1444752"/>
            <a:ext cx="9144" cy="351129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7431"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11" name="Rectangle 10"/>
          <p:cNvSpPr/>
          <p:nvPr/>
        </p:nvSpPr>
        <p:spPr>
          <a:xfrm>
            <a:off x="7016495" y="1444752"/>
            <a:ext cx="9144" cy="351129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23887"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3" name="Rectangle 12"/>
          <p:cNvSpPr/>
          <p:nvPr/>
        </p:nvSpPr>
        <p:spPr>
          <a:xfrm>
            <a:off x="3783583" y="1444752"/>
            <a:ext cx="10972" cy="3511295"/>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167128" y="4956047"/>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1707642"/>
            <a:ext cx="1554480" cy="352044"/>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A07 D2 Yellow</a:t>
            </a:r>
          </a:p>
          <a:p>
            <a:pPr algn="r">
              <a:spcBef>
                <a:spcPts val="0"/>
              </a:spcBef>
              <a:spcAft>
                <a:spcPts val="0"/>
              </a:spcAft>
            </a:pPr>
            <a:r>
              <a:rPr sz="1100" b="0" i="0">
                <a:solidFill>
                  <a:srgbClr val="1E2D44"/>
                </a:solidFill>
                <a:latin typeface="Karla"/>
              </a:rPr>
              <a:t>Wrapper</a:t>
            </a:r>
          </a:p>
        </p:txBody>
      </p:sp>
      <p:sp>
        <p:nvSpPr>
          <p:cNvPr id="16" name="Rectangle 15"/>
          <p:cNvSpPr/>
          <p:nvPr/>
        </p:nvSpPr>
        <p:spPr>
          <a:xfrm>
            <a:off x="3621938" y="1707642"/>
            <a:ext cx="161645"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109874" y="1707642"/>
            <a:ext cx="457200" cy="155448"/>
          </a:xfrm>
          <a:prstGeom prst="rect">
            <a:avLst/>
          </a:prstGeom>
          <a:noFill/>
        </p:spPr>
        <p:txBody>
          <a:bodyPr wrap="none" anchor="ctr" lIns="0" rIns="0" tIns="0" bIns="0"/>
          <a:lstStyle/>
          <a:p>
            <a:pPr algn="r">
              <a:spcBef>
                <a:spcPts val="0"/>
              </a:spcBef>
              <a:spcAft>
                <a:spcPts val="0"/>
              </a:spcAft>
            </a:pPr>
            <a:r>
              <a:rPr sz="1200" b="1" i="0">
                <a:solidFill>
                  <a:srgbClr val="1A2332"/>
                </a:solidFill>
                <a:latin typeface="Karla"/>
              </a:rPr>
              <a:t>-1</a:t>
            </a:r>
          </a:p>
        </p:txBody>
      </p:sp>
      <p:sp>
        <p:nvSpPr>
          <p:cNvPr id="18" name="Rectangle 17"/>
          <p:cNvSpPr/>
          <p:nvPr/>
        </p:nvSpPr>
        <p:spPr>
          <a:xfrm>
            <a:off x="3783583" y="1904238"/>
            <a:ext cx="2747975"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6422" y="1904238"/>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+17</a:t>
            </a:r>
          </a:p>
        </p:txBody>
      </p:sp>
      <p:sp>
        <p:nvSpPr>
          <p:cNvPr id="20" name="TextBox 19"/>
          <p:cNvSpPr txBox="1"/>
          <p:nvPr/>
        </p:nvSpPr>
        <p:spPr>
          <a:xfrm>
            <a:off x="502920" y="2585465"/>
            <a:ext cx="1554480" cy="352044"/>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A08 D2 Pink</a:t>
            </a:r>
          </a:p>
          <a:p>
            <a:pPr algn="r">
              <a:spcBef>
                <a:spcPts val="0"/>
              </a:spcBef>
              <a:spcAft>
                <a:spcPts val="0"/>
              </a:spcAft>
            </a:pPr>
            <a:r>
              <a:rPr sz="1100" b="0" i="0">
                <a:solidFill>
                  <a:srgbClr val="1E2D44"/>
                </a:solidFill>
                <a:latin typeface="Karla"/>
              </a:rPr>
              <a:t>Wrapper</a:t>
            </a:r>
          </a:p>
        </p:txBody>
      </p:sp>
      <p:sp>
        <p:nvSpPr>
          <p:cNvPr id="21" name="Rectangle 20"/>
          <p:cNvSpPr/>
          <p:nvPr/>
        </p:nvSpPr>
        <p:spPr>
          <a:xfrm>
            <a:off x="3783583" y="2585465"/>
            <a:ext cx="1616455"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54903" y="2585465"/>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+10</a:t>
            </a:r>
          </a:p>
        </p:txBody>
      </p:sp>
      <p:sp>
        <p:nvSpPr>
          <p:cNvPr id="23" name="Rectangle 22"/>
          <p:cNvSpPr/>
          <p:nvPr/>
        </p:nvSpPr>
        <p:spPr>
          <a:xfrm>
            <a:off x="3783583" y="2782061"/>
            <a:ext cx="2747975"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6422" y="2782061"/>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+17</a:t>
            </a:r>
          </a:p>
        </p:txBody>
      </p:sp>
      <p:sp>
        <p:nvSpPr>
          <p:cNvPr id="25" name="TextBox 24"/>
          <p:cNvSpPr txBox="1"/>
          <p:nvPr/>
        </p:nvSpPr>
        <p:spPr>
          <a:xfrm>
            <a:off x="502920" y="3448812"/>
            <a:ext cx="1554480" cy="380999"/>
          </a:xfrm>
          <a:prstGeom prst="rect">
            <a:avLst/>
          </a:prstGeom>
          <a:noFill/>
        </p:spPr>
        <p:txBody>
          <a:bodyPr wrap="none" anchor="ctr" lIns="0" rIns="0" tIns="0" bIns="0"/>
          <a:lstStyle/>
          <a:p>
            <a:pPr algn="r">
              <a:spcBef>
                <a:spcPts val="0"/>
              </a:spcBef>
              <a:spcAft>
                <a:spcPts val="0"/>
              </a:spcAft>
            </a:pPr>
            <a:r>
              <a:rPr sz="1200" b="0" i="0">
                <a:solidFill>
                  <a:srgbClr val="1E2D44"/>
                </a:solidFill>
                <a:latin typeface="Karla"/>
              </a:rPr>
              <a:t>D3 Orange</a:t>
            </a:r>
          </a:p>
          <a:p>
            <a:pPr algn="r">
              <a:spcBef>
                <a:spcPts val="0"/>
              </a:spcBef>
              <a:spcAft>
                <a:spcPts val="0"/>
              </a:spcAft>
            </a:pPr>
            <a:r>
              <a:rPr sz="1200" b="0" i="0">
                <a:solidFill>
                  <a:srgbClr val="1E2D44"/>
                </a:solidFill>
                <a:latin typeface="Karla"/>
              </a:rPr>
              <a:t>Wrapper</a:t>
            </a:r>
          </a:p>
        </p:txBody>
      </p:sp>
      <p:sp>
        <p:nvSpPr>
          <p:cNvPr id="26" name="Rectangle 25"/>
          <p:cNvSpPr/>
          <p:nvPr/>
        </p:nvSpPr>
        <p:spPr>
          <a:xfrm>
            <a:off x="3783583" y="3463289"/>
            <a:ext cx="1131519"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969967" y="3463289"/>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+7</a:t>
            </a:r>
          </a:p>
        </p:txBody>
      </p:sp>
      <p:sp>
        <p:nvSpPr>
          <p:cNvPr id="28" name="Rectangle 27"/>
          <p:cNvSpPr/>
          <p:nvPr/>
        </p:nvSpPr>
        <p:spPr>
          <a:xfrm>
            <a:off x="3783583" y="3659885"/>
            <a:ext cx="2586329"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24777" y="3659885"/>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+16</a:t>
            </a:r>
          </a:p>
        </p:txBody>
      </p:sp>
      <p:sp>
        <p:nvSpPr>
          <p:cNvPr id="30" name="TextBox 29"/>
          <p:cNvSpPr txBox="1"/>
          <p:nvPr/>
        </p:nvSpPr>
        <p:spPr>
          <a:xfrm>
            <a:off x="502920" y="4341113"/>
            <a:ext cx="1554480" cy="352044"/>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A02 D1 Orange</a:t>
            </a:r>
          </a:p>
          <a:p>
            <a:pPr algn="r">
              <a:spcBef>
                <a:spcPts val="0"/>
              </a:spcBef>
              <a:spcAft>
                <a:spcPts val="0"/>
              </a:spcAft>
            </a:pPr>
            <a:r>
              <a:rPr sz="1100" b="0" i="0">
                <a:solidFill>
                  <a:srgbClr val="1E2D44"/>
                </a:solidFill>
                <a:latin typeface="Karla"/>
              </a:rPr>
              <a:t>Wrapper</a:t>
            </a:r>
          </a:p>
        </p:txBody>
      </p:sp>
      <p:sp>
        <p:nvSpPr>
          <p:cNvPr id="31" name="Rectangle 30"/>
          <p:cNvSpPr/>
          <p:nvPr/>
        </p:nvSpPr>
        <p:spPr>
          <a:xfrm>
            <a:off x="3783583" y="4341113"/>
            <a:ext cx="2101392"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939840" y="4341113"/>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+13</a:t>
            </a:r>
          </a:p>
        </p:txBody>
      </p:sp>
      <p:sp>
        <p:nvSpPr>
          <p:cNvPr id="33" name="Rectangle 32"/>
          <p:cNvSpPr/>
          <p:nvPr/>
        </p:nvSpPr>
        <p:spPr>
          <a:xfrm>
            <a:off x="3783583" y="4537709"/>
            <a:ext cx="2263038"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101486" y="4537709"/>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+14</a:t>
            </a:r>
          </a:p>
        </p:txBody>
      </p:sp>
      <p:sp>
        <p:nvSpPr>
          <p:cNvPr id="35" name="Rectangle 34"/>
          <p:cNvSpPr/>
          <p:nvPr/>
        </p:nvSpPr>
        <p:spPr>
          <a:xfrm>
            <a:off x="2797047" y="5381244"/>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970783" y="5321807"/>
            <a:ext cx="1329944" cy="219456"/>
          </a:xfrm>
          <a:prstGeom prst="rect">
            <a:avLst/>
          </a:prstGeom>
          <a:noFill/>
        </p:spPr>
        <p:txBody>
          <a:bodyPr wrap="none" anchor="ctr" lIns="0" rIns="0" tIns="0" bIns="0"/>
          <a:lstStyle/>
          <a:p>
            <a:pPr algn="l">
              <a:spcBef>
                <a:spcPts val="0"/>
              </a:spcBef>
              <a:spcAft>
                <a:spcPts val="0"/>
              </a:spcAft>
            </a:pPr>
            <a:r>
              <a:rPr sz="1100" b="0" i="0">
                <a:solidFill>
                  <a:srgbClr val="2C3A4A"/>
                </a:solidFill>
                <a:latin typeface="Karla"/>
              </a:rPr>
              <a:t>No (basesize = 1)</a:t>
            </a:r>
          </a:p>
        </p:txBody>
      </p:sp>
      <p:sp>
        <p:nvSpPr>
          <p:cNvPr id="37" name="Rectangle 36"/>
          <p:cNvSpPr/>
          <p:nvPr/>
        </p:nvSpPr>
        <p:spPr>
          <a:xfrm>
            <a:off x="4648199" y="5381244"/>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821935" y="5321807"/>
            <a:ext cx="1564640" cy="219456"/>
          </a:xfrm>
          <a:prstGeom prst="rect">
            <a:avLst/>
          </a:prstGeom>
          <a:noFill/>
        </p:spPr>
        <p:txBody>
          <a:bodyPr wrap="none" anchor="ctr" lIns="0" rIns="0" tIns="0" bIns="0"/>
          <a:lstStyle/>
          <a:p>
            <a:pPr algn="l">
              <a:spcBef>
                <a:spcPts val="0"/>
              </a:spcBef>
              <a:spcAft>
                <a:spcPts val="0"/>
              </a:spcAft>
            </a:pPr>
            <a:r>
              <a:rPr sz="1100" b="0" i="0">
                <a:solidFill>
                  <a:srgbClr val="2C3A4A"/>
                </a:solidFill>
                <a:latin typeface="Karla"/>
              </a:rPr>
              <a:t>Yes (basesize = 149)</a:t>
            </a:r>
          </a:p>
        </p:txBody>
      </p:sp>
      <p:sp>
        <p:nvSpPr>
          <p:cNvPr id="39" name="Rounded Rectangle 38"/>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935467" y="601527"/>
            <a:ext cx="1709927" cy="135726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A7.png"/>
          <p:cNvPicPr>
            <a:picLocks noChangeAspect="1"/>
          </p:cNvPicPr>
          <p:nvPr/>
        </p:nvPicPr>
        <p:blipFill>
          <a:blip r:embed="rId2"/>
          <a:stretch>
            <a:fillRect/>
          </a:stretch>
        </p:blipFill>
        <p:spPr>
          <a:xfrm>
            <a:off x="7949183" y="615243"/>
            <a:ext cx="1682495" cy="1329833"/>
          </a:xfrm>
          <a:prstGeom prst="rect">
            <a:avLst/>
          </a:prstGeom>
        </p:spPr>
      </p:pic>
      <p:sp>
        <p:nvSpPr>
          <p:cNvPr id="42" name="TextBox 41"/>
          <p:cNvSpPr txBox="1"/>
          <p:nvPr/>
        </p:nvSpPr>
        <p:spPr>
          <a:xfrm>
            <a:off x="7912607" y="1999940"/>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A07 D2 Yellow</a:t>
            </a:r>
          </a:p>
          <a:p>
            <a:pPr algn="ctr">
              <a:spcBef>
                <a:spcPts val="0"/>
              </a:spcBef>
              <a:spcAft>
                <a:spcPts val="0"/>
              </a:spcAft>
            </a:pPr>
            <a:r>
              <a:rPr sz="1200" b="0" i="0">
                <a:solidFill>
                  <a:srgbClr val="1E2D44"/>
                </a:solidFill>
                <a:latin typeface="Karla"/>
              </a:rPr>
              <a:t>Wrapper</a:t>
            </a:r>
          </a:p>
        </p:txBody>
      </p:sp>
      <p:sp>
        <p:nvSpPr>
          <p:cNvPr id="43" name="TextBox 42"/>
          <p:cNvSpPr txBox="1"/>
          <p:nvPr/>
        </p:nvSpPr>
        <p:spPr>
          <a:xfrm>
            <a:off x="7912607" y="2365700"/>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+8*</a:t>
            </a:r>
          </a:p>
        </p:txBody>
      </p:sp>
      <p:sp>
        <p:nvSpPr>
          <p:cNvPr id="44" name="Rectangle 43"/>
          <p:cNvSpPr/>
          <p:nvPr/>
        </p:nvSpPr>
        <p:spPr>
          <a:xfrm>
            <a:off x="9855707" y="601527"/>
            <a:ext cx="1709927" cy="135726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5" name="Picture 44" descr="A8.png"/>
          <p:cNvPicPr>
            <a:picLocks noChangeAspect="1"/>
          </p:cNvPicPr>
          <p:nvPr/>
        </p:nvPicPr>
        <p:blipFill>
          <a:blip r:embed="rId3"/>
          <a:stretch>
            <a:fillRect/>
          </a:stretch>
        </p:blipFill>
        <p:spPr>
          <a:xfrm>
            <a:off x="9869423" y="615243"/>
            <a:ext cx="1682495" cy="1329833"/>
          </a:xfrm>
          <a:prstGeom prst="rect">
            <a:avLst/>
          </a:prstGeom>
        </p:spPr>
      </p:pic>
      <p:sp>
        <p:nvSpPr>
          <p:cNvPr id="46" name="TextBox 45"/>
          <p:cNvSpPr txBox="1"/>
          <p:nvPr/>
        </p:nvSpPr>
        <p:spPr>
          <a:xfrm>
            <a:off x="9832847" y="1999940"/>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A08 D2 Pink Wrapper</a:t>
            </a:r>
          </a:p>
        </p:txBody>
      </p:sp>
      <p:sp>
        <p:nvSpPr>
          <p:cNvPr id="47" name="TextBox 46"/>
          <p:cNvSpPr txBox="1"/>
          <p:nvPr/>
        </p:nvSpPr>
        <p:spPr>
          <a:xfrm>
            <a:off x="9832847" y="2365700"/>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+14*</a:t>
            </a:r>
          </a:p>
        </p:txBody>
      </p:sp>
      <p:sp>
        <p:nvSpPr>
          <p:cNvPr id="48" name="Rectangle 47"/>
          <p:cNvSpPr/>
          <p:nvPr/>
        </p:nvSpPr>
        <p:spPr>
          <a:xfrm>
            <a:off x="7935467" y="3161847"/>
            <a:ext cx="1709927" cy="135726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9" name="Picture 48" descr="A10.png"/>
          <p:cNvPicPr>
            <a:picLocks noChangeAspect="1"/>
          </p:cNvPicPr>
          <p:nvPr/>
        </p:nvPicPr>
        <p:blipFill>
          <a:blip r:embed="rId4"/>
          <a:stretch>
            <a:fillRect/>
          </a:stretch>
        </p:blipFill>
        <p:spPr>
          <a:xfrm>
            <a:off x="7949183" y="3175563"/>
            <a:ext cx="1682495" cy="1329833"/>
          </a:xfrm>
          <a:prstGeom prst="rect">
            <a:avLst/>
          </a:prstGeom>
        </p:spPr>
      </p:pic>
      <p:sp>
        <p:nvSpPr>
          <p:cNvPr id="50" name="TextBox 49"/>
          <p:cNvSpPr txBox="1"/>
          <p:nvPr/>
        </p:nvSpPr>
        <p:spPr>
          <a:xfrm>
            <a:off x="7912607" y="4560260"/>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D3 Orange Wrapper</a:t>
            </a:r>
          </a:p>
        </p:txBody>
      </p:sp>
      <p:sp>
        <p:nvSpPr>
          <p:cNvPr id="51" name="TextBox 50"/>
          <p:cNvSpPr txBox="1"/>
          <p:nvPr/>
        </p:nvSpPr>
        <p:spPr>
          <a:xfrm>
            <a:off x="7912607" y="4926020"/>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+12*</a:t>
            </a:r>
          </a:p>
        </p:txBody>
      </p:sp>
      <p:sp>
        <p:nvSpPr>
          <p:cNvPr id="52" name="Rectangle 51"/>
          <p:cNvSpPr/>
          <p:nvPr/>
        </p:nvSpPr>
        <p:spPr>
          <a:xfrm>
            <a:off x="9855707" y="3161847"/>
            <a:ext cx="1709927" cy="135726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3" name="Picture 52" descr="A2.png"/>
          <p:cNvPicPr>
            <a:picLocks noChangeAspect="1"/>
          </p:cNvPicPr>
          <p:nvPr/>
        </p:nvPicPr>
        <p:blipFill>
          <a:blip r:embed="rId5"/>
          <a:stretch>
            <a:fillRect/>
          </a:stretch>
        </p:blipFill>
        <p:spPr>
          <a:xfrm>
            <a:off x="9869423" y="3175563"/>
            <a:ext cx="1682495" cy="1329833"/>
          </a:xfrm>
          <a:prstGeom prst="rect">
            <a:avLst/>
          </a:prstGeom>
        </p:spPr>
      </p:pic>
      <p:sp>
        <p:nvSpPr>
          <p:cNvPr id="54" name="TextBox 53"/>
          <p:cNvSpPr txBox="1"/>
          <p:nvPr/>
        </p:nvSpPr>
        <p:spPr>
          <a:xfrm>
            <a:off x="9832847" y="4560260"/>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A02 D1 Orange</a:t>
            </a:r>
          </a:p>
          <a:p>
            <a:pPr algn="ctr">
              <a:spcBef>
                <a:spcPts val="0"/>
              </a:spcBef>
              <a:spcAft>
                <a:spcPts val="0"/>
              </a:spcAft>
            </a:pPr>
            <a:r>
              <a:rPr sz="1200" b="0" i="0">
                <a:solidFill>
                  <a:srgbClr val="1E2D44"/>
                </a:solidFill>
                <a:latin typeface="Karla"/>
              </a:rPr>
              <a:t>Wrapper</a:t>
            </a:r>
          </a:p>
        </p:txBody>
      </p:sp>
      <p:sp>
        <p:nvSpPr>
          <p:cNvPr id="55" name="TextBox 54"/>
          <p:cNvSpPr txBox="1"/>
          <p:nvPr/>
        </p:nvSpPr>
        <p:spPr>
          <a:xfrm>
            <a:off x="9832847" y="4926020"/>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+14*</a:t>
            </a:r>
          </a:p>
        </p:txBody>
      </p:sp>
      <p:sp>
        <p:nvSpPr>
          <p:cNvPr id="56" name="Rounded Rectangle 55"/>
          <p:cNvSpPr/>
          <p:nvPr/>
        </p:nvSpPr>
        <p:spPr>
          <a:xfrm>
            <a:off x="502920" y="5632704"/>
            <a:ext cx="11268455" cy="530352"/>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300" b="0">
                <a:solidFill>
                  <a:srgbClr val="1E2D44"/>
                </a:solidFill>
                <a:latin typeface="Karla"/>
              </a:rPr>
              <a:t>No favors A09 D3 Blue Wrapper; Yes favor A06 D2 Orange Wrapper. The widest segment gap is A01 D1 Blue Wrapper: -6 no / +13 yes.</a:t>
            </a:r>
          </a:p>
        </p:txBody>
      </p:sp>
      <p:sp>
        <p:nvSpPr>
          <p:cNvPr id="57" name="Rectangle 56"/>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No basesize = 1; Yes basesize = 149. Top-2 scores rounded to whole points. *Average of the groups in the legend.</a:t>
            </a:r>
          </a:p>
        </p:txBody>
      </p:sp>
      <p:sp>
        <p:nvSpPr>
          <p:cNvPr id="59" name="TextBox 58"/>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37744"/>
            <a:ext cx="7043927" cy="182880"/>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KEY FINDINGS: A_BACKGROUND  ·  Can you read english?   ·   3 of 3</a:t>
            </a:r>
          </a:p>
        </p:txBody>
      </p:sp>
      <p:sp>
        <p:nvSpPr>
          <p:cNvPr id="3" name="TextBox 2"/>
          <p:cNvSpPr txBox="1"/>
          <p:nvPr/>
        </p:nvSpPr>
        <p:spPr>
          <a:xfrm>
            <a:off x="502920" y="438912"/>
            <a:ext cx="7043927" cy="365760"/>
          </a:xfrm>
          <a:prstGeom prst="rect">
            <a:avLst/>
          </a:prstGeom>
          <a:noFill/>
        </p:spPr>
        <p:txBody>
          <a:bodyPr wrap="square" anchor="t" lIns="0" rIns="0" tIns="0" bIns="0"/>
          <a:lstStyle/>
          <a:p>
            <a:pPr algn="l">
              <a:spcBef>
                <a:spcPts val="0"/>
              </a:spcBef>
              <a:spcAft>
                <a:spcPts val="0"/>
              </a:spcAft>
            </a:pPr>
            <a:r>
              <a:rPr sz="2600" b="1" i="0">
                <a:solidFill>
                  <a:srgbClr val="1E2D44"/>
                </a:solidFill>
                <a:latin typeface="Karla"/>
              </a:rPr>
              <a:t>A_Background splits across the groups</a:t>
            </a:r>
          </a:p>
        </p:txBody>
      </p:sp>
      <p:sp>
        <p:nvSpPr>
          <p:cNvPr id="4" name="TextBox 3"/>
          <p:cNvSpPr txBox="1"/>
          <p:nvPr/>
        </p:nvSpPr>
        <p:spPr>
          <a:xfrm>
            <a:off x="502920" y="822960"/>
            <a:ext cx="7043927" cy="274320"/>
          </a:xfrm>
          <a:prstGeom prst="rect">
            <a:avLst/>
          </a:prstGeom>
          <a:noFill/>
        </p:spPr>
        <p:txBody>
          <a:bodyPr wrap="square" anchor="t" lIns="0" rIns="0" tIns="0" bIns="0"/>
          <a:lstStyle/>
          <a:p>
            <a:pPr algn="l">
              <a:spcBef>
                <a:spcPts val="0"/>
              </a:spcBef>
              <a:spcAft>
                <a:spcPts val="0"/>
              </a:spcAft>
            </a:pPr>
            <a:r>
              <a:rPr sz="1300" b="0" i="0">
                <a:solidFill>
                  <a:srgbClr val="617086"/>
                </a:solidFill>
                <a:latin typeface="Karla"/>
              </a:rPr>
              <a:t>No favors A09 D3 Blue Wrapper; Yes favor A06 D2 Orange Wrapper.</a:t>
            </a:r>
          </a:p>
        </p:txBody>
      </p:sp>
      <p:sp>
        <p:nvSpPr>
          <p:cNvPr id="5" name="Rectangle 4"/>
          <p:cNvSpPr/>
          <p:nvPr/>
        </p:nvSpPr>
        <p:spPr>
          <a:xfrm>
            <a:off x="502920" y="1133856"/>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A_BACKGROUND</a:t>
            </a:r>
          </a:p>
        </p:txBody>
      </p:sp>
      <p:sp>
        <p:nvSpPr>
          <p:cNvPr id="6" name="Rectangle 5"/>
          <p:cNvSpPr/>
          <p:nvPr/>
        </p:nvSpPr>
        <p:spPr>
          <a:xfrm>
            <a:off x="2167128" y="1444752"/>
            <a:ext cx="9144" cy="351129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74520"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8" name="TextBox 7"/>
          <p:cNvSpPr txBox="1"/>
          <p:nvPr/>
        </p:nvSpPr>
        <p:spPr>
          <a:xfrm>
            <a:off x="3490975"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9" name="Rectangle 8"/>
          <p:cNvSpPr/>
          <p:nvPr/>
        </p:nvSpPr>
        <p:spPr>
          <a:xfrm>
            <a:off x="5400039" y="1444752"/>
            <a:ext cx="9144" cy="351129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7431"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11" name="Rectangle 10"/>
          <p:cNvSpPr/>
          <p:nvPr/>
        </p:nvSpPr>
        <p:spPr>
          <a:xfrm>
            <a:off x="7016495" y="1444752"/>
            <a:ext cx="9144" cy="351129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23887"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3" name="Rectangle 12"/>
          <p:cNvSpPr/>
          <p:nvPr/>
        </p:nvSpPr>
        <p:spPr>
          <a:xfrm>
            <a:off x="3783583" y="1444752"/>
            <a:ext cx="10972" cy="3511295"/>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167128" y="4956047"/>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1707642"/>
            <a:ext cx="1554480" cy="352044"/>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A01 D1 Blue</a:t>
            </a:r>
          </a:p>
          <a:p>
            <a:pPr algn="r">
              <a:spcBef>
                <a:spcPts val="0"/>
              </a:spcBef>
              <a:spcAft>
                <a:spcPts val="0"/>
              </a:spcAft>
            </a:pPr>
            <a:r>
              <a:rPr sz="1100" b="0" i="0">
                <a:solidFill>
                  <a:srgbClr val="1E2D44"/>
                </a:solidFill>
                <a:latin typeface="Karla"/>
              </a:rPr>
              <a:t>Wrapper</a:t>
            </a:r>
          </a:p>
        </p:txBody>
      </p:sp>
      <p:sp>
        <p:nvSpPr>
          <p:cNvPr id="16" name="Rectangle 15"/>
          <p:cNvSpPr/>
          <p:nvPr/>
        </p:nvSpPr>
        <p:spPr>
          <a:xfrm>
            <a:off x="2813710" y="1707642"/>
            <a:ext cx="969873"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01646" y="1707642"/>
            <a:ext cx="457200" cy="155448"/>
          </a:xfrm>
          <a:prstGeom prst="rect">
            <a:avLst/>
          </a:prstGeom>
          <a:noFill/>
        </p:spPr>
        <p:txBody>
          <a:bodyPr wrap="none" anchor="ctr" lIns="0" rIns="0" tIns="0" bIns="0"/>
          <a:lstStyle/>
          <a:p>
            <a:pPr algn="r">
              <a:spcBef>
                <a:spcPts val="0"/>
              </a:spcBef>
              <a:spcAft>
                <a:spcPts val="0"/>
              </a:spcAft>
            </a:pPr>
            <a:r>
              <a:rPr sz="1200" b="1" i="0">
                <a:solidFill>
                  <a:srgbClr val="1A2332"/>
                </a:solidFill>
                <a:latin typeface="Karla"/>
              </a:rPr>
              <a:t>-6</a:t>
            </a:r>
          </a:p>
        </p:txBody>
      </p:sp>
      <p:sp>
        <p:nvSpPr>
          <p:cNvPr id="18" name="Rectangle 17"/>
          <p:cNvSpPr/>
          <p:nvPr/>
        </p:nvSpPr>
        <p:spPr>
          <a:xfrm>
            <a:off x="3783583" y="1904238"/>
            <a:ext cx="2101392"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39840" y="1904238"/>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+13</a:t>
            </a:r>
          </a:p>
        </p:txBody>
      </p:sp>
      <p:sp>
        <p:nvSpPr>
          <p:cNvPr id="20" name="TextBox 19"/>
          <p:cNvSpPr txBox="1"/>
          <p:nvPr/>
        </p:nvSpPr>
        <p:spPr>
          <a:xfrm>
            <a:off x="502920" y="2585465"/>
            <a:ext cx="1554480" cy="352044"/>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A04 D1 Pink</a:t>
            </a:r>
          </a:p>
          <a:p>
            <a:pPr algn="r">
              <a:spcBef>
                <a:spcPts val="0"/>
              </a:spcBef>
              <a:spcAft>
                <a:spcPts val="0"/>
              </a:spcAft>
            </a:pPr>
            <a:r>
              <a:rPr sz="1100" b="0" i="0">
                <a:solidFill>
                  <a:srgbClr val="1E2D44"/>
                </a:solidFill>
                <a:latin typeface="Karla"/>
              </a:rPr>
              <a:t>Wrapper</a:t>
            </a:r>
          </a:p>
        </p:txBody>
      </p:sp>
      <p:sp>
        <p:nvSpPr>
          <p:cNvPr id="21" name="Rectangle 20"/>
          <p:cNvSpPr/>
          <p:nvPr/>
        </p:nvSpPr>
        <p:spPr>
          <a:xfrm>
            <a:off x="3783583" y="2585465"/>
            <a:ext cx="808227"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46675" y="2585465"/>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+5</a:t>
            </a:r>
          </a:p>
        </p:txBody>
      </p:sp>
      <p:sp>
        <p:nvSpPr>
          <p:cNvPr id="23" name="Rectangle 22"/>
          <p:cNvSpPr/>
          <p:nvPr/>
        </p:nvSpPr>
        <p:spPr>
          <a:xfrm>
            <a:off x="3783583" y="2782061"/>
            <a:ext cx="2101392"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39840" y="2782061"/>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+13</a:t>
            </a:r>
          </a:p>
        </p:txBody>
      </p:sp>
      <p:sp>
        <p:nvSpPr>
          <p:cNvPr id="25" name="TextBox 24"/>
          <p:cNvSpPr txBox="1"/>
          <p:nvPr/>
        </p:nvSpPr>
        <p:spPr>
          <a:xfrm>
            <a:off x="502920" y="3448812"/>
            <a:ext cx="1554480" cy="380999"/>
          </a:xfrm>
          <a:prstGeom prst="rect">
            <a:avLst/>
          </a:prstGeom>
          <a:noFill/>
        </p:spPr>
        <p:txBody>
          <a:bodyPr wrap="none" anchor="ctr" lIns="0" rIns="0" tIns="0" bIns="0"/>
          <a:lstStyle/>
          <a:p>
            <a:pPr algn="r">
              <a:spcBef>
                <a:spcPts val="0"/>
              </a:spcBef>
              <a:spcAft>
                <a:spcPts val="0"/>
              </a:spcAft>
            </a:pPr>
            <a:r>
              <a:rPr sz="1200" b="0" i="0">
                <a:solidFill>
                  <a:srgbClr val="1E2D44"/>
                </a:solidFill>
                <a:latin typeface="Karla"/>
              </a:rPr>
              <a:t>D3 Yellow</a:t>
            </a:r>
          </a:p>
          <a:p>
            <a:pPr algn="r">
              <a:spcBef>
                <a:spcPts val="0"/>
              </a:spcBef>
              <a:spcAft>
                <a:spcPts val="0"/>
              </a:spcAft>
            </a:pPr>
            <a:r>
              <a:rPr sz="1200" b="0" i="0">
                <a:solidFill>
                  <a:srgbClr val="1E2D44"/>
                </a:solidFill>
                <a:latin typeface="Karla"/>
              </a:rPr>
              <a:t>Wrapper</a:t>
            </a:r>
          </a:p>
        </p:txBody>
      </p:sp>
      <p:sp>
        <p:nvSpPr>
          <p:cNvPr id="26" name="Rectangle 25"/>
          <p:cNvSpPr/>
          <p:nvPr/>
        </p:nvSpPr>
        <p:spPr>
          <a:xfrm>
            <a:off x="3783583" y="3463289"/>
            <a:ext cx="1778101"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16549" y="3463289"/>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+11</a:t>
            </a:r>
          </a:p>
        </p:txBody>
      </p:sp>
      <p:sp>
        <p:nvSpPr>
          <p:cNvPr id="28" name="Rectangle 27"/>
          <p:cNvSpPr/>
          <p:nvPr/>
        </p:nvSpPr>
        <p:spPr>
          <a:xfrm>
            <a:off x="3783583" y="3659885"/>
            <a:ext cx="2101392"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939840" y="3659885"/>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+13</a:t>
            </a:r>
          </a:p>
        </p:txBody>
      </p:sp>
      <p:sp>
        <p:nvSpPr>
          <p:cNvPr id="30" name="TextBox 29"/>
          <p:cNvSpPr txBox="1"/>
          <p:nvPr/>
        </p:nvSpPr>
        <p:spPr>
          <a:xfrm>
            <a:off x="502920" y="4341113"/>
            <a:ext cx="1554480" cy="352044"/>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A03 D1 Yellow</a:t>
            </a:r>
          </a:p>
          <a:p>
            <a:pPr algn="r">
              <a:spcBef>
                <a:spcPts val="0"/>
              </a:spcBef>
              <a:spcAft>
                <a:spcPts val="0"/>
              </a:spcAft>
            </a:pPr>
            <a:r>
              <a:rPr sz="1100" b="0" i="0">
                <a:solidFill>
                  <a:srgbClr val="1E2D44"/>
                </a:solidFill>
                <a:latin typeface="Karla"/>
              </a:rPr>
              <a:t>Wrapper</a:t>
            </a:r>
          </a:p>
        </p:txBody>
      </p:sp>
      <p:sp>
        <p:nvSpPr>
          <p:cNvPr id="31" name="Rectangle 30"/>
          <p:cNvSpPr/>
          <p:nvPr/>
        </p:nvSpPr>
        <p:spPr>
          <a:xfrm>
            <a:off x="3783583" y="4341113"/>
            <a:ext cx="808227"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646675" y="4341113"/>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+5</a:t>
            </a:r>
          </a:p>
        </p:txBody>
      </p:sp>
      <p:sp>
        <p:nvSpPr>
          <p:cNvPr id="33" name="Rectangle 32"/>
          <p:cNvSpPr/>
          <p:nvPr/>
        </p:nvSpPr>
        <p:spPr>
          <a:xfrm>
            <a:off x="3783583" y="4537709"/>
            <a:ext cx="1616455"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454903" y="4537709"/>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+10</a:t>
            </a:r>
          </a:p>
        </p:txBody>
      </p:sp>
      <p:sp>
        <p:nvSpPr>
          <p:cNvPr id="35" name="Rectangle 34"/>
          <p:cNvSpPr/>
          <p:nvPr/>
        </p:nvSpPr>
        <p:spPr>
          <a:xfrm>
            <a:off x="2797047" y="5381244"/>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970783" y="5321807"/>
            <a:ext cx="1329944" cy="219456"/>
          </a:xfrm>
          <a:prstGeom prst="rect">
            <a:avLst/>
          </a:prstGeom>
          <a:noFill/>
        </p:spPr>
        <p:txBody>
          <a:bodyPr wrap="none" anchor="ctr" lIns="0" rIns="0" tIns="0" bIns="0"/>
          <a:lstStyle/>
          <a:p>
            <a:pPr algn="l">
              <a:spcBef>
                <a:spcPts val="0"/>
              </a:spcBef>
              <a:spcAft>
                <a:spcPts val="0"/>
              </a:spcAft>
            </a:pPr>
            <a:r>
              <a:rPr sz="1100" b="0" i="0">
                <a:solidFill>
                  <a:srgbClr val="2C3A4A"/>
                </a:solidFill>
                <a:latin typeface="Karla"/>
              </a:rPr>
              <a:t>No (basesize = 1)</a:t>
            </a:r>
          </a:p>
        </p:txBody>
      </p:sp>
      <p:sp>
        <p:nvSpPr>
          <p:cNvPr id="37" name="Rectangle 36"/>
          <p:cNvSpPr/>
          <p:nvPr/>
        </p:nvSpPr>
        <p:spPr>
          <a:xfrm>
            <a:off x="4648199" y="5381244"/>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821935" y="5321807"/>
            <a:ext cx="1564640" cy="219456"/>
          </a:xfrm>
          <a:prstGeom prst="rect">
            <a:avLst/>
          </a:prstGeom>
          <a:noFill/>
        </p:spPr>
        <p:txBody>
          <a:bodyPr wrap="none" anchor="ctr" lIns="0" rIns="0" tIns="0" bIns="0"/>
          <a:lstStyle/>
          <a:p>
            <a:pPr algn="l">
              <a:spcBef>
                <a:spcPts val="0"/>
              </a:spcBef>
              <a:spcAft>
                <a:spcPts val="0"/>
              </a:spcAft>
            </a:pPr>
            <a:r>
              <a:rPr sz="1100" b="0" i="0">
                <a:solidFill>
                  <a:srgbClr val="2C3A4A"/>
                </a:solidFill>
                <a:latin typeface="Karla"/>
              </a:rPr>
              <a:t>Yes (basesize = 149)</a:t>
            </a:r>
          </a:p>
        </p:txBody>
      </p:sp>
      <p:sp>
        <p:nvSpPr>
          <p:cNvPr id="39" name="Rounded Rectangle 38"/>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935467" y="601527"/>
            <a:ext cx="1709927" cy="135726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A1.png"/>
          <p:cNvPicPr>
            <a:picLocks noChangeAspect="1"/>
          </p:cNvPicPr>
          <p:nvPr/>
        </p:nvPicPr>
        <p:blipFill>
          <a:blip r:embed="rId2"/>
          <a:stretch>
            <a:fillRect/>
          </a:stretch>
        </p:blipFill>
        <p:spPr>
          <a:xfrm>
            <a:off x="7949183" y="615243"/>
            <a:ext cx="1682495" cy="1329833"/>
          </a:xfrm>
          <a:prstGeom prst="rect">
            <a:avLst/>
          </a:prstGeom>
        </p:spPr>
      </p:pic>
      <p:sp>
        <p:nvSpPr>
          <p:cNvPr id="42" name="TextBox 41"/>
          <p:cNvSpPr txBox="1"/>
          <p:nvPr/>
        </p:nvSpPr>
        <p:spPr>
          <a:xfrm>
            <a:off x="7912607" y="1999940"/>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A01 D1 Blue Wrapper</a:t>
            </a:r>
          </a:p>
        </p:txBody>
      </p:sp>
      <p:sp>
        <p:nvSpPr>
          <p:cNvPr id="43" name="TextBox 42"/>
          <p:cNvSpPr txBox="1"/>
          <p:nvPr/>
        </p:nvSpPr>
        <p:spPr>
          <a:xfrm>
            <a:off x="7912607" y="2365700"/>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+4*</a:t>
            </a:r>
          </a:p>
        </p:txBody>
      </p:sp>
      <p:sp>
        <p:nvSpPr>
          <p:cNvPr id="44" name="Rectangle 43"/>
          <p:cNvSpPr/>
          <p:nvPr/>
        </p:nvSpPr>
        <p:spPr>
          <a:xfrm>
            <a:off x="9855707" y="601527"/>
            <a:ext cx="1709927" cy="135726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5" name="Picture 44" descr="A4.png"/>
          <p:cNvPicPr>
            <a:picLocks noChangeAspect="1"/>
          </p:cNvPicPr>
          <p:nvPr/>
        </p:nvPicPr>
        <p:blipFill>
          <a:blip r:embed="rId3"/>
          <a:stretch>
            <a:fillRect/>
          </a:stretch>
        </p:blipFill>
        <p:spPr>
          <a:xfrm>
            <a:off x="9869423" y="615243"/>
            <a:ext cx="1682495" cy="1329833"/>
          </a:xfrm>
          <a:prstGeom prst="rect">
            <a:avLst/>
          </a:prstGeom>
        </p:spPr>
      </p:pic>
      <p:sp>
        <p:nvSpPr>
          <p:cNvPr id="46" name="TextBox 45"/>
          <p:cNvSpPr txBox="1"/>
          <p:nvPr/>
        </p:nvSpPr>
        <p:spPr>
          <a:xfrm>
            <a:off x="9832847" y="1999940"/>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A04 D1 Pink Wrapper</a:t>
            </a:r>
          </a:p>
        </p:txBody>
      </p:sp>
      <p:sp>
        <p:nvSpPr>
          <p:cNvPr id="47" name="TextBox 46"/>
          <p:cNvSpPr txBox="1"/>
          <p:nvPr/>
        </p:nvSpPr>
        <p:spPr>
          <a:xfrm>
            <a:off x="9832847" y="2365700"/>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+9*</a:t>
            </a:r>
          </a:p>
        </p:txBody>
      </p:sp>
      <p:sp>
        <p:nvSpPr>
          <p:cNvPr id="48" name="Rectangle 47"/>
          <p:cNvSpPr/>
          <p:nvPr/>
        </p:nvSpPr>
        <p:spPr>
          <a:xfrm>
            <a:off x="7935467" y="3161847"/>
            <a:ext cx="1709927" cy="135726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9" name="Picture 48" descr="A11.png"/>
          <p:cNvPicPr>
            <a:picLocks noChangeAspect="1"/>
          </p:cNvPicPr>
          <p:nvPr/>
        </p:nvPicPr>
        <p:blipFill>
          <a:blip r:embed="rId4"/>
          <a:stretch>
            <a:fillRect/>
          </a:stretch>
        </p:blipFill>
        <p:spPr>
          <a:xfrm>
            <a:off x="7949183" y="3175563"/>
            <a:ext cx="1682495" cy="1329833"/>
          </a:xfrm>
          <a:prstGeom prst="rect">
            <a:avLst/>
          </a:prstGeom>
        </p:spPr>
      </p:pic>
      <p:sp>
        <p:nvSpPr>
          <p:cNvPr id="50" name="TextBox 49"/>
          <p:cNvSpPr txBox="1"/>
          <p:nvPr/>
        </p:nvSpPr>
        <p:spPr>
          <a:xfrm>
            <a:off x="7912607" y="4560260"/>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D3 Yellow Wrapper</a:t>
            </a:r>
          </a:p>
        </p:txBody>
      </p:sp>
      <p:sp>
        <p:nvSpPr>
          <p:cNvPr id="51" name="TextBox 50"/>
          <p:cNvSpPr txBox="1"/>
          <p:nvPr/>
        </p:nvSpPr>
        <p:spPr>
          <a:xfrm>
            <a:off x="7912607" y="4926020"/>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+12*</a:t>
            </a:r>
          </a:p>
        </p:txBody>
      </p:sp>
      <p:sp>
        <p:nvSpPr>
          <p:cNvPr id="52" name="Rectangle 51"/>
          <p:cNvSpPr/>
          <p:nvPr/>
        </p:nvSpPr>
        <p:spPr>
          <a:xfrm>
            <a:off x="9855707" y="3161847"/>
            <a:ext cx="1709927" cy="135726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3" name="Picture 52" descr="A3.png"/>
          <p:cNvPicPr>
            <a:picLocks noChangeAspect="1"/>
          </p:cNvPicPr>
          <p:nvPr/>
        </p:nvPicPr>
        <p:blipFill>
          <a:blip r:embed="rId5"/>
          <a:stretch>
            <a:fillRect/>
          </a:stretch>
        </p:blipFill>
        <p:spPr>
          <a:xfrm>
            <a:off x="9869423" y="3175563"/>
            <a:ext cx="1682495" cy="1329833"/>
          </a:xfrm>
          <a:prstGeom prst="rect">
            <a:avLst/>
          </a:prstGeom>
        </p:spPr>
      </p:pic>
      <p:sp>
        <p:nvSpPr>
          <p:cNvPr id="54" name="TextBox 53"/>
          <p:cNvSpPr txBox="1"/>
          <p:nvPr/>
        </p:nvSpPr>
        <p:spPr>
          <a:xfrm>
            <a:off x="9832847" y="4560260"/>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A03 D1 Yellow</a:t>
            </a:r>
          </a:p>
          <a:p>
            <a:pPr algn="ctr">
              <a:spcBef>
                <a:spcPts val="0"/>
              </a:spcBef>
              <a:spcAft>
                <a:spcPts val="0"/>
              </a:spcAft>
            </a:pPr>
            <a:r>
              <a:rPr sz="1200" b="0" i="0">
                <a:solidFill>
                  <a:srgbClr val="1E2D44"/>
                </a:solidFill>
                <a:latin typeface="Karla"/>
              </a:rPr>
              <a:t>Wrapper</a:t>
            </a:r>
          </a:p>
        </p:txBody>
      </p:sp>
      <p:sp>
        <p:nvSpPr>
          <p:cNvPr id="55" name="TextBox 54"/>
          <p:cNvSpPr txBox="1"/>
          <p:nvPr/>
        </p:nvSpPr>
        <p:spPr>
          <a:xfrm>
            <a:off x="9832847" y="4926020"/>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+8*</a:t>
            </a:r>
          </a:p>
        </p:txBody>
      </p:sp>
      <p:sp>
        <p:nvSpPr>
          <p:cNvPr id="56" name="Rounded Rectangle 55"/>
          <p:cNvSpPr/>
          <p:nvPr/>
        </p:nvSpPr>
        <p:spPr>
          <a:xfrm>
            <a:off x="502920" y="5632704"/>
            <a:ext cx="11268455" cy="530352"/>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300" b="0">
                <a:solidFill>
                  <a:srgbClr val="1E2D44"/>
                </a:solidFill>
                <a:latin typeface="Karla"/>
              </a:rPr>
              <a:t>No favors A09 D3 Blue Wrapper; Yes favor A06 D2 Orange Wrapper. The widest segment gap is A01 D1 Blue Wrapper: -6 no / +13 yes.</a:t>
            </a:r>
          </a:p>
        </p:txBody>
      </p:sp>
      <p:sp>
        <p:nvSpPr>
          <p:cNvPr id="57" name="Rectangle 56"/>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No basesize = 1; Yes basesize = 149. Top-2 scores rounded to whole points. *Average of the groups in the legend.</a:t>
            </a:r>
          </a:p>
        </p:txBody>
      </p:sp>
      <p:sp>
        <p:nvSpPr>
          <p:cNvPr id="59" name="TextBox 58"/>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37744"/>
            <a:ext cx="7043927" cy="182880"/>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KEY FINDINGS: A_BACKGROUND  ·  Which of these countries do you live in?   ·   1 of 3</a:t>
            </a:r>
          </a:p>
        </p:txBody>
      </p:sp>
      <p:sp>
        <p:nvSpPr>
          <p:cNvPr id="3" name="TextBox 2"/>
          <p:cNvSpPr txBox="1"/>
          <p:nvPr/>
        </p:nvSpPr>
        <p:spPr>
          <a:xfrm>
            <a:off x="502920" y="438912"/>
            <a:ext cx="7043927" cy="365760"/>
          </a:xfrm>
          <a:prstGeom prst="rect">
            <a:avLst/>
          </a:prstGeom>
          <a:noFill/>
        </p:spPr>
        <p:txBody>
          <a:bodyPr wrap="square" anchor="t" lIns="0" rIns="0" tIns="0" bIns="0"/>
          <a:lstStyle/>
          <a:p>
            <a:pPr algn="l">
              <a:spcBef>
                <a:spcPts val="0"/>
              </a:spcBef>
              <a:spcAft>
                <a:spcPts val="0"/>
              </a:spcAft>
            </a:pPr>
            <a:r>
              <a:rPr sz="2600" b="1" i="0">
                <a:solidFill>
                  <a:srgbClr val="1E2D44"/>
                </a:solidFill>
                <a:latin typeface="Karla"/>
              </a:rPr>
              <a:t>A_Background splits across the groups</a:t>
            </a:r>
          </a:p>
        </p:txBody>
      </p:sp>
      <p:sp>
        <p:nvSpPr>
          <p:cNvPr id="4" name="TextBox 3"/>
          <p:cNvSpPr txBox="1"/>
          <p:nvPr/>
        </p:nvSpPr>
        <p:spPr>
          <a:xfrm>
            <a:off x="502920" y="822960"/>
            <a:ext cx="7043927" cy="475488"/>
          </a:xfrm>
          <a:prstGeom prst="rect">
            <a:avLst/>
          </a:prstGeom>
          <a:noFill/>
        </p:spPr>
        <p:txBody>
          <a:bodyPr wrap="square" anchor="t" lIns="0" rIns="0" tIns="0" bIns="0"/>
          <a:lstStyle/>
          <a:p>
            <a:pPr algn="l">
              <a:spcBef>
                <a:spcPts val="0"/>
              </a:spcBef>
              <a:spcAft>
                <a:spcPts val="0"/>
              </a:spcAft>
            </a:pPr>
            <a:r>
              <a:rPr sz="1200" b="0" i="0">
                <a:solidFill>
                  <a:srgbClr val="617086"/>
                </a:solidFill>
                <a:latin typeface="Karla"/>
              </a:rPr>
              <a:t>Bulgaria favors A06 D2 Orange Wrapper; Greece favors A06 D2 Orange Wrapper; Saudi Arabia favors A01 D1 Blue Wrapper.</a:t>
            </a:r>
          </a:p>
        </p:txBody>
      </p:sp>
      <p:sp>
        <p:nvSpPr>
          <p:cNvPr id="5" name="Rectangle 4"/>
          <p:cNvSpPr/>
          <p:nvPr/>
        </p:nvSpPr>
        <p:spPr>
          <a:xfrm>
            <a:off x="502920" y="1335024"/>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A_BACKGROUND</a:t>
            </a:r>
          </a:p>
        </p:txBody>
      </p:sp>
      <p:sp>
        <p:nvSpPr>
          <p:cNvPr id="6" name="TextBox 5"/>
          <p:cNvSpPr txBox="1"/>
          <p:nvPr/>
        </p:nvSpPr>
        <p:spPr>
          <a:xfrm>
            <a:off x="1874520"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7" name="Rectangle 6"/>
          <p:cNvSpPr/>
          <p:nvPr/>
        </p:nvSpPr>
        <p:spPr>
          <a:xfrm>
            <a:off x="3783583" y="1645920"/>
            <a:ext cx="9144" cy="3310128"/>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90975"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9" name="Rectangle 8"/>
          <p:cNvSpPr/>
          <p:nvPr/>
        </p:nvSpPr>
        <p:spPr>
          <a:xfrm>
            <a:off x="5400039" y="1645920"/>
            <a:ext cx="9144" cy="3310128"/>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7431"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1" name="Rectangle 10"/>
          <p:cNvSpPr/>
          <p:nvPr/>
        </p:nvSpPr>
        <p:spPr>
          <a:xfrm>
            <a:off x="7016495" y="1645920"/>
            <a:ext cx="9144" cy="3310128"/>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23887"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30</a:t>
            </a:r>
          </a:p>
        </p:txBody>
      </p:sp>
      <p:sp>
        <p:nvSpPr>
          <p:cNvPr id="13" name="Rectangle 12"/>
          <p:cNvSpPr/>
          <p:nvPr/>
        </p:nvSpPr>
        <p:spPr>
          <a:xfrm>
            <a:off x="2167128" y="1645920"/>
            <a:ext cx="10972" cy="3310128"/>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167128" y="4956048"/>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1827977"/>
            <a:ext cx="1554480" cy="463417"/>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A06 D2 Orange</a:t>
            </a:r>
          </a:p>
          <a:p>
            <a:pPr algn="r">
              <a:spcBef>
                <a:spcPts val="0"/>
              </a:spcBef>
              <a:spcAft>
                <a:spcPts val="0"/>
              </a:spcAft>
            </a:pPr>
            <a:r>
              <a:rPr sz="1100" b="0" i="0">
                <a:solidFill>
                  <a:srgbClr val="1E2D44"/>
                </a:solidFill>
                <a:latin typeface="Karla"/>
              </a:rPr>
              <a:t>Wrapper</a:t>
            </a:r>
          </a:p>
        </p:txBody>
      </p:sp>
      <p:sp>
        <p:nvSpPr>
          <p:cNvPr id="16" name="Rectangle 15"/>
          <p:cNvSpPr/>
          <p:nvPr/>
        </p:nvSpPr>
        <p:spPr>
          <a:xfrm>
            <a:off x="2167128" y="1827977"/>
            <a:ext cx="3717848" cy="127040"/>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39840" y="1827977"/>
            <a:ext cx="457200" cy="127040"/>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+23</a:t>
            </a:r>
          </a:p>
        </p:txBody>
      </p:sp>
      <p:sp>
        <p:nvSpPr>
          <p:cNvPr id="18" name="Rectangle 17"/>
          <p:cNvSpPr/>
          <p:nvPr/>
        </p:nvSpPr>
        <p:spPr>
          <a:xfrm>
            <a:off x="2167128" y="1996165"/>
            <a:ext cx="2747975" cy="127040"/>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969967" y="1996165"/>
            <a:ext cx="457200" cy="127040"/>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+17</a:t>
            </a:r>
          </a:p>
        </p:txBody>
      </p:sp>
      <p:sp>
        <p:nvSpPr>
          <p:cNvPr id="20" name="Rectangle 19"/>
          <p:cNvSpPr/>
          <p:nvPr/>
        </p:nvSpPr>
        <p:spPr>
          <a:xfrm>
            <a:off x="2167128" y="2164354"/>
            <a:ext cx="2424683" cy="12704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46675" y="2164354"/>
            <a:ext cx="457200" cy="127040"/>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+15</a:t>
            </a:r>
          </a:p>
        </p:txBody>
      </p:sp>
      <p:sp>
        <p:nvSpPr>
          <p:cNvPr id="22" name="TextBox 21"/>
          <p:cNvSpPr txBox="1"/>
          <p:nvPr/>
        </p:nvSpPr>
        <p:spPr>
          <a:xfrm>
            <a:off x="502920" y="2655509"/>
            <a:ext cx="1554480" cy="463417"/>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A07 D2 Yellow</a:t>
            </a:r>
          </a:p>
          <a:p>
            <a:pPr algn="r">
              <a:spcBef>
                <a:spcPts val="0"/>
              </a:spcBef>
              <a:spcAft>
                <a:spcPts val="0"/>
              </a:spcAft>
            </a:pPr>
            <a:r>
              <a:rPr sz="1100" b="0" i="0">
                <a:solidFill>
                  <a:srgbClr val="1E2D44"/>
                </a:solidFill>
                <a:latin typeface="Karla"/>
              </a:rPr>
              <a:t>Wrapper</a:t>
            </a:r>
          </a:p>
        </p:txBody>
      </p:sp>
      <p:sp>
        <p:nvSpPr>
          <p:cNvPr id="23" name="Rectangle 22"/>
          <p:cNvSpPr/>
          <p:nvPr/>
        </p:nvSpPr>
        <p:spPr>
          <a:xfrm>
            <a:off x="2167128" y="2655509"/>
            <a:ext cx="3394557" cy="127040"/>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616549" y="2655509"/>
            <a:ext cx="457200" cy="127040"/>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+21</a:t>
            </a:r>
          </a:p>
        </p:txBody>
      </p:sp>
      <p:sp>
        <p:nvSpPr>
          <p:cNvPr id="25" name="Rectangle 24"/>
          <p:cNvSpPr/>
          <p:nvPr/>
        </p:nvSpPr>
        <p:spPr>
          <a:xfrm>
            <a:off x="2167128" y="2823697"/>
            <a:ext cx="1939747" cy="127040"/>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61739" y="2823697"/>
            <a:ext cx="457200" cy="127040"/>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+12</a:t>
            </a:r>
          </a:p>
        </p:txBody>
      </p:sp>
      <p:sp>
        <p:nvSpPr>
          <p:cNvPr id="27" name="Rectangle 26"/>
          <p:cNvSpPr/>
          <p:nvPr/>
        </p:nvSpPr>
        <p:spPr>
          <a:xfrm>
            <a:off x="2167128" y="2991886"/>
            <a:ext cx="2586329" cy="12704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08321" y="2991886"/>
            <a:ext cx="457200" cy="127040"/>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+16</a:t>
            </a:r>
          </a:p>
        </p:txBody>
      </p:sp>
      <p:sp>
        <p:nvSpPr>
          <p:cNvPr id="29" name="TextBox 28"/>
          <p:cNvSpPr txBox="1"/>
          <p:nvPr/>
        </p:nvSpPr>
        <p:spPr>
          <a:xfrm>
            <a:off x="502920" y="3483041"/>
            <a:ext cx="1554480" cy="463417"/>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A05 D2 Blue</a:t>
            </a:r>
          </a:p>
          <a:p>
            <a:pPr algn="r">
              <a:spcBef>
                <a:spcPts val="0"/>
              </a:spcBef>
              <a:spcAft>
                <a:spcPts val="0"/>
              </a:spcAft>
            </a:pPr>
            <a:r>
              <a:rPr sz="1100" b="0" i="0">
                <a:solidFill>
                  <a:srgbClr val="1E2D44"/>
                </a:solidFill>
                <a:latin typeface="Karla"/>
              </a:rPr>
              <a:t>Wrapper</a:t>
            </a:r>
          </a:p>
        </p:txBody>
      </p:sp>
      <p:sp>
        <p:nvSpPr>
          <p:cNvPr id="30" name="Rectangle 29"/>
          <p:cNvSpPr/>
          <p:nvPr/>
        </p:nvSpPr>
        <p:spPr>
          <a:xfrm>
            <a:off x="2167128" y="3483041"/>
            <a:ext cx="3232911" cy="127040"/>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54903" y="3483041"/>
            <a:ext cx="457200" cy="127040"/>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+20</a:t>
            </a:r>
          </a:p>
        </p:txBody>
      </p:sp>
      <p:sp>
        <p:nvSpPr>
          <p:cNvPr id="32" name="Rectangle 31"/>
          <p:cNvSpPr/>
          <p:nvPr/>
        </p:nvSpPr>
        <p:spPr>
          <a:xfrm>
            <a:off x="2167128" y="3651229"/>
            <a:ext cx="1939747" cy="127040"/>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161739" y="3651229"/>
            <a:ext cx="457200" cy="127040"/>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+12</a:t>
            </a:r>
          </a:p>
        </p:txBody>
      </p:sp>
      <p:sp>
        <p:nvSpPr>
          <p:cNvPr id="34" name="Rectangle 33"/>
          <p:cNvSpPr/>
          <p:nvPr/>
        </p:nvSpPr>
        <p:spPr>
          <a:xfrm>
            <a:off x="2167128" y="3819418"/>
            <a:ext cx="2747975" cy="12704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969967" y="3819418"/>
            <a:ext cx="457200" cy="127040"/>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+17</a:t>
            </a:r>
          </a:p>
        </p:txBody>
      </p:sp>
      <p:sp>
        <p:nvSpPr>
          <p:cNvPr id="36" name="TextBox 35"/>
          <p:cNvSpPr txBox="1"/>
          <p:nvPr/>
        </p:nvSpPr>
        <p:spPr>
          <a:xfrm>
            <a:off x="502920" y="4310573"/>
            <a:ext cx="1554480" cy="463417"/>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A08 D2 Pink</a:t>
            </a:r>
          </a:p>
          <a:p>
            <a:pPr algn="r">
              <a:spcBef>
                <a:spcPts val="0"/>
              </a:spcBef>
              <a:spcAft>
                <a:spcPts val="0"/>
              </a:spcAft>
            </a:pPr>
            <a:r>
              <a:rPr sz="1100" b="0" i="0">
                <a:solidFill>
                  <a:srgbClr val="1E2D44"/>
                </a:solidFill>
                <a:latin typeface="Karla"/>
              </a:rPr>
              <a:t>Wrapper</a:t>
            </a:r>
          </a:p>
        </p:txBody>
      </p:sp>
      <p:sp>
        <p:nvSpPr>
          <p:cNvPr id="37" name="Rectangle 36"/>
          <p:cNvSpPr/>
          <p:nvPr/>
        </p:nvSpPr>
        <p:spPr>
          <a:xfrm>
            <a:off x="2167128" y="4310573"/>
            <a:ext cx="3232911" cy="127040"/>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454903" y="4310573"/>
            <a:ext cx="457200" cy="127040"/>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+20</a:t>
            </a:r>
          </a:p>
        </p:txBody>
      </p:sp>
      <p:sp>
        <p:nvSpPr>
          <p:cNvPr id="39" name="Rectangle 38"/>
          <p:cNvSpPr/>
          <p:nvPr/>
        </p:nvSpPr>
        <p:spPr>
          <a:xfrm>
            <a:off x="2167128" y="4478761"/>
            <a:ext cx="2263038" cy="127040"/>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485030" y="4478761"/>
            <a:ext cx="457200" cy="127040"/>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+14</a:t>
            </a:r>
          </a:p>
        </p:txBody>
      </p:sp>
      <p:sp>
        <p:nvSpPr>
          <p:cNvPr id="41" name="Rectangle 40"/>
          <p:cNvSpPr/>
          <p:nvPr/>
        </p:nvSpPr>
        <p:spPr>
          <a:xfrm>
            <a:off x="2167128" y="4646950"/>
            <a:ext cx="2424683" cy="12704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646675" y="4646950"/>
            <a:ext cx="457200" cy="127040"/>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+15</a:t>
            </a:r>
          </a:p>
        </p:txBody>
      </p:sp>
      <p:sp>
        <p:nvSpPr>
          <p:cNvPr id="43" name="Rectangle 42"/>
          <p:cNvSpPr/>
          <p:nvPr/>
        </p:nvSpPr>
        <p:spPr>
          <a:xfrm>
            <a:off x="1250695" y="5381244"/>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424431" y="5321807"/>
            <a:ext cx="170688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Bulgaria (basesize = 50)</a:t>
            </a:r>
          </a:p>
        </p:txBody>
      </p:sp>
      <p:sp>
        <p:nvSpPr>
          <p:cNvPr id="45" name="Rectangle 44"/>
          <p:cNvSpPr/>
          <p:nvPr/>
        </p:nvSpPr>
        <p:spPr>
          <a:xfrm>
            <a:off x="3387343" y="5381244"/>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561079" y="5321807"/>
            <a:ext cx="156464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Greece (basesize = 49)</a:t>
            </a:r>
          </a:p>
        </p:txBody>
      </p:sp>
      <p:sp>
        <p:nvSpPr>
          <p:cNvPr id="47" name="Rectangle 46"/>
          <p:cNvSpPr/>
          <p:nvPr/>
        </p:nvSpPr>
        <p:spPr>
          <a:xfrm>
            <a:off x="5381751" y="5381244"/>
            <a:ext cx="100584" cy="10058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555487" y="5321807"/>
            <a:ext cx="199136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Saudi Arabia (basesize = 51)</a:t>
            </a:r>
          </a:p>
        </p:txBody>
      </p:sp>
      <p:sp>
        <p:nvSpPr>
          <p:cNvPr id="49" name="Rounded Rectangle 48"/>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935467" y="601527"/>
            <a:ext cx="1709927" cy="135726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1" name="Picture 50" descr="A6.png"/>
          <p:cNvPicPr>
            <a:picLocks noChangeAspect="1"/>
          </p:cNvPicPr>
          <p:nvPr/>
        </p:nvPicPr>
        <p:blipFill>
          <a:blip r:embed="rId2"/>
          <a:stretch>
            <a:fillRect/>
          </a:stretch>
        </p:blipFill>
        <p:spPr>
          <a:xfrm>
            <a:off x="7949183" y="615243"/>
            <a:ext cx="1682495" cy="1329833"/>
          </a:xfrm>
          <a:prstGeom prst="rect">
            <a:avLst/>
          </a:prstGeom>
        </p:spPr>
      </p:pic>
      <p:sp>
        <p:nvSpPr>
          <p:cNvPr id="52" name="TextBox 51"/>
          <p:cNvSpPr txBox="1"/>
          <p:nvPr/>
        </p:nvSpPr>
        <p:spPr>
          <a:xfrm>
            <a:off x="7912607" y="1999940"/>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A06 D2 Orange</a:t>
            </a:r>
          </a:p>
          <a:p>
            <a:pPr algn="ctr">
              <a:spcBef>
                <a:spcPts val="0"/>
              </a:spcBef>
              <a:spcAft>
                <a:spcPts val="0"/>
              </a:spcAft>
            </a:pPr>
            <a:r>
              <a:rPr sz="1200" b="0" i="0">
                <a:solidFill>
                  <a:srgbClr val="1E2D44"/>
                </a:solidFill>
                <a:latin typeface="Karla"/>
              </a:rPr>
              <a:t>Wrapper</a:t>
            </a:r>
          </a:p>
        </p:txBody>
      </p:sp>
      <p:sp>
        <p:nvSpPr>
          <p:cNvPr id="53" name="TextBox 52"/>
          <p:cNvSpPr txBox="1"/>
          <p:nvPr/>
        </p:nvSpPr>
        <p:spPr>
          <a:xfrm>
            <a:off x="7912607" y="2365700"/>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+18*</a:t>
            </a:r>
          </a:p>
        </p:txBody>
      </p:sp>
      <p:sp>
        <p:nvSpPr>
          <p:cNvPr id="54" name="Rectangle 53"/>
          <p:cNvSpPr/>
          <p:nvPr/>
        </p:nvSpPr>
        <p:spPr>
          <a:xfrm>
            <a:off x="9855707" y="601527"/>
            <a:ext cx="1709927" cy="135726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5" name="Picture 54" descr="A7.png"/>
          <p:cNvPicPr>
            <a:picLocks noChangeAspect="1"/>
          </p:cNvPicPr>
          <p:nvPr/>
        </p:nvPicPr>
        <p:blipFill>
          <a:blip r:embed="rId3"/>
          <a:stretch>
            <a:fillRect/>
          </a:stretch>
        </p:blipFill>
        <p:spPr>
          <a:xfrm>
            <a:off x="9869423" y="615243"/>
            <a:ext cx="1682495" cy="1329833"/>
          </a:xfrm>
          <a:prstGeom prst="rect">
            <a:avLst/>
          </a:prstGeom>
        </p:spPr>
      </p:pic>
      <p:sp>
        <p:nvSpPr>
          <p:cNvPr id="56" name="TextBox 55"/>
          <p:cNvSpPr txBox="1"/>
          <p:nvPr/>
        </p:nvSpPr>
        <p:spPr>
          <a:xfrm>
            <a:off x="9832847" y="1999940"/>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A07 D2 Yellow</a:t>
            </a:r>
          </a:p>
          <a:p>
            <a:pPr algn="ctr">
              <a:spcBef>
                <a:spcPts val="0"/>
              </a:spcBef>
              <a:spcAft>
                <a:spcPts val="0"/>
              </a:spcAft>
            </a:pPr>
            <a:r>
              <a:rPr sz="1200" b="0" i="0">
                <a:solidFill>
                  <a:srgbClr val="1E2D44"/>
                </a:solidFill>
                <a:latin typeface="Karla"/>
              </a:rPr>
              <a:t>Wrapper</a:t>
            </a:r>
          </a:p>
        </p:txBody>
      </p:sp>
      <p:sp>
        <p:nvSpPr>
          <p:cNvPr id="57" name="TextBox 56"/>
          <p:cNvSpPr txBox="1"/>
          <p:nvPr/>
        </p:nvSpPr>
        <p:spPr>
          <a:xfrm>
            <a:off x="9832847" y="2365700"/>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+16*</a:t>
            </a:r>
          </a:p>
        </p:txBody>
      </p:sp>
      <p:sp>
        <p:nvSpPr>
          <p:cNvPr id="58" name="Rectangle 57"/>
          <p:cNvSpPr/>
          <p:nvPr/>
        </p:nvSpPr>
        <p:spPr>
          <a:xfrm>
            <a:off x="7935467" y="3161847"/>
            <a:ext cx="1709927" cy="135726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9" name="Picture 58" descr="A5.png"/>
          <p:cNvPicPr>
            <a:picLocks noChangeAspect="1"/>
          </p:cNvPicPr>
          <p:nvPr/>
        </p:nvPicPr>
        <p:blipFill>
          <a:blip r:embed="rId4"/>
          <a:stretch>
            <a:fillRect/>
          </a:stretch>
        </p:blipFill>
        <p:spPr>
          <a:xfrm>
            <a:off x="7949183" y="3175563"/>
            <a:ext cx="1682495" cy="1329833"/>
          </a:xfrm>
          <a:prstGeom prst="rect">
            <a:avLst/>
          </a:prstGeom>
        </p:spPr>
      </p:pic>
      <p:sp>
        <p:nvSpPr>
          <p:cNvPr id="60" name="TextBox 59"/>
          <p:cNvSpPr txBox="1"/>
          <p:nvPr/>
        </p:nvSpPr>
        <p:spPr>
          <a:xfrm>
            <a:off x="7912607" y="4560260"/>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A05 D2 Blue Wrapper</a:t>
            </a:r>
          </a:p>
        </p:txBody>
      </p:sp>
      <p:sp>
        <p:nvSpPr>
          <p:cNvPr id="61" name="TextBox 60"/>
          <p:cNvSpPr txBox="1"/>
          <p:nvPr/>
        </p:nvSpPr>
        <p:spPr>
          <a:xfrm>
            <a:off x="7912607" y="4926020"/>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+16*</a:t>
            </a:r>
          </a:p>
        </p:txBody>
      </p:sp>
      <p:sp>
        <p:nvSpPr>
          <p:cNvPr id="62" name="Rectangle 61"/>
          <p:cNvSpPr/>
          <p:nvPr/>
        </p:nvSpPr>
        <p:spPr>
          <a:xfrm>
            <a:off x="9855707" y="3161847"/>
            <a:ext cx="1709927" cy="135726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3" name="Picture 62" descr="A8.png"/>
          <p:cNvPicPr>
            <a:picLocks noChangeAspect="1"/>
          </p:cNvPicPr>
          <p:nvPr/>
        </p:nvPicPr>
        <p:blipFill>
          <a:blip r:embed="rId5"/>
          <a:stretch>
            <a:fillRect/>
          </a:stretch>
        </p:blipFill>
        <p:spPr>
          <a:xfrm>
            <a:off x="9869423" y="3175563"/>
            <a:ext cx="1682495" cy="1329833"/>
          </a:xfrm>
          <a:prstGeom prst="rect">
            <a:avLst/>
          </a:prstGeom>
        </p:spPr>
      </p:pic>
      <p:sp>
        <p:nvSpPr>
          <p:cNvPr id="64" name="TextBox 63"/>
          <p:cNvSpPr txBox="1"/>
          <p:nvPr/>
        </p:nvSpPr>
        <p:spPr>
          <a:xfrm>
            <a:off x="9832847" y="4560260"/>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A08 D2 Pink Wrapper</a:t>
            </a:r>
          </a:p>
        </p:txBody>
      </p:sp>
      <p:sp>
        <p:nvSpPr>
          <p:cNvPr id="65" name="TextBox 64"/>
          <p:cNvSpPr txBox="1"/>
          <p:nvPr/>
        </p:nvSpPr>
        <p:spPr>
          <a:xfrm>
            <a:off x="9832847" y="4926020"/>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+16*</a:t>
            </a:r>
          </a:p>
        </p:txBody>
      </p:sp>
      <p:sp>
        <p:nvSpPr>
          <p:cNvPr id="66" name="Rounded Rectangle 65"/>
          <p:cNvSpPr/>
          <p:nvPr/>
        </p:nvSpPr>
        <p:spPr>
          <a:xfrm>
            <a:off x="502920" y="5632704"/>
            <a:ext cx="11268455" cy="676656"/>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200" b="0">
                <a:solidFill>
                  <a:srgbClr val="1E2D44"/>
                </a:solidFill>
                <a:latin typeface="Karla"/>
              </a:rPr>
              <a:t>Bulgaria favors A06 D2 Orange Wrapper; Greece favors A06 D2 Orange Wrapper; Saudi Arabia favors A01 D1 Blue Wrapper. The widest segment gap is A01 D1 Blue Wrapper: +13 bulgaria / +8 greece / +17 saudi arabia.</a:t>
            </a:r>
          </a:p>
        </p:txBody>
      </p:sp>
      <p:sp>
        <p:nvSpPr>
          <p:cNvPr id="67" name="Rectangle 66"/>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Bulgaria basesize = 50; Greece basesize = 49; Saudi Arabia basesize = 51. Top-2 scores rounded to whole points. *Average of the groups in the legend.</a:t>
            </a:r>
          </a:p>
        </p:txBody>
      </p:sp>
      <p:sp>
        <p:nvSpPr>
          <p:cNvPr id="69" name="TextBox 68"/>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37744"/>
            <a:ext cx="7043927" cy="182880"/>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KEY FINDINGS: A_BACKGROUND  ·  Which of these countries do you live in?   ·   2 of 3</a:t>
            </a:r>
          </a:p>
        </p:txBody>
      </p:sp>
      <p:sp>
        <p:nvSpPr>
          <p:cNvPr id="3" name="TextBox 2"/>
          <p:cNvSpPr txBox="1"/>
          <p:nvPr/>
        </p:nvSpPr>
        <p:spPr>
          <a:xfrm>
            <a:off x="502920" y="438912"/>
            <a:ext cx="7043927" cy="365760"/>
          </a:xfrm>
          <a:prstGeom prst="rect">
            <a:avLst/>
          </a:prstGeom>
          <a:noFill/>
        </p:spPr>
        <p:txBody>
          <a:bodyPr wrap="square" anchor="t" lIns="0" rIns="0" tIns="0" bIns="0"/>
          <a:lstStyle/>
          <a:p>
            <a:pPr algn="l">
              <a:spcBef>
                <a:spcPts val="0"/>
              </a:spcBef>
              <a:spcAft>
                <a:spcPts val="0"/>
              </a:spcAft>
            </a:pPr>
            <a:r>
              <a:rPr sz="2600" b="1" i="0">
                <a:solidFill>
                  <a:srgbClr val="1E2D44"/>
                </a:solidFill>
                <a:latin typeface="Karla"/>
              </a:rPr>
              <a:t>A_Background splits across the groups</a:t>
            </a:r>
          </a:p>
        </p:txBody>
      </p:sp>
      <p:sp>
        <p:nvSpPr>
          <p:cNvPr id="4" name="TextBox 3"/>
          <p:cNvSpPr txBox="1"/>
          <p:nvPr/>
        </p:nvSpPr>
        <p:spPr>
          <a:xfrm>
            <a:off x="502920" y="822960"/>
            <a:ext cx="7043927" cy="475488"/>
          </a:xfrm>
          <a:prstGeom prst="rect">
            <a:avLst/>
          </a:prstGeom>
          <a:noFill/>
        </p:spPr>
        <p:txBody>
          <a:bodyPr wrap="square" anchor="t" lIns="0" rIns="0" tIns="0" bIns="0"/>
          <a:lstStyle/>
          <a:p>
            <a:pPr algn="l">
              <a:spcBef>
                <a:spcPts val="0"/>
              </a:spcBef>
              <a:spcAft>
                <a:spcPts val="0"/>
              </a:spcAft>
            </a:pPr>
            <a:r>
              <a:rPr sz="1200" b="0" i="0">
                <a:solidFill>
                  <a:srgbClr val="617086"/>
                </a:solidFill>
                <a:latin typeface="Karla"/>
              </a:rPr>
              <a:t>Bulgaria favors A06 D2 Orange Wrapper; Greece favors A06 D2 Orange Wrapper; Saudi Arabia favors A01 D1 Blue Wrapper.</a:t>
            </a:r>
          </a:p>
        </p:txBody>
      </p:sp>
      <p:sp>
        <p:nvSpPr>
          <p:cNvPr id="5" name="Rectangle 4"/>
          <p:cNvSpPr/>
          <p:nvPr/>
        </p:nvSpPr>
        <p:spPr>
          <a:xfrm>
            <a:off x="502920" y="1335024"/>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A_BACKGROUND</a:t>
            </a:r>
          </a:p>
        </p:txBody>
      </p:sp>
      <p:sp>
        <p:nvSpPr>
          <p:cNvPr id="6" name="TextBox 5"/>
          <p:cNvSpPr txBox="1"/>
          <p:nvPr/>
        </p:nvSpPr>
        <p:spPr>
          <a:xfrm>
            <a:off x="1874520"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7" name="Rectangle 6"/>
          <p:cNvSpPr/>
          <p:nvPr/>
        </p:nvSpPr>
        <p:spPr>
          <a:xfrm>
            <a:off x="3379469" y="1645920"/>
            <a:ext cx="9144" cy="3310128"/>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86861"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5</a:t>
            </a:r>
          </a:p>
        </p:txBody>
      </p:sp>
      <p:sp>
        <p:nvSpPr>
          <p:cNvPr id="9" name="Rectangle 8"/>
          <p:cNvSpPr/>
          <p:nvPr/>
        </p:nvSpPr>
        <p:spPr>
          <a:xfrm>
            <a:off x="4591811" y="1645920"/>
            <a:ext cx="9144" cy="3310128"/>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9203"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11" name="Rectangle 10"/>
          <p:cNvSpPr/>
          <p:nvPr/>
        </p:nvSpPr>
        <p:spPr>
          <a:xfrm>
            <a:off x="5804153" y="1645920"/>
            <a:ext cx="9144" cy="3310128"/>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11545"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15</a:t>
            </a:r>
          </a:p>
        </p:txBody>
      </p:sp>
      <p:sp>
        <p:nvSpPr>
          <p:cNvPr id="13" name="Rectangle 12"/>
          <p:cNvSpPr/>
          <p:nvPr/>
        </p:nvSpPr>
        <p:spPr>
          <a:xfrm>
            <a:off x="7016495" y="1645920"/>
            <a:ext cx="9144" cy="3310128"/>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23887"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5" name="Rectangle 14"/>
          <p:cNvSpPr/>
          <p:nvPr/>
        </p:nvSpPr>
        <p:spPr>
          <a:xfrm>
            <a:off x="2167128" y="1645920"/>
            <a:ext cx="10972" cy="3310128"/>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167128" y="4956048"/>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1827977"/>
            <a:ext cx="1554480" cy="463417"/>
          </a:xfrm>
          <a:prstGeom prst="rect">
            <a:avLst/>
          </a:prstGeom>
          <a:noFill/>
        </p:spPr>
        <p:txBody>
          <a:bodyPr wrap="none" anchor="ctr" lIns="0" rIns="0" tIns="0" bIns="0"/>
          <a:lstStyle/>
          <a:p>
            <a:pPr algn="r">
              <a:spcBef>
                <a:spcPts val="0"/>
              </a:spcBef>
              <a:spcAft>
                <a:spcPts val="0"/>
              </a:spcAft>
            </a:pPr>
            <a:r>
              <a:rPr sz="1200" b="0" i="0">
                <a:solidFill>
                  <a:srgbClr val="1E2D44"/>
                </a:solidFill>
                <a:latin typeface="Karla"/>
              </a:rPr>
              <a:t>D3 Pink Wrapper</a:t>
            </a:r>
          </a:p>
        </p:txBody>
      </p:sp>
      <p:sp>
        <p:nvSpPr>
          <p:cNvPr id="18" name="Rectangle 17"/>
          <p:cNvSpPr/>
          <p:nvPr/>
        </p:nvSpPr>
        <p:spPr>
          <a:xfrm>
            <a:off x="2167128" y="1827977"/>
            <a:ext cx="4849367" cy="127040"/>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71359" y="1827977"/>
            <a:ext cx="457200" cy="127040"/>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+20</a:t>
            </a:r>
          </a:p>
        </p:txBody>
      </p:sp>
      <p:sp>
        <p:nvSpPr>
          <p:cNvPr id="20" name="Rectangle 19"/>
          <p:cNvSpPr/>
          <p:nvPr/>
        </p:nvSpPr>
        <p:spPr>
          <a:xfrm>
            <a:off x="2167128" y="1996165"/>
            <a:ext cx="2909620" cy="127040"/>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31612" y="1996165"/>
            <a:ext cx="457200" cy="127040"/>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+12</a:t>
            </a:r>
          </a:p>
        </p:txBody>
      </p:sp>
      <p:sp>
        <p:nvSpPr>
          <p:cNvPr id="22" name="Rectangle 21"/>
          <p:cNvSpPr/>
          <p:nvPr/>
        </p:nvSpPr>
        <p:spPr>
          <a:xfrm>
            <a:off x="2167128" y="2164354"/>
            <a:ext cx="3637025" cy="12704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59017" y="2164354"/>
            <a:ext cx="457200" cy="127040"/>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+15</a:t>
            </a:r>
          </a:p>
        </p:txBody>
      </p:sp>
      <p:sp>
        <p:nvSpPr>
          <p:cNvPr id="24" name="TextBox 23"/>
          <p:cNvSpPr txBox="1"/>
          <p:nvPr/>
        </p:nvSpPr>
        <p:spPr>
          <a:xfrm>
            <a:off x="502920" y="2655509"/>
            <a:ext cx="1554480" cy="463417"/>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A09 D3 Blue</a:t>
            </a:r>
          </a:p>
          <a:p>
            <a:pPr algn="r">
              <a:spcBef>
                <a:spcPts val="0"/>
              </a:spcBef>
              <a:spcAft>
                <a:spcPts val="0"/>
              </a:spcAft>
            </a:pPr>
            <a:r>
              <a:rPr sz="1100" b="0" i="0">
                <a:solidFill>
                  <a:srgbClr val="1E2D44"/>
                </a:solidFill>
                <a:latin typeface="Karla"/>
              </a:rPr>
              <a:t>Wrapper</a:t>
            </a:r>
          </a:p>
        </p:txBody>
      </p:sp>
      <p:sp>
        <p:nvSpPr>
          <p:cNvPr id="25" name="Rectangle 24"/>
          <p:cNvSpPr/>
          <p:nvPr/>
        </p:nvSpPr>
        <p:spPr>
          <a:xfrm>
            <a:off x="2167128" y="2655509"/>
            <a:ext cx="4364430" cy="127040"/>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6422" y="2655509"/>
            <a:ext cx="457200" cy="127040"/>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+18</a:t>
            </a:r>
          </a:p>
        </p:txBody>
      </p:sp>
      <p:sp>
        <p:nvSpPr>
          <p:cNvPr id="27" name="Rectangle 26"/>
          <p:cNvSpPr/>
          <p:nvPr/>
        </p:nvSpPr>
        <p:spPr>
          <a:xfrm>
            <a:off x="2167128" y="2823697"/>
            <a:ext cx="4121962" cy="127040"/>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43954" y="2823697"/>
            <a:ext cx="457200" cy="127040"/>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+17</a:t>
            </a:r>
          </a:p>
        </p:txBody>
      </p:sp>
      <p:sp>
        <p:nvSpPr>
          <p:cNvPr id="29" name="Rectangle 28"/>
          <p:cNvSpPr/>
          <p:nvPr/>
        </p:nvSpPr>
        <p:spPr>
          <a:xfrm>
            <a:off x="2167128" y="2991886"/>
            <a:ext cx="4121962" cy="12704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43954" y="2991886"/>
            <a:ext cx="457200" cy="127040"/>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+17</a:t>
            </a:r>
          </a:p>
        </p:txBody>
      </p:sp>
      <p:sp>
        <p:nvSpPr>
          <p:cNvPr id="31" name="TextBox 30"/>
          <p:cNvSpPr txBox="1"/>
          <p:nvPr/>
        </p:nvSpPr>
        <p:spPr>
          <a:xfrm>
            <a:off x="502920" y="3483041"/>
            <a:ext cx="1554480" cy="463417"/>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A01 D1 Blue</a:t>
            </a:r>
          </a:p>
          <a:p>
            <a:pPr algn="r">
              <a:spcBef>
                <a:spcPts val="0"/>
              </a:spcBef>
              <a:spcAft>
                <a:spcPts val="0"/>
              </a:spcAft>
            </a:pPr>
            <a:r>
              <a:rPr sz="1100" b="0" i="0">
                <a:solidFill>
                  <a:srgbClr val="1E2D44"/>
                </a:solidFill>
                <a:latin typeface="Karla"/>
              </a:rPr>
              <a:t>Wrapper</a:t>
            </a:r>
          </a:p>
        </p:txBody>
      </p:sp>
      <p:sp>
        <p:nvSpPr>
          <p:cNvPr id="32" name="Rectangle 31"/>
          <p:cNvSpPr/>
          <p:nvPr/>
        </p:nvSpPr>
        <p:spPr>
          <a:xfrm>
            <a:off x="2167128" y="3483041"/>
            <a:ext cx="3152089" cy="127040"/>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374081" y="3483041"/>
            <a:ext cx="457200" cy="127040"/>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+13</a:t>
            </a:r>
          </a:p>
        </p:txBody>
      </p:sp>
      <p:sp>
        <p:nvSpPr>
          <p:cNvPr id="34" name="Rectangle 33"/>
          <p:cNvSpPr/>
          <p:nvPr/>
        </p:nvSpPr>
        <p:spPr>
          <a:xfrm>
            <a:off x="2167128" y="3651229"/>
            <a:ext cx="1939747" cy="127040"/>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161739" y="3651229"/>
            <a:ext cx="457200" cy="127040"/>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+8</a:t>
            </a:r>
          </a:p>
        </p:txBody>
      </p:sp>
      <p:sp>
        <p:nvSpPr>
          <p:cNvPr id="36" name="Rectangle 35"/>
          <p:cNvSpPr/>
          <p:nvPr/>
        </p:nvSpPr>
        <p:spPr>
          <a:xfrm>
            <a:off x="2167128" y="3819418"/>
            <a:ext cx="4121962" cy="12704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43954" y="3819418"/>
            <a:ext cx="457200" cy="127040"/>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+17</a:t>
            </a:r>
          </a:p>
        </p:txBody>
      </p:sp>
      <p:sp>
        <p:nvSpPr>
          <p:cNvPr id="38" name="TextBox 37"/>
          <p:cNvSpPr txBox="1"/>
          <p:nvPr/>
        </p:nvSpPr>
        <p:spPr>
          <a:xfrm>
            <a:off x="502920" y="4310573"/>
            <a:ext cx="1554480" cy="463417"/>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A02 D1 Orange</a:t>
            </a:r>
          </a:p>
          <a:p>
            <a:pPr algn="r">
              <a:spcBef>
                <a:spcPts val="0"/>
              </a:spcBef>
              <a:spcAft>
                <a:spcPts val="0"/>
              </a:spcAft>
            </a:pPr>
            <a:r>
              <a:rPr sz="1100" b="0" i="0">
                <a:solidFill>
                  <a:srgbClr val="1E2D44"/>
                </a:solidFill>
                <a:latin typeface="Karla"/>
              </a:rPr>
              <a:t>Wrapper</a:t>
            </a:r>
          </a:p>
        </p:txBody>
      </p:sp>
      <p:sp>
        <p:nvSpPr>
          <p:cNvPr id="39" name="Rectangle 38"/>
          <p:cNvSpPr/>
          <p:nvPr/>
        </p:nvSpPr>
        <p:spPr>
          <a:xfrm>
            <a:off x="2167128" y="4310573"/>
            <a:ext cx="2667152" cy="127040"/>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889144" y="4310573"/>
            <a:ext cx="457200" cy="127040"/>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+11</a:t>
            </a:r>
          </a:p>
        </p:txBody>
      </p:sp>
      <p:sp>
        <p:nvSpPr>
          <p:cNvPr id="41" name="Rectangle 40"/>
          <p:cNvSpPr/>
          <p:nvPr/>
        </p:nvSpPr>
        <p:spPr>
          <a:xfrm>
            <a:off x="2167128" y="4478761"/>
            <a:ext cx="2909620" cy="127040"/>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131612" y="4478761"/>
            <a:ext cx="457200" cy="127040"/>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+12</a:t>
            </a:r>
          </a:p>
        </p:txBody>
      </p:sp>
      <p:sp>
        <p:nvSpPr>
          <p:cNvPr id="43" name="Rectangle 42"/>
          <p:cNvSpPr/>
          <p:nvPr/>
        </p:nvSpPr>
        <p:spPr>
          <a:xfrm>
            <a:off x="2167128" y="4646950"/>
            <a:ext cx="4121962" cy="12704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343954" y="4646950"/>
            <a:ext cx="457200" cy="127040"/>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+17</a:t>
            </a:r>
          </a:p>
        </p:txBody>
      </p:sp>
      <p:sp>
        <p:nvSpPr>
          <p:cNvPr id="45" name="Rectangle 44"/>
          <p:cNvSpPr/>
          <p:nvPr/>
        </p:nvSpPr>
        <p:spPr>
          <a:xfrm>
            <a:off x="1250695" y="5381244"/>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424431" y="5321807"/>
            <a:ext cx="170688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Bulgaria (basesize = 50)</a:t>
            </a:r>
          </a:p>
        </p:txBody>
      </p:sp>
      <p:sp>
        <p:nvSpPr>
          <p:cNvPr id="47" name="Rectangle 46"/>
          <p:cNvSpPr/>
          <p:nvPr/>
        </p:nvSpPr>
        <p:spPr>
          <a:xfrm>
            <a:off x="3387343" y="5381244"/>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561079" y="5321807"/>
            <a:ext cx="156464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Greece (basesize = 49)</a:t>
            </a:r>
          </a:p>
        </p:txBody>
      </p:sp>
      <p:sp>
        <p:nvSpPr>
          <p:cNvPr id="49" name="Rectangle 48"/>
          <p:cNvSpPr/>
          <p:nvPr/>
        </p:nvSpPr>
        <p:spPr>
          <a:xfrm>
            <a:off x="5381751" y="5381244"/>
            <a:ext cx="100584" cy="10058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555487" y="5321807"/>
            <a:ext cx="199136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Saudi Arabia (basesize = 51)</a:t>
            </a:r>
          </a:p>
        </p:txBody>
      </p:sp>
      <p:sp>
        <p:nvSpPr>
          <p:cNvPr id="51" name="Rounded Rectangle 50"/>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7935467" y="601527"/>
            <a:ext cx="1709927" cy="135726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3" name="Picture 52" descr="A12.png"/>
          <p:cNvPicPr>
            <a:picLocks noChangeAspect="1"/>
          </p:cNvPicPr>
          <p:nvPr/>
        </p:nvPicPr>
        <p:blipFill>
          <a:blip r:embed="rId2"/>
          <a:stretch>
            <a:fillRect/>
          </a:stretch>
        </p:blipFill>
        <p:spPr>
          <a:xfrm>
            <a:off x="7949183" y="615243"/>
            <a:ext cx="1682495" cy="1329833"/>
          </a:xfrm>
          <a:prstGeom prst="rect">
            <a:avLst/>
          </a:prstGeom>
        </p:spPr>
      </p:pic>
      <p:sp>
        <p:nvSpPr>
          <p:cNvPr id="54" name="TextBox 53"/>
          <p:cNvSpPr txBox="1"/>
          <p:nvPr/>
        </p:nvSpPr>
        <p:spPr>
          <a:xfrm>
            <a:off x="7912607" y="1999940"/>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D3 Pink Wrapper</a:t>
            </a:r>
          </a:p>
        </p:txBody>
      </p:sp>
      <p:sp>
        <p:nvSpPr>
          <p:cNvPr id="55" name="TextBox 54"/>
          <p:cNvSpPr txBox="1"/>
          <p:nvPr/>
        </p:nvSpPr>
        <p:spPr>
          <a:xfrm>
            <a:off x="7912607" y="2365700"/>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+16*</a:t>
            </a:r>
          </a:p>
        </p:txBody>
      </p:sp>
      <p:sp>
        <p:nvSpPr>
          <p:cNvPr id="56" name="Rectangle 55"/>
          <p:cNvSpPr/>
          <p:nvPr/>
        </p:nvSpPr>
        <p:spPr>
          <a:xfrm>
            <a:off x="9855707" y="601527"/>
            <a:ext cx="1709927" cy="135726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7" name="Picture 56" descr="A9.png"/>
          <p:cNvPicPr>
            <a:picLocks noChangeAspect="1"/>
          </p:cNvPicPr>
          <p:nvPr/>
        </p:nvPicPr>
        <p:blipFill>
          <a:blip r:embed="rId3"/>
          <a:stretch>
            <a:fillRect/>
          </a:stretch>
        </p:blipFill>
        <p:spPr>
          <a:xfrm>
            <a:off x="9869423" y="615243"/>
            <a:ext cx="1682495" cy="1329833"/>
          </a:xfrm>
          <a:prstGeom prst="rect">
            <a:avLst/>
          </a:prstGeom>
        </p:spPr>
      </p:pic>
      <p:sp>
        <p:nvSpPr>
          <p:cNvPr id="58" name="TextBox 57"/>
          <p:cNvSpPr txBox="1"/>
          <p:nvPr/>
        </p:nvSpPr>
        <p:spPr>
          <a:xfrm>
            <a:off x="9832847" y="1999940"/>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A09 D3 Blue Wrapper</a:t>
            </a:r>
          </a:p>
        </p:txBody>
      </p:sp>
      <p:sp>
        <p:nvSpPr>
          <p:cNvPr id="59" name="TextBox 58"/>
          <p:cNvSpPr txBox="1"/>
          <p:nvPr/>
        </p:nvSpPr>
        <p:spPr>
          <a:xfrm>
            <a:off x="9832847" y="2365700"/>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+17*</a:t>
            </a:r>
          </a:p>
        </p:txBody>
      </p:sp>
      <p:sp>
        <p:nvSpPr>
          <p:cNvPr id="60" name="Rectangle 59"/>
          <p:cNvSpPr/>
          <p:nvPr/>
        </p:nvSpPr>
        <p:spPr>
          <a:xfrm>
            <a:off x="7935467" y="3161847"/>
            <a:ext cx="1709927" cy="135726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1" name="Picture 60" descr="A1.png"/>
          <p:cNvPicPr>
            <a:picLocks noChangeAspect="1"/>
          </p:cNvPicPr>
          <p:nvPr/>
        </p:nvPicPr>
        <p:blipFill>
          <a:blip r:embed="rId4"/>
          <a:stretch>
            <a:fillRect/>
          </a:stretch>
        </p:blipFill>
        <p:spPr>
          <a:xfrm>
            <a:off x="7949183" y="3175563"/>
            <a:ext cx="1682495" cy="1329833"/>
          </a:xfrm>
          <a:prstGeom prst="rect">
            <a:avLst/>
          </a:prstGeom>
        </p:spPr>
      </p:pic>
      <p:sp>
        <p:nvSpPr>
          <p:cNvPr id="62" name="TextBox 61"/>
          <p:cNvSpPr txBox="1"/>
          <p:nvPr/>
        </p:nvSpPr>
        <p:spPr>
          <a:xfrm>
            <a:off x="7912607" y="4560260"/>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A01 D1 Blue Wrapper</a:t>
            </a:r>
          </a:p>
        </p:txBody>
      </p:sp>
      <p:sp>
        <p:nvSpPr>
          <p:cNvPr id="63" name="TextBox 62"/>
          <p:cNvSpPr txBox="1"/>
          <p:nvPr/>
        </p:nvSpPr>
        <p:spPr>
          <a:xfrm>
            <a:off x="7912607" y="4926020"/>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+13*</a:t>
            </a:r>
          </a:p>
        </p:txBody>
      </p:sp>
      <p:sp>
        <p:nvSpPr>
          <p:cNvPr id="64" name="Rectangle 63"/>
          <p:cNvSpPr/>
          <p:nvPr/>
        </p:nvSpPr>
        <p:spPr>
          <a:xfrm>
            <a:off x="9855707" y="3161847"/>
            <a:ext cx="1709927" cy="135726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5" name="Picture 64" descr="A2.png"/>
          <p:cNvPicPr>
            <a:picLocks noChangeAspect="1"/>
          </p:cNvPicPr>
          <p:nvPr/>
        </p:nvPicPr>
        <p:blipFill>
          <a:blip r:embed="rId5"/>
          <a:stretch>
            <a:fillRect/>
          </a:stretch>
        </p:blipFill>
        <p:spPr>
          <a:xfrm>
            <a:off x="9869423" y="3175563"/>
            <a:ext cx="1682495" cy="1329833"/>
          </a:xfrm>
          <a:prstGeom prst="rect">
            <a:avLst/>
          </a:prstGeom>
        </p:spPr>
      </p:pic>
      <p:sp>
        <p:nvSpPr>
          <p:cNvPr id="66" name="TextBox 65"/>
          <p:cNvSpPr txBox="1"/>
          <p:nvPr/>
        </p:nvSpPr>
        <p:spPr>
          <a:xfrm>
            <a:off x="9832847" y="4560260"/>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A02 D1 Orange</a:t>
            </a:r>
          </a:p>
          <a:p>
            <a:pPr algn="ctr">
              <a:spcBef>
                <a:spcPts val="0"/>
              </a:spcBef>
              <a:spcAft>
                <a:spcPts val="0"/>
              </a:spcAft>
            </a:pPr>
            <a:r>
              <a:rPr sz="1200" b="0" i="0">
                <a:solidFill>
                  <a:srgbClr val="1E2D44"/>
                </a:solidFill>
                <a:latin typeface="Karla"/>
              </a:rPr>
              <a:t>Wrapper</a:t>
            </a:r>
          </a:p>
        </p:txBody>
      </p:sp>
      <p:sp>
        <p:nvSpPr>
          <p:cNvPr id="67" name="TextBox 66"/>
          <p:cNvSpPr txBox="1"/>
          <p:nvPr/>
        </p:nvSpPr>
        <p:spPr>
          <a:xfrm>
            <a:off x="9832847" y="4926020"/>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+13*</a:t>
            </a:r>
          </a:p>
        </p:txBody>
      </p:sp>
      <p:sp>
        <p:nvSpPr>
          <p:cNvPr id="68" name="Rounded Rectangle 67"/>
          <p:cNvSpPr/>
          <p:nvPr/>
        </p:nvSpPr>
        <p:spPr>
          <a:xfrm>
            <a:off x="502920" y="5632704"/>
            <a:ext cx="11268455" cy="676656"/>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200" b="0">
                <a:solidFill>
                  <a:srgbClr val="1E2D44"/>
                </a:solidFill>
                <a:latin typeface="Karla"/>
              </a:rPr>
              <a:t>Bulgaria favors A06 D2 Orange Wrapper; Greece favors A06 D2 Orange Wrapper; Saudi Arabia favors A01 D1 Blue Wrapper. The widest segment gap is A01 D1 Blue Wrapper: +13 bulgaria / +8 greece / +17 saudi arabia.</a:t>
            </a:r>
          </a:p>
        </p:txBody>
      </p:sp>
      <p:sp>
        <p:nvSpPr>
          <p:cNvPr id="69" name="Rectangle 68"/>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Bulgaria basesize = 50; Greece basesize = 49; Saudi Arabia basesize = 51. Top-2 scores rounded to whole points. *Average of the groups in the legend.</a:t>
            </a:r>
          </a:p>
        </p:txBody>
      </p:sp>
      <p:sp>
        <p:nvSpPr>
          <p:cNvPr id="71" name="TextBox 70"/>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37744"/>
            <a:ext cx="7043927" cy="182880"/>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KEY FINDINGS: A_BACKGROUND  ·  Which of these countries do you live in?   ·   3 of 3</a:t>
            </a:r>
          </a:p>
        </p:txBody>
      </p:sp>
      <p:sp>
        <p:nvSpPr>
          <p:cNvPr id="3" name="TextBox 2"/>
          <p:cNvSpPr txBox="1"/>
          <p:nvPr/>
        </p:nvSpPr>
        <p:spPr>
          <a:xfrm>
            <a:off x="502920" y="438912"/>
            <a:ext cx="7043927" cy="365760"/>
          </a:xfrm>
          <a:prstGeom prst="rect">
            <a:avLst/>
          </a:prstGeom>
          <a:noFill/>
        </p:spPr>
        <p:txBody>
          <a:bodyPr wrap="square" anchor="t" lIns="0" rIns="0" tIns="0" bIns="0"/>
          <a:lstStyle/>
          <a:p>
            <a:pPr algn="l">
              <a:spcBef>
                <a:spcPts val="0"/>
              </a:spcBef>
              <a:spcAft>
                <a:spcPts val="0"/>
              </a:spcAft>
            </a:pPr>
            <a:r>
              <a:rPr sz="2600" b="1" i="0">
                <a:solidFill>
                  <a:srgbClr val="1E2D44"/>
                </a:solidFill>
                <a:latin typeface="Karla"/>
              </a:rPr>
              <a:t>A_Background splits across the groups</a:t>
            </a:r>
          </a:p>
        </p:txBody>
      </p:sp>
      <p:sp>
        <p:nvSpPr>
          <p:cNvPr id="4" name="TextBox 3"/>
          <p:cNvSpPr txBox="1"/>
          <p:nvPr/>
        </p:nvSpPr>
        <p:spPr>
          <a:xfrm>
            <a:off x="502920" y="822960"/>
            <a:ext cx="7043927" cy="475488"/>
          </a:xfrm>
          <a:prstGeom prst="rect">
            <a:avLst/>
          </a:prstGeom>
          <a:noFill/>
        </p:spPr>
        <p:txBody>
          <a:bodyPr wrap="square" anchor="t" lIns="0" rIns="0" tIns="0" bIns="0"/>
          <a:lstStyle/>
          <a:p>
            <a:pPr algn="l">
              <a:spcBef>
                <a:spcPts val="0"/>
              </a:spcBef>
              <a:spcAft>
                <a:spcPts val="0"/>
              </a:spcAft>
            </a:pPr>
            <a:r>
              <a:rPr sz="1200" b="0" i="0">
                <a:solidFill>
                  <a:srgbClr val="617086"/>
                </a:solidFill>
                <a:latin typeface="Karla"/>
              </a:rPr>
              <a:t>Bulgaria favors A06 D2 Orange Wrapper; Greece favors A06 D2 Orange Wrapper; Saudi Arabia favors A01 D1 Blue Wrapper.</a:t>
            </a:r>
          </a:p>
        </p:txBody>
      </p:sp>
      <p:sp>
        <p:nvSpPr>
          <p:cNvPr id="5" name="Rectangle 4"/>
          <p:cNvSpPr/>
          <p:nvPr/>
        </p:nvSpPr>
        <p:spPr>
          <a:xfrm>
            <a:off x="502920" y="1335024"/>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A_BACKGROUND</a:t>
            </a:r>
          </a:p>
        </p:txBody>
      </p:sp>
      <p:sp>
        <p:nvSpPr>
          <p:cNvPr id="6" name="TextBox 5"/>
          <p:cNvSpPr txBox="1"/>
          <p:nvPr/>
        </p:nvSpPr>
        <p:spPr>
          <a:xfrm>
            <a:off x="1874520"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7" name="Rectangle 6"/>
          <p:cNvSpPr/>
          <p:nvPr/>
        </p:nvSpPr>
        <p:spPr>
          <a:xfrm>
            <a:off x="3379469" y="1645920"/>
            <a:ext cx="9144" cy="3310128"/>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86861"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5</a:t>
            </a:r>
          </a:p>
        </p:txBody>
      </p:sp>
      <p:sp>
        <p:nvSpPr>
          <p:cNvPr id="9" name="Rectangle 8"/>
          <p:cNvSpPr/>
          <p:nvPr/>
        </p:nvSpPr>
        <p:spPr>
          <a:xfrm>
            <a:off x="4591811" y="1645920"/>
            <a:ext cx="9144" cy="3310128"/>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9203"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11" name="Rectangle 10"/>
          <p:cNvSpPr/>
          <p:nvPr/>
        </p:nvSpPr>
        <p:spPr>
          <a:xfrm>
            <a:off x="5804153" y="1645920"/>
            <a:ext cx="9144" cy="3310128"/>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11545"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15</a:t>
            </a:r>
          </a:p>
        </p:txBody>
      </p:sp>
      <p:sp>
        <p:nvSpPr>
          <p:cNvPr id="13" name="Rectangle 12"/>
          <p:cNvSpPr/>
          <p:nvPr/>
        </p:nvSpPr>
        <p:spPr>
          <a:xfrm>
            <a:off x="7016495" y="1645920"/>
            <a:ext cx="9144" cy="3310128"/>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23887"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5" name="Rectangle 14"/>
          <p:cNvSpPr/>
          <p:nvPr/>
        </p:nvSpPr>
        <p:spPr>
          <a:xfrm>
            <a:off x="2167128" y="1645920"/>
            <a:ext cx="10972" cy="3310128"/>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167128" y="4956048"/>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1827977"/>
            <a:ext cx="1554480" cy="463417"/>
          </a:xfrm>
          <a:prstGeom prst="rect">
            <a:avLst/>
          </a:prstGeom>
          <a:noFill/>
        </p:spPr>
        <p:txBody>
          <a:bodyPr wrap="none" anchor="ctr" lIns="0" rIns="0" tIns="0" bIns="0"/>
          <a:lstStyle/>
          <a:p>
            <a:pPr algn="r">
              <a:spcBef>
                <a:spcPts val="0"/>
              </a:spcBef>
              <a:spcAft>
                <a:spcPts val="0"/>
              </a:spcAft>
            </a:pPr>
            <a:r>
              <a:rPr sz="1200" b="0" i="0">
                <a:solidFill>
                  <a:srgbClr val="1E2D44"/>
                </a:solidFill>
                <a:latin typeface="Karla"/>
              </a:rPr>
              <a:t>D3 Orange</a:t>
            </a:r>
          </a:p>
          <a:p>
            <a:pPr algn="r">
              <a:spcBef>
                <a:spcPts val="0"/>
              </a:spcBef>
              <a:spcAft>
                <a:spcPts val="0"/>
              </a:spcAft>
            </a:pPr>
            <a:r>
              <a:rPr sz="1200" b="0" i="0">
                <a:solidFill>
                  <a:srgbClr val="1E2D44"/>
                </a:solidFill>
                <a:latin typeface="Karla"/>
              </a:rPr>
              <a:t>Wrapper</a:t>
            </a:r>
          </a:p>
        </p:txBody>
      </p:sp>
      <p:sp>
        <p:nvSpPr>
          <p:cNvPr id="18" name="Rectangle 17"/>
          <p:cNvSpPr/>
          <p:nvPr/>
        </p:nvSpPr>
        <p:spPr>
          <a:xfrm>
            <a:off x="2167128" y="1827977"/>
            <a:ext cx="3394557" cy="127040"/>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16549" y="1827977"/>
            <a:ext cx="457200" cy="127040"/>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+14</a:t>
            </a:r>
          </a:p>
        </p:txBody>
      </p:sp>
      <p:sp>
        <p:nvSpPr>
          <p:cNvPr id="20" name="Rectangle 19"/>
          <p:cNvSpPr/>
          <p:nvPr/>
        </p:nvSpPr>
        <p:spPr>
          <a:xfrm>
            <a:off x="2167128" y="1996165"/>
            <a:ext cx="4121962" cy="127040"/>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43954" y="1996165"/>
            <a:ext cx="457200" cy="127040"/>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+17</a:t>
            </a:r>
          </a:p>
        </p:txBody>
      </p:sp>
      <p:sp>
        <p:nvSpPr>
          <p:cNvPr id="22" name="Rectangle 21"/>
          <p:cNvSpPr/>
          <p:nvPr/>
        </p:nvSpPr>
        <p:spPr>
          <a:xfrm>
            <a:off x="2167128" y="2164354"/>
            <a:ext cx="3879494" cy="12704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01486" y="2164354"/>
            <a:ext cx="457200" cy="127040"/>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+16</a:t>
            </a:r>
          </a:p>
        </p:txBody>
      </p:sp>
      <p:sp>
        <p:nvSpPr>
          <p:cNvPr id="24" name="TextBox 23"/>
          <p:cNvSpPr txBox="1"/>
          <p:nvPr/>
        </p:nvSpPr>
        <p:spPr>
          <a:xfrm>
            <a:off x="502920" y="2655509"/>
            <a:ext cx="1554480" cy="463417"/>
          </a:xfrm>
          <a:prstGeom prst="rect">
            <a:avLst/>
          </a:prstGeom>
          <a:noFill/>
        </p:spPr>
        <p:txBody>
          <a:bodyPr wrap="none" anchor="ctr" lIns="0" rIns="0" tIns="0" bIns="0"/>
          <a:lstStyle/>
          <a:p>
            <a:pPr algn="r">
              <a:spcBef>
                <a:spcPts val="0"/>
              </a:spcBef>
              <a:spcAft>
                <a:spcPts val="0"/>
              </a:spcAft>
            </a:pPr>
            <a:r>
              <a:rPr sz="1200" b="0" i="0">
                <a:solidFill>
                  <a:srgbClr val="1E2D44"/>
                </a:solidFill>
                <a:latin typeface="Karla"/>
              </a:rPr>
              <a:t>D3 Yellow</a:t>
            </a:r>
          </a:p>
          <a:p>
            <a:pPr algn="r">
              <a:spcBef>
                <a:spcPts val="0"/>
              </a:spcBef>
              <a:spcAft>
                <a:spcPts val="0"/>
              </a:spcAft>
            </a:pPr>
            <a:r>
              <a:rPr sz="1200" b="0" i="0">
                <a:solidFill>
                  <a:srgbClr val="1E2D44"/>
                </a:solidFill>
                <a:latin typeface="Karla"/>
              </a:rPr>
              <a:t>Wrapper</a:t>
            </a:r>
          </a:p>
        </p:txBody>
      </p:sp>
      <p:sp>
        <p:nvSpPr>
          <p:cNvPr id="25" name="Rectangle 24"/>
          <p:cNvSpPr/>
          <p:nvPr/>
        </p:nvSpPr>
        <p:spPr>
          <a:xfrm>
            <a:off x="2167128" y="2655509"/>
            <a:ext cx="4121962" cy="127040"/>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43954" y="2655509"/>
            <a:ext cx="457200" cy="127040"/>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+17</a:t>
            </a:r>
          </a:p>
        </p:txBody>
      </p:sp>
      <p:sp>
        <p:nvSpPr>
          <p:cNvPr id="27" name="Rectangle 26"/>
          <p:cNvSpPr/>
          <p:nvPr/>
        </p:nvSpPr>
        <p:spPr>
          <a:xfrm>
            <a:off x="2167128" y="2823697"/>
            <a:ext cx="3394557" cy="127040"/>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16549" y="2823697"/>
            <a:ext cx="457200" cy="127040"/>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+14</a:t>
            </a:r>
          </a:p>
        </p:txBody>
      </p:sp>
      <p:sp>
        <p:nvSpPr>
          <p:cNvPr id="29" name="Rectangle 28"/>
          <p:cNvSpPr/>
          <p:nvPr/>
        </p:nvSpPr>
        <p:spPr>
          <a:xfrm>
            <a:off x="2167128" y="2991886"/>
            <a:ext cx="2424683" cy="12704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46675" y="2991886"/>
            <a:ext cx="457200" cy="127040"/>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+10</a:t>
            </a:r>
          </a:p>
        </p:txBody>
      </p:sp>
      <p:sp>
        <p:nvSpPr>
          <p:cNvPr id="31" name="TextBox 30"/>
          <p:cNvSpPr txBox="1"/>
          <p:nvPr/>
        </p:nvSpPr>
        <p:spPr>
          <a:xfrm>
            <a:off x="502920" y="3483041"/>
            <a:ext cx="1554480" cy="463417"/>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A04 D1 Pink</a:t>
            </a:r>
          </a:p>
          <a:p>
            <a:pPr algn="r">
              <a:spcBef>
                <a:spcPts val="0"/>
              </a:spcBef>
              <a:spcAft>
                <a:spcPts val="0"/>
              </a:spcAft>
            </a:pPr>
            <a:r>
              <a:rPr sz="1100" b="0" i="0">
                <a:solidFill>
                  <a:srgbClr val="1E2D44"/>
                </a:solidFill>
                <a:latin typeface="Karla"/>
              </a:rPr>
              <a:t>Wrapper</a:t>
            </a:r>
          </a:p>
        </p:txBody>
      </p:sp>
      <p:sp>
        <p:nvSpPr>
          <p:cNvPr id="32" name="Rectangle 31"/>
          <p:cNvSpPr/>
          <p:nvPr/>
        </p:nvSpPr>
        <p:spPr>
          <a:xfrm>
            <a:off x="2167128" y="3483041"/>
            <a:ext cx="3394557" cy="127040"/>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616549" y="3483041"/>
            <a:ext cx="457200" cy="127040"/>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+14</a:t>
            </a:r>
          </a:p>
        </p:txBody>
      </p:sp>
      <p:sp>
        <p:nvSpPr>
          <p:cNvPr id="34" name="Rectangle 33"/>
          <p:cNvSpPr/>
          <p:nvPr/>
        </p:nvSpPr>
        <p:spPr>
          <a:xfrm>
            <a:off x="2167128" y="3651229"/>
            <a:ext cx="3394557" cy="127040"/>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16549" y="3651229"/>
            <a:ext cx="457200" cy="127040"/>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+14</a:t>
            </a:r>
          </a:p>
        </p:txBody>
      </p:sp>
      <p:sp>
        <p:nvSpPr>
          <p:cNvPr id="36" name="Rectangle 35"/>
          <p:cNvSpPr/>
          <p:nvPr/>
        </p:nvSpPr>
        <p:spPr>
          <a:xfrm>
            <a:off x="2167128" y="3819418"/>
            <a:ext cx="2909620" cy="12704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131612" y="3819418"/>
            <a:ext cx="457200" cy="127040"/>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+12</a:t>
            </a:r>
          </a:p>
        </p:txBody>
      </p:sp>
      <p:sp>
        <p:nvSpPr>
          <p:cNvPr id="38" name="TextBox 37"/>
          <p:cNvSpPr txBox="1"/>
          <p:nvPr/>
        </p:nvSpPr>
        <p:spPr>
          <a:xfrm>
            <a:off x="502920" y="4310573"/>
            <a:ext cx="1554480" cy="463417"/>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A03 D1 Yellow</a:t>
            </a:r>
          </a:p>
          <a:p>
            <a:pPr algn="r">
              <a:spcBef>
                <a:spcPts val="0"/>
              </a:spcBef>
              <a:spcAft>
                <a:spcPts val="0"/>
              </a:spcAft>
            </a:pPr>
            <a:r>
              <a:rPr sz="1100" b="0" i="0">
                <a:solidFill>
                  <a:srgbClr val="1E2D44"/>
                </a:solidFill>
                <a:latin typeface="Karla"/>
              </a:rPr>
              <a:t>Wrapper</a:t>
            </a:r>
          </a:p>
        </p:txBody>
      </p:sp>
      <p:sp>
        <p:nvSpPr>
          <p:cNvPr id="39" name="Rectangle 38"/>
          <p:cNvSpPr/>
          <p:nvPr/>
        </p:nvSpPr>
        <p:spPr>
          <a:xfrm>
            <a:off x="2167128" y="4310573"/>
            <a:ext cx="2667152" cy="127040"/>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889144" y="4310573"/>
            <a:ext cx="457200" cy="127040"/>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+11</a:t>
            </a:r>
          </a:p>
        </p:txBody>
      </p:sp>
      <p:sp>
        <p:nvSpPr>
          <p:cNvPr id="41" name="Rectangle 40"/>
          <p:cNvSpPr/>
          <p:nvPr/>
        </p:nvSpPr>
        <p:spPr>
          <a:xfrm>
            <a:off x="2167128" y="4478761"/>
            <a:ext cx="2182215" cy="127040"/>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404207" y="4478761"/>
            <a:ext cx="457200" cy="127040"/>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+9</a:t>
            </a:r>
          </a:p>
        </p:txBody>
      </p:sp>
      <p:sp>
        <p:nvSpPr>
          <p:cNvPr id="43" name="Rectangle 42"/>
          <p:cNvSpPr/>
          <p:nvPr/>
        </p:nvSpPr>
        <p:spPr>
          <a:xfrm>
            <a:off x="2167128" y="4646950"/>
            <a:ext cx="2667152" cy="12704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889144" y="4646950"/>
            <a:ext cx="457200" cy="127040"/>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+11</a:t>
            </a:r>
          </a:p>
        </p:txBody>
      </p:sp>
      <p:sp>
        <p:nvSpPr>
          <p:cNvPr id="45" name="Rectangle 44"/>
          <p:cNvSpPr/>
          <p:nvPr/>
        </p:nvSpPr>
        <p:spPr>
          <a:xfrm>
            <a:off x="1250695" y="5381244"/>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424431" y="5321807"/>
            <a:ext cx="170688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Bulgaria (basesize = 50)</a:t>
            </a:r>
          </a:p>
        </p:txBody>
      </p:sp>
      <p:sp>
        <p:nvSpPr>
          <p:cNvPr id="47" name="Rectangle 46"/>
          <p:cNvSpPr/>
          <p:nvPr/>
        </p:nvSpPr>
        <p:spPr>
          <a:xfrm>
            <a:off x="3387343" y="5381244"/>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561079" y="5321807"/>
            <a:ext cx="156464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Greece (basesize = 49)</a:t>
            </a:r>
          </a:p>
        </p:txBody>
      </p:sp>
      <p:sp>
        <p:nvSpPr>
          <p:cNvPr id="49" name="Rectangle 48"/>
          <p:cNvSpPr/>
          <p:nvPr/>
        </p:nvSpPr>
        <p:spPr>
          <a:xfrm>
            <a:off x="5381751" y="5381244"/>
            <a:ext cx="100584" cy="10058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555487" y="5321807"/>
            <a:ext cx="199136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Saudi Arabia (basesize = 51)</a:t>
            </a:r>
          </a:p>
        </p:txBody>
      </p:sp>
      <p:sp>
        <p:nvSpPr>
          <p:cNvPr id="51" name="Rounded Rectangle 50"/>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7935467" y="601527"/>
            <a:ext cx="1709927" cy="135726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3" name="Picture 52" descr="A10.png"/>
          <p:cNvPicPr>
            <a:picLocks noChangeAspect="1"/>
          </p:cNvPicPr>
          <p:nvPr/>
        </p:nvPicPr>
        <p:blipFill>
          <a:blip r:embed="rId2"/>
          <a:stretch>
            <a:fillRect/>
          </a:stretch>
        </p:blipFill>
        <p:spPr>
          <a:xfrm>
            <a:off x="7949183" y="615243"/>
            <a:ext cx="1682495" cy="1329833"/>
          </a:xfrm>
          <a:prstGeom prst="rect">
            <a:avLst/>
          </a:prstGeom>
        </p:spPr>
      </p:pic>
      <p:sp>
        <p:nvSpPr>
          <p:cNvPr id="54" name="TextBox 53"/>
          <p:cNvSpPr txBox="1"/>
          <p:nvPr/>
        </p:nvSpPr>
        <p:spPr>
          <a:xfrm>
            <a:off x="7912607" y="1999940"/>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D3 Orange Wrapper</a:t>
            </a:r>
          </a:p>
        </p:txBody>
      </p:sp>
      <p:sp>
        <p:nvSpPr>
          <p:cNvPr id="55" name="TextBox 54"/>
          <p:cNvSpPr txBox="1"/>
          <p:nvPr/>
        </p:nvSpPr>
        <p:spPr>
          <a:xfrm>
            <a:off x="7912607" y="2365700"/>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+16*</a:t>
            </a:r>
          </a:p>
        </p:txBody>
      </p:sp>
      <p:sp>
        <p:nvSpPr>
          <p:cNvPr id="56" name="Rectangle 55"/>
          <p:cNvSpPr/>
          <p:nvPr/>
        </p:nvSpPr>
        <p:spPr>
          <a:xfrm>
            <a:off x="9855707" y="601527"/>
            <a:ext cx="1709927" cy="135726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7" name="Picture 56" descr="A11.png"/>
          <p:cNvPicPr>
            <a:picLocks noChangeAspect="1"/>
          </p:cNvPicPr>
          <p:nvPr/>
        </p:nvPicPr>
        <p:blipFill>
          <a:blip r:embed="rId3"/>
          <a:stretch>
            <a:fillRect/>
          </a:stretch>
        </p:blipFill>
        <p:spPr>
          <a:xfrm>
            <a:off x="9869423" y="615243"/>
            <a:ext cx="1682495" cy="1329833"/>
          </a:xfrm>
          <a:prstGeom prst="rect">
            <a:avLst/>
          </a:prstGeom>
        </p:spPr>
      </p:pic>
      <p:sp>
        <p:nvSpPr>
          <p:cNvPr id="58" name="TextBox 57"/>
          <p:cNvSpPr txBox="1"/>
          <p:nvPr/>
        </p:nvSpPr>
        <p:spPr>
          <a:xfrm>
            <a:off x="9832847" y="1999940"/>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D3 Yellow Wrapper</a:t>
            </a:r>
          </a:p>
        </p:txBody>
      </p:sp>
      <p:sp>
        <p:nvSpPr>
          <p:cNvPr id="59" name="TextBox 58"/>
          <p:cNvSpPr txBox="1"/>
          <p:nvPr/>
        </p:nvSpPr>
        <p:spPr>
          <a:xfrm>
            <a:off x="9832847" y="2365700"/>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+14*</a:t>
            </a:r>
          </a:p>
        </p:txBody>
      </p:sp>
      <p:sp>
        <p:nvSpPr>
          <p:cNvPr id="60" name="Rectangle 59"/>
          <p:cNvSpPr/>
          <p:nvPr/>
        </p:nvSpPr>
        <p:spPr>
          <a:xfrm>
            <a:off x="7935467" y="3161847"/>
            <a:ext cx="1709927" cy="135726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1" name="Picture 60" descr="A4.png"/>
          <p:cNvPicPr>
            <a:picLocks noChangeAspect="1"/>
          </p:cNvPicPr>
          <p:nvPr/>
        </p:nvPicPr>
        <p:blipFill>
          <a:blip r:embed="rId4"/>
          <a:stretch>
            <a:fillRect/>
          </a:stretch>
        </p:blipFill>
        <p:spPr>
          <a:xfrm>
            <a:off x="7949183" y="3175563"/>
            <a:ext cx="1682495" cy="1329833"/>
          </a:xfrm>
          <a:prstGeom prst="rect">
            <a:avLst/>
          </a:prstGeom>
        </p:spPr>
      </p:pic>
      <p:sp>
        <p:nvSpPr>
          <p:cNvPr id="62" name="TextBox 61"/>
          <p:cNvSpPr txBox="1"/>
          <p:nvPr/>
        </p:nvSpPr>
        <p:spPr>
          <a:xfrm>
            <a:off x="7912607" y="4560260"/>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A04 D1 Pink Wrapper</a:t>
            </a:r>
          </a:p>
        </p:txBody>
      </p:sp>
      <p:sp>
        <p:nvSpPr>
          <p:cNvPr id="63" name="TextBox 62"/>
          <p:cNvSpPr txBox="1"/>
          <p:nvPr/>
        </p:nvSpPr>
        <p:spPr>
          <a:xfrm>
            <a:off x="7912607" y="4926020"/>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+13*</a:t>
            </a:r>
          </a:p>
        </p:txBody>
      </p:sp>
      <p:sp>
        <p:nvSpPr>
          <p:cNvPr id="64" name="Rectangle 63"/>
          <p:cNvSpPr/>
          <p:nvPr/>
        </p:nvSpPr>
        <p:spPr>
          <a:xfrm>
            <a:off x="9855707" y="3161847"/>
            <a:ext cx="1709927" cy="135726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5" name="Picture 64" descr="A3.png"/>
          <p:cNvPicPr>
            <a:picLocks noChangeAspect="1"/>
          </p:cNvPicPr>
          <p:nvPr/>
        </p:nvPicPr>
        <p:blipFill>
          <a:blip r:embed="rId5"/>
          <a:stretch>
            <a:fillRect/>
          </a:stretch>
        </p:blipFill>
        <p:spPr>
          <a:xfrm>
            <a:off x="9869423" y="3175563"/>
            <a:ext cx="1682495" cy="1329833"/>
          </a:xfrm>
          <a:prstGeom prst="rect">
            <a:avLst/>
          </a:prstGeom>
        </p:spPr>
      </p:pic>
      <p:sp>
        <p:nvSpPr>
          <p:cNvPr id="66" name="TextBox 65"/>
          <p:cNvSpPr txBox="1"/>
          <p:nvPr/>
        </p:nvSpPr>
        <p:spPr>
          <a:xfrm>
            <a:off x="9832847" y="4560260"/>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A03 D1 Yellow</a:t>
            </a:r>
          </a:p>
          <a:p>
            <a:pPr algn="ctr">
              <a:spcBef>
                <a:spcPts val="0"/>
              </a:spcBef>
              <a:spcAft>
                <a:spcPts val="0"/>
              </a:spcAft>
            </a:pPr>
            <a:r>
              <a:rPr sz="1200" b="0" i="0">
                <a:solidFill>
                  <a:srgbClr val="1E2D44"/>
                </a:solidFill>
                <a:latin typeface="Karla"/>
              </a:rPr>
              <a:t>Wrapper</a:t>
            </a:r>
          </a:p>
        </p:txBody>
      </p:sp>
      <p:sp>
        <p:nvSpPr>
          <p:cNvPr id="67" name="TextBox 66"/>
          <p:cNvSpPr txBox="1"/>
          <p:nvPr/>
        </p:nvSpPr>
        <p:spPr>
          <a:xfrm>
            <a:off x="9832847" y="4926020"/>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+10*</a:t>
            </a:r>
          </a:p>
        </p:txBody>
      </p:sp>
      <p:sp>
        <p:nvSpPr>
          <p:cNvPr id="68" name="Rounded Rectangle 67"/>
          <p:cNvSpPr/>
          <p:nvPr/>
        </p:nvSpPr>
        <p:spPr>
          <a:xfrm>
            <a:off x="502920" y="5632704"/>
            <a:ext cx="11268455" cy="676656"/>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200" b="0">
                <a:solidFill>
                  <a:srgbClr val="1E2D44"/>
                </a:solidFill>
                <a:latin typeface="Karla"/>
              </a:rPr>
              <a:t>Bulgaria favors A06 D2 Orange Wrapper; Greece favors A06 D2 Orange Wrapper; Saudi Arabia favors A01 D1 Blue Wrapper. The widest segment gap is A01 D1 Blue Wrapper: +13 bulgaria / +8 greece / +17 saudi arabia.</a:t>
            </a:r>
          </a:p>
        </p:txBody>
      </p:sp>
      <p:sp>
        <p:nvSpPr>
          <p:cNvPr id="69" name="Rectangle 68"/>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Bulgaria basesize = 50; Greece basesize = 49; Saudi Arabia basesize = 51. Top-2 scores rounded to whole points. *Average of the groups in the legend.</a:t>
            </a:r>
          </a:p>
        </p:txBody>
      </p:sp>
      <p:sp>
        <p:nvSpPr>
          <p:cNvPr id="71" name="TextBox 70"/>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37744"/>
            <a:ext cx="7043927" cy="182880"/>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KEY FINDINGS: A_BACKGROUND  ·  Do you currently consume protein-enriched food products   ·   1 of 3</a:t>
            </a:r>
          </a:p>
        </p:txBody>
      </p:sp>
      <p:sp>
        <p:nvSpPr>
          <p:cNvPr id="3" name="TextBox 2"/>
          <p:cNvSpPr txBox="1"/>
          <p:nvPr/>
        </p:nvSpPr>
        <p:spPr>
          <a:xfrm>
            <a:off x="502920" y="438912"/>
            <a:ext cx="7043927" cy="365760"/>
          </a:xfrm>
          <a:prstGeom prst="rect">
            <a:avLst/>
          </a:prstGeom>
          <a:noFill/>
        </p:spPr>
        <p:txBody>
          <a:bodyPr wrap="square" anchor="t" lIns="0" rIns="0" tIns="0" bIns="0"/>
          <a:lstStyle/>
          <a:p>
            <a:pPr algn="l">
              <a:spcBef>
                <a:spcPts val="0"/>
              </a:spcBef>
              <a:spcAft>
                <a:spcPts val="0"/>
              </a:spcAft>
            </a:pPr>
            <a:r>
              <a:rPr sz="2600" b="1" i="0">
                <a:solidFill>
                  <a:srgbClr val="1E2D44"/>
                </a:solidFill>
                <a:latin typeface="Karla"/>
              </a:rPr>
              <a:t>A_Background splits across the groups</a:t>
            </a:r>
          </a:p>
        </p:txBody>
      </p:sp>
      <p:sp>
        <p:nvSpPr>
          <p:cNvPr id="4" name="TextBox 3"/>
          <p:cNvSpPr txBox="1"/>
          <p:nvPr/>
        </p:nvSpPr>
        <p:spPr>
          <a:xfrm>
            <a:off x="502920" y="822960"/>
            <a:ext cx="7043927" cy="475488"/>
          </a:xfrm>
          <a:prstGeom prst="rect">
            <a:avLst/>
          </a:prstGeom>
          <a:noFill/>
        </p:spPr>
        <p:txBody>
          <a:bodyPr wrap="square" anchor="t" lIns="0" rIns="0" tIns="0" bIns="0"/>
          <a:lstStyle/>
          <a:p>
            <a:pPr algn="l">
              <a:spcBef>
                <a:spcPts val="0"/>
              </a:spcBef>
              <a:spcAft>
                <a:spcPts val="0"/>
              </a:spcAft>
            </a:pPr>
            <a:r>
              <a:rPr sz="1200" b="0" i="0">
                <a:solidFill>
                  <a:srgbClr val="617086"/>
                </a:solidFill>
                <a:latin typeface="Karla"/>
              </a:rPr>
              <a:t>No, and I am not interested favors D3 Pink Wrapper; No, but I am interested in trying them favors A07 D2 Yellow Wrapper; Yes, occasionally favors A06 D2 Orange Wrapper; Yes, regularly favors A09 D3 Blue Wrapper.</a:t>
            </a:r>
          </a:p>
        </p:txBody>
      </p:sp>
      <p:sp>
        <p:nvSpPr>
          <p:cNvPr id="5" name="Rectangle 4"/>
          <p:cNvSpPr/>
          <p:nvPr/>
        </p:nvSpPr>
        <p:spPr>
          <a:xfrm>
            <a:off x="502920" y="1335024"/>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A_BACKGROUND</a:t>
            </a:r>
          </a:p>
        </p:txBody>
      </p:sp>
      <p:sp>
        <p:nvSpPr>
          <p:cNvPr id="6" name="Rectangle 5"/>
          <p:cNvSpPr/>
          <p:nvPr/>
        </p:nvSpPr>
        <p:spPr>
          <a:xfrm>
            <a:off x="2167128"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74520"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8" name="TextBox 7"/>
          <p:cNvSpPr txBox="1"/>
          <p:nvPr/>
        </p:nvSpPr>
        <p:spPr>
          <a:xfrm>
            <a:off x="3490975"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9" name="Rectangle 8"/>
          <p:cNvSpPr/>
          <p:nvPr/>
        </p:nvSpPr>
        <p:spPr>
          <a:xfrm>
            <a:off x="5400039"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7431"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1" name="Rectangle 10"/>
          <p:cNvSpPr/>
          <p:nvPr/>
        </p:nvSpPr>
        <p:spPr>
          <a:xfrm>
            <a:off x="7016495"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23887"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40</a:t>
            </a:r>
          </a:p>
        </p:txBody>
      </p:sp>
      <p:sp>
        <p:nvSpPr>
          <p:cNvPr id="13" name="Rectangle 12"/>
          <p:cNvSpPr/>
          <p:nvPr/>
        </p:nvSpPr>
        <p:spPr>
          <a:xfrm>
            <a:off x="3783583" y="1645920"/>
            <a:ext cx="10972" cy="2871215"/>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167128" y="4517136"/>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1778508"/>
            <a:ext cx="1554480" cy="452628"/>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A09 D3 Blue</a:t>
            </a:r>
          </a:p>
          <a:p>
            <a:pPr algn="r">
              <a:spcBef>
                <a:spcPts val="0"/>
              </a:spcBef>
              <a:spcAft>
                <a:spcPts val="0"/>
              </a:spcAft>
            </a:pPr>
            <a:r>
              <a:rPr sz="1100" b="0" i="0">
                <a:solidFill>
                  <a:srgbClr val="1E2D44"/>
                </a:solidFill>
                <a:latin typeface="Karla"/>
              </a:rPr>
              <a:t>Wrapper</a:t>
            </a:r>
          </a:p>
        </p:txBody>
      </p:sp>
      <p:sp>
        <p:nvSpPr>
          <p:cNvPr id="16" name="Rectangle 15"/>
          <p:cNvSpPr/>
          <p:nvPr/>
        </p:nvSpPr>
        <p:spPr>
          <a:xfrm>
            <a:off x="3783583" y="1778508"/>
            <a:ext cx="27432"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838447" y="1778508"/>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0</a:t>
            </a:r>
          </a:p>
        </p:txBody>
      </p:sp>
      <p:sp>
        <p:nvSpPr>
          <p:cNvPr id="18" name="Rectangle 17"/>
          <p:cNvSpPr/>
          <p:nvPr/>
        </p:nvSpPr>
        <p:spPr>
          <a:xfrm>
            <a:off x="3783583" y="1901952"/>
            <a:ext cx="484936"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23384" y="1901952"/>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+6</a:t>
            </a:r>
          </a:p>
        </p:txBody>
      </p:sp>
      <p:sp>
        <p:nvSpPr>
          <p:cNvPr id="20" name="Rectangle 19"/>
          <p:cNvSpPr/>
          <p:nvPr/>
        </p:nvSpPr>
        <p:spPr>
          <a:xfrm>
            <a:off x="3783583" y="2025395"/>
            <a:ext cx="889050"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27498" y="2025395"/>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+11</a:t>
            </a:r>
          </a:p>
        </p:txBody>
      </p:sp>
      <p:sp>
        <p:nvSpPr>
          <p:cNvPr id="22" name="Rectangle 21"/>
          <p:cNvSpPr/>
          <p:nvPr/>
        </p:nvSpPr>
        <p:spPr>
          <a:xfrm>
            <a:off x="3783583" y="2148840"/>
            <a:ext cx="2101392"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39840" y="2148840"/>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+26</a:t>
            </a:r>
          </a:p>
        </p:txBody>
      </p:sp>
      <p:sp>
        <p:nvSpPr>
          <p:cNvPr id="24" name="TextBox 23"/>
          <p:cNvSpPr txBox="1"/>
          <p:nvPr/>
        </p:nvSpPr>
        <p:spPr>
          <a:xfrm>
            <a:off x="502920" y="2496312"/>
            <a:ext cx="1554480" cy="452628"/>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A06 D2 Orange</a:t>
            </a:r>
          </a:p>
          <a:p>
            <a:pPr algn="r">
              <a:spcBef>
                <a:spcPts val="0"/>
              </a:spcBef>
              <a:spcAft>
                <a:spcPts val="0"/>
              </a:spcAft>
            </a:pPr>
            <a:r>
              <a:rPr sz="1100" b="0" i="0">
                <a:solidFill>
                  <a:srgbClr val="1E2D44"/>
                </a:solidFill>
                <a:latin typeface="Karla"/>
              </a:rPr>
              <a:t>Wrapper</a:t>
            </a:r>
          </a:p>
        </p:txBody>
      </p:sp>
      <p:sp>
        <p:nvSpPr>
          <p:cNvPr id="25" name="Rectangle 24"/>
          <p:cNvSpPr/>
          <p:nvPr/>
        </p:nvSpPr>
        <p:spPr>
          <a:xfrm>
            <a:off x="3783583" y="2496312"/>
            <a:ext cx="646582"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85030" y="2496312"/>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+8</a:t>
            </a:r>
          </a:p>
        </p:txBody>
      </p:sp>
      <p:sp>
        <p:nvSpPr>
          <p:cNvPr id="27" name="Rectangle 26"/>
          <p:cNvSpPr/>
          <p:nvPr/>
        </p:nvSpPr>
        <p:spPr>
          <a:xfrm>
            <a:off x="3783583" y="2619756"/>
            <a:ext cx="1131519"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969967" y="2619756"/>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+14</a:t>
            </a:r>
          </a:p>
        </p:txBody>
      </p:sp>
      <p:sp>
        <p:nvSpPr>
          <p:cNvPr id="29" name="Rectangle 28"/>
          <p:cNvSpPr/>
          <p:nvPr/>
        </p:nvSpPr>
        <p:spPr>
          <a:xfrm>
            <a:off x="3783583" y="2743200"/>
            <a:ext cx="1131519"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969967" y="2743200"/>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+14</a:t>
            </a:r>
          </a:p>
        </p:txBody>
      </p:sp>
      <p:sp>
        <p:nvSpPr>
          <p:cNvPr id="31" name="Rectangle 30"/>
          <p:cNvSpPr/>
          <p:nvPr/>
        </p:nvSpPr>
        <p:spPr>
          <a:xfrm>
            <a:off x="3783583" y="2866644"/>
            <a:ext cx="1858924"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697372" y="2866644"/>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+23</a:t>
            </a:r>
          </a:p>
        </p:txBody>
      </p:sp>
      <p:sp>
        <p:nvSpPr>
          <p:cNvPr id="33" name="TextBox 32"/>
          <p:cNvSpPr txBox="1"/>
          <p:nvPr/>
        </p:nvSpPr>
        <p:spPr>
          <a:xfrm>
            <a:off x="502920" y="3214116"/>
            <a:ext cx="1554480" cy="452628"/>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A08 D2 Pink</a:t>
            </a:r>
          </a:p>
          <a:p>
            <a:pPr algn="r">
              <a:spcBef>
                <a:spcPts val="0"/>
              </a:spcBef>
              <a:spcAft>
                <a:spcPts val="0"/>
              </a:spcAft>
            </a:pPr>
            <a:r>
              <a:rPr sz="1100" b="0" i="0">
                <a:solidFill>
                  <a:srgbClr val="1E2D44"/>
                </a:solidFill>
                <a:latin typeface="Karla"/>
              </a:rPr>
              <a:t>Wrapper</a:t>
            </a:r>
          </a:p>
        </p:txBody>
      </p:sp>
      <p:sp>
        <p:nvSpPr>
          <p:cNvPr id="34" name="Rectangle 33"/>
          <p:cNvSpPr/>
          <p:nvPr/>
        </p:nvSpPr>
        <p:spPr>
          <a:xfrm>
            <a:off x="3783583" y="3214116"/>
            <a:ext cx="323291"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161739" y="3214116"/>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+4</a:t>
            </a:r>
          </a:p>
        </p:txBody>
      </p:sp>
      <p:sp>
        <p:nvSpPr>
          <p:cNvPr id="36" name="Rectangle 35"/>
          <p:cNvSpPr/>
          <p:nvPr/>
        </p:nvSpPr>
        <p:spPr>
          <a:xfrm>
            <a:off x="3783583" y="3337560"/>
            <a:ext cx="808227"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646675" y="3337560"/>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+10</a:t>
            </a:r>
          </a:p>
        </p:txBody>
      </p:sp>
      <p:sp>
        <p:nvSpPr>
          <p:cNvPr id="38" name="Rectangle 37"/>
          <p:cNvSpPr/>
          <p:nvPr/>
        </p:nvSpPr>
        <p:spPr>
          <a:xfrm>
            <a:off x="3783583" y="3461004"/>
            <a:ext cx="889050"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727498" y="3461004"/>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+11</a:t>
            </a:r>
          </a:p>
        </p:txBody>
      </p:sp>
      <p:sp>
        <p:nvSpPr>
          <p:cNvPr id="40" name="Rectangle 39"/>
          <p:cNvSpPr/>
          <p:nvPr/>
        </p:nvSpPr>
        <p:spPr>
          <a:xfrm>
            <a:off x="3783583" y="3584448"/>
            <a:ext cx="1858924"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697372" y="3584448"/>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+23</a:t>
            </a:r>
          </a:p>
        </p:txBody>
      </p:sp>
      <p:sp>
        <p:nvSpPr>
          <p:cNvPr id="42" name="TextBox 41"/>
          <p:cNvSpPr txBox="1"/>
          <p:nvPr/>
        </p:nvSpPr>
        <p:spPr>
          <a:xfrm>
            <a:off x="502920" y="3931919"/>
            <a:ext cx="1554480" cy="452628"/>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A05 D2 Blue</a:t>
            </a:r>
          </a:p>
          <a:p>
            <a:pPr algn="r">
              <a:spcBef>
                <a:spcPts val="0"/>
              </a:spcBef>
              <a:spcAft>
                <a:spcPts val="0"/>
              </a:spcAft>
            </a:pPr>
            <a:r>
              <a:rPr sz="1100" b="0" i="0">
                <a:solidFill>
                  <a:srgbClr val="1E2D44"/>
                </a:solidFill>
                <a:latin typeface="Karla"/>
              </a:rPr>
              <a:t>Wrapper</a:t>
            </a:r>
          </a:p>
        </p:txBody>
      </p:sp>
      <p:sp>
        <p:nvSpPr>
          <p:cNvPr id="43" name="Rectangle 42"/>
          <p:cNvSpPr/>
          <p:nvPr/>
        </p:nvSpPr>
        <p:spPr>
          <a:xfrm>
            <a:off x="2975355" y="3931919"/>
            <a:ext cx="808227"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463291" y="3931919"/>
            <a:ext cx="457200" cy="82296"/>
          </a:xfrm>
          <a:prstGeom prst="rect">
            <a:avLst/>
          </a:prstGeom>
          <a:noFill/>
        </p:spPr>
        <p:txBody>
          <a:bodyPr wrap="none" anchor="ctr" lIns="0" rIns="0" tIns="0" bIns="0"/>
          <a:lstStyle/>
          <a:p>
            <a:pPr algn="r">
              <a:spcBef>
                <a:spcPts val="0"/>
              </a:spcBef>
              <a:spcAft>
                <a:spcPts val="0"/>
              </a:spcAft>
            </a:pPr>
            <a:r>
              <a:rPr sz="1000" b="1" i="0">
                <a:solidFill>
                  <a:srgbClr val="1A2332"/>
                </a:solidFill>
                <a:latin typeface="Karla"/>
              </a:rPr>
              <a:t>-10</a:t>
            </a:r>
          </a:p>
        </p:txBody>
      </p:sp>
      <p:sp>
        <p:nvSpPr>
          <p:cNvPr id="45" name="Rectangle 44"/>
          <p:cNvSpPr/>
          <p:nvPr/>
        </p:nvSpPr>
        <p:spPr>
          <a:xfrm>
            <a:off x="3783583" y="4055363"/>
            <a:ext cx="727405"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565853" y="4055363"/>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+9</a:t>
            </a:r>
          </a:p>
        </p:txBody>
      </p:sp>
      <p:sp>
        <p:nvSpPr>
          <p:cNvPr id="47" name="Rectangle 46"/>
          <p:cNvSpPr/>
          <p:nvPr/>
        </p:nvSpPr>
        <p:spPr>
          <a:xfrm>
            <a:off x="3783583" y="4178807"/>
            <a:ext cx="1050696"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889144" y="4178807"/>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+13</a:t>
            </a:r>
          </a:p>
        </p:txBody>
      </p:sp>
      <p:sp>
        <p:nvSpPr>
          <p:cNvPr id="49" name="Rectangle 48"/>
          <p:cNvSpPr/>
          <p:nvPr/>
        </p:nvSpPr>
        <p:spPr>
          <a:xfrm>
            <a:off x="3783583" y="4302251"/>
            <a:ext cx="1778101"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616549" y="4302251"/>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+22</a:t>
            </a:r>
          </a:p>
        </p:txBody>
      </p:sp>
      <p:sp>
        <p:nvSpPr>
          <p:cNvPr id="51" name="Rectangle 50"/>
          <p:cNvSpPr/>
          <p:nvPr/>
        </p:nvSpPr>
        <p:spPr>
          <a:xfrm>
            <a:off x="3011423" y="4942332"/>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185159" y="4882896"/>
            <a:ext cx="298704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No, and I am not interested (basesize = 5)</a:t>
            </a:r>
          </a:p>
        </p:txBody>
      </p:sp>
      <p:sp>
        <p:nvSpPr>
          <p:cNvPr id="53" name="Rectangle 52"/>
          <p:cNvSpPr/>
          <p:nvPr/>
        </p:nvSpPr>
        <p:spPr>
          <a:xfrm>
            <a:off x="755903" y="5161788"/>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29639" y="5102352"/>
            <a:ext cx="384048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No, but I am interested in trying them (basesize = 15)</a:t>
            </a:r>
          </a:p>
        </p:txBody>
      </p:sp>
      <p:sp>
        <p:nvSpPr>
          <p:cNvPr id="55" name="Rectangle 54"/>
          <p:cNvSpPr/>
          <p:nvPr/>
        </p:nvSpPr>
        <p:spPr>
          <a:xfrm>
            <a:off x="5026151" y="5161788"/>
            <a:ext cx="100584" cy="10058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199887" y="5102352"/>
            <a:ext cx="234696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Yes, occasionally (basesize = 56)</a:t>
            </a:r>
          </a:p>
        </p:txBody>
      </p:sp>
      <p:sp>
        <p:nvSpPr>
          <p:cNvPr id="57" name="Rectangle 56"/>
          <p:cNvSpPr/>
          <p:nvPr/>
        </p:nvSpPr>
        <p:spPr>
          <a:xfrm>
            <a:off x="3438143" y="5381244"/>
            <a:ext cx="100584" cy="100584"/>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611879" y="5321808"/>
            <a:ext cx="213360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Yes, regularly (basesize = 74)</a:t>
            </a:r>
          </a:p>
        </p:txBody>
      </p:sp>
      <p:sp>
        <p:nvSpPr>
          <p:cNvPr id="59" name="Rounded Rectangle 58"/>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7935467" y="601527"/>
            <a:ext cx="1709927" cy="135726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1" name="Picture 60" descr="A9.png"/>
          <p:cNvPicPr>
            <a:picLocks noChangeAspect="1"/>
          </p:cNvPicPr>
          <p:nvPr/>
        </p:nvPicPr>
        <p:blipFill>
          <a:blip r:embed="rId2"/>
          <a:stretch>
            <a:fillRect/>
          </a:stretch>
        </p:blipFill>
        <p:spPr>
          <a:xfrm>
            <a:off x="7949183" y="615243"/>
            <a:ext cx="1682495" cy="1329833"/>
          </a:xfrm>
          <a:prstGeom prst="rect">
            <a:avLst/>
          </a:prstGeom>
        </p:spPr>
      </p:pic>
      <p:sp>
        <p:nvSpPr>
          <p:cNvPr id="62" name="TextBox 61"/>
          <p:cNvSpPr txBox="1"/>
          <p:nvPr/>
        </p:nvSpPr>
        <p:spPr>
          <a:xfrm>
            <a:off x="7912607" y="1999940"/>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A09 D3 Blue Wrapper</a:t>
            </a:r>
          </a:p>
        </p:txBody>
      </p:sp>
      <p:sp>
        <p:nvSpPr>
          <p:cNvPr id="63" name="TextBox 62"/>
          <p:cNvSpPr txBox="1"/>
          <p:nvPr/>
        </p:nvSpPr>
        <p:spPr>
          <a:xfrm>
            <a:off x="7912607" y="2365700"/>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+11*</a:t>
            </a:r>
          </a:p>
        </p:txBody>
      </p:sp>
      <p:sp>
        <p:nvSpPr>
          <p:cNvPr id="64" name="Rectangle 63"/>
          <p:cNvSpPr/>
          <p:nvPr/>
        </p:nvSpPr>
        <p:spPr>
          <a:xfrm>
            <a:off x="9855707" y="601527"/>
            <a:ext cx="1709927" cy="135726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5" name="Picture 64" descr="A6.png"/>
          <p:cNvPicPr>
            <a:picLocks noChangeAspect="1"/>
          </p:cNvPicPr>
          <p:nvPr/>
        </p:nvPicPr>
        <p:blipFill>
          <a:blip r:embed="rId3"/>
          <a:stretch>
            <a:fillRect/>
          </a:stretch>
        </p:blipFill>
        <p:spPr>
          <a:xfrm>
            <a:off x="9869423" y="615243"/>
            <a:ext cx="1682495" cy="1329833"/>
          </a:xfrm>
          <a:prstGeom prst="rect">
            <a:avLst/>
          </a:prstGeom>
        </p:spPr>
      </p:pic>
      <p:sp>
        <p:nvSpPr>
          <p:cNvPr id="66" name="TextBox 65"/>
          <p:cNvSpPr txBox="1"/>
          <p:nvPr/>
        </p:nvSpPr>
        <p:spPr>
          <a:xfrm>
            <a:off x="9832847" y="1999940"/>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A06 D2 Orange</a:t>
            </a:r>
          </a:p>
          <a:p>
            <a:pPr algn="ctr">
              <a:spcBef>
                <a:spcPts val="0"/>
              </a:spcBef>
              <a:spcAft>
                <a:spcPts val="0"/>
              </a:spcAft>
            </a:pPr>
            <a:r>
              <a:rPr sz="1200" b="0" i="0">
                <a:solidFill>
                  <a:srgbClr val="1E2D44"/>
                </a:solidFill>
                <a:latin typeface="Karla"/>
              </a:rPr>
              <a:t>Wrapper</a:t>
            </a:r>
          </a:p>
        </p:txBody>
      </p:sp>
      <p:sp>
        <p:nvSpPr>
          <p:cNvPr id="67" name="TextBox 66"/>
          <p:cNvSpPr txBox="1"/>
          <p:nvPr/>
        </p:nvSpPr>
        <p:spPr>
          <a:xfrm>
            <a:off x="9832847" y="2365700"/>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+15*</a:t>
            </a:r>
          </a:p>
        </p:txBody>
      </p:sp>
      <p:sp>
        <p:nvSpPr>
          <p:cNvPr id="68" name="Rectangle 67"/>
          <p:cNvSpPr/>
          <p:nvPr/>
        </p:nvSpPr>
        <p:spPr>
          <a:xfrm>
            <a:off x="7935467" y="3161847"/>
            <a:ext cx="1709927" cy="135726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9" name="Picture 68" descr="A8.png"/>
          <p:cNvPicPr>
            <a:picLocks noChangeAspect="1"/>
          </p:cNvPicPr>
          <p:nvPr/>
        </p:nvPicPr>
        <p:blipFill>
          <a:blip r:embed="rId4"/>
          <a:stretch>
            <a:fillRect/>
          </a:stretch>
        </p:blipFill>
        <p:spPr>
          <a:xfrm>
            <a:off x="7949183" y="3175563"/>
            <a:ext cx="1682495" cy="1329833"/>
          </a:xfrm>
          <a:prstGeom prst="rect">
            <a:avLst/>
          </a:prstGeom>
        </p:spPr>
      </p:pic>
      <p:sp>
        <p:nvSpPr>
          <p:cNvPr id="70" name="TextBox 69"/>
          <p:cNvSpPr txBox="1"/>
          <p:nvPr/>
        </p:nvSpPr>
        <p:spPr>
          <a:xfrm>
            <a:off x="7912607" y="4560260"/>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A08 D2 Pink Wrapper</a:t>
            </a:r>
          </a:p>
        </p:txBody>
      </p:sp>
      <p:sp>
        <p:nvSpPr>
          <p:cNvPr id="71" name="TextBox 70"/>
          <p:cNvSpPr txBox="1"/>
          <p:nvPr/>
        </p:nvSpPr>
        <p:spPr>
          <a:xfrm>
            <a:off x="7912607" y="4926020"/>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+12*</a:t>
            </a:r>
          </a:p>
        </p:txBody>
      </p:sp>
      <p:sp>
        <p:nvSpPr>
          <p:cNvPr id="72" name="Rectangle 71"/>
          <p:cNvSpPr/>
          <p:nvPr/>
        </p:nvSpPr>
        <p:spPr>
          <a:xfrm>
            <a:off x="9855707" y="3161847"/>
            <a:ext cx="1709927" cy="135726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3" name="Picture 72" descr="A5.png"/>
          <p:cNvPicPr>
            <a:picLocks noChangeAspect="1"/>
          </p:cNvPicPr>
          <p:nvPr/>
        </p:nvPicPr>
        <p:blipFill>
          <a:blip r:embed="rId5"/>
          <a:stretch>
            <a:fillRect/>
          </a:stretch>
        </p:blipFill>
        <p:spPr>
          <a:xfrm>
            <a:off x="9869423" y="3175563"/>
            <a:ext cx="1682495" cy="1329833"/>
          </a:xfrm>
          <a:prstGeom prst="rect">
            <a:avLst/>
          </a:prstGeom>
        </p:spPr>
      </p:pic>
      <p:sp>
        <p:nvSpPr>
          <p:cNvPr id="74" name="TextBox 73"/>
          <p:cNvSpPr txBox="1"/>
          <p:nvPr/>
        </p:nvSpPr>
        <p:spPr>
          <a:xfrm>
            <a:off x="9832847" y="4560260"/>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A05 D2 Blue Wrapper</a:t>
            </a:r>
          </a:p>
        </p:txBody>
      </p:sp>
      <p:sp>
        <p:nvSpPr>
          <p:cNvPr id="75" name="TextBox 74"/>
          <p:cNvSpPr txBox="1"/>
          <p:nvPr/>
        </p:nvSpPr>
        <p:spPr>
          <a:xfrm>
            <a:off x="9832847" y="4926020"/>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+8*</a:t>
            </a:r>
          </a:p>
        </p:txBody>
      </p:sp>
      <p:sp>
        <p:nvSpPr>
          <p:cNvPr id="76" name="Rounded Rectangle 75"/>
          <p:cNvSpPr/>
          <p:nvPr/>
        </p:nvSpPr>
        <p:spPr>
          <a:xfrm>
            <a:off x="502920" y="5632704"/>
            <a:ext cx="11268455" cy="676656"/>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200" b="0">
                <a:solidFill>
                  <a:srgbClr val="1E2D44"/>
                </a:solidFill>
                <a:latin typeface="Karla"/>
              </a:rPr>
              <a:t>No, and I am not interested favors D3 Pink Wrapper; No, but I am interested in trying them favors A07 D2 Yellow Wrapper; Yes, occasionally favors A06 D2 Orange Wrapper; Yes, regularly favors A09 D3 Blue Wrapper. The widest segment gap is A05 D2 Blue Wrapper: -10 no, and i am not interested / +9 no, but i am interested in trying them / +13 yes, occasionally / +22 yes, regularly.</a:t>
            </a:r>
          </a:p>
        </p:txBody>
      </p:sp>
      <p:sp>
        <p:nvSpPr>
          <p:cNvPr id="77" name="Rectangle 76"/>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Top-2 scores rounded to whole points. *Average of the groups in the legend.</a:t>
            </a:r>
          </a:p>
        </p:txBody>
      </p:sp>
      <p:sp>
        <p:nvSpPr>
          <p:cNvPr id="79" name="TextBox 78"/>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37744"/>
            <a:ext cx="7043927" cy="182880"/>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KEY FINDINGS: A_BACKGROUND  ·  Do you currently consume protein-enriched food products   ·   2 of 3</a:t>
            </a:r>
          </a:p>
        </p:txBody>
      </p:sp>
      <p:sp>
        <p:nvSpPr>
          <p:cNvPr id="3" name="TextBox 2"/>
          <p:cNvSpPr txBox="1"/>
          <p:nvPr/>
        </p:nvSpPr>
        <p:spPr>
          <a:xfrm>
            <a:off x="502920" y="438912"/>
            <a:ext cx="7043927" cy="365760"/>
          </a:xfrm>
          <a:prstGeom prst="rect">
            <a:avLst/>
          </a:prstGeom>
          <a:noFill/>
        </p:spPr>
        <p:txBody>
          <a:bodyPr wrap="square" anchor="t" lIns="0" rIns="0" tIns="0" bIns="0"/>
          <a:lstStyle/>
          <a:p>
            <a:pPr algn="l">
              <a:spcBef>
                <a:spcPts val="0"/>
              </a:spcBef>
              <a:spcAft>
                <a:spcPts val="0"/>
              </a:spcAft>
            </a:pPr>
            <a:r>
              <a:rPr sz="2600" b="1" i="0">
                <a:solidFill>
                  <a:srgbClr val="1E2D44"/>
                </a:solidFill>
                <a:latin typeface="Karla"/>
              </a:rPr>
              <a:t>A_Background splits across the groups</a:t>
            </a:r>
          </a:p>
        </p:txBody>
      </p:sp>
      <p:sp>
        <p:nvSpPr>
          <p:cNvPr id="4" name="TextBox 3"/>
          <p:cNvSpPr txBox="1"/>
          <p:nvPr/>
        </p:nvSpPr>
        <p:spPr>
          <a:xfrm>
            <a:off x="502920" y="822960"/>
            <a:ext cx="7043927" cy="475488"/>
          </a:xfrm>
          <a:prstGeom prst="rect">
            <a:avLst/>
          </a:prstGeom>
          <a:noFill/>
        </p:spPr>
        <p:txBody>
          <a:bodyPr wrap="square" anchor="t" lIns="0" rIns="0" tIns="0" bIns="0"/>
          <a:lstStyle/>
          <a:p>
            <a:pPr algn="l">
              <a:spcBef>
                <a:spcPts val="0"/>
              </a:spcBef>
              <a:spcAft>
                <a:spcPts val="0"/>
              </a:spcAft>
            </a:pPr>
            <a:r>
              <a:rPr sz="1200" b="0" i="0">
                <a:solidFill>
                  <a:srgbClr val="617086"/>
                </a:solidFill>
                <a:latin typeface="Karla"/>
              </a:rPr>
              <a:t>No, and I am not interested favors D3 Pink Wrapper; No, but I am interested in trying them favors A07 D2 Yellow Wrapper; Yes, occasionally favors A06 D2 Orange Wrapper; Yes, regularly favors A09 D3 Blue Wrapper.</a:t>
            </a:r>
          </a:p>
        </p:txBody>
      </p:sp>
      <p:sp>
        <p:nvSpPr>
          <p:cNvPr id="5" name="Rectangle 4"/>
          <p:cNvSpPr/>
          <p:nvPr/>
        </p:nvSpPr>
        <p:spPr>
          <a:xfrm>
            <a:off x="502920" y="1335024"/>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A_BACKGROUND</a:t>
            </a:r>
          </a:p>
        </p:txBody>
      </p:sp>
      <p:sp>
        <p:nvSpPr>
          <p:cNvPr id="6" name="TextBox 5"/>
          <p:cNvSpPr txBox="1"/>
          <p:nvPr/>
        </p:nvSpPr>
        <p:spPr>
          <a:xfrm>
            <a:off x="1874520"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7" name="Rectangle 6"/>
          <p:cNvSpPr/>
          <p:nvPr/>
        </p:nvSpPr>
        <p:spPr>
          <a:xfrm>
            <a:off x="3783583"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90975"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9" name="Rectangle 8"/>
          <p:cNvSpPr/>
          <p:nvPr/>
        </p:nvSpPr>
        <p:spPr>
          <a:xfrm>
            <a:off x="5400039"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7431"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1" name="Rectangle 10"/>
          <p:cNvSpPr/>
          <p:nvPr/>
        </p:nvSpPr>
        <p:spPr>
          <a:xfrm>
            <a:off x="7016495"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23887"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30</a:t>
            </a:r>
          </a:p>
        </p:txBody>
      </p:sp>
      <p:sp>
        <p:nvSpPr>
          <p:cNvPr id="13" name="Rectangle 12"/>
          <p:cNvSpPr/>
          <p:nvPr/>
        </p:nvSpPr>
        <p:spPr>
          <a:xfrm>
            <a:off x="2167128" y="1645920"/>
            <a:ext cx="10972" cy="2871215"/>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167128" y="4517136"/>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1778508"/>
            <a:ext cx="1554480" cy="452628"/>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A07 D2 Yellow</a:t>
            </a:r>
          </a:p>
          <a:p>
            <a:pPr algn="r">
              <a:spcBef>
                <a:spcPts val="0"/>
              </a:spcBef>
              <a:spcAft>
                <a:spcPts val="0"/>
              </a:spcAft>
            </a:pPr>
            <a:r>
              <a:rPr sz="1100" b="0" i="0">
                <a:solidFill>
                  <a:srgbClr val="1E2D44"/>
                </a:solidFill>
                <a:latin typeface="Karla"/>
              </a:rPr>
              <a:t>Wrapper</a:t>
            </a:r>
          </a:p>
        </p:txBody>
      </p:sp>
      <p:sp>
        <p:nvSpPr>
          <p:cNvPr id="16" name="Rectangle 15"/>
          <p:cNvSpPr/>
          <p:nvPr/>
        </p:nvSpPr>
        <p:spPr>
          <a:xfrm>
            <a:off x="2167128" y="1778508"/>
            <a:ext cx="646582"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868574" y="1778508"/>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+4</a:t>
            </a:r>
          </a:p>
        </p:txBody>
      </p:sp>
      <p:sp>
        <p:nvSpPr>
          <p:cNvPr id="18" name="Rectangle 17"/>
          <p:cNvSpPr/>
          <p:nvPr/>
        </p:nvSpPr>
        <p:spPr>
          <a:xfrm>
            <a:off x="2167128" y="1901952"/>
            <a:ext cx="3556202"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778194" y="1901952"/>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+22</a:t>
            </a:r>
          </a:p>
        </p:txBody>
      </p:sp>
      <p:sp>
        <p:nvSpPr>
          <p:cNvPr id="20" name="Rectangle 19"/>
          <p:cNvSpPr/>
          <p:nvPr/>
        </p:nvSpPr>
        <p:spPr>
          <a:xfrm>
            <a:off x="2167128" y="2025395"/>
            <a:ext cx="1454810"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76802" y="2025395"/>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+9</a:t>
            </a:r>
          </a:p>
        </p:txBody>
      </p:sp>
      <p:sp>
        <p:nvSpPr>
          <p:cNvPr id="22" name="Rectangle 21"/>
          <p:cNvSpPr/>
          <p:nvPr/>
        </p:nvSpPr>
        <p:spPr>
          <a:xfrm>
            <a:off x="2167128" y="2148840"/>
            <a:ext cx="3556202"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78194" y="2148840"/>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+22</a:t>
            </a:r>
          </a:p>
        </p:txBody>
      </p:sp>
      <p:sp>
        <p:nvSpPr>
          <p:cNvPr id="24" name="TextBox 23"/>
          <p:cNvSpPr txBox="1"/>
          <p:nvPr/>
        </p:nvSpPr>
        <p:spPr>
          <a:xfrm>
            <a:off x="502920" y="2496312"/>
            <a:ext cx="1554480" cy="452628"/>
          </a:xfrm>
          <a:prstGeom prst="rect">
            <a:avLst/>
          </a:prstGeom>
          <a:noFill/>
        </p:spPr>
        <p:txBody>
          <a:bodyPr wrap="none" anchor="ctr" lIns="0" rIns="0" tIns="0" bIns="0"/>
          <a:lstStyle/>
          <a:p>
            <a:pPr algn="r">
              <a:spcBef>
                <a:spcPts val="0"/>
              </a:spcBef>
              <a:spcAft>
                <a:spcPts val="0"/>
              </a:spcAft>
            </a:pPr>
            <a:r>
              <a:rPr sz="1200" b="0" i="0">
                <a:solidFill>
                  <a:srgbClr val="1E2D44"/>
                </a:solidFill>
                <a:latin typeface="Karla"/>
              </a:rPr>
              <a:t>D3 Yellow</a:t>
            </a:r>
          </a:p>
          <a:p>
            <a:pPr algn="r">
              <a:spcBef>
                <a:spcPts val="0"/>
              </a:spcBef>
              <a:spcAft>
                <a:spcPts val="0"/>
              </a:spcAft>
            </a:pPr>
            <a:r>
              <a:rPr sz="1200" b="0" i="0">
                <a:solidFill>
                  <a:srgbClr val="1E2D44"/>
                </a:solidFill>
                <a:latin typeface="Karla"/>
              </a:rPr>
              <a:t>Wrapper</a:t>
            </a:r>
          </a:p>
        </p:txBody>
      </p:sp>
      <p:sp>
        <p:nvSpPr>
          <p:cNvPr id="25" name="Rectangle 24"/>
          <p:cNvSpPr/>
          <p:nvPr/>
        </p:nvSpPr>
        <p:spPr>
          <a:xfrm>
            <a:off x="2167128" y="2496312"/>
            <a:ext cx="969873"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191865" y="2496312"/>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+6</a:t>
            </a:r>
          </a:p>
        </p:txBody>
      </p:sp>
      <p:sp>
        <p:nvSpPr>
          <p:cNvPr id="27" name="Rectangle 26"/>
          <p:cNvSpPr/>
          <p:nvPr/>
        </p:nvSpPr>
        <p:spPr>
          <a:xfrm>
            <a:off x="2167128" y="2619756"/>
            <a:ext cx="1778101"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000093" y="2619756"/>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+11</a:t>
            </a:r>
          </a:p>
        </p:txBody>
      </p:sp>
      <p:sp>
        <p:nvSpPr>
          <p:cNvPr id="29" name="Rectangle 28"/>
          <p:cNvSpPr/>
          <p:nvPr/>
        </p:nvSpPr>
        <p:spPr>
          <a:xfrm>
            <a:off x="2167128" y="2743200"/>
            <a:ext cx="969873"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191865" y="2743200"/>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+6</a:t>
            </a:r>
          </a:p>
        </p:txBody>
      </p:sp>
      <p:sp>
        <p:nvSpPr>
          <p:cNvPr id="31" name="Rectangle 30"/>
          <p:cNvSpPr/>
          <p:nvPr/>
        </p:nvSpPr>
        <p:spPr>
          <a:xfrm>
            <a:off x="2167128" y="2866644"/>
            <a:ext cx="3232911"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54903" y="2866644"/>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+20</a:t>
            </a:r>
          </a:p>
        </p:txBody>
      </p:sp>
      <p:sp>
        <p:nvSpPr>
          <p:cNvPr id="33" name="TextBox 32"/>
          <p:cNvSpPr txBox="1"/>
          <p:nvPr/>
        </p:nvSpPr>
        <p:spPr>
          <a:xfrm>
            <a:off x="502920" y="3214116"/>
            <a:ext cx="1554480" cy="452628"/>
          </a:xfrm>
          <a:prstGeom prst="rect">
            <a:avLst/>
          </a:prstGeom>
          <a:noFill/>
        </p:spPr>
        <p:txBody>
          <a:bodyPr wrap="none" anchor="ctr" lIns="0" rIns="0" tIns="0" bIns="0"/>
          <a:lstStyle/>
          <a:p>
            <a:pPr algn="r">
              <a:spcBef>
                <a:spcPts val="0"/>
              </a:spcBef>
              <a:spcAft>
                <a:spcPts val="0"/>
              </a:spcAft>
            </a:pPr>
            <a:r>
              <a:rPr sz="1200" b="0" i="0">
                <a:solidFill>
                  <a:srgbClr val="1E2D44"/>
                </a:solidFill>
                <a:latin typeface="Karla"/>
              </a:rPr>
              <a:t>D3 Pink Wrapper</a:t>
            </a:r>
          </a:p>
        </p:txBody>
      </p:sp>
      <p:sp>
        <p:nvSpPr>
          <p:cNvPr id="34" name="Rectangle 33"/>
          <p:cNvSpPr/>
          <p:nvPr/>
        </p:nvSpPr>
        <p:spPr>
          <a:xfrm>
            <a:off x="2167128" y="3214116"/>
            <a:ext cx="1454810"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676802" y="3214116"/>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+9</a:t>
            </a:r>
          </a:p>
        </p:txBody>
      </p:sp>
      <p:sp>
        <p:nvSpPr>
          <p:cNvPr id="36" name="Rectangle 35"/>
          <p:cNvSpPr/>
          <p:nvPr/>
        </p:nvSpPr>
        <p:spPr>
          <a:xfrm>
            <a:off x="2167128" y="3337560"/>
            <a:ext cx="2747975"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969967" y="3337560"/>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+17</a:t>
            </a:r>
          </a:p>
        </p:txBody>
      </p:sp>
      <p:sp>
        <p:nvSpPr>
          <p:cNvPr id="38" name="Rectangle 37"/>
          <p:cNvSpPr/>
          <p:nvPr/>
        </p:nvSpPr>
        <p:spPr>
          <a:xfrm>
            <a:off x="2167128" y="3461004"/>
            <a:ext cx="1778101"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000093" y="3461004"/>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+11</a:t>
            </a:r>
          </a:p>
        </p:txBody>
      </p:sp>
      <p:sp>
        <p:nvSpPr>
          <p:cNvPr id="40" name="Rectangle 39"/>
          <p:cNvSpPr/>
          <p:nvPr/>
        </p:nvSpPr>
        <p:spPr>
          <a:xfrm>
            <a:off x="2167128" y="3584448"/>
            <a:ext cx="3232911"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454903" y="3584448"/>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+20</a:t>
            </a:r>
          </a:p>
        </p:txBody>
      </p:sp>
      <p:sp>
        <p:nvSpPr>
          <p:cNvPr id="42" name="TextBox 41"/>
          <p:cNvSpPr txBox="1"/>
          <p:nvPr/>
        </p:nvSpPr>
        <p:spPr>
          <a:xfrm>
            <a:off x="502920" y="3931919"/>
            <a:ext cx="1554480" cy="452628"/>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A04 D1 Pink</a:t>
            </a:r>
          </a:p>
          <a:p>
            <a:pPr algn="r">
              <a:spcBef>
                <a:spcPts val="0"/>
              </a:spcBef>
              <a:spcAft>
                <a:spcPts val="0"/>
              </a:spcAft>
            </a:pPr>
            <a:r>
              <a:rPr sz="1100" b="0" i="0">
                <a:solidFill>
                  <a:srgbClr val="1E2D44"/>
                </a:solidFill>
                <a:latin typeface="Karla"/>
              </a:rPr>
              <a:t>Wrapper</a:t>
            </a:r>
          </a:p>
        </p:txBody>
      </p:sp>
      <p:sp>
        <p:nvSpPr>
          <p:cNvPr id="43" name="Rectangle 42"/>
          <p:cNvSpPr/>
          <p:nvPr/>
        </p:nvSpPr>
        <p:spPr>
          <a:xfrm>
            <a:off x="2167128" y="3931919"/>
            <a:ext cx="27432"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221992" y="3931919"/>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0</a:t>
            </a:r>
          </a:p>
        </p:txBody>
      </p:sp>
      <p:sp>
        <p:nvSpPr>
          <p:cNvPr id="45" name="Rectangle 44"/>
          <p:cNvSpPr/>
          <p:nvPr/>
        </p:nvSpPr>
        <p:spPr>
          <a:xfrm>
            <a:off x="2167128" y="4055363"/>
            <a:ext cx="1454810"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76802" y="4055363"/>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+9</a:t>
            </a:r>
          </a:p>
        </p:txBody>
      </p:sp>
      <p:sp>
        <p:nvSpPr>
          <p:cNvPr id="47" name="Rectangle 46"/>
          <p:cNvSpPr/>
          <p:nvPr/>
        </p:nvSpPr>
        <p:spPr>
          <a:xfrm>
            <a:off x="2167128" y="4178807"/>
            <a:ext cx="1293164"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515156" y="4178807"/>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+8</a:t>
            </a:r>
          </a:p>
        </p:txBody>
      </p:sp>
      <p:sp>
        <p:nvSpPr>
          <p:cNvPr id="49" name="Rectangle 48"/>
          <p:cNvSpPr/>
          <p:nvPr/>
        </p:nvSpPr>
        <p:spPr>
          <a:xfrm>
            <a:off x="2167128" y="4302251"/>
            <a:ext cx="3071266"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293258" y="4302251"/>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+19</a:t>
            </a:r>
          </a:p>
        </p:txBody>
      </p:sp>
      <p:sp>
        <p:nvSpPr>
          <p:cNvPr id="51" name="Rectangle 50"/>
          <p:cNvSpPr/>
          <p:nvPr/>
        </p:nvSpPr>
        <p:spPr>
          <a:xfrm>
            <a:off x="3011423" y="4942332"/>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185159" y="4882896"/>
            <a:ext cx="298704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No, and I am not interested (basesize = 5)</a:t>
            </a:r>
          </a:p>
        </p:txBody>
      </p:sp>
      <p:sp>
        <p:nvSpPr>
          <p:cNvPr id="53" name="Rectangle 52"/>
          <p:cNvSpPr/>
          <p:nvPr/>
        </p:nvSpPr>
        <p:spPr>
          <a:xfrm>
            <a:off x="755903" y="5161788"/>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29639" y="5102352"/>
            <a:ext cx="384048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No, but I am interested in trying them (basesize = 15)</a:t>
            </a:r>
          </a:p>
        </p:txBody>
      </p:sp>
      <p:sp>
        <p:nvSpPr>
          <p:cNvPr id="55" name="Rectangle 54"/>
          <p:cNvSpPr/>
          <p:nvPr/>
        </p:nvSpPr>
        <p:spPr>
          <a:xfrm>
            <a:off x="5026151" y="5161788"/>
            <a:ext cx="100584" cy="10058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199887" y="5102352"/>
            <a:ext cx="234696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Yes, occasionally (basesize = 56)</a:t>
            </a:r>
          </a:p>
        </p:txBody>
      </p:sp>
      <p:sp>
        <p:nvSpPr>
          <p:cNvPr id="57" name="Rectangle 56"/>
          <p:cNvSpPr/>
          <p:nvPr/>
        </p:nvSpPr>
        <p:spPr>
          <a:xfrm>
            <a:off x="3438143" y="5381244"/>
            <a:ext cx="100584" cy="100584"/>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611879" y="5321808"/>
            <a:ext cx="213360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Yes, regularly (basesize = 74)</a:t>
            </a:r>
          </a:p>
        </p:txBody>
      </p:sp>
      <p:sp>
        <p:nvSpPr>
          <p:cNvPr id="59" name="Rounded Rectangle 58"/>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7935467" y="601527"/>
            <a:ext cx="1709927" cy="135726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1" name="Picture 60" descr="A7.png"/>
          <p:cNvPicPr>
            <a:picLocks noChangeAspect="1"/>
          </p:cNvPicPr>
          <p:nvPr/>
        </p:nvPicPr>
        <p:blipFill>
          <a:blip r:embed="rId2"/>
          <a:stretch>
            <a:fillRect/>
          </a:stretch>
        </p:blipFill>
        <p:spPr>
          <a:xfrm>
            <a:off x="7949183" y="615243"/>
            <a:ext cx="1682495" cy="1329833"/>
          </a:xfrm>
          <a:prstGeom prst="rect">
            <a:avLst/>
          </a:prstGeom>
        </p:spPr>
      </p:pic>
      <p:sp>
        <p:nvSpPr>
          <p:cNvPr id="62" name="TextBox 61"/>
          <p:cNvSpPr txBox="1"/>
          <p:nvPr/>
        </p:nvSpPr>
        <p:spPr>
          <a:xfrm>
            <a:off x="7912607" y="1999940"/>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A07 D2 Yellow</a:t>
            </a:r>
          </a:p>
          <a:p>
            <a:pPr algn="ctr">
              <a:spcBef>
                <a:spcPts val="0"/>
              </a:spcBef>
              <a:spcAft>
                <a:spcPts val="0"/>
              </a:spcAft>
            </a:pPr>
            <a:r>
              <a:rPr sz="1200" b="0" i="0">
                <a:solidFill>
                  <a:srgbClr val="1E2D44"/>
                </a:solidFill>
                <a:latin typeface="Karla"/>
              </a:rPr>
              <a:t>Wrapper</a:t>
            </a:r>
          </a:p>
        </p:txBody>
      </p:sp>
      <p:sp>
        <p:nvSpPr>
          <p:cNvPr id="63" name="TextBox 62"/>
          <p:cNvSpPr txBox="1"/>
          <p:nvPr/>
        </p:nvSpPr>
        <p:spPr>
          <a:xfrm>
            <a:off x="7912607" y="2365700"/>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+14*</a:t>
            </a:r>
          </a:p>
        </p:txBody>
      </p:sp>
      <p:sp>
        <p:nvSpPr>
          <p:cNvPr id="64" name="Rectangle 63"/>
          <p:cNvSpPr/>
          <p:nvPr/>
        </p:nvSpPr>
        <p:spPr>
          <a:xfrm>
            <a:off x="9855707" y="601527"/>
            <a:ext cx="1709927" cy="135726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5" name="Picture 64" descr="A11.png"/>
          <p:cNvPicPr>
            <a:picLocks noChangeAspect="1"/>
          </p:cNvPicPr>
          <p:nvPr/>
        </p:nvPicPr>
        <p:blipFill>
          <a:blip r:embed="rId3"/>
          <a:stretch>
            <a:fillRect/>
          </a:stretch>
        </p:blipFill>
        <p:spPr>
          <a:xfrm>
            <a:off x="9869423" y="615243"/>
            <a:ext cx="1682495" cy="1329833"/>
          </a:xfrm>
          <a:prstGeom prst="rect">
            <a:avLst/>
          </a:prstGeom>
        </p:spPr>
      </p:pic>
      <p:sp>
        <p:nvSpPr>
          <p:cNvPr id="66" name="TextBox 65"/>
          <p:cNvSpPr txBox="1"/>
          <p:nvPr/>
        </p:nvSpPr>
        <p:spPr>
          <a:xfrm>
            <a:off x="9832847" y="1999940"/>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D3 Yellow Wrapper</a:t>
            </a:r>
          </a:p>
        </p:txBody>
      </p:sp>
      <p:sp>
        <p:nvSpPr>
          <p:cNvPr id="67" name="TextBox 66"/>
          <p:cNvSpPr txBox="1"/>
          <p:nvPr/>
        </p:nvSpPr>
        <p:spPr>
          <a:xfrm>
            <a:off x="9832847" y="2365700"/>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+11*</a:t>
            </a:r>
          </a:p>
        </p:txBody>
      </p:sp>
      <p:sp>
        <p:nvSpPr>
          <p:cNvPr id="68" name="Rectangle 67"/>
          <p:cNvSpPr/>
          <p:nvPr/>
        </p:nvSpPr>
        <p:spPr>
          <a:xfrm>
            <a:off x="7935467" y="3161847"/>
            <a:ext cx="1709927" cy="135726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9" name="Picture 68" descr="A12.png"/>
          <p:cNvPicPr>
            <a:picLocks noChangeAspect="1"/>
          </p:cNvPicPr>
          <p:nvPr/>
        </p:nvPicPr>
        <p:blipFill>
          <a:blip r:embed="rId4"/>
          <a:stretch>
            <a:fillRect/>
          </a:stretch>
        </p:blipFill>
        <p:spPr>
          <a:xfrm>
            <a:off x="7949183" y="3175563"/>
            <a:ext cx="1682495" cy="1329833"/>
          </a:xfrm>
          <a:prstGeom prst="rect">
            <a:avLst/>
          </a:prstGeom>
        </p:spPr>
      </p:pic>
      <p:sp>
        <p:nvSpPr>
          <p:cNvPr id="70" name="TextBox 69"/>
          <p:cNvSpPr txBox="1"/>
          <p:nvPr/>
        </p:nvSpPr>
        <p:spPr>
          <a:xfrm>
            <a:off x="7912607" y="4560260"/>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D3 Pink Wrapper</a:t>
            </a:r>
          </a:p>
        </p:txBody>
      </p:sp>
      <p:sp>
        <p:nvSpPr>
          <p:cNvPr id="71" name="TextBox 70"/>
          <p:cNvSpPr txBox="1"/>
          <p:nvPr/>
        </p:nvSpPr>
        <p:spPr>
          <a:xfrm>
            <a:off x="7912607" y="4926020"/>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+14*</a:t>
            </a:r>
          </a:p>
        </p:txBody>
      </p:sp>
      <p:sp>
        <p:nvSpPr>
          <p:cNvPr id="72" name="Rectangle 71"/>
          <p:cNvSpPr/>
          <p:nvPr/>
        </p:nvSpPr>
        <p:spPr>
          <a:xfrm>
            <a:off x="9855707" y="3161847"/>
            <a:ext cx="1709927" cy="135726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3" name="Picture 72" descr="A4.png"/>
          <p:cNvPicPr>
            <a:picLocks noChangeAspect="1"/>
          </p:cNvPicPr>
          <p:nvPr/>
        </p:nvPicPr>
        <p:blipFill>
          <a:blip r:embed="rId5"/>
          <a:stretch>
            <a:fillRect/>
          </a:stretch>
        </p:blipFill>
        <p:spPr>
          <a:xfrm>
            <a:off x="9869423" y="3175563"/>
            <a:ext cx="1682495" cy="1329833"/>
          </a:xfrm>
          <a:prstGeom prst="rect">
            <a:avLst/>
          </a:prstGeom>
        </p:spPr>
      </p:pic>
      <p:sp>
        <p:nvSpPr>
          <p:cNvPr id="74" name="TextBox 73"/>
          <p:cNvSpPr txBox="1"/>
          <p:nvPr/>
        </p:nvSpPr>
        <p:spPr>
          <a:xfrm>
            <a:off x="9832847" y="4560260"/>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A04 D1 Pink Wrapper</a:t>
            </a:r>
          </a:p>
        </p:txBody>
      </p:sp>
      <p:sp>
        <p:nvSpPr>
          <p:cNvPr id="75" name="TextBox 74"/>
          <p:cNvSpPr txBox="1"/>
          <p:nvPr/>
        </p:nvSpPr>
        <p:spPr>
          <a:xfrm>
            <a:off x="9832847" y="4926020"/>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+9*</a:t>
            </a:r>
          </a:p>
        </p:txBody>
      </p:sp>
      <p:sp>
        <p:nvSpPr>
          <p:cNvPr id="76" name="Rounded Rectangle 75"/>
          <p:cNvSpPr/>
          <p:nvPr/>
        </p:nvSpPr>
        <p:spPr>
          <a:xfrm>
            <a:off x="502920" y="5632704"/>
            <a:ext cx="11268455" cy="676656"/>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200" b="0">
                <a:solidFill>
                  <a:srgbClr val="1E2D44"/>
                </a:solidFill>
                <a:latin typeface="Karla"/>
              </a:rPr>
              <a:t>No, and I am not interested favors D3 Pink Wrapper; No, but I am interested in trying them favors A07 D2 Yellow Wrapper; Yes, occasionally favors A06 D2 Orange Wrapper; Yes, regularly favors A09 D3 Blue Wrapper. The widest segment gap is A05 D2 Blue Wrapper: -10 no, and i am not interested / +9 no, but i am interested in trying them / +13 yes, occasionally / +22 yes, regularly.</a:t>
            </a:r>
          </a:p>
        </p:txBody>
      </p:sp>
      <p:sp>
        <p:nvSpPr>
          <p:cNvPr id="77" name="Rectangle 76"/>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Top-2 scores rounded to whole points. *Average of the groups in the legend.</a:t>
            </a:r>
          </a:p>
        </p:txBody>
      </p:sp>
      <p:sp>
        <p:nvSpPr>
          <p:cNvPr id="79" name="TextBox 78"/>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37744"/>
            <a:ext cx="7043927" cy="182880"/>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KEY FINDINGS: A_BACKGROUND  ·  Do you currently consume protein-enriched food products   ·   3 of 3</a:t>
            </a:r>
          </a:p>
        </p:txBody>
      </p:sp>
      <p:sp>
        <p:nvSpPr>
          <p:cNvPr id="3" name="TextBox 2"/>
          <p:cNvSpPr txBox="1"/>
          <p:nvPr/>
        </p:nvSpPr>
        <p:spPr>
          <a:xfrm>
            <a:off x="502920" y="438912"/>
            <a:ext cx="7043927" cy="365760"/>
          </a:xfrm>
          <a:prstGeom prst="rect">
            <a:avLst/>
          </a:prstGeom>
          <a:noFill/>
        </p:spPr>
        <p:txBody>
          <a:bodyPr wrap="square" anchor="t" lIns="0" rIns="0" tIns="0" bIns="0"/>
          <a:lstStyle/>
          <a:p>
            <a:pPr algn="l">
              <a:spcBef>
                <a:spcPts val="0"/>
              </a:spcBef>
              <a:spcAft>
                <a:spcPts val="0"/>
              </a:spcAft>
            </a:pPr>
            <a:r>
              <a:rPr sz="2600" b="1" i="0">
                <a:solidFill>
                  <a:srgbClr val="1E2D44"/>
                </a:solidFill>
                <a:latin typeface="Karla"/>
              </a:rPr>
              <a:t>A_Background splits across the groups</a:t>
            </a:r>
          </a:p>
        </p:txBody>
      </p:sp>
      <p:sp>
        <p:nvSpPr>
          <p:cNvPr id="4" name="TextBox 3"/>
          <p:cNvSpPr txBox="1"/>
          <p:nvPr/>
        </p:nvSpPr>
        <p:spPr>
          <a:xfrm>
            <a:off x="502920" y="822960"/>
            <a:ext cx="7043927" cy="475488"/>
          </a:xfrm>
          <a:prstGeom prst="rect">
            <a:avLst/>
          </a:prstGeom>
          <a:noFill/>
        </p:spPr>
        <p:txBody>
          <a:bodyPr wrap="square" anchor="t" lIns="0" rIns="0" tIns="0" bIns="0"/>
          <a:lstStyle/>
          <a:p>
            <a:pPr algn="l">
              <a:spcBef>
                <a:spcPts val="0"/>
              </a:spcBef>
              <a:spcAft>
                <a:spcPts val="0"/>
              </a:spcAft>
            </a:pPr>
            <a:r>
              <a:rPr sz="1200" b="0" i="0">
                <a:solidFill>
                  <a:srgbClr val="617086"/>
                </a:solidFill>
                <a:latin typeface="Karla"/>
              </a:rPr>
              <a:t>No, and I am not interested favors D3 Pink Wrapper; No, but I am interested in trying them favors A07 D2 Yellow Wrapper; Yes, occasionally favors A06 D2 Orange Wrapper; Yes, regularly favors A09 D3 Blue Wrapper.</a:t>
            </a:r>
          </a:p>
        </p:txBody>
      </p:sp>
      <p:sp>
        <p:nvSpPr>
          <p:cNvPr id="5" name="Rectangle 4"/>
          <p:cNvSpPr/>
          <p:nvPr/>
        </p:nvSpPr>
        <p:spPr>
          <a:xfrm>
            <a:off x="502920" y="1335024"/>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A_BACKGROUND</a:t>
            </a:r>
          </a:p>
        </p:txBody>
      </p:sp>
      <p:sp>
        <p:nvSpPr>
          <p:cNvPr id="6" name="Rectangle 5"/>
          <p:cNvSpPr/>
          <p:nvPr/>
        </p:nvSpPr>
        <p:spPr>
          <a:xfrm>
            <a:off x="2167128"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74520"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8" name="Rectangle 7"/>
          <p:cNvSpPr/>
          <p:nvPr/>
        </p:nvSpPr>
        <p:spPr>
          <a:xfrm>
            <a:off x="3379469"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086861"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10" name="TextBox 9"/>
          <p:cNvSpPr txBox="1"/>
          <p:nvPr/>
        </p:nvSpPr>
        <p:spPr>
          <a:xfrm>
            <a:off x="4299203"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11" name="Rectangle 10"/>
          <p:cNvSpPr/>
          <p:nvPr/>
        </p:nvSpPr>
        <p:spPr>
          <a:xfrm>
            <a:off x="5804153"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11545"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13" name="Rectangle 12"/>
          <p:cNvSpPr/>
          <p:nvPr/>
        </p:nvSpPr>
        <p:spPr>
          <a:xfrm>
            <a:off x="7016495"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23887"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5" name="Rectangle 14"/>
          <p:cNvSpPr/>
          <p:nvPr/>
        </p:nvSpPr>
        <p:spPr>
          <a:xfrm>
            <a:off x="4591811" y="1645920"/>
            <a:ext cx="10972" cy="2871215"/>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167128" y="4517136"/>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1778508"/>
            <a:ext cx="1554480" cy="452628"/>
          </a:xfrm>
          <a:prstGeom prst="rect">
            <a:avLst/>
          </a:prstGeom>
          <a:noFill/>
        </p:spPr>
        <p:txBody>
          <a:bodyPr wrap="none" anchor="ctr" lIns="0" rIns="0" tIns="0" bIns="0"/>
          <a:lstStyle/>
          <a:p>
            <a:pPr algn="r">
              <a:spcBef>
                <a:spcPts val="0"/>
              </a:spcBef>
              <a:spcAft>
                <a:spcPts val="0"/>
              </a:spcAft>
            </a:pPr>
            <a:r>
              <a:rPr sz="1200" b="0" i="0">
                <a:solidFill>
                  <a:srgbClr val="1E2D44"/>
                </a:solidFill>
                <a:latin typeface="Karla"/>
              </a:rPr>
              <a:t>D3 Orange</a:t>
            </a:r>
          </a:p>
          <a:p>
            <a:pPr algn="r">
              <a:spcBef>
                <a:spcPts val="0"/>
              </a:spcBef>
              <a:spcAft>
                <a:spcPts val="0"/>
              </a:spcAft>
            </a:pPr>
            <a:r>
              <a:rPr sz="1200" b="0" i="0">
                <a:solidFill>
                  <a:srgbClr val="1E2D44"/>
                </a:solidFill>
                <a:latin typeface="Karla"/>
              </a:rPr>
              <a:t>Wrapper</a:t>
            </a:r>
          </a:p>
        </p:txBody>
      </p:sp>
      <p:sp>
        <p:nvSpPr>
          <p:cNvPr id="18" name="Rectangle 17"/>
          <p:cNvSpPr/>
          <p:nvPr/>
        </p:nvSpPr>
        <p:spPr>
          <a:xfrm>
            <a:off x="3621938" y="1778508"/>
            <a:ext cx="969873"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109874" y="1778508"/>
            <a:ext cx="457200" cy="82296"/>
          </a:xfrm>
          <a:prstGeom prst="rect">
            <a:avLst/>
          </a:prstGeom>
          <a:noFill/>
        </p:spPr>
        <p:txBody>
          <a:bodyPr wrap="none" anchor="ctr" lIns="0" rIns="0" tIns="0" bIns="0"/>
          <a:lstStyle/>
          <a:p>
            <a:pPr algn="r">
              <a:spcBef>
                <a:spcPts val="0"/>
              </a:spcBef>
              <a:spcAft>
                <a:spcPts val="0"/>
              </a:spcAft>
            </a:pPr>
            <a:r>
              <a:rPr sz="1000" b="1" i="0">
                <a:solidFill>
                  <a:srgbClr val="1A2332"/>
                </a:solidFill>
                <a:latin typeface="Karla"/>
              </a:rPr>
              <a:t>-8</a:t>
            </a:r>
          </a:p>
        </p:txBody>
      </p:sp>
      <p:sp>
        <p:nvSpPr>
          <p:cNvPr id="20" name="Rectangle 19"/>
          <p:cNvSpPr/>
          <p:nvPr/>
        </p:nvSpPr>
        <p:spPr>
          <a:xfrm>
            <a:off x="4591811" y="1901952"/>
            <a:ext cx="1697278"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43954" y="1901952"/>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+14</a:t>
            </a:r>
          </a:p>
        </p:txBody>
      </p:sp>
      <p:sp>
        <p:nvSpPr>
          <p:cNvPr id="22" name="Rectangle 21"/>
          <p:cNvSpPr/>
          <p:nvPr/>
        </p:nvSpPr>
        <p:spPr>
          <a:xfrm>
            <a:off x="4591811" y="2025395"/>
            <a:ext cx="1576044"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22720" y="2025395"/>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+13</a:t>
            </a:r>
          </a:p>
        </p:txBody>
      </p:sp>
      <p:sp>
        <p:nvSpPr>
          <p:cNvPr id="24" name="Rectangle 23"/>
          <p:cNvSpPr/>
          <p:nvPr/>
        </p:nvSpPr>
        <p:spPr>
          <a:xfrm>
            <a:off x="4591811" y="2148840"/>
            <a:ext cx="2303449"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50125" y="2148840"/>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+19</a:t>
            </a:r>
          </a:p>
        </p:txBody>
      </p:sp>
      <p:sp>
        <p:nvSpPr>
          <p:cNvPr id="26" name="TextBox 25"/>
          <p:cNvSpPr txBox="1"/>
          <p:nvPr/>
        </p:nvSpPr>
        <p:spPr>
          <a:xfrm>
            <a:off x="502920" y="2496312"/>
            <a:ext cx="1554480" cy="452628"/>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A01 D1 Blue</a:t>
            </a:r>
          </a:p>
          <a:p>
            <a:pPr algn="r">
              <a:spcBef>
                <a:spcPts val="0"/>
              </a:spcBef>
              <a:spcAft>
                <a:spcPts val="0"/>
              </a:spcAft>
            </a:pPr>
            <a:r>
              <a:rPr sz="1100" b="0" i="0">
                <a:solidFill>
                  <a:srgbClr val="1E2D44"/>
                </a:solidFill>
                <a:latin typeface="Karla"/>
              </a:rPr>
              <a:t>Wrapper</a:t>
            </a:r>
          </a:p>
        </p:txBody>
      </p:sp>
      <p:sp>
        <p:nvSpPr>
          <p:cNvPr id="27" name="Rectangle 26"/>
          <p:cNvSpPr/>
          <p:nvPr/>
        </p:nvSpPr>
        <p:spPr>
          <a:xfrm>
            <a:off x="4349343" y="2496312"/>
            <a:ext cx="242468"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837279" y="2496312"/>
            <a:ext cx="457200" cy="82296"/>
          </a:xfrm>
          <a:prstGeom prst="rect">
            <a:avLst/>
          </a:prstGeom>
          <a:noFill/>
        </p:spPr>
        <p:txBody>
          <a:bodyPr wrap="none" anchor="ctr" lIns="0" rIns="0" tIns="0" bIns="0"/>
          <a:lstStyle/>
          <a:p>
            <a:pPr algn="r">
              <a:spcBef>
                <a:spcPts val="0"/>
              </a:spcBef>
              <a:spcAft>
                <a:spcPts val="0"/>
              </a:spcAft>
            </a:pPr>
            <a:r>
              <a:rPr sz="1000" b="1" i="0">
                <a:solidFill>
                  <a:srgbClr val="1A2332"/>
                </a:solidFill>
                <a:latin typeface="Karla"/>
              </a:rPr>
              <a:t>-2</a:t>
            </a:r>
          </a:p>
        </p:txBody>
      </p:sp>
      <p:sp>
        <p:nvSpPr>
          <p:cNvPr id="29" name="Rectangle 28"/>
          <p:cNvSpPr/>
          <p:nvPr/>
        </p:nvSpPr>
        <p:spPr>
          <a:xfrm>
            <a:off x="4591811" y="2619756"/>
            <a:ext cx="1212341"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859017" y="2619756"/>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+10</a:t>
            </a:r>
          </a:p>
        </p:txBody>
      </p:sp>
      <p:sp>
        <p:nvSpPr>
          <p:cNvPr id="31" name="Rectangle 30"/>
          <p:cNvSpPr/>
          <p:nvPr/>
        </p:nvSpPr>
        <p:spPr>
          <a:xfrm>
            <a:off x="4591811" y="2743200"/>
            <a:ext cx="1091107"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737783" y="2743200"/>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+9</a:t>
            </a:r>
          </a:p>
        </p:txBody>
      </p:sp>
      <p:sp>
        <p:nvSpPr>
          <p:cNvPr id="33" name="Rectangle 32"/>
          <p:cNvSpPr/>
          <p:nvPr/>
        </p:nvSpPr>
        <p:spPr>
          <a:xfrm>
            <a:off x="4591811" y="2866644"/>
            <a:ext cx="2060981"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07657" y="2866644"/>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+17</a:t>
            </a:r>
          </a:p>
        </p:txBody>
      </p:sp>
      <p:sp>
        <p:nvSpPr>
          <p:cNvPr id="35" name="TextBox 34"/>
          <p:cNvSpPr txBox="1"/>
          <p:nvPr/>
        </p:nvSpPr>
        <p:spPr>
          <a:xfrm>
            <a:off x="502920" y="3214116"/>
            <a:ext cx="1554480" cy="452628"/>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A02 D1 Orange</a:t>
            </a:r>
          </a:p>
          <a:p>
            <a:pPr algn="r">
              <a:spcBef>
                <a:spcPts val="0"/>
              </a:spcBef>
              <a:spcAft>
                <a:spcPts val="0"/>
              </a:spcAft>
            </a:pPr>
            <a:r>
              <a:rPr sz="1100" b="0" i="0">
                <a:solidFill>
                  <a:srgbClr val="1E2D44"/>
                </a:solidFill>
                <a:latin typeface="Karla"/>
              </a:rPr>
              <a:t>Wrapper</a:t>
            </a:r>
          </a:p>
        </p:txBody>
      </p:sp>
      <p:sp>
        <p:nvSpPr>
          <p:cNvPr id="36" name="Rectangle 35"/>
          <p:cNvSpPr/>
          <p:nvPr/>
        </p:nvSpPr>
        <p:spPr>
          <a:xfrm>
            <a:off x="4591811" y="3214116"/>
            <a:ext cx="121234"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767910" y="3214116"/>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+1</a:t>
            </a:r>
          </a:p>
        </p:txBody>
      </p:sp>
      <p:sp>
        <p:nvSpPr>
          <p:cNvPr id="38" name="Rectangle 37"/>
          <p:cNvSpPr/>
          <p:nvPr/>
        </p:nvSpPr>
        <p:spPr>
          <a:xfrm>
            <a:off x="4591811" y="3337560"/>
            <a:ext cx="1576044"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222720" y="3337560"/>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+13</a:t>
            </a:r>
          </a:p>
        </p:txBody>
      </p:sp>
      <p:sp>
        <p:nvSpPr>
          <p:cNvPr id="40" name="Rectangle 39"/>
          <p:cNvSpPr/>
          <p:nvPr/>
        </p:nvSpPr>
        <p:spPr>
          <a:xfrm>
            <a:off x="4591811" y="3461004"/>
            <a:ext cx="1212341"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859017" y="3461004"/>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+10</a:t>
            </a:r>
          </a:p>
        </p:txBody>
      </p:sp>
      <p:sp>
        <p:nvSpPr>
          <p:cNvPr id="42" name="Rectangle 41"/>
          <p:cNvSpPr/>
          <p:nvPr/>
        </p:nvSpPr>
        <p:spPr>
          <a:xfrm>
            <a:off x="4591811" y="3584448"/>
            <a:ext cx="2060981"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707657" y="3584448"/>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+17</a:t>
            </a:r>
          </a:p>
        </p:txBody>
      </p:sp>
      <p:sp>
        <p:nvSpPr>
          <p:cNvPr id="44" name="TextBox 43"/>
          <p:cNvSpPr txBox="1"/>
          <p:nvPr/>
        </p:nvSpPr>
        <p:spPr>
          <a:xfrm>
            <a:off x="502920" y="3931919"/>
            <a:ext cx="1554480" cy="452628"/>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A03 D1 Yellow</a:t>
            </a:r>
          </a:p>
          <a:p>
            <a:pPr algn="r">
              <a:spcBef>
                <a:spcPts val="0"/>
              </a:spcBef>
              <a:spcAft>
                <a:spcPts val="0"/>
              </a:spcAft>
            </a:pPr>
            <a:r>
              <a:rPr sz="1100" b="0" i="0">
                <a:solidFill>
                  <a:srgbClr val="1E2D44"/>
                </a:solidFill>
                <a:latin typeface="Karla"/>
              </a:rPr>
              <a:t>Wrapper</a:t>
            </a:r>
          </a:p>
        </p:txBody>
      </p:sp>
      <p:sp>
        <p:nvSpPr>
          <p:cNvPr id="45" name="Rectangle 44"/>
          <p:cNvSpPr/>
          <p:nvPr/>
        </p:nvSpPr>
        <p:spPr>
          <a:xfrm>
            <a:off x="4591811" y="3931919"/>
            <a:ext cx="969873"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616549" y="3931919"/>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+8</a:t>
            </a:r>
          </a:p>
        </p:txBody>
      </p:sp>
      <p:sp>
        <p:nvSpPr>
          <p:cNvPr id="47" name="Rectangle 46"/>
          <p:cNvSpPr/>
          <p:nvPr/>
        </p:nvSpPr>
        <p:spPr>
          <a:xfrm>
            <a:off x="4591811" y="4055363"/>
            <a:ext cx="484936"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131612" y="4055363"/>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+4</a:t>
            </a:r>
          </a:p>
        </p:txBody>
      </p:sp>
      <p:sp>
        <p:nvSpPr>
          <p:cNvPr id="49" name="Rectangle 48"/>
          <p:cNvSpPr/>
          <p:nvPr/>
        </p:nvSpPr>
        <p:spPr>
          <a:xfrm>
            <a:off x="4591811" y="4178807"/>
            <a:ext cx="727405"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374081" y="4178807"/>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+6</a:t>
            </a:r>
          </a:p>
        </p:txBody>
      </p:sp>
      <p:sp>
        <p:nvSpPr>
          <p:cNvPr id="51" name="Rectangle 50"/>
          <p:cNvSpPr/>
          <p:nvPr/>
        </p:nvSpPr>
        <p:spPr>
          <a:xfrm>
            <a:off x="4591811" y="4302251"/>
            <a:ext cx="1818512"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465188" y="4302251"/>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+15</a:t>
            </a:r>
          </a:p>
        </p:txBody>
      </p:sp>
      <p:sp>
        <p:nvSpPr>
          <p:cNvPr id="53" name="Rectangle 52"/>
          <p:cNvSpPr/>
          <p:nvPr/>
        </p:nvSpPr>
        <p:spPr>
          <a:xfrm>
            <a:off x="3011423" y="4942332"/>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185159" y="4882896"/>
            <a:ext cx="298704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No, and I am not interested (basesize = 5)</a:t>
            </a:r>
          </a:p>
        </p:txBody>
      </p:sp>
      <p:sp>
        <p:nvSpPr>
          <p:cNvPr id="55" name="Rectangle 54"/>
          <p:cNvSpPr/>
          <p:nvPr/>
        </p:nvSpPr>
        <p:spPr>
          <a:xfrm>
            <a:off x="755903" y="5161788"/>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29639" y="5102352"/>
            <a:ext cx="384048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No, but I am interested in trying them (basesize = 15)</a:t>
            </a:r>
          </a:p>
        </p:txBody>
      </p:sp>
      <p:sp>
        <p:nvSpPr>
          <p:cNvPr id="57" name="Rectangle 56"/>
          <p:cNvSpPr/>
          <p:nvPr/>
        </p:nvSpPr>
        <p:spPr>
          <a:xfrm>
            <a:off x="5026151" y="5161788"/>
            <a:ext cx="100584" cy="10058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199887" y="5102352"/>
            <a:ext cx="234696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Yes, occasionally (basesize = 56)</a:t>
            </a:r>
          </a:p>
        </p:txBody>
      </p:sp>
      <p:sp>
        <p:nvSpPr>
          <p:cNvPr id="59" name="Rectangle 58"/>
          <p:cNvSpPr/>
          <p:nvPr/>
        </p:nvSpPr>
        <p:spPr>
          <a:xfrm>
            <a:off x="3438143" y="5381244"/>
            <a:ext cx="100584" cy="100584"/>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611879" y="5321808"/>
            <a:ext cx="213360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Yes, regularly (basesize = 74)</a:t>
            </a:r>
          </a:p>
        </p:txBody>
      </p:sp>
      <p:sp>
        <p:nvSpPr>
          <p:cNvPr id="61" name="Rounded Rectangle 60"/>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7935467" y="601527"/>
            <a:ext cx="1709927" cy="135726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3" name="Picture 62" descr="A10.png"/>
          <p:cNvPicPr>
            <a:picLocks noChangeAspect="1"/>
          </p:cNvPicPr>
          <p:nvPr/>
        </p:nvPicPr>
        <p:blipFill>
          <a:blip r:embed="rId2"/>
          <a:stretch>
            <a:fillRect/>
          </a:stretch>
        </p:blipFill>
        <p:spPr>
          <a:xfrm>
            <a:off x="7949183" y="615243"/>
            <a:ext cx="1682495" cy="1329833"/>
          </a:xfrm>
          <a:prstGeom prst="rect">
            <a:avLst/>
          </a:prstGeom>
        </p:spPr>
      </p:pic>
      <p:sp>
        <p:nvSpPr>
          <p:cNvPr id="64" name="TextBox 63"/>
          <p:cNvSpPr txBox="1"/>
          <p:nvPr/>
        </p:nvSpPr>
        <p:spPr>
          <a:xfrm>
            <a:off x="7912607" y="1999940"/>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D3 Orange Wrapper</a:t>
            </a:r>
          </a:p>
        </p:txBody>
      </p:sp>
      <p:sp>
        <p:nvSpPr>
          <p:cNvPr id="65" name="TextBox 64"/>
          <p:cNvSpPr txBox="1"/>
          <p:nvPr/>
        </p:nvSpPr>
        <p:spPr>
          <a:xfrm>
            <a:off x="7912607" y="2365700"/>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+10*</a:t>
            </a:r>
          </a:p>
        </p:txBody>
      </p:sp>
      <p:sp>
        <p:nvSpPr>
          <p:cNvPr id="66" name="Rectangle 65"/>
          <p:cNvSpPr/>
          <p:nvPr/>
        </p:nvSpPr>
        <p:spPr>
          <a:xfrm>
            <a:off x="9855707" y="601527"/>
            <a:ext cx="1709927" cy="135726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7" name="Picture 66" descr="A1.png"/>
          <p:cNvPicPr>
            <a:picLocks noChangeAspect="1"/>
          </p:cNvPicPr>
          <p:nvPr/>
        </p:nvPicPr>
        <p:blipFill>
          <a:blip r:embed="rId3"/>
          <a:stretch>
            <a:fillRect/>
          </a:stretch>
        </p:blipFill>
        <p:spPr>
          <a:xfrm>
            <a:off x="9869423" y="615243"/>
            <a:ext cx="1682495" cy="1329833"/>
          </a:xfrm>
          <a:prstGeom prst="rect">
            <a:avLst/>
          </a:prstGeom>
        </p:spPr>
      </p:pic>
      <p:sp>
        <p:nvSpPr>
          <p:cNvPr id="68" name="TextBox 67"/>
          <p:cNvSpPr txBox="1"/>
          <p:nvPr/>
        </p:nvSpPr>
        <p:spPr>
          <a:xfrm>
            <a:off x="9832847" y="1999940"/>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A01 D1 Blue Wrapper</a:t>
            </a:r>
          </a:p>
        </p:txBody>
      </p:sp>
      <p:sp>
        <p:nvSpPr>
          <p:cNvPr id="69" name="TextBox 68"/>
          <p:cNvSpPr txBox="1"/>
          <p:nvPr/>
        </p:nvSpPr>
        <p:spPr>
          <a:xfrm>
            <a:off x="9832847" y="2365700"/>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+8*</a:t>
            </a:r>
          </a:p>
        </p:txBody>
      </p:sp>
      <p:sp>
        <p:nvSpPr>
          <p:cNvPr id="70" name="Rectangle 69"/>
          <p:cNvSpPr/>
          <p:nvPr/>
        </p:nvSpPr>
        <p:spPr>
          <a:xfrm>
            <a:off x="7935467" y="3161847"/>
            <a:ext cx="1709927" cy="135726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1" name="Picture 70" descr="A2.png"/>
          <p:cNvPicPr>
            <a:picLocks noChangeAspect="1"/>
          </p:cNvPicPr>
          <p:nvPr/>
        </p:nvPicPr>
        <p:blipFill>
          <a:blip r:embed="rId4"/>
          <a:stretch>
            <a:fillRect/>
          </a:stretch>
        </p:blipFill>
        <p:spPr>
          <a:xfrm>
            <a:off x="7949183" y="3175563"/>
            <a:ext cx="1682495" cy="1329833"/>
          </a:xfrm>
          <a:prstGeom prst="rect">
            <a:avLst/>
          </a:prstGeom>
        </p:spPr>
      </p:pic>
      <p:sp>
        <p:nvSpPr>
          <p:cNvPr id="72" name="TextBox 71"/>
          <p:cNvSpPr txBox="1"/>
          <p:nvPr/>
        </p:nvSpPr>
        <p:spPr>
          <a:xfrm>
            <a:off x="7912607" y="4560260"/>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A02 D1 Orange</a:t>
            </a:r>
          </a:p>
          <a:p>
            <a:pPr algn="ctr">
              <a:spcBef>
                <a:spcPts val="0"/>
              </a:spcBef>
              <a:spcAft>
                <a:spcPts val="0"/>
              </a:spcAft>
            </a:pPr>
            <a:r>
              <a:rPr sz="1200" b="0" i="0">
                <a:solidFill>
                  <a:srgbClr val="1E2D44"/>
                </a:solidFill>
                <a:latin typeface="Karla"/>
              </a:rPr>
              <a:t>Wrapper</a:t>
            </a:r>
          </a:p>
        </p:txBody>
      </p:sp>
      <p:sp>
        <p:nvSpPr>
          <p:cNvPr id="73" name="TextBox 72"/>
          <p:cNvSpPr txBox="1"/>
          <p:nvPr/>
        </p:nvSpPr>
        <p:spPr>
          <a:xfrm>
            <a:off x="7912607" y="4926020"/>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+10*</a:t>
            </a:r>
          </a:p>
        </p:txBody>
      </p:sp>
      <p:sp>
        <p:nvSpPr>
          <p:cNvPr id="74" name="Rectangle 73"/>
          <p:cNvSpPr/>
          <p:nvPr/>
        </p:nvSpPr>
        <p:spPr>
          <a:xfrm>
            <a:off x="9855707" y="3161847"/>
            <a:ext cx="1709927" cy="135726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5" name="Picture 74" descr="A3.png"/>
          <p:cNvPicPr>
            <a:picLocks noChangeAspect="1"/>
          </p:cNvPicPr>
          <p:nvPr/>
        </p:nvPicPr>
        <p:blipFill>
          <a:blip r:embed="rId5"/>
          <a:stretch>
            <a:fillRect/>
          </a:stretch>
        </p:blipFill>
        <p:spPr>
          <a:xfrm>
            <a:off x="9869423" y="3175563"/>
            <a:ext cx="1682495" cy="1329833"/>
          </a:xfrm>
          <a:prstGeom prst="rect">
            <a:avLst/>
          </a:prstGeom>
        </p:spPr>
      </p:pic>
      <p:sp>
        <p:nvSpPr>
          <p:cNvPr id="76" name="TextBox 75"/>
          <p:cNvSpPr txBox="1"/>
          <p:nvPr/>
        </p:nvSpPr>
        <p:spPr>
          <a:xfrm>
            <a:off x="9832847" y="4560260"/>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A03 D1 Yellow</a:t>
            </a:r>
          </a:p>
          <a:p>
            <a:pPr algn="ctr">
              <a:spcBef>
                <a:spcPts val="0"/>
              </a:spcBef>
              <a:spcAft>
                <a:spcPts val="0"/>
              </a:spcAft>
            </a:pPr>
            <a:r>
              <a:rPr sz="1200" b="0" i="0">
                <a:solidFill>
                  <a:srgbClr val="1E2D44"/>
                </a:solidFill>
                <a:latin typeface="Karla"/>
              </a:rPr>
              <a:t>Wrapper</a:t>
            </a:r>
          </a:p>
        </p:txBody>
      </p:sp>
      <p:sp>
        <p:nvSpPr>
          <p:cNvPr id="77" name="TextBox 76"/>
          <p:cNvSpPr txBox="1"/>
          <p:nvPr/>
        </p:nvSpPr>
        <p:spPr>
          <a:xfrm>
            <a:off x="9832847" y="4926020"/>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+8*</a:t>
            </a:r>
          </a:p>
        </p:txBody>
      </p:sp>
      <p:sp>
        <p:nvSpPr>
          <p:cNvPr id="78" name="Rounded Rectangle 77"/>
          <p:cNvSpPr/>
          <p:nvPr/>
        </p:nvSpPr>
        <p:spPr>
          <a:xfrm>
            <a:off x="502920" y="5632704"/>
            <a:ext cx="11268455" cy="676656"/>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200" b="0">
                <a:solidFill>
                  <a:srgbClr val="1E2D44"/>
                </a:solidFill>
                <a:latin typeface="Karla"/>
              </a:rPr>
              <a:t>No, and I am not interested favors D3 Pink Wrapper; No, but I am interested in trying them favors A07 D2 Yellow Wrapper; Yes, occasionally favors A06 D2 Orange Wrapper; Yes, regularly favors A09 D3 Blue Wrapper. The widest segment gap is A05 D2 Blue Wrapper: -10 no, and i am not interested / +9 no, but i am interested in trying them / +13 yes, occasionally / +22 yes, regularly.</a:t>
            </a:r>
          </a:p>
        </p:txBody>
      </p:sp>
      <p:sp>
        <p:nvSpPr>
          <p:cNvPr id="79" name="Rectangle 78"/>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Top-2 scores rounded to whole points. *Average of the groups in the legend.</a:t>
            </a:r>
          </a:p>
        </p:txBody>
      </p:sp>
      <p:sp>
        <p:nvSpPr>
          <p:cNvPr id="81" name="TextBox 80"/>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37744"/>
            <a:ext cx="7043927" cy="182880"/>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KEY FINDINGS: A_BACKGROUND  ·  What would be your ideal way to consume protein-enriched products?   ·   1 of 3</a:t>
            </a:r>
          </a:p>
        </p:txBody>
      </p:sp>
      <p:sp>
        <p:nvSpPr>
          <p:cNvPr id="3" name="TextBox 2"/>
          <p:cNvSpPr txBox="1"/>
          <p:nvPr/>
        </p:nvSpPr>
        <p:spPr>
          <a:xfrm>
            <a:off x="502920" y="438912"/>
            <a:ext cx="7043927" cy="365760"/>
          </a:xfrm>
          <a:prstGeom prst="rect">
            <a:avLst/>
          </a:prstGeom>
          <a:noFill/>
        </p:spPr>
        <p:txBody>
          <a:bodyPr wrap="square" anchor="t" lIns="0" rIns="0" tIns="0" bIns="0"/>
          <a:lstStyle/>
          <a:p>
            <a:pPr algn="l">
              <a:spcBef>
                <a:spcPts val="0"/>
              </a:spcBef>
              <a:spcAft>
                <a:spcPts val="0"/>
              </a:spcAft>
            </a:pPr>
            <a:r>
              <a:rPr sz="2600" b="1" i="0">
                <a:solidFill>
                  <a:srgbClr val="1E2D44"/>
                </a:solidFill>
                <a:latin typeface="Karla"/>
              </a:rPr>
              <a:t>A_Background splits across the groups</a:t>
            </a:r>
          </a:p>
        </p:txBody>
      </p:sp>
      <p:sp>
        <p:nvSpPr>
          <p:cNvPr id="4" name="TextBox 3"/>
          <p:cNvSpPr txBox="1"/>
          <p:nvPr/>
        </p:nvSpPr>
        <p:spPr>
          <a:xfrm>
            <a:off x="502920" y="822960"/>
            <a:ext cx="7043927" cy="475488"/>
          </a:xfrm>
          <a:prstGeom prst="rect">
            <a:avLst/>
          </a:prstGeom>
          <a:noFill/>
        </p:spPr>
        <p:txBody>
          <a:bodyPr wrap="square" anchor="t" lIns="0" rIns="0" tIns="0" bIns="0"/>
          <a:lstStyle/>
          <a:p>
            <a:pPr algn="l">
              <a:spcBef>
                <a:spcPts val="0"/>
              </a:spcBef>
              <a:spcAft>
                <a:spcPts val="0"/>
              </a:spcAft>
            </a:pPr>
            <a:r>
              <a:rPr sz="1200" b="0" i="0">
                <a:solidFill>
                  <a:srgbClr val="617086"/>
                </a:solidFill>
                <a:latin typeface="Karla"/>
              </a:rPr>
              <a:t>Other favors A07 D2 Yellow Wrapper; Protein bars favor A06 D2 Orange Wrapper; Protein cookies favor A01 D1 Blue Wrapper; Protein powder favors A07 D2 Yellow Wrapper.</a:t>
            </a:r>
          </a:p>
        </p:txBody>
      </p:sp>
      <p:sp>
        <p:nvSpPr>
          <p:cNvPr id="5" name="Rectangle 4"/>
          <p:cNvSpPr/>
          <p:nvPr/>
        </p:nvSpPr>
        <p:spPr>
          <a:xfrm>
            <a:off x="502920" y="1335024"/>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A_BACKGROUND</a:t>
            </a:r>
          </a:p>
        </p:txBody>
      </p:sp>
      <p:sp>
        <p:nvSpPr>
          <p:cNvPr id="6" name="TextBox 5"/>
          <p:cNvSpPr txBox="1"/>
          <p:nvPr/>
        </p:nvSpPr>
        <p:spPr>
          <a:xfrm>
            <a:off x="1874520"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7" name="Rectangle 6"/>
          <p:cNvSpPr/>
          <p:nvPr/>
        </p:nvSpPr>
        <p:spPr>
          <a:xfrm>
            <a:off x="3783583"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90975"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9" name="Rectangle 8"/>
          <p:cNvSpPr/>
          <p:nvPr/>
        </p:nvSpPr>
        <p:spPr>
          <a:xfrm>
            <a:off x="5400039"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7431"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1" name="Rectangle 10"/>
          <p:cNvSpPr/>
          <p:nvPr/>
        </p:nvSpPr>
        <p:spPr>
          <a:xfrm>
            <a:off x="7016495"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23887"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30</a:t>
            </a:r>
          </a:p>
        </p:txBody>
      </p:sp>
      <p:sp>
        <p:nvSpPr>
          <p:cNvPr id="13" name="Rectangle 12"/>
          <p:cNvSpPr/>
          <p:nvPr/>
        </p:nvSpPr>
        <p:spPr>
          <a:xfrm>
            <a:off x="2167128" y="1645920"/>
            <a:ext cx="10972" cy="30906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167128" y="4736592"/>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1805940"/>
            <a:ext cx="1554480" cy="452628"/>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A06 D2 Orange</a:t>
            </a:r>
          </a:p>
          <a:p>
            <a:pPr algn="r">
              <a:spcBef>
                <a:spcPts val="0"/>
              </a:spcBef>
              <a:spcAft>
                <a:spcPts val="0"/>
              </a:spcAft>
            </a:pPr>
            <a:r>
              <a:rPr sz="1100" b="0" i="0">
                <a:solidFill>
                  <a:srgbClr val="1E2D44"/>
                </a:solidFill>
                <a:latin typeface="Karla"/>
              </a:rPr>
              <a:t>Wrapper</a:t>
            </a:r>
          </a:p>
        </p:txBody>
      </p:sp>
      <p:sp>
        <p:nvSpPr>
          <p:cNvPr id="16" name="Rectangle 15"/>
          <p:cNvSpPr/>
          <p:nvPr/>
        </p:nvSpPr>
        <p:spPr>
          <a:xfrm>
            <a:off x="2167128" y="1805940"/>
            <a:ext cx="1454810"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76802" y="1805940"/>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+9</a:t>
            </a:r>
          </a:p>
        </p:txBody>
      </p:sp>
      <p:sp>
        <p:nvSpPr>
          <p:cNvPr id="18" name="Rectangle 17"/>
          <p:cNvSpPr/>
          <p:nvPr/>
        </p:nvSpPr>
        <p:spPr>
          <a:xfrm>
            <a:off x="2167128" y="1929384"/>
            <a:ext cx="3717848"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39840" y="1929384"/>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+23</a:t>
            </a:r>
          </a:p>
        </p:txBody>
      </p:sp>
      <p:sp>
        <p:nvSpPr>
          <p:cNvPr id="20" name="Rectangle 19"/>
          <p:cNvSpPr/>
          <p:nvPr/>
        </p:nvSpPr>
        <p:spPr>
          <a:xfrm>
            <a:off x="2167128" y="2052828"/>
            <a:ext cx="2909620"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31612" y="2052828"/>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+18</a:t>
            </a:r>
          </a:p>
        </p:txBody>
      </p:sp>
      <p:sp>
        <p:nvSpPr>
          <p:cNvPr id="22" name="Rectangle 21"/>
          <p:cNvSpPr/>
          <p:nvPr/>
        </p:nvSpPr>
        <p:spPr>
          <a:xfrm>
            <a:off x="2167128" y="2176272"/>
            <a:ext cx="1131519"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53511" y="2176272"/>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+7</a:t>
            </a:r>
          </a:p>
        </p:txBody>
      </p:sp>
      <p:sp>
        <p:nvSpPr>
          <p:cNvPr id="24" name="TextBox 23"/>
          <p:cNvSpPr txBox="1"/>
          <p:nvPr/>
        </p:nvSpPr>
        <p:spPr>
          <a:xfrm>
            <a:off x="502920" y="2578608"/>
            <a:ext cx="1554480" cy="452628"/>
          </a:xfrm>
          <a:prstGeom prst="rect">
            <a:avLst/>
          </a:prstGeom>
          <a:noFill/>
        </p:spPr>
        <p:txBody>
          <a:bodyPr wrap="none" anchor="ctr" lIns="0" rIns="0" tIns="0" bIns="0"/>
          <a:lstStyle/>
          <a:p>
            <a:pPr algn="r">
              <a:spcBef>
                <a:spcPts val="0"/>
              </a:spcBef>
              <a:spcAft>
                <a:spcPts val="0"/>
              </a:spcAft>
            </a:pPr>
            <a:r>
              <a:rPr sz="1200" b="0" i="0">
                <a:solidFill>
                  <a:srgbClr val="1E2D44"/>
                </a:solidFill>
                <a:latin typeface="Karla"/>
              </a:rPr>
              <a:t>D3 Pink Wrapper</a:t>
            </a:r>
          </a:p>
        </p:txBody>
      </p:sp>
      <p:sp>
        <p:nvSpPr>
          <p:cNvPr id="25" name="Rectangle 24"/>
          <p:cNvSpPr/>
          <p:nvPr/>
        </p:nvSpPr>
        <p:spPr>
          <a:xfrm>
            <a:off x="2167128" y="2578608"/>
            <a:ext cx="1778101"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000093" y="2578608"/>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+11</a:t>
            </a:r>
          </a:p>
        </p:txBody>
      </p:sp>
      <p:sp>
        <p:nvSpPr>
          <p:cNvPr id="27" name="Rectangle 26"/>
          <p:cNvSpPr/>
          <p:nvPr/>
        </p:nvSpPr>
        <p:spPr>
          <a:xfrm>
            <a:off x="2167128" y="2702052"/>
            <a:ext cx="3717848"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939840" y="2702052"/>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+23</a:t>
            </a:r>
          </a:p>
        </p:txBody>
      </p:sp>
      <p:sp>
        <p:nvSpPr>
          <p:cNvPr id="29" name="Rectangle 28"/>
          <p:cNvSpPr/>
          <p:nvPr/>
        </p:nvSpPr>
        <p:spPr>
          <a:xfrm>
            <a:off x="2167128" y="2825496"/>
            <a:ext cx="2101392"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323384" y="2825496"/>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+13</a:t>
            </a:r>
          </a:p>
        </p:txBody>
      </p:sp>
      <p:sp>
        <p:nvSpPr>
          <p:cNvPr id="31" name="Rectangle 30"/>
          <p:cNvSpPr/>
          <p:nvPr/>
        </p:nvSpPr>
        <p:spPr>
          <a:xfrm>
            <a:off x="2167128" y="2948939"/>
            <a:ext cx="1293164"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515156" y="2948939"/>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+8</a:t>
            </a:r>
          </a:p>
        </p:txBody>
      </p:sp>
      <p:sp>
        <p:nvSpPr>
          <p:cNvPr id="33" name="TextBox 32"/>
          <p:cNvSpPr txBox="1"/>
          <p:nvPr/>
        </p:nvSpPr>
        <p:spPr>
          <a:xfrm>
            <a:off x="502920" y="3351276"/>
            <a:ext cx="1554480" cy="452628"/>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A05 D2 Blue</a:t>
            </a:r>
          </a:p>
          <a:p>
            <a:pPr algn="r">
              <a:spcBef>
                <a:spcPts val="0"/>
              </a:spcBef>
              <a:spcAft>
                <a:spcPts val="0"/>
              </a:spcAft>
            </a:pPr>
            <a:r>
              <a:rPr sz="1100" b="0" i="0">
                <a:solidFill>
                  <a:srgbClr val="1E2D44"/>
                </a:solidFill>
                <a:latin typeface="Karla"/>
              </a:rPr>
              <a:t>Wrapper</a:t>
            </a:r>
          </a:p>
        </p:txBody>
      </p:sp>
      <p:sp>
        <p:nvSpPr>
          <p:cNvPr id="34" name="Rectangle 33"/>
          <p:cNvSpPr/>
          <p:nvPr/>
        </p:nvSpPr>
        <p:spPr>
          <a:xfrm>
            <a:off x="2167128" y="3351276"/>
            <a:ext cx="646582"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868574" y="3351276"/>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+4</a:t>
            </a:r>
          </a:p>
        </p:txBody>
      </p:sp>
      <p:sp>
        <p:nvSpPr>
          <p:cNvPr id="36" name="Rectangle 35"/>
          <p:cNvSpPr/>
          <p:nvPr/>
        </p:nvSpPr>
        <p:spPr>
          <a:xfrm>
            <a:off x="2167128" y="3474720"/>
            <a:ext cx="3556202"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778194" y="3474720"/>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+22</a:t>
            </a:r>
          </a:p>
        </p:txBody>
      </p:sp>
      <p:sp>
        <p:nvSpPr>
          <p:cNvPr id="38" name="Rectangle 37"/>
          <p:cNvSpPr/>
          <p:nvPr/>
        </p:nvSpPr>
        <p:spPr>
          <a:xfrm>
            <a:off x="2167128" y="3598164"/>
            <a:ext cx="2424683"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646675" y="3598164"/>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+15</a:t>
            </a:r>
          </a:p>
        </p:txBody>
      </p:sp>
      <p:sp>
        <p:nvSpPr>
          <p:cNvPr id="40" name="Rectangle 39"/>
          <p:cNvSpPr/>
          <p:nvPr/>
        </p:nvSpPr>
        <p:spPr>
          <a:xfrm>
            <a:off x="2167128" y="3721608"/>
            <a:ext cx="1616455"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838447" y="3721608"/>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+10</a:t>
            </a:r>
          </a:p>
        </p:txBody>
      </p:sp>
      <p:sp>
        <p:nvSpPr>
          <p:cNvPr id="42" name="TextBox 41"/>
          <p:cNvSpPr txBox="1"/>
          <p:nvPr/>
        </p:nvSpPr>
        <p:spPr>
          <a:xfrm>
            <a:off x="502920" y="4123944"/>
            <a:ext cx="1554480" cy="452628"/>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A07 D2 Yellow</a:t>
            </a:r>
          </a:p>
          <a:p>
            <a:pPr algn="r">
              <a:spcBef>
                <a:spcPts val="0"/>
              </a:spcBef>
              <a:spcAft>
                <a:spcPts val="0"/>
              </a:spcAft>
            </a:pPr>
            <a:r>
              <a:rPr sz="1100" b="0" i="0">
                <a:solidFill>
                  <a:srgbClr val="1E2D44"/>
                </a:solidFill>
                <a:latin typeface="Karla"/>
              </a:rPr>
              <a:t>Wrapper</a:t>
            </a:r>
          </a:p>
        </p:txBody>
      </p:sp>
      <p:sp>
        <p:nvSpPr>
          <p:cNvPr id="43" name="Rectangle 42"/>
          <p:cNvSpPr/>
          <p:nvPr/>
        </p:nvSpPr>
        <p:spPr>
          <a:xfrm>
            <a:off x="2167128" y="4123944"/>
            <a:ext cx="2747975"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969967" y="4123944"/>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+17</a:t>
            </a:r>
          </a:p>
        </p:txBody>
      </p:sp>
      <p:sp>
        <p:nvSpPr>
          <p:cNvPr id="45" name="Rectangle 44"/>
          <p:cNvSpPr/>
          <p:nvPr/>
        </p:nvSpPr>
        <p:spPr>
          <a:xfrm>
            <a:off x="2167128" y="4247388"/>
            <a:ext cx="3071266"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293258" y="4247388"/>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+19</a:t>
            </a:r>
          </a:p>
        </p:txBody>
      </p:sp>
      <p:sp>
        <p:nvSpPr>
          <p:cNvPr id="47" name="Rectangle 46"/>
          <p:cNvSpPr/>
          <p:nvPr/>
        </p:nvSpPr>
        <p:spPr>
          <a:xfrm>
            <a:off x="2167128" y="4370831"/>
            <a:ext cx="2263038"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485030" y="4370831"/>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+14</a:t>
            </a:r>
          </a:p>
        </p:txBody>
      </p:sp>
      <p:sp>
        <p:nvSpPr>
          <p:cNvPr id="49" name="Rectangle 48"/>
          <p:cNvSpPr/>
          <p:nvPr/>
        </p:nvSpPr>
        <p:spPr>
          <a:xfrm>
            <a:off x="2167128" y="4494276"/>
            <a:ext cx="3556202"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778194" y="4494276"/>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+22</a:t>
            </a:r>
          </a:p>
        </p:txBody>
      </p:sp>
      <p:sp>
        <p:nvSpPr>
          <p:cNvPr id="51" name="Rectangle 50"/>
          <p:cNvSpPr/>
          <p:nvPr/>
        </p:nvSpPr>
        <p:spPr>
          <a:xfrm>
            <a:off x="823975" y="5161788"/>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97711" y="5102352"/>
            <a:ext cx="149352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Other (basesize = 10)</a:t>
            </a:r>
          </a:p>
        </p:txBody>
      </p:sp>
      <p:sp>
        <p:nvSpPr>
          <p:cNvPr id="53" name="Rectangle 52"/>
          <p:cNvSpPr/>
          <p:nvPr/>
        </p:nvSpPr>
        <p:spPr>
          <a:xfrm>
            <a:off x="2747263" y="5161788"/>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2920999" y="5102352"/>
            <a:ext cx="199136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Protein bars (basesize = 52)</a:t>
            </a:r>
          </a:p>
        </p:txBody>
      </p:sp>
      <p:sp>
        <p:nvSpPr>
          <p:cNvPr id="55" name="Rectangle 54"/>
          <p:cNvSpPr/>
          <p:nvPr/>
        </p:nvSpPr>
        <p:spPr>
          <a:xfrm>
            <a:off x="5168391" y="5161788"/>
            <a:ext cx="100584" cy="10058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342127" y="5102352"/>
            <a:ext cx="220472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Protein cookies (basesize = 80)</a:t>
            </a:r>
          </a:p>
        </p:txBody>
      </p:sp>
      <p:sp>
        <p:nvSpPr>
          <p:cNvPr id="57" name="Rectangle 56"/>
          <p:cNvSpPr/>
          <p:nvPr/>
        </p:nvSpPr>
        <p:spPr>
          <a:xfrm>
            <a:off x="3473703" y="5381244"/>
            <a:ext cx="100584" cy="100584"/>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647439" y="5321808"/>
            <a:ext cx="206248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Protein powder (basesize = 8)</a:t>
            </a:r>
          </a:p>
        </p:txBody>
      </p:sp>
      <p:sp>
        <p:nvSpPr>
          <p:cNvPr id="59" name="Rounded Rectangle 58"/>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7935467" y="601527"/>
            <a:ext cx="1709927" cy="135726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1" name="Picture 60" descr="A6.png"/>
          <p:cNvPicPr>
            <a:picLocks noChangeAspect="1"/>
          </p:cNvPicPr>
          <p:nvPr/>
        </p:nvPicPr>
        <p:blipFill>
          <a:blip r:embed="rId2"/>
          <a:stretch>
            <a:fillRect/>
          </a:stretch>
        </p:blipFill>
        <p:spPr>
          <a:xfrm>
            <a:off x="7949183" y="615243"/>
            <a:ext cx="1682495" cy="1329833"/>
          </a:xfrm>
          <a:prstGeom prst="rect">
            <a:avLst/>
          </a:prstGeom>
        </p:spPr>
      </p:pic>
      <p:sp>
        <p:nvSpPr>
          <p:cNvPr id="62" name="TextBox 61"/>
          <p:cNvSpPr txBox="1"/>
          <p:nvPr/>
        </p:nvSpPr>
        <p:spPr>
          <a:xfrm>
            <a:off x="7912607" y="1999940"/>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A06 D2 Orange</a:t>
            </a:r>
          </a:p>
          <a:p>
            <a:pPr algn="ctr">
              <a:spcBef>
                <a:spcPts val="0"/>
              </a:spcBef>
              <a:spcAft>
                <a:spcPts val="0"/>
              </a:spcAft>
            </a:pPr>
            <a:r>
              <a:rPr sz="1200" b="0" i="0">
                <a:solidFill>
                  <a:srgbClr val="1E2D44"/>
                </a:solidFill>
                <a:latin typeface="Karla"/>
              </a:rPr>
              <a:t>Wrapper</a:t>
            </a:r>
          </a:p>
        </p:txBody>
      </p:sp>
      <p:sp>
        <p:nvSpPr>
          <p:cNvPr id="63" name="TextBox 62"/>
          <p:cNvSpPr txBox="1"/>
          <p:nvPr/>
        </p:nvSpPr>
        <p:spPr>
          <a:xfrm>
            <a:off x="7912607" y="2365700"/>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+14*</a:t>
            </a:r>
          </a:p>
        </p:txBody>
      </p:sp>
      <p:sp>
        <p:nvSpPr>
          <p:cNvPr id="64" name="Rectangle 63"/>
          <p:cNvSpPr/>
          <p:nvPr/>
        </p:nvSpPr>
        <p:spPr>
          <a:xfrm>
            <a:off x="9855707" y="601527"/>
            <a:ext cx="1709927" cy="135726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5" name="Picture 64" descr="A12.png"/>
          <p:cNvPicPr>
            <a:picLocks noChangeAspect="1"/>
          </p:cNvPicPr>
          <p:nvPr/>
        </p:nvPicPr>
        <p:blipFill>
          <a:blip r:embed="rId3"/>
          <a:stretch>
            <a:fillRect/>
          </a:stretch>
        </p:blipFill>
        <p:spPr>
          <a:xfrm>
            <a:off x="9869423" y="615243"/>
            <a:ext cx="1682495" cy="1329833"/>
          </a:xfrm>
          <a:prstGeom prst="rect">
            <a:avLst/>
          </a:prstGeom>
        </p:spPr>
      </p:pic>
      <p:sp>
        <p:nvSpPr>
          <p:cNvPr id="66" name="TextBox 65"/>
          <p:cNvSpPr txBox="1"/>
          <p:nvPr/>
        </p:nvSpPr>
        <p:spPr>
          <a:xfrm>
            <a:off x="9832847" y="1999940"/>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D3 Pink Wrapper</a:t>
            </a:r>
          </a:p>
        </p:txBody>
      </p:sp>
      <p:sp>
        <p:nvSpPr>
          <p:cNvPr id="67" name="TextBox 66"/>
          <p:cNvSpPr txBox="1"/>
          <p:nvPr/>
        </p:nvSpPr>
        <p:spPr>
          <a:xfrm>
            <a:off x="9832847" y="2365700"/>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+14*</a:t>
            </a:r>
          </a:p>
        </p:txBody>
      </p:sp>
      <p:sp>
        <p:nvSpPr>
          <p:cNvPr id="68" name="Rectangle 67"/>
          <p:cNvSpPr/>
          <p:nvPr/>
        </p:nvSpPr>
        <p:spPr>
          <a:xfrm>
            <a:off x="7935467" y="3161847"/>
            <a:ext cx="1709927" cy="135726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9" name="Picture 68" descr="A5.png"/>
          <p:cNvPicPr>
            <a:picLocks noChangeAspect="1"/>
          </p:cNvPicPr>
          <p:nvPr/>
        </p:nvPicPr>
        <p:blipFill>
          <a:blip r:embed="rId4"/>
          <a:stretch>
            <a:fillRect/>
          </a:stretch>
        </p:blipFill>
        <p:spPr>
          <a:xfrm>
            <a:off x="7949183" y="3175563"/>
            <a:ext cx="1682495" cy="1329833"/>
          </a:xfrm>
          <a:prstGeom prst="rect">
            <a:avLst/>
          </a:prstGeom>
        </p:spPr>
      </p:pic>
      <p:sp>
        <p:nvSpPr>
          <p:cNvPr id="70" name="TextBox 69"/>
          <p:cNvSpPr txBox="1"/>
          <p:nvPr/>
        </p:nvSpPr>
        <p:spPr>
          <a:xfrm>
            <a:off x="7912607" y="4560260"/>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A05 D2 Blue Wrapper</a:t>
            </a:r>
          </a:p>
        </p:txBody>
      </p:sp>
      <p:sp>
        <p:nvSpPr>
          <p:cNvPr id="71" name="TextBox 70"/>
          <p:cNvSpPr txBox="1"/>
          <p:nvPr/>
        </p:nvSpPr>
        <p:spPr>
          <a:xfrm>
            <a:off x="7912607" y="4926020"/>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+13*</a:t>
            </a:r>
          </a:p>
        </p:txBody>
      </p:sp>
      <p:sp>
        <p:nvSpPr>
          <p:cNvPr id="72" name="Rectangle 71"/>
          <p:cNvSpPr/>
          <p:nvPr/>
        </p:nvSpPr>
        <p:spPr>
          <a:xfrm>
            <a:off x="9855707" y="3161847"/>
            <a:ext cx="1709927" cy="135726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3" name="Picture 72" descr="A7.png"/>
          <p:cNvPicPr>
            <a:picLocks noChangeAspect="1"/>
          </p:cNvPicPr>
          <p:nvPr/>
        </p:nvPicPr>
        <p:blipFill>
          <a:blip r:embed="rId5"/>
          <a:stretch>
            <a:fillRect/>
          </a:stretch>
        </p:blipFill>
        <p:spPr>
          <a:xfrm>
            <a:off x="9869423" y="3175563"/>
            <a:ext cx="1682495" cy="1329833"/>
          </a:xfrm>
          <a:prstGeom prst="rect">
            <a:avLst/>
          </a:prstGeom>
        </p:spPr>
      </p:pic>
      <p:sp>
        <p:nvSpPr>
          <p:cNvPr id="74" name="TextBox 73"/>
          <p:cNvSpPr txBox="1"/>
          <p:nvPr/>
        </p:nvSpPr>
        <p:spPr>
          <a:xfrm>
            <a:off x="9832847" y="4560260"/>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A07 D2 Yellow</a:t>
            </a:r>
          </a:p>
          <a:p>
            <a:pPr algn="ctr">
              <a:spcBef>
                <a:spcPts val="0"/>
              </a:spcBef>
              <a:spcAft>
                <a:spcPts val="0"/>
              </a:spcAft>
            </a:pPr>
            <a:r>
              <a:rPr sz="1200" b="0" i="0">
                <a:solidFill>
                  <a:srgbClr val="1E2D44"/>
                </a:solidFill>
                <a:latin typeface="Karla"/>
              </a:rPr>
              <a:t>Wrapper</a:t>
            </a:r>
          </a:p>
        </p:txBody>
      </p:sp>
      <p:sp>
        <p:nvSpPr>
          <p:cNvPr id="75" name="TextBox 74"/>
          <p:cNvSpPr txBox="1"/>
          <p:nvPr/>
        </p:nvSpPr>
        <p:spPr>
          <a:xfrm>
            <a:off x="9832847" y="4926020"/>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+18*</a:t>
            </a:r>
          </a:p>
        </p:txBody>
      </p:sp>
      <p:sp>
        <p:nvSpPr>
          <p:cNvPr id="76" name="Rounded Rectangle 75"/>
          <p:cNvSpPr/>
          <p:nvPr/>
        </p:nvSpPr>
        <p:spPr>
          <a:xfrm>
            <a:off x="502920" y="5632704"/>
            <a:ext cx="11268455" cy="676656"/>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200" b="0">
                <a:solidFill>
                  <a:srgbClr val="1E2D44"/>
                </a:solidFill>
                <a:latin typeface="Karla"/>
              </a:rPr>
              <a:t>Other favors A07 D2 Yellow Wrapper; Protein bars favor A06 D2 Orange Wrapper; Protein cookies favor A01 D1 Blue Wrapper; Protein powder favors A07 D2 Yellow Wrapper. The widest segment gap is A01 D1 Blue Wrapper: +7 other / +8 protein bars / +18 protein cookies / -3 protein powder.</a:t>
            </a:r>
          </a:p>
        </p:txBody>
      </p:sp>
      <p:sp>
        <p:nvSpPr>
          <p:cNvPr id="77" name="Rectangle 76"/>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Top-2 scores rounded to whole points. *Average of the groups in the legend.</a:t>
            </a:r>
          </a:p>
        </p:txBody>
      </p:sp>
      <p:sp>
        <p:nvSpPr>
          <p:cNvPr id="79" name="TextBox 78"/>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37744"/>
            <a:ext cx="7043927" cy="182880"/>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KEY FINDINGS: A_BACKGROUND  ·  What would be your ideal way to consume protein-enriched products?   ·   2 of 3</a:t>
            </a:r>
          </a:p>
        </p:txBody>
      </p:sp>
      <p:sp>
        <p:nvSpPr>
          <p:cNvPr id="3" name="TextBox 2"/>
          <p:cNvSpPr txBox="1"/>
          <p:nvPr/>
        </p:nvSpPr>
        <p:spPr>
          <a:xfrm>
            <a:off x="502920" y="438912"/>
            <a:ext cx="7043927" cy="365760"/>
          </a:xfrm>
          <a:prstGeom prst="rect">
            <a:avLst/>
          </a:prstGeom>
          <a:noFill/>
        </p:spPr>
        <p:txBody>
          <a:bodyPr wrap="square" anchor="t" lIns="0" rIns="0" tIns="0" bIns="0"/>
          <a:lstStyle/>
          <a:p>
            <a:pPr algn="l">
              <a:spcBef>
                <a:spcPts val="0"/>
              </a:spcBef>
              <a:spcAft>
                <a:spcPts val="0"/>
              </a:spcAft>
            </a:pPr>
            <a:r>
              <a:rPr sz="2600" b="1" i="0">
                <a:solidFill>
                  <a:srgbClr val="1E2D44"/>
                </a:solidFill>
                <a:latin typeface="Karla"/>
              </a:rPr>
              <a:t>A_Background splits across the groups</a:t>
            </a:r>
          </a:p>
        </p:txBody>
      </p:sp>
      <p:sp>
        <p:nvSpPr>
          <p:cNvPr id="4" name="TextBox 3"/>
          <p:cNvSpPr txBox="1"/>
          <p:nvPr/>
        </p:nvSpPr>
        <p:spPr>
          <a:xfrm>
            <a:off x="502920" y="822960"/>
            <a:ext cx="7043927" cy="475488"/>
          </a:xfrm>
          <a:prstGeom prst="rect">
            <a:avLst/>
          </a:prstGeom>
          <a:noFill/>
        </p:spPr>
        <p:txBody>
          <a:bodyPr wrap="square" anchor="t" lIns="0" rIns="0" tIns="0" bIns="0"/>
          <a:lstStyle/>
          <a:p>
            <a:pPr algn="l">
              <a:spcBef>
                <a:spcPts val="0"/>
              </a:spcBef>
              <a:spcAft>
                <a:spcPts val="0"/>
              </a:spcAft>
            </a:pPr>
            <a:r>
              <a:rPr sz="1200" b="0" i="0">
                <a:solidFill>
                  <a:srgbClr val="617086"/>
                </a:solidFill>
                <a:latin typeface="Karla"/>
              </a:rPr>
              <a:t>Other favors A07 D2 Yellow Wrapper; Protein bars favor A06 D2 Orange Wrapper; Protein cookies favor A01 D1 Blue Wrapper; Protein powder favors A07 D2 Yellow Wrapper.</a:t>
            </a:r>
          </a:p>
        </p:txBody>
      </p:sp>
      <p:sp>
        <p:nvSpPr>
          <p:cNvPr id="5" name="Rectangle 4"/>
          <p:cNvSpPr/>
          <p:nvPr/>
        </p:nvSpPr>
        <p:spPr>
          <a:xfrm>
            <a:off x="502920" y="1335024"/>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A_BACKGROUND</a:t>
            </a:r>
          </a:p>
        </p:txBody>
      </p:sp>
      <p:sp>
        <p:nvSpPr>
          <p:cNvPr id="6" name="TextBox 5"/>
          <p:cNvSpPr txBox="1"/>
          <p:nvPr/>
        </p:nvSpPr>
        <p:spPr>
          <a:xfrm>
            <a:off x="1874520"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7" name="Rectangle 6"/>
          <p:cNvSpPr/>
          <p:nvPr/>
        </p:nvSpPr>
        <p:spPr>
          <a:xfrm>
            <a:off x="3379469"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86861"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5</a:t>
            </a:r>
          </a:p>
        </p:txBody>
      </p:sp>
      <p:sp>
        <p:nvSpPr>
          <p:cNvPr id="9" name="Rectangle 8"/>
          <p:cNvSpPr/>
          <p:nvPr/>
        </p:nvSpPr>
        <p:spPr>
          <a:xfrm>
            <a:off x="4591811"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9203"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11" name="Rectangle 10"/>
          <p:cNvSpPr/>
          <p:nvPr/>
        </p:nvSpPr>
        <p:spPr>
          <a:xfrm>
            <a:off x="5804153"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11545"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15</a:t>
            </a:r>
          </a:p>
        </p:txBody>
      </p:sp>
      <p:sp>
        <p:nvSpPr>
          <p:cNvPr id="13" name="Rectangle 12"/>
          <p:cNvSpPr/>
          <p:nvPr/>
        </p:nvSpPr>
        <p:spPr>
          <a:xfrm>
            <a:off x="7016495"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23887"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5" name="Rectangle 14"/>
          <p:cNvSpPr/>
          <p:nvPr/>
        </p:nvSpPr>
        <p:spPr>
          <a:xfrm>
            <a:off x="2167128" y="1645920"/>
            <a:ext cx="10972" cy="30906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167128" y="4736592"/>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1805940"/>
            <a:ext cx="1554480" cy="452628"/>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A08 D2 Pink</a:t>
            </a:r>
          </a:p>
          <a:p>
            <a:pPr algn="r">
              <a:spcBef>
                <a:spcPts val="0"/>
              </a:spcBef>
              <a:spcAft>
                <a:spcPts val="0"/>
              </a:spcAft>
            </a:pPr>
            <a:r>
              <a:rPr sz="1100" b="0" i="0">
                <a:solidFill>
                  <a:srgbClr val="1E2D44"/>
                </a:solidFill>
                <a:latin typeface="Karla"/>
              </a:rPr>
              <a:t>Wrapper</a:t>
            </a:r>
          </a:p>
        </p:txBody>
      </p:sp>
      <p:sp>
        <p:nvSpPr>
          <p:cNvPr id="18" name="Rectangle 17"/>
          <p:cNvSpPr/>
          <p:nvPr/>
        </p:nvSpPr>
        <p:spPr>
          <a:xfrm>
            <a:off x="2167128" y="1805940"/>
            <a:ext cx="2909620"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31612" y="1805940"/>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+12</a:t>
            </a:r>
          </a:p>
        </p:txBody>
      </p:sp>
      <p:sp>
        <p:nvSpPr>
          <p:cNvPr id="20" name="Rectangle 19"/>
          <p:cNvSpPr/>
          <p:nvPr/>
        </p:nvSpPr>
        <p:spPr>
          <a:xfrm>
            <a:off x="2167128" y="1929384"/>
            <a:ext cx="4849367"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71359" y="1929384"/>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+20</a:t>
            </a:r>
          </a:p>
        </p:txBody>
      </p:sp>
      <p:sp>
        <p:nvSpPr>
          <p:cNvPr id="22" name="Rectangle 21"/>
          <p:cNvSpPr/>
          <p:nvPr/>
        </p:nvSpPr>
        <p:spPr>
          <a:xfrm>
            <a:off x="2167128" y="2052828"/>
            <a:ext cx="3879494"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01486" y="2052828"/>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+16</a:t>
            </a:r>
          </a:p>
        </p:txBody>
      </p:sp>
      <p:sp>
        <p:nvSpPr>
          <p:cNvPr id="24" name="Rectangle 23"/>
          <p:cNvSpPr/>
          <p:nvPr/>
        </p:nvSpPr>
        <p:spPr>
          <a:xfrm>
            <a:off x="2167128" y="2176272"/>
            <a:ext cx="2667152"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89144" y="2176272"/>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+11</a:t>
            </a:r>
          </a:p>
        </p:txBody>
      </p:sp>
      <p:sp>
        <p:nvSpPr>
          <p:cNvPr id="26" name="TextBox 25"/>
          <p:cNvSpPr txBox="1"/>
          <p:nvPr/>
        </p:nvSpPr>
        <p:spPr>
          <a:xfrm>
            <a:off x="502920" y="2578608"/>
            <a:ext cx="1554480" cy="452628"/>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A09 D3 Blue</a:t>
            </a:r>
          </a:p>
          <a:p>
            <a:pPr algn="r">
              <a:spcBef>
                <a:spcPts val="0"/>
              </a:spcBef>
              <a:spcAft>
                <a:spcPts val="0"/>
              </a:spcAft>
            </a:pPr>
            <a:r>
              <a:rPr sz="1100" b="0" i="0">
                <a:solidFill>
                  <a:srgbClr val="1E2D44"/>
                </a:solidFill>
                <a:latin typeface="Karla"/>
              </a:rPr>
              <a:t>Wrapper</a:t>
            </a:r>
          </a:p>
        </p:txBody>
      </p:sp>
      <p:sp>
        <p:nvSpPr>
          <p:cNvPr id="27" name="Rectangle 26"/>
          <p:cNvSpPr/>
          <p:nvPr/>
        </p:nvSpPr>
        <p:spPr>
          <a:xfrm>
            <a:off x="2167128" y="2578608"/>
            <a:ext cx="3394557"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16549" y="2578608"/>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+14</a:t>
            </a:r>
          </a:p>
        </p:txBody>
      </p:sp>
      <p:sp>
        <p:nvSpPr>
          <p:cNvPr id="29" name="Rectangle 28"/>
          <p:cNvSpPr/>
          <p:nvPr/>
        </p:nvSpPr>
        <p:spPr>
          <a:xfrm>
            <a:off x="2167128" y="2702052"/>
            <a:ext cx="4849367"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071359" y="2702052"/>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+20</a:t>
            </a:r>
          </a:p>
        </p:txBody>
      </p:sp>
      <p:sp>
        <p:nvSpPr>
          <p:cNvPr id="31" name="Rectangle 30"/>
          <p:cNvSpPr/>
          <p:nvPr/>
        </p:nvSpPr>
        <p:spPr>
          <a:xfrm>
            <a:off x="2167128" y="2825496"/>
            <a:ext cx="4121962"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43954" y="2825496"/>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+17</a:t>
            </a:r>
          </a:p>
        </p:txBody>
      </p:sp>
      <p:sp>
        <p:nvSpPr>
          <p:cNvPr id="33" name="Rectangle 32"/>
          <p:cNvSpPr/>
          <p:nvPr/>
        </p:nvSpPr>
        <p:spPr>
          <a:xfrm>
            <a:off x="2167128" y="2948939"/>
            <a:ext cx="3879494"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101486" y="2948939"/>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+16</a:t>
            </a:r>
          </a:p>
        </p:txBody>
      </p:sp>
      <p:sp>
        <p:nvSpPr>
          <p:cNvPr id="35" name="TextBox 34"/>
          <p:cNvSpPr txBox="1"/>
          <p:nvPr/>
        </p:nvSpPr>
        <p:spPr>
          <a:xfrm>
            <a:off x="502920" y="3351276"/>
            <a:ext cx="1554480" cy="452628"/>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A02 D1 Orange</a:t>
            </a:r>
          </a:p>
          <a:p>
            <a:pPr algn="r">
              <a:spcBef>
                <a:spcPts val="0"/>
              </a:spcBef>
              <a:spcAft>
                <a:spcPts val="0"/>
              </a:spcAft>
            </a:pPr>
            <a:r>
              <a:rPr sz="1100" b="0" i="0">
                <a:solidFill>
                  <a:srgbClr val="1E2D44"/>
                </a:solidFill>
                <a:latin typeface="Karla"/>
              </a:rPr>
              <a:t>Wrapper</a:t>
            </a:r>
          </a:p>
        </p:txBody>
      </p:sp>
      <p:sp>
        <p:nvSpPr>
          <p:cNvPr id="36" name="Rectangle 35"/>
          <p:cNvSpPr/>
          <p:nvPr/>
        </p:nvSpPr>
        <p:spPr>
          <a:xfrm>
            <a:off x="2167128" y="3351276"/>
            <a:ext cx="2909620"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131612" y="3351276"/>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+12</a:t>
            </a:r>
          </a:p>
        </p:txBody>
      </p:sp>
      <p:sp>
        <p:nvSpPr>
          <p:cNvPr id="38" name="Rectangle 37"/>
          <p:cNvSpPr/>
          <p:nvPr/>
        </p:nvSpPr>
        <p:spPr>
          <a:xfrm>
            <a:off x="2167128" y="3474720"/>
            <a:ext cx="2909620"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131612" y="3474720"/>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+12</a:t>
            </a:r>
          </a:p>
        </p:txBody>
      </p:sp>
      <p:sp>
        <p:nvSpPr>
          <p:cNvPr id="40" name="Rectangle 39"/>
          <p:cNvSpPr/>
          <p:nvPr/>
        </p:nvSpPr>
        <p:spPr>
          <a:xfrm>
            <a:off x="2167128" y="3598164"/>
            <a:ext cx="3394557"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616549" y="3598164"/>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+14</a:t>
            </a:r>
          </a:p>
        </p:txBody>
      </p:sp>
      <p:sp>
        <p:nvSpPr>
          <p:cNvPr id="42" name="Rectangle 41"/>
          <p:cNvSpPr/>
          <p:nvPr/>
        </p:nvSpPr>
        <p:spPr>
          <a:xfrm>
            <a:off x="2167128" y="3721608"/>
            <a:ext cx="4606899"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828891" y="3721608"/>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+19</a:t>
            </a:r>
          </a:p>
        </p:txBody>
      </p:sp>
      <p:sp>
        <p:nvSpPr>
          <p:cNvPr id="44" name="TextBox 43"/>
          <p:cNvSpPr txBox="1"/>
          <p:nvPr/>
        </p:nvSpPr>
        <p:spPr>
          <a:xfrm>
            <a:off x="502920" y="4123944"/>
            <a:ext cx="1554480" cy="452628"/>
          </a:xfrm>
          <a:prstGeom prst="rect">
            <a:avLst/>
          </a:prstGeom>
          <a:noFill/>
        </p:spPr>
        <p:txBody>
          <a:bodyPr wrap="none" anchor="ctr" lIns="0" rIns="0" tIns="0" bIns="0"/>
          <a:lstStyle/>
          <a:p>
            <a:pPr algn="r">
              <a:spcBef>
                <a:spcPts val="0"/>
              </a:spcBef>
              <a:spcAft>
                <a:spcPts val="0"/>
              </a:spcAft>
            </a:pPr>
            <a:r>
              <a:rPr sz="1200" b="0" i="0">
                <a:solidFill>
                  <a:srgbClr val="1E2D44"/>
                </a:solidFill>
                <a:latin typeface="Karla"/>
              </a:rPr>
              <a:t>D3 Yellow</a:t>
            </a:r>
          </a:p>
          <a:p>
            <a:pPr algn="r">
              <a:spcBef>
                <a:spcPts val="0"/>
              </a:spcBef>
              <a:spcAft>
                <a:spcPts val="0"/>
              </a:spcAft>
            </a:pPr>
            <a:r>
              <a:rPr sz="1200" b="0" i="0">
                <a:solidFill>
                  <a:srgbClr val="1E2D44"/>
                </a:solidFill>
                <a:latin typeface="Karla"/>
              </a:rPr>
              <a:t>Wrapper</a:t>
            </a:r>
          </a:p>
        </p:txBody>
      </p:sp>
      <p:sp>
        <p:nvSpPr>
          <p:cNvPr id="45" name="Rectangle 44"/>
          <p:cNvSpPr/>
          <p:nvPr/>
        </p:nvSpPr>
        <p:spPr>
          <a:xfrm>
            <a:off x="2167128" y="4123944"/>
            <a:ext cx="1939747"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161739" y="4123944"/>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+8</a:t>
            </a:r>
          </a:p>
        </p:txBody>
      </p:sp>
      <p:sp>
        <p:nvSpPr>
          <p:cNvPr id="47" name="Rectangle 46"/>
          <p:cNvSpPr/>
          <p:nvPr/>
        </p:nvSpPr>
        <p:spPr>
          <a:xfrm>
            <a:off x="2167128" y="4247388"/>
            <a:ext cx="4606899"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828891" y="4247388"/>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+19</a:t>
            </a:r>
          </a:p>
        </p:txBody>
      </p:sp>
      <p:sp>
        <p:nvSpPr>
          <p:cNvPr id="49" name="Rectangle 48"/>
          <p:cNvSpPr/>
          <p:nvPr/>
        </p:nvSpPr>
        <p:spPr>
          <a:xfrm>
            <a:off x="2167128" y="4370831"/>
            <a:ext cx="2909620"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131612" y="4370831"/>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+12</a:t>
            </a:r>
          </a:p>
        </p:txBody>
      </p:sp>
      <p:sp>
        <p:nvSpPr>
          <p:cNvPr id="51" name="Rectangle 50"/>
          <p:cNvSpPr/>
          <p:nvPr/>
        </p:nvSpPr>
        <p:spPr>
          <a:xfrm>
            <a:off x="2167128" y="4494276"/>
            <a:ext cx="484936"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706928" y="4494276"/>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+2</a:t>
            </a:r>
          </a:p>
        </p:txBody>
      </p:sp>
      <p:sp>
        <p:nvSpPr>
          <p:cNvPr id="53" name="Rectangle 52"/>
          <p:cNvSpPr/>
          <p:nvPr/>
        </p:nvSpPr>
        <p:spPr>
          <a:xfrm>
            <a:off x="823975" y="5161788"/>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97711" y="5102352"/>
            <a:ext cx="149352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Other (basesize = 10)</a:t>
            </a:r>
          </a:p>
        </p:txBody>
      </p:sp>
      <p:sp>
        <p:nvSpPr>
          <p:cNvPr id="55" name="Rectangle 54"/>
          <p:cNvSpPr/>
          <p:nvPr/>
        </p:nvSpPr>
        <p:spPr>
          <a:xfrm>
            <a:off x="2747263" y="5161788"/>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920999" y="5102352"/>
            <a:ext cx="199136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Protein bars (basesize = 52)</a:t>
            </a:r>
          </a:p>
        </p:txBody>
      </p:sp>
      <p:sp>
        <p:nvSpPr>
          <p:cNvPr id="57" name="Rectangle 56"/>
          <p:cNvSpPr/>
          <p:nvPr/>
        </p:nvSpPr>
        <p:spPr>
          <a:xfrm>
            <a:off x="5168391" y="5161788"/>
            <a:ext cx="100584" cy="10058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342127" y="5102352"/>
            <a:ext cx="220472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Protein cookies (basesize = 80)</a:t>
            </a:r>
          </a:p>
        </p:txBody>
      </p:sp>
      <p:sp>
        <p:nvSpPr>
          <p:cNvPr id="59" name="Rectangle 58"/>
          <p:cNvSpPr/>
          <p:nvPr/>
        </p:nvSpPr>
        <p:spPr>
          <a:xfrm>
            <a:off x="3473703" y="5381244"/>
            <a:ext cx="100584" cy="100584"/>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647439" y="5321808"/>
            <a:ext cx="206248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Protein powder (basesize = 8)</a:t>
            </a:r>
          </a:p>
        </p:txBody>
      </p:sp>
      <p:sp>
        <p:nvSpPr>
          <p:cNvPr id="61" name="Rounded Rectangle 60"/>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7935467" y="601527"/>
            <a:ext cx="1709927" cy="135726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3" name="Picture 62" descr="A8.png"/>
          <p:cNvPicPr>
            <a:picLocks noChangeAspect="1"/>
          </p:cNvPicPr>
          <p:nvPr/>
        </p:nvPicPr>
        <p:blipFill>
          <a:blip r:embed="rId2"/>
          <a:stretch>
            <a:fillRect/>
          </a:stretch>
        </p:blipFill>
        <p:spPr>
          <a:xfrm>
            <a:off x="7949183" y="615243"/>
            <a:ext cx="1682495" cy="1329833"/>
          </a:xfrm>
          <a:prstGeom prst="rect">
            <a:avLst/>
          </a:prstGeom>
        </p:spPr>
      </p:pic>
      <p:sp>
        <p:nvSpPr>
          <p:cNvPr id="64" name="TextBox 63"/>
          <p:cNvSpPr txBox="1"/>
          <p:nvPr/>
        </p:nvSpPr>
        <p:spPr>
          <a:xfrm>
            <a:off x="7912607" y="1999940"/>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A08 D2 Pink Wrapper</a:t>
            </a:r>
          </a:p>
        </p:txBody>
      </p:sp>
      <p:sp>
        <p:nvSpPr>
          <p:cNvPr id="65" name="TextBox 64"/>
          <p:cNvSpPr txBox="1"/>
          <p:nvPr/>
        </p:nvSpPr>
        <p:spPr>
          <a:xfrm>
            <a:off x="7912607" y="2365700"/>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+15*</a:t>
            </a:r>
          </a:p>
        </p:txBody>
      </p:sp>
      <p:sp>
        <p:nvSpPr>
          <p:cNvPr id="66" name="Rectangle 65"/>
          <p:cNvSpPr/>
          <p:nvPr/>
        </p:nvSpPr>
        <p:spPr>
          <a:xfrm>
            <a:off x="9855707" y="601527"/>
            <a:ext cx="1709927" cy="135726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7" name="Picture 66" descr="A9.png"/>
          <p:cNvPicPr>
            <a:picLocks noChangeAspect="1"/>
          </p:cNvPicPr>
          <p:nvPr/>
        </p:nvPicPr>
        <p:blipFill>
          <a:blip r:embed="rId3"/>
          <a:stretch>
            <a:fillRect/>
          </a:stretch>
        </p:blipFill>
        <p:spPr>
          <a:xfrm>
            <a:off x="9869423" y="615243"/>
            <a:ext cx="1682495" cy="1329833"/>
          </a:xfrm>
          <a:prstGeom prst="rect">
            <a:avLst/>
          </a:prstGeom>
        </p:spPr>
      </p:pic>
      <p:sp>
        <p:nvSpPr>
          <p:cNvPr id="68" name="TextBox 67"/>
          <p:cNvSpPr txBox="1"/>
          <p:nvPr/>
        </p:nvSpPr>
        <p:spPr>
          <a:xfrm>
            <a:off x="9832847" y="1999940"/>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A09 D3 Blue Wrapper</a:t>
            </a:r>
          </a:p>
        </p:txBody>
      </p:sp>
      <p:sp>
        <p:nvSpPr>
          <p:cNvPr id="69" name="TextBox 68"/>
          <p:cNvSpPr txBox="1"/>
          <p:nvPr/>
        </p:nvSpPr>
        <p:spPr>
          <a:xfrm>
            <a:off x="9832847" y="2365700"/>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+17*</a:t>
            </a:r>
          </a:p>
        </p:txBody>
      </p:sp>
      <p:sp>
        <p:nvSpPr>
          <p:cNvPr id="70" name="Rectangle 69"/>
          <p:cNvSpPr/>
          <p:nvPr/>
        </p:nvSpPr>
        <p:spPr>
          <a:xfrm>
            <a:off x="7935467" y="3161847"/>
            <a:ext cx="1709927" cy="135726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1" name="Picture 70" descr="A2.png"/>
          <p:cNvPicPr>
            <a:picLocks noChangeAspect="1"/>
          </p:cNvPicPr>
          <p:nvPr/>
        </p:nvPicPr>
        <p:blipFill>
          <a:blip r:embed="rId4"/>
          <a:stretch>
            <a:fillRect/>
          </a:stretch>
        </p:blipFill>
        <p:spPr>
          <a:xfrm>
            <a:off x="7949183" y="3175563"/>
            <a:ext cx="1682495" cy="1329833"/>
          </a:xfrm>
          <a:prstGeom prst="rect">
            <a:avLst/>
          </a:prstGeom>
        </p:spPr>
      </p:pic>
      <p:sp>
        <p:nvSpPr>
          <p:cNvPr id="72" name="TextBox 71"/>
          <p:cNvSpPr txBox="1"/>
          <p:nvPr/>
        </p:nvSpPr>
        <p:spPr>
          <a:xfrm>
            <a:off x="7912607" y="4560260"/>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A02 D1 Orange</a:t>
            </a:r>
          </a:p>
          <a:p>
            <a:pPr algn="ctr">
              <a:spcBef>
                <a:spcPts val="0"/>
              </a:spcBef>
              <a:spcAft>
                <a:spcPts val="0"/>
              </a:spcAft>
            </a:pPr>
            <a:r>
              <a:rPr sz="1200" b="0" i="0">
                <a:solidFill>
                  <a:srgbClr val="1E2D44"/>
                </a:solidFill>
                <a:latin typeface="Karla"/>
              </a:rPr>
              <a:t>Wrapper</a:t>
            </a:r>
          </a:p>
        </p:txBody>
      </p:sp>
      <p:sp>
        <p:nvSpPr>
          <p:cNvPr id="73" name="TextBox 72"/>
          <p:cNvSpPr txBox="1"/>
          <p:nvPr/>
        </p:nvSpPr>
        <p:spPr>
          <a:xfrm>
            <a:off x="7912607" y="4926020"/>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+14*</a:t>
            </a:r>
          </a:p>
        </p:txBody>
      </p:sp>
      <p:sp>
        <p:nvSpPr>
          <p:cNvPr id="74" name="Rectangle 73"/>
          <p:cNvSpPr/>
          <p:nvPr/>
        </p:nvSpPr>
        <p:spPr>
          <a:xfrm>
            <a:off x="9855707" y="3161847"/>
            <a:ext cx="1709927" cy="135726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5" name="Picture 74" descr="A11.png"/>
          <p:cNvPicPr>
            <a:picLocks noChangeAspect="1"/>
          </p:cNvPicPr>
          <p:nvPr/>
        </p:nvPicPr>
        <p:blipFill>
          <a:blip r:embed="rId5"/>
          <a:stretch>
            <a:fillRect/>
          </a:stretch>
        </p:blipFill>
        <p:spPr>
          <a:xfrm>
            <a:off x="9869423" y="3175563"/>
            <a:ext cx="1682495" cy="1329833"/>
          </a:xfrm>
          <a:prstGeom prst="rect">
            <a:avLst/>
          </a:prstGeom>
        </p:spPr>
      </p:pic>
      <p:sp>
        <p:nvSpPr>
          <p:cNvPr id="76" name="TextBox 75"/>
          <p:cNvSpPr txBox="1"/>
          <p:nvPr/>
        </p:nvSpPr>
        <p:spPr>
          <a:xfrm>
            <a:off x="9832847" y="4560260"/>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D3 Yellow Wrapper</a:t>
            </a:r>
          </a:p>
        </p:txBody>
      </p:sp>
      <p:sp>
        <p:nvSpPr>
          <p:cNvPr id="77" name="TextBox 76"/>
          <p:cNvSpPr txBox="1"/>
          <p:nvPr/>
        </p:nvSpPr>
        <p:spPr>
          <a:xfrm>
            <a:off x="9832847" y="4926020"/>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+10*</a:t>
            </a:r>
          </a:p>
        </p:txBody>
      </p:sp>
      <p:sp>
        <p:nvSpPr>
          <p:cNvPr id="78" name="Rounded Rectangle 77"/>
          <p:cNvSpPr/>
          <p:nvPr/>
        </p:nvSpPr>
        <p:spPr>
          <a:xfrm>
            <a:off x="502920" y="5632704"/>
            <a:ext cx="11268455" cy="676656"/>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200" b="0">
                <a:solidFill>
                  <a:srgbClr val="1E2D44"/>
                </a:solidFill>
                <a:latin typeface="Karla"/>
              </a:rPr>
              <a:t>Other favors A07 D2 Yellow Wrapper; Protein bars favor A06 D2 Orange Wrapper; Protein cookies favor A01 D1 Blue Wrapper; Protein powder favors A07 D2 Yellow Wrapper. The widest segment gap is A01 D1 Blue Wrapper: +7 other / +8 protein bars / +18 protein cookies / -3 protein powder.</a:t>
            </a:r>
          </a:p>
        </p:txBody>
      </p:sp>
      <p:sp>
        <p:nvSpPr>
          <p:cNvPr id="79" name="Rectangle 78"/>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Top-2 scores rounded to whole points. *Average of the groups in the legend.</a:t>
            </a:r>
          </a:p>
        </p:txBody>
      </p:sp>
      <p:sp>
        <p:nvSpPr>
          <p:cNvPr id="81" name="TextBox 80"/>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37744"/>
            <a:ext cx="7043927" cy="182880"/>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KEY FINDINGS: A_BACKGROUND  ·  What would be your ideal way to consume protein-enriched products?   ·   3 of 3</a:t>
            </a:r>
          </a:p>
        </p:txBody>
      </p:sp>
      <p:sp>
        <p:nvSpPr>
          <p:cNvPr id="3" name="TextBox 2"/>
          <p:cNvSpPr txBox="1"/>
          <p:nvPr/>
        </p:nvSpPr>
        <p:spPr>
          <a:xfrm>
            <a:off x="502920" y="438912"/>
            <a:ext cx="7043927" cy="365760"/>
          </a:xfrm>
          <a:prstGeom prst="rect">
            <a:avLst/>
          </a:prstGeom>
          <a:noFill/>
        </p:spPr>
        <p:txBody>
          <a:bodyPr wrap="square" anchor="t" lIns="0" rIns="0" tIns="0" bIns="0"/>
          <a:lstStyle/>
          <a:p>
            <a:pPr algn="l">
              <a:spcBef>
                <a:spcPts val="0"/>
              </a:spcBef>
              <a:spcAft>
                <a:spcPts val="0"/>
              </a:spcAft>
            </a:pPr>
            <a:r>
              <a:rPr sz="2600" b="1" i="0">
                <a:solidFill>
                  <a:srgbClr val="1E2D44"/>
                </a:solidFill>
                <a:latin typeface="Karla"/>
              </a:rPr>
              <a:t>A_Background splits across the groups</a:t>
            </a:r>
          </a:p>
        </p:txBody>
      </p:sp>
      <p:sp>
        <p:nvSpPr>
          <p:cNvPr id="4" name="TextBox 3"/>
          <p:cNvSpPr txBox="1"/>
          <p:nvPr/>
        </p:nvSpPr>
        <p:spPr>
          <a:xfrm>
            <a:off x="502920" y="822960"/>
            <a:ext cx="7043927" cy="475488"/>
          </a:xfrm>
          <a:prstGeom prst="rect">
            <a:avLst/>
          </a:prstGeom>
          <a:noFill/>
        </p:spPr>
        <p:txBody>
          <a:bodyPr wrap="square" anchor="t" lIns="0" rIns="0" tIns="0" bIns="0"/>
          <a:lstStyle/>
          <a:p>
            <a:pPr algn="l">
              <a:spcBef>
                <a:spcPts val="0"/>
              </a:spcBef>
              <a:spcAft>
                <a:spcPts val="0"/>
              </a:spcAft>
            </a:pPr>
            <a:r>
              <a:rPr sz="1200" b="0" i="0">
                <a:solidFill>
                  <a:srgbClr val="617086"/>
                </a:solidFill>
                <a:latin typeface="Karla"/>
              </a:rPr>
              <a:t>Other favors A07 D2 Yellow Wrapper; Protein bars favor A06 D2 Orange Wrapper; Protein cookies favor A01 D1 Blue Wrapper; Protein powder favors A07 D2 Yellow Wrapper.</a:t>
            </a:r>
          </a:p>
        </p:txBody>
      </p:sp>
      <p:sp>
        <p:nvSpPr>
          <p:cNvPr id="5" name="Rectangle 4"/>
          <p:cNvSpPr/>
          <p:nvPr/>
        </p:nvSpPr>
        <p:spPr>
          <a:xfrm>
            <a:off x="502920" y="1335024"/>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A_BACKGROUND</a:t>
            </a:r>
          </a:p>
        </p:txBody>
      </p:sp>
      <p:sp>
        <p:nvSpPr>
          <p:cNvPr id="6" name="Rectangle 5"/>
          <p:cNvSpPr/>
          <p:nvPr/>
        </p:nvSpPr>
        <p:spPr>
          <a:xfrm>
            <a:off x="2167128"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74520"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8" name="TextBox 7"/>
          <p:cNvSpPr txBox="1"/>
          <p:nvPr/>
        </p:nvSpPr>
        <p:spPr>
          <a:xfrm>
            <a:off x="3490975"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9" name="Rectangle 8"/>
          <p:cNvSpPr/>
          <p:nvPr/>
        </p:nvSpPr>
        <p:spPr>
          <a:xfrm>
            <a:off x="5400039"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7431"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11" name="Rectangle 10"/>
          <p:cNvSpPr/>
          <p:nvPr/>
        </p:nvSpPr>
        <p:spPr>
          <a:xfrm>
            <a:off x="7016495"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23887"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3" name="Rectangle 12"/>
          <p:cNvSpPr/>
          <p:nvPr/>
        </p:nvSpPr>
        <p:spPr>
          <a:xfrm>
            <a:off x="3783583" y="1645920"/>
            <a:ext cx="10972" cy="30906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167128" y="4736592"/>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1805940"/>
            <a:ext cx="1554480" cy="452628"/>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A01 D1 Blue</a:t>
            </a:r>
          </a:p>
          <a:p>
            <a:pPr algn="r">
              <a:spcBef>
                <a:spcPts val="0"/>
              </a:spcBef>
              <a:spcAft>
                <a:spcPts val="0"/>
              </a:spcAft>
            </a:pPr>
            <a:r>
              <a:rPr sz="1100" b="0" i="0">
                <a:solidFill>
                  <a:srgbClr val="1E2D44"/>
                </a:solidFill>
                <a:latin typeface="Karla"/>
              </a:rPr>
              <a:t>Wrapper</a:t>
            </a:r>
          </a:p>
        </p:txBody>
      </p:sp>
      <p:sp>
        <p:nvSpPr>
          <p:cNvPr id="16" name="Rectangle 15"/>
          <p:cNvSpPr/>
          <p:nvPr/>
        </p:nvSpPr>
        <p:spPr>
          <a:xfrm>
            <a:off x="3783583" y="1805940"/>
            <a:ext cx="1131519"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969967" y="1805940"/>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+7</a:t>
            </a:r>
          </a:p>
        </p:txBody>
      </p:sp>
      <p:sp>
        <p:nvSpPr>
          <p:cNvPr id="18" name="Rectangle 17"/>
          <p:cNvSpPr/>
          <p:nvPr/>
        </p:nvSpPr>
        <p:spPr>
          <a:xfrm>
            <a:off x="3783583" y="1929384"/>
            <a:ext cx="1293164"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31612" y="1929384"/>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+8</a:t>
            </a:r>
          </a:p>
        </p:txBody>
      </p:sp>
      <p:sp>
        <p:nvSpPr>
          <p:cNvPr id="20" name="Rectangle 19"/>
          <p:cNvSpPr/>
          <p:nvPr/>
        </p:nvSpPr>
        <p:spPr>
          <a:xfrm>
            <a:off x="3783583" y="2052828"/>
            <a:ext cx="2909620"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48068" y="2052828"/>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+18</a:t>
            </a:r>
          </a:p>
        </p:txBody>
      </p:sp>
      <p:sp>
        <p:nvSpPr>
          <p:cNvPr id="22" name="Rectangle 21"/>
          <p:cNvSpPr/>
          <p:nvPr/>
        </p:nvSpPr>
        <p:spPr>
          <a:xfrm>
            <a:off x="3298647" y="2176272"/>
            <a:ext cx="484936"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86583" y="2176272"/>
            <a:ext cx="457200" cy="82296"/>
          </a:xfrm>
          <a:prstGeom prst="rect">
            <a:avLst/>
          </a:prstGeom>
          <a:noFill/>
        </p:spPr>
        <p:txBody>
          <a:bodyPr wrap="none" anchor="ctr" lIns="0" rIns="0" tIns="0" bIns="0"/>
          <a:lstStyle/>
          <a:p>
            <a:pPr algn="r">
              <a:spcBef>
                <a:spcPts val="0"/>
              </a:spcBef>
              <a:spcAft>
                <a:spcPts val="0"/>
              </a:spcAft>
            </a:pPr>
            <a:r>
              <a:rPr sz="1000" b="1" i="0">
                <a:solidFill>
                  <a:srgbClr val="1D4E89"/>
                </a:solidFill>
                <a:latin typeface="Karla"/>
              </a:rPr>
              <a:t>-3</a:t>
            </a:r>
          </a:p>
        </p:txBody>
      </p:sp>
      <p:sp>
        <p:nvSpPr>
          <p:cNvPr id="24" name="TextBox 23"/>
          <p:cNvSpPr txBox="1"/>
          <p:nvPr/>
        </p:nvSpPr>
        <p:spPr>
          <a:xfrm>
            <a:off x="502920" y="2578608"/>
            <a:ext cx="1554480" cy="452628"/>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A04 D1 Pink</a:t>
            </a:r>
          </a:p>
          <a:p>
            <a:pPr algn="r">
              <a:spcBef>
                <a:spcPts val="0"/>
              </a:spcBef>
              <a:spcAft>
                <a:spcPts val="0"/>
              </a:spcAft>
            </a:pPr>
            <a:r>
              <a:rPr sz="1100" b="0" i="0">
                <a:solidFill>
                  <a:srgbClr val="1E2D44"/>
                </a:solidFill>
                <a:latin typeface="Karla"/>
              </a:rPr>
              <a:t>Wrapper</a:t>
            </a:r>
          </a:p>
        </p:txBody>
      </p:sp>
      <p:sp>
        <p:nvSpPr>
          <p:cNvPr id="25" name="Rectangle 24"/>
          <p:cNvSpPr/>
          <p:nvPr/>
        </p:nvSpPr>
        <p:spPr>
          <a:xfrm>
            <a:off x="3783583" y="2578608"/>
            <a:ext cx="484936"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23384" y="2578608"/>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+3</a:t>
            </a:r>
          </a:p>
        </p:txBody>
      </p:sp>
      <p:sp>
        <p:nvSpPr>
          <p:cNvPr id="27" name="Rectangle 26"/>
          <p:cNvSpPr/>
          <p:nvPr/>
        </p:nvSpPr>
        <p:spPr>
          <a:xfrm>
            <a:off x="3783583" y="2702052"/>
            <a:ext cx="2747975"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6422" y="2702052"/>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+17</a:t>
            </a:r>
          </a:p>
        </p:txBody>
      </p:sp>
      <p:sp>
        <p:nvSpPr>
          <p:cNvPr id="29" name="Rectangle 28"/>
          <p:cNvSpPr/>
          <p:nvPr/>
        </p:nvSpPr>
        <p:spPr>
          <a:xfrm>
            <a:off x="3783583" y="2825496"/>
            <a:ext cx="2101392"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39840" y="2825496"/>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+13</a:t>
            </a:r>
          </a:p>
        </p:txBody>
      </p:sp>
      <p:sp>
        <p:nvSpPr>
          <p:cNvPr id="31" name="Rectangle 30"/>
          <p:cNvSpPr/>
          <p:nvPr/>
        </p:nvSpPr>
        <p:spPr>
          <a:xfrm>
            <a:off x="3783583" y="2948939"/>
            <a:ext cx="1293164"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131612" y="2948939"/>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+8</a:t>
            </a:r>
          </a:p>
        </p:txBody>
      </p:sp>
      <p:sp>
        <p:nvSpPr>
          <p:cNvPr id="33" name="TextBox 32"/>
          <p:cNvSpPr txBox="1"/>
          <p:nvPr/>
        </p:nvSpPr>
        <p:spPr>
          <a:xfrm>
            <a:off x="502920" y="3351276"/>
            <a:ext cx="1554480" cy="452628"/>
          </a:xfrm>
          <a:prstGeom prst="rect">
            <a:avLst/>
          </a:prstGeom>
          <a:noFill/>
        </p:spPr>
        <p:txBody>
          <a:bodyPr wrap="none" anchor="ctr" lIns="0" rIns="0" tIns="0" bIns="0"/>
          <a:lstStyle/>
          <a:p>
            <a:pPr algn="r">
              <a:spcBef>
                <a:spcPts val="0"/>
              </a:spcBef>
              <a:spcAft>
                <a:spcPts val="0"/>
              </a:spcAft>
            </a:pPr>
            <a:r>
              <a:rPr sz="1200" b="0" i="0">
                <a:solidFill>
                  <a:srgbClr val="1E2D44"/>
                </a:solidFill>
                <a:latin typeface="Karla"/>
              </a:rPr>
              <a:t>D3 Orange</a:t>
            </a:r>
          </a:p>
          <a:p>
            <a:pPr algn="r">
              <a:spcBef>
                <a:spcPts val="0"/>
              </a:spcBef>
              <a:spcAft>
                <a:spcPts val="0"/>
              </a:spcAft>
            </a:pPr>
            <a:r>
              <a:rPr sz="1200" b="0" i="0">
                <a:solidFill>
                  <a:srgbClr val="1E2D44"/>
                </a:solidFill>
                <a:latin typeface="Karla"/>
              </a:rPr>
              <a:t>Wrapper</a:t>
            </a:r>
          </a:p>
        </p:txBody>
      </p:sp>
      <p:sp>
        <p:nvSpPr>
          <p:cNvPr id="34" name="Rectangle 33"/>
          <p:cNvSpPr/>
          <p:nvPr/>
        </p:nvSpPr>
        <p:spPr>
          <a:xfrm>
            <a:off x="3783583" y="3351276"/>
            <a:ext cx="323291"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161739" y="3351276"/>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+2</a:t>
            </a:r>
          </a:p>
        </p:txBody>
      </p:sp>
      <p:sp>
        <p:nvSpPr>
          <p:cNvPr id="36" name="Rectangle 35"/>
          <p:cNvSpPr/>
          <p:nvPr/>
        </p:nvSpPr>
        <p:spPr>
          <a:xfrm>
            <a:off x="3783583" y="3474720"/>
            <a:ext cx="2747975"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86422" y="3474720"/>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+17</a:t>
            </a:r>
          </a:p>
        </p:txBody>
      </p:sp>
      <p:sp>
        <p:nvSpPr>
          <p:cNvPr id="38" name="Rectangle 37"/>
          <p:cNvSpPr/>
          <p:nvPr/>
        </p:nvSpPr>
        <p:spPr>
          <a:xfrm>
            <a:off x="3783583" y="3598164"/>
            <a:ext cx="2747975"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586422" y="3598164"/>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+17</a:t>
            </a:r>
          </a:p>
        </p:txBody>
      </p:sp>
      <p:sp>
        <p:nvSpPr>
          <p:cNvPr id="40" name="Rectangle 39"/>
          <p:cNvSpPr/>
          <p:nvPr/>
        </p:nvSpPr>
        <p:spPr>
          <a:xfrm>
            <a:off x="3783583" y="3721608"/>
            <a:ext cx="1131519"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969967" y="3721608"/>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+7</a:t>
            </a:r>
          </a:p>
        </p:txBody>
      </p:sp>
      <p:sp>
        <p:nvSpPr>
          <p:cNvPr id="42" name="TextBox 41"/>
          <p:cNvSpPr txBox="1"/>
          <p:nvPr/>
        </p:nvSpPr>
        <p:spPr>
          <a:xfrm>
            <a:off x="502920" y="4123944"/>
            <a:ext cx="1554480" cy="452628"/>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A03 D1 Yellow</a:t>
            </a:r>
          </a:p>
          <a:p>
            <a:pPr algn="r">
              <a:spcBef>
                <a:spcPts val="0"/>
              </a:spcBef>
              <a:spcAft>
                <a:spcPts val="0"/>
              </a:spcAft>
            </a:pPr>
            <a:r>
              <a:rPr sz="1100" b="0" i="0">
                <a:solidFill>
                  <a:srgbClr val="1E2D44"/>
                </a:solidFill>
                <a:latin typeface="Karla"/>
              </a:rPr>
              <a:t>Wrapper</a:t>
            </a:r>
          </a:p>
        </p:txBody>
      </p:sp>
      <p:sp>
        <p:nvSpPr>
          <p:cNvPr id="43" name="Rectangle 42"/>
          <p:cNvSpPr/>
          <p:nvPr/>
        </p:nvSpPr>
        <p:spPr>
          <a:xfrm>
            <a:off x="3783583" y="4123944"/>
            <a:ext cx="1293164"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131612" y="4123944"/>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+8</a:t>
            </a:r>
          </a:p>
        </p:txBody>
      </p:sp>
      <p:sp>
        <p:nvSpPr>
          <p:cNvPr id="45" name="Rectangle 44"/>
          <p:cNvSpPr/>
          <p:nvPr/>
        </p:nvSpPr>
        <p:spPr>
          <a:xfrm>
            <a:off x="3783583" y="4247388"/>
            <a:ext cx="1293164"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131612" y="4247388"/>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+8</a:t>
            </a:r>
          </a:p>
        </p:txBody>
      </p:sp>
      <p:sp>
        <p:nvSpPr>
          <p:cNvPr id="47" name="Rectangle 46"/>
          <p:cNvSpPr/>
          <p:nvPr/>
        </p:nvSpPr>
        <p:spPr>
          <a:xfrm>
            <a:off x="3783583" y="4370831"/>
            <a:ext cx="1939747"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778194" y="4370831"/>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+12</a:t>
            </a:r>
          </a:p>
        </p:txBody>
      </p:sp>
      <p:sp>
        <p:nvSpPr>
          <p:cNvPr id="49" name="Rectangle 48"/>
          <p:cNvSpPr/>
          <p:nvPr/>
        </p:nvSpPr>
        <p:spPr>
          <a:xfrm>
            <a:off x="3783583" y="4494276"/>
            <a:ext cx="1616455"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454903" y="4494276"/>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+10</a:t>
            </a:r>
          </a:p>
        </p:txBody>
      </p:sp>
      <p:sp>
        <p:nvSpPr>
          <p:cNvPr id="51" name="Rectangle 50"/>
          <p:cNvSpPr/>
          <p:nvPr/>
        </p:nvSpPr>
        <p:spPr>
          <a:xfrm>
            <a:off x="823975" y="5161788"/>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97711" y="5102352"/>
            <a:ext cx="149352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Other (basesize = 10)</a:t>
            </a:r>
          </a:p>
        </p:txBody>
      </p:sp>
      <p:sp>
        <p:nvSpPr>
          <p:cNvPr id="53" name="Rectangle 52"/>
          <p:cNvSpPr/>
          <p:nvPr/>
        </p:nvSpPr>
        <p:spPr>
          <a:xfrm>
            <a:off x="2747263" y="5161788"/>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2920999" y="5102352"/>
            <a:ext cx="199136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Protein bars (basesize = 52)</a:t>
            </a:r>
          </a:p>
        </p:txBody>
      </p:sp>
      <p:sp>
        <p:nvSpPr>
          <p:cNvPr id="55" name="Rectangle 54"/>
          <p:cNvSpPr/>
          <p:nvPr/>
        </p:nvSpPr>
        <p:spPr>
          <a:xfrm>
            <a:off x="5168391" y="5161788"/>
            <a:ext cx="100584" cy="10058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342127" y="5102352"/>
            <a:ext cx="220472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Protein cookies (basesize = 80)</a:t>
            </a:r>
          </a:p>
        </p:txBody>
      </p:sp>
      <p:sp>
        <p:nvSpPr>
          <p:cNvPr id="57" name="Rectangle 56"/>
          <p:cNvSpPr/>
          <p:nvPr/>
        </p:nvSpPr>
        <p:spPr>
          <a:xfrm>
            <a:off x="3473703" y="5381244"/>
            <a:ext cx="100584" cy="100584"/>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647439" y="5321808"/>
            <a:ext cx="206248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Protein powder (basesize = 8)</a:t>
            </a:r>
          </a:p>
        </p:txBody>
      </p:sp>
      <p:sp>
        <p:nvSpPr>
          <p:cNvPr id="59" name="Rounded Rectangle 58"/>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7935467" y="601527"/>
            <a:ext cx="1709927" cy="135726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1" name="Picture 60" descr="A1.png"/>
          <p:cNvPicPr>
            <a:picLocks noChangeAspect="1"/>
          </p:cNvPicPr>
          <p:nvPr/>
        </p:nvPicPr>
        <p:blipFill>
          <a:blip r:embed="rId2"/>
          <a:stretch>
            <a:fillRect/>
          </a:stretch>
        </p:blipFill>
        <p:spPr>
          <a:xfrm>
            <a:off x="7949183" y="615243"/>
            <a:ext cx="1682495" cy="1329833"/>
          </a:xfrm>
          <a:prstGeom prst="rect">
            <a:avLst/>
          </a:prstGeom>
        </p:spPr>
      </p:pic>
      <p:sp>
        <p:nvSpPr>
          <p:cNvPr id="62" name="TextBox 61"/>
          <p:cNvSpPr txBox="1"/>
          <p:nvPr/>
        </p:nvSpPr>
        <p:spPr>
          <a:xfrm>
            <a:off x="7912607" y="1999940"/>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A01 D1 Blue Wrapper</a:t>
            </a:r>
          </a:p>
        </p:txBody>
      </p:sp>
      <p:sp>
        <p:nvSpPr>
          <p:cNvPr id="63" name="TextBox 62"/>
          <p:cNvSpPr txBox="1"/>
          <p:nvPr/>
        </p:nvSpPr>
        <p:spPr>
          <a:xfrm>
            <a:off x="7912607" y="2365700"/>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+8*</a:t>
            </a:r>
          </a:p>
        </p:txBody>
      </p:sp>
      <p:sp>
        <p:nvSpPr>
          <p:cNvPr id="64" name="Rectangle 63"/>
          <p:cNvSpPr/>
          <p:nvPr/>
        </p:nvSpPr>
        <p:spPr>
          <a:xfrm>
            <a:off x="9855707" y="601527"/>
            <a:ext cx="1709927" cy="135726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5" name="Picture 64" descr="A4.png"/>
          <p:cNvPicPr>
            <a:picLocks noChangeAspect="1"/>
          </p:cNvPicPr>
          <p:nvPr/>
        </p:nvPicPr>
        <p:blipFill>
          <a:blip r:embed="rId3"/>
          <a:stretch>
            <a:fillRect/>
          </a:stretch>
        </p:blipFill>
        <p:spPr>
          <a:xfrm>
            <a:off x="9869423" y="615243"/>
            <a:ext cx="1682495" cy="1329833"/>
          </a:xfrm>
          <a:prstGeom prst="rect">
            <a:avLst/>
          </a:prstGeom>
        </p:spPr>
      </p:pic>
      <p:sp>
        <p:nvSpPr>
          <p:cNvPr id="66" name="TextBox 65"/>
          <p:cNvSpPr txBox="1"/>
          <p:nvPr/>
        </p:nvSpPr>
        <p:spPr>
          <a:xfrm>
            <a:off x="9832847" y="1999940"/>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A04 D1 Pink Wrapper</a:t>
            </a:r>
          </a:p>
        </p:txBody>
      </p:sp>
      <p:sp>
        <p:nvSpPr>
          <p:cNvPr id="67" name="TextBox 66"/>
          <p:cNvSpPr txBox="1"/>
          <p:nvPr/>
        </p:nvSpPr>
        <p:spPr>
          <a:xfrm>
            <a:off x="9832847" y="2365700"/>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+10*</a:t>
            </a:r>
          </a:p>
        </p:txBody>
      </p:sp>
      <p:sp>
        <p:nvSpPr>
          <p:cNvPr id="68" name="Rectangle 67"/>
          <p:cNvSpPr/>
          <p:nvPr/>
        </p:nvSpPr>
        <p:spPr>
          <a:xfrm>
            <a:off x="7935467" y="3161847"/>
            <a:ext cx="1709927" cy="135726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9" name="Picture 68" descr="A10.png"/>
          <p:cNvPicPr>
            <a:picLocks noChangeAspect="1"/>
          </p:cNvPicPr>
          <p:nvPr/>
        </p:nvPicPr>
        <p:blipFill>
          <a:blip r:embed="rId4"/>
          <a:stretch>
            <a:fillRect/>
          </a:stretch>
        </p:blipFill>
        <p:spPr>
          <a:xfrm>
            <a:off x="7949183" y="3175563"/>
            <a:ext cx="1682495" cy="1329833"/>
          </a:xfrm>
          <a:prstGeom prst="rect">
            <a:avLst/>
          </a:prstGeom>
        </p:spPr>
      </p:pic>
      <p:sp>
        <p:nvSpPr>
          <p:cNvPr id="70" name="TextBox 69"/>
          <p:cNvSpPr txBox="1"/>
          <p:nvPr/>
        </p:nvSpPr>
        <p:spPr>
          <a:xfrm>
            <a:off x="7912607" y="4560260"/>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D3 Orange Wrapper</a:t>
            </a:r>
          </a:p>
        </p:txBody>
      </p:sp>
      <p:sp>
        <p:nvSpPr>
          <p:cNvPr id="71" name="TextBox 70"/>
          <p:cNvSpPr txBox="1"/>
          <p:nvPr/>
        </p:nvSpPr>
        <p:spPr>
          <a:xfrm>
            <a:off x="7912607" y="4926020"/>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+11*</a:t>
            </a:r>
          </a:p>
        </p:txBody>
      </p:sp>
      <p:sp>
        <p:nvSpPr>
          <p:cNvPr id="72" name="Rectangle 71"/>
          <p:cNvSpPr/>
          <p:nvPr/>
        </p:nvSpPr>
        <p:spPr>
          <a:xfrm>
            <a:off x="9855707" y="3161847"/>
            <a:ext cx="1709927" cy="135726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3" name="Picture 72" descr="A3.png"/>
          <p:cNvPicPr>
            <a:picLocks noChangeAspect="1"/>
          </p:cNvPicPr>
          <p:nvPr/>
        </p:nvPicPr>
        <p:blipFill>
          <a:blip r:embed="rId5"/>
          <a:stretch>
            <a:fillRect/>
          </a:stretch>
        </p:blipFill>
        <p:spPr>
          <a:xfrm>
            <a:off x="9869423" y="3175563"/>
            <a:ext cx="1682495" cy="1329833"/>
          </a:xfrm>
          <a:prstGeom prst="rect">
            <a:avLst/>
          </a:prstGeom>
        </p:spPr>
      </p:pic>
      <p:sp>
        <p:nvSpPr>
          <p:cNvPr id="74" name="TextBox 73"/>
          <p:cNvSpPr txBox="1"/>
          <p:nvPr/>
        </p:nvSpPr>
        <p:spPr>
          <a:xfrm>
            <a:off x="9832847" y="4560260"/>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A03 D1 Yellow</a:t>
            </a:r>
          </a:p>
          <a:p>
            <a:pPr algn="ctr">
              <a:spcBef>
                <a:spcPts val="0"/>
              </a:spcBef>
              <a:spcAft>
                <a:spcPts val="0"/>
              </a:spcAft>
            </a:pPr>
            <a:r>
              <a:rPr sz="1200" b="0" i="0">
                <a:solidFill>
                  <a:srgbClr val="1E2D44"/>
                </a:solidFill>
                <a:latin typeface="Karla"/>
              </a:rPr>
              <a:t>Wrapper</a:t>
            </a:r>
          </a:p>
        </p:txBody>
      </p:sp>
      <p:sp>
        <p:nvSpPr>
          <p:cNvPr id="75" name="TextBox 74"/>
          <p:cNvSpPr txBox="1"/>
          <p:nvPr/>
        </p:nvSpPr>
        <p:spPr>
          <a:xfrm>
            <a:off x="9832847" y="4926020"/>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+10*</a:t>
            </a:r>
          </a:p>
        </p:txBody>
      </p:sp>
      <p:sp>
        <p:nvSpPr>
          <p:cNvPr id="76" name="Rounded Rectangle 75"/>
          <p:cNvSpPr/>
          <p:nvPr/>
        </p:nvSpPr>
        <p:spPr>
          <a:xfrm>
            <a:off x="502920" y="5632704"/>
            <a:ext cx="11268455" cy="676656"/>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200" b="0">
                <a:solidFill>
                  <a:srgbClr val="1E2D44"/>
                </a:solidFill>
                <a:latin typeface="Karla"/>
              </a:rPr>
              <a:t>Other favors A07 D2 Yellow Wrapper; Protein bars favor A06 D2 Orange Wrapper; Protein cookies favor A01 D1 Blue Wrapper; Protein powder favors A07 D2 Yellow Wrapper. The widest segment gap is A01 D1 Blue Wrapper: +7 other / +8 protein bars / +18 protein cookies / -3 protein powder.</a:t>
            </a:r>
          </a:p>
        </p:txBody>
      </p:sp>
      <p:sp>
        <p:nvSpPr>
          <p:cNvPr id="77" name="Rectangle 76"/>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Top-2 scores rounded to whole points. *Average of the groups in the legend.</a:t>
            </a:r>
          </a:p>
        </p:txBody>
      </p:sp>
      <p:sp>
        <p:nvSpPr>
          <p:cNvPr id="79" name="TextBox 78"/>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37744"/>
            <a:ext cx="7043927" cy="182880"/>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KEY FINDINGS: A_BACKGROUND  ·  How familiar are you with the Fitspo brand?   ·   1 of 3</a:t>
            </a:r>
          </a:p>
        </p:txBody>
      </p:sp>
      <p:sp>
        <p:nvSpPr>
          <p:cNvPr id="3" name="TextBox 2"/>
          <p:cNvSpPr txBox="1"/>
          <p:nvPr/>
        </p:nvSpPr>
        <p:spPr>
          <a:xfrm>
            <a:off x="502920" y="438912"/>
            <a:ext cx="7043927" cy="365760"/>
          </a:xfrm>
          <a:prstGeom prst="rect">
            <a:avLst/>
          </a:prstGeom>
          <a:noFill/>
        </p:spPr>
        <p:txBody>
          <a:bodyPr wrap="square" anchor="t" lIns="0" rIns="0" tIns="0" bIns="0"/>
          <a:lstStyle/>
          <a:p>
            <a:pPr algn="l">
              <a:spcBef>
                <a:spcPts val="0"/>
              </a:spcBef>
              <a:spcAft>
                <a:spcPts val="0"/>
              </a:spcAft>
            </a:pPr>
            <a:r>
              <a:rPr sz="2600" b="1" i="0">
                <a:solidFill>
                  <a:srgbClr val="1E2D44"/>
                </a:solidFill>
                <a:latin typeface="Karla"/>
              </a:rPr>
              <a:t>A_Background splits across the groups</a:t>
            </a:r>
          </a:p>
        </p:txBody>
      </p:sp>
      <p:sp>
        <p:nvSpPr>
          <p:cNvPr id="4" name="TextBox 3"/>
          <p:cNvSpPr txBox="1"/>
          <p:nvPr/>
        </p:nvSpPr>
        <p:spPr>
          <a:xfrm>
            <a:off x="502920" y="822960"/>
            <a:ext cx="7043927" cy="475488"/>
          </a:xfrm>
          <a:prstGeom prst="rect">
            <a:avLst/>
          </a:prstGeom>
          <a:noFill/>
        </p:spPr>
        <p:txBody>
          <a:bodyPr wrap="square" anchor="t" lIns="0" rIns="0" tIns="0" bIns="0"/>
          <a:lstStyle/>
          <a:p>
            <a:pPr algn="l">
              <a:spcBef>
                <a:spcPts val="0"/>
              </a:spcBef>
              <a:spcAft>
                <a:spcPts val="0"/>
              </a:spcAft>
            </a:pPr>
            <a:r>
              <a:rPr sz="1200" b="0" i="0">
                <a:solidFill>
                  <a:srgbClr val="617086"/>
                </a:solidFill>
                <a:latin typeface="Karla"/>
              </a:rPr>
              <a:t>Heard of it, but know little about it favors A06 D2 Orange Wrapper; Not familiar at all favors A07 D2 Yellow Wrapper; Somewhat familiar favors A06 D2 Orange Wrapper; Very familiar favors A05 D2 Blue Wrapper.</a:t>
            </a:r>
          </a:p>
        </p:txBody>
      </p:sp>
      <p:sp>
        <p:nvSpPr>
          <p:cNvPr id="5" name="Rectangle 4"/>
          <p:cNvSpPr/>
          <p:nvPr/>
        </p:nvSpPr>
        <p:spPr>
          <a:xfrm>
            <a:off x="502920" y="1335024"/>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A_BACKGROUND</a:t>
            </a:r>
          </a:p>
        </p:txBody>
      </p:sp>
      <p:sp>
        <p:nvSpPr>
          <p:cNvPr id="6" name="TextBox 5"/>
          <p:cNvSpPr txBox="1"/>
          <p:nvPr/>
        </p:nvSpPr>
        <p:spPr>
          <a:xfrm>
            <a:off x="1874520"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7" name="Rectangle 6"/>
          <p:cNvSpPr/>
          <p:nvPr/>
        </p:nvSpPr>
        <p:spPr>
          <a:xfrm>
            <a:off x="3783583"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90975"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9" name="Rectangle 8"/>
          <p:cNvSpPr/>
          <p:nvPr/>
        </p:nvSpPr>
        <p:spPr>
          <a:xfrm>
            <a:off x="5400039"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7431"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1" name="Rectangle 10"/>
          <p:cNvSpPr/>
          <p:nvPr/>
        </p:nvSpPr>
        <p:spPr>
          <a:xfrm>
            <a:off x="7016495"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23887"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30</a:t>
            </a:r>
          </a:p>
        </p:txBody>
      </p:sp>
      <p:sp>
        <p:nvSpPr>
          <p:cNvPr id="13" name="Rectangle 12"/>
          <p:cNvSpPr/>
          <p:nvPr/>
        </p:nvSpPr>
        <p:spPr>
          <a:xfrm>
            <a:off x="2167128" y="1645920"/>
            <a:ext cx="10972" cy="30906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167128" y="4736592"/>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1805940"/>
            <a:ext cx="1554480" cy="452628"/>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A05 D2 Blue</a:t>
            </a:r>
          </a:p>
          <a:p>
            <a:pPr algn="r">
              <a:spcBef>
                <a:spcPts val="0"/>
              </a:spcBef>
              <a:spcAft>
                <a:spcPts val="0"/>
              </a:spcAft>
            </a:pPr>
            <a:r>
              <a:rPr sz="1100" b="0" i="0">
                <a:solidFill>
                  <a:srgbClr val="1E2D44"/>
                </a:solidFill>
                <a:latin typeface="Karla"/>
              </a:rPr>
              <a:t>Wrapper</a:t>
            </a:r>
          </a:p>
        </p:txBody>
      </p:sp>
      <p:sp>
        <p:nvSpPr>
          <p:cNvPr id="16" name="Rectangle 15"/>
          <p:cNvSpPr/>
          <p:nvPr/>
        </p:nvSpPr>
        <p:spPr>
          <a:xfrm>
            <a:off x="2167128" y="1805940"/>
            <a:ext cx="1293164"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15156" y="1805940"/>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+8</a:t>
            </a:r>
          </a:p>
        </p:txBody>
      </p:sp>
      <p:sp>
        <p:nvSpPr>
          <p:cNvPr id="18" name="Rectangle 17"/>
          <p:cNvSpPr/>
          <p:nvPr/>
        </p:nvSpPr>
        <p:spPr>
          <a:xfrm>
            <a:off x="2167128" y="1929384"/>
            <a:ext cx="646582"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868574" y="1929384"/>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+4</a:t>
            </a:r>
          </a:p>
        </p:txBody>
      </p:sp>
      <p:sp>
        <p:nvSpPr>
          <p:cNvPr id="20" name="Rectangle 19"/>
          <p:cNvSpPr/>
          <p:nvPr/>
        </p:nvSpPr>
        <p:spPr>
          <a:xfrm>
            <a:off x="2167128" y="2052828"/>
            <a:ext cx="3232911"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54903" y="2052828"/>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+20</a:t>
            </a:r>
          </a:p>
        </p:txBody>
      </p:sp>
      <p:sp>
        <p:nvSpPr>
          <p:cNvPr id="22" name="Rectangle 21"/>
          <p:cNvSpPr/>
          <p:nvPr/>
        </p:nvSpPr>
        <p:spPr>
          <a:xfrm>
            <a:off x="2167128" y="2176272"/>
            <a:ext cx="3556202"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78194" y="2176272"/>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+22</a:t>
            </a:r>
          </a:p>
        </p:txBody>
      </p:sp>
      <p:sp>
        <p:nvSpPr>
          <p:cNvPr id="24" name="TextBox 23"/>
          <p:cNvSpPr txBox="1"/>
          <p:nvPr/>
        </p:nvSpPr>
        <p:spPr>
          <a:xfrm>
            <a:off x="502920" y="2578608"/>
            <a:ext cx="1554480" cy="452628"/>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A09 D3 Blue</a:t>
            </a:r>
          </a:p>
          <a:p>
            <a:pPr algn="r">
              <a:spcBef>
                <a:spcPts val="0"/>
              </a:spcBef>
              <a:spcAft>
                <a:spcPts val="0"/>
              </a:spcAft>
            </a:pPr>
            <a:r>
              <a:rPr sz="1100" b="0" i="0">
                <a:solidFill>
                  <a:srgbClr val="1E2D44"/>
                </a:solidFill>
                <a:latin typeface="Karla"/>
              </a:rPr>
              <a:t>Wrapper</a:t>
            </a:r>
          </a:p>
        </p:txBody>
      </p:sp>
      <p:sp>
        <p:nvSpPr>
          <p:cNvPr id="25" name="Rectangle 24"/>
          <p:cNvSpPr/>
          <p:nvPr/>
        </p:nvSpPr>
        <p:spPr>
          <a:xfrm>
            <a:off x="2167128" y="2578608"/>
            <a:ext cx="1778101"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000093" y="2578608"/>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+11</a:t>
            </a:r>
          </a:p>
        </p:txBody>
      </p:sp>
      <p:sp>
        <p:nvSpPr>
          <p:cNvPr id="27" name="Rectangle 26"/>
          <p:cNvSpPr/>
          <p:nvPr/>
        </p:nvSpPr>
        <p:spPr>
          <a:xfrm>
            <a:off x="2167128" y="2702052"/>
            <a:ext cx="1131519"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353511" y="2702052"/>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+7</a:t>
            </a:r>
          </a:p>
        </p:txBody>
      </p:sp>
      <p:sp>
        <p:nvSpPr>
          <p:cNvPr id="29" name="Rectangle 28"/>
          <p:cNvSpPr/>
          <p:nvPr/>
        </p:nvSpPr>
        <p:spPr>
          <a:xfrm>
            <a:off x="2167128" y="2825496"/>
            <a:ext cx="3394557"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616549" y="2825496"/>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+21</a:t>
            </a:r>
          </a:p>
        </p:txBody>
      </p:sp>
      <p:sp>
        <p:nvSpPr>
          <p:cNvPr id="31" name="Rectangle 30"/>
          <p:cNvSpPr/>
          <p:nvPr/>
        </p:nvSpPr>
        <p:spPr>
          <a:xfrm>
            <a:off x="2167128" y="2948939"/>
            <a:ext cx="3556202"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778194" y="2948939"/>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+22</a:t>
            </a:r>
          </a:p>
        </p:txBody>
      </p:sp>
      <p:sp>
        <p:nvSpPr>
          <p:cNvPr id="33" name="TextBox 32"/>
          <p:cNvSpPr txBox="1"/>
          <p:nvPr/>
        </p:nvSpPr>
        <p:spPr>
          <a:xfrm>
            <a:off x="502920" y="3351276"/>
            <a:ext cx="1554480" cy="452628"/>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A06 D2 Orange</a:t>
            </a:r>
          </a:p>
          <a:p>
            <a:pPr algn="r">
              <a:spcBef>
                <a:spcPts val="0"/>
              </a:spcBef>
              <a:spcAft>
                <a:spcPts val="0"/>
              </a:spcAft>
            </a:pPr>
            <a:r>
              <a:rPr sz="1100" b="0" i="0">
                <a:solidFill>
                  <a:srgbClr val="1E2D44"/>
                </a:solidFill>
                <a:latin typeface="Karla"/>
              </a:rPr>
              <a:t>Wrapper</a:t>
            </a:r>
          </a:p>
        </p:txBody>
      </p:sp>
      <p:sp>
        <p:nvSpPr>
          <p:cNvPr id="34" name="Rectangle 33"/>
          <p:cNvSpPr/>
          <p:nvPr/>
        </p:nvSpPr>
        <p:spPr>
          <a:xfrm>
            <a:off x="2167128" y="3351276"/>
            <a:ext cx="1939747"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161739" y="3351276"/>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+12</a:t>
            </a:r>
          </a:p>
        </p:txBody>
      </p:sp>
      <p:sp>
        <p:nvSpPr>
          <p:cNvPr id="36" name="Rectangle 35"/>
          <p:cNvSpPr/>
          <p:nvPr/>
        </p:nvSpPr>
        <p:spPr>
          <a:xfrm>
            <a:off x="2167128" y="3474720"/>
            <a:ext cx="2101392"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323384" y="3474720"/>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+13</a:t>
            </a:r>
          </a:p>
        </p:txBody>
      </p:sp>
      <p:sp>
        <p:nvSpPr>
          <p:cNvPr id="38" name="Rectangle 37"/>
          <p:cNvSpPr/>
          <p:nvPr/>
        </p:nvSpPr>
        <p:spPr>
          <a:xfrm>
            <a:off x="2167128" y="3598164"/>
            <a:ext cx="3394557"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616549" y="3598164"/>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+21</a:t>
            </a:r>
          </a:p>
        </p:txBody>
      </p:sp>
      <p:sp>
        <p:nvSpPr>
          <p:cNvPr id="40" name="Rectangle 39"/>
          <p:cNvSpPr/>
          <p:nvPr/>
        </p:nvSpPr>
        <p:spPr>
          <a:xfrm>
            <a:off x="2167128" y="3721608"/>
            <a:ext cx="3394557"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616549" y="3721608"/>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+21</a:t>
            </a:r>
          </a:p>
        </p:txBody>
      </p:sp>
      <p:sp>
        <p:nvSpPr>
          <p:cNvPr id="42" name="TextBox 41"/>
          <p:cNvSpPr txBox="1"/>
          <p:nvPr/>
        </p:nvSpPr>
        <p:spPr>
          <a:xfrm>
            <a:off x="502920" y="4123944"/>
            <a:ext cx="1554480" cy="452628"/>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A08 D2 Pink</a:t>
            </a:r>
          </a:p>
          <a:p>
            <a:pPr algn="r">
              <a:spcBef>
                <a:spcPts val="0"/>
              </a:spcBef>
              <a:spcAft>
                <a:spcPts val="0"/>
              </a:spcAft>
            </a:pPr>
            <a:r>
              <a:rPr sz="1100" b="0" i="0">
                <a:solidFill>
                  <a:srgbClr val="1E2D44"/>
                </a:solidFill>
                <a:latin typeface="Karla"/>
              </a:rPr>
              <a:t>Wrapper</a:t>
            </a:r>
          </a:p>
        </p:txBody>
      </p:sp>
      <p:sp>
        <p:nvSpPr>
          <p:cNvPr id="43" name="Rectangle 42"/>
          <p:cNvSpPr/>
          <p:nvPr/>
        </p:nvSpPr>
        <p:spPr>
          <a:xfrm>
            <a:off x="2167128" y="4123944"/>
            <a:ext cx="1131519"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353511" y="4123944"/>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+7</a:t>
            </a:r>
          </a:p>
        </p:txBody>
      </p:sp>
      <p:sp>
        <p:nvSpPr>
          <p:cNvPr id="45" name="Rectangle 44"/>
          <p:cNvSpPr/>
          <p:nvPr/>
        </p:nvSpPr>
        <p:spPr>
          <a:xfrm>
            <a:off x="2167128" y="4247388"/>
            <a:ext cx="1939747"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161739" y="4247388"/>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+12</a:t>
            </a:r>
          </a:p>
        </p:txBody>
      </p:sp>
      <p:sp>
        <p:nvSpPr>
          <p:cNvPr id="47" name="Rectangle 46"/>
          <p:cNvSpPr/>
          <p:nvPr/>
        </p:nvSpPr>
        <p:spPr>
          <a:xfrm>
            <a:off x="2167128" y="4370831"/>
            <a:ext cx="3071266"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293258" y="4370831"/>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+19</a:t>
            </a:r>
          </a:p>
        </p:txBody>
      </p:sp>
      <p:sp>
        <p:nvSpPr>
          <p:cNvPr id="49" name="Rectangle 48"/>
          <p:cNvSpPr/>
          <p:nvPr/>
        </p:nvSpPr>
        <p:spPr>
          <a:xfrm>
            <a:off x="2167128" y="4494276"/>
            <a:ext cx="3394557"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616549" y="4494276"/>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+21</a:t>
            </a:r>
          </a:p>
        </p:txBody>
      </p:sp>
      <p:sp>
        <p:nvSpPr>
          <p:cNvPr id="51" name="Rectangle 50"/>
          <p:cNvSpPr/>
          <p:nvPr/>
        </p:nvSpPr>
        <p:spPr>
          <a:xfrm>
            <a:off x="684783" y="5161788"/>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58519" y="5102352"/>
            <a:ext cx="376936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Heard of it, but know little about it (basesize = 22)</a:t>
            </a:r>
          </a:p>
        </p:txBody>
      </p:sp>
      <p:sp>
        <p:nvSpPr>
          <p:cNvPr id="53" name="Rectangle 52"/>
          <p:cNvSpPr/>
          <p:nvPr/>
        </p:nvSpPr>
        <p:spPr>
          <a:xfrm>
            <a:off x="4883911" y="5161788"/>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057647" y="5102352"/>
            <a:ext cx="248920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Not familiar at all (basesize = 25)</a:t>
            </a:r>
          </a:p>
        </p:txBody>
      </p:sp>
      <p:sp>
        <p:nvSpPr>
          <p:cNvPr id="55" name="Rectangle 54"/>
          <p:cNvSpPr/>
          <p:nvPr/>
        </p:nvSpPr>
        <p:spPr>
          <a:xfrm>
            <a:off x="2085339" y="5381244"/>
            <a:ext cx="100584" cy="10058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259075" y="5321808"/>
            <a:ext cx="234696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Somewhat familiar (basesize = 49)</a:t>
            </a:r>
          </a:p>
        </p:txBody>
      </p:sp>
      <p:sp>
        <p:nvSpPr>
          <p:cNvPr id="57" name="Rectangle 56"/>
          <p:cNvSpPr/>
          <p:nvPr/>
        </p:nvSpPr>
        <p:spPr>
          <a:xfrm>
            <a:off x="4862067" y="5381244"/>
            <a:ext cx="100584" cy="100584"/>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035803" y="5321808"/>
            <a:ext cx="206248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Very familiar (basesize = 54)</a:t>
            </a:r>
          </a:p>
        </p:txBody>
      </p:sp>
      <p:sp>
        <p:nvSpPr>
          <p:cNvPr id="59" name="Rounded Rectangle 58"/>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7935467" y="601527"/>
            <a:ext cx="1709927" cy="135726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1" name="Picture 60" descr="A5.png"/>
          <p:cNvPicPr>
            <a:picLocks noChangeAspect="1"/>
          </p:cNvPicPr>
          <p:nvPr/>
        </p:nvPicPr>
        <p:blipFill>
          <a:blip r:embed="rId2"/>
          <a:stretch>
            <a:fillRect/>
          </a:stretch>
        </p:blipFill>
        <p:spPr>
          <a:xfrm>
            <a:off x="7949183" y="615243"/>
            <a:ext cx="1682495" cy="1329833"/>
          </a:xfrm>
          <a:prstGeom prst="rect">
            <a:avLst/>
          </a:prstGeom>
        </p:spPr>
      </p:pic>
      <p:sp>
        <p:nvSpPr>
          <p:cNvPr id="62" name="TextBox 61"/>
          <p:cNvSpPr txBox="1"/>
          <p:nvPr/>
        </p:nvSpPr>
        <p:spPr>
          <a:xfrm>
            <a:off x="7912607" y="1999940"/>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A05 D2 Blue Wrapper</a:t>
            </a:r>
          </a:p>
        </p:txBody>
      </p:sp>
      <p:sp>
        <p:nvSpPr>
          <p:cNvPr id="63" name="TextBox 62"/>
          <p:cNvSpPr txBox="1"/>
          <p:nvPr/>
        </p:nvSpPr>
        <p:spPr>
          <a:xfrm>
            <a:off x="7912607" y="2365700"/>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+14*</a:t>
            </a:r>
          </a:p>
        </p:txBody>
      </p:sp>
      <p:sp>
        <p:nvSpPr>
          <p:cNvPr id="64" name="Rectangle 63"/>
          <p:cNvSpPr/>
          <p:nvPr/>
        </p:nvSpPr>
        <p:spPr>
          <a:xfrm>
            <a:off x="9855707" y="601527"/>
            <a:ext cx="1709927" cy="135726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5" name="Picture 64" descr="A9.png"/>
          <p:cNvPicPr>
            <a:picLocks noChangeAspect="1"/>
          </p:cNvPicPr>
          <p:nvPr/>
        </p:nvPicPr>
        <p:blipFill>
          <a:blip r:embed="rId3"/>
          <a:stretch>
            <a:fillRect/>
          </a:stretch>
        </p:blipFill>
        <p:spPr>
          <a:xfrm>
            <a:off x="9869423" y="615243"/>
            <a:ext cx="1682495" cy="1329833"/>
          </a:xfrm>
          <a:prstGeom prst="rect">
            <a:avLst/>
          </a:prstGeom>
        </p:spPr>
      </p:pic>
      <p:sp>
        <p:nvSpPr>
          <p:cNvPr id="66" name="TextBox 65"/>
          <p:cNvSpPr txBox="1"/>
          <p:nvPr/>
        </p:nvSpPr>
        <p:spPr>
          <a:xfrm>
            <a:off x="9832847" y="1999940"/>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A09 D3 Blue Wrapper</a:t>
            </a:r>
          </a:p>
        </p:txBody>
      </p:sp>
      <p:sp>
        <p:nvSpPr>
          <p:cNvPr id="67" name="TextBox 66"/>
          <p:cNvSpPr txBox="1"/>
          <p:nvPr/>
        </p:nvSpPr>
        <p:spPr>
          <a:xfrm>
            <a:off x="9832847" y="2365700"/>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+15*</a:t>
            </a:r>
          </a:p>
        </p:txBody>
      </p:sp>
      <p:sp>
        <p:nvSpPr>
          <p:cNvPr id="68" name="Rectangle 67"/>
          <p:cNvSpPr/>
          <p:nvPr/>
        </p:nvSpPr>
        <p:spPr>
          <a:xfrm>
            <a:off x="7935467" y="3161847"/>
            <a:ext cx="1709927" cy="135726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9" name="Picture 68" descr="A6.png"/>
          <p:cNvPicPr>
            <a:picLocks noChangeAspect="1"/>
          </p:cNvPicPr>
          <p:nvPr/>
        </p:nvPicPr>
        <p:blipFill>
          <a:blip r:embed="rId4"/>
          <a:stretch>
            <a:fillRect/>
          </a:stretch>
        </p:blipFill>
        <p:spPr>
          <a:xfrm>
            <a:off x="7949183" y="3175563"/>
            <a:ext cx="1682495" cy="1329833"/>
          </a:xfrm>
          <a:prstGeom prst="rect">
            <a:avLst/>
          </a:prstGeom>
        </p:spPr>
      </p:pic>
      <p:sp>
        <p:nvSpPr>
          <p:cNvPr id="70" name="TextBox 69"/>
          <p:cNvSpPr txBox="1"/>
          <p:nvPr/>
        </p:nvSpPr>
        <p:spPr>
          <a:xfrm>
            <a:off x="7912607" y="4560260"/>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A06 D2 Orange</a:t>
            </a:r>
          </a:p>
          <a:p>
            <a:pPr algn="ctr">
              <a:spcBef>
                <a:spcPts val="0"/>
              </a:spcBef>
              <a:spcAft>
                <a:spcPts val="0"/>
              </a:spcAft>
            </a:pPr>
            <a:r>
              <a:rPr sz="1200" b="0" i="0">
                <a:solidFill>
                  <a:srgbClr val="1E2D44"/>
                </a:solidFill>
                <a:latin typeface="Karla"/>
              </a:rPr>
              <a:t>Wrapper</a:t>
            </a:r>
          </a:p>
        </p:txBody>
      </p:sp>
      <p:sp>
        <p:nvSpPr>
          <p:cNvPr id="71" name="TextBox 70"/>
          <p:cNvSpPr txBox="1"/>
          <p:nvPr/>
        </p:nvSpPr>
        <p:spPr>
          <a:xfrm>
            <a:off x="7912607" y="4926020"/>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+17*</a:t>
            </a:r>
          </a:p>
        </p:txBody>
      </p:sp>
      <p:sp>
        <p:nvSpPr>
          <p:cNvPr id="72" name="Rectangle 71"/>
          <p:cNvSpPr/>
          <p:nvPr/>
        </p:nvSpPr>
        <p:spPr>
          <a:xfrm>
            <a:off x="9855707" y="3161847"/>
            <a:ext cx="1709927" cy="135726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3" name="Picture 72" descr="A8.png"/>
          <p:cNvPicPr>
            <a:picLocks noChangeAspect="1"/>
          </p:cNvPicPr>
          <p:nvPr/>
        </p:nvPicPr>
        <p:blipFill>
          <a:blip r:embed="rId5"/>
          <a:stretch>
            <a:fillRect/>
          </a:stretch>
        </p:blipFill>
        <p:spPr>
          <a:xfrm>
            <a:off x="9869423" y="3175563"/>
            <a:ext cx="1682495" cy="1329833"/>
          </a:xfrm>
          <a:prstGeom prst="rect">
            <a:avLst/>
          </a:prstGeom>
        </p:spPr>
      </p:pic>
      <p:sp>
        <p:nvSpPr>
          <p:cNvPr id="74" name="TextBox 73"/>
          <p:cNvSpPr txBox="1"/>
          <p:nvPr/>
        </p:nvSpPr>
        <p:spPr>
          <a:xfrm>
            <a:off x="9832847" y="4560260"/>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A08 D2 Pink Wrapper</a:t>
            </a:r>
          </a:p>
        </p:txBody>
      </p:sp>
      <p:sp>
        <p:nvSpPr>
          <p:cNvPr id="75" name="TextBox 74"/>
          <p:cNvSpPr txBox="1"/>
          <p:nvPr/>
        </p:nvSpPr>
        <p:spPr>
          <a:xfrm>
            <a:off x="9832847" y="4926020"/>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+15*</a:t>
            </a:r>
          </a:p>
        </p:txBody>
      </p:sp>
      <p:sp>
        <p:nvSpPr>
          <p:cNvPr id="76" name="Rounded Rectangle 75"/>
          <p:cNvSpPr/>
          <p:nvPr/>
        </p:nvSpPr>
        <p:spPr>
          <a:xfrm>
            <a:off x="502920" y="5632704"/>
            <a:ext cx="11268455" cy="676656"/>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200" b="0">
                <a:solidFill>
                  <a:srgbClr val="1E2D44"/>
                </a:solidFill>
                <a:latin typeface="Karla"/>
              </a:rPr>
              <a:t>Heard of it, but know little about it favors A06 D2 Orange Wrapper; Not familiar at all favors A07 D2 Yellow Wrapper; Somewhat familiar favors A06 D2 Orange Wrapper; Very familiar favors A05 D2 Blue Wrapper. The widest segment gap is D3 Yellow Wrapper: -4 heard of it, but know little about it / +8 not familiar at all / +17 somewhat familiar / +20 very familiar.</a:t>
            </a:r>
          </a:p>
        </p:txBody>
      </p:sp>
      <p:sp>
        <p:nvSpPr>
          <p:cNvPr id="77" name="Rectangle 76"/>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Top-2 scores rounded to whole points. *Average of the groups in the legend.</a:t>
            </a:r>
          </a:p>
        </p:txBody>
      </p:sp>
      <p:sp>
        <p:nvSpPr>
          <p:cNvPr id="79" name="TextBox 78"/>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37744"/>
            <a:ext cx="7043927" cy="182880"/>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KEY FINDINGS: A_BACKGROUND  ·  How familiar are you with the Fitspo brand?   ·   2 of 3</a:t>
            </a:r>
          </a:p>
        </p:txBody>
      </p:sp>
      <p:sp>
        <p:nvSpPr>
          <p:cNvPr id="3" name="TextBox 2"/>
          <p:cNvSpPr txBox="1"/>
          <p:nvPr/>
        </p:nvSpPr>
        <p:spPr>
          <a:xfrm>
            <a:off x="502920" y="438912"/>
            <a:ext cx="7043927" cy="365760"/>
          </a:xfrm>
          <a:prstGeom prst="rect">
            <a:avLst/>
          </a:prstGeom>
          <a:noFill/>
        </p:spPr>
        <p:txBody>
          <a:bodyPr wrap="square" anchor="t" lIns="0" rIns="0" tIns="0" bIns="0"/>
          <a:lstStyle/>
          <a:p>
            <a:pPr algn="l">
              <a:spcBef>
                <a:spcPts val="0"/>
              </a:spcBef>
              <a:spcAft>
                <a:spcPts val="0"/>
              </a:spcAft>
            </a:pPr>
            <a:r>
              <a:rPr sz="2600" b="1" i="0">
                <a:solidFill>
                  <a:srgbClr val="1E2D44"/>
                </a:solidFill>
                <a:latin typeface="Karla"/>
              </a:rPr>
              <a:t>A_Background splits across the groups</a:t>
            </a:r>
          </a:p>
        </p:txBody>
      </p:sp>
      <p:sp>
        <p:nvSpPr>
          <p:cNvPr id="4" name="TextBox 3"/>
          <p:cNvSpPr txBox="1"/>
          <p:nvPr/>
        </p:nvSpPr>
        <p:spPr>
          <a:xfrm>
            <a:off x="502920" y="822960"/>
            <a:ext cx="7043927" cy="475488"/>
          </a:xfrm>
          <a:prstGeom prst="rect">
            <a:avLst/>
          </a:prstGeom>
          <a:noFill/>
        </p:spPr>
        <p:txBody>
          <a:bodyPr wrap="square" anchor="t" lIns="0" rIns="0" tIns="0" bIns="0"/>
          <a:lstStyle/>
          <a:p>
            <a:pPr algn="l">
              <a:spcBef>
                <a:spcPts val="0"/>
              </a:spcBef>
              <a:spcAft>
                <a:spcPts val="0"/>
              </a:spcAft>
            </a:pPr>
            <a:r>
              <a:rPr sz="1200" b="0" i="0">
                <a:solidFill>
                  <a:srgbClr val="617086"/>
                </a:solidFill>
                <a:latin typeface="Karla"/>
              </a:rPr>
              <a:t>Heard of it, but know little about it favors A06 D2 Orange Wrapper; Not familiar at all favors A07 D2 Yellow Wrapper; Somewhat familiar favors A06 D2 Orange Wrapper; Very familiar favors A05 D2 Blue Wrapper.</a:t>
            </a:r>
          </a:p>
        </p:txBody>
      </p:sp>
      <p:sp>
        <p:nvSpPr>
          <p:cNvPr id="5" name="Rectangle 4"/>
          <p:cNvSpPr/>
          <p:nvPr/>
        </p:nvSpPr>
        <p:spPr>
          <a:xfrm>
            <a:off x="502920" y="1335024"/>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A_BACKGROUND</a:t>
            </a:r>
          </a:p>
        </p:txBody>
      </p:sp>
      <p:sp>
        <p:nvSpPr>
          <p:cNvPr id="6" name="TextBox 5"/>
          <p:cNvSpPr txBox="1"/>
          <p:nvPr/>
        </p:nvSpPr>
        <p:spPr>
          <a:xfrm>
            <a:off x="1874520"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7" name="Rectangle 6"/>
          <p:cNvSpPr/>
          <p:nvPr/>
        </p:nvSpPr>
        <p:spPr>
          <a:xfrm>
            <a:off x="3783583"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90975"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9" name="Rectangle 8"/>
          <p:cNvSpPr/>
          <p:nvPr/>
        </p:nvSpPr>
        <p:spPr>
          <a:xfrm>
            <a:off x="5400039"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7431"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1" name="Rectangle 10"/>
          <p:cNvSpPr/>
          <p:nvPr/>
        </p:nvSpPr>
        <p:spPr>
          <a:xfrm>
            <a:off x="7016495"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23887"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30</a:t>
            </a:r>
          </a:p>
        </p:txBody>
      </p:sp>
      <p:sp>
        <p:nvSpPr>
          <p:cNvPr id="13" name="Rectangle 12"/>
          <p:cNvSpPr/>
          <p:nvPr/>
        </p:nvSpPr>
        <p:spPr>
          <a:xfrm>
            <a:off x="2167128" y="1645920"/>
            <a:ext cx="10972" cy="30906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167128" y="4736592"/>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1805940"/>
            <a:ext cx="1554480" cy="452628"/>
          </a:xfrm>
          <a:prstGeom prst="rect">
            <a:avLst/>
          </a:prstGeom>
          <a:noFill/>
        </p:spPr>
        <p:txBody>
          <a:bodyPr wrap="none" anchor="ctr" lIns="0" rIns="0" tIns="0" bIns="0"/>
          <a:lstStyle/>
          <a:p>
            <a:pPr algn="r">
              <a:spcBef>
                <a:spcPts val="0"/>
              </a:spcBef>
              <a:spcAft>
                <a:spcPts val="0"/>
              </a:spcAft>
            </a:pPr>
            <a:r>
              <a:rPr sz="1200" b="0" i="0">
                <a:solidFill>
                  <a:srgbClr val="1E2D44"/>
                </a:solidFill>
                <a:latin typeface="Karla"/>
              </a:rPr>
              <a:t>D3 Pink Wrapper</a:t>
            </a:r>
          </a:p>
        </p:txBody>
      </p:sp>
      <p:sp>
        <p:nvSpPr>
          <p:cNvPr id="16" name="Rectangle 15"/>
          <p:cNvSpPr/>
          <p:nvPr/>
        </p:nvSpPr>
        <p:spPr>
          <a:xfrm>
            <a:off x="2167128" y="1805940"/>
            <a:ext cx="1778101"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00093" y="1805940"/>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+11</a:t>
            </a:r>
          </a:p>
        </p:txBody>
      </p:sp>
      <p:sp>
        <p:nvSpPr>
          <p:cNvPr id="18" name="Rectangle 17"/>
          <p:cNvSpPr/>
          <p:nvPr/>
        </p:nvSpPr>
        <p:spPr>
          <a:xfrm>
            <a:off x="2167128" y="1929384"/>
            <a:ext cx="808227"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030219" y="1929384"/>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+5</a:t>
            </a:r>
          </a:p>
        </p:txBody>
      </p:sp>
      <p:sp>
        <p:nvSpPr>
          <p:cNvPr id="20" name="Rectangle 19"/>
          <p:cNvSpPr/>
          <p:nvPr/>
        </p:nvSpPr>
        <p:spPr>
          <a:xfrm>
            <a:off x="2167128" y="2052828"/>
            <a:ext cx="3394557"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16549" y="2052828"/>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+21</a:t>
            </a:r>
          </a:p>
        </p:txBody>
      </p:sp>
      <p:sp>
        <p:nvSpPr>
          <p:cNvPr id="22" name="Rectangle 21"/>
          <p:cNvSpPr/>
          <p:nvPr/>
        </p:nvSpPr>
        <p:spPr>
          <a:xfrm>
            <a:off x="2167128" y="2176272"/>
            <a:ext cx="3071266"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93258" y="2176272"/>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+19</a:t>
            </a:r>
          </a:p>
        </p:txBody>
      </p:sp>
      <p:sp>
        <p:nvSpPr>
          <p:cNvPr id="24" name="TextBox 23"/>
          <p:cNvSpPr txBox="1"/>
          <p:nvPr/>
        </p:nvSpPr>
        <p:spPr>
          <a:xfrm>
            <a:off x="502920" y="2578608"/>
            <a:ext cx="1554480" cy="452628"/>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A02 D1 Orange</a:t>
            </a:r>
          </a:p>
          <a:p>
            <a:pPr algn="r">
              <a:spcBef>
                <a:spcPts val="0"/>
              </a:spcBef>
              <a:spcAft>
                <a:spcPts val="0"/>
              </a:spcAft>
            </a:pPr>
            <a:r>
              <a:rPr sz="1100" b="0" i="0">
                <a:solidFill>
                  <a:srgbClr val="1E2D44"/>
                </a:solidFill>
                <a:latin typeface="Karla"/>
              </a:rPr>
              <a:t>Wrapper</a:t>
            </a:r>
          </a:p>
        </p:txBody>
      </p:sp>
      <p:sp>
        <p:nvSpPr>
          <p:cNvPr id="25" name="Rectangle 24"/>
          <p:cNvSpPr/>
          <p:nvPr/>
        </p:nvSpPr>
        <p:spPr>
          <a:xfrm>
            <a:off x="2167128" y="2578608"/>
            <a:ext cx="1131519"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353511" y="2578608"/>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+7</a:t>
            </a:r>
          </a:p>
        </p:txBody>
      </p:sp>
      <p:sp>
        <p:nvSpPr>
          <p:cNvPr id="27" name="Rectangle 26"/>
          <p:cNvSpPr/>
          <p:nvPr/>
        </p:nvSpPr>
        <p:spPr>
          <a:xfrm>
            <a:off x="2167128" y="2702052"/>
            <a:ext cx="1131519"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353511" y="2702052"/>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+7</a:t>
            </a:r>
          </a:p>
        </p:txBody>
      </p:sp>
      <p:sp>
        <p:nvSpPr>
          <p:cNvPr id="29" name="Rectangle 28"/>
          <p:cNvSpPr/>
          <p:nvPr/>
        </p:nvSpPr>
        <p:spPr>
          <a:xfrm>
            <a:off x="2167128" y="2825496"/>
            <a:ext cx="3232911"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454903" y="2825496"/>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+20</a:t>
            </a:r>
          </a:p>
        </p:txBody>
      </p:sp>
      <p:sp>
        <p:nvSpPr>
          <p:cNvPr id="31" name="Rectangle 30"/>
          <p:cNvSpPr/>
          <p:nvPr/>
        </p:nvSpPr>
        <p:spPr>
          <a:xfrm>
            <a:off x="2167128" y="2948939"/>
            <a:ext cx="2101392"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323384" y="2948939"/>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+13</a:t>
            </a:r>
          </a:p>
        </p:txBody>
      </p:sp>
      <p:sp>
        <p:nvSpPr>
          <p:cNvPr id="33" name="TextBox 32"/>
          <p:cNvSpPr txBox="1"/>
          <p:nvPr/>
        </p:nvSpPr>
        <p:spPr>
          <a:xfrm>
            <a:off x="502920" y="3351276"/>
            <a:ext cx="1554480" cy="452628"/>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A07 D2 Yellow</a:t>
            </a:r>
          </a:p>
          <a:p>
            <a:pPr algn="r">
              <a:spcBef>
                <a:spcPts val="0"/>
              </a:spcBef>
              <a:spcAft>
                <a:spcPts val="0"/>
              </a:spcAft>
            </a:pPr>
            <a:r>
              <a:rPr sz="1100" b="0" i="0">
                <a:solidFill>
                  <a:srgbClr val="1E2D44"/>
                </a:solidFill>
                <a:latin typeface="Karla"/>
              </a:rPr>
              <a:t>Wrapper</a:t>
            </a:r>
          </a:p>
        </p:txBody>
      </p:sp>
      <p:sp>
        <p:nvSpPr>
          <p:cNvPr id="34" name="Rectangle 33"/>
          <p:cNvSpPr/>
          <p:nvPr/>
        </p:nvSpPr>
        <p:spPr>
          <a:xfrm>
            <a:off x="2167128" y="3351276"/>
            <a:ext cx="1778101"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000093" y="3351276"/>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+11</a:t>
            </a:r>
          </a:p>
        </p:txBody>
      </p:sp>
      <p:sp>
        <p:nvSpPr>
          <p:cNvPr id="36" name="Rectangle 35"/>
          <p:cNvSpPr/>
          <p:nvPr/>
        </p:nvSpPr>
        <p:spPr>
          <a:xfrm>
            <a:off x="2167128" y="3474720"/>
            <a:ext cx="2263038"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485030" y="3474720"/>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+14</a:t>
            </a:r>
          </a:p>
        </p:txBody>
      </p:sp>
      <p:sp>
        <p:nvSpPr>
          <p:cNvPr id="38" name="Rectangle 37"/>
          <p:cNvSpPr/>
          <p:nvPr/>
        </p:nvSpPr>
        <p:spPr>
          <a:xfrm>
            <a:off x="2167128" y="3598164"/>
            <a:ext cx="2747975"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969967" y="3598164"/>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+17</a:t>
            </a:r>
          </a:p>
        </p:txBody>
      </p:sp>
      <p:sp>
        <p:nvSpPr>
          <p:cNvPr id="40" name="Rectangle 39"/>
          <p:cNvSpPr/>
          <p:nvPr/>
        </p:nvSpPr>
        <p:spPr>
          <a:xfrm>
            <a:off x="2167128" y="3721608"/>
            <a:ext cx="3232911"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454903" y="3721608"/>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+20</a:t>
            </a:r>
          </a:p>
        </p:txBody>
      </p:sp>
      <p:sp>
        <p:nvSpPr>
          <p:cNvPr id="42" name="TextBox 41"/>
          <p:cNvSpPr txBox="1"/>
          <p:nvPr/>
        </p:nvSpPr>
        <p:spPr>
          <a:xfrm>
            <a:off x="502920" y="4123944"/>
            <a:ext cx="1554480" cy="452628"/>
          </a:xfrm>
          <a:prstGeom prst="rect">
            <a:avLst/>
          </a:prstGeom>
          <a:noFill/>
        </p:spPr>
        <p:txBody>
          <a:bodyPr wrap="none" anchor="ctr" lIns="0" rIns="0" tIns="0" bIns="0"/>
          <a:lstStyle/>
          <a:p>
            <a:pPr algn="r">
              <a:spcBef>
                <a:spcPts val="0"/>
              </a:spcBef>
              <a:spcAft>
                <a:spcPts val="0"/>
              </a:spcAft>
            </a:pPr>
            <a:r>
              <a:rPr sz="1200" b="0" i="0">
                <a:solidFill>
                  <a:srgbClr val="1E2D44"/>
                </a:solidFill>
                <a:latin typeface="Karla"/>
              </a:rPr>
              <a:t>D3 Orange</a:t>
            </a:r>
          </a:p>
          <a:p>
            <a:pPr algn="r">
              <a:spcBef>
                <a:spcPts val="0"/>
              </a:spcBef>
              <a:spcAft>
                <a:spcPts val="0"/>
              </a:spcAft>
            </a:pPr>
            <a:r>
              <a:rPr sz="1200" b="0" i="0">
                <a:solidFill>
                  <a:srgbClr val="1E2D44"/>
                </a:solidFill>
                <a:latin typeface="Karla"/>
              </a:rPr>
              <a:t>Wrapper</a:t>
            </a:r>
          </a:p>
        </p:txBody>
      </p:sp>
      <p:sp>
        <p:nvSpPr>
          <p:cNvPr id="43" name="Rectangle 42"/>
          <p:cNvSpPr/>
          <p:nvPr/>
        </p:nvSpPr>
        <p:spPr>
          <a:xfrm>
            <a:off x="2167128" y="4123944"/>
            <a:ext cx="1293164"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515156" y="4123944"/>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+8</a:t>
            </a:r>
          </a:p>
        </p:txBody>
      </p:sp>
      <p:sp>
        <p:nvSpPr>
          <p:cNvPr id="45" name="Rectangle 44"/>
          <p:cNvSpPr/>
          <p:nvPr/>
        </p:nvSpPr>
        <p:spPr>
          <a:xfrm>
            <a:off x="2167128" y="4247388"/>
            <a:ext cx="2101392"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323384" y="4247388"/>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+13</a:t>
            </a:r>
          </a:p>
        </p:txBody>
      </p:sp>
      <p:sp>
        <p:nvSpPr>
          <p:cNvPr id="47" name="Rectangle 46"/>
          <p:cNvSpPr/>
          <p:nvPr/>
        </p:nvSpPr>
        <p:spPr>
          <a:xfrm>
            <a:off x="2167128" y="4370831"/>
            <a:ext cx="3232911"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454903" y="4370831"/>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+20</a:t>
            </a:r>
          </a:p>
        </p:txBody>
      </p:sp>
      <p:sp>
        <p:nvSpPr>
          <p:cNvPr id="49" name="Rectangle 48"/>
          <p:cNvSpPr/>
          <p:nvPr/>
        </p:nvSpPr>
        <p:spPr>
          <a:xfrm>
            <a:off x="2167128" y="4494276"/>
            <a:ext cx="2586329"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808321" y="4494276"/>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+16</a:t>
            </a:r>
          </a:p>
        </p:txBody>
      </p:sp>
      <p:sp>
        <p:nvSpPr>
          <p:cNvPr id="51" name="Rectangle 50"/>
          <p:cNvSpPr/>
          <p:nvPr/>
        </p:nvSpPr>
        <p:spPr>
          <a:xfrm>
            <a:off x="684783" y="5161788"/>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58519" y="5102352"/>
            <a:ext cx="376936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Heard of it, but know little about it (basesize = 22)</a:t>
            </a:r>
          </a:p>
        </p:txBody>
      </p:sp>
      <p:sp>
        <p:nvSpPr>
          <p:cNvPr id="53" name="Rectangle 52"/>
          <p:cNvSpPr/>
          <p:nvPr/>
        </p:nvSpPr>
        <p:spPr>
          <a:xfrm>
            <a:off x="4883911" y="5161788"/>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057647" y="5102352"/>
            <a:ext cx="248920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Not familiar at all (basesize = 25)</a:t>
            </a:r>
          </a:p>
        </p:txBody>
      </p:sp>
      <p:sp>
        <p:nvSpPr>
          <p:cNvPr id="55" name="Rectangle 54"/>
          <p:cNvSpPr/>
          <p:nvPr/>
        </p:nvSpPr>
        <p:spPr>
          <a:xfrm>
            <a:off x="2085339" y="5381244"/>
            <a:ext cx="100584" cy="10058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259075" y="5321808"/>
            <a:ext cx="234696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Somewhat familiar (basesize = 49)</a:t>
            </a:r>
          </a:p>
        </p:txBody>
      </p:sp>
      <p:sp>
        <p:nvSpPr>
          <p:cNvPr id="57" name="Rectangle 56"/>
          <p:cNvSpPr/>
          <p:nvPr/>
        </p:nvSpPr>
        <p:spPr>
          <a:xfrm>
            <a:off x="4862067" y="5381244"/>
            <a:ext cx="100584" cy="100584"/>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035803" y="5321808"/>
            <a:ext cx="206248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Very familiar (basesize = 54)</a:t>
            </a:r>
          </a:p>
        </p:txBody>
      </p:sp>
      <p:sp>
        <p:nvSpPr>
          <p:cNvPr id="59" name="Rounded Rectangle 58"/>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7935467" y="601527"/>
            <a:ext cx="1709927" cy="135726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1" name="Picture 60" descr="A12.png"/>
          <p:cNvPicPr>
            <a:picLocks noChangeAspect="1"/>
          </p:cNvPicPr>
          <p:nvPr/>
        </p:nvPicPr>
        <p:blipFill>
          <a:blip r:embed="rId2"/>
          <a:stretch>
            <a:fillRect/>
          </a:stretch>
        </p:blipFill>
        <p:spPr>
          <a:xfrm>
            <a:off x="7949183" y="615243"/>
            <a:ext cx="1682495" cy="1329833"/>
          </a:xfrm>
          <a:prstGeom prst="rect">
            <a:avLst/>
          </a:prstGeom>
        </p:spPr>
      </p:pic>
      <p:sp>
        <p:nvSpPr>
          <p:cNvPr id="62" name="TextBox 61"/>
          <p:cNvSpPr txBox="1"/>
          <p:nvPr/>
        </p:nvSpPr>
        <p:spPr>
          <a:xfrm>
            <a:off x="7912607" y="1999940"/>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D3 Pink Wrapper</a:t>
            </a:r>
          </a:p>
        </p:txBody>
      </p:sp>
      <p:sp>
        <p:nvSpPr>
          <p:cNvPr id="63" name="TextBox 62"/>
          <p:cNvSpPr txBox="1"/>
          <p:nvPr/>
        </p:nvSpPr>
        <p:spPr>
          <a:xfrm>
            <a:off x="7912607" y="2365700"/>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+14*</a:t>
            </a:r>
          </a:p>
        </p:txBody>
      </p:sp>
      <p:sp>
        <p:nvSpPr>
          <p:cNvPr id="64" name="Rectangle 63"/>
          <p:cNvSpPr/>
          <p:nvPr/>
        </p:nvSpPr>
        <p:spPr>
          <a:xfrm>
            <a:off x="9855707" y="601527"/>
            <a:ext cx="1709927" cy="135726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5" name="Picture 64" descr="A2.png"/>
          <p:cNvPicPr>
            <a:picLocks noChangeAspect="1"/>
          </p:cNvPicPr>
          <p:nvPr/>
        </p:nvPicPr>
        <p:blipFill>
          <a:blip r:embed="rId3"/>
          <a:stretch>
            <a:fillRect/>
          </a:stretch>
        </p:blipFill>
        <p:spPr>
          <a:xfrm>
            <a:off x="9869423" y="615243"/>
            <a:ext cx="1682495" cy="1329833"/>
          </a:xfrm>
          <a:prstGeom prst="rect">
            <a:avLst/>
          </a:prstGeom>
        </p:spPr>
      </p:pic>
      <p:sp>
        <p:nvSpPr>
          <p:cNvPr id="66" name="TextBox 65"/>
          <p:cNvSpPr txBox="1"/>
          <p:nvPr/>
        </p:nvSpPr>
        <p:spPr>
          <a:xfrm>
            <a:off x="9832847" y="1999940"/>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A02 D1 Orange</a:t>
            </a:r>
          </a:p>
          <a:p>
            <a:pPr algn="ctr">
              <a:spcBef>
                <a:spcPts val="0"/>
              </a:spcBef>
              <a:spcAft>
                <a:spcPts val="0"/>
              </a:spcAft>
            </a:pPr>
            <a:r>
              <a:rPr sz="1200" b="0" i="0">
                <a:solidFill>
                  <a:srgbClr val="1E2D44"/>
                </a:solidFill>
                <a:latin typeface="Karla"/>
              </a:rPr>
              <a:t>Wrapper</a:t>
            </a:r>
          </a:p>
        </p:txBody>
      </p:sp>
      <p:sp>
        <p:nvSpPr>
          <p:cNvPr id="67" name="TextBox 66"/>
          <p:cNvSpPr txBox="1"/>
          <p:nvPr/>
        </p:nvSpPr>
        <p:spPr>
          <a:xfrm>
            <a:off x="9832847" y="2365700"/>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+12*</a:t>
            </a:r>
          </a:p>
        </p:txBody>
      </p:sp>
      <p:sp>
        <p:nvSpPr>
          <p:cNvPr id="68" name="Rectangle 67"/>
          <p:cNvSpPr/>
          <p:nvPr/>
        </p:nvSpPr>
        <p:spPr>
          <a:xfrm>
            <a:off x="7935467" y="3161847"/>
            <a:ext cx="1709927" cy="135726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9" name="Picture 68" descr="A7.png"/>
          <p:cNvPicPr>
            <a:picLocks noChangeAspect="1"/>
          </p:cNvPicPr>
          <p:nvPr/>
        </p:nvPicPr>
        <p:blipFill>
          <a:blip r:embed="rId4"/>
          <a:stretch>
            <a:fillRect/>
          </a:stretch>
        </p:blipFill>
        <p:spPr>
          <a:xfrm>
            <a:off x="7949183" y="3175563"/>
            <a:ext cx="1682495" cy="1329833"/>
          </a:xfrm>
          <a:prstGeom prst="rect">
            <a:avLst/>
          </a:prstGeom>
        </p:spPr>
      </p:pic>
      <p:sp>
        <p:nvSpPr>
          <p:cNvPr id="70" name="TextBox 69"/>
          <p:cNvSpPr txBox="1"/>
          <p:nvPr/>
        </p:nvSpPr>
        <p:spPr>
          <a:xfrm>
            <a:off x="7912607" y="4560260"/>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A07 D2 Yellow</a:t>
            </a:r>
          </a:p>
          <a:p>
            <a:pPr algn="ctr">
              <a:spcBef>
                <a:spcPts val="0"/>
              </a:spcBef>
              <a:spcAft>
                <a:spcPts val="0"/>
              </a:spcAft>
            </a:pPr>
            <a:r>
              <a:rPr sz="1200" b="0" i="0">
                <a:solidFill>
                  <a:srgbClr val="1E2D44"/>
                </a:solidFill>
                <a:latin typeface="Karla"/>
              </a:rPr>
              <a:t>Wrapper</a:t>
            </a:r>
          </a:p>
        </p:txBody>
      </p:sp>
      <p:sp>
        <p:nvSpPr>
          <p:cNvPr id="71" name="TextBox 70"/>
          <p:cNvSpPr txBox="1"/>
          <p:nvPr/>
        </p:nvSpPr>
        <p:spPr>
          <a:xfrm>
            <a:off x="7912607" y="4926020"/>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+16*</a:t>
            </a:r>
          </a:p>
        </p:txBody>
      </p:sp>
      <p:sp>
        <p:nvSpPr>
          <p:cNvPr id="72" name="Rectangle 71"/>
          <p:cNvSpPr/>
          <p:nvPr/>
        </p:nvSpPr>
        <p:spPr>
          <a:xfrm>
            <a:off x="9855707" y="3161847"/>
            <a:ext cx="1709927" cy="135726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3" name="Picture 72" descr="A10.png"/>
          <p:cNvPicPr>
            <a:picLocks noChangeAspect="1"/>
          </p:cNvPicPr>
          <p:nvPr/>
        </p:nvPicPr>
        <p:blipFill>
          <a:blip r:embed="rId5"/>
          <a:stretch>
            <a:fillRect/>
          </a:stretch>
        </p:blipFill>
        <p:spPr>
          <a:xfrm>
            <a:off x="9869423" y="3175563"/>
            <a:ext cx="1682495" cy="1329833"/>
          </a:xfrm>
          <a:prstGeom prst="rect">
            <a:avLst/>
          </a:prstGeom>
        </p:spPr>
      </p:pic>
      <p:sp>
        <p:nvSpPr>
          <p:cNvPr id="74" name="TextBox 73"/>
          <p:cNvSpPr txBox="1"/>
          <p:nvPr/>
        </p:nvSpPr>
        <p:spPr>
          <a:xfrm>
            <a:off x="9832847" y="4560260"/>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D3 Orange Wrapper</a:t>
            </a:r>
          </a:p>
        </p:txBody>
      </p:sp>
      <p:sp>
        <p:nvSpPr>
          <p:cNvPr id="75" name="TextBox 74"/>
          <p:cNvSpPr txBox="1"/>
          <p:nvPr/>
        </p:nvSpPr>
        <p:spPr>
          <a:xfrm>
            <a:off x="9832847" y="4926020"/>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+14*</a:t>
            </a:r>
          </a:p>
        </p:txBody>
      </p:sp>
      <p:sp>
        <p:nvSpPr>
          <p:cNvPr id="76" name="Rounded Rectangle 75"/>
          <p:cNvSpPr/>
          <p:nvPr/>
        </p:nvSpPr>
        <p:spPr>
          <a:xfrm>
            <a:off x="502920" y="5632704"/>
            <a:ext cx="11268455" cy="676656"/>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200" b="0">
                <a:solidFill>
                  <a:srgbClr val="1E2D44"/>
                </a:solidFill>
                <a:latin typeface="Karla"/>
              </a:rPr>
              <a:t>Heard of it, but know little about it favors A06 D2 Orange Wrapper; Not familiar at all favors A07 D2 Yellow Wrapper; Somewhat familiar favors A06 D2 Orange Wrapper; Very familiar favors A05 D2 Blue Wrapper. The widest segment gap is D3 Yellow Wrapper: -4 heard of it, but know little about it / +8 not familiar at all / +17 somewhat familiar / +20 very familiar.</a:t>
            </a:r>
          </a:p>
        </p:txBody>
      </p:sp>
      <p:sp>
        <p:nvSpPr>
          <p:cNvPr id="77" name="Rectangle 76"/>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Top-2 scores rounded to whole points. *Average of the groups in the legend.</a:t>
            </a:r>
          </a:p>
        </p:txBody>
      </p:sp>
      <p:sp>
        <p:nvSpPr>
          <p:cNvPr id="79" name="TextBox 78"/>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37744"/>
            <a:ext cx="7043927" cy="182880"/>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KEY FINDINGS: A_BACKGROUND  ·  How familiar are you with the Fitspo brand?   ·   3 of 3</a:t>
            </a:r>
          </a:p>
        </p:txBody>
      </p:sp>
      <p:sp>
        <p:nvSpPr>
          <p:cNvPr id="3" name="TextBox 2"/>
          <p:cNvSpPr txBox="1"/>
          <p:nvPr/>
        </p:nvSpPr>
        <p:spPr>
          <a:xfrm>
            <a:off x="502920" y="438912"/>
            <a:ext cx="7043927" cy="365760"/>
          </a:xfrm>
          <a:prstGeom prst="rect">
            <a:avLst/>
          </a:prstGeom>
          <a:noFill/>
        </p:spPr>
        <p:txBody>
          <a:bodyPr wrap="square" anchor="t" lIns="0" rIns="0" tIns="0" bIns="0"/>
          <a:lstStyle/>
          <a:p>
            <a:pPr algn="l">
              <a:spcBef>
                <a:spcPts val="0"/>
              </a:spcBef>
              <a:spcAft>
                <a:spcPts val="0"/>
              </a:spcAft>
            </a:pPr>
            <a:r>
              <a:rPr sz="2600" b="1" i="0">
                <a:solidFill>
                  <a:srgbClr val="1E2D44"/>
                </a:solidFill>
                <a:latin typeface="Karla"/>
              </a:rPr>
              <a:t>A_Background splits across the groups</a:t>
            </a:r>
          </a:p>
        </p:txBody>
      </p:sp>
      <p:sp>
        <p:nvSpPr>
          <p:cNvPr id="4" name="TextBox 3"/>
          <p:cNvSpPr txBox="1"/>
          <p:nvPr/>
        </p:nvSpPr>
        <p:spPr>
          <a:xfrm>
            <a:off x="502920" y="822960"/>
            <a:ext cx="7043927" cy="475488"/>
          </a:xfrm>
          <a:prstGeom prst="rect">
            <a:avLst/>
          </a:prstGeom>
          <a:noFill/>
        </p:spPr>
        <p:txBody>
          <a:bodyPr wrap="square" anchor="t" lIns="0" rIns="0" tIns="0" bIns="0"/>
          <a:lstStyle/>
          <a:p>
            <a:pPr algn="l">
              <a:spcBef>
                <a:spcPts val="0"/>
              </a:spcBef>
              <a:spcAft>
                <a:spcPts val="0"/>
              </a:spcAft>
            </a:pPr>
            <a:r>
              <a:rPr sz="1200" b="0" i="0">
                <a:solidFill>
                  <a:srgbClr val="617086"/>
                </a:solidFill>
                <a:latin typeface="Karla"/>
              </a:rPr>
              <a:t>Heard of it, but know little about it favors A06 D2 Orange Wrapper; Not familiar at all favors A07 D2 Yellow Wrapper; Somewhat familiar favors A06 D2 Orange Wrapper; Very familiar favors A05 D2 Blue Wrapper.</a:t>
            </a:r>
          </a:p>
        </p:txBody>
      </p:sp>
      <p:sp>
        <p:nvSpPr>
          <p:cNvPr id="5" name="Rectangle 4"/>
          <p:cNvSpPr/>
          <p:nvPr/>
        </p:nvSpPr>
        <p:spPr>
          <a:xfrm>
            <a:off x="502920" y="1335024"/>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A_BACKGROUND</a:t>
            </a:r>
          </a:p>
        </p:txBody>
      </p:sp>
      <p:sp>
        <p:nvSpPr>
          <p:cNvPr id="6" name="Rectangle 5"/>
          <p:cNvSpPr/>
          <p:nvPr/>
        </p:nvSpPr>
        <p:spPr>
          <a:xfrm>
            <a:off x="2167128"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74520"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8" name="TextBox 7"/>
          <p:cNvSpPr txBox="1"/>
          <p:nvPr/>
        </p:nvSpPr>
        <p:spPr>
          <a:xfrm>
            <a:off x="3490975"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9" name="Rectangle 8"/>
          <p:cNvSpPr/>
          <p:nvPr/>
        </p:nvSpPr>
        <p:spPr>
          <a:xfrm>
            <a:off x="5400039"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7431"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11" name="Rectangle 10"/>
          <p:cNvSpPr/>
          <p:nvPr/>
        </p:nvSpPr>
        <p:spPr>
          <a:xfrm>
            <a:off x="7016495"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23887"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3" name="Rectangle 12"/>
          <p:cNvSpPr/>
          <p:nvPr/>
        </p:nvSpPr>
        <p:spPr>
          <a:xfrm>
            <a:off x="3783583" y="1645920"/>
            <a:ext cx="10972" cy="30906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167128" y="4736592"/>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1805940"/>
            <a:ext cx="1554480" cy="452628"/>
          </a:xfrm>
          <a:prstGeom prst="rect">
            <a:avLst/>
          </a:prstGeom>
          <a:noFill/>
        </p:spPr>
        <p:txBody>
          <a:bodyPr wrap="none" anchor="ctr" lIns="0" rIns="0" tIns="0" bIns="0"/>
          <a:lstStyle/>
          <a:p>
            <a:pPr algn="r">
              <a:spcBef>
                <a:spcPts val="0"/>
              </a:spcBef>
              <a:spcAft>
                <a:spcPts val="0"/>
              </a:spcAft>
            </a:pPr>
            <a:r>
              <a:rPr sz="1200" b="0" i="0">
                <a:solidFill>
                  <a:srgbClr val="1E2D44"/>
                </a:solidFill>
                <a:latin typeface="Karla"/>
              </a:rPr>
              <a:t>D3 Yellow</a:t>
            </a:r>
          </a:p>
          <a:p>
            <a:pPr algn="r">
              <a:spcBef>
                <a:spcPts val="0"/>
              </a:spcBef>
              <a:spcAft>
                <a:spcPts val="0"/>
              </a:spcAft>
            </a:pPr>
            <a:r>
              <a:rPr sz="1200" b="0" i="0">
                <a:solidFill>
                  <a:srgbClr val="1E2D44"/>
                </a:solidFill>
                <a:latin typeface="Karla"/>
              </a:rPr>
              <a:t>Wrapper</a:t>
            </a:r>
          </a:p>
        </p:txBody>
      </p:sp>
      <p:sp>
        <p:nvSpPr>
          <p:cNvPr id="16" name="Rectangle 15"/>
          <p:cNvSpPr/>
          <p:nvPr/>
        </p:nvSpPr>
        <p:spPr>
          <a:xfrm>
            <a:off x="3137001" y="1805940"/>
            <a:ext cx="646582"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624937" y="1805940"/>
            <a:ext cx="457200" cy="82296"/>
          </a:xfrm>
          <a:prstGeom prst="rect">
            <a:avLst/>
          </a:prstGeom>
          <a:noFill/>
        </p:spPr>
        <p:txBody>
          <a:bodyPr wrap="none" anchor="ctr" lIns="0" rIns="0" tIns="0" bIns="0"/>
          <a:lstStyle/>
          <a:p>
            <a:pPr algn="r">
              <a:spcBef>
                <a:spcPts val="0"/>
              </a:spcBef>
              <a:spcAft>
                <a:spcPts val="0"/>
              </a:spcAft>
            </a:pPr>
            <a:r>
              <a:rPr sz="1000" b="1" i="0">
                <a:solidFill>
                  <a:srgbClr val="1A2332"/>
                </a:solidFill>
                <a:latin typeface="Karla"/>
              </a:rPr>
              <a:t>-4</a:t>
            </a:r>
          </a:p>
        </p:txBody>
      </p:sp>
      <p:sp>
        <p:nvSpPr>
          <p:cNvPr id="18" name="Rectangle 17"/>
          <p:cNvSpPr/>
          <p:nvPr/>
        </p:nvSpPr>
        <p:spPr>
          <a:xfrm>
            <a:off x="3783583" y="1929384"/>
            <a:ext cx="1293164"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31612" y="1929384"/>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+8</a:t>
            </a:r>
          </a:p>
        </p:txBody>
      </p:sp>
      <p:sp>
        <p:nvSpPr>
          <p:cNvPr id="20" name="Rectangle 19"/>
          <p:cNvSpPr/>
          <p:nvPr/>
        </p:nvSpPr>
        <p:spPr>
          <a:xfrm>
            <a:off x="3783583" y="2052828"/>
            <a:ext cx="2747975"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6422" y="2052828"/>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+17</a:t>
            </a:r>
          </a:p>
        </p:txBody>
      </p:sp>
      <p:sp>
        <p:nvSpPr>
          <p:cNvPr id="22" name="Rectangle 21"/>
          <p:cNvSpPr/>
          <p:nvPr/>
        </p:nvSpPr>
        <p:spPr>
          <a:xfrm>
            <a:off x="3783583" y="2176272"/>
            <a:ext cx="3232911"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71359" y="2176272"/>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+20</a:t>
            </a:r>
          </a:p>
        </p:txBody>
      </p:sp>
      <p:sp>
        <p:nvSpPr>
          <p:cNvPr id="24" name="TextBox 23"/>
          <p:cNvSpPr txBox="1"/>
          <p:nvPr/>
        </p:nvSpPr>
        <p:spPr>
          <a:xfrm>
            <a:off x="502920" y="2578608"/>
            <a:ext cx="1554480" cy="452628"/>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A04 D1 Pink</a:t>
            </a:r>
          </a:p>
          <a:p>
            <a:pPr algn="r">
              <a:spcBef>
                <a:spcPts val="0"/>
              </a:spcBef>
              <a:spcAft>
                <a:spcPts val="0"/>
              </a:spcAft>
            </a:pPr>
            <a:r>
              <a:rPr sz="1100" b="0" i="0">
                <a:solidFill>
                  <a:srgbClr val="1E2D44"/>
                </a:solidFill>
                <a:latin typeface="Karla"/>
              </a:rPr>
              <a:t>Wrapper</a:t>
            </a:r>
          </a:p>
        </p:txBody>
      </p:sp>
      <p:sp>
        <p:nvSpPr>
          <p:cNvPr id="25" name="Rectangle 24"/>
          <p:cNvSpPr/>
          <p:nvPr/>
        </p:nvSpPr>
        <p:spPr>
          <a:xfrm>
            <a:off x="3783583" y="2578608"/>
            <a:ext cx="484936"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23384" y="2578608"/>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+3</a:t>
            </a:r>
          </a:p>
        </p:txBody>
      </p:sp>
      <p:sp>
        <p:nvSpPr>
          <p:cNvPr id="27" name="Rectangle 26"/>
          <p:cNvSpPr/>
          <p:nvPr/>
        </p:nvSpPr>
        <p:spPr>
          <a:xfrm>
            <a:off x="3783583" y="2702052"/>
            <a:ext cx="1131519"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969967" y="2702052"/>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+7</a:t>
            </a:r>
          </a:p>
        </p:txBody>
      </p:sp>
      <p:sp>
        <p:nvSpPr>
          <p:cNvPr id="29" name="Rectangle 28"/>
          <p:cNvSpPr/>
          <p:nvPr/>
        </p:nvSpPr>
        <p:spPr>
          <a:xfrm>
            <a:off x="3783583" y="2825496"/>
            <a:ext cx="2263038"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101486" y="2825496"/>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+14</a:t>
            </a:r>
          </a:p>
        </p:txBody>
      </p:sp>
      <p:sp>
        <p:nvSpPr>
          <p:cNvPr id="31" name="Rectangle 30"/>
          <p:cNvSpPr/>
          <p:nvPr/>
        </p:nvSpPr>
        <p:spPr>
          <a:xfrm>
            <a:off x="3783583" y="2948939"/>
            <a:ext cx="3071266"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909714" y="2948939"/>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+19</a:t>
            </a:r>
          </a:p>
        </p:txBody>
      </p:sp>
      <p:sp>
        <p:nvSpPr>
          <p:cNvPr id="33" name="TextBox 32"/>
          <p:cNvSpPr txBox="1"/>
          <p:nvPr/>
        </p:nvSpPr>
        <p:spPr>
          <a:xfrm>
            <a:off x="502920" y="3351276"/>
            <a:ext cx="1554480" cy="452628"/>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A01 D1 Blue</a:t>
            </a:r>
          </a:p>
          <a:p>
            <a:pPr algn="r">
              <a:spcBef>
                <a:spcPts val="0"/>
              </a:spcBef>
              <a:spcAft>
                <a:spcPts val="0"/>
              </a:spcAft>
            </a:pPr>
            <a:r>
              <a:rPr sz="1100" b="0" i="0">
                <a:solidFill>
                  <a:srgbClr val="1E2D44"/>
                </a:solidFill>
                <a:latin typeface="Karla"/>
              </a:rPr>
              <a:t>Wrapper</a:t>
            </a:r>
          </a:p>
        </p:txBody>
      </p:sp>
      <p:sp>
        <p:nvSpPr>
          <p:cNvPr id="34" name="Rectangle 33"/>
          <p:cNvSpPr/>
          <p:nvPr/>
        </p:nvSpPr>
        <p:spPr>
          <a:xfrm>
            <a:off x="3783583" y="3351276"/>
            <a:ext cx="1131519"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969967" y="3351276"/>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+7</a:t>
            </a:r>
          </a:p>
        </p:txBody>
      </p:sp>
      <p:sp>
        <p:nvSpPr>
          <p:cNvPr id="36" name="Rectangle 35"/>
          <p:cNvSpPr/>
          <p:nvPr/>
        </p:nvSpPr>
        <p:spPr>
          <a:xfrm>
            <a:off x="3783583" y="3474720"/>
            <a:ext cx="1454810"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293258" y="3474720"/>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+9</a:t>
            </a:r>
          </a:p>
        </p:txBody>
      </p:sp>
      <p:sp>
        <p:nvSpPr>
          <p:cNvPr id="38" name="Rectangle 37"/>
          <p:cNvSpPr/>
          <p:nvPr/>
        </p:nvSpPr>
        <p:spPr>
          <a:xfrm>
            <a:off x="3783583" y="3598164"/>
            <a:ext cx="2263038"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101486" y="3598164"/>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+14</a:t>
            </a:r>
          </a:p>
        </p:txBody>
      </p:sp>
      <p:sp>
        <p:nvSpPr>
          <p:cNvPr id="40" name="Rectangle 39"/>
          <p:cNvSpPr/>
          <p:nvPr/>
        </p:nvSpPr>
        <p:spPr>
          <a:xfrm>
            <a:off x="3783583" y="3721608"/>
            <a:ext cx="2586329"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24777" y="3721608"/>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+16</a:t>
            </a:r>
          </a:p>
        </p:txBody>
      </p:sp>
      <p:sp>
        <p:nvSpPr>
          <p:cNvPr id="42" name="TextBox 41"/>
          <p:cNvSpPr txBox="1"/>
          <p:nvPr/>
        </p:nvSpPr>
        <p:spPr>
          <a:xfrm>
            <a:off x="502920" y="4123944"/>
            <a:ext cx="1554480" cy="452628"/>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A03 D1 Yellow</a:t>
            </a:r>
          </a:p>
          <a:p>
            <a:pPr algn="r">
              <a:spcBef>
                <a:spcPts val="0"/>
              </a:spcBef>
              <a:spcAft>
                <a:spcPts val="0"/>
              </a:spcAft>
            </a:pPr>
            <a:r>
              <a:rPr sz="1100" b="0" i="0">
                <a:solidFill>
                  <a:srgbClr val="1E2D44"/>
                </a:solidFill>
                <a:latin typeface="Karla"/>
              </a:rPr>
              <a:t>Wrapper</a:t>
            </a:r>
          </a:p>
        </p:txBody>
      </p:sp>
      <p:sp>
        <p:nvSpPr>
          <p:cNvPr id="43" name="Rectangle 42"/>
          <p:cNvSpPr/>
          <p:nvPr/>
        </p:nvSpPr>
        <p:spPr>
          <a:xfrm>
            <a:off x="3783583" y="4123944"/>
            <a:ext cx="161645"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000093" y="4123944"/>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+1</a:t>
            </a:r>
          </a:p>
        </p:txBody>
      </p:sp>
      <p:sp>
        <p:nvSpPr>
          <p:cNvPr id="45" name="Rectangle 44"/>
          <p:cNvSpPr/>
          <p:nvPr/>
        </p:nvSpPr>
        <p:spPr>
          <a:xfrm>
            <a:off x="3783583" y="4247388"/>
            <a:ext cx="646582"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485030" y="4247388"/>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+4</a:t>
            </a:r>
          </a:p>
        </p:txBody>
      </p:sp>
      <p:sp>
        <p:nvSpPr>
          <p:cNvPr id="47" name="Rectangle 46"/>
          <p:cNvSpPr/>
          <p:nvPr/>
        </p:nvSpPr>
        <p:spPr>
          <a:xfrm>
            <a:off x="3783583" y="4370831"/>
            <a:ext cx="1778101"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616549" y="4370831"/>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+11</a:t>
            </a:r>
          </a:p>
        </p:txBody>
      </p:sp>
      <p:sp>
        <p:nvSpPr>
          <p:cNvPr id="49" name="Rectangle 48"/>
          <p:cNvSpPr/>
          <p:nvPr/>
        </p:nvSpPr>
        <p:spPr>
          <a:xfrm>
            <a:off x="3783583" y="4494276"/>
            <a:ext cx="2586329"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424777" y="4494276"/>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+16</a:t>
            </a:r>
          </a:p>
        </p:txBody>
      </p:sp>
      <p:sp>
        <p:nvSpPr>
          <p:cNvPr id="51" name="Rectangle 50"/>
          <p:cNvSpPr/>
          <p:nvPr/>
        </p:nvSpPr>
        <p:spPr>
          <a:xfrm>
            <a:off x="684783" y="5161788"/>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58519" y="5102352"/>
            <a:ext cx="376936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Heard of it, but know little about it (basesize = 22)</a:t>
            </a:r>
          </a:p>
        </p:txBody>
      </p:sp>
      <p:sp>
        <p:nvSpPr>
          <p:cNvPr id="53" name="Rectangle 52"/>
          <p:cNvSpPr/>
          <p:nvPr/>
        </p:nvSpPr>
        <p:spPr>
          <a:xfrm>
            <a:off x="4883911" y="5161788"/>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057647" y="5102352"/>
            <a:ext cx="248920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Not familiar at all (basesize = 25)</a:t>
            </a:r>
          </a:p>
        </p:txBody>
      </p:sp>
      <p:sp>
        <p:nvSpPr>
          <p:cNvPr id="55" name="Rectangle 54"/>
          <p:cNvSpPr/>
          <p:nvPr/>
        </p:nvSpPr>
        <p:spPr>
          <a:xfrm>
            <a:off x="2085339" y="5381244"/>
            <a:ext cx="100584" cy="10058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259075" y="5321808"/>
            <a:ext cx="234696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Somewhat familiar (basesize = 49)</a:t>
            </a:r>
          </a:p>
        </p:txBody>
      </p:sp>
      <p:sp>
        <p:nvSpPr>
          <p:cNvPr id="57" name="Rectangle 56"/>
          <p:cNvSpPr/>
          <p:nvPr/>
        </p:nvSpPr>
        <p:spPr>
          <a:xfrm>
            <a:off x="4862067" y="5381244"/>
            <a:ext cx="100584" cy="100584"/>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035803" y="5321808"/>
            <a:ext cx="206248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Very familiar (basesize = 54)</a:t>
            </a:r>
          </a:p>
        </p:txBody>
      </p:sp>
      <p:sp>
        <p:nvSpPr>
          <p:cNvPr id="59" name="Rounded Rectangle 58"/>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7935467" y="601527"/>
            <a:ext cx="1709927" cy="135726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1" name="Picture 60" descr="A11.png"/>
          <p:cNvPicPr>
            <a:picLocks noChangeAspect="1"/>
          </p:cNvPicPr>
          <p:nvPr/>
        </p:nvPicPr>
        <p:blipFill>
          <a:blip r:embed="rId2"/>
          <a:stretch>
            <a:fillRect/>
          </a:stretch>
        </p:blipFill>
        <p:spPr>
          <a:xfrm>
            <a:off x="7949183" y="615243"/>
            <a:ext cx="1682495" cy="1329833"/>
          </a:xfrm>
          <a:prstGeom prst="rect">
            <a:avLst/>
          </a:prstGeom>
        </p:spPr>
      </p:pic>
      <p:sp>
        <p:nvSpPr>
          <p:cNvPr id="62" name="TextBox 61"/>
          <p:cNvSpPr txBox="1"/>
          <p:nvPr/>
        </p:nvSpPr>
        <p:spPr>
          <a:xfrm>
            <a:off x="7912607" y="1999940"/>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D3 Yellow Wrapper</a:t>
            </a:r>
          </a:p>
        </p:txBody>
      </p:sp>
      <p:sp>
        <p:nvSpPr>
          <p:cNvPr id="63" name="TextBox 62"/>
          <p:cNvSpPr txBox="1"/>
          <p:nvPr/>
        </p:nvSpPr>
        <p:spPr>
          <a:xfrm>
            <a:off x="7912607" y="2365700"/>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+10*</a:t>
            </a:r>
          </a:p>
        </p:txBody>
      </p:sp>
      <p:sp>
        <p:nvSpPr>
          <p:cNvPr id="64" name="Rectangle 63"/>
          <p:cNvSpPr/>
          <p:nvPr/>
        </p:nvSpPr>
        <p:spPr>
          <a:xfrm>
            <a:off x="9855707" y="601527"/>
            <a:ext cx="1709927" cy="135726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5" name="Picture 64" descr="A4.png"/>
          <p:cNvPicPr>
            <a:picLocks noChangeAspect="1"/>
          </p:cNvPicPr>
          <p:nvPr/>
        </p:nvPicPr>
        <p:blipFill>
          <a:blip r:embed="rId3"/>
          <a:stretch>
            <a:fillRect/>
          </a:stretch>
        </p:blipFill>
        <p:spPr>
          <a:xfrm>
            <a:off x="9869423" y="615243"/>
            <a:ext cx="1682495" cy="1329833"/>
          </a:xfrm>
          <a:prstGeom prst="rect">
            <a:avLst/>
          </a:prstGeom>
        </p:spPr>
      </p:pic>
      <p:sp>
        <p:nvSpPr>
          <p:cNvPr id="66" name="TextBox 65"/>
          <p:cNvSpPr txBox="1"/>
          <p:nvPr/>
        </p:nvSpPr>
        <p:spPr>
          <a:xfrm>
            <a:off x="9832847" y="1999940"/>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A04 D1 Pink Wrapper</a:t>
            </a:r>
          </a:p>
        </p:txBody>
      </p:sp>
      <p:sp>
        <p:nvSpPr>
          <p:cNvPr id="67" name="TextBox 66"/>
          <p:cNvSpPr txBox="1"/>
          <p:nvPr/>
        </p:nvSpPr>
        <p:spPr>
          <a:xfrm>
            <a:off x="9832847" y="2365700"/>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+11*</a:t>
            </a:r>
          </a:p>
        </p:txBody>
      </p:sp>
      <p:sp>
        <p:nvSpPr>
          <p:cNvPr id="68" name="Rectangle 67"/>
          <p:cNvSpPr/>
          <p:nvPr/>
        </p:nvSpPr>
        <p:spPr>
          <a:xfrm>
            <a:off x="7935467" y="3161847"/>
            <a:ext cx="1709927" cy="135726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9" name="Picture 68" descr="A1.png"/>
          <p:cNvPicPr>
            <a:picLocks noChangeAspect="1"/>
          </p:cNvPicPr>
          <p:nvPr/>
        </p:nvPicPr>
        <p:blipFill>
          <a:blip r:embed="rId4"/>
          <a:stretch>
            <a:fillRect/>
          </a:stretch>
        </p:blipFill>
        <p:spPr>
          <a:xfrm>
            <a:off x="7949183" y="3175563"/>
            <a:ext cx="1682495" cy="1329833"/>
          </a:xfrm>
          <a:prstGeom prst="rect">
            <a:avLst/>
          </a:prstGeom>
        </p:spPr>
      </p:pic>
      <p:sp>
        <p:nvSpPr>
          <p:cNvPr id="70" name="TextBox 69"/>
          <p:cNvSpPr txBox="1"/>
          <p:nvPr/>
        </p:nvSpPr>
        <p:spPr>
          <a:xfrm>
            <a:off x="7912607" y="4560260"/>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A01 D1 Blue Wrapper</a:t>
            </a:r>
          </a:p>
        </p:txBody>
      </p:sp>
      <p:sp>
        <p:nvSpPr>
          <p:cNvPr id="71" name="TextBox 70"/>
          <p:cNvSpPr txBox="1"/>
          <p:nvPr/>
        </p:nvSpPr>
        <p:spPr>
          <a:xfrm>
            <a:off x="7912607" y="4926020"/>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+12*</a:t>
            </a:r>
          </a:p>
        </p:txBody>
      </p:sp>
      <p:sp>
        <p:nvSpPr>
          <p:cNvPr id="72" name="Rectangle 71"/>
          <p:cNvSpPr/>
          <p:nvPr/>
        </p:nvSpPr>
        <p:spPr>
          <a:xfrm>
            <a:off x="9855707" y="3161847"/>
            <a:ext cx="1709927" cy="135726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3" name="Picture 72" descr="A3.png"/>
          <p:cNvPicPr>
            <a:picLocks noChangeAspect="1"/>
          </p:cNvPicPr>
          <p:nvPr/>
        </p:nvPicPr>
        <p:blipFill>
          <a:blip r:embed="rId5"/>
          <a:stretch>
            <a:fillRect/>
          </a:stretch>
        </p:blipFill>
        <p:spPr>
          <a:xfrm>
            <a:off x="9869423" y="3175563"/>
            <a:ext cx="1682495" cy="1329833"/>
          </a:xfrm>
          <a:prstGeom prst="rect">
            <a:avLst/>
          </a:prstGeom>
        </p:spPr>
      </p:pic>
      <p:sp>
        <p:nvSpPr>
          <p:cNvPr id="74" name="TextBox 73"/>
          <p:cNvSpPr txBox="1"/>
          <p:nvPr/>
        </p:nvSpPr>
        <p:spPr>
          <a:xfrm>
            <a:off x="9832847" y="4560260"/>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A03 D1 Yellow</a:t>
            </a:r>
          </a:p>
          <a:p>
            <a:pPr algn="ctr">
              <a:spcBef>
                <a:spcPts val="0"/>
              </a:spcBef>
              <a:spcAft>
                <a:spcPts val="0"/>
              </a:spcAft>
            </a:pPr>
            <a:r>
              <a:rPr sz="1200" b="0" i="0">
                <a:solidFill>
                  <a:srgbClr val="1E2D44"/>
                </a:solidFill>
                <a:latin typeface="Karla"/>
              </a:rPr>
              <a:t>Wrapper</a:t>
            </a:r>
          </a:p>
        </p:txBody>
      </p:sp>
      <p:sp>
        <p:nvSpPr>
          <p:cNvPr id="75" name="TextBox 74"/>
          <p:cNvSpPr txBox="1"/>
          <p:nvPr/>
        </p:nvSpPr>
        <p:spPr>
          <a:xfrm>
            <a:off x="9832847" y="4926020"/>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+8*</a:t>
            </a:r>
          </a:p>
        </p:txBody>
      </p:sp>
      <p:sp>
        <p:nvSpPr>
          <p:cNvPr id="76" name="Rounded Rectangle 75"/>
          <p:cNvSpPr/>
          <p:nvPr/>
        </p:nvSpPr>
        <p:spPr>
          <a:xfrm>
            <a:off x="502920" y="5632704"/>
            <a:ext cx="11268455" cy="676656"/>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200" b="0">
                <a:solidFill>
                  <a:srgbClr val="1E2D44"/>
                </a:solidFill>
                <a:latin typeface="Karla"/>
              </a:rPr>
              <a:t>Heard of it, but know little about it favors A06 D2 Orange Wrapper; Not familiar at all favors A07 D2 Yellow Wrapper; Somewhat familiar favors A06 D2 Orange Wrapper; Very familiar favors A05 D2 Blue Wrapper. The widest segment gap is D3 Yellow Wrapper: -4 heard of it, but know little about it / +8 not familiar at all / +17 somewhat familiar / +20 very familiar.</a:t>
            </a:r>
          </a:p>
        </p:txBody>
      </p:sp>
      <p:sp>
        <p:nvSpPr>
          <p:cNvPr id="77" name="Rectangle 76"/>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Top-2 scores rounded to whole points. *Average of the groups in the legend.</a:t>
            </a:r>
          </a:p>
        </p:txBody>
      </p:sp>
      <p:sp>
        <p:nvSpPr>
          <p:cNvPr id="79" name="TextBox 78"/>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37744"/>
            <a:ext cx="7043927" cy="182880"/>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KEY FINDINGS: A_BACKGROUND  ·  How often do you purchase Fitspo products?   ·   1 of 3</a:t>
            </a:r>
          </a:p>
        </p:txBody>
      </p:sp>
      <p:sp>
        <p:nvSpPr>
          <p:cNvPr id="3" name="TextBox 2"/>
          <p:cNvSpPr txBox="1"/>
          <p:nvPr/>
        </p:nvSpPr>
        <p:spPr>
          <a:xfrm>
            <a:off x="502920" y="438912"/>
            <a:ext cx="7043927" cy="365760"/>
          </a:xfrm>
          <a:prstGeom prst="rect">
            <a:avLst/>
          </a:prstGeom>
          <a:noFill/>
        </p:spPr>
        <p:txBody>
          <a:bodyPr wrap="square" anchor="t" lIns="0" rIns="0" tIns="0" bIns="0"/>
          <a:lstStyle/>
          <a:p>
            <a:pPr algn="l">
              <a:spcBef>
                <a:spcPts val="0"/>
              </a:spcBef>
              <a:spcAft>
                <a:spcPts val="0"/>
              </a:spcAft>
            </a:pPr>
            <a:r>
              <a:rPr sz="2600" b="1" i="0">
                <a:solidFill>
                  <a:srgbClr val="1E2D44"/>
                </a:solidFill>
                <a:latin typeface="Karla"/>
              </a:rPr>
              <a:t>A_Background splits across the groups</a:t>
            </a:r>
          </a:p>
        </p:txBody>
      </p:sp>
      <p:sp>
        <p:nvSpPr>
          <p:cNvPr id="4" name="TextBox 3"/>
          <p:cNvSpPr txBox="1"/>
          <p:nvPr/>
        </p:nvSpPr>
        <p:spPr>
          <a:xfrm>
            <a:off x="502920" y="822960"/>
            <a:ext cx="7043927" cy="475488"/>
          </a:xfrm>
          <a:prstGeom prst="rect">
            <a:avLst/>
          </a:prstGeom>
          <a:noFill/>
        </p:spPr>
        <p:txBody>
          <a:bodyPr wrap="square" anchor="t" lIns="0" rIns="0" tIns="0" bIns="0"/>
          <a:lstStyle/>
          <a:p>
            <a:pPr algn="l">
              <a:spcBef>
                <a:spcPts val="0"/>
              </a:spcBef>
              <a:spcAft>
                <a:spcPts val="0"/>
              </a:spcAft>
            </a:pPr>
            <a:r>
              <a:rPr sz="1200" b="0" i="0">
                <a:solidFill>
                  <a:srgbClr val="617086"/>
                </a:solidFill>
                <a:latin typeface="Karla"/>
              </a:rPr>
              <a:t>Have never purchased Fitspo products favor A06 D2 Orange Wrapper; Have purchased in the past, but not currently favors A07 D2 Yellow Wrapper; Occasionally favors A05 D2 Blue Wrapper; Regularly favors A06 D2 Orange Wrapper.</a:t>
            </a:r>
          </a:p>
        </p:txBody>
      </p:sp>
      <p:sp>
        <p:nvSpPr>
          <p:cNvPr id="5" name="Rectangle 4"/>
          <p:cNvSpPr/>
          <p:nvPr/>
        </p:nvSpPr>
        <p:spPr>
          <a:xfrm>
            <a:off x="502920" y="1335024"/>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A_BACKGROUND</a:t>
            </a:r>
          </a:p>
        </p:txBody>
      </p:sp>
      <p:sp>
        <p:nvSpPr>
          <p:cNvPr id="6" name="TextBox 5"/>
          <p:cNvSpPr txBox="1"/>
          <p:nvPr/>
        </p:nvSpPr>
        <p:spPr>
          <a:xfrm>
            <a:off x="1874520"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7" name="Rectangle 6"/>
          <p:cNvSpPr/>
          <p:nvPr/>
        </p:nvSpPr>
        <p:spPr>
          <a:xfrm>
            <a:off x="3379469"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86861"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9" name="Rectangle 8"/>
          <p:cNvSpPr/>
          <p:nvPr/>
        </p:nvSpPr>
        <p:spPr>
          <a:xfrm>
            <a:off x="4591811"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9203"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1" name="Rectangle 10"/>
          <p:cNvSpPr/>
          <p:nvPr/>
        </p:nvSpPr>
        <p:spPr>
          <a:xfrm>
            <a:off x="5804153"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11545"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30</a:t>
            </a:r>
          </a:p>
        </p:txBody>
      </p:sp>
      <p:sp>
        <p:nvSpPr>
          <p:cNvPr id="13" name="Rectangle 12"/>
          <p:cNvSpPr/>
          <p:nvPr/>
        </p:nvSpPr>
        <p:spPr>
          <a:xfrm>
            <a:off x="7016495"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23887"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40</a:t>
            </a:r>
          </a:p>
        </p:txBody>
      </p:sp>
      <p:sp>
        <p:nvSpPr>
          <p:cNvPr id="15" name="Rectangle 14"/>
          <p:cNvSpPr/>
          <p:nvPr/>
        </p:nvSpPr>
        <p:spPr>
          <a:xfrm>
            <a:off x="2167128" y="1645920"/>
            <a:ext cx="10972" cy="2871215"/>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167128" y="4517136"/>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1778508"/>
            <a:ext cx="1554480" cy="452628"/>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A07 D2 Yellow</a:t>
            </a:r>
          </a:p>
          <a:p>
            <a:pPr algn="r">
              <a:spcBef>
                <a:spcPts val="0"/>
              </a:spcBef>
              <a:spcAft>
                <a:spcPts val="0"/>
              </a:spcAft>
            </a:pPr>
            <a:r>
              <a:rPr sz="1100" b="0" i="0">
                <a:solidFill>
                  <a:srgbClr val="1E2D44"/>
                </a:solidFill>
                <a:latin typeface="Karla"/>
              </a:rPr>
              <a:t>Wrapper</a:t>
            </a:r>
          </a:p>
        </p:txBody>
      </p:sp>
      <p:sp>
        <p:nvSpPr>
          <p:cNvPr id="18" name="Rectangle 17"/>
          <p:cNvSpPr/>
          <p:nvPr/>
        </p:nvSpPr>
        <p:spPr>
          <a:xfrm>
            <a:off x="2167128" y="1778508"/>
            <a:ext cx="1576044"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798036" y="1778508"/>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+13</a:t>
            </a:r>
          </a:p>
        </p:txBody>
      </p:sp>
      <p:sp>
        <p:nvSpPr>
          <p:cNvPr id="20" name="Rectangle 19"/>
          <p:cNvSpPr/>
          <p:nvPr/>
        </p:nvSpPr>
        <p:spPr>
          <a:xfrm>
            <a:off x="2167128" y="1901952"/>
            <a:ext cx="3273323"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95315" y="1901952"/>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+27</a:t>
            </a:r>
          </a:p>
        </p:txBody>
      </p:sp>
      <p:sp>
        <p:nvSpPr>
          <p:cNvPr id="22" name="Rectangle 21"/>
          <p:cNvSpPr/>
          <p:nvPr/>
        </p:nvSpPr>
        <p:spPr>
          <a:xfrm>
            <a:off x="2167128" y="2025395"/>
            <a:ext cx="1576044"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798036" y="2025395"/>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+13</a:t>
            </a:r>
          </a:p>
        </p:txBody>
      </p:sp>
      <p:sp>
        <p:nvSpPr>
          <p:cNvPr id="24" name="Rectangle 23"/>
          <p:cNvSpPr/>
          <p:nvPr/>
        </p:nvSpPr>
        <p:spPr>
          <a:xfrm>
            <a:off x="2167128" y="2148840"/>
            <a:ext cx="2545918"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67910" y="2148840"/>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+21</a:t>
            </a:r>
          </a:p>
        </p:txBody>
      </p:sp>
      <p:sp>
        <p:nvSpPr>
          <p:cNvPr id="26" name="TextBox 25"/>
          <p:cNvSpPr txBox="1"/>
          <p:nvPr/>
        </p:nvSpPr>
        <p:spPr>
          <a:xfrm>
            <a:off x="502920" y="2496312"/>
            <a:ext cx="1554480" cy="452628"/>
          </a:xfrm>
          <a:prstGeom prst="rect">
            <a:avLst/>
          </a:prstGeom>
          <a:noFill/>
        </p:spPr>
        <p:txBody>
          <a:bodyPr wrap="none" anchor="ctr" lIns="0" rIns="0" tIns="0" bIns="0"/>
          <a:lstStyle/>
          <a:p>
            <a:pPr algn="r">
              <a:spcBef>
                <a:spcPts val="0"/>
              </a:spcBef>
              <a:spcAft>
                <a:spcPts val="0"/>
              </a:spcAft>
            </a:pPr>
            <a:r>
              <a:rPr sz="1200" b="0" i="0">
                <a:solidFill>
                  <a:srgbClr val="1E2D44"/>
                </a:solidFill>
                <a:latin typeface="Karla"/>
              </a:rPr>
              <a:t>D3 Pink Wrapper</a:t>
            </a:r>
          </a:p>
        </p:txBody>
      </p:sp>
      <p:sp>
        <p:nvSpPr>
          <p:cNvPr id="27" name="Rectangle 26"/>
          <p:cNvSpPr/>
          <p:nvPr/>
        </p:nvSpPr>
        <p:spPr>
          <a:xfrm>
            <a:off x="2167128" y="2496312"/>
            <a:ext cx="1212341"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434333" y="2496312"/>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+10</a:t>
            </a:r>
          </a:p>
        </p:txBody>
      </p:sp>
      <p:sp>
        <p:nvSpPr>
          <p:cNvPr id="29" name="Rectangle 28"/>
          <p:cNvSpPr/>
          <p:nvPr/>
        </p:nvSpPr>
        <p:spPr>
          <a:xfrm>
            <a:off x="2167128" y="2619756"/>
            <a:ext cx="3152089"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374081" y="2619756"/>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+26</a:t>
            </a:r>
          </a:p>
        </p:txBody>
      </p:sp>
      <p:sp>
        <p:nvSpPr>
          <p:cNvPr id="31" name="Rectangle 30"/>
          <p:cNvSpPr/>
          <p:nvPr/>
        </p:nvSpPr>
        <p:spPr>
          <a:xfrm>
            <a:off x="2167128" y="2743200"/>
            <a:ext cx="1576044"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798036" y="2743200"/>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+13</a:t>
            </a:r>
          </a:p>
        </p:txBody>
      </p:sp>
      <p:sp>
        <p:nvSpPr>
          <p:cNvPr id="33" name="Rectangle 32"/>
          <p:cNvSpPr/>
          <p:nvPr/>
        </p:nvSpPr>
        <p:spPr>
          <a:xfrm>
            <a:off x="2167128" y="2866644"/>
            <a:ext cx="2545918"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767910" y="2866644"/>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+21</a:t>
            </a:r>
          </a:p>
        </p:txBody>
      </p:sp>
      <p:sp>
        <p:nvSpPr>
          <p:cNvPr id="35" name="TextBox 34"/>
          <p:cNvSpPr txBox="1"/>
          <p:nvPr/>
        </p:nvSpPr>
        <p:spPr>
          <a:xfrm>
            <a:off x="502920" y="3214116"/>
            <a:ext cx="1554480" cy="452628"/>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A06 D2 Orange</a:t>
            </a:r>
          </a:p>
          <a:p>
            <a:pPr algn="r">
              <a:spcBef>
                <a:spcPts val="0"/>
              </a:spcBef>
              <a:spcAft>
                <a:spcPts val="0"/>
              </a:spcAft>
            </a:pPr>
            <a:r>
              <a:rPr sz="1100" b="0" i="0">
                <a:solidFill>
                  <a:srgbClr val="1E2D44"/>
                </a:solidFill>
                <a:latin typeface="Karla"/>
              </a:rPr>
              <a:t>Wrapper</a:t>
            </a:r>
          </a:p>
        </p:txBody>
      </p:sp>
      <p:sp>
        <p:nvSpPr>
          <p:cNvPr id="36" name="Rectangle 35"/>
          <p:cNvSpPr/>
          <p:nvPr/>
        </p:nvSpPr>
        <p:spPr>
          <a:xfrm>
            <a:off x="2167128" y="3214116"/>
            <a:ext cx="2060981"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282973" y="3214116"/>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+17</a:t>
            </a:r>
          </a:p>
        </p:txBody>
      </p:sp>
      <p:sp>
        <p:nvSpPr>
          <p:cNvPr id="38" name="Rectangle 37"/>
          <p:cNvSpPr/>
          <p:nvPr/>
        </p:nvSpPr>
        <p:spPr>
          <a:xfrm>
            <a:off x="2167128" y="3337560"/>
            <a:ext cx="2545918"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767910" y="3337560"/>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+21</a:t>
            </a:r>
          </a:p>
        </p:txBody>
      </p:sp>
      <p:sp>
        <p:nvSpPr>
          <p:cNvPr id="40" name="Rectangle 39"/>
          <p:cNvSpPr/>
          <p:nvPr/>
        </p:nvSpPr>
        <p:spPr>
          <a:xfrm>
            <a:off x="2167128" y="3461004"/>
            <a:ext cx="1818512"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040504" y="3461004"/>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+15</a:t>
            </a:r>
          </a:p>
        </p:txBody>
      </p:sp>
      <p:sp>
        <p:nvSpPr>
          <p:cNvPr id="42" name="Rectangle 41"/>
          <p:cNvSpPr/>
          <p:nvPr/>
        </p:nvSpPr>
        <p:spPr>
          <a:xfrm>
            <a:off x="2167128" y="3584448"/>
            <a:ext cx="2788386"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010378" y="3584448"/>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+23</a:t>
            </a:r>
          </a:p>
        </p:txBody>
      </p:sp>
      <p:sp>
        <p:nvSpPr>
          <p:cNvPr id="44" name="TextBox 43"/>
          <p:cNvSpPr txBox="1"/>
          <p:nvPr/>
        </p:nvSpPr>
        <p:spPr>
          <a:xfrm>
            <a:off x="502920" y="3931919"/>
            <a:ext cx="1554480" cy="452628"/>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A01 D1 Blue</a:t>
            </a:r>
          </a:p>
          <a:p>
            <a:pPr algn="r">
              <a:spcBef>
                <a:spcPts val="0"/>
              </a:spcBef>
              <a:spcAft>
                <a:spcPts val="0"/>
              </a:spcAft>
            </a:pPr>
            <a:r>
              <a:rPr sz="1100" b="0" i="0">
                <a:solidFill>
                  <a:srgbClr val="1E2D44"/>
                </a:solidFill>
                <a:latin typeface="Karla"/>
              </a:rPr>
              <a:t>Wrapper</a:t>
            </a:r>
          </a:p>
        </p:txBody>
      </p:sp>
      <p:sp>
        <p:nvSpPr>
          <p:cNvPr id="45" name="Rectangle 44"/>
          <p:cNvSpPr/>
          <p:nvPr/>
        </p:nvSpPr>
        <p:spPr>
          <a:xfrm>
            <a:off x="2167128" y="3931919"/>
            <a:ext cx="969873"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191865" y="3931919"/>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+8</a:t>
            </a:r>
          </a:p>
        </p:txBody>
      </p:sp>
      <p:sp>
        <p:nvSpPr>
          <p:cNvPr id="47" name="Rectangle 46"/>
          <p:cNvSpPr/>
          <p:nvPr/>
        </p:nvSpPr>
        <p:spPr>
          <a:xfrm>
            <a:off x="2167128" y="4055363"/>
            <a:ext cx="2545918"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767910" y="4055363"/>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+21</a:t>
            </a:r>
          </a:p>
        </p:txBody>
      </p:sp>
      <p:sp>
        <p:nvSpPr>
          <p:cNvPr id="49" name="Rectangle 48"/>
          <p:cNvSpPr/>
          <p:nvPr/>
        </p:nvSpPr>
        <p:spPr>
          <a:xfrm>
            <a:off x="2167128" y="4178807"/>
            <a:ext cx="1697278"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919270" y="4178807"/>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+14</a:t>
            </a:r>
          </a:p>
        </p:txBody>
      </p:sp>
      <p:sp>
        <p:nvSpPr>
          <p:cNvPr id="51" name="Rectangle 50"/>
          <p:cNvSpPr/>
          <p:nvPr/>
        </p:nvSpPr>
        <p:spPr>
          <a:xfrm>
            <a:off x="2167128" y="4302251"/>
            <a:ext cx="1576044"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798036" y="4302251"/>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+13</a:t>
            </a:r>
          </a:p>
        </p:txBody>
      </p:sp>
      <p:sp>
        <p:nvSpPr>
          <p:cNvPr id="53" name="Rectangle 52"/>
          <p:cNvSpPr/>
          <p:nvPr/>
        </p:nvSpPr>
        <p:spPr>
          <a:xfrm>
            <a:off x="2655823" y="4942332"/>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2829559" y="4882896"/>
            <a:ext cx="369824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Have never purchased Fitspo products (basesize = 37)</a:t>
            </a:r>
          </a:p>
        </p:txBody>
      </p:sp>
      <p:sp>
        <p:nvSpPr>
          <p:cNvPr id="55" name="Rectangle 54"/>
          <p:cNvSpPr/>
          <p:nvPr/>
        </p:nvSpPr>
        <p:spPr>
          <a:xfrm>
            <a:off x="613663" y="5161788"/>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87399" y="5102352"/>
            <a:ext cx="433832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Have purchased in the past, but not currently (basesize = 12)</a:t>
            </a:r>
          </a:p>
        </p:txBody>
      </p:sp>
      <p:sp>
        <p:nvSpPr>
          <p:cNvPr id="57" name="Rectangle 56"/>
          <p:cNvSpPr/>
          <p:nvPr/>
        </p:nvSpPr>
        <p:spPr>
          <a:xfrm>
            <a:off x="5381751" y="5161788"/>
            <a:ext cx="100584" cy="10058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555487" y="5102352"/>
            <a:ext cx="199136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Occasionally (basesize = 56)</a:t>
            </a:r>
          </a:p>
        </p:txBody>
      </p:sp>
      <p:sp>
        <p:nvSpPr>
          <p:cNvPr id="59" name="Rectangle 58"/>
          <p:cNvSpPr/>
          <p:nvPr/>
        </p:nvSpPr>
        <p:spPr>
          <a:xfrm>
            <a:off x="3615943" y="5381244"/>
            <a:ext cx="100584" cy="100584"/>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789679" y="5321808"/>
            <a:ext cx="177800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Regularly (basesize = 45)</a:t>
            </a:r>
          </a:p>
        </p:txBody>
      </p:sp>
      <p:sp>
        <p:nvSpPr>
          <p:cNvPr id="61" name="Rounded Rectangle 60"/>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7935467" y="601527"/>
            <a:ext cx="1709927" cy="135726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3" name="Picture 62" descr="A7.png"/>
          <p:cNvPicPr>
            <a:picLocks noChangeAspect="1"/>
          </p:cNvPicPr>
          <p:nvPr/>
        </p:nvPicPr>
        <p:blipFill>
          <a:blip r:embed="rId2"/>
          <a:stretch>
            <a:fillRect/>
          </a:stretch>
        </p:blipFill>
        <p:spPr>
          <a:xfrm>
            <a:off x="7949183" y="615243"/>
            <a:ext cx="1682495" cy="1329833"/>
          </a:xfrm>
          <a:prstGeom prst="rect">
            <a:avLst/>
          </a:prstGeom>
        </p:spPr>
      </p:pic>
      <p:sp>
        <p:nvSpPr>
          <p:cNvPr id="64" name="TextBox 63"/>
          <p:cNvSpPr txBox="1"/>
          <p:nvPr/>
        </p:nvSpPr>
        <p:spPr>
          <a:xfrm>
            <a:off x="7912607" y="1999940"/>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A07 D2 Yellow</a:t>
            </a:r>
          </a:p>
          <a:p>
            <a:pPr algn="ctr">
              <a:spcBef>
                <a:spcPts val="0"/>
              </a:spcBef>
              <a:spcAft>
                <a:spcPts val="0"/>
              </a:spcAft>
            </a:pPr>
            <a:r>
              <a:rPr sz="1200" b="0" i="0">
                <a:solidFill>
                  <a:srgbClr val="1E2D44"/>
                </a:solidFill>
                <a:latin typeface="Karla"/>
              </a:rPr>
              <a:t>Wrapper</a:t>
            </a:r>
          </a:p>
        </p:txBody>
      </p:sp>
      <p:sp>
        <p:nvSpPr>
          <p:cNvPr id="65" name="TextBox 64"/>
          <p:cNvSpPr txBox="1"/>
          <p:nvPr/>
        </p:nvSpPr>
        <p:spPr>
          <a:xfrm>
            <a:off x="7912607" y="2365700"/>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+18*</a:t>
            </a:r>
          </a:p>
        </p:txBody>
      </p:sp>
      <p:sp>
        <p:nvSpPr>
          <p:cNvPr id="66" name="Rectangle 65"/>
          <p:cNvSpPr/>
          <p:nvPr/>
        </p:nvSpPr>
        <p:spPr>
          <a:xfrm>
            <a:off x="9855707" y="601527"/>
            <a:ext cx="1709927" cy="135726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7" name="Picture 66" descr="A12.png"/>
          <p:cNvPicPr>
            <a:picLocks noChangeAspect="1"/>
          </p:cNvPicPr>
          <p:nvPr/>
        </p:nvPicPr>
        <p:blipFill>
          <a:blip r:embed="rId3"/>
          <a:stretch>
            <a:fillRect/>
          </a:stretch>
        </p:blipFill>
        <p:spPr>
          <a:xfrm>
            <a:off x="9869423" y="615243"/>
            <a:ext cx="1682495" cy="1329833"/>
          </a:xfrm>
          <a:prstGeom prst="rect">
            <a:avLst/>
          </a:prstGeom>
        </p:spPr>
      </p:pic>
      <p:sp>
        <p:nvSpPr>
          <p:cNvPr id="68" name="TextBox 67"/>
          <p:cNvSpPr txBox="1"/>
          <p:nvPr/>
        </p:nvSpPr>
        <p:spPr>
          <a:xfrm>
            <a:off x="9832847" y="1999940"/>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D3 Pink Wrapper</a:t>
            </a:r>
          </a:p>
        </p:txBody>
      </p:sp>
      <p:sp>
        <p:nvSpPr>
          <p:cNvPr id="69" name="TextBox 68"/>
          <p:cNvSpPr txBox="1"/>
          <p:nvPr/>
        </p:nvSpPr>
        <p:spPr>
          <a:xfrm>
            <a:off x="9832847" y="2365700"/>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+18*</a:t>
            </a:r>
          </a:p>
        </p:txBody>
      </p:sp>
      <p:sp>
        <p:nvSpPr>
          <p:cNvPr id="70" name="Rectangle 69"/>
          <p:cNvSpPr/>
          <p:nvPr/>
        </p:nvSpPr>
        <p:spPr>
          <a:xfrm>
            <a:off x="7935467" y="3161847"/>
            <a:ext cx="1709927" cy="135726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1" name="Picture 70" descr="A6.png"/>
          <p:cNvPicPr>
            <a:picLocks noChangeAspect="1"/>
          </p:cNvPicPr>
          <p:nvPr/>
        </p:nvPicPr>
        <p:blipFill>
          <a:blip r:embed="rId4"/>
          <a:stretch>
            <a:fillRect/>
          </a:stretch>
        </p:blipFill>
        <p:spPr>
          <a:xfrm>
            <a:off x="7949183" y="3175563"/>
            <a:ext cx="1682495" cy="1329833"/>
          </a:xfrm>
          <a:prstGeom prst="rect">
            <a:avLst/>
          </a:prstGeom>
        </p:spPr>
      </p:pic>
      <p:sp>
        <p:nvSpPr>
          <p:cNvPr id="72" name="TextBox 71"/>
          <p:cNvSpPr txBox="1"/>
          <p:nvPr/>
        </p:nvSpPr>
        <p:spPr>
          <a:xfrm>
            <a:off x="7912607" y="4560260"/>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A06 D2 Orange</a:t>
            </a:r>
          </a:p>
          <a:p>
            <a:pPr algn="ctr">
              <a:spcBef>
                <a:spcPts val="0"/>
              </a:spcBef>
              <a:spcAft>
                <a:spcPts val="0"/>
              </a:spcAft>
            </a:pPr>
            <a:r>
              <a:rPr sz="1200" b="0" i="0">
                <a:solidFill>
                  <a:srgbClr val="1E2D44"/>
                </a:solidFill>
                <a:latin typeface="Karla"/>
              </a:rPr>
              <a:t>Wrapper</a:t>
            </a:r>
          </a:p>
        </p:txBody>
      </p:sp>
      <p:sp>
        <p:nvSpPr>
          <p:cNvPr id="73" name="TextBox 72"/>
          <p:cNvSpPr txBox="1"/>
          <p:nvPr/>
        </p:nvSpPr>
        <p:spPr>
          <a:xfrm>
            <a:off x="7912607" y="4926020"/>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+19*</a:t>
            </a:r>
          </a:p>
        </p:txBody>
      </p:sp>
      <p:sp>
        <p:nvSpPr>
          <p:cNvPr id="74" name="Rectangle 73"/>
          <p:cNvSpPr/>
          <p:nvPr/>
        </p:nvSpPr>
        <p:spPr>
          <a:xfrm>
            <a:off x="9855707" y="3161847"/>
            <a:ext cx="1709927" cy="135726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5" name="Picture 74" descr="A1.png"/>
          <p:cNvPicPr>
            <a:picLocks noChangeAspect="1"/>
          </p:cNvPicPr>
          <p:nvPr/>
        </p:nvPicPr>
        <p:blipFill>
          <a:blip r:embed="rId5"/>
          <a:stretch>
            <a:fillRect/>
          </a:stretch>
        </p:blipFill>
        <p:spPr>
          <a:xfrm>
            <a:off x="9869423" y="3175563"/>
            <a:ext cx="1682495" cy="1329833"/>
          </a:xfrm>
          <a:prstGeom prst="rect">
            <a:avLst/>
          </a:prstGeom>
        </p:spPr>
      </p:pic>
      <p:sp>
        <p:nvSpPr>
          <p:cNvPr id="76" name="TextBox 75"/>
          <p:cNvSpPr txBox="1"/>
          <p:nvPr/>
        </p:nvSpPr>
        <p:spPr>
          <a:xfrm>
            <a:off x="9832847" y="4560260"/>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A01 D1 Blue Wrapper</a:t>
            </a:r>
          </a:p>
        </p:txBody>
      </p:sp>
      <p:sp>
        <p:nvSpPr>
          <p:cNvPr id="77" name="TextBox 76"/>
          <p:cNvSpPr txBox="1"/>
          <p:nvPr/>
        </p:nvSpPr>
        <p:spPr>
          <a:xfrm>
            <a:off x="9832847" y="4926020"/>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+14*</a:t>
            </a:r>
          </a:p>
        </p:txBody>
      </p:sp>
      <p:sp>
        <p:nvSpPr>
          <p:cNvPr id="78" name="Rounded Rectangle 77"/>
          <p:cNvSpPr/>
          <p:nvPr/>
        </p:nvSpPr>
        <p:spPr>
          <a:xfrm>
            <a:off x="502920" y="5632704"/>
            <a:ext cx="11268455" cy="676656"/>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200" b="0">
                <a:solidFill>
                  <a:srgbClr val="1E2D44"/>
                </a:solidFill>
                <a:latin typeface="Karla"/>
              </a:rPr>
              <a:t>Have never purchased Fitspo products favor A06 D2 Orange Wrapper; Have purchased in the past, but not currently favors A07 D2 Yellow Wrapper; Occasionally favors A05 D2 Blue Wrapper; Regularly favors A06 D2 Orange Wrapper. The widest segment gap is A03 D1 Yellow Wrapper: +2 have never purchased fitspo products / +7 have purchased in the past, but not currently / +11 occasionally / +18 regularly.</a:t>
            </a:r>
          </a:p>
        </p:txBody>
      </p:sp>
      <p:sp>
        <p:nvSpPr>
          <p:cNvPr id="79" name="Rectangle 78"/>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Top-2 scores rounded to whole points. *Average of the groups in the legend.</a:t>
            </a:r>
          </a:p>
        </p:txBody>
      </p:sp>
      <p:sp>
        <p:nvSpPr>
          <p:cNvPr id="81" name="TextBox 80"/>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37744"/>
            <a:ext cx="7043927" cy="182880"/>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KEY FINDINGS: A_BACKGROUND  ·  How often do you purchase Fitspo products?   ·   2 of 3</a:t>
            </a:r>
          </a:p>
        </p:txBody>
      </p:sp>
      <p:sp>
        <p:nvSpPr>
          <p:cNvPr id="3" name="TextBox 2"/>
          <p:cNvSpPr txBox="1"/>
          <p:nvPr/>
        </p:nvSpPr>
        <p:spPr>
          <a:xfrm>
            <a:off x="502920" y="438912"/>
            <a:ext cx="7043927" cy="365760"/>
          </a:xfrm>
          <a:prstGeom prst="rect">
            <a:avLst/>
          </a:prstGeom>
          <a:noFill/>
        </p:spPr>
        <p:txBody>
          <a:bodyPr wrap="square" anchor="t" lIns="0" rIns="0" tIns="0" bIns="0"/>
          <a:lstStyle/>
          <a:p>
            <a:pPr algn="l">
              <a:spcBef>
                <a:spcPts val="0"/>
              </a:spcBef>
              <a:spcAft>
                <a:spcPts val="0"/>
              </a:spcAft>
            </a:pPr>
            <a:r>
              <a:rPr sz="2600" b="1" i="0">
                <a:solidFill>
                  <a:srgbClr val="1E2D44"/>
                </a:solidFill>
                <a:latin typeface="Karla"/>
              </a:rPr>
              <a:t>A_Background splits across the groups</a:t>
            </a:r>
          </a:p>
        </p:txBody>
      </p:sp>
      <p:sp>
        <p:nvSpPr>
          <p:cNvPr id="4" name="TextBox 3"/>
          <p:cNvSpPr txBox="1"/>
          <p:nvPr/>
        </p:nvSpPr>
        <p:spPr>
          <a:xfrm>
            <a:off x="502920" y="822960"/>
            <a:ext cx="7043927" cy="475488"/>
          </a:xfrm>
          <a:prstGeom prst="rect">
            <a:avLst/>
          </a:prstGeom>
          <a:noFill/>
        </p:spPr>
        <p:txBody>
          <a:bodyPr wrap="square" anchor="t" lIns="0" rIns="0" tIns="0" bIns="0"/>
          <a:lstStyle/>
          <a:p>
            <a:pPr algn="l">
              <a:spcBef>
                <a:spcPts val="0"/>
              </a:spcBef>
              <a:spcAft>
                <a:spcPts val="0"/>
              </a:spcAft>
            </a:pPr>
            <a:r>
              <a:rPr sz="1200" b="0" i="0">
                <a:solidFill>
                  <a:srgbClr val="617086"/>
                </a:solidFill>
                <a:latin typeface="Karla"/>
              </a:rPr>
              <a:t>Have never purchased Fitspo products favor A06 D2 Orange Wrapper; Have purchased in the past, but not currently favors A07 D2 Yellow Wrapper; Occasionally favors A05 D2 Blue Wrapper; Regularly favors A06 D2 Orange Wrapper.</a:t>
            </a:r>
          </a:p>
        </p:txBody>
      </p:sp>
      <p:sp>
        <p:nvSpPr>
          <p:cNvPr id="5" name="Rectangle 4"/>
          <p:cNvSpPr/>
          <p:nvPr/>
        </p:nvSpPr>
        <p:spPr>
          <a:xfrm>
            <a:off x="502920" y="1335024"/>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A_BACKGROUND</a:t>
            </a:r>
          </a:p>
        </p:txBody>
      </p:sp>
      <p:sp>
        <p:nvSpPr>
          <p:cNvPr id="6" name="TextBox 5"/>
          <p:cNvSpPr txBox="1"/>
          <p:nvPr/>
        </p:nvSpPr>
        <p:spPr>
          <a:xfrm>
            <a:off x="1874520"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7" name="Rectangle 6"/>
          <p:cNvSpPr/>
          <p:nvPr/>
        </p:nvSpPr>
        <p:spPr>
          <a:xfrm>
            <a:off x="3783583"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90975"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9" name="Rectangle 8"/>
          <p:cNvSpPr/>
          <p:nvPr/>
        </p:nvSpPr>
        <p:spPr>
          <a:xfrm>
            <a:off x="5400039"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7431"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1" name="Rectangle 10"/>
          <p:cNvSpPr/>
          <p:nvPr/>
        </p:nvSpPr>
        <p:spPr>
          <a:xfrm>
            <a:off x="7016495"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23887"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30</a:t>
            </a:r>
          </a:p>
        </p:txBody>
      </p:sp>
      <p:sp>
        <p:nvSpPr>
          <p:cNvPr id="13" name="Rectangle 12"/>
          <p:cNvSpPr/>
          <p:nvPr/>
        </p:nvSpPr>
        <p:spPr>
          <a:xfrm>
            <a:off x="2167128" y="1645920"/>
            <a:ext cx="10972" cy="2871215"/>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167128" y="4517136"/>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1778508"/>
            <a:ext cx="1554480" cy="452628"/>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A04 D1 Pink</a:t>
            </a:r>
          </a:p>
          <a:p>
            <a:pPr algn="r">
              <a:spcBef>
                <a:spcPts val="0"/>
              </a:spcBef>
              <a:spcAft>
                <a:spcPts val="0"/>
              </a:spcAft>
            </a:pPr>
            <a:r>
              <a:rPr sz="1100" b="0" i="0">
                <a:solidFill>
                  <a:srgbClr val="1E2D44"/>
                </a:solidFill>
                <a:latin typeface="Karla"/>
              </a:rPr>
              <a:t>Wrapper</a:t>
            </a:r>
          </a:p>
        </p:txBody>
      </p:sp>
      <p:sp>
        <p:nvSpPr>
          <p:cNvPr id="16" name="Rectangle 15"/>
          <p:cNvSpPr/>
          <p:nvPr/>
        </p:nvSpPr>
        <p:spPr>
          <a:xfrm>
            <a:off x="2167128" y="1778508"/>
            <a:ext cx="1293164"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15156" y="1778508"/>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+8</a:t>
            </a:r>
          </a:p>
        </p:txBody>
      </p:sp>
      <p:sp>
        <p:nvSpPr>
          <p:cNvPr id="18" name="Rectangle 17"/>
          <p:cNvSpPr/>
          <p:nvPr/>
        </p:nvSpPr>
        <p:spPr>
          <a:xfrm>
            <a:off x="2167128" y="1901952"/>
            <a:ext cx="1293164"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15156" y="1901952"/>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+8</a:t>
            </a:r>
          </a:p>
        </p:txBody>
      </p:sp>
      <p:sp>
        <p:nvSpPr>
          <p:cNvPr id="20" name="Rectangle 19"/>
          <p:cNvSpPr/>
          <p:nvPr/>
        </p:nvSpPr>
        <p:spPr>
          <a:xfrm>
            <a:off x="2167128" y="2025395"/>
            <a:ext cx="1778101"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000093" y="2025395"/>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+11</a:t>
            </a:r>
          </a:p>
        </p:txBody>
      </p:sp>
      <p:sp>
        <p:nvSpPr>
          <p:cNvPr id="22" name="Rectangle 21"/>
          <p:cNvSpPr/>
          <p:nvPr/>
        </p:nvSpPr>
        <p:spPr>
          <a:xfrm>
            <a:off x="2167128" y="2148840"/>
            <a:ext cx="3394557"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16549" y="2148840"/>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+21</a:t>
            </a:r>
          </a:p>
        </p:txBody>
      </p:sp>
      <p:sp>
        <p:nvSpPr>
          <p:cNvPr id="24" name="TextBox 23"/>
          <p:cNvSpPr txBox="1"/>
          <p:nvPr/>
        </p:nvSpPr>
        <p:spPr>
          <a:xfrm>
            <a:off x="502920" y="2496312"/>
            <a:ext cx="1554480" cy="452628"/>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A05 D2 Blue</a:t>
            </a:r>
          </a:p>
          <a:p>
            <a:pPr algn="r">
              <a:spcBef>
                <a:spcPts val="0"/>
              </a:spcBef>
              <a:spcAft>
                <a:spcPts val="0"/>
              </a:spcAft>
            </a:pPr>
            <a:r>
              <a:rPr sz="1100" b="0" i="0">
                <a:solidFill>
                  <a:srgbClr val="1E2D44"/>
                </a:solidFill>
                <a:latin typeface="Karla"/>
              </a:rPr>
              <a:t>Wrapper</a:t>
            </a:r>
          </a:p>
        </p:txBody>
      </p:sp>
      <p:sp>
        <p:nvSpPr>
          <p:cNvPr id="25" name="Rectangle 24"/>
          <p:cNvSpPr/>
          <p:nvPr/>
        </p:nvSpPr>
        <p:spPr>
          <a:xfrm>
            <a:off x="2167128" y="2496312"/>
            <a:ext cx="1293164"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515156" y="2496312"/>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+8</a:t>
            </a:r>
          </a:p>
        </p:txBody>
      </p:sp>
      <p:sp>
        <p:nvSpPr>
          <p:cNvPr id="27" name="Rectangle 26"/>
          <p:cNvSpPr/>
          <p:nvPr/>
        </p:nvSpPr>
        <p:spPr>
          <a:xfrm>
            <a:off x="2167128" y="2619756"/>
            <a:ext cx="1454810"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6802" y="2619756"/>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+9</a:t>
            </a:r>
          </a:p>
        </p:txBody>
      </p:sp>
      <p:sp>
        <p:nvSpPr>
          <p:cNvPr id="29" name="Rectangle 28"/>
          <p:cNvSpPr/>
          <p:nvPr/>
        </p:nvSpPr>
        <p:spPr>
          <a:xfrm>
            <a:off x="2167128" y="2743200"/>
            <a:ext cx="3394557"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616549" y="2743200"/>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+21</a:t>
            </a:r>
          </a:p>
        </p:txBody>
      </p:sp>
      <p:sp>
        <p:nvSpPr>
          <p:cNvPr id="31" name="Rectangle 30"/>
          <p:cNvSpPr/>
          <p:nvPr/>
        </p:nvSpPr>
        <p:spPr>
          <a:xfrm>
            <a:off x="2167128" y="2866644"/>
            <a:ext cx="3232911"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54903" y="2866644"/>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+20</a:t>
            </a:r>
          </a:p>
        </p:txBody>
      </p:sp>
      <p:sp>
        <p:nvSpPr>
          <p:cNvPr id="33" name="TextBox 32"/>
          <p:cNvSpPr txBox="1"/>
          <p:nvPr/>
        </p:nvSpPr>
        <p:spPr>
          <a:xfrm>
            <a:off x="502920" y="3214116"/>
            <a:ext cx="1554480" cy="452628"/>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A08 D2 Pink</a:t>
            </a:r>
          </a:p>
          <a:p>
            <a:pPr algn="r">
              <a:spcBef>
                <a:spcPts val="0"/>
              </a:spcBef>
              <a:spcAft>
                <a:spcPts val="0"/>
              </a:spcAft>
            </a:pPr>
            <a:r>
              <a:rPr sz="1100" b="0" i="0">
                <a:solidFill>
                  <a:srgbClr val="1E2D44"/>
                </a:solidFill>
                <a:latin typeface="Karla"/>
              </a:rPr>
              <a:t>Wrapper</a:t>
            </a:r>
          </a:p>
        </p:txBody>
      </p:sp>
      <p:sp>
        <p:nvSpPr>
          <p:cNvPr id="34" name="Rectangle 33"/>
          <p:cNvSpPr/>
          <p:nvPr/>
        </p:nvSpPr>
        <p:spPr>
          <a:xfrm>
            <a:off x="2167128" y="3214116"/>
            <a:ext cx="1778101"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000093" y="3214116"/>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+11</a:t>
            </a:r>
          </a:p>
        </p:txBody>
      </p:sp>
      <p:sp>
        <p:nvSpPr>
          <p:cNvPr id="36" name="Rectangle 35"/>
          <p:cNvSpPr/>
          <p:nvPr/>
        </p:nvSpPr>
        <p:spPr>
          <a:xfrm>
            <a:off x="2167128" y="3337560"/>
            <a:ext cx="3394557"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616549" y="3337560"/>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+21</a:t>
            </a:r>
          </a:p>
        </p:txBody>
      </p:sp>
      <p:sp>
        <p:nvSpPr>
          <p:cNvPr id="38" name="Rectangle 37"/>
          <p:cNvSpPr/>
          <p:nvPr/>
        </p:nvSpPr>
        <p:spPr>
          <a:xfrm>
            <a:off x="2167128" y="3461004"/>
            <a:ext cx="2586329"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808321" y="3461004"/>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+16</a:t>
            </a:r>
          </a:p>
        </p:txBody>
      </p:sp>
      <p:sp>
        <p:nvSpPr>
          <p:cNvPr id="40" name="Rectangle 39"/>
          <p:cNvSpPr/>
          <p:nvPr/>
        </p:nvSpPr>
        <p:spPr>
          <a:xfrm>
            <a:off x="2167128" y="3584448"/>
            <a:ext cx="3232911"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454903" y="3584448"/>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+20</a:t>
            </a:r>
          </a:p>
        </p:txBody>
      </p:sp>
      <p:sp>
        <p:nvSpPr>
          <p:cNvPr id="42" name="TextBox 41"/>
          <p:cNvSpPr txBox="1"/>
          <p:nvPr/>
        </p:nvSpPr>
        <p:spPr>
          <a:xfrm>
            <a:off x="502920" y="3931919"/>
            <a:ext cx="1554480" cy="452628"/>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A09 D3 Blue</a:t>
            </a:r>
          </a:p>
          <a:p>
            <a:pPr algn="r">
              <a:spcBef>
                <a:spcPts val="0"/>
              </a:spcBef>
              <a:spcAft>
                <a:spcPts val="0"/>
              </a:spcAft>
            </a:pPr>
            <a:r>
              <a:rPr sz="1100" b="0" i="0">
                <a:solidFill>
                  <a:srgbClr val="1E2D44"/>
                </a:solidFill>
                <a:latin typeface="Karla"/>
              </a:rPr>
              <a:t>Wrapper</a:t>
            </a:r>
          </a:p>
        </p:txBody>
      </p:sp>
      <p:sp>
        <p:nvSpPr>
          <p:cNvPr id="43" name="Rectangle 42"/>
          <p:cNvSpPr/>
          <p:nvPr/>
        </p:nvSpPr>
        <p:spPr>
          <a:xfrm>
            <a:off x="2167128" y="3931919"/>
            <a:ext cx="2101392"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323384" y="3931919"/>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+13</a:t>
            </a:r>
          </a:p>
        </p:txBody>
      </p:sp>
      <p:sp>
        <p:nvSpPr>
          <p:cNvPr id="45" name="Rectangle 44"/>
          <p:cNvSpPr/>
          <p:nvPr/>
        </p:nvSpPr>
        <p:spPr>
          <a:xfrm>
            <a:off x="2167128" y="4055363"/>
            <a:ext cx="2101392"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323384" y="4055363"/>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+13</a:t>
            </a:r>
          </a:p>
        </p:txBody>
      </p:sp>
      <p:sp>
        <p:nvSpPr>
          <p:cNvPr id="47" name="Rectangle 46"/>
          <p:cNvSpPr/>
          <p:nvPr/>
        </p:nvSpPr>
        <p:spPr>
          <a:xfrm>
            <a:off x="2167128" y="4178807"/>
            <a:ext cx="2909620"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131612" y="4178807"/>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+18</a:t>
            </a:r>
          </a:p>
        </p:txBody>
      </p:sp>
      <p:sp>
        <p:nvSpPr>
          <p:cNvPr id="49" name="Rectangle 48"/>
          <p:cNvSpPr/>
          <p:nvPr/>
        </p:nvSpPr>
        <p:spPr>
          <a:xfrm>
            <a:off x="2167128" y="4302251"/>
            <a:ext cx="3394557"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616549" y="4302251"/>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+21</a:t>
            </a:r>
          </a:p>
        </p:txBody>
      </p:sp>
      <p:sp>
        <p:nvSpPr>
          <p:cNvPr id="51" name="Rectangle 50"/>
          <p:cNvSpPr/>
          <p:nvPr/>
        </p:nvSpPr>
        <p:spPr>
          <a:xfrm>
            <a:off x="2655823" y="4942332"/>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829559" y="4882896"/>
            <a:ext cx="369824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Have never purchased Fitspo products (basesize = 37)</a:t>
            </a:r>
          </a:p>
        </p:txBody>
      </p:sp>
      <p:sp>
        <p:nvSpPr>
          <p:cNvPr id="53" name="Rectangle 52"/>
          <p:cNvSpPr/>
          <p:nvPr/>
        </p:nvSpPr>
        <p:spPr>
          <a:xfrm>
            <a:off x="613663" y="5161788"/>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87399" y="5102352"/>
            <a:ext cx="433832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Have purchased in the past, but not currently (basesize = 12)</a:t>
            </a:r>
          </a:p>
        </p:txBody>
      </p:sp>
      <p:sp>
        <p:nvSpPr>
          <p:cNvPr id="55" name="Rectangle 54"/>
          <p:cNvSpPr/>
          <p:nvPr/>
        </p:nvSpPr>
        <p:spPr>
          <a:xfrm>
            <a:off x="5381751" y="5161788"/>
            <a:ext cx="100584" cy="10058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555487" y="5102352"/>
            <a:ext cx="199136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Occasionally (basesize = 56)</a:t>
            </a:r>
          </a:p>
        </p:txBody>
      </p:sp>
      <p:sp>
        <p:nvSpPr>
          <p:cNvPr id="57" name="Rectangle 56"/>
          <p:cNvSpPr/>
          <p:nvPr/>
        </p:nvSpPr>
        <p:spPr>
          <a:xfrm>
            <a:off x="3615943" y="5381244"/>
            <a:ext cx="100584" cy="100584"/>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789679" y="5321808"/>
            <a:ext cx="177800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Regularly (basesize = 45)</a:t>
            </a:r>
          </a:p>
        </p:txBody>
      </p:sp>
      <p:sp>
        <p:nvSpPr>
          <p:cNvPr id="59" name="Rounded Rectangle 58"/>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7935467" y="601527"/>
            <a:ext cx="1709927" cy="135726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1" name="Picture 60" descr="A4.png"/>
          <p:cNvPicPr>
            <a:picLocks noChangeAspect="1"/>
          </p:cNvPicPr>
          <p:nvPr/>
        </p:nvPicPr>
        <p:blipFill>
          <a:blip r:embed="rId2"/>
          <a:stretch>
            <a:fillRect/>
          </a:stretch>
        </p:blipFill>
        <p:spPr>
          <a:xfrm>
            <a:off x="7949183" y="615243"/>
            <a:ext cx="1682495" cy="1329833"/>
          </a:xfrm>
          <a:prstGeom prst="rect">
            <a:avLst/>
          </a:prstGeom>
        </p:spPr>
      </p:pic>
      <p:sp>
        <p:nvSpPr>
          <p:cNvPr id="62" name="TextBox 61"/>
          <p:cNvSpPr txBox="1"/>
          <p:nvPr/>
        </p:nvSpPr>
        <p:spPr>
          <a:xfrm>
            <a:off x="7912607" y="1999940"/>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A04 D1 Pink Wrapper</a:t>
            </a:r>
          </a:p>
        </p:txBody>
      </p:sp>
      <p:sp>
        <p:nvSpPr>
          <p:cNvPr id="63" name="TextBox 62"/>
          <p:cNvSpPr txBox="1"/>
          <p:nvPr/>
        </p:nvSpPr>
        <p:spPr>
          <a:xfrm>
            <a:off x="7912607" y="2365700"/>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+12*</a:t>
            </a:r>
          </a:p>
        </p:txBody>
      </p:sp>
      <p:sp>
        <p:nvSpPr>
          <p:cNvPr id="64" name="Rectangle 63"/>
          <p:cNvSpPr/>
          <p:nvPr/>
        </p:nvSpPr>
        <p:spPr>
          <a:xfrm>
            <a:off x="9855707" y="601527"/>
            <a:ext cx="1709927" cy="135726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5" name="Picture 64" descr="A5.png"/>
          <p:cNvPicPr>
            <a:picLocks noChangeAspect="1"/>
          </p:cNvPicPr>
          <p:nvPr/>
        </p:nvPicPr>
        <p:blipFill>
          <a:blip r:embed="rId3"/>
          <a:stretch>
            <a:fillRect/>
          </a:stretch>
        </p:blipFill>
        <p:spPr>
          <a:xfrm>
            <a:off x="9869423" y="615243"/>
            <a:ext cx="1682495" cy="1329833"/>
          </a:xfrm>
          <a:prstGeom prst="rect">
            <a:avLst/>
          </a:prstGeom>
        </p:spPr>
      </p:pic>
      <p:sp>
        <p:nvSpPr>
          <p:cNvPr id="66" name="TextBox 65"/>
          <p:cNvSpPr txBox="1"/>
          <p:nvPr/>
        </p:nvSpPr>
        <p:spPr>
          <a:xfrm>
            <a:off x="9832847" y="1999940"/>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A05 D2 Blue Wrapper</a:t>
            </a:r>
          </a:p>
        </p:txBody>
      </p:sp>
      <p:sp>
        <p:nvSpPr>
          <p:cNvPr id="67" name="TextBox 66"/>
          <p:cNvSpPr txBox="1"/>
          <p:nvPr/>
        </p:nvSpPr>
        <p:spPr>
          <a:xfrm>
            <a:off x="9832847" y="2365700"/>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+14*</a:t>
            </a:r>
          </a:p>
        </p:txBody>
      </p:sp>
      <p:sp>
        <p:nvSpPr>
          <p:cNvPr id="68" name="Rectangle 67"/>
          <p:cNvSpPr/>
          <p:nvPr/>
        </p:nvSpPr>
        <p:spPr>
          <a:xfrm>
            <a:off x="7935467" y="3161847"/>
            <a:ext cx="1709927" cy="135726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9" name="Picture 68" descr="A8.png"/>
          <p:cNvPicPr>
            <a:picLocks noChangeAspect="1"/>
          </p:cNvPicPr>
          <p:nvPr/>
        </p:nvPicPr>
        <p:blipFill>
          <a:blip r:embed="rId4"/>
          <a:stretch>
            <a:fillRect/>
          </a:stretch>
        </p:blipFill>
        <p:spPr>
          <a:xfrm>
            <a:off x="7949183" y="3175563"/>
            <a:ext cx="1682495" cy="1329833"/>
          </a:xfrm>
          <a:prstGeom prst="rect">
            <a:avLst/>
          </a:prstGeom>
        </p:spPr>
      </p:pic>
      <p:sp>
        <p:nvSpPr>
          <p:cNvPr id="70" name="TextBox 69"/>
          <p:cNvSpPr txBox="1"/>
          <p:nvPr/>
        </p:nvSpPr>
        <p:spPr>
          <a:xfrm>
            <a:off x="7912607" y="4560260"/>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A08 D2 Pink Wrapper</a:t>
            </a:r>
          </a:p>
        </p:txBody>
      </p:sp>
      <p:sp>
        <p:nvSpPr>
          <p:cNvPr id="71" name="TextBox 70"/>
          <p:cNvSpPr txBox="1"/>
          <p:nvPr/>
        </p:nvSpPr>
        <p:spPr>
          <a:xfrm>
            <a:off x="7912607" y="4926020"/>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+17*</a:t>
            </a:r>
          </a:p>
        </p:txBody>
      </p:sp>
      <p:sp>
        <p:nvSpPr>
          <p:cNvPr id="72" name="Rectangle 71"/>
          <p:cNvSpPr/>
          <p:nvPr/>
        </p:nvSpPr>
        <p:spPr>
          <a:xfrm>
            <a:off x="9855707" y="3161847"/>
            <a:ext cx="1709927" cy="135726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3" name="Picture 72" descr="A9.png"/>
          <p:cNvPicPr>
            <a:picLocks noChangeAspect="1"/>
          </p:cNvPicPr>
          <p:nvPr/>
        </p:nvPicPr>
        <p:blipFill>
          <a:blip r:embed="rId5"/>
          <a:stretch>
            <a:fillRect/>
          </a:stretch>
        </p:blipFill>
        <p:spPr>
          <a:xfrm>
            <a:off x="9869423" y="3175563"/>
            <a:ext cx="1682495" cy="1329833"/>
          </a:xfrm>
          <a:prstGeom prst="rect">
            <a:avLst/>
          </a:prstGeom>
        </p:spPr>
      </p:pic>
      <p:sp>
        <p:nvSpPr>
          <p:cNvPr id="74" name="TextBox 73"/>
          <p:cNvSpPr txBox="1"/>
          <p:nvPr/>
        </p:nvSpPr>
        <p:spPr>
          <a:xfrm>
            <a:off x="9832847" y="4560260"/>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A09 D3 Blue Wrapper</a:t>
            </a:r>
          </a:p>
        </p:txBody>
      </p:sp>
      <p:sp>
        <p:nvSpPr>
          <p:cNvPr id="75" name="TextBox 74"/>
          <p:cNvSpPr txBox="1"/>
          <p:nvPr/>
        </p:nvSpPr>
        <p:spPr>
          <a:xfrm>
            <a:off x="9832847" y="4926020"/>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+16*</a:t>
            </a:r>
          </a:p>
        </p:txBody>
      </p:sp>
      <p:sp>
        <p:nvSpPr>
          <p:cNvPr id="76" name="Rounded Rectangle 75"/>
          <p:cNvSpPr/>
          <p:nvPr/>
        </p:nvSpPr>
        <p:spPr>
          <a:xfrm>
            <a:off x="502920" y="5632704"/>
            <a:ext cx="11268455" cy="676656"/>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200" b="0">
                <a:solidFill>
                  <a:srgbClr val="1E2D44"/>
                </a:solidFill>
                <a:latin typeface="Karla"/>
              </a:rPr>
              <a:t>Have never purchased Fitspo products favor A06 D2 Orange Wrapper; Have purchased in the past, but not currently favors A07 D2 Yellow Wrapper; Occasionally favors A05 D2 Blue Wrapper; Regularly favors A06 D2 Orange Wrapper. The widest segment gap is A03 D1 Yellow Wrapper: +2 have never purchased fitspo products / +7 have purchased in the past, but not currently / +11 occasionally / +18 regularly.</a:t>
            </a:r>
          </a:p>
        </p:txBody>
      </p:sp>
      <p:sp>
        <p:nvSpPr>
          <p:cNvPr id="77" name="Rectangle 76"/>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Top-2 scores rounded to whole points. *Average of the groups in the legend.</a:t>
            </a:r>
          </a:p>
        </p:txBody>
      </p:sp>
      <p:sp>
        <p:nvSpPr>
          <p:cNvPr id="79" name="TextBox 78"/>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37744"/>
            <a:ext cx="7043927" cy="182880"/>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KEY FINDINGS: A_BACKGROUND  ·  How often do you purchase Fitspo products?   ·   3 of 3</a:t>
            </a:r>
          </a:p>
        </p:txBody>
      </p:sp>
      <p:sp>
        <p:nvSpPr>
          <p:cNvPr id="3" name="TextBox 2"/>
          <p:cNvSpPr txBox="1"/>
          <p:nvPr/>
        </p:nvSpPr>
        <p:spPr>
          <a:xfrm>
            <a:off x="502920" y="438912"/>
            <a:ext cx="7043927" cy="365760"/>
          </a:xfrm>
          <a:prstGeom prst="rect">
            <a:avLst/>
          </a:prstGeom>
          <a:noFill/>
        </p:spPr>
        <p:txBody>
          <a:bodyPr wrap="square" anchor="t" lIns="0" rIns="0" tIns="0" bIns="0"/>
          <a:lstStyle/>
          <a:p>
            <a:pPr algn="l">
              <a:spcBef>
                <a:spcPts val="0"/>
              </a:spcBef>
              <a:spcAft>
                <a:spcPts val="0"/>
              </a:spcAft>
            </a:pPr>
            <a:r>
              <a:rPr sz="2600" b="1" i="0">
                <a:solidFill>
                  <a:srgbClr val="1E2D44"/>
                </a:solidFill>
                <a:latin typeface="Karla"/>
              </a:rPr>
              <a:t>A_Background splits across the groups</a:t>
            </a:r>
          </a:p>
        </p:txBody>
      </p:sp>
      <p:sp>
        <p:nvSpPr>
          <p:cNvPr id="4" name="TextBox 3"/>
          <p:cNvSpPr txBox="1"/>
          <p:nvPr/>
        </p:nvSpPr>
        <p:spPr>
          <a:xfrm>
            <a:off x="502920" y="822960"/>
            <a:ext cx="7043927" cy="475488"/>
          </a:xfrm>
          <a:prstGeom prst="rect">
            <a:avLst/>
          </a:prstGeom>
          <a:noFill/>
        </p:spPr>
        <p:txBody>
          <a:bodyPr wrap="square" anchor="t" lIns="0" rIns="0" tIns="0" bIns="0"/>
          <a:lstStyle/>
          <a:p>
            <a:pPr algn="l">
              <a:spcBef>
                <a:spcPts val="0"/>
              </a:spcBef>
              <a:spcAft>
                <a:spcPts val="0"/>
              </a:spcAft>
            </a:pPr>
            <a:r>
              <a:rPr sz="1200" b="0" i="0">
                <a:solidFill>
                  <a:srgbClr val="617086"/>
                </a:solidFill>
                <a:latin typeface="Karla"/>
              </a:rPr>
              <a:t>Have never purchased Fitspo products favor A06 D2 Orange Wrapper; Have purchased in the past, but not currently favors A07 D2 Yellow Wrapper; Occasionally favors A05 D2 Blue Wrapper; Regularly favors A06 D2 Orange Wrapper.</a:t>
            </a:r>
          </a:p>
        </p:txBody>
      </p:sp>
      <p:sp>
        <p:nvSpPr>
          <p:cNvPr id="5" name="Rectangle 4"/>
          <p:cNvSpPr/>
          <p:nvPr/>
        </p:nvSpPr>
        <p:spPr>
          <a:xfrm>
            <a:off x="502920" y="1335024"/>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A_BACKGROUND</a:t>
            </a:r>
          </a:p>
        </p:txBody>
      </p:sp>
      <p:sp>
        <p:nvSpPr>
          <p:cNvPr id="6" name="TextBox 5"/>
          <p:cNvSpPr txBox="1"/>
          <p:nvPr/>
        </p:nvSpPr>
        <p:spPr>
          <a:xfrm>
            <a:off x="1874520"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7" name="Rectangle 6"/>
          <p:cNvSpPr/>
          <p:nvPr/>
        </p:nvSpPr>
        <p:spPr>
          <a:xfrm>
            <a:off x="3783583"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90975"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9" name="Rectangle 8"/>
          <p:cNvSpPr/>
          <p:nvPr/>
        </p:nvSpPr>
        <p:spPr>
          <a:xfrm>
            <a:off x="5400039"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7431"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1" name="Rectangle 10"/>
          <p:cNvSpPr/>
          <p:nvPr/>
        </p:nvSpPr>
        <p:spPr>
          <a:xfrm>
            <a:off x="7016495"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23887"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30</a:t>
            </a:r>
          </a:p>
        </p:txBody>
      </p:sp>
      <p:sp>
        <p:nvSpPr>
          <p:cNvPr id="13" name="Rectangle 12"/>
          <p:cNvSpPr/>
          <p:nvPr/>
        </p:nvSpPr>
        <p:spPr>
          <a:xfrm>
            <a:off x="2167128" y="1645920"/>
            <a:ext cx="10972" cy="2871215"/>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167128" y="4517136"/>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1778508"/>
            <a:ext cx="1554480" cy="452628"/>
          </a:xfrm>
          <a:prstGeom prst="rect">
            <a:avLst/>
          </a:prstGeom>
          <a:noFill/>
        </p:spPr>
        <p:txBody>
          <a:bodyPr wrap="none" anchor="ctr" lIns="0" rIns="0" tIns="0" bIns="0"/>
          <a:lstStyle/>
          <a:p>
            <a:pPr algn="r">
              <a:spcBef>
                <a:spcPts val="0"/>
              </a:spcBef>
              <a:spcAft>
                <a:spcPts val="0"/>
              </a:spcAft>
            </a:pPr>
            <a:r>
              <a:rPr sz="1200" b="0" i="0">
                <a:solidFill>
                  <a:srgbClr val="1E2D44"/>
                </a:solidFill>
                <a:latin typeface="Karla"/>
              </a:rPr>
              <a:t>D3 Yellow</a:t>
            </a:r>
          </a:p>
          <a:p>
            <a:pPr algn="r">
              <a:spcBef>
                <a:spcPts val="0"/>
              </a:spcBef>
              <a:spcAft>
                <a:spcPts val="0"/>
              </a:spcAft>
            </a:pPr>
            <a:r>
              <a:rPr sz="1200" b="0" i="0">
                <a:solidFill>
                  <a:srgbClr val="1E2D44"/>
                </a:solidFill>
                <a:latin typeface="Karla"/>
              </a:rPr>
              <a:t>Wrapper</a:t>
            </a:r>
          </a:p>
        </p:txBody>
      </p:sp>
      <p:sp>
        <p:nvSpPr>
          <p:cNvPr id="16" name="Rectangle 15"/>
          <p:cNvSpPr/>
          <p:nvPr/>
        </p:nvSpPr>
        <p:spPr>
          <a:xfrm>
            <a:off x="2167128" y="1778508"/>
            <a:ext cx="1131519"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53511" y="1778508"/>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+7</a:t>
            </a:r>
          </a:p>
        </p:txBody>
      </p:sp>
      <p:sp>
        <p:nvSpPr>
          <p:cNvPr id="18" name="Rectangle 17"/>
          <p:cNvSpPr/>
          <p:nvPr/>
        </p:nvSpPr>
        <p:spPr>
          <a:xfrm>
            <a:off x="2167128" y="1901952"/>
            <a:ext cx="1454810"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76802" y="1901952"/>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+9</a:t>
            </a:r>
          </a:p>
        </p:txBody>
      </p:sp>
      <p:sp>
        <p:nvSpPr>
          <p:cNvPr id="20" name="Rectangle 19"/>
          <p:cNvSpPr/>
          <p:nvPr/>
        </p:nvSpPr>
        <p:spPr>
          <a:xfrm>
            <a:off x="2167128" y="2025395"/>
            <a:ext cx="2101392"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23384" y="2025395"/>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+13</a:t>
            </a:r>
          </a:p>
        </p:txBody>
      </p:sp>
      <p:sp>
        <p:nvSpPr>
          <p:cNvPr id="22" name="Rectangle 21"/>
          <p:cNvSpPr/>
          <p:nvPr/>
        </p:nvSpPr>
        <p:spPr>
          <a:xfrm>
            <a:off x="2167128" y="2148840"/>
            <a:ext cx="3394557"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16549" y="2148840"/>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+21</a:t>
            </a:r>
          </a:p>
        </p:txBody>
      </p:sp>
      <p:sp>
        <p:nvSpPr>
          <p:cNvPr id="24" name="TextBox 23"/>
          <p:cNvSpPr txBox="1"/>
          <p:nvPr/>
        </p:nvSpPr>
        <p:spPr>
          <a:xfrm>
            <a:off x="502920" y="2496312"/>
            <a:ext cx="1554480" cy="452628"/>
          </a:xfrm>
          <a:prstGeom prst="rect">
            <a:avLst/>
          </a:prstGeom>
          <a:noFill/>
        </p:spPr>
        <p:txBody>
          <a:bodyPr wrap="none" anchor="ctr" lIns="0" rIns="0" tIns="0" bIns="0"/>
          <a:lstStyle/>
          <a:p>
            <a:pPr algn="r">
              <a:spcBef>
                <a:spcPts val="0"/>
              </a:spcBef>
              <a:spcAft>
                <a:spcPts val="0"/>
              </a:spcAft>
            </a:pPr>
            <a:r>
              <a:rPr sz="1200" b="0" i="0">
                <a:solidFill>
                  <a:srgbClr val="1E2D44"/>
                </a:solidFill>
                <a:latin typeface="Karla"/>
              </a:rPr>
              <a:t>D3 Orange</a:t>
            </a:r>
          </a:p>
          <a:p>
            <a:pPr algn="r">
              <a:spcBef>
                <a:spcPts val="0"/>
              </a:spcBef>
              <a:spcAft>
                <a:spcPts val="0"/>
              </a:spcAft>
            </a:pPr>
            <a:r>
              <a:rPr sz="1200" b="0" i="0">
                <a:solidFill>
                  <a:srgbClr val="1E2D44"/>
                </a:solidFill>
                <a:latin typeface="Karla"/>
              </a:rPr>
              <a:t>Wrapper</a:t>
            </a:r>
          </a:p>
        </p:txBody>
      </p:sp>
      <p:sp>
        <p:nvSpPr>
          <p:cNvPr id="25" name="Rectangle 24"/>
          <p:cNvSpPr/>
          <p:nvPr/>
        </p:nvSpPr>
        <p:spPr>
          <a:xfrm>
            <a:off x="2167128" y="2496312"/>
            <a:ext cx="2424683"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46675" y="2496312"/>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+15</a:t>
            </a:r>
          </a:p>
        </p:txBody>
      </p:sp>
      <p:sp>
        <p:nvSpPr>
          <p:cNvPr id="27" name="Rectangle 26"/>
          <p:cNvSpPr/>
          <p:nvPr/>
        </p:nvSpPr>
        <p:spPr>
          <a:xfrm>
            <a:off x="2167128" y="2619756"/>
            <a:ext cx="3232911"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54903" y="2619756"/>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+20</a:t>
            </a:r>
          </a:p>
        </p:txBody>
      </p:sp>
      <p:sp>
        <p:nvSpPr>
          <p:cNvPr id="29" name="Rectangle 28"/>
          <p:cNvSpPr/>
          <p:nvPr/>
        </p:nvSpPr>
        <p:spPr>
          <a:xfrm>
            <a:off x="2167128" y="2743200"/>
            <a:ext cx="2424683"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46675" y="2743200"/>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+15</a:t>
            </a:r>
          </a:p>
        </p:txBody>
      </p:sp>
      <p:sp>
        <p:nvSpPr>
          <p:cNvPr id="31" name="Rectangle 30"/>
          <p:cNvSpPr/>
          <p:nvPr/>
        </p:nvSpPr>
        <p:spPr>
          <a:xfrm>
            <a:off x="2167128" y="2866644"/>
            <a:ext cx="2424683"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646675" y="2866644"/>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+15</a:t>
            </a:r>
          </a:p>
        </p:txBody>
      </p:sp>
      <p:sp>
        <p:nvSpPr>
          <p:cNvPr id="33" name="TextBox 32"/>
          <p:cNvSpPr txBox="1"/>
          <p:nvPr/>
        </p:nvSpPr>
        <p:spPr>
          <a:xfrm>
            <a:off x="502920" y="3214116"/>
            <a:ext cx="1554480" cy="452628"/>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A02 D1 Orange</a:t>
            </a:r>
          </a:p>
          <a:p>
            <a:pPr algn="r">
              <a:spcBef>
                <a:spcPts val="0"/>
              </a:spcBef>
              <a:spcAft>
                <a:spcPts val="0"/>
              </a:spcAft>
            </a:pPr>
            <a:r>
              <a:rPr sz="1100" b="0" i="0">
                <a:solidFill>
                  <a:srgbClr val="1E2D44"/>
                </a:solidFill>
                <a:latin typeface="Karla"/>
              </a:rPr>
              <a:t>Wrapper</a:t>
            </a:r>
          </a:p>
        </p:txBody>
      </p:sp>
      <p:sp>
        <p:nvSpPr>
          <p:cNvPr id="34" name="Rectangle 33"/>
          <p:cNvSpPr/>
          <p:nvPr/>
        </p:nvSpPr>
        <p:spPr>
          <a:xfrm>
            <a:off x="2167128" y="3214116"/>
            <a:ext cx="1293164"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515156" y="3214116"/>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+8</a:t>
            </a:r>
          </a:p>
        </p:txBody>
      </p:sp>
      <p:sp>
        <p:nvSpPr>
          <p:cNvPr id="36" name="Rectangle 35"/>
          <p:cNvSpPr/>
          <p:nvPr/>
        </p:nvSpPr>
        <p:spPr>
          <a:xfrm>
            <a:off x="2167128" y="3337560"/>
            <a:ext cx="2747975"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969967" y="3337560"/>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+17</a:t>
            </a:r>
          </a:p>
        </p:txBody>
      </p:sp>
      <p:sp>
        <p:nvSpPr>
          <p:cNvPr id="38" name="Rectangle 37"/>
          <p:cNvSpPr/>
          <p:nvPr/>
        </p:nvSpPr>
        <p:spPr>
          <a:xfrm>
            <a:off x="2167128" y="3461004"/>
            <a:ext cx="2101392"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323384" y="3461004"/>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+13</a:t>
            </a:r>
          </a:p>
        </p:txBody>
      </p:sp>
      <p:sp>
        <p:nvSpPr>
          <p:cNvPr id="40" name="Rectangle 39"/>
          <p:cNvSpPr/>
          <p:nvPr/>
        </p:nvSpPr>
        <p:spPr>
          <a:xfrm>
            <a:off x="2167128" y="3584448"/>
            <a:ext cx="3071266"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293258" y="3584448"/>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+19</a:t>
            </a:r>
          </a:p>
        </p:txBody>
      </p:sp>
      <p:sp>
        <p:nvSpPr>
          <p:cNvPr id="42" name="TextBox 41"/>
          <p:cNvSpPr txBox="1"/>
          <p:nvPr/>
        </p:nvSpPr>
        <p:spPr>
          <a:xfrm>
            <a:off x="502920" y="3931919"/>
            <a:ext cx="1554480" cy="452628"/>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A03 D1 Yellow</a:t>
            </a:r>
          </a:p>
          <a:p>
            <a:pPr algn="r">
              <a:spcBef>
                <a:spcPts val="0"/>
              </a:spcBef>
              <a:spcAft>
                <a:spcPts val="0"/>
              </a:spcAft>
            </a:pPr>
            <a:r>
              <a:rPr sz="1100" b="0" i="0">
                <a:solidFill>
                  <a:srgbClr val="1E2D44"/>
                </a:solidFill>
                <a:latin typeface="Karla"/>
              </a:rPr>
              <a:t>Wrapper</a:t>
            </a:r>
          </a:p>
        </p:txBody>
      </p:sp>
      <p:sp>
        <p:nvSpPr>
          <p:cNvPr id="43" name="Rectangle 42"/>
          <p:cNvSpPr/>
          <p:nvPr/>
        </p:nvSpPr>
        <p:spPr>
          <a:xfrm>
            <a:off x="2167128" y="3931919"/>
            <a:ext cx="323291"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545283" y="3931919"/>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+2</a:t>
            </a:r>
          </a:p>
        </p:txBody>
      </p:sp>
      <p:sp>
        <p:nvSpPr>
          <p:cNvPr id="45" name="Rectangle 44"/>
          <p:cNvSpPr/>
          <p:nvPr/>
        </p:nvSpPr>
        <p:spPr>
          <a:xfrm>
            <a:off x="2167128" y="4055363"/>
            <a:ext cx="1131519"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353511" y="4055363"/>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+7</a:t>
            </a:r>
          </a:p>
        </p:txBody>
      </p:sp>
      <p:sp>
        <p:nvSpPr>
          <p:cNvPr id="47" name="Rectangle 46"/>
          <p:cNvSpPr/>
          <p:nvPr/>
        </p:nvSpPr>
        <p:spPr>
          <a:xfrm>
            <a:off x="2167128" y="4178807"/>
            <a:ext cx="1778101"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000093" y="4178807"/>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+11</a:t>
            </a:r>
          </a:p>
        </p:txBody>
      </p:sp>
      <p:sp>
        <p:nvSpPr>
          <p:cNvPr id="49" name="Rectangle 48"/>
          <p:cNvSpPr/>
          <p:nvPr/>
        </p:nvSpPr>
        <p:spPr>
          <a:xfrm>
            <a:off x="2167128" y="4302251"/>
            <a:ext cx="2909620"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131612" y="4302251"/>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+18</a:t>
            </a:r>
          </a:p>
        </p:txBody>
      </p:sp>
      <p:sp>
        <p:nvSpPr>
          <p:cNvPr id="51" name="Rectangle 50"/>
          <p:cNvSpPr/>
          <p:nvPr/>
        </p:nvSpPr>
        <p:spPr>
          <a:xfrm>
            <a:off x="2655823" y="4942332"/>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829559" y="4882896"/>
            <a:ext cx="369824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Have never purchased Fitspo products (basesize = 37)</a:t>
            </a:r>
          </a:p>
        </p:txBody>
      </p:sp>
      <p:sp>
        <p:nvSpPr>
          <p:cNvPr id="53" name="Rectangle 52"/>
          <p:cNvSpPr/>
          <p:nvPr/>
        </p:nvSpPr>
        <p:spPr>
          <a:xfrm>
            <a:off x="613663" y="5161788"/>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87399" y="5102352"/>
            <a:ext cx="433832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Have purchased in the past, but not currently (basesize = 12)</a:t>
            </a:r>
          </a:p>
        </p:txBody>
      </p:sp>
      <p:sp>
        <p:nvSpPr>
          <p:cNvPr id="55" name="Rectangle 54"/>
          <p:cNvSpPr/>
          <p:nvPr/>
        </p:nvSpPr>
        <p:spPr>
          <a:xfrm>
            <a:off x="5381751" y="5161788"/>
            <a:ext cx="100584" cy="10058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555487" y="5102352"/>
            <a:ext cx="199136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Occasionally (basesize = 56)</a:t>
            </a:r>
          </a:p>
        </p:txBody>
      </p:sp>
      <p:sp>
        <p:nvSpPr>
          <p:cNvPr id="57" name="Rectangle 56"/>
          <p:cNvSpPr/>
          <p:nvPr/>
        </p:nvSpPr>
        <p:spPr>
          <a:xfrm>
            <a:off x="3615943" y="5381244"/>
            <a:ext cx="100584" cy="100584"/>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789679" y="5321808"/>
            <a:ext cx="177800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Regularly (basesize = 45)</a:t>
            </a:r>
          </a:p>
        </p:txBody>
      </p:sp>
      <p:sp>
        <p:nvSpPr>
          <p:cNvPr id="59" name="Rounded Rectangle 58"/>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7935467" y="601527"/>
            <a:ext cx="1709927" cy="135726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1" name="Picture 60" descr="A11.png"/>
          <p:cNvPicPr>
            <a:picLocks noChangeAspect="1"/>
          </p:cNvPicPr>
          <p:nvPr/>
        </p:nvPicPr>
        <p:blipFill>
          <a:blip r:embed="rId2"/>
          <a:stretch>
            <a:fillRect/>
          </a:stretch>
        </p:blipFill>
        <p:spPr>
          <a:xfrm>
            <a:off x="7949183" y="615243"/>
            <a:ext cx="1682495" cy="1329833"/>
          </a:xfrm>
          <a:prstGeom prst="rect">
            <a:avLst/>
          </a:prstGeom>
        </p:spPr>
      </p:pic>
      <p:sp>
        <p:nvSpPr>
          <p:cNvPr id="62" name="TextBox 61"/>
          <p:cNvSpPr txBox="1"/>
          <p:nvPr/>
        </p:nvSpPr>
        <p:spPr>
          <a:xfrm>
            <a:off x="7912607" y="1999940"/>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D3 Yellow Wrapper</a:t>
            </a:r>
          </a:p>
        </p:txBody>
      </p:sp>
      <p:sp>
        <p:nvSpPr>
          <p:cNvPr id="63" name="TextBox 62"/>
          <p:cNvSpPr txBox="1"/>
          <p:nvPr/>
        </p:nvSpPr>
        <p:spPr>
          <a:xfrm>
            <a:off x="7912607" y="2365700"/>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+12*</a:t>
            </a:r>
          </a:p>
        </p:txBody>
      </p:sp>
      <p:sp>
        <p:nvSpPr>
          <p:cNvPr id="64" name="Rectangle 63"/>
          <p:cNvSpPr/>
          <p:nvPr/>
        </p:nvSpPr>
        <p:spPr>
          <a:xfrm>
            <a:off x="9855707" y="601527"/>
            <a:ext cx="1709927" cy="135726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5" name="Picture 64" descr="A10.png"/>
          <p:cNvPicPr>
            <a:picLocks noChangeAspect="1"/>
          </p:cNvPicPr>
          <p:nvPr/>
        </p:nvPicPr>
        <p:blipFill>
          <a:blip r:embed="rId3"/>
          <a:stretch>
            <a:fillRect/>
          </a:stretch>
        </p:blipFill>
        <p:spPr>
          <a:xfrm>
            <a:off x="9869423" y="615243"/>
            <a:ext cx="1682495" cy="1329833"/>
          </a:xfrm>
          <a:prstGeom prst="rect">
            <a:avLst/>
          </a:prstGeom>
        </p:spPr>
      </p:pic>
      <p:sp>
        <p:nvSpPr>
          <p:cNvPr id="66" name="TextBox 65"/>
          <p:cNvSpPr txBox="1"/>
          <p:nvPr/>
        </p:nvSpPr>
        <p:spPr>
          <a:xfrm>
            <a:off x="9832847" y="1999940"/>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D3 Orange Wrapper</a:t>
            </a:r>
          </a:p>
        </p:txBody>
      </p:sp>
      <p:sp>
        <p:nvSpPr>
          <p:cNvPr id="67" name="TextBox 66"/>
          <p:cNvSpPr txBox="1"/>
          <p:nvPr/>
        </p:nvSpPr>
        <p:spPr>
          <a:xfrm>
            <a:off x="9832847" y="2365700"/>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+16*</a:t>
            </a:r>
          </a:p>
        </p:txBody>
      </p:sp>
      <p:sp>
        <p:nvSpPr>
          <p:cNvPr id="68" name="Rectangle 67"/>
          <p:cNvSpPr/>
          <p:nvPr/>
        </p:nvSpPr>
        <p:spPr>
          <a:xfrm>
            <a:off x="7935467" y="3161847"/>
            <a:ext cx="1709927" cy="135726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9" name="Picture 68" descr="A2.png"/>
          <p:cNvPicPr>
            <a:picLocks noChangeAspect="1"/>
          </p:cNvPicPr>
          <p:nvPr/>
        </p:nvPicPr>
        <p:blipFill>
          <a:blip r:embed="rId4"/>
          <a:stretch>
            <a:fillRect/>
          </a:stretch>
        </p:blipFill>
        <p:spPr>
          <a:xfrm>
            <a:off x="7949183" y="3175563"/>
            <a:ext cx="1682495" cy="1329833"/>
          </a:xfrm>
          <a:prstGeom prst="rect">
            <a:avLst/>
          </a:prstGeom>
        </p:spPr>
      </p:pic>
      <p:sp>
        <p:nvSpPr>
          <p:cNvPr id="70" name="TextBox 69"/>
          <p:cNvSpPr txBox="1"/>
          <p:nvPr/>
        </p:nvSpPr>
        <p:spPr>
          <a:xfrm>
            <a:off x="7912607" y="4560260"/>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A02 D1 Orange</a:t>
            </a:r>
          </a:p>
          <a:p>
            <a:pPr algn="ctr">
              <a:spcBef>
                <a:spcPts val="0"/>
              </a:spcBef>
              <a:spcAft>
                <a:spcPts val="0"/>
              </a:spcAft>
            </a:pPr>
            <a:r>
              <a:rPr sz="1200" b="0" i="0">
                <a:solidFill>
                  <a:srgbClr val="1E2D44"/>
                </a:solidFill>
                <a:latin typeface="Karla"/>
              </a:rPr>
              <a:t>Wrapper</a:t>
            </a:r>
          </a:p>
        </p:txBody>
      </p:sp>
      <p:sp>
        <p:nvSpPr>
          <p:cNvPr id="71" name="TextBox 70"/>
          <p:cNvSpPr txBox="1"/>
          <p:nvPr/>
        </p:nvSpPr>
        <p:spPr>
          <a:xfrm>
            <a:off x="7912607" y="4926020"/>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+14*</a:t>
            </a:r>
          </a:p>
        </p:txBody>
      </p:sp>
      <p:sp>
        <p:nvSpPr>
          <p:cNvPr id="72" name="Rectangle 71"/>
          <p:cNvSpPr/>
          <p:nvPr/>
        </p:nvSpPr>
        <p:spPr>
          <a:xfrm>
            <a:off x="9855707" y="3161847"/>
            <a:ext cx="1709927" cy="135726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3" name="Picture 72" descr="A3.png"/>
          <p:cNvPicPr>
            <a:picLocks noChangeAspect="1"/>
          </p:cNvPicPr>
          <p:nvPr/>
        </p:nvPicPr>
        <p:blipFill>
          <a:blip r:embed="rId5"/>
          <a:stretch>
            <a:fillRect/>
          </a:stretch>
        </p:blipFill>
        <p:spPr>
          <a:xfrm>
            <a:off x="9869423" y="3175563"/>
            <a:ext cx="1682495" cy="1329833"/>
          </a:xfrm>
          <a:prstGeom prst="rect">
            <a:avLst/>
          </a:prstGeom>
        </p:spPr>
      </p:pic>
      <p:sp>
        <p:nvSpPr>
          <p:cNvPr id="74" name="TextBox 73"/>
          <p:cNvSpPr txBox="1"/>
          <p:nvPr/>
        </p:nvSpPr>
        <p:spPr>
          <a:xfrm>
            <a:off x="9832847" y="4560260"/>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A03 D1 Yellow</a:t>
            </a:r>
          </a:p>
          <a:p>
            <a:pPr algn="ctr">
              <a:spcBef>
                <a:spcPts val="0"/>
              </a:spcBef>
              <a:spcAft>
                <a:spcPts val="0"/>
              </a:spcAft>
            </a:pPr>
            <a:r>
              <a:rPr sz="1200" b="0" i="0">
                <a:solidFill>
                  <a:srgbClr val="1E2D44"/>
                </a:solidFill>
                <a:latin typeface="Karla"/>
              </a:rPr>
              <a:t>Wrapper</a:t>
            </a:r>
          </a:p>
        </p:txBody>
      </p:sp>
      <p:sp>
        <p:nvSpPr>
          <p:cNvPr id="75" name="TextBox 74"/>
          <p:cNvSpPr txBox="1"/>
          <p:nvPr/>
        </p:nvSpPr>
        <p:spPr>
          <a:xfrm>
            <a:off x="9832847" y="4926020"/>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+10*</a:t>
            </a:r>
          </a:p>
        </p:txBody>
      </p:sp>
      <p:sp>
        <p:nvSpPr>
          <p:cNvPr id="76" name="Rounded Rectangle 75"/>
          <p:cNvSpPr/>
          <p:nvPr/>
        </p:nvSpPr>
        <p:spPr>
          <a:xfrm>
            <a:off x="502920" y="5632704"/>
            <a:ext cx="11268455" cy="676656"/>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200" b="0">
                <a:solidFill>
                  <a:srgbClr val="1E2D44"/>
                </a:solidFill>
                <a:latin typeface="Karla"/>
              </a:rPr>
              <a:t>Have never purchased Fitspo products favor A06 D2 Orange Wrapper; Have purchased in the past, but not currently favors A07 D2 Yellow Wrapper; Occasionally favors A05 D2 Blue Wrapper; Regularly favors A06 D2 Orange Wrapper. The widest segment gap is A03 D1 Yellow Wrapper: +2 have never purchased fitspo products / +7 have purchased in the past, but not currently / +11 occasionally / +18 regularly.</a:t>
            </a:r>
          </a:p>
        </p:txBody>
      </p:sp>
      <p:sp>
        <p:nvSpPr>
          <p:cNvPr id="77" name="Rectangle 76"/>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Top-2 scores rounded to whole points. *Average of the groups in the legend.</a:t>
            </a:r>
          </a:p>
        </p:txBody>
      </p:sp>
      <p:sp>
        <p:nvSpPr>
          <p:cNvPr id="79" name="TextBox 78"/>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37744"/>
            <a:ext cx="7043927" cy="182880"/>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KEY FINDINGS: B_COOKIE  ·  Can you read english?   ·   1 of 2</a:t>
            </a:r>
          </a:p>
        </p:txBody>
      </p:sp>
      <p:sp>
        <p:nvSpPr>
          <p:cNvPr id="3" name="TextBox 2"/>
          <p:cNvSpPr txBox="1"/>
          <p:nvPr/>
        </p:nvSpPr>
        <p:spPr>
          <a:xfrm>
            <a:off x="502920" y="438912"/>
            <a:ext cx="7043927" cy="365760"/>
          </a:xfrm>
          <a:prstGeom prst="rect">
            <a:avLst/>
          </a:prstGeom>
          <a:noFill/>
        </p:spPr>
        <p:txBody>
          <a:bodyPr wrap="square" anchor="t" lIns="0" rIns="0" tIns="0" bIns="0"/>
          <a:lstStyle/>
          <a:p>
            <a:pPr algn="l">
              <a:spcBef>
                <a:spcPts val="0"/>
              </a:spcBef>
              <a:spcAft>
                <a:spcPts val="0"/>
              </a:spcAft>
            </a:pPr>
            <a:r>
              <a:rPr sz="2600" b="1" i="0">
                <a:solidFill>
                  <a:srgbClr val="1E2D44"/>
                </a:solidFill>
                <a:latin typeface="Karla"/>
              </a:rPr>
              <a:t>B_Cookie splits across the groups</a:t>
            </a:r>
          </a:p>
        </p:txBody>
      </p:sp>
      <p:sp>
        <p:nvSpPr>
          <p:cNvPr id="4" name="TextBox 3"/>
          <p:cNvSpPr txBox="1"/>
          <p:nvPr/>
        </p:nvSpPr>
        <p:spPr>
          <a:xfrm>
            <a:off x="502920" y="822960"/>
            <a:ext cx="7043927" cy="475488"/>
          </a:xfrm>
          <a:prstGeom prst="rect">
            <a:avLst/>
          </a:prstGeom>
          <a:noFill/>
        </p:spPr>
        <p:txBody>
          <a:bodyPr wrap="square" anchor="t" lIns="0" rIns="0" tIns="0" bIns="0"/>
          <a:lstStyle/>
          <a:p>
            <a:pPr algn="l">
              <a:spcBef>
                <a:spcPts val="0"/>
              </a:spcBef>
              <a:spcAft>
                <a:spcPts val="0"/>
              </a:spcAft>
            </a:pPr>
            <a:r>
              <a:rPr sz="1200" b="0" i="0">
                <a:solidFill>
                  <a:srgbClr val="617086"/>
                </a:solidFill>
                <a:latin typeface="Karla"/>
              </a:rPr>
              <a:t>No favors B04 Cookie Vanilla Filling Right Upper D2D3; Yes favor B01 Cookie Chocolate Filling Right Upper D2D3.</a:t>
            </a:r>
          </a:p>
        </p:txBody>
      </p:sp>
      <p:sp>
        <p:nvSpPr>
          <p:cNvPr id="5" name="Rectangle 4"/>
          <p:cNvSpPr/>
          <p:nvPr/>
        </p:nvSpPr>
        <p:spPr>
          <a:xfrm>
            <a:off x="502920" y="1335024"/>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B_COOKIE</a:t>
            </a:r>
          </a:p>
        </p:txBody>
      </p:sp>
      <p:sp>
        <p:nvSpPr>
          <p:cNvPr id="6" name="TextBox 5"/>
          <p:cNvSpPr txBox="1"/>
          <p:nvPr/>
        </p:nvSpPr>
        <p:spPr>
          <a:xfrm>
            <a:off x="1874520"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7" name="Rectangle 6"/>
          <p:cNvSpPr/>
          <p:nvPr/>
        </p:nvSpPr>
        <p:spPr>
          <a:xfrm>
            <a:off x="3783583" y="1645920"/>
            <a:ext cx="9144" cy="3310128"/>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90975"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50</a:t>
            </a:r>
          </a:p>
        </p:txBody>
      </p:sp>
      <p:sp>
        <p:nvSpPr>
          <p:cNvPr id="9" name="Rectangle 8"/>
          <p:cNvSpPr/>
          <p:nvPr/>
        </p:nvSpPr>
        <p:spPr>
          <a:xfrm>
            <a:off x="5400039" y="1645920"/>
            <a:ext cx="9144" cy="3310128"/>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7431"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100</a:t>
            </a:r>
          </a:p>
        </p:txBody>
      </p:sp>
      <p:sp>
        <p:nvSpPr>
          <p:cNvPr id="11" name="Rectangle 10"/>
          <p:cNvSpPr/>
          <p:nvPr/>
        </p:nvSpPr>
        <p:spPr>
          <a:xfrm>
            <a:off x="7016495" y="1645920"/>
            <a:ext cx="9144" cy="3310128"/>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23887"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150</a:t>
            </a:r>
          </a:p>
        </p:txBody>
      </p:sp>
      <p:sp>
        <p:nvSpPr>
          <p:cNvPr id="13" name="Rectangle 12"/>
          <p:cNvSpPr/>
          <p:nvPr/>
        </p:nvSpPr>
        <p:spPr>
          <a:xfrm>
            <a:off x="2167128" y="1645920"/>
            <a:ext cx="10972" cy="3310128"/>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167128" y="4956048"/>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1883664"/>
            <a:ext cx="1554480" cy="352044"/>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B04 Cookie Vanilla</a:t>
            </a:r>
          </a:p>
          <a:p>
            <a:pPr algn="r">
              <a:spcBef>
                <a:spcPts val="0"/>
              </a:spcBef>
              <a:spcAft>
                <a:spcPts val="0"/>
              </a:spcAft>
            </a:pPr>
            <a:r>
              <a:rPr sz="1000" b="0" i="0">
                <a:solidFill>
                  <a:srgbClr val="1E2D44"/>
                </a:solidFill>
                <a:latin typeface="Karla"/>
              </a:rPr>
              <a:t>Filling Right Upper…</a:t>
            </a:r>
          </a:p>
        </p:txBody>
      </p:sp>
      <p:sp>
        <p:nvSpPr>
          <p:cNvPr id="16" name="Rectangle 15"/>
          <p:cNvSpPr/>
          <p:nvPr/>
        </p:nvSpPr>
        <p:spPr>
          <a:xfrm>
            <a:off x="2167128" y="1883664"/>
            <a:ext cx="3523873"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745865" y="1883664"/>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+109</a:t>
            </a:r>
          </a:p>
        </p:txBody>
      </p:sp>
      <p:sp>
        <p:nvSpPr>
          <p:cNvPr id="18" name="Rectangle 17"/>
          <p:cNvSpPr/>
          <p:nvPr/>
        </p:nvSpPr>
        <p:spPr>
          <a:xfrm>
            <a:off x="2167128" y="2080260"/>
            <a:ext cx="711240"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33232" y="2080260"/>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+22</a:t>
            </a:r>
          </a:p>
        </p:txBody>
      </p:sp>
      <p:sp>
        <p:nvSpPr>
          <p:cNvPr id="20" name="TextBox 19"/>
          <p:cNvSpPr txBox="1"/>
          <p:nvPr/>
        </p:nvSpPr>
        <p:spPr>
          <a:xfrm>
            <a:off x="502920" y="2711196"/>
            <a:ext cx="1554480" cy="352044"/>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B08 Cookie Vanilla</a:t>
            </a:r>
          </a:p>
          <a:p>
            <a:pPr algn="r">
              <a:spcBef>
                <a:spcPts val="0"/>
              </a:spcBef>
              <a:spcAft>
                <a:spcPts val="0"/>
              </a:spcAft>
            </a:pPr>
            <a:r>
              <a:rPr sz="1000" b="0" i="0">
                <a:solidFill>
                  <a:srgbClr val="1E2D44"/>
                </a:solidFill>
                <a:latin typeface="Karla"/>
              </a:rPr>
              <a:t>Filling Right Lower…</a:t>
            </a:r>
          </a:p>
        </p:txBody>
      </p:sp>
      <p:sp>
        <p:nvSpPr>
          <p:cNvPr id="21" name="Rectangle 20"/>
          <p:cNvSpPr/>
          <p:nvPr/>
        </p:nvSpPr>
        <p:spPr>
          <a:xfrm>
            <a:off x="2167128" y="2711196"/>
            <a:ext cx="3426886"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48878" y="2711196"/>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+106</a:t>
            </a:r>
          </a:p>
        </p:txBody>
      </p:sp>
      <p:sp>
        <p:nvSpPr>
          <p:cNvPr id="23" name="Rectangle 22"/>
          <p:cNvSpPr/>
          <p:nvPr/>
        </p:nvSpPr>
        <p:spPr>
          <a:xfrm>
            <a:off x="2167128" y="2907791"/>
            <a:ext cx="614253"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836245" y="2907791"/>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+19</a:t>
            </a:r>
          </a:p>
        </p:txBody>
      </p:sp>
      <p:sp>
        <p:nvSpPr>
          <p:cNvPr id="25" name="TextBox 24"/>
          <p:cNvSpPr txBox="1"/>
          <p:nvPr/>
        </p:nvSpPr>
        <p:spPr>
          <a:xfrm>
            <a:off x="502920" y="3538728"/>
            <a:ext cx="1554480" cy="352044"/>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B02 Cookie Orange</a:t>
            </a:r>
          </a:p>
          <a:p>
            <a:pPr algn="r">
              <a:spcBef>
                <a:spcPts val="0"/>
              </a:spcBef>
              <a:spcAft>
                <a:spcPts val="0"/>
              </a:spcAft>
            </a:pPr>
            <a:r>
              <a:rPr sz="1000" b="0" i="0">
                <a:solidFill>
                  <a:srgbClr val="1E2D44"/>
                </a:solidFill>
                <a:latin typeface="Karla"/>
              </a:rPr>
              <a:t>Filling Right Upper…</a:t>
            </a:r>
          </a:p>
        </p:txBody>
      </p:sp>
      <p:sp>
        <p:nvSpPr>
          <p:cNvPr id="26" name="Rectangle 25"/>
          <p:cNvSpPr/>
          <p:nvPr/>
        </p:nvSpPr>
        <p:spPr>
          <a:xfrm>
            <a:off x="2167128" y="3538728"/>
            <a:ext cx="3394557"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16549" y="3538728"/>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+105</a:t>
            </a:r>
          </a:p>
        </p:txBody>
      </p:sp>
      <p:sp>
        <p:nvSpPr>
          <p:cNvPr id="28" name="Rectangle 27"/>
          <p:cNvSpPr/>
          <p:nvPr/>
        </p:nvSpPr>
        <p:spPr>
          <a:xfrm>
            <a:off x="2167128" y="3735324"/>
            <a:ext cx="711240"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933232" y="3735324"/>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+22</a:t>
            </a:r>
          </a:p>
        </p:txBody>
      </p:sp>
      <p:sp>
        <p:nvSpPr>
          <p:cNvPr id="30" name="TextBox 29"/>
          <p:cNvSpPr txBox="1"/>
          <p:nvPr/>
        </p:nvSpPr>
        <p:spPr>
          <a:xfrm>
            <a:off x="502920" y="4366259"/>
            <a:ext cx="1554480" cy="352044"/>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B03 Cookie Banana</a:t>
            </a:r>
          </a:p>
          <a:p>
            <a:pPr algn="r">
              <a:spcBef>
                <a:spcPts val="0"/>
              </a:spcBef>
              <a:spcAft>
                <a:spcPts val="0"/>
              </a:spcAft>
            </a:pPr>
            <a:r>
              <a:rPr sz="1000" b="0" i="0">
                <a:solidFill>
                  <a:srgbClr val="1E2D44"/>
                </a:solidFill>
                <a:latin typeface="Karla"/>
              </a:rPr>
              <a:t>Filling Right Upper…</a:t>
            </a:r>
          </a:p>
        </p:txBody>
      </p:sp>
      <p:sp>
        <p:nvSpPr>
          <p:cNvPr id="31" name="Rectangle 30"/>
          <p:cNvSpPr/>
          <p:nvPr/>
        </p:nvSpPr>
        <p:spPr>
          <a:xfrm>
            <a:off x="2167128" y="4366259"/>
            <a:ext cx="3297570"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519562" y="4366259"/>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+102</a:t>
            </a:r>
          </a:p>
        </p:txBody>
      </p:sp>
      <p:sp>
        <p:nvSpPr>
          <p:cNvPr id="33" name="Rectangle 32"/>
          <p:cNvSpPr/>
          <p:nvPr/>
        </p:nvSpPr>
        <p:spPr>
          <a:xfrm>
            <a:off x="2167128" y="4562855"/>
            <a:ext cx="678911"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900903" y="4562855"/>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+21</a:t>
            </a:r>
          </a:p>
        </p:txBody>
      </p:sp>
      <p:sp>
        <p:nvSpPr>
          <p:cNvPr id="35" name="Rectangle 34"/>
          <p:cNvSpPr/>
          <p:nvPr/>
        </p:nvSpPr>
        <p:spPr>
          <a:xfrm>
            <a:off x="2797047" y="5381244"/>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970783" y="5321807"/>
            <a:ext cx="1329944" cy="219456"/>
          </a:xfrm>
          <a:prstGeom prst="rect">
            <a:avLst/>
          </a:prstGeom>
          <a:noFill/>
        </p:spPr>
        <p:txBody>
          <a:bodyPr wrap="none" anchor="ctr" lIns="0" rIns="0" tIns="0" bIns="0"/>
          <a:lstStyle/>
          <a:p>
            <a:pPr algn="l">
              <a:spcBef>
                <a:spcPts val="0"/>
              </a:spcBef>
              <a:spcAft>
                <a:spcPts val="0"/>
              </a:spcAft>
            </a:pPr>
            <a:r>
              <a:rPr sz="1100" b="0" i="0">
                <a:solidFill>
                  <a:srgbClr val="2C3A4A"/>
                </a:solidFill>
                <a:latin typeface="Karla"/>
              </a:rPr>
              <a:t>No (basesize = 1)</a:t>
            </a:r>
          </a:p>
        </p:txBody>
      </p:sp>
      <p:sp>
        <p:nvSpPr>
          <p:cNvPr id="37" name="Rectangle 36"/>
          <p:cNvSpPr/>
          <p:nvPr/>
        </p:nvSpPr>
        <p:spPr>
          <a:xfrm>
            <a:off x="4648199" y="5381244"/>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821935" y="5321807"/>
            <a:ext cx="1564640" cy="219456"/>
          </a:xfrm>
          <a:prstGeom prst="rect">
            <a:avLst/>
          </a:prstGeom>
          <a:noFill/>
        </p:spPr>
        <p:txBody>
          <a:bodyPr wrap="none" anchor="ctr" lIns="0" rIns="0" tIns="0" bIns="0"/>
          <a:lstStyle/>
          <a:p>
            <a:pPr algn="l">
              <a:spcBef>
                <a:spcPts val="0"/>
              </a:spcBef>
              <a:spcAft>
                <a:spcPts val="0"/>
              </a:spcAft>
            </a:pPr>
            <a:r>
              <a:rPr sz="1100" b="0" i="0">
                <a:solidFill>
                  <a:srgbClr val="2C3A4A"/>
                </a:solidFill>
                <a:latin typeface="Karla"/>
              </a:rPr>
              <a:t>Yes (basesize = 149)</a:t>
            </a:r>
          </a:p>
        </p:txBody>
      </p:sp>
      <p:sp>
        <p:nvSpPr>
          <p:cNvPr id="39" name="Rounded Rectangle 38"/>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935467" y="617280"/>
            <a:ext cx="1709927" cy="1325758"/>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B4.png"/>
          <p:cNvPicPr>
            <a:picLocks noChangeAspect="1"/>
          </p:cNvPicPr>
          <p:nvPr/>
        </p:nvPicPr>
        <p:blipFill>
          <a:blip r:embed="rId2"/>
          <a:stretch>
            <a:fillRect/>
          </a:stretch>
        </p:blipFill>
        <p:spPr>
          <a:xfrm>
            <a:off x="7949183" y="630996"/>
            <a:ext cx="1682495" cy="1298326"/>
          </a:xfrm>
          <a:prstGeom prst="rect">
            <a:avLst/>
          </a:prstGeom>
        </p:spPr>
      </p:pic>
      <p:sp>
        <p:nvSpPr>
          <p:cNvPr id="42" name="TextBox 41"/>
          <p:cNvSpPr txBox="1"/>
          <p:nvPr/>
        </p:nvSpPr>
        <p:spPr>
          <a:xfrm>
            <a:off x="7912607" y="1984187"/>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B04 Cookie Vanilla</a:t>
            </a:r>
          </a:p>
          <a:p>
            <a:pPr algn="ctr">
              <a:spcBef>
                <a:spcPts val="0"/>
              </a:spcBef>
              <a:spcAft>
                <a:spcPts val="0"/>
              </a:spcAft>
            </a:pPr>
            <a:r>
              <a:rPr sz="1200" b="0" i="0">
                <a:solidFill>
                  <a:srgbClr val="1E2D44"/>
                </a:solidFill>
                <a:latin typeface="Karla"/>
              </a:rPr>
              <a:t>Filling Right Upper…</a:t>
            </a:r>
          </a:p>
        </p:txBody>
      </p:sp>
      <p:sp>
        <p:nvSpPr>
          <p:cNvPr id="43" name="TextBox 42"/>
          <p:cNvSpPr txBox="1"/>
          <p:nvPr/>
        </p:nvSpPr>
        <p:spPr>
          <a:xfrm>
            <a:off x="7912607" y="2349947"/>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+66*</a:t>
            </a:r>
          </a:p>
        </p:txBody>
      </p:sp>
      <p:sp>
        <p:nvSpPr>
          <p:cNvPr id="44" name="Rectangle 43"/>
          <p:cNvSpPr/>
          <p:nvPr/>
        </p:nvSpPr>
        <p:spPr>
          <a:xfrm>
            <a:off x="9855707" y="617280"/>
            <a:ext cx="1709927" cy="1325758"/>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5" name="Picture 44" descr="B8.png"/>
          <p:cNvPicPr>
            <a:picLocks noChangeAspect="1"/>
          </p:cNvPicPr>
          <p:nvPr/>
        </p:nvPicPr>
        <p:blipFill>
          <a:blip r:embed="rId3"/>
          <a:stretch>
            <a:fillRect/>
          </a:stretch>
        </p:blipFill>
        <p:spPr>
          <a:xfrm>
            <a:off x="9869423" y="630996"/>
            <a:ext cx="1682495" cy="1298326"/>
          </a:xfrm>
          <a:prstGeom prst="rect">
            <a:avLst/>
          </a:prstGeom>
        </p:spPr>
      </p:pic>
      <p:sp>
        <p:nvSpPr>
          <p:cNvPr id="46" name="TextBox 45"/>
          <p:cNvSpPr txBox="1"/>
          <p:nvPr/>
        </p:nvSpPr>
        <p:spPr>
          <a:xfrm>
            <a:off x="9832847" y="1984187"/>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B08 Cookie Vanilla</a:t>
            </a:r>
          </a:p>
          <a:p>
            <a:pPr algn="ctr">
              <a:spcBef>
                <a:spcPts val="0"/>
              </a:spcBef>
              <a:spcAft>
                <a:spcPts val="0"/>
              </a:spcAft>
            </a:pPr>
            <a:r>
              <a:rPr sz="1200" b="0" i="0">
                <a:solidFill>
                  <a:srgbClr val="1E2D44"/>
                </a:solidFill>
                <a:latin typeface="Karla"/>
              </a:rPr>
              <a:t>Filling Right Lower…</a:t>
            </a:r>
          </a:p>
        </p:txBody>
      </p:sp>
      <p:sp>
        <p:nvSpPr>
          <p:cNvPr id="47" name="TextBox 46"/>
          <p:cNvSpPr txBox="1"/>
          <p:nvPr/>
        </p:nvSpPr>
        <p:spPr>
          <a:xfrm>
            <a:off x="9832847" y="2349947"/>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+62*</a:t>
            </a:r>
          </a:p>
        </p:txBody>
      </p:sp>
      <p:sp>
        <p:nvSpPr>
          <p:cNvPr id="48" name="Rectangle 47"/>
          <p:cNvSpPr/>
          <p:nvPr/>
        </p:nvSpPr>
        <p:spPr>
          <a:xfrm>
            <a:off x="7935467" y="3177600"/>
            <a:ext cx="1709927" cy="1325758"/>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9" name="Picture 48" descr="B2.png"/>
          <p:cNvPicPr>
            <a:picLocks noChangeAspect="1"/>
          </p:cNvPicPr>
          <p:nvPr/>
        </p:nvPicPr>
        <p:blipFill>
          <a:blip r:embed="rId4"/>
          <a:stretch>
            <a:fillRect/>
          </a:stretch>
        </p:blipFill>
        <p:spPr>
          <a:xfrm>
            <a:off x="7949183" y="3191316"/>
            <a:ext cx="1682495" cy="1298326"/>
          </a:xfrm>
          <a:prstGeom prst="rect">
            <a:avLst/>
          </a:prstGeom>
        </p:spPr>
      </p:pic>
      <p:sp>
        <p:nvSpPr>
          <p:cNvPr id="50" name="TextBox 49"/>
          <p:cNvSpPr txBox="1"/>
          <p:nvPr/>
        </p:nvSpPr>
        <p:spPr>
          <a:xfrm>
            <a:off x="7912607" y="4544507"/>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B02 Cookie Orange</a:t>
            </a:r>
          </a:p>
          <a:p>
            <a:pPr algn="ctr">
              <a:spcBef>
                <a:spcPts val="0"/>
              </a:spcBef>
              <a:spcAft>
                <a:spcPts val="0"/>
              </a:spcAft>
            </a:pPr>
            <a:r>
              <a:rPr sz="1200" b="0" i="0">
                <a:solidFill>
                  <a:srgbClr val="1E2D44"/>
                </a:solidFill>
                <a:latin typeface="Karla"/>
              </a:rPr>
              <a:t>Filling Right Upper…</a:t>
            </a:r>
          </a:p>
        </p:txBody>
      </p:sp>
      <p:sp>
        <p:nvSpPr>
          <p:cNvPr id="51" name="TextBox 50"/>
          <p:cNvSpPr txBox="1"/>
          <p:nvPr/>
        </p:nvSpPr>
        <p:spPr>
          <a:xfrm>
            <a:off x="7912607" y="4910267"/>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+64*</a:t>
            </a:r>
          </a:p>
        </p:txBody>
      </p:sp>
      <p:sp>
        <p:nvSpPr>
          <p:cNvPr id="52" name="Rectangle 51"/>
          <p:cNvSpPr/>
          <p:nvPr/>
        </p:nvSpPr>
        <p:spPr>
          <a:xfrm>
            <a:off x="9855707" y="3177600"/>
            <a:ext cx="1709927" cy="1325758"/>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3" name="Picture 52" descr="B3.png"/>
          <p:cNvPicPr>
            <a:picLocks noChangeAspect="1"/>
          </p:cNvPicPr>
          <p:nvPr/>
        </p:nvPicPr>
        <p:blipFill>
          <a:blip r:embed="rId5"/>
          <a:stretch>
            <a:fillRect/>
          </a:stretch>
        </p:blipFill>
        <p:spPr>
          <a:xfrm>
            <a:off x="9869423" y="3191316"/>
            <a:ext cx="1682495" cy="1298326"/>
          </a:xfrm>
          <a:prstGeom prst="rect">
            <a:avLst/>
          </a:prstGeom>
        </p:spPr>
      </p:pic>
      <p:sp>
        <p:nvSpPr>
          <p:cNvPr id="54" name="TextBox 53"/>
          <p:cNvSpPr txBox="1"/>
          <p:nvPr/>
        </p:nvSpPr>
        <p:spPr>
          <a:xfrm>
            <a:off x="9832847" y="4544507"/>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B03 Cookie Banana</a:t>
            </a:r>
          </a:p>
          <a:p>
            <a:pPr algn="ctr">
              <a:spcBef>
                <a:spcPts val="0"/>
              </a:spcBef>
              <a:spcAft>
                <a:spcPts val="0"/>
              </a:spcAft>
            </a:pPr>
            <a:r>
              <a:rPr sz="1200" b="0" i="0">
                <a:solidFill>
                  <a:srgbClr val="1E2D44"/>
                </a:solidFill>
                <a:latin typeface="Karla"/>
              </a:rPr>
              <a:t>Filling Right Upper…</a:t>
            </a:r>
          </a:p>
        </p:txBody>
      </p:sp>
      <p:sp>
        <p:nvSpPr>
          <p:cNvPr id="55" name="TextBox 54"/>
          <p:cNvSpPr txBox="1"/>
          <p:nvPr/>
        </p:nvSpPr>
        <p:spPr>
          <a:xfrm>
            <a:off x="9832847" y="4910267"/>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+62*</a:t>
            </a:r>
          </a:p>
        </p:txBody>
      </p:sp>
      <p:sp>
        <p:nvSpPr>
          <p:cNvPr id="56" name="Rounded Rectangle 55"/>
          <p:cNvSpPr/>
          <p:nvPr/>
        </p:nvSpPr>
        <p:spPr>
          <a:xfrm>
            <a:off x="502920" y="5632704"/>
            <a:ext cx="11268455" cy="676656"/>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200" b="0">
                <a:solidFill>
                  <a:srgbClr val="1E2D44"/>
                </a:solidFill>
                <a:latin typeface="Karla"/>
              </a:rPr>
              <a:t>No favors B04 Cookie Vanilla Filling Right Upper D2D3; Yes favor B01 Cookie Chocolate Filling Right Upper D2D3. The widest segment gap is B04 Cookie Vanilla Filling Right Upper D2D3: +109 no / +22 yes.</a:t>
            </a:r>
          </a:p>
        </p:txBody>
      </p:sp>
      <p:sp>
        <p:nvSpPr>
          <p:cNvPr id="57" name="Rectangle 56"/>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No basesize = 1; Yes basesize = 149. Top-2 scores rounded to whole points. *Average of the groups in the legend.</a:t>
            </a:r>
          </a:p>
        </p:txBody>
      </p:sp>
      <p:sp>
        <p:nvSpPr>
          <p:cNvPr id="59" name="TextBox 58"/>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37744"/>
            <a:ext cx="7043927" cy="182880"/>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KEY FINDINGS: B_COOKIE  ·  Can you read english?   ·   2 of 2</a:t>
            </a:r>
          </a:p>
        </p:txBody>
      </p:sp>
      <p:sp>
        <p:nvSpPr>
          <p:cNvPr id="3" name="TextBox 2"/>
          <p:cNvSpPr txBox="1"/>
          <p:nvPr/>
        </p:nvSpPr>
        <p:spPr>
          <a:xfrm>
            <a:off x="502920" y="438912"/>
            <a:ext cx="7043927" cy="365760"/>
          </a:xfrm>
          <a:prstGeom prst="rect">
            <a:avLst/>
          </a:prstGeom>
          <a:noFill/>
        </p:spPr>
        <p:txBody>
          <a:bodyPr wrap="square" anchor="t" lIns="0" rIns="0" tIns="0" bIns="0"/>
          <a:lstStyle/>
          <a:p>
            <a:pPr algn="l">
              <a:spcBef>
                <a:spcPts val="0"/>
              </a:spcBef>
              <a:spcAft>
                <a:spcPts val="0"/>
              </a:spcAft>
            </a:pPr>
            <a:r>
              <a:rPr sz="2600" b="1" i="0">
                <a:solidFill>
                  <a:srgbClr val="1E2D44"/>
                </a:solidFill>
                <a:latin typeface="Karla"/>
              </a:rPr>
              <a:t>B_Cookie splits across the groups</a:t>
            </a:r>
          </a:p>
        </p:txBody>
      </p:sp>
      <p:sp>
        <p:nvSpPr>
          <p:cNvPr id="4" name="TextBox 3"/>
          <p:cNvSpPr txBox="1"/>
          <p:nvPr/>
        </p:nvSpPr>
        <p:spPr>
          <a:xfrm>
            <a:off x="502920" y="822960"/>
            <a:ext cx="7043927" cy="475488"/>
          </a:xfrm>
          <a:prstGeom prst="rect">
            <a:avLst/>
          </a:prstGeom>
          <a:noFill/>
        </p:spPr>
        <p:txBody>
          <a:bodyPr wrap="square" anchor="t" lIns="0" rIns="0" tIns="0" bIns="0"/>
          <a:lstStyle/>
          <a:p>
            <a:pPr algn="l">
              <a:spcBef>
                <a:spcPts val="0"/>
              </a:spcBef>
              <a:spcAft>
                <a:spcPts val="0"/>
              </a:spcAft>
            </a:pPr>
            <a:r>
              <a:rPr sz="1200" b="0" i="0">
                <a:solidFill>
                  <a:srgbClr val="617086"/>
                </a:solidFill>
                <a:latin typeface="Karla"/>
              </a:rPr>
              <a:t>No favors B04 Cookie Vanilla Filling Right Upper D2D3; Yes favor B01 Cookie Chocolate Filling Right Upper D2D3.</a:t>
            </a:r>
          </a:p>
        </p:txBody>
      </p:sp>
      <p:sp>
        <p:nvSpPr>
          <p:cNvPr id="5" name="Rectangle 4"/>
          <p:cNvSpPr/>
          <p:nvPr/>
        </p:nvSpPr>
        <p:spPr>
          <a:xfrm>
            <a:off x="502920" y="1335024"/>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B_COOKIE</a:t>
            </a:r>
          </a:p>
        </p:txBody>
      </p:sp>
      <p:sp>
        <p:nvSpPr>
          <p:cNvPr id="6" name="TextBox 5"/>
          <p:cNvSpPr txBox="1"/>
          <p:nvPr/>
        </p:nvSpPr>
        <p:spPr>
          <a:xfrm>
            <a:off x="1874520"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7" name="Rectangle 6"/>
          <p:cNvSpPr/>
          <p:nvPr/>
        </p:nvSpPr>
        <p:spPr>
          <a:xfrm>
            <a:off x="4591811" y="1645920"/>
            <a:ext cx="9144" cy="3310128"/>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99203"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50</a:t>
            </a:r>
          </a:p>
        </p:txBody>
      </p:sp>
      <p:sp>
        <p:nvSpPr>
          <p:cNvPr id="9" name="Rectangle 8"/>
          <p:cNvSpPr/>
          <p:nvPr/>
        </p:nvSpPr>
        <p:spPr>
          <a:xfrm>
            <a:off x="7016495" y="1645920"/>
            <a:ext cx="9144" cy="3310128"/>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23887"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100</a:t>
            </a:r>
          </a:p>
        </p:txBody>
      </p:sp>
      <p:sp>
        <p:nvSpPr>
          <p:cNvPr id="11" name="Rectangle 10"/>
          <p:cNvSpPr/>
          <p:nvPr/>
        </p:nvSpPr>
        <p:spPr>
          <a:xfrm>
            <a:off x="2167128" y="1645920"/>
            <a:ext cx="10972" cy="3310128"/>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167128" y="4956048"/>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1883664"/>
            <a:ext cx="1554480" cy="352044"/>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B01 Cookie Chocolate</a:t>
            </a:r>
          </a:p>
          <a:p>
            <a:pPr algn="r">
              <a:spcBef>
                <a:spcPts val="0"/>
              </a:spcBef>
              <a:spcAft>
                <a:spcPts val="0"/>
              </a:spcAft>
            </a:pPr>
            <a:r>
              <a:rPr sz="1000" b="0" i="0">
                <a:solidFill>
                  <a:srgbClr val="1E2D44"/>
                </a:solidFill>
                <a:latin typeface="Karla"/>
              </a:rPr>
              <a:t>Filling Right Upper…</a:t>
            </a:r>
          </a:p>
        </p:txBody>
      </p:sp>
      <p:sp>
        <p:nvSpPr>
          <p:cNvPr id="14" name="Rectangle 13"/>
          <p:cNvSpPr/>
          <p:nvPr/>
        </p:nvSpPr>
        <p:spPr>
          <a:xfrm>
            <a:off x="2167128" y="1883664"/>
            <a:ext cx="4606899"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28891" y="1883664"/>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+95</a:t>
            </a:r>
          </a:p>
        </p:txBody>
      </p:sp>
      <p:sp>
        <p:nvSpPr>
          <p:cNvPr id="16" name="Rectangle 15"/>
          <p:cNvSpPr/>
          <p:nvPr/>
        </p:nvSpPr>
        <p:spPr>
          <a:xfrm>
            <a:off x="2167128" y="2080260"/>
            <a:ext cx="1212341"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34333" y="2080260"/>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+25</a:t>
            </a:r>
          </a:p>
        </p:txBody>
      </p:sp>
      <p:sp>
        <p:nvSpPr>
          <p:cNvPr id="18" name="TextBox 17"/>
          <p:cNvSpPr txBox="1"/>
          <p:nvPr/>
        </p:nvSpPr>
        <p:spPr>
          <a:xfrm>
            <a:off x="502920" y="2711196"/>
            <a:ext cx="1554480" cy="352044"/>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B05 Cookie Chocolate</a:t>
            </a:r>
          </a:p>
          <a:p>
            <a:pPr algn="r">
              <a:spcBef>
                <a:spcPts val="0"/>
              </a:spcBef>
              <a:spcAft>
                <a:spcPts val="0"/>
              </a:spcAft>
            </a:pPr>
            <a:r>
              <a:rPr sz="1000" b="0" i="0">
                <a:solidFill>
                  <a:srgbClr val="1E2D44"/>
                </a:solidFill>
                <a:latin typeface="Karla"/>
              </a:rPr>
              <a:t>Filling Right Lower…</a:t>
            </a:r>
          </a:p>
        </p:txBody>
      </p:sp>
      <p:sp>
        <p:nvSpPr>
          <p:cNvPr id="19" name="Rectangle 18"/>
          <p:cNvSpPr/>
          <p:nvPr/>
        </p:nvSpPr>
        <p:spPr>
          <a:xfrm>
            <a:off x="2167128" y="2711196"/>
            <a:ext cx="3637025"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59017" y="2711196"/>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+75</a:t>
            </a:r>
          </a:p>
        </p:txBody>
      </p:sp>
      <p:sp>
        <p:nvSpPr>
          <p:cNvPr id="21" name="Rectangle 20"/>
          <p:cNvSpPr/>
          <p:nvPr/>
        </p:nvSpPr>
        <p:spPr>
          <a:xfrm>
            <a:off x="2167128" y="2907791"/>
            <a:ext cx="1115354"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337346" y="2907791"/>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+23</a:t>
            </a:r>
          </a:p>
        </p:txBody>
      </p:sp>
      <p:sp>
        <p:nvSpPr>
          <p:cNvPr id="23" name="TextBox 22"/>
          <p:cNvSpPr txBox="1"/>
          <p:nvPr/>
        </p:nvSpPr>
        <p:spPr>
          <a:xfrm>
            <a:off x="502920" y="3538728"/>
            <a:ext cx="1554480" cy="352044"/>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B06 Cookie Orange</a:t>
            </a:r>
          </a:p>
          <a:p>
            <a:pPr algn="r">
              <a:spcBef>
                <a:spcPts val="0"/>
              </a:spcBef>
              <a:spcAft>
                <a:spcPts val="0"/>
              </a:spcAft>
            </a:pPr>
            <a:r>
              <a:rPr sz="1000" b="0" i="0">
                <a:solidFill>
                  <a:srgbClr val="1E2D44"/>
                </a:solidFill>
                <a:latin typeface="Karla"/>
              </a:rPr>
              <a:t>Filling Right Lower…</a:t>
            </a:r>
          </a:p>
        </p:txBody>
      </p:sp>
      <p:sp>
        <p:nvSpPr>
          <p:cNvPr id="24" name="Rectangle 23"/>
          <p:cNvSpPr/>
          <p:nvPr/>
        </p:nvSpPr>
        <p:spPr>
          <a:xfrm>
            <a:off x="2167128" y="3538728"/>
            <a:ext cx="3297570"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519562" y="3538728"/>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+68</a:t>
            </a:r>
          </a:p>
        </p:txBody>
      </p:sp>
      <p:sp>
        <p:nvSpPr>
          <p:cNvPr id="26" name="Rectangle 25"/>
          <p:cNvSpPr/>
          <p:nvPr/>
        </p:nvSpPr>
        <p:spPr>
          <a:xfrm>
            <a:off x="2167128" y="3735324"/>
            <a:ext cx="775898"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997890" y="3735324"/>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+16</a:t>
            </a:r>
          </a:p>
        </p:txBody>
      </p:sp>
      <p:sp>
        <p:nvSpPr>
          <p:cNvPr id="28" name="TextBox 27"/>
          <p:cNvSpPr txBox="1"/>
          <p:nvPr/>
        </p:nvSpPr>
        <p:spPr>
          <a:xfrm>
            <a:off x="502920" y="4366259"/>
            <a:ext cx="1554480" cy="352044"/>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B07 Cookie Banana</a:t>
            </a:r>
          </a:p>
          <a:p>
            <a:pPr algn="r">
              <a:spcBef>
                <a:spcPts val="0"/>
              </a:spcBef>
              <a:spcAft>
                <a:spcPts val="0"/>
              </a:spcAft>
            </a:pPr>
            <a:r>
              <a:rPr sz="1000" b="0" i="0">
                <a:solidFill>
                  <a:srgbClr val="1E2D44"/>
                </a:solidFill>
                <a:latin typeface="Karla"/>
              </a:rPr>
              <a:t>Filling Right Lower…</a:t>
            </a:r>
          </a:p>
        </p:txBody>
      </p:sp>
      <p:sp>
        <p:nvSpPr>
          <p:cNvPr id="29" name="Rectangle 28"/>
          <p:cNvSpPr/>
          <p:nvPr/>
        </p:nvSpPr>
        <p:spPr>
          <a:xfrm>
            <a:off x="2167128" y="4366259"/>
            <a:ext cx="2958114"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180106" y="4366259"/>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+61</a:t>
            </a:r>
          </a:p>
        </p:txBody>
      </p:sp>
      <p:sp>
        <p:nvSpPr>
          <p:cNvPr id="31" name="Rectangle 30"/>
          <p:cNvSpPr/>
          <p:nvPr/>
        </p:nvSpPr>
        <p:spPr>
          <a:xfrm>
            <a:off x="2167128" y="4562855"/>
            <a:ext cx="775898"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997890" y="4562855"/>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+16</a:t>
            </a:r>
          </a:p>
        </p:txBody>
      </p:sp>
      <p:sp>
        <p:nvSpPr>
          <p:cNvPr id="33" name="Rectangle 32"/>
          <p:cNvSpPr/>
          <p:nvPr/>
        </p:nvSpPr>
        <p:spPr>
          <a:xfrm>
            <a:off x="2797047" y="5381244"/>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970783" y="5321807"/>
            <a:ext cx="1329944" cy="219456"/>
          </a:xfrm>
          <a:prstGeom prst="rect">
            <a:avLst/>
          </a:prstGeom>
          <a:noFill/>
        </p:spPr>
        <p:txBody>
          <a:bodyPr wrap="none" anchor="ctr" lIns="0" rIns="0" tIns="0" bIns="0"/>
          <a:lstStyle/>
          <a:p>
            <a:pPr algn="l">
              <a:spcBef>
                <a:spcPts val="0"/>
              </a:spcBef>
              <a:spcAft>
                <a:spcPts val="0"/>
              </a:spcAft>
            </a:pPr>
            <a:r>
              <a:rPr sz="1100" b="0" i="0">
                <a:solidFill>
                  <a:srgbClr val="2C3A4A"/>
                </a:solidFill>
                <a:latin typeface="Karla"/>
              </a:rPr>
              <a:t>No (basesize = 1)</a:t>
            </a:r>
          </a:p>
        </p:txBody>
      </p:sp>
      <p:sp>
        <p:nvSpPr>
          <p:cNvPr id="35" name="Rectangle 34"/>
          <p:cNvSpPr/>
          <p:nvPr/>
        </p:nvSpPr>
        <p:spPr>
          <a:xfrm>
            <a:off x="4648199" y="5381244"/>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821935" y="5321807"/>
            <a:ext cx="1564640" cy="219456"/>
          </a:xfrm>
          <a:prstGeom prst="rect">
            <a:avLst/>
          </a:prstGeom>
          <a:noFill/>
        </p:spPr>
        <p:txBody>
          <a:bodyPr wrap="none" anchor="ctr" lIns="0" rIns="0" tIns="0" bIns="0"/>
          <a:lstStyle/>
          <a:p>
            <a:pPr algn="l">
              <a:spcBef>
                <a:spcPts val="0"/>
              </a:spcBef>
              <a:spcAft>
                <a:spcPts val="0"/>
              </a:spcAft>
            </a:pPr>
            <a:r>
              <a:rPr sz="1100" b="0" i="0">
                <a:solidFill>
                  <a:srgbClr val="2C3A4A"/>
                </a:solidFill>
                <a:latin typeface="Karla"/>
              </a:rPr>
              <a:t>Yes (basesize = 149)</a:t>
            </a:r>
          </a:p>
        </p:txBody>
      </p:sp>
      <p:sp>
        <p:nvSpPr>
          <p:cNvPr id="37" name="Rounded Rectangle 36"/>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935467" y="617280"/>
            <a:ext cx="1709927" cy="1325758"/>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38" descr="B1.png"/>
          <p:cNvPicPr>
            <a:picLocks noChangeAspect="1"/>
          </p:cNvPicPr>
          <p:nvPr/>
        </p:nvPicPr>
        <p:blipFill>
          <a:blip r:embed="rId2"/>
          <a:stretch>
            <a:fillRect/>
          </a:stretch>
        </p:blipFill>
        <p:spPr>
          <a:xfrm>
            <a:off x="7949183" y="630996"/>
            <a:ext cx="1682495" cy="1298326"/>
          </a:xfrm>
          <a:prstGeom prst="rect">
            <a:avLst/>
          </a:prstGeom>
        </p:spPr>
      </p:pic>
      <p:sp>
        <p:nvSpPr>
          <p:cNvPr id="40" name="TextBox 39"/>
          <p:cNvSpPr txBox="1"/>
          <p:nvPr/>
        </p:nvSpPr>
        <p:spPr>
          <a:xfrm>
            <a:off x="7912607" y="1984187"/>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B01 Cookie</a:t>
            </a:r>
          </a:p>
          <a:p>
            <a:pPr algn="ctr">
              <a:spcBef>
                <a:spcPts val="0"/>
              </a:spcBef>
              <a:spcAft>
                <a:spcPts val="0"/>
              </a:spcAft>
            </a:pPr>
            <a:r>
              <a:rPr sz="1200" b="0" i="0">
                <a:solidFill>
                  <a:srgbClr val="1E2D44"/>
                </a:solidFill>
                <a:latin typeface="Karla"/>
              </a:rPr>
              <a:t>Chocolate Filling…</a:t>
            </a:r>
          </a:p>
        </p:txBody>
      </p:sp>
      <p:sp>
        <p:nvSpPr>
          <p:cNvPr id="41" name="TextBox 40"/>
          <p:cNvSpPr txBox="1"/>
          <p:nvPr/>
        </p:nvSpPr>
        <p:spPr>
          <a:xfrm>
            <a:off x="7912607" y="2349947"/>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+60*</a:t>
            </a:r>
          </a:p>
        </p:txBody>
      </p:sp>
      <p:sp>
        <p:nvSpPr>
          <p:cNvPr id="42" name="Rectangle 41"/>
          <p:cNvSpPr/>
          <p:nvPr/>
        </p:nvSpPr>
        <p:spPr>
          <a:xfrm>
            <a:off x="9855707" y="617280"/>
            <a:ext cx="1709927" cy="1325758"/>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3" name="Picture 42" descr="B5.png"/>
          <p:cNvPicPr>
            <a:picLocks noChangeAspect="1"/>
          </p:cNvPicPr>
          <p:nvPr/>
        </p:nvPicPr>
        <p:blipFill>
          <a:blip r:embed="rId3"/>
          <a:stretch>
            <a:fillRect/>
          </a:stretch>
        </p:blipFill>
        <p:spPr>
          <a:xfrm>
            <a:off x="9869423" y="630996"/>
            <a:ext cx="1682495" cy="1298326"/>
          </a:xfrm>
          <a:prstGeom prst="rect">
            <a:avLst/>
          </a:prstGeom>
        </p:spPr>
      </p:pic>
      <p:sp>
        <p:nvSpPr>
          <p:cNvPr id="44" name="TextBox 43"/>
          <p:cNvSpPr txBox="1"/>
          <p:nvPr/>
        </p:nvSpPr>
        <p:spPr>
          <a:xfrm>
            <a:off x="9832847" y="1984187"/>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B05 Cookie</a:t>
            </a:r>
          </a:p>
          <a:p>
            <a:pPr algn="ctr">
              <a:spcBef>
                <a:spcPts val="0"/>
              </a:spcBef>
              <a:spcAft>
                <a:spcPts val="0"/>
              </a:spcAft>
            </a:pPr>
            <a:r>
              <a:rPr sz="1200" b="0" i="0">
                <a:solidFill>
                  <a:srgbClr val="1E2D44"/>
                </a:solidFill>
                <a:latin typeface="Karla"/>
              </a:rPr>
              <a:t>Chocolate Filling…</a:t>
            </a:r>
          </a:p>
        </p:txBody>
      </p:sp>
      <p:sp>
        <p:nvSpPr>
          <p:cNvPr id="45" name="TextBox 44"/>
          <p:cNvSpPr txBox="1"/>
          <p:nvPr/>
        </p:nvSpPr>
        <p:spPr>
          <a:xfrm>
            <a:off x="9832847" y="2349947"/>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+49*</a:t>
            </a:r>
          </a:p>
        </p:txBody>
      </p:sp>
      <p:sp>
        <p:nvSpPr>
          <p:cNvPr id="46" name="Rectangle 45"/>
          <p:cNvSpPr/>
          <p:nvPr/>
        </p:nvSpPr>
        <p:spPr>
          <a:xfrm>
            <a:off x="7935467" y="3177600"/>
            <a:ext cx="1709927" cy="1325758"/>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7" name="Picture 46" descr="B6.png"/>
          <p:cNvPicPr>
            <a:picLocks noChangeAspect="1"/>
          </p:cNvPicPr>
          <p:nvPr/>
        </p:nvPicPr>
        <p:blipFill>
          <a:blip r:embed="rId4"/>
          <a:stretch>
            <a:fillRect/>
          </a:stretch>
        </p:blipFill>
        <p:spPr>
          <a:xfrm>
            <a:off x="7949183" y="3191316"/>
            <a:ext cx="1682495" cy="1298326"/>
          </a:xfrm>
          <a:prstGeom prst="rect">
            <a:avLst/>
          </a:prstGeom>
        </p:spPr>
      </p:pic>
      <p:sp>
        <p:nvSpPr>
          <p:cNvPr id="48" name="TextBox 47"/>
          <p:cNvSpPr txBox="1"/>
          <p:nvPr/>
        </p:nvSpPr>
        <p:spPr>
          <a:xfrm>
            <a:off x="7912607" y="4544507"/>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B06 Cookie Orange</a:t>
            </a:r>
          </a:p>
          <a:p>
            <a:pPr algn="ctr">
              <a:spcBef>
                <a:spcPts val="0"/>
              </a:spcBef>
              <a:spcAft>
                <a:spcPts val="0"/>
              </a:spcAft>
            </a:pPr>
            <a:r>
              <a:rPr sz="1200" b="0" i="0">
                <a:solidFill>
                  <a:srgbClr val="1E2D44"/>
                </a:solidFill>
                <a:latin typeface="Karla"/>
              </a:rPr>
              <a:t>Filling Right Lower…</a:t>
            </a:r>
          </a:p>
        </p:txBody>
      </p:sp>
      <p:sp>
        <p:nvSpPr>
          <p:cNvPr id="49" name="TextBox 48"/>
          <p:cNvSpPr txBox="1"/>
          <p:nvPr/>
        </p:nvSpPr>
        <p:spPr>
          <a:xfrm>
            <a:off x="7912607" y="4910267"/>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+42*</a:t>
            </a:r>
          </a:p>
        </p:txBody>
      </p:sp>
      <p:sp>
        <p:nvSpPr>
          <p:cNvPr id="50" name="Rectangle 49"/>
          <p:cNvSpPr/>
          <p:nvPr/>
        </p:nvSpPr>
        <p:spPr>
          <a:xfrm>
            <a:off x="9855707" y="3177600"/>
            <a:ext cx="1709927" cy="1325758"/>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1" name="Picture 50" descr="B7.png"/>
          <p:cNvPicPr>
            <a:picLocks noChangeAspect="1"/>
          </p:cNvPicPr>
          <p:nvPr/>
        </p:nvPicPr>
        <p:blipFill>
          <a:blip r:embed="rId5"/>
          <a:stretch>
            <a:fillRect/>
          </a:stretch>
        </p:blipFill>
        <p:spPr>
          <a:xfrm>
            <a:off x="9869423" y="3191316"/>
            <a:ext cx="1682495" cy="1298326"/>
          </a:xfrm>
          <a:prstGeom prst="rect">
            <a:avLst/>
          </a:prstGeom>
        </p:spPr>
      </p:pic>
      <p:sp>
        <p:nvSpPr>
          <p:cNvPr id="52" name="TextBox 51"/>
          <p:cNvSpPr txBox="1"/>
          <p:nvPr/>
        </p:nvSpPr>
        <p:spPr>
          <a:xfrm>
            <a:off x="9832847" y="4544507"/>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B07 Cookie Banana</a:t>
            </a:r>
          </a:p>
          <a:p>
            <a:pPr algn="ctr">
              <a:spcBef>
                <a:spcPts val="0"/>
              </a:spcBef>
              <a:spcAft>
                <a:spcPts val="0"/>
              </a:spcAft>
            </a:pPr>
            <a:r>
              <a:rPr sz="1200" b="0" i="0">
                <a:solidFill>
                  <a:srgbClr val="1E2D44"/>
                </a:solidFill>
                <a:latin typeface="Karla"/>
              </a:rPr>
              <a:t>Filling Right Lower…</a:t>
            </a:r>
          </a:p>
        </p:txBody>
      </p:sp>
      <p:sp>
        <p:nvSpPr>
          <p:cNvPr id="53" name="TextBox 52"/>
          <p:cNvSpPr txBox="1"/>
          <p:nvPr/>
        </p:nvSpPr>
        <p:spPr>
          <a:xfrm>
            <a:off x="9832847" y="4910267"/>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+38*</a:t>
            </a:r>
          </a:p>
        </p:txBody>
      </p:sp>
      <p:sp>
        <p:nvSpPr>
          <p:cNvPr id="54" name="Rounded Rectangle 53"/>
          <p:cNvSpPr/>
          <p:nvPr/>
        </p:nvSpPr>
        <p:spPr>
          <a:xfrm>
            <a:off x="502920" y="5632704"/>
            <a:ext cx="11268455" cy="676656"/>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200" b="0">
                <a:solidFill>
                  <a:srgbClr val="1E2D44"/>
                </a:solidFill>
                <a:latin typeface="Karla"/>
              </a:rPr>
              <a:t>No favors B04 Cookie Vanilla Filling Right Upper D2D3; Yes favor B01 Cookie Chocolate Filling Right Upper D2D3. The widest segment gap is B04 Cookie Vanilla Filling Right Upper D2D3: +109 no / +22 yes.</a:t>
            </a:r>
          </a:p>
        </p:txBody>
      </p:sp>
      <p:sp>
        <p:nvSpPr>
          <p:cNvPr id="55" name="Rectangle 54"/>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No basesize = 1; Yes basesize = 149. Top-2 scores rounded to whole points. *Average of the groups in the legend.</a:t>
            </a:r>
          </a:p>
        </p:txBody>
      </p:sp>
      <p:sp>
        <p:nvSpPr>
          <p:cNvPr id="57" name="TextBox 56"/>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37744"/>
            <a:ext cx="7043927" cy="182880"/>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KEY FINDINGS: B_COOKIE  ·  Which of these countries do you live in?   ·   1 of 2</a:t>
            </a:r>
          </a:p>
        </p:txBody>
      </p:sp>
      <p:sp>
        <p:nvSpPr>
          <p:cNvPr id="3" name="TextBox 2"/>
          <p:cNvSpPr txBox="1"/>
          <p:nvPr/>
        </p:nvSpPr>
        <p:spPr>
          <a:xfrm>
            <a:off x="502920" y="438912"/>
            <a:ext cx="7043927" cy="365760"/>
          </a:xfrm>
          <a:prstGeom prst="rect">
            <a:avLst/>
          </a:prstGeom>
          <a:noFill/>
        </p:spPr>
        <p:txBody>
          <a:bodyPr wrap="square" anchor="t" lIns="0" rIns="0" tIns="0" bIns="0"/>
          <a:lstStyle/>
          <a:p>
            <a:pPr algn="l">
              <a:spcBef>
                <a:spcPts val="0"/>
              </a:spcBef>
              <a:spcAft>
                <a:spcPts val="0"/>
              </a:spcAft>
            </a:pPr>
            <a:r>
              <a:rPr sz="2600" b="1" i="0">
                <a:solidFill>
                  <a:srgbClr val="1E2D44"/>
                </a:solidFill>
                <a:latin typeface="Karla"/>
              </a:rPr>
              <a:t>B_Cookie splits across the groups</a:t>
            </a:r>
          </a:p>
        </p:txBody>
      </p:sp>
      <p:sp>
        <p:nvSpPr>
          <p:cNvPr id="4" name="TextBox 3"/>
          <p:cNvSpPr txBox="1"/>
          <p:nvPr/>
        </p:nvSpPr>
        <p:spPr>
          <a:xfrm>
            <a:off x="502920" y="822960"/>
            <a:ext cx="7043927" cy="475488"/>
          </a:xfrm>
          <a:prstGeom prst="rect">
            <a:avLst/>
          </a:prstGeom>
          <a:noFill/>
        </p:spPr>
        <p:txBody>
          <a:bodyPr wrap="square" anchor="t" lIns="0" rIns="0" tIns="0" bIns="0"/>
          <a:lstStyle/>
          <a:p>
            <a:pPr algn="l">
              <a:spcBef>
                <a:spcPts val="0"/>
              </a:spcBef>
              <a:spcAft>
                <a:spcPts val="0"/>
              </a:spcAft>
            </a:pPr>
            <a:r>
              <a:rPr sz="1200" b="0" i="0">
                <a:solidFill>
                  <a:srgbClr val="617086"/>
                </a:solidFill>
                <a:latin typeface="Karla"/>
              </a:rPr>
              <a:t>Bulgaria favors B01 Cookie Chocolate Filling Right Upper D2D3; Greece favors B05 Cookie Chocolate Filling Right Lower D1; Saudi Arabia favors B01 Cookie Chocolate Filling Right Upper D2D3.</a:t>
            </a:r>
          </a:p>
        </p:txBody>
      </p:sp>
      <p:sp>
        <p:nvSpPr>
          <p:cNvPr id="5" name="Rectangle 4"/>
          <p:cNvSpPr/>
          <p:nvPr/>
        </p:nvSpPr>
        <p:spPr>
          <a:xfrm>
            <a:off x="502920" y="1335024"/>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B_COOKIE</a:t>
            </a:r>
          </a:p>
        </p:txBody>
      </p:sp>
      <p:sp>
        <p:nvSpPr>
          <p:cNvPr id="6" name="TextBox 5"/>
          <p:cNvSpPr txBox="1"/>
          <p:nvPr/>
        </p:nvSpPr>
        <p:spPr>
          <a:xfrm>
            <a:off x="1874520"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7" name="Rectangle 6"/>
          <p:cNvSpPr/>
          <p:nvPr/>
        </p:nvSpPr>
        <p:spPr>
          <a:xfrm>
            <a:off x="3379469" y="1645920"/>
            <a:ext cx="9144" cy="3310128"/>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86861"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9" name="Rectangle 8"/>
          <p:cNvSpPr/>
          <p:nvPr/>
        </p:nvSpPr>
        <p:spPr>
          <a:xfrm>
            <a:off x="4591811" y="1645920"/>
            <a:ext cx="9144" cy="3310128"/>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9203"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1" name="Rectangle 10"/>
          <p:cNvSpPr/>
          <p:nvPr/>
        </p:nvSpPr>
        <p:spPr>
          <a:xfrm>
            <a:off x="5804153" y="1645920"/>
            <a:ext cx="9144" cy="3310128"/>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11545"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30</a:t>
            </a:r>
          </a:p>
        </p:txBody>
      </p:sp>
      <p:sp>
        <p:nvSpPr>
          <p:cNvPr id="13" name="Rectangle 12"/>
          <p:cNvSpPr/>
          <p:nvPr/>
        </p:nvSpPr>
        <p:spPr>
          <a:xfrm>
            <a:off x="7016495" y="1645920"/>
            <a:ext cx="9144" cy="3310128"/>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23887"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40</a:t>
            </a:r>
          </a:p>
        </p:txBody>
      </p:sp>
      <p:sp>
        <p:nvSpPr>
          <p:cNvPr id="15" name="Rectangle 14"/>
          <p:cNvSpPr/>
          <p:nvPr/>
        </p:nvSpPr>
        <p:spPr>
          <a:xfrm>
            <a:off x="2167128" y="1645920"/>
            <a:ext cx="10972" cy="3310128"/>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167128" y="4956048"/>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1827977"/>
            <a:ext cx="1554480" cy="463417"/>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B01 Cookie Chocolate</a:t>
            </a:r>
          </a:p>
          <a:p>
            <a:pPr algn="r">
              <a:spcBef>
                <a:spcPts val="0"/>
              </a:spcBef>
              <a:spcAft>
                <a:spcPts val="0"/>
              </a:spcAft>
            </a:pPr>
            <a:r>
              <a:rPr sz="1000" b="0" i="0">
                <a:solidFill>
                  <a:srgbClr val="1E2D44"/>
                </a:solidFill>
                <a:latin typeface="Karla"/>
              </a:rPr>
              <a:t>Filling Right Upper…</a:t>
            </a:r>
          </a:p>
        </p:txBody>
      </p:sp>
      <p:sp>
        <p:nvSpPr>
          <p:cNvPr id="18" name="Rectangle 17"/>
          <p:cNvSpPr/>
          <p:nvPr/>
        </p:nvSpPr>
        <p:spPr>
          <a:xfrm>
            <a:off x="2167128" y="1827977"/>
            <a:ext cx="2182215" cy="127040"/>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04207" y="1827977"/>
            <a:ext cx="457200" cy="127040"/>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+18</a:t>
            </a:r>
          </a:p>
        </p:txBody>
      </p:sp>
      <p:sp>
        <p:nvSpPr>
          <p:cNvPr id="20" name="Rectangle 19"/>
          <p:cNvSpPr/>
          <p:nvPr/>
        </p:nvSpPr>
        <p:spPr>
          <a:xfrm>
            <a:off x="2167128" y="1996165"/>
            <a:ext cx="2545918" cy="127040"/>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67910" y="1996165"/>
            <a:ext cx="457200" cy="127040"/>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+21</a:t>
            </a:r>
          </a:p>
        </p:txBody>
      </p:sp>
      <p:sp>
        <p:nvSpPr>
          <p:cNvPr id="22" name="Rectangle 21"/>
          <p:cNvSpPr/>
          <p:nvPr/>
        </p:nvSpPr>
        <p:spPr>
          <a:xfrm>
            <a:off x="2167128" y="2164354"/>
            <a:ext cx="4485665" cy="12704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707657" y="2164354"/>
            <a:ext cx="457200" cy="127040"/>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+37</a:t>
            </a:r>
          </a:p>
        </p:txBody>
      </p:sp>
      <p:sp>
        <p:nvSpPr>
          <p:cNvPr id="24" name="TextBox 23"/>
          <p:cNvSpPr txBox="1"/>
          <p:nvPr/>
        </p:nvSpPr>
        <p:spPr>
          <a:xfrm>
            <a:off x="502920" y="2655509"/>
            <a:ext cx="1554480" cy="463417"/>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B03 Cookie Banana</a:t>
            </a:r>
          </a:p>
          <a:p>
            <a:pPr algn="r">
              <a:spcBef>
                <a:spcPts val="0"/>
              </a:spcBef>
              <a:spcAft>
                <a:spcPts val="0"/>
              </a:spcAft>
            </a:pPr>
            <a:r>
              <a:rPr sz="1000" b="0" i="0">
                <a:solidFill>
                  <a:srgbClr val="1E2D44"/>
                </a:solidFill>
                <a:latin typeface="Karla"/>
              </a:rPr>
              <a:t>Filling Right Upper…</a:t>
            </a:r>
          </a:p>
        </p:txBody>
      </p:sp>
      <p:sp>
        <p:nvSpPr>
          <p:cNvPr id="25" name="Rectangle 24"/>
          <p:cNvSpPr/>
          <p:nvPr/>
        </p:nvSpPr>
        <p:spPr>
          <a:xfrm>
            <a:off x="2167128" y="2655509"/>
            <a:ext cx="1697278" cy="127040"/>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919270" y="2655509"/>
            <a:ext cx="457200" cy="127040"/>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+14</a:t>
            </a:r>
          </a:p>
        </p:txBody>
      </p:sp>
      <p:sp>
        <p:nvSpPr>
          <p:cNvPr id="27" name="Rectangle 26"/>
          <p:cNvSpPr/>
          <p:nvPr/>
        </p:nvSpPr>
        <p:spPr>
          <a:xfrm>
            <a:off x="2167128" y="2823697"/>
            <a:ext cx="1454810" cy="127040"/>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6802" y="2823697"/>
            <a:ext cx="457200" cy="127040"/>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+12</a:t>
            </a:r>
          </a:p>
        </p:txBody>
      </p:sp>
      <p:sp>
        <p:nvSpPr>
          <p:cNvPr id="29" name="Rectangle 28"/>
          <p:cNvSpPr/>
          <p:nvPr/>
        </p:nvSpPr>
        <p:spPr>
          <a:xfrm>
            <a:off x="2167128" y="2991886"/>
            <a:ext cx="4485665" cy="12704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657" y="2991886"/>
            <a:ext cx="457200" cy="127040"/>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+37</a:t>
            </a:r>
          </a:p>
        </p:txBody>
      </p:sp>
      <p:sp>
        <p:nvSpPr>
          <p:cNvPr id="31" name="TextBox 30"/>
          <p:cNvSpPr txBox="1"/>
          <p:nvPr/>
        </p:nvSpPr>
        <p:spPr>
          <a:xfrm>
            <a:off x="502920" y="3483041"/>
            <a:ext cx="1554480" cy="463417"/>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B04 Cookie Vanilla</a:t>
            </a:r>
          </a:p>
          <a:p>
            <a:pPr algn="r">
              <a:spcBef>
                <a:spcPts val="0"/>
              </a:spcBef>
              <a:spcAft>
                <a:spcPts val="0"/>
              </a:spcAft>
            </a:pPr>
            <a:r>
              <a:rPr sz="1000" b="0" i="0">
                <a:solidFill>
                  <a:srgbClr val="1E2D44"/>
                </a:solidFill>
                <a:latin typeface="Karla"/>
              </a:rPr>
              <a:t>Filling Right Upper…</a:t>
            </a:r>
          </a:p>
        </p:txBody>
      </p:sp>
      <p:sp>
        <p:nvSpPr>
          <p:cNvPr id="32" name="Rectangle 31"/>
          <p:cNvSpPr/>
          <p:nvPr/>
        </p:nvSpPr>
        <p:spPr>
          <a:xfrm>
            <a:off x="2167128" y="3483041"/>
            <a:ext cx="2060981" cy="127040"/>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282973" y="3483041"/>
            <a:ext cx="457200" cy="127040"/>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+17</a:t>
            </a:r>
          </a:p>
        </p:txBody>
      </p:sp>
      <p:sp>
        <p:nvSpPr>
          <p:cNvPr id="34" name="Rectangle 33"/>
          <p:cNvSpPr/>
          <p:nvPr/>
        </p:nvSpPr>
        <p:spPr>
          <a:xfrm>
            <a:off x="2167128" y="3651229"/>
            <a:ext cx="1576044" cy="127040"/>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798036" y="3651229"/>
            <a:ext cx="457200" cy="127040"/>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+13</a:t>
            </a:r>
          </a:p>
        </p:txBody>
      </p:sp>
      <p:sp>
        <p:nvSpPr>
          <p:cNvPr id="36" name="Rectangle 35"/>
          <p:cNvSpPr/>
          <p:nvPr/>
        </p:nvSpPr>
        <p:spPr>
          <a:xfrm>
            <a:off x="2167128" y="3819418"/>
            <a:ext cx="4364430" cy="12704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86422" y="3819418"/>
            <a:ext cx="457200" cy="127040"/>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+36</a:t>
            </a:r>
          </a:p>
        </p:txBody>
      </p:sp>
      <p:sp>
        <p:nvSpPr>
          <p:cNvPr id="38" name="TextBox 37"/>
          <p:cNvSpPr txBox="1"/>
          <p:nvPr/>
        </p:nvSpPr>
        <p:spPr>
          <a:xfrm>
            <a:off x="502920" y="4310573"/>
            <a:ext cx="1554480" cy="463417"/>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B02 Cookie Orange</a:t>
            </a:r>
          </a:p>
          <a:p>
            <a:pPr algn="r">
              <a:spcBef>
                <a:spcPts val="0"/>
              </a:spcBef>
              <a:spcAft>
                <a:spcPts val="0"/>
              </a:spcAft>
            </a:pPr>
            <a:r>
              <a:rPr sz="1000" b="0" i="0">
                <a:solidFill>
                  <a:srgbClr val="1E2D44"/>
                </a:solidFill>
                <a:latin typeface="Karla"/>
              </a:rPr>
              <a:t>Filling Right Upper…</a:t>
            </a:r>
          </a:p>
        </p:txBody>
      </p:sp>
      <p:sp>
        <p:nvSpPr>
          <p:cNvPr id="39" name="Rectangle 38"/>
          <p:cNvSpPr/>
          <p:nvPr/>
        </p:nvSpPr>
        <p:spPr>
          <a:xfrm>
            <a:off x="2167128" y="4310573"/>
            <a:ext cx="1818512" cy="127040"/>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040504" y="4310573"/>
            <a:ext cx="457200" cy="127040"/>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+15</a:t>
            </a:r>
          </a:p>
        </p:txBody>
      </p:sp>
      <p:sp>
        <p:nvSpPr>
          <p:cNvPr id="41" name="Rectangle 40"/>
          <p:cNvSpPr/>
          <p:nvPr/>
        </p:nvSpPr>
        <p:spPr>
          <a:xfrm>
            <a:off x="2167128" y="4478761"/>
            <a:ext cx="2182215" cy="127040"/>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404207" y="4478761"/>
            <a:ext cx="457200" cy="127040"/>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+18</a:t>
            </a:r>
          </a:p>
        </p:txBody>
      </p:sp>
      <p:sp>
        <p:nvSpPr>
          <p:cNvPr id="43" name="Rectangle 42"/>
          <p:cNvSpPr/>
          <p:nvPr/>
        </p:nvSpPr>
        <p:spPr>
          <a:xfrm>
            <a:off x="2167128" y="4646950"/>
            <a:ext cx="4000728" cy="12704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22720" y="4646950"/>
            <a:ext cx="457200" cy="127040"/>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+33</a:t>
            </a:r>
          </a:p>
        </p:txBody>
      </p:sp>
      <p:sp>
        <p:nvSpPr>
          <p:cNvPr id="45" name="Rectangle 44"/>
          <p:cNvSpPr/>
          <p:nvPr/>
        </p:nvSpPr>
        <p:spPr>
          <a:xfrm>
            <a:off x="1250695" y="5381244"/>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424431" y="5321807"/>
            <a:ext cx="170688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Bulgaria (basesize = 50)</a:t>
            </a:r>
          </a:p>
        </p:txBody>
      </p:sp>
      <p:sp>
        <p:nvSpPr>
          <p:cNvPr id="47" name="Rectangle 46"/>
          <p:cNvSpPr/>
          <p:nvPr/>
        </p:nvSpPr>
        <p:spPr>
          <a:xfrm>
            <a:off x="3387343" y="5381244"/>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561079" y="5321807"/>
            <a:ext cx="156464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Greece (basesize = 49)</a:t>
            </a:r>
          </a:p>
        </p:txBody>
      </p:sp>
      <p:sp>
        <p:nvSpPr>
          <p:cNvPr id="49" name="Rectangle 48"/>
          <p:cNvSpPr/>
          <p:nvPr/>
        </p:nvSpPr>
        <p:spPr>
          <a:xfrm>
            <a:off x="5381751" y="5381244"/>
            <a:ext cx="100584" cy="10058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555487" y="5321807"/>
            <a:ext cx="199136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Saudi Arabia (basesize = 51)</a:t>
            </a:r>
          </a:p>
        </p:txBody>
      </p:sp>
      <p:sp>
        <p:nvSpPr>
          <p:cNvPr id="51" name="Rounded Rectangle 50"/>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7935467" y="617280"/>
            <a:ext cx="1709927" cy="1325758"/>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3" name="Picture 52" descr="B1.png"/>
          <p:cNvPicPr>
            <a:picLocks noChangeAspect="1"/>
          </p:cNvPicPr>
          <p:nvPr/>
        </p:nvPicPr>
        <p:blipFill>
          <a:blip r:embed="rId2"/>
          <a:stretch>
            <a:fillRect/>
          </a:stretch>
        </p:blipFill>
        <p:spPr>
          <a:xfrm>
            <a:off x="7949183" y="630996"/>
            <a:ext cx="1682495" cy="1298326"/>
          </a:xfrm>
          <a:prstGeom prst="rect">
            <a:avLst/>
          </a:prstGeom>
        </p:spPr>
      </p:pic>
      <p:sp>
        <p:nvSpPr>
          <p:cNvPr id="54" name="TextBox 53"/>
          <p:cNvSpPr txBox="1"/>
          <p:nvPr/>
        </p:nvSpPr>
        <p:spPr>
          <a:xfrm>
            <a:off x="7912607" y="1984187"/>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B01 Cookie</a:t>
            </a:r>
          </a:p>
          <a:p>
            <a:pPr algn="ctr">
              <a:spcBef>
                <a:spcPts val="0"/>
              </a:spcBef>
              <a:spcAft>
                <a:spcPts val="0"/>
              </a:spcAft>
            </a:pPr>
            <a:r>
              <a:rPr sz="1200" b="0" i="0">
                <a:solidFill>
                  <a:srgbClr val="1E2D44"/>
                </a:solidFill>
                <a:latin typeface="Karla"/>
              </a:rPr>
              <a:t>Chocolate Filling…</a:t>
            </a:r>
          </a:p>
        </p:txBody>
      </p:sp>
      <p:sp>
        <p:nvSpPr>
          <p:cNvPr id="55" name="TextBox 54"/>
          <p:cNvSpPr txBox="1"/>
          <p:nvPr/>
        </p:nvSpPr>
        <p:spPr>
          <a:xfrm>
            <a:off x="7912607" y="2349947"/>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+25*</a:t>
            </a:r>
          </a:p>
        </p:txBody>
      </p:sp>
      <p:sp>
        <p:nvSpPr>
          <p:cNvPr id="56" name="Rectangle 55"/>
          <p:cNvSpPr/>
          <p:nvPr/>
        </p:nvSpPr>
        <p:spPr>
          <a:xfrm>
            <a:off x="9855707" y="617280"/>
            <a:ext cx="1709927" cy="1325758"/>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7" name="Picture 56" descr="B3.png"/>
          <p:cNvPicPr>
            <a:picLocks noChangeAspect="1"/>
          </p:cNvPicPr>
          <p:nvPr/>
        </p:nvPicPr>
        <p:blipFill>
          <a:blip r:embed="rId3"/>
          <a:stretch>
            <a:fillRect/>
          </a:stretch>
        </p:blipFill>
        <p:spPr>
          <a:xfrm>
            <a:off x="9869423" y="630996"/>
            <a:ext cx="1682495" cy="1298326"/>
          </a:xfrm>
          <a:prstGeom prst="rect">
            <a:avLst/>
          </a:prstGeom>
        </p:spPr>
      </p:pic>
      <p:sp>
        <p:nvSpPr>
          <p:cNvPr id="58" name="TextBox 57"/>
          <p:cNvSpPr txBox="1"/>
          <p:nvPr/>
        </p:nvSpPr>
        <p:spPr>
          <a:xfrm>
            <a:off x="9832847" y="1984187"/>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B03 Cookie Banana</a:t>
            </a:r>
          </a:p>
          <a:p>
            <a:pPr algn="ctr">
              <a:spcBef>
                <a:spcPts val="0"/>
              </a:spcBef>
              <a:spcAft>
                <a:spcPts val="0"/>
              </a:spcAft>
            </a:pPr>
            <a:r>
              <a:rPr sz="1200" b="0" i="0">
                <a:solidFill>
                  <a:srgbClr val="1E2D44"/>
                </a:solidFill>
                <a:latin typeface="Karla"/>
              </a:rPr>
              <a:t>Filling Right Upper…</a:t>
            </a:r>
          </a:p>
        </p:txBody>
      </p:sp>
      <p:sp>
        <p:nvSpPr>
          <p:cNvPr id="59" name="TextBox 58"/>
          <p:cNvSpPr txBox="1"/>
          <p:nvPr/>
        </p:nvSpPr>
        <p:spPr>
          <a:xfrm>
            <a:off x="9832847" y="2349947"/>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+21*</a:t>
            </a:r>
          </a:p>
        </p:txBody>
      </p:sp>
      <p:sp>
        <p:nvSpPr>
          <p:cNvPr id="60" name="Rectangle 59"/>
          <p:cNvSpPr/>
          <p:nvPr/>
        </p:nvSpPr>
        <p:spPr>
          <a:xfrm>
            <a:off x="7935467" y="3177600"/>
            <a:ext cx="1709927" cy="1325758"/>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1" name="Picture 60" descr="B4.png"/>
          <p:cNvPicPr>
            <a:picLocks noChangeAspect="1"/>
          </p:cNvPicPr>
          <p:nvPr/>
        </p:nvPicPr>
        <p:blipFill>
          <a:blip r:embed="rId4"/>
          <a:stretch>
            <a:fillRect/>
          </a:stretch>
        </p:blipFill>
        <p:spPr>
          <a:xfrm>
            <a:off x="7949183" y="3191316"/>
            <a:ext cx="1682495" cy="1298326"/>
          </a:xfrm>
          <a:prstGeom prst="rect">
            <a:avLst/>
          </a:prstGeom>
        </p:spPr>
      </p:pic>
      <p:sp>
        <p:nvSpPr>
          <p:cNvPr id="62" name="TextBox 61"/>
          <p:cNvSpPr txBox="1"/>
          <p:nvPr/>
        </p:nvSpPr>
        <p:spPr>
          <a:xfrm>
            <a:off x="7912607" y="4544507"/>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B04 Cookie Vanilla</a:t>
            </a:r>
          </a:p>
          <a:p>
            <a:pPr algn="ctr">
              <a:spcBef>
                <a:spcPts val="0"/>
              </a:spcBef>
              <a:spcAft>
                <a:spcPts val="0"/>
              </a:spcAft>
            </a:pPr>
            <a:r>
              <a:rPr sz="1200" b="0" i="0">
                <a:solidFill>
                  <a:srgbClr val="1E2D44"/>
                </a:solidFill>
                <a:latin typeface="Karla"/>
              </a:rPr>
              <a:t>Filling Right Upper…</a:t>
            </a:r>
          </a:p>
        </p:txBody>
      </p:sp>
      <p:sp>
        <p:nvSpPr>
          <p:cNvPr id="63" name="TextBox 62"/>
          <p:cNvSpPr txBox="1"/>
          <p:nvPr/>
        </p:nvSpPr>
        <p:spPr>
          <a:xfrm>
            <a:off x="7912607" y="4910267"/>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+22*</a:t>
            </a:r>
          </a:p>
        </p:txBody>
      </p:sp>
      <p:sp>
        <p:nvSpPr>
          <p:cNvPr id="64" name="Rectangle 63"/>
          <p:cNvSpPr/>
          <p:nvPr/>
        </p:nvSpPr>
        <p:spPr>
          <a:xfrm>
            <a:off x="9855707" y="3177600"/>
            <a:ext cx="1709927" cy="1325758"/>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5" name="Picture 64" descr="B2.png"/>
          <p:cNvPicPr>
            <a:picLocks noChangeAspect="1"/>
          </p:cNvPicPr>
          <p:nvPr/>
        </p:nvPicPr>
        <p:blipFill>
          <a:blip r:embed="rId5"/>
          <a:stretch>
            <a:fillRect/>
          </a:stretch>
        </p:blipFill>
        <p:spPr>
          <a:xfrm>
            <a:off x="9869423" y="3191316"/>
            <a:ext cx="1682495" cy="1298326"/>
          </a:xfrm>
          <a:prstGeom prst="rect">
            <a:avLst/>
          </a:prstGeom>
        </p:spPr>
      </p:pic>
      <p:sp>
        <p:nvSpPr>
          <p:cNvPr id="66" name="TextBox 65"/>
          <p:cNvSpPr txBox="1"/>
          <p:nvPr/>
        </p:nvSpPr>
        <p:spPr>
          <a:xfrm>
            <a:off x="9832847" y="4544507"/>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B02 Cookie Orange</a:t>
            </a:r>
          </a:p>
          <a:p>
            <a:pPr algn="ctr">
              <a:spcBef>
                <a:spcPts val="0"/>
              </a:spcBef>
              <a:spcAft>
                <a:spcPts val="0"/>
              </a:spcAft>
            </a:pPr>
            <a:r>
              <a:rPr sz="1200" b="0" i="0">
                <a:solidFill>
                  <a:srgbClr val="1E2D44"/>
                </a:solidFill>
                <a:latin typeface="Karla"/>
              </a:rPr>
              <a:t>Filling Right Upper…</a:t>
            </a:r>
          </a:p>
        </p:txBody>
      </p:sp>
      <p:sp>
        <p:nvSpPr>
          <p:cNvPr id="67" name="TextBox 66"/>
          <p:cNvSpPr txBox="1"/>
          <p:nvPr/>
        </p:nvSpPr>
        <p:spPr>
          <a:xfrm>
            <a:off x="9832847" y="4910267"/>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+22*</a:t>
            </a:r>
          </a:p>
        </p:txBody>
      </p:sp>
      <p:sp>
        <p:nvSpPr>
          <p:cNvPr id="68" name="Rounded Rectangle 67"/>
          <p:cNvSpPr/>
          <p:nvPr/>
        </p:nvSpPr>
        <p:spPr>
          <a:xfrm>
            <a:off x="502920" y="5632704"/>
            <a:ext cx="11268455" cy="676656"/>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200" b="0">
                <a:solidFill>
                  <a:srgbClr val="1E2D44"/>
                </a:solidFill>
                <a:latin typeface="Karla"/>
              </a:rPr>
              <a:t>Bulgaria favors B01 Cookie Chocolate Filling Right Upper D2D3; Greece favors B05 Cookie Chocolate Filling Right Lower D1; Saudi Arabia favors B01 Cookie Chocolate Filling Right Upper D2D3. The widest segment gap is B03 Cookie Banana Filling Right Upper D2D3: +14 bulgaria / +12 greece / +37 saudi arabia.</a:t>
            </a:r>
          </a:p>
        </p:txBody>
      </p:sp>
      <p:sp>
        <p:nvSpPr>
          <p:cNvPr id="69" name="Rectangle 68"/>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Bulgaria basesize = 50; Greece basesize = 49; Saudi Arabia basesize = 51. Top-2 scores rounded to whole points. *Average of the groups in the legend.</a:t>
            </a:r>
          </a:p>
        </p:txBody>
      </p:sp>
      <p:sp>
        <p:nvSpPr>
          <p:cNvPr id="71" name="TextBox 70"/>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37744"/>
            <a:ext cx="7043927" cy="182880"/>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KEY FINDINGS: B_COOKIE  ·  Which of these countries do you live in?   ·   2 of 2</a:t>
            </a:r>
          </a:p>
        </p:txBody>
      </p:sp>
      <p:sp>
        <p:nvSpPr>
          <p:cNvPr id="3" name="TextBox 2"/>
          <p:cNvSpPr txBox="1"/>
          <p:nvPr/>
        </p:nvSpPr>
        <p:spPr>
          <a:xfrm>
            <a:off x="502920" y="438912"/>
            <a:ext cx="7043927" cy="365760"/>
          </a:xfrm>
          <a:prstGeom prst="rect">
            <a:avLst/>
          </a:prstGeom>
          <a:noFill/>
        </p:spPr>
        <p:txBody>
          <a:bodyPr wrap="square" anchor="t" lIns="0" rIns="0" tIns="0" bIns="0"/>
          <a:lstStyle/>
          <a:p>
            <a:pPr algn="l">
              <a:spcBef>
                <a:spcPts val="0"/>
              </a:spcBef>
              <a:spcAft>
                <a:spcPts val="0"/>
              </a:spcAft>
            </a:pPr>
            <a:r>
              <a:rPr sz="2600" b="1" i="0">
                <a:solidFill>
                  <a:srgbClr val="1E2D44"/>
                </a:solidFill>
                <a:latin typeface="Karla"/>
              </a:rPr>
              <a:t>B_Cookie splits across the groups</a:t>
            </a:r>
          </a:p>
        </p:txBody>
      </p:sp>
      <p:sp>
        <p:nvSpPr>
          <p:cNvPr id="4" name="TextBox 3"/>
          <p:cNvSpPr txBox="1"/>
          <p:nvPr/>
        </p:nvSpPr>
        <p:spPr>
          <a:xfrm>
            <a:off x="502920" y="822960"/>
            <a:ext cx="7043927" cy="475488"/>
          </a:xfrm>
          <a:prstGeom prst="rect">
            <a:avLst/>
          </a:prstGeom>
          <a:noFill/>
        </p:spPr>
        <p:txBody>
          <a:bodyPr wrap="square" anchor="t" lIns="0" rIns="0" tIns="0" bIns="0"/>
          <a:lstStyle/>
          <a:p>
            <a:pPr algn="l">
              <a:spcBef>
                <a:spcPts val="0"/>
              </a:spcBef>
              <a:spcAft>
                <a:spcPts val="0"/>
              </a:spcAft>
            </a:pPr>
            <a:r>
              <a:rPr sz="1200" b="0" i="0">
                <a:solidFill>
                  <a:srgbClr val="617086"/>
                </a:solidFill>
                <a:latin typeface="Karla"/>
              </a:rPr>
              <a:t>Bulgaria favors B01 Cookie Chocolate Filling Right Upper D2D3; Greece favors B05 Cookie Chocolate Filling Right Lower D1; Saudi Arabia favors B01 Cookie Chocolate Filling Right Upper D2D3.</a:t>
            </a:r>
          </a:p>
        </p:txBody>
      </p:sp>
      <p:sp>
        <p:nvSpPr>
          <p:cNvPr id="5" name="Rectangle 4"/>
          <p:cNvSpPr/>
          <p:nvPr/>
        </p:nvSpPr>
        <p:spPr>
          <a:xfrm>
            <a:off x="502920" y="1335024"/>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B_COOKIE</a:t>
            </a:r>
          </a:p>
        </p:txBody>
      </p:sp>
      <p:sp>
        <p:nvSpPr>
          <p:cNvPr id="6" name="TextBox 5"/>
          <p:cNvSpPr txBox="1"/>
          <p:nvPr/>
        </p:nvSpPr>
        <p:spPr>
          <a:xfrm>
            <a:off x="1874520"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7" name="Rectangle 6"/>
          <p:cNvSpPr/>
          <p:nvPr/>
        </p:nvSpPr>
        <p:spPr>
          <a:xfrm>
            <a:off x="3379469" y="1645920"/>
            <a:ext cx="9144" cy="3310128"/>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86861"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9" name="Rectangle 8"/>
          <p:cNvSpPr/>
          <p:nvPr/>
        </p:nvSpPr>
        <p:spPr>
          <a:xfrm>
            <a:off x="4591811" y="1645920"/>
            <a:ext cx="9144" cy="3310128"/>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9203"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1" name="Rectangle 10"/>
          <p:cNvSpPr/>
          <p:nvPr/>
        </p:nvSpPr>
        <p:spPr>
          <a:xfrm>
            <a:off x="5804153" y="1645920"/>
            <a:ext cx="9144" cy="3310128"/>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11545"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30</a:t>
            </a:r>
          </a:p>
        </p:txBody>
      </p:sp>
      <p:sp>
        <p:nvSpPr>
          <p:cNvPr id="13" name="Rectangle 12"/>
          <p:cNvSpPr/>
          <p:nvPr/>
        </p:nvSpPr>
        <p:spPr>
          <a:xfrm>
            <a:off x="7016495" y="1645920"/>
            <a:ext cx="9144" cy="3310128"/>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23887"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40</a:t>
            </a:r>
          </a:p>
        </p:txBody>
      </p:sp>
      <p:sp>
        <p:nvSpPr>
          <p:cNvPr id="15" name="Rectangle 14"/>
          <p:cNvSpPr/>
          <p:nvPr/>
        </p:nvSpPr>
        <p:spPr>
          <a:xfrm>
            <a:off x="2167128" y="1645920"/>
            <a:ext cx="10972" cy="3310128"/>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167128" y="4956048"/>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1827977"/>
            <a:ext cx="1554480" cy="463417"/>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B05 Cookie Chocolate</a:t>
            </a:r>
          </a:p>
          <a:p>
            <a:pPr algn="r">
              <a:spcBef>
                <a:spcPts val="0"/>
              </a:spcBef>
              <a:spcAft>
                <a:spcPts val="0"/>
              </a:spcAft>
            </a:pPr>
            <a:r>
              <a:rPr sz="1000" b="0" i="0">
                <a:solidFill>
                  <a:srgbClr val="1E2D44"/>
                </a:solidFill>
                <a:latin typeface="Karla"/>
              </a:rPr>
              <a:t>Filling Right Lower…</a:t>
            </a:r>
          </a:p>
        </p:txBody>
      </p:sp>
      <p:sp>
        <p:nvSpPr>
          <p:cNvPr id="18" name="Rectangle 17"/>
          <p:cNvSpPr/>
          <p:nvPr/>
        </p:nvSpPr>
        <p:spPr>
          <a:xfrm>
            <a:off x="2167128" y="1827977"/>
            <a:ext cx="1576044" cy="127040"/>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798036" y="1827977"/>
            <a:ext cx="457200" cy="127040"/>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+13</a:t>
            </a:r>
          </a:p>
        </p:txBody>
      </p:sp>
      <p:sp>
        <p:nvSpPr>
          <p:cNvPr id="20" name="Rectangle 19"/>
          <p:cNvSpPr/>
          <p:nvPr/>
        </p:nvSpPr>
        <p:spPr>
          <a:xfrm>
            <a:off x="2167128" y="1996165"/>
            <a:ext cx="3030854" cy="127040"/>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52846" y="1996165"/>
            <a:ext cx="457200" cy="127040"/>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+25</a:t>
            </a:r>
          </a:p>
        </p:txBody>
      </p:sp>
      <p:sp>
        <p:nvSpPr>
          <p:cNvPr id="22" name="Rectangle 21"/>
          <p:cNvSpPr/>
          <p:nvPr/>
        </p:nvSpPr>
        <p:spPr>
          <a:xfrm>
            <a:off x="2167128" y="2164354"/>
            <a:ext cx="3879494" cy="12704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01486" y="2164354"/>
            <a:ext cx="457200" cy="127040"/>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+32</a:t>
            </a:r>
          </a:p>
        </p:txBody>
      </p:sp>
      <p:sp>
        <p:nvSpPr>
          <p:cNvPr id="24" name="TextBox 23"/>
          <p:cNvSpPr txBox="1"/>
          <p:nvPr/>
        </p:nvSpPr>
        <p:spPr>
          <a:xfrm>
            <a:off x="502920" y="2655509"/>
            <a:ext cx="1554480" cy="463417"/>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B08 Cookie Vanilla</a:t>
            </a:r>
          </a:p>
          <a:p>
            <a:pPr algn="r">
              <a:spcBef>
                <a:spcPts val="0"/>
              </a:spcBef>
              <a:spcAft>
                <a:spcPts val="0"/>
              </a:spcAft>
            </a:pPr>
            <a:r>
              <a:rPr sz="1000" b="0" i="0">
                <a:solidFill>
                  <a:srgbClr val="1E2D44"/>
                </a:solidFill>
                <a:latin typeface="Karla"/>
              </a:rPr>
              <a:t>Filling Right Lower…</a:t>
            </a:r>
          </a:p>
        </p:txBody>
      </p:sp>
      <p:sp>
        <p:nvSpPr>
          <p:cNvPr id="25" name="Rectangle 24"/>
          <p:cNvSpPr/>
          <p:nvPr/>
        </p:nvSpPr>
        <p:spPr>
          <a:xfrm>
            <a:off x="2167128" y="2655509"/>
            <a:ext cx="1818512" cy="127040"/>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040504" y="2655509"/>
            <a:ext cx="457200" cy="127040"/>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+15</a:t>
            </a:r>
          </a:p>
        </p:txBody>
      </p:sp>
      <p:sp>
        <p:nvSpPr>
          <p:cNvPr id="27" name="Rectangle 26"/>
          <p:cNvSpPr/>
          <p:nvPr/>
        </p:nvSpPr>
        <p:spPr>
          <a:xfrm>
            <a:off x="2167128" y="2823697"/>
            <a:ext cx="1939747" cy="127040"/>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161739" y="2823697"/>
            <a:ext cx="457200" cy="127040"/>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+16</a:t>
            </a:r>
          </a:p>
        </p:txBody>
      </p:sp>
      <p:sp>
        <p:nvSpPr>
          <p:cNvPr id="29" name="Rectangle 28"/>
          <p:cNvSpPr/>
          <p:nvPr/>
        </p:nvSpPr>
        <p:spPr>
          <a:xfrm>
            <a:off x="2167128" y="2991886"/>
            <a:ext cx="3515791" cy="12704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737783" y="2991886"/>
            <a:ext cx="457200" cy="127040"/>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+29</a:t>
            </a:r>
          </a:p>
        </p:txBody>
      </p:sp>
      <p:sp>
        <p:nvSpPr>
          <p:cNvPr id="31" name="TextBox 30"/>
          <p:cNvSpPr txBox="1"/>
          <p:nvPr/>
        </p:nvSpPr>
        <p:spPr>
          <a:xfrm>
            <a:off x="502920" y="3483041"/>
            <a:ext cx="1554480" cy="463417"/>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B06 Cookie Orange</a:t>
            </a:r>
          </a:p>
          <a:p>
            <a:pPr algn="r">
              <a:spcBef>
                <a:spcPts val="0"/>
              </a:spcBef>
              <a:spcAft>
                <a:spcPts val="0"/>
              </a:spcAft>
            </a:pPr>
            <a:r>
              <a:rPr sz="1000" b="0" i="0">
                <a:solidFill>
                  <a:srgbClr val="1E2D44"/>
                </a:solidFill>
                <a:latin typeface="Karla"/>
              </a:rPr>
              <a:t>Filling Right Lower…</a:t>
            </a:r>
          </a:p>
        </p:txBody>
      </p:sp>
      <p:sp>
        <p:nvSpPr>
          <p:cNvPr id="32" name="Rectangle 31"/>
          <p:cNvSpPr/>
          <p:nvPr/>
        </p:nvSpPr>
        <p:spPr>
          <a:xfrm>
            <a:off x="2167128" y="3483041"/>
            <a:ext cx="1576044" cy="127040"/>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798036" y="3483041"/>
            <a:ext cx="457200" cy="127040"/>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+13</a:t>
            </a:r>
          </a:p>
        </p:txBody>
      </p:sp>
      <p:sp>
        <p:nvSpPr>
          <p:cNvPr id="34" name="Rectangle 33"/>
          <p:cNvSpPr/>
          <p:nvPr/>
        </p:nvSpPr>
        <p:spPr>
          <a:xfrm>
            <a:off x="2167128" y="3651229"/>
            <a:ext cx="1576044" cy="127040"/>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798036" y="3651229"/>
            <a:ext cx="457200" cy="127040"/>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+13</a:t>
            </a:r>
          </a:p>
        </p:txBody>
      </p:sp>
      <p:sp>
        <p:nvSpPr>
          <p:cNvPr id="36" name="Rectangle 35"/>
          <p:cNvSpPr/>
          <p:nvPr/>
        </p:nvSpPr>
        <p:spPr>
          <a:xfrm>
            <a:off x="2167128" y="3819418"/>
            <a:ext cx="2909620" cy="12704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131612" y="3819418"/>
            <a:ext cx="457200" cy="127040"/>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+24</a:t>
            </a:r>
          </a:p>
        </p:txBody>
      </p:sp>
      <p:sp>
        <p:nvSpPr>
          <p:cNvPr id="38" name="TextBox 37"/>
          <p:cNvSpPr txBox="1"/>
          <p:nvPr/>
        </p:nvSpPr>
        <p:spPr>
          <a:xfrm>
            <a:off x="502920" y="4310573"/>
            <a:ext cx="1554480" cy="463417"/>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B07 Cookie Banana</a:t>
            </a:r>
          </a:p>
          <a:p>
            <a:pPr algn="r">
              <a:spcBef>
                <a:spcPts val="0"/>
              </a:spcBef>
              <a:spcAft>
                <a:spcPts val="0"/>
              </a:spcAft>
            </a:pPr>
            <a:r>
              <a:rPr sz="1000" b="0" i="0">
                <a:solidFill>
                  <a:srgbClr val="1E2D44"/>
                </a:solidFill>
                <a:latin typeface="Karla"/>
              </a:rPr>
              <a:t>Filling Right Lower…</a:t>
            </a:r>
          </a:p>
        </p:txBody>
      </p:sp>
      <p:sp>
        <p:nvSpPr>
          <p:cNvPr id="39" name="Rectangle 38"/>
          <p:cNvSpPr/>
          <p:nvPr/>
        </p:nvSpPr>
        <p:spPr>
          <a:xfrm>
            <a:off x="2167128" y="4310573"/>
            <a:ext cx="1697278" cy="127040"/>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919270" y="4310573"/>
            <a:ext cx="457200" cy="127040"/>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+14</a:t>
            </a:r>
          </a:p>
        </p:txBody>
      </p:sp>
      <p:sp>
        <p:nvSpPr>
          <p:cNvPr id="41" name="Rectangle 40"/>
          <p:cNvSpPr/>
          <p:nvPr/>
        </p:nvSpPr>
        <p:spPr>
          <a:xfrm>
            <a:off x="2167128" y="4478761"/>
            <a:ext cx="1454810" cy="127040"/>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76802" y="4478761"/>
            <a:ext cx="457200" cy="127040"/>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+12</a:t>
            </a:r>
          </a:p>
        </p:txBody>
      </p:sp>
      <p:sp>
        <p:nvSpPr>
          <p:cNvPr id="43" name="Rectangle 42"/>
          <p:cNvSpPr/>
          <p:nvPr/>
        </p:nvSpPr>
        <p:spPr>
          <a:xfrm>
            <a:off x="2167128" y="4646950"/>
            <a:ext cx="2909620" cy="12704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131612" y="4646950"/>
            <a:ext cx="457200" cy="127040"/>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+24</a:t>
            </a:r>
          </a:p>
        </p:txBody>
      </p:sp>
      <p:sp>
        <p:nvSpPr>
          <p:cNvPr id="45" name="Rectangle 44"/>
          <p:cNvSpPr/>
          <p:nvPr/>
        </p:nvSpPr>
        <p:spPr>
          <a:xfrm>
            <a:off x="1250695" y="5381244"/>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424431" y="5321807"/>
            <a:ext cx="170688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Bulgaria (basesize = 50)</a:t>
            </a:r>
          </a:p>
        </p:txBody>
      </p:sp>
      <p:sp>
        <p:nvSpPr>
          <p:cNvPr id="47" name="Rectangle 46"/>
          <p:cNvSpPr/>
          <p:nvPr/>
        </p:nvSpPr>
        <p:spPr>
          <a:xfrm>
            <a:off x="3387343" y="5381244"/>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561079" y="5321807"/>
            <a:ext cx="156464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Greece (basesize = 49)</a:t>
            </a:r>
          </a:p>
        </p:txBody>
      </p:sp>
      <p:sp>
        <p:nvSpPr>
          <p:cNvPr id="49" name="Rectangle 48"/>
          <p:cNvSpPr/>
          <p:nvPr/>
        </p:nvSpPr>
        <p:spPr>
          <a:xfrm>
            <a:off x="5381751" y="5381244"/>
            <a:ext cx="100584" cy="10058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555487" y="5321807"/>
            <a:ext cx="199136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Saudi Arabia (basesize = 51)</a:t>
            </a:r>
          </a:p>
        </p:txBody>
      </p:sp>
      <p:sp>
        <p:nvSpPr>
          <p:cNvPr id="51" name="Rounded Rectangle 50"/>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7935467" y="617280"/>
            <a:ext cx="1709927" cy="1325758"/>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3" name="Picture 52" descr="B5.png"/>
          <p:cNvPicPr>
            <a:picLocks noChangeAspect="1"/>
          </p:cNvPicPr>
          <p:nvPr/>
        </p:nvPicPr>
        <p:blipFill>
          <a:blip r:embed="rId2"/>
          <a:stretch>
            <a:fillRect/>
          </a:stretch>
        </p:blipFill>
        <p:spPr>
          <a:xfrm>
            <a:off x="7949183" y="630996"/>
            <a:ext cx="1682495" cy="1298326"/>
          </a:xfrm>
          <a:prstGeom prst="rect">
            <a:avLst/>
          </a:prstGeom>
        </p:spPr>
      </p:pic>
      <p:sp>
        <p:nvSpPr>
          <p:cNvPr id="54" name="TextBox 53"/>
          <p:cNvSpPr txBox="1"/>
          <p:nvPr/>
        </p:nvSpPr>
        <p:spPr>
          <a:xfrm>
            <a:off x="7912607" y="1984187"/>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B05 Cookie</a:t>
            </a:r>
          </a:p>
          <a:p>
            <a:pPr algn="ctr">
              <a:spcBef>
                <a:spcPts val="0"/>
              </a:spcBef>
              <a:spcAft>
                <a:spcPts val="0"/>
              </a:spcAft>
            </a:pPr>
            <a:r>
              <a:rPr sz="1200" b="0" i="0">
                <a:solidFill>
                  <a:srgbClr val="1E2D44"/>
                </a:solidFill>
                <a:latin typeface="Karla"/>
              </a:rPr>
              <a:t>Chocolate Filling…</a:t>
            </a:r>
          </a:p>
        </p:txBody>
      </p:sp>
      <p:sp>
        <p:nvSpPr>
          <p:cNvPr id="55" name="TextBox 54"/>
          <p:cNvSpPr txBox="1"/>
          <p:nvPr/>
        </p:nvSpPr>
        <p:spPr>
          <a:xfrm>
            <a:off x="7912607" y="2349947"/>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+23*</a:t>
            </a:r>
          </a:p>
        </p:txBody>
      </p:sp>
      <p:sp>
        <p:nvSpPr>
          <p:cNvPr id="56" name="Rectangle 55"/>
          <p:cNvSpPr/>
          <p:nvPr/>
        </p:nvSpPr>
        <p:spPr>
          <a:xfrm>
            <a:off x="9855707" y="617280"/>
            <a:ext cx="1709927" cy="1325758"/>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7" name="Picture 56" descr="B8.png"/>
          <p:cNvPicPr>
            <a:picLocks noChangeAspect="1"/>
          </p:cNvPicPr>
          <p:nvPr/>
        </p:nvPicPr>
        <p:blipFill>
          <a:blip r:embed="rId3"/>
          <a:stretch>
            <a:fillRect/>
          </a:stretch>
        </p:blipFill>
        <p:spPr>
          <a:xfrm>
            <a:off x="9869423" y="630996"/>
            <a:ext cx="1682495" cy="1298326"/>
          </a:xfrm>
          <a:prstGeom prst="rect">
            <a:avLst/>
          </a:prstGeom>
        </p:spPr>
      </p:pic>
      <p:sp>
        <p:nvSpPr>
          <p:cNvPr id="58" name="TextBox 57"/>
          <p:cNvSpPr txBox="1"/>
          <p:nvPr/>
        </p:nvSpPr>
        <p:spPr>
          <a:xfrm>
            <a:off x="9832847" y="1984187"/>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B08 Cookie Vanilla</a:t>
            </a:r>
          </a:p>
          <a:p>
            <a:pPr algn="ctr">
              <a:spcBef>
                <a:spcPts val="0"/>
              </a:spcBef>
              <a:spcAft>
                <a:spcPts val="0"/>
              </a:spcAft>
            </a:pPr>
            <a:r>
              <a:rPr sz="1200" b="0" i="0">
                <a:solidFill>
                  <a:srgbClr val="1E2D44"/>
                </a:solidFill>
                <a:latin typeface="Karla"/>
              </a:rPr>
              <a:t>Filling Right Lower…</a:t>
            </a:r>
          </a:p>
        </p:txBody>
      </p:sp>
      <p:sp>
        <p:nvSpPr>
          <p:cNvPr id="59" name="TextBox 58"/>
          <p:cNvSpPr txBox="1"/>
          <p:nvPr/>
        </p:nvSpPr>
        <p:spPr>
          <a:xfrm>
            <a:off x="9832847" y="2349947"/>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+20*</a:t>
            </a:r>
          </a:p>
        </p:txBody>
      </p:sp>
      <p:sp>
        <p:nvSpPr>
          <p:cNvPr id="60" name="Rectangle 59"/>
          <p:cNvSpPr/>
          <p:nvPr/>
        </p:nvSpPr>
        <p:spPr>
          <a:xfrm>
            <a:off x="7935467" y="3177600"/>
            <a:ext cx="1709927" cy="1325758"/>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1" name="Picture 60" descr="B6.png"/>
          <p:cNvPicPr>
            <a:picLocks noChangeAspect="1"/>
          </p:cNvPicPr>
          <p:nvPr/>
        </p:nvPicPr>
        <p:blipFill>
          <a:blip r:embed="rId4"/>
          <a:stretch>
            <a:fillRect/>
          </a:stretch>
        </p:blipFill>
        <p:spPr>
          <a:xfrm>
            <a:off x="7949183" y="3191316"/>
            <a:ext cx="1682495" cy="1298326"/>
          </a:xfrm>
          <a:prstGeom prst="rect">
            <a:avLst/>
          </a:prstGeom>
        </p:spPr>
      </p:pic>
      <p:sp>
        <p:nvSpPr>
          <p:cNvPr id="62" name="TextBox 61"/>
          <p:cNvSpPr txBox="1"/>
          <p:nvPr/>
        </p:nvSpPr>
        <p:spPr>
          <a:xfrm>
            <a:off x="7912607" y="4544507"/>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B06 Cookie Orange</a:t>
            </a:r>
          </a:p>
          <a:p>
            <a:pPr algn="ctr">
              <a:spcBef>
                <a:spcPts val="0"/>
              </a:spcBef>
              <a:spcAft>
                <a:spcPts val="0"/>
              </a:spcAft>
            </a:pPr>
            <a:r>
              <a:rPr sz="1200" b="0" i="0">
                <a:solidFill>
                  <a:srgbClr val="1E2D44"/>
                </a:solidFill>
                <a:latin typeface="Karla"/>
              </a:rPr>
              <a:t>Filling Right Lower…</a:t>
            </a:r>
          </a:p>
        </p:txBody>
      </p:sp>
      <p:sp>
        <p:nvSpPr>
          <p:cNvPr id="63" name="TextBox 62"/>
          <p:cNvSpPr txBox="1"/>
          <p:nvPr/>
        </p:nvSpPr>
        <p:spPr>
          <a:xfrm>
            <a:off x="7912607" y="4910267"/>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+17*</a:t>
            </a:r>
          </a:p>
        </p:txBody>
      </p:sp>
      <p:sp>
        <p:nvSpPr>
          <p:cNvPr id="64" name="Rectangle 63"/>
          <p:cNvSpPr/>
          <p:nvPr/>
        </p:nvSpPr>
        <p:spPr>
          <a:xfrm>
            <a:off x="9855707" y="3177600"/>
            <a:ext cx="1709927" cy="1325758"/>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5" name="Picture 64" descr="B7.png"/>
          <p:cNvPicPr>
            <a:picLocks noChangeAspect="1"/>
          </p:cNvPicPr>
          <p:nvPr/>
        </p:nvPicPr>
        <p:blipFill>
          <a:blip r:embed="rId5"/>
          <a:stretch>
            <a:fillRect/>
          </a:stretch>
        </p:blipFill>
        <p:spPr>
          <a:xfrm>
            <a:off x="9869423" y="3191316"/>
            <a:ext cx="1682495" cy="1298326"/>
          </a:xfrm>
          <a:prstGeom prst="rect">
            <a:avLst/>
          </a:prstGeom>
        </p:spPr>
      </p:pic>
      <p:sp>
        <p:nvSpPr>
          <p:cNvPr id="66" name="TextBox 65"/>
          <p:cNvSpPr txBox="1"/>
          <p:nvPr/>
        </p:nvSpPr>
        <p:spPr>
          <a:xfrm>
            <a:off x="9832847" y="4544507"/>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B07 Cookie Banana</a:t>
            </a:r>
          </a:p>
          <a:p>
            <a:pPr algn="ctr">
              <a:spcBef>
                <a:spcPts val="0"/>
              </a:spcBef>
              <a:spcAft>
                <a:spcPts val="0"/>
              </a:spcAft>
            </a:pPr>
            <a:r>
              <a:rPr sz="1200" b="0" i="0">
                <a:solidFill>
                  <a:srgbClr val="1E2D44"/>
                </a:solidFill>
                <a:latin typeface="Karla"/>
              </a:rPr>
              <a:t>Filling Right Lower…</a:t>
            </a:r>
          </a:p>
        </p:txBody>
      </p:sp>
      <p:sp>
        <p:nvSpPr>
          <p:cNvPr id="67" name="TextBox 66"/>
          <p:cNvSpPr txBox="1"/>
          <p:nvPr/>
        </p:nvSpPr>
        <p:spPr>
          <a:xfrm>
            <a:off x="9832847" y="4910267"/>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+17*</a:t>
            </a:r>
          </a:p>
        </p:txBody>
      </p:sp>
      <p:sp>
        <p:nvSpPr>
          <p:cNvPr id="68" name="Rounded Rectangle 67"/>
          <p:cNvSpPr/>
          <p:nvPr/>
        </p:nvSpPr>
        <p:spPr>
          <a:xfrm>
            <a:off x="502920" y="5632704"/>
            <a:ext cx="11268455" cy="676656"/>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200" b="0">
                <a:solidFill>
                  <a:srgbClr val="1E2D44"/>
                </a:solidFill>
                <a:latin typeface="Karla"/>
              </a:rPr>
              <a:t>Bulgaria favors B01 Cookie Chocolate Filling Right Upper D2D3; Greece favors B05 Cookie Chocolate Filling Right Lower D1; Saudi Arabia favors B01 Cookie Chocolate Filling Right Upper D2D3. The widest segment gap is B03 Cookie Banana Filling Right Upper D2D3: +14 bulgaria / +12 greece / +37 saudi arabia.</a:t>
            </a:r>
          </a:p>
        </p:txBody>
      </p:sp>
      <p:sp>
        <p:nvSpPr>
          <p:cNvPr id="69" name="Rectangle 68"/>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Bulgaria basesize = 50; Greece basesize = 49; Saudi Arabia basesize = 51. Top-2 scores rounded to whole points. *Average of the groups in the legend.</a:t>
            </a:r>
          </a:p>
        </p:txBody>
      </p:sp>
      <p:sp>
        <p:nvSpPr>
          <p:cNvPr id="71" name="TextBox 70"/>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37744"/>
            <a:ext cx="7043927" cy="182880"/>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KEY FINDINGS: B_COOKIE  ·  Do you currently consume protein-enriched food products   ·   1 of 2</a:t>
            </a:r>
          </a:p>
        </p:txBody>
      </p:sp>
      <p:sp>
        <p:nvSpPr>
          <p:cNvPr id="3" name="TextBox 2"/>
          <p:cNvSpPr txBox="1"/>
          <p:nvPr/>
        </p:nvSpPr>
        <p:spPr>
          <a:xfrm>
            <a:off x="502920" y="438912"/>
            <a:ext cx="7043927" cy="365760"/>
          </a:xfrm>
          <a:prstGeom prst="rect">
            <a:avLst/>
          </a:prstGeom>
          <a:noFill/>
        </p:spPr>
        <p:txBody>
          <a:bodyPr wrap="square" anchor="t" lIns="0" rIns="0" tIns="0" bIns="0"/>
          <a:lstStyle/>
          <a:p>
            <a:pPr algn="l">
              <a:spcBef>
                <a:spcPts val="0"/>
              </a:spcBef>
              <a:spcAft>
                <a:spcPts val="0"/>
              </a:spcAft>
            </a:pPr>
            <a:r>
              <a:rPr sz="2600" b="1" i="0">
                <a:solidFill>
                  <a:srgbClr val="1E2D44"/>
                </a:solidFill>
                <a:latin typeface="Karla"/>
              </a:rPr>
              <a:t>B_Cookie splits across the groups</a:t>
            </a:r>
          </a:p>
        </p:txBody>
      </p:sp>
      <p:sp>
        <p:nvSpPr>
          <p:cNvPr id="4" name="TextBox 3"/>
          <p:cNvSpPr txBox="1"/>
          <p:nvPr/>
        </p:nvSpPr>
        <p:spPr>
          <a:xfrm>
            <a:off x="502920" y="822960"/>
            <a:ext cx="7043927" cy="475488"/>
          </a:xfrm>
          <a:prstGeom prst="rect">
            <a:avLst/>
          </a:prstGeom>
          <a:noFill/>
        </p:spPr>
        <p:txBody>
          <a:bodyPr wrap="square" anchor="t" lIns="0" rIns="0" tIns="0" bIns="0"/>
          <a:lstStyle/>
          <a:p>
            <a:pPr algn="l">
              <a:spcBef>
                <a:spcPts val="0"/>
              </a:spcBef>
              <a:spcAft>
                <a:spcPts val="0"/>
              </a:spcAft>
            </a:pPr>
            <a:r>
              <a:rPr sz="1200" b="0" i="0">
                <a:solidFill>
                  <a:srgbClr val="617086"/>
                </a:solidFill>
                <a:latin typeface="Karla"/>
              </a:rPr>
              <a:t>No, and I am not interested favors B02 Cookie Orange Filling Right Upper D2D3; No, but I am interested in trying them favors B01 Cookie Chocolate Filling Right Upper D2D3; Yes, occasionally favors B01 Cookie Chocolate Filling Right Upper D2D3; Yes, regularly favors B05 Cookie Chocolate Filling Right Lower D1.</a:t>
            </a:r>
          </a:p>
        </p:txBody>
      </p:sp>
      <p:sp>
        <p:nvSpPr>
          <p:cNvPr id="5" name="Rectangle 4"/>
          <p:cNvSpPr/>
          <p:nvPr/>
        </p:nvSpPr>
        <p:spPr>
          <a:xfrm>
            <a:off x="502920" y="1335024"/>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B_COOKIE</a:t>
            </a:r>
          </a:p>
        </p:txBody>
      </p:sp>
      <p:sp>
        <p:nvSpPr>
          <p:cNvPr id="6" name="TextBox 5"/>
          <p:cNvSpPr txBox="1"/>
          <p:nvPr/>
        </p:nvSpPr>
        <p:spPr>
          <a:xfrm>
            <a:off x="1874520"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7" name="Rectangle 6"/>
          <p:cNvSpPr/>
          <p:nvPr/>
        </p:nvSpPr>
        <p:spPr>
          <a:xfrm>
            <a:off x="3379469"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86861"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9" name="Rectangle 8"/>
          <p:cNvSpPr/>
          <p:nvPr/>
        </p:nvSpPr>
        <p:spPr>
          <a:xfrm>
            <a:off x="4591811"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9203"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1" name="Rectangle 10"/>
          <p:cNvSpPr/>
          <p:nvPr/>
        </p:nvSpPr>
        <p:spPr>
          <a:xfrm>
            <a:off x="5804153"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11545"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30</a:t>
            </a:r>
          </a:p>
        </p:txBody>
      </p:sp>
      <p:sp>
        <p:nvSpPr>
          <p:cNvPr id="13" name="Rectangle 12"/>
          <p:cNvSpPr/>
          <p:nvPr/>
        </p:nvSpPr>
        <p:spPr>
          <a:xfrm>
            <a:off x="7016495"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23887"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40</a:t>
            </a:r>
          </a:p>
        </p:txBody>
      </p:sp>
      <p:sp>
        <p:nvSpPr>
          <p:cNvPr id="15" name="Rectangle 14"/>
          <p:cNvSpPr/>
          <p:nvPr/>
        </p:nvSpPr>
        <p:spPr>
          <a:xfrm>
            <a:off x="2167128" y="1645920"/>
            <a:ext cx="10972" cy="2871215"/>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167128" y="4517136"/>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1778508"/>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B01 Cookie Chocolate</a:t>
            </a:r>
          </a:p>
          <a:p>
            <a:pPr algn="r">
              <a:spcBef>
                <a:spcPts val="0"/>
              </a:spcBef>
              <a:spcAft>
                <a:spcPts val="0"/>
              </a:spcAft>
            </a:pPr>
            <a:r>
              <a:rPr sz="1000" b="0" i="0">
                <a:solidFill>
                  <a:srgbClr val="1E2D44"/>
                </a:solidFill>
                <a:latin typeface="Karla"/>
              </a:rPr>
              <a:t>Filling Right Upper…</a:t>
            </a:r>
          </a:p>
        </p:txBody>
      </p:sp>
      <p:sp>
        <p:nvSpPr>
          <p:cNvPr id="18" name="Rectangle 17"/>
          <p:cNvSpPr/>
          <p:nvPr/>
        </p:nvSpPr>
        <p:spPr>
          <a:xfrm>
            <a:off x="2167128" y="1778508"/>
            <a:ext cx="969873"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191865" y="1778508"/>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+8</a:t>
            </a:r>
          </a:p>
        </p:txBody>
      </p:sp>
      <p:sp>
        <p:nvSpPr>
          <p:cNvPr id="20" name="Rectangle 19"/>
          <p:cNvSpPr/>
          <p:nvPr/>
        </p:nvSpPr>
        <p:spPr>
          <a:xfrm>
            <a:off x="2167128" y="1901952"/>
            <a:ext cx="3637025"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859017" y="1901952"/>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+30</a:t>
            </a:r>
          </a:p>
        </p:txBody>
      </p:sp>
      <p:sp>
        <p:nvSpPr>
          <p:cNvPr id="22" name="Rectangle 21"/>
          <p:cNvSpPr/>
          <p:nvPr/>
        </p:nvSpPr>
        <p:spPr>
          <a:xfrm>
            <a:off x="2167128" y="2025395"/>
            <a:ext cx="3030854"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52846" y="2025395"/>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+25</a:t>
            </a:r>
          </a:p>
        </p:txBody>
      </p:sp>
      <p:sp>
        <p:nvSpPr>
          <p:cNvPr id="24" name="Rectangle 23"/>
          <p:cNvSpPr/>
          <p:nvPr/>
        </p:nvSpPr>
        <p:spPr>
          <a:xfrm>
            <a:off x="2167128" y="2148840"/>
            <a:ext cx="3152089"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374081" y="2148840"/>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+26</a:t>
            </a:r>
          </a:p>
        </p:txBody>
      </p:sp>
      <p:sp>
        <p:nvSpPr>
          <p:cNvPr id="26" name="TextBox 25"/>
          <p:cNvSpPr txBox="1"/>
          <p:nvPr/>
        </p:nvSpPr>
        <p:spPr>
          <a:xfrm>
            <a:off x="502920" y="2496312"/>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B05 Cookie Chocolate</a:t>
            </a:r>
          </a:p>
          <a:p>
            <a:pPr algn="r">
              <a:spcBef>
                <a:spcPts val="0"/>
              </a:spcBef>
              <a:spcAft>
                <a:spcPts val="0"/>
              </a:spcAft>
            </a:pPr>
            <a:r>
              <a:rPr sz="1000" b="0" i="0">
                <a:solidFill>
                  <a:srgbClr val="1E2D44"/>
                </a:solidFill>
                <a:latin typeface="Karla"/>
              </a:rPr>
              <a:t>Filling Right Lower…</a:t>
            </a:r>
          </a:p>
        </p:txBody>
      </p:sp>
      <p:sp>
        <p:nvSpPr>
          <p:cNvPr id="27" name="Rectangle 26"/>
          <p:cNvSpPr/>
          <p:nvPr/>
        </p:nvSpPr>
        <p:spPr>
          <a:xfrm>
            <a:off x="2167128" y="2496312"/>
            <a:ext cx="1697278"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919270" y="2496312"/>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+14</a:t>
            </a:r>
          </a:p>
        </p:txBody>
      </p:sp>
      <p:sp>
        <p:nvSpPr>
          <p:cNvPr id="29" name="Rectangle 28"/>
          <p:cNvSpPr/>
          <p:nvPr/>
        </p:nvSpPr>
        <p:spPr>
          <a:xfrm>
            <a:off x="2167128" y="2619756"/>
            <a:ext cx="1454810"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76802" y="2619756"/>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+12</a:t>
            </a:r>
          </a:p>
        </p:txBody>
      </p:sp>
      <p:sp>
        <p:nvSpPr>
          <p:cNvPr id="31" name="Rectangle 30"/>
          <p:cNvSpPr/>
          <p:nvPr/>
        </p:nvSpPr>
        <p:spPr>
          <a:xfrm>
            <a:off x="2167128" y="2743200"/>
            <a:ext cx="2303449"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25441" y="2743200"/>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+19</a:t>
            </a:r>
          </a:p>
        </p:txBody>
      </p:sp>
      <p:sp>
        <p:nvSpPr>
          <p:cNvPr id="33" name="Rectangle 32"/>
          <p:cNvSpPr/>
          <p:nvPr/>
        </p:nvSpPr>
        <p:spPr>
          <a:xfrm>
            <a:off x="2167128" y="2866644"/>
            <a:ext cx="3515791"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737783" y="2866644"/>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+29</a:t>
            </a:r>
          </a:p>
        </p:txBody>
      </p:sp>
      <p:sp>
        <p:nvSpPr>
          <p:cNvPr id="35" name="TextBox 34"/>
          <p:cNvSpPr txBox="1"/>
          <p:nvPr/>
        </p:nvSpPr>
        <p:spPr>
          <a:xfrm>
            <a:off x="502920" y="3214116"/>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B02 Cookie Orange</a:t>
            </a:r>
          </a:p>
          <a:p>
            <a:pPr algn="r">
              <a:spcBef>
                <a:spcPts val="0"/>
              </a:spcBef>
              <a:spcAft>
                <a:spcPts val="0"/>
              </a:spcAft>
            </a:pPr>
            <a:r>
              <a:rPr sz="1000" b="0" i="0">
                <a:solidFill>
                  <a:srgbClr val="1E2D44"/>
                </a:solidFill>
                <a:latin typeface="Karla"/>
              </a:rPr>
              <a:t>Filling Right Upper…</a:t>
            </a:r>
          </a:p>
        </p:txBody>
      </p:sp>
      <p:sp>
        <p:nvSpPr>
          <p:cNvPr id="36" name="Rectangle 35"/>
          <p:cNvSpPr/>
          <p:nvPr/>
        </p:nvSpPr>
        <p:spPr>
          <a:xfrm>
            <a:off x="2167128" y="3214116"/>
            <a:ext cx="3273323"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495315" y="3214116"/>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+27</a:t>
            </a:r>
          </a:p>
        </p:txBody>
      </p:sp>
      <p:sp>
        <p:nvSpPr>
          <p:cNvPr id="38" name="Rectangle 37"/>
          <p:cNvSpPr/>
          <p:nvPr/>
        </p:nvSpPr>
        <p:spPr>
          <a:xfrm>
            <a:off x="2167128" y="3337560"/>
            <a:ext cx="2667152"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889144" y="3337560"/>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+22</a:t>
            </a:r>
          </a:p>
        </p:txBody>
      </p:sp>
      <p:sp>
        <p:nvSpPr>
          <p:cNvPr id="40" name="Rectangle 39"/>
          <p:cNvSpPr/>
          <p:nvPr/>
        </p:nvSpPr>
        <p:spPr>
          <a:xfrm>
            <a:off x="2167128" y="3461004"/>
            <a:ext cx="2424683"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646675" y="3461004"/>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+20</a:t>
            </a:r>
          </a:p>
        </p:txBody>
      </p:sp>
      <p:sp>
        <p:nvSpPr>
          <p:cNvPr id="42" name="Rectangle 41"/>
          <p:cNvSpPr/>
          <p:nvPr/>
        </p:nvSpPr>
        <p:spPr>
          <a:xfrm>
            <a:off x="2167128" y="3584448"/>
            <a:ext cx="2788386"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010378" y="3584448"/>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+23</a:t>
            </a:r>
          </a:p>
        </p:txBody>
      </p:sp>
      <p:sp>
        <p:nvSpPr>
          <p:cNvPr id="44" name="TextBox 43"/>
          <p:cNvSpPr txBox="1"/>
          <p:nvPr/>
        </p:nvSpPr>
        <p:spPr>
          <a:xfrm>
            <a:off x="502920" y="3931919"/>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B04 Cookie Vanilla</a:t>
            </a:r>
          </a:p>
          <a:p>
            <a:pPr algn="r">
              <a:spcBef>
                <a:spcPts val="0"/>
              </a:spcBef>
              <a:spcAft>
                <a:spcPts val="0"/>
              </a:spcAft>
            </a:pPr>
            <a:r>
              <a:rPr sz="1000" b="0" i="0">
                <a:solidFill>
                  <a:srgbClr val="1E2D44"/>
                </a:solidFill>
                <a:latin typeface="Karla"/>
              </a:rPr>
              <a:t>Filling Right Upper…</a:t>
            </a:r>
          </a:p>
        </p:txBody>
      </p:sp>
      <p:sp>
        <p:nvSpPr>
          <p:cNvPr id="45" name="Rectangle 44"/>
          <p:cNvSpPr/>
          <p:nvPr/>
        </p:nvSpPr>
        <p:spPr>
          <a:xfrm>
            <a:off x="2167128" y="3931919"/>
            <a:ext cx="2303449"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525441" y="3931919"/>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+19</a:t>
            </a:r>
          </a:p>
        </p:txBody>
      </p:sp>
      <p:sp>
        <p:nvSpPr>
          <p:cNvPr id="47" name="Rectangle 46"/>
          <p:cNvSpPr/>
          <p:nvPr/>
        </p:nvSpPr>
        <p:spPr>
          <a:xfrm>
            <a:off x="2167128" y="4055363"/>
            <a:ext cx="2545918"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767910" y="4055363"/>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+21</a:t>
            </a:r>
          </a:p>
        </p:txBody>
      </p:sp>
      <p:sp>
        <p:nvSpPr>
          <p:cNvPr id="49" name="Rectangle 48"/>
          <p:cNvSpPr/>
          <p:nvPr/>
        </p:nvSpPr>
        <p:spPr>
          <a:xfrm>
            <a:off x="2167128" y="4178807"/>
            <a:ext cx="2788386"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010378" y="4178807"/>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+23</a:t>
            </a:r>
          </a:p>
        </p:txBody>
      </p:sp>
      <p:sp>
        <p:nvSpPr>
          <p:cNvPr id="51" name="Rectangle 50"/>
          <p:cNvSpPr/>
          <p:nvPr/>
        </p:nvSpPr>
        <p:spPr>
          <a:xfrm>
            <a:off x="2167128" y="4302251"/>
            <a:ext cx="2667152"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889144" y="4302251"/>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+22</a:t>
            </a:r>
          </a:p>
        </p:txBody>
      </p:sp>
      <p:sp>
        <p:nvSpPr>
          <p:cNvPr id="53" name="Rectangle 52"/>
          <p:cNvSpPr/>
          <p:nvPr/>
        </p:nvSpPr>
        <p:spPr>
          <a:xfrm>
            <a:off x="3011423" y="4942332"/>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185159" y="4882896"/>
            <a:ext cx="298704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No, and I am not interested (basesize = 5)</a:t>
            </a:r>
          </a:p>
        </p:txBody>
      </p:sp>
      <p:sp>
        <p:nvSpPr>
          <p:cNvPr id="55" name="Rectangle 54"/>
          <p:cNvSpPr/>
          <p:nvPr/>
        </p:nvSpPr>
        <p:spPr>
          <a:xfrm>
            <a:off x="755903" y="5161788"/>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29639" y="5102352"/>
            <a:ext cx="384048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No, but I am interested in trying them (basesize = 15)</a:t>
            </a:r>
          </a:p>
        </p:txBody>
      </p:sp>
      <p:sp>
        <p:nvSpPr>
          <p:cNvPr id="57" name="Rectangle 56"/>
          <p:cNvSpPr/>
          <p:nvPr/>
        </p:nvSpPr>
        <p:spPr>
          <a:xfrm>
            <a:off x="5026151" y="5161788"/>
            <a:ext cx="100584" cy="10058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199887" y="5102352"/>
            <a:ext cx="234696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Yes, occasionally (basesize = 56)</a:t>
            </a:r>
          </a:p>
        </p:txBody>
      </p:sp>
      <p:sp>
        <p:nvSpPr>
          <p:cNvPr id="59" name="Rectangle 58"/>
          <p:cNvSpPr/>
          <p:nvPr/>
        </p:nvSpPr>
        <p:spPr>
          <a:xfrm>
            <a:off x="3438143" y="5381244"/>
            <a:ext cx="100584" cy="100584"/>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611879" y="5321808"/>
            <a:ext cx="213360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Yes, regularly (basesize = 74)</a:t>
            </a:r>
          </a:p>
        </p:txBody>
      </p:sp>
      <p:sp>
        <p:nvSpPr>
          <p:cNvPr id="61" name="Rounded Rectangle 60"/>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7935467" y="617280"/>
            <a:ext cx="1709927" cy="1325758"/>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3" name="Picture 62" descr="B1.png"/>
          <p:cNvPicPr>
            <a:picLocks noChangeAspect="1"/>
          </p:cNvPicPr>
          <p:nvPr/>
        </p:nvPicPr>
        <p:blipFill>
          <a:blip r:embed="rId2"/>
          <a:stretch>
            <a:fillRect/>
          </a:stretch>
        </p:blipFill>
        <p:spPr>
          <a:xfrm>
            <a:off x="7949183" y="630996"/>
            <a:ext cx="1682495" cy="1298326"/>
          </a:xfrm>
          <a:prstGeom prst="rect">
            <a:avLst/>
          </a:prstGeom>
        </p:spPr>
      </p:pic>
      <p:sp>
        <p:nvSpPr>
          <p:cNvPr id="64" name="TextBox 63"/>
          <p:cNvSpPr txBox="1"/>
          <p:nvPr/>
        </p:nvSpPr>
        <p:spPr>
          <a:xfrm>
            <a:off x="7912607" y="1984187"/>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B01 Cookie</a:t>
            </a:r>
          </a:p>
          <a:p>
            <a:pPr algn="ctr">
              <a:spcBef>
                <a:spcPts val="0"/>
              </a:spcBef>
              <a:spcAft>
                <a:spcPts val="0"/>
              </a:spcAft>
            </a:pPr>
            <a:r>
              <a:rPr sz="1200" b="0" i="0">
                <a:solidFill>
                  <a:srgbClr val="1E2D44"/>
                </a:solidFill>
                <a:latin typeface="Karla"/>
              </a:rPr>
              <a:t>Chocolate Filling…</a:t>
            </a:r>
          </a:p>
        </p:txBody>
      </p:sp>
      <p:sp>
        <p:nvSpPr>
          <p:cNvPr id="65" name="TextBox 64"/>
          <p:cNvSpPr txBox="1"/>
          <p:nvPr/>
        </p:nvSpPr>
        <p:spPr>
          <a:xfrm>
            <a:off x="7912607" y="2349947"/>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+22*</a:t>
            </a:r>
          </a:p>
        </p:txBody>
      </p:sp>
      <p:sp>
        <p:nvSpPr>
          <p:cNvPr id="66" name="Rectangle 65"/>
          <p:cNvSpPr/>
          <p:nvPr/>
        </p:nvSpPr>
        <p:spPr>
          <a:xfrm>
            <a:off x="9855707" y="617280"/>
            <a:ext cx="1709927" cy="1325758"/>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7" name="Picture 66" descr="B5.png"/>
          <p:cNvPicPr>
            <a:picLocks noChangeAspect="1"/>
          </p:cNvPicPr>
          <p:nvPr/>
        </p:nvPicPr>
        <p:blipFill>
          <a:blip r:embed="rId3"/>
          <a:stretch>
            <a:fillRect/>
          </a:stretch>
        </p:blipFill>
        <p:spPr>
          <a:xfrm>
            <a:off x="9869423" y="630996"/>
            <a:ext cx="1682495" cy="1298326"/>
          </a:xfrm>
          <a:prstGeom prst="rect">
            <a:avLst/>
          </a:prstGeom>
        </p:spPr>
      </p:pic>
      <p:sp>
        <p:nvSpPr>
          <p:cNvPr id="68" name="TextBox 67"/>
          <p:cNvSpPr txBox="1"/>
          <p:nvPr/>
        </p:nvSpPr>
        <p:spPr>
          <a:xfrm>
            <a:off x="9832847" y="1984187"/>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B05 Cookie</a:t>
            </a:r>
          </a:p>
          <a:p>
            <a:pPr algn="ctr">
              <a:spcBef>
                <a:spcPts val="0"/>
              </a:spcBef>
              <a:spcAft>
                <a:spcPts val="0"/>
              </a:spcAft>
            </a:pPr>
            <a:r>
              <a:rPr sz="1200" b="0" i="0">
                <a:solidFill>
                  <a:srgbClr val="1E2D44"/>
                </a:solidFill>
                <a:latin typeface="Karla"/>
              </a:rPr>
              <a:t>Chocolate Filling…</a:t>
            </a:r>
          </a:p>
        </p:txBody>
      </p:sp>
      <p:sp>
        <p:nvSpPr>
          <p:cNvPr id="69" name="TextBox 68"/>
          <p:cNvSpPr txBox="1"/>
          <p:nvPr/>
        </p:nvSpPr>
        <p:spPr>
          <a:xfrm>
            <a:off x="9832847" y="2349947"/>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+18*</a:t>
            </a:r>
          </a:p>
        </p:txBody>
      </p:sp>
      <p:sp>
        <p:nvSpPr>
          <p:cNvPr id="70" name="Rectangle 69"/>
          <p:cNvSpPr/>
          <p:nvPr/>
        </p:nvSpPr>
        <p:spPr>
          <a:xfrm>
            <a:off x="7935467" y="3177600"/>
            <a:ext cx="1709927" cy="1325758"/>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1" name="Picture 70" descr="B2.png"/>
          <p:cNvPicPr>
            <a:picLocks noChangeAspect="1"/>
          </p:cNvPicPr>
          <p:nvPr/>
        </p:nvPicPr>
        <p:blipFill>
          <a:blip r:embed="rId4"/>
          <a:stretch>
            <a:fillRect/>
          </a:stretch>
        </p:blipFill>
        <p:spPr>
          <a:xfrm>
            <a:off x="7949183" y="3191316"/>
            <a:ext cx="1682495" cy="1298326"/>
          </a:xfrm>
          <a:prstGeom prst="rect">
            <a:avLst/>
          </a:prstGeom>
        </p:spPr>
      </p:pic>
      <p:sp>
        <p:nvSpPr>
          <p:cNvPr id="72" name="TextBox 71"/>
          <p:cNvSpPr txBox="1"/>
          <p:nvPr/>
        </p:nvSpPr>
        <p:spPr>
          <a:xfrm>
            <a:off x="7912607" y="4544507"/>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B02 Cookie Orange</a:t>
            </a:r>
          </a:p>
          <a:p>
            <a:pPr algn="ctr">
              <a:spcBef>
                <a:spcPts val="0"/>
              </a:spcBef>
              <a:spcAft>
                <a:spcPts val="0"/>
              </a:spcAft>
            </a:pPr>
            <a:r>
              <a:rPr sz="1200" b="0" i="0">
                <a:solidFill>
                  <a:srgbClr val="1E2D44"/>
                </a:solidFill>
                <a:latin typeface="Karla"/>
              </a:rPr>
              <a:t>Filling Right Upper…</a:t>
            </a:r>
          </a:p>
        </p:txBody>
      </p:sp>
      <p:sp>
        <p:nvSpPr>
          <p:cNvPr id="73" name="TextBox 72"/>
          <p:cNvSpPr txBox="1"/>
          <p:nvPr/>
        </p:nvSpPr>
        <p:spPr>
          <a:xfrm>
            <a:off x="7912607" y="4910267"/>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+23*</a:t>
            </a:r>
          </a:p>
        </p:txBody>
      </p:sp>
      <p:sp>
        <p:nvSpPr>
          <p:cNvPr id="74" name="Rectangle 73"/>
          <p:cNvSpPr/>
          <p:nvPr/>
        </p:nvSpPr>
        <p:spPr>
          <a:xfrm>
            <a:off x="9855707" y="3177600"/>
            <a:ext cx="1709927" cy="1325758"/>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5" name="Picture 74" descr="B4.png"/>
          <p:cNvPicPr>
            <a:picLocks noChangeAspect="1"/>
          </p:cNvPicPr>
          <p:nvPr/>
        </p:nvPicPr>
        <p:blipFill>
          <a:blip r:embed="rId5"/>
          <a:stretch>
            <a:fillRect/>
          </a:stretch>
        </p:blipFill>
        <p:spPr>
          <a:xfrm>
            <a:off x="9869423" y="3191316"/>
            <a:ext cx="1682495" cy="1298326"/>
          </a:xfrm>
          <a:prstGeom prst="rect">
            <a:avLst/>
          </a:prstGeom>
        </p:spPr>
      </p:pic>
      <p:sp>
        <p:nvSpPr>
          <p:cNvPr id="76" name="TextBox 75"/>
          <p:cNvSpPr txBox="1"/>
          <p:nvPr/>
        </p:nvSpPr>
        <p:spPr>
          <a:xfrm>
            <a:off x="9832847" y="4544507"/>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B04 Cookie Vanilla</a:t>
            </a:r>
          </a:p>
          <a:p>
            <a:pPr algn="ctr">
              <a:spcBef>
                <a:spcPts val="0"/>
              </a:spcBef>
              <a:spcAft>
                <a:spcPts val="0"/>
              </a:spcAft>
            </a:pPr>
            <a:r>
              <a:rPr sz="1200" b="0" i="0">
                <a:solidFill>
                  <a:srgbClr val="1E2D44"/>
                </a:solidFill>
                <a:latin typeface="Karla"/>
              </a:rPr>
              <a:t>Filling Right Upper…</a:t>
            </a:r>
          </a:p>
        </p:txBody>
      </p:sp>
      <p:sp>
        <p:nvSpPr>
          <p:cNvPr id="77" name="TextBox 76"/>
          <p:cNvSpPr txBox="1"/>
          <p:nvPr/>
        </p:nvSpPr>
        <p:spPr>
          <a:xfrm>
            <a:off x="9832847" y="4910267"/>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+21*</a:t>
            </a:r>
          </a:p>
        </p:txBody>
      </p:sp>
      <p:sp>
        <p:nvSpPr>
          <p:cNvPr id="78" name="Rounded Rectangle 77"/>
          <p:cNvSpPr/>
          <p:nvPr/>
        </p:nvSpPr>
        <p:spPr>
          <a:xfrm>
            <a:off x="502920" y="5632704"/>
            <a:ext cx="11268455" cy="676656"/>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200" b="0">
                <a:solidFill>
                  <a:srgbClr val="1E2D44"/>
                </a:solidFill>
                <a:latin typeface="Karla"/>
              </a:rPr>
              <a:t>No, and I am not interested favors B02 Cookie Orange Filling Right Upper D2D3; No, but I am interested in trying them favors B01 Cookie Chocolate Filling Right Upper D2D3; Yes, occasionally favors B01 Cookie Chocolate Filling Right Upper D2D3; Yes, regularly favors B05 Cookie Chocolate Filling Right Lower D1. The widest segment gap is B01 Cookie Chocolate Filling Right Upper D2D3: +8 no, and i am not interested / +30 no, but i am interested in trying them / +25 yes, occasionally / +26 yes, regularly.</a:t>
            </a:r>
          </a:p>
        </p:txBody>
      </p:sp>
      <p:sp>
        <p:nvSpPr>
          <p:cNvPr id="79" name="Rectangle 78"/>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Top-2 scores rounded to whole points. *Average of the groups in the legend.</a:t>
            </a:r>
          </a:p>
        </p:txBody>
      </p:sp>
      <p:sp>
        <p:nvSpPr>
          <p:cNvPr id="81" name="TextBox 80"/>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37744"/>
            <a:ext cx="7043927" cy="182880"/>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KEY FINDINGS: B_COOKIE  ·  Do you currently consume protein-enriched food products   ·   2 of 2</a:t>
            </a:r>
          </a:p>
        </p:txBody>
      </p:sp>
      <p:sp>
        <p:nvSpPr>
          <p:cNvPr id="3" name="TextBox 2"/>
          <p:cNvSpPr txBox="1"/>
          <p:nvPr/>
        </p:nvSpPr>
        <p:spPr>
          <a:xfrm>
            <a:off x="502920" y="438912"/>
            <a:ext cx="7043927" cy="365760"/>
          </a:xfrm>
          <a:prstGeom prst="rect">
            <a:avLst/>
          </a:prstGeom>
          <a:noFill/>
        </p:spPr>
        <p:txBody>
          <a:bodyPr wrap="square" anchor="t" lIns="0" rIns="0" tIns="0" bIns="0"/>
          <a:lstStyle/>
          <a:p>
            <a:pPr algn="l">
              <a:spcBef>
                <a:spcPts val="0"/>
              </a:spcBef>
              <a:spcAft>
                <a:spcPts val="0"/>
              </a:spcAft>
            </a:pPr>
            <a:r>
              <a:rPr sz="2600" b="1" i="0">
                <a:solidFill>
                  <a:srgbClr val="1E2D44"/>
                </a:solidFill>
                <a:latin typeface="Karla"/>
              </a:rPr>
              <a:t>B_Cookie splits across the groups</a:t>
            </a:r>
          </a:p>
        </p:txBody>
      </p:sp>
      <p:sp>
        <p:nvSpPr>
          <p:cNvPr id="4" name="TextBox 3"/>
          <p:cNvSpPr txBox="1"/>
          <p:nvPr/>
        </p:nvSpPr>
        <p:spPr>
          <a:xfrm>
            <a:off x="502920" y="822960"/>
            <a:ext cx="7043927" cy="475488"/>
          </a:xfrm>
          <a:prstGeom prst="rect">
            <a:avLst/>
          </a:prstGeom>
          <a:noFill/>
        </p:spPr>
        <p:txBody>
          <a:bodyPr wrap="square" anchor="t" lIns="0" rIns="0" tIns="0" bIns="0"/>
          <a:lstStyle/>
          <a:p>
            <a:pPr algn="l">
              <a:spcBef>
                <a:spcPts val="0"/>
              </a:spcBef>
              <a:spcAft>
                <a:spcPts val="0"/>
              </a:spcAft>
            </a:pPr>
            <a:r>
              <a:rPr sz="1200" b="0" i="0">
                <a:solidFill>
                  <a:srgbClr val="617086"/>
                </a:solidFill>
                <a:latin typeface="Karla"/>
              </a:rPr>
              <a:t>No, and I am not interested favors B02 Cookie Orange Filling Right Upper D2D3; No, but I am interested in trying them favors B01 Cookie Chocolate Filling Right Upper D2D3; Yes, occasionally favors B01 Cookie Chocolate Filling Right Upper D2D3; Yes, regularly favors B05 Cookie Chocolate Filling Right Lower D1.</a:t>
            </a:r>
          </a:p>
        </p:txBody>
      </p:sp>
      <p:sp>
        <p:nvSpPr>
          <p:cNvPr id="5" name="Rectangle 4"/>
          <p:cNvSpPr/>
          <p:nvPr/>
        </p:nvSpPr>
        <p:spPr>
          <a:xfrm>
            <a:off x="502920" y="1335024"/>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B_COOKIE</a:t>
            </a:r>
          </a:p>
        </p:txBody>
      </p:sp>
      <p:sp>
        <p:nvSpPr>
          <p:cNvPr id="6" name="TextBox 5"/>
          <p:cNvSpPr txBox="1"/>
          <p:nvPr/>
        </p:nvSpPr>
        <p:spPr>
          <a:xfrm>
            <a:off x="1874520"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7" name="Rectangle 6"/>
          <p:cNvSpPr/>
          <p:nvPr/>
        </p:nvSpPr>
        <p:spPr>
          <a:xfrm>
            <a:off x="3783583"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90975"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9" name="Rectangle 8"/>
          <p:cNvSpPr/>
          <p:nvPr/>
        </p:nvSpPr>
        <p:spPr>
          <a:xfrm>
            <a:off x="5400039"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7431"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1" name="Rectangle 10"/>
          <p:cNvSpPr/>
          <p:nvPr/>
        </p:nvSpPr>
        <p:spPr>
          <a:xfrm>
            <a:off x="7016495"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23887"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30</a:t>
            </a:r>
          </a:p>
        </p:txBody>
      </p:sp>
      <p:sp>
        <p:nvSpPr>
          <p:cNvPr id="13" name="Rectangle 12"/>
          <p:cNvSpPr/>
          <p:nvPr/>
        </p:nvSpPr>
        <p:spPr>
          <a:xfrm>
            <a:off x="2167128" y="1645920"/>
            <a:ext cx="10972" cy="2871215"/>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167128" y="4517136"/>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1778508"/>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B08 Cookie Vanilla</a:t>
            </a:r>
          </a:p>
          <a:p>
            <a:pPr algn="r">
              <a:spcBef>
                <a:spcPts val="0"/>
              </a:spcBef>
              <a:spcAft>
                <a:spcPts val="0"/>
              </a:spcAft>
            </a:pPr>
            <a:r>
              <a:rPr sz="1000" b="0" i="0">
                <a:solidFill>
                  <a:srgbClr val="1E2D44"/>
                </a:solidFill>
                <a:latin typeface="Karla"/>
              </a:rPr>
              <a:t>Filling Right Lower…</a:t>
            </a:r>
          </a:p>
        </p:txBody>
      </p:sp>
      <p:sp>
        <p:nvSpPr>
          <p:cNvPr id="16" name="Rectangle 15"/>
          <p:cNvSpPr/>
          <p:nvPr/>
        </p:nvSpPr>
        <p:spPr>
          <a:xfrm>
            <a:off x="2167128" y="1778508"/>
            <a:ext cx="3556202"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778194" y="1778508"/>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+22</a:t>
            </a:r>
          </a:p>
        </p:txBody>
      </p:sp>
      <p:sp>
        <p:nvSpPr>
          <p:cNvPr id="18" name="Rectangle 17"/>
          <p:cNvSpPr/>
          <p:nvPr/>
        </p:nvSpPr>
        <p:spPr>
          <a:xfrm>
            <a:off x="2167128" y="1901952"/>
            <a:ext cx="1939747"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61739" y="1901952"/>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+12</a:t>
            </a:r>
          </a:p>
        </p:txBody>
      </p:sp>
      <p:sp>
        <p:nvSpPr>
          <p:cNvPr id="20" name="Rectangle 19"/>
          <p:cNvSpPr/>
          <p:nvPr/>
        </p:nvSpPr>
        <p:spPr>
          <a:xfrm>
            <a:off x="2167128" y="2025395"/>
            <a:ext cx="2909620"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31612" y="2025395"/>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+18</a:t>
            </a:r>
          </a:p>
        </p:txBody>
      </p:sp>
      <p:sp>
        <p:nvSpPr>
          <p:cNvPr id="22" name="Rectangle 21"/>
          <p:cNvSpPr/>
          <p:nvPr/>
        </p:nvSpPr>
        <p:spPr>
          <a:xfrm>
            <a:off x="2167128" y="2148840"/>
            <a:ext cx="3717848"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39840" y="2148840"/>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+23</a:t>
            </a:r>
          </a:p>
        </p:txBody>
      </p:sp>
      <p:sp>
        <p:nvSpPr>
          <p:cNvPr id="24" name="TextBox 23"/>
          <p:cNvSpPr txBox="1"/>
          <p:nvPr/>
        </p:nvSpPr>
        <p:spPr>
          <a:xfrm>
            <a:off x="502920" y="2496312"/>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B03 Cookie Banana</a:t>
            </a:r>
          </a:p>
          <a:p>
            <a:pPr algn="r">
              <a:spcBef>
                <a:spcPts val="0"/>
              </a:spcBef>
              <a:spcAft>
                <a:spcPts val="0"/>
              </a:spcAft>
            </a:pPr>
            <a:r>
              <a:rPr sz="1000" b="0" i="0">
                <a:solidFill>
                  <a:srgbClr val="1E2D44"/>
                </a:solidFill>
                <a:latin typeface="Karla"/>
              </a:rPr>
              <a:t>Filling Right Upper…</a:t>
            </a:r>
          </a:p>
        </p:txBody>
      </p:sp>
      <p:sp>
        <p:nvSpPr>
          <p:cNvPr id="25" name="Rectangle 24"/>
          <p:cNvSpPr/>
          <p:nvPr/>
        </p:nvSpPr>
        <p:spPr>
          <a:xfrm>
            <a:off x="2167128" y="2496312"/>
            <a:ext cx="3232911"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54903" y="2496312"/>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+20</a:t>
            </a:r>
          </a:p>
        </p:txBody>
      </p:sp>
      <p:sp>
        <p:nvSpPr>
          <p:cNvPr id="27" name="Rectangle 26"/>
          <p:cNvSpPr/>
          <p:nvPr/>
        </p:nvSpPr>
        <p:spPr>
          <a:xfrm>
            <a:off x="2167128" y="2619756"/>
            <a:ext cx="3394557"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16549" y="2619756"/>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+21</a:t>
            </a:r>
          </a:p>
        </p:txBody>
      </p:sp>
      <p:sp>
        <p:nvSpPr>
          <p:cNvPr id="29" name="Rectangle 28"/>
          <p:cNvSpPr/>
          <p:nvPr/>
        </p:nvSpPr>
        <p:spPr>
          <a:xfrm>
            <a:off x="2167128" y="2743200"/>
            <a:ext cx="3394557"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616549" y="2743200"/>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+21</a:t>
            </a:r>
          </a:p>
        </p:txBody>
      </p:sp>
      <p:sp>
        <p:nvSpPr>
          <p:cNvPr id="31" name="Rectangle 30"/>
          <p:cNvSpPr/>
          <p:nvPr/>
        </p:nvSpPr>
        <p:spPr>
          <a:xfrm>
            <a:off x="2167128" y="2866644"/>
            <a:ext cx="3556202"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778194" y="2866644"/>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+22</a:t>
            </a:r>
          </a:p>
        </p:txBody>
      </p:sp>
      <p:sp>
        <p:nvSpPr>
          <p:cNvPr id="33" name="TextBox 32"/>
          <p:cNvSpPr txBox="1"/>
          <p:nvPr/>
        </p:nvSpPr>
        <p:spPr>
          <a:xfrm>
            <a:off x="502920" y="3214116"/>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B06 Cookie Orange</a:t>
            </a:r>
          </a:p>
          <a:p>
            <a:pPr algn="r">
              <a:spcBef>
                <a:spcPts val="0"/>
              </a:spcBef>
              <a:spcAft>
                <a:spcPts val="0"/>
              </a:spcAft>
            </a:pPr>
            <a:r>
              <a:rPr sz="1000" b="0" i="0">
                <a:solidFill>
                  <a:srgbClr val="1E2D44"/>
                </a:solidFill>
                <a:latin typeface="Karla"/>
              </a:rPr>
              <a:t>Filling Right Lower…</a:t>
            </a:r>
          </a:p>
        </p:txBody>
      </p:sp>
      <p:sp>
        <p:nvSpPr>
          <p:cNvPr id="34" name="Rectangle 33"/>
          <p:cNvSpPr/>
          <p:nvPr/>
        </p:nvSpPr>
        <p:spPr>
          <a:xfrm>
            <a:off x="2167128" y="3214116"/>
            <a:ext cx="484936"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706928" y="3214116"/>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+3</a:t>
            </a:r>
          </a:p>
        </p:txBody>
      </p:sp>
      <p:sp>
        <p:nvSpPr>
          <p:cNvPr id="36" name="Rectangle 35"/>
          <p:cNvSpPr/>
          <p:nvPr/>
        </p:nvSpPr>
        <p:spPr>
          <a:xfrm>
            <a:off x="2167128" y="3337560"/>
            <a:ext cx="808227"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030219" y="3337560"/>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+5</a:t>
            </a:r>
          </a:p>
        </p:txBody>
      </p:sp>
      <p:sp>
        <p:nvSpPr>
          <p:cNvPr id="38" name="Rectangle 37"/>
          <p:cNvSpPr/>
          <p:nvPr/>
        </p:nvSpPr>
        <p:spPr>
          <a:xfrm>
            <a:off x="2167128" y="3461004"/>
            <a:ext cx="2101392"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323384" y="3461004"/>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+13</a:t>
            </a:r>
          </a:p>
        </p:txBody>
      </p:sp>
      <p:sp>
        <p:nvSpPr>
          <p:cNvPr id="40" name="Rectangle 39"/>
          <p:cNvSpPr/>
          <p:nvPr/>
        </p:nvSpPr>
        <p:spPr>
          <a:xfrm>
            <a:off x="2167128" y="3584448"/>
            <a:ext cx="3556202"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778194" y="3584448"/>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+22</a:t>
            </a:r>
          </a:p>
        </p:txBody>
      </p:sp>
      <p:sp>
        <p:nvSpPr>
          <p:cNvPr id="42" name="TextBox 41"/>
          <p:cNvSpPr txBox="1"/>
          <p:nvPr/>
        </p:nvSpPr>
        <p:spPr>
          <a:xfrm>
            <a:off x="502920" y="3931919"/>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B07 Cookie Banana</a:t>
            </a:r>
          </a:p>
          <a:p>
            <a:pPr algn="r">
              <a:spcBef>
                <a:spcPts val="0"/>
              </a:spcBef>
              <a:spcAft>
                <a:spcPts val="0"/>
              </a:spcAft>
            </a:pPr>
            <a:r>
              <a:rPr sz="1000" b="0" i="0">
                <a:solidFill>
                  <a:srgbClr val="1E2D44"/>
                </a:solidFill>
                <a:latin typeface="Karla"/>
              </a:rPr>
              <a:t>Filling Right Lower…</a:t>
            </a:r>
          </a:p>
        </p:txBody>
      </p:sp>
      <p:sp>
        <p:nvSpPr>
          <p:cNvPr id="43" name="Rectangle 42"/>
          <p:cNvSpPr/>
          <p:nvPr/>
        </p:nvSpPr>
        <p:spPr>
          <a:xfrm>
            <a:off x="2167128" y="3931919"/>
            <a:ext cx="1778101"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000093" y="3931919"/>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+11</a:t>
            </a:r>
          </a:p>
        </p:txBody>
      </p:sp>
      <p:sp>
        <p:nvSpPr>
          <p:cNvPr id="45" name="Rectangle 44"/>
          <p:cNvSpPr/>
          <p:nvPr/>
        </p:nvSpPr>
        <p:spPr>
          <a:xfrm>
            <a:off x="2167128" y="4055363"/>
            <a:ext cx="2424683"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646675" y="4055363"/>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+15</a:t>
            </a:r>
          </a:p>
        </p:txBody>
      </p:sp>
      <p:sp>
        <p:nvSpPr>
          <p:cNvPr id="47" name="Rectangle 46"/>
          <p:cNvSpPr/>
          <p:nvPr/>
        </p:nvSpPr>
        <p:spPr>
          <a:xfrm>
            <a:off x="2167128" y="4178807"/>
            <a:ext cx="1939747"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161739" y="4178807"/>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+12</a:t>
            </a:r>
          </a:p>
        </p:txBody>
      </p:sp>
      <p:sp>
        <p:nvSpPr>
          <p:cNvPr id="49" name="Rectangle 48"/>
          <p:cNvSpPr/>
          <p:nvPr/>
        </p:nvSpPr>
        <p:spPr>
          <a:xfrm>
            <a:off x="2167128" y="4302251"/>
            <a:ext cx="3394557"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616549" y="4302251"/>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+21</a:t>
            </a:r>
          </a:p>
        </p:txBody>
      </p:sp>
      <p:sp>
        <p:nvSpPr>
          <p:cNvPr id="51" name="Rectangle 50"/>
          <p:cNvSpPr/>
          <p:nvPr/>
        </p:nvSpPr>
        <p:spPr>
          <a:xfrm>
            <a:off x="3011423" y="4942332"/>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185159" y="4882896"/>
            <a:ext cx="298704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No, and I am not interested (basesize = 5)</a:t>
            </a:r>
          </a:p>
        </p:txBody>
      </p:sp>
      <p:sp>
        <p:nvSpPr>
          <p:cNvPr id="53" name="Rectangle 52"/>
          <p:cNvSpPr/>
          <p:nvPr/>
        </p:nvSpPr>
        <p:spPr>
          <a:xfrm>
            <a:off x="755903" y="5161788"/>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29639" y="5102352"/>
            <a:ext cx="384048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No, but I am interested in trying them (basesize = 15)</a:t>
            </a:r>
          </a:p>
        </p:txBody>
      </p:sp>
      <p:sp>
        <p:nvSpPr>
          <p:cNvPr id="55" name="Rectangle 54"/>
          <p:cNvSpPr/>
          <p:nvPr/>
        </p:nvSpPr>
        <p:spPr>
          <a:xfrm>
            <a:off x="5026151" y="5161788"/>
            <a:ext cx="100584" cy="10058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199887" y="5102352"/>
            <a:ext cx="234696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Yes, occasionally (basesize = 56)</a:t>
            </a:r>
          </a:p>
        </p:txBody>
      </p:sp>
      <p:sp>
        <p:nvSpPr>
          <p:cNvPr id="57" name="Rectangle 56"/>
          <p:cNvSpPr/>
          <p:nvPr/>
        </p:nvSpPr>
        <p:spPr>
          <a:xfrm>
            <a:off x="3438143" y="5381244"/>
            <a:ext cx="100584" cy="100584"/>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611879" y="5321808"/>
            <a:ext cx="213360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Yes, regularly (basesize = 74)</a:t>
            </a:r>
          </a:p>
        </p:txBody>
      </p:sp>
      <p:sp>
        <p:nvSpPr>
          <p:cNvPr id="59" name="Rounded Rectangle 58"/>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7935467" y="617280"/>
            <a:ext cx="1709927" cy="1325758"/>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1" name="Picture 60" descr="B8.png"/>
          <p:cNvPicPr>
            <a:picLocks noChangeAspect="1"/>
          </p:cNvPicPr>
          <p:nvPr/>
        </p:nvPicPr>
        <p:blipFill>
          <a:blip r:embed="rId2"/>
          <a:stretch>
            <a:fillRect/>
          </a:stretch>
        </p:blipFill>
        <p:spPr>
          <a:xfrm>
            <a:off x="7949183" y="630996"/>
            <a:ext cx="1682495" cy="1298326"/>
          </a:xfrm>
          <a:prstGeom prst="rect">
            <a:avLst/>
          </a:prstGeom>
        </p:spPr>
      </p:pic>
      <p:sp>
        <p:nvSpPr>
          <p:cNvPr id="62" name="TextBox 61"/>
          <p:cNvSpPr txBox="1"/>
          <p:nvPr/>
        </p:nvSpPr>
        <p:spPr>
          <a:xfrm>
            <a:off x="7912607" y="1984187"/>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B08 Cookie Vanilla</a:t>
            </a:r>
          </a:p>
          <a:p>
            <a:pPr algn="ctr">
              <a:spcBef>
                <a:spcPts val="0"/>
              </a:spcBef>
              <a:spcAft>
                <a:spcPts val="0"/>
              </a:spcAft>
            </a:pPr>
            <a:r>
              <a:rPr sz="1200" b="0" i="0">
                <a:solidFill>
                  <a:srgbClr val="1E2D44"/>
                </a:solidFill>
                <a:latin typeface="Karla"/>
              </a:rPr>
              <a:t>Filling Right Lower…</a:t>
            </a:r>
          </a:p>
        </p:txBody>
      </p:sp>
      <p:sp>
        <p:nvSpPr>
          <p:cNvPr id="63" name="TextBox 62"/>
          <p:cNvSpPr txBox="1"/>
          <p:nvPr/>
        </p:nvSpPr>
        <p:spPr>
          <a:xfrm>
            <a:off x="7912607" y="2349947"/>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+19*</a:t>
            </a:r>
          </a:p>
        </p:txBody>
      </p:sp>
      <p:sp>
        <p:nvSpPr>
          <p:cNvPr id="64" name="Rectangle 63"/>
          <p:cNvSpPr/>
          <p:nvPr/>
        </p:nvSpPr>
        <p:spPr>
          <a:xfrm>
            <a:off x="9855707" y="617280"/>
            <a:ext cx="1709927" cy="1325758"/>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5" name="Picture 64" descr="B3.png"/>
          <p:cNvPicPr>
            <a:picLocks noChangeAspect="1"/>
          </p:cNvPicPr>
          <p:nvPr/>
        </p:nvPicPr>
        <p:blipFill>
          <a:blip r:embed="rId3"/>
          <a:stretch>
            <a:fillRect/>
          </a:stretch>
        </p:blipFill>
        <p:spPr>
          <a:xfrm>
            <a:off x="9869423" y="630996"/>
            <a:ext cx="1682495" cy="1298326"/>
          </a:xfrm>
          <a:prstGeom prst="rect">
            <a:avLst/>
          </a:prstGeom>
        </p:spPr>
      </p:pic>
      <p:sp>
        <p:nvSpPr>
          <p:cNvPr id="66" name="TextBox 65"/>
          <p:cNvSpPr txBox="1"/>
          <p:nvPr/>
        </p:nvSpPr>
        <p:spPr>
          <a:xfrm>
            <a:off x="9832847" y="1984187"/>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B03 Cookie Banana</a:t>
            </a:r>
          </a:p>
          <a:p>
            <a:pPr algn="ctr">
              <a:spcBef>
                <a:spcPts val="0"/>
              </a:spcBef>
              <a:spcAft>
                <a:spcPts val="0"/>
              </a:spcAft>
            </a:pPr>
            <a:r>
              <a:rPr sz="1200" b="0" i="0">
                <a:solidFill>
                  <a:srgbClr val="1E2D44"/>
                </a:solidFill>
                <a:latin typeface="Karla"/>
              </a:rPr>
              <a:t>Filling Right Upper…</a:t>
            </a:r>
          </a:p>
        </p:txBody>
      </p:sp>
      <p:sp>
        <p:nvSpPr>
          <p:cNvPr id="67" name="TextBox 66"/>
          <p:cNvSpPr txBox="1"/>
          <p:nvPr/>
        </p:nvSpPr>
        <p:spPr>
          <a:xfrm>
            <a:off x="9832847" y="2349947"/>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+21*</a:t>
            </a:r>
          </a:p>
        </p:txBody>
      </p:sp>
      <p:sp>
        <p:nvSpPr>
          <p:cNvPr id="68" name="Rectangle 67"/>
          <p:cNvSpPr/>
          <p:nvPr/>
        </p:nvSpPr>
        <p:spPr>
          <a:xfrm>
            <a:off x="7935467" y="3177600"/>
            <a:ext cx="1709927" cy="1325758"/>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9" name="Picture 68" descr="B6.png"/>
          <p:cNvPicPr>
            <a:picLocks noChangeAspect="1"/>
          </p:cNvPicPr>
          <p:nvPr/>
        </p:nvPicPr>
        <p:blipFill>
          <a:blip r:embed="rId4"/>
          <a:stretch>
            <a:fillRect/>
          </a:stretch>
        </p:blipFill>
        <p:spPr>
          <a:xfrm>
            <a:off x="7949183" y="3191316"/>
            <a:ext cx="1682495" cy="1298326"/>
          </a:xfrm>
          <a:prstGeom prst="rect">
            <a:avLst/>
          </a:prstGeom>
        </p:spPr>
      </p:pic>
      <p:sp>
        <p:nvSpPr>
          <p:cNvPr id="70" name="TextBox 69"/>
          <p:cNvSpPr txBox="1"/>
          <p:nvPr/>
        </p:nvSpPr>
        <p:spPr>
          <a:xfrm>
            <a:off x="7912607" y="4544507"/>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B06 Cookie Orange</a:t>
            </a:r>
          </a:p>
          <a:p>
            <a:pPr algn="ctr">
              <a:spcBef>
                <a:spcPts val="0"/>
              </a:spcBef>
              <a:spcAft>
                <a:spcPts val="0"/>
              </a:spcAft>
            </a:pPr>
            <a:r>
              <a:rPr sz="1200" b="0" i="0">
                <a:solidFill>
                  <a:srgbClr val="1E2D44"/>
                </a:solidFill>
                <a:latin typeface="Karla"/>
              </a:rPr>
              <a:t>Filling Right Lower…</a:t>
            </a:r>
          </a:p>
        </p:txBody>
      </p:sp>
      <p:sp>
        <p:nvSpPr>
          <p:cNvPr id="71" name="TextBox 70"/>
          <p:cNvSpPr txBox="1"/>
          <p:nvPr/>
        </p:nvSpPr>
        <p:spPr>
          <a:xfrm>
            <a:off x="7912607" y="4910267"/>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+11*</a:t>
            </a:r>
          </a:p>
        </p:txBody>
      </p:sp>
      <p:sp>
        <p:nvSpPr>
          <p:cNvPr id="72" name="Rectangle 71"/>
          <p:cNvSpPr/>
          <p:nvPr/>
        </p:nvSpPr>
        <p:spPr>
          <a:xfrm>
            <a:off x="9855707" y="3177600"/>
            <a:ext cx="1709927" cy="1325758"/>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3" name="Picture 72" descr="B7.png"/>
          <p:cNvPicPr>
            <a:picLocks noChangeAspect="1"/>
          </p:cNvPicPr>
          <p:nvPr/>
        </p:nvPicPr>
        <p:blipFill>
          <a:blip r:embed="rId5"/>
          <a:stretch>
            <a:fillRect/>
          </a:stretch>
        </p:blipFill>
        <p:spPr>
          <a:xfrm>
            <a:off x="9869423" y="3191316"/>
            <a:ext cx="1682495" cy="1298326"/>
          </a:xfrm>
          <a:prstGeom prst="rect">
            <a:avLst/>
          </a:prstGeom>
        </p:spPr>
      </p:pic>
      <p:sp>
        <p:nvSpPr>
          <p:cNvPr id="74" name="TextBox 73"/>
          <p:cNvSpPr txBox="1"/>
          <p:nvPr/>
        </p:nvSpPr>
        <p:spPr>
          <a:xfrm>
            <a:off x="9832847" y="4544507"/>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B07 Cookie Banana</a:t>
            </a:r>
          </a:p>
          <a:p>
            <a:pPr algn="ctr">
              <a:spcBef>
                <a:spcPts val="0"/>
              </a:spcBef>
              <a:spcAft>
                <a:spcPts val="0"/>
              </a:spcAft>
            </a:pPr>
            <a:r>
              <a:rPr sz="1200" b="0" i="0">
                <a:solidFill>
                  <a:srgbClr val="1E2D44"/>
                </a:solidFill>
                <a:latin typeface="Karla"/>
              </a:rPr>
              <a:t>Filling Right Lower…</a:t>
            </a:r>
          </a:p>
        </p:txBody>
      </p:sp>
      <p:sp>
        <p:nvSpPr>
          <p:cNvPr id="75" name="TextBox 74"/>
          <p:cNvSpPr txBox="1"/>
          <p:nvPr/>
        </p:nvSpPr>
        <p:spPr>
          <a:xfrm>
            <a:off x="9832847" y="4910267"/>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+15*</a:t>
            </a:r>
          </a:p>
        </p:txBody>
      </p:sp>
      <p:sp>
        <p:nvSpPr>
          <p:cNvPr id="76" name="Rounded Rectangle 75"/>
          <p:cNvSpPr/>
          <p:nvPr/>
        </p:nvSpPr>
        <p:spPr>
          <a:xfrm>
            <a:off x="502920" y="5632704"/>
            <a:ext cx="11268455" cy="676656"/>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200" b="0">
                <a:solidFill>
                  <a:srgbClr val="1E2D44"/>
                </a:solidFill>
                <a:latin typeface="Karla"/>
              </a:rPr>
              <a:t>No, and I am not interested favors B02 Cookie Orange Filling Right Upper D2D3; No, but I am interested in trying them favors B01 Cookie Chocolate Filling Right Upper D2D3; Yes, occasionally favors B01 Cookie Chocolate Filling Right Upper D2D3; Yes, regularly favors B05 Cookie Chocolate Filling Right Lower D1. The widest segment gap is B01 Cookie Chocolate Filling Right Upper D2D3: +8 no, and i am not interested / +30 no, but i am interested in trying them / +25 yes, occasionally / +26 yes, regularly.</a:t>
            </a:r>
          </a:p>
        </p:txBody>
      </p:sp>
      <p:sp>
        <p:nvSpPr>
          <p:cNvPr id="77" name="Rectangle 76"/>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Top-2 scores rounded to whole points. *Average of the groups in the legend.</a:t>
            </a:r>
          </a:p>
        </p:txBody>
      </p:sp>
      <p:sp>
        <p:nvSpPr>
          <p:cNvPr id="79" name="TextBox 78"/>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37744"/>
            <a:ext cx="7043927" cy="182880"/>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KEY FINDINGS: B_COOKIE  ·  What would be your ideal way to consume protein-enriched products?   ·   1 of 2</a:t>
            </a:r>
          </a:p>
        </p:txBody>
      </p:sp>
      <p:sp>
        <p:nvSpPr>
          <p:cNvPr id="3" name="TextBox 2"/>
          <p:cNvSpPr txBox="1"/>
          <p:nvPr/>
        </p:nvSpPr>
        <p:spPr>
          <a:xfrm>
            <a:off x="502920" y="438912"/>
            <a:ext cx="7043927" cy="365760"/>
          </a:xfrm>
          <a:prstGeom prst="rect">
            <a:avLst/>
          </a:prstGeom>
          <a:noFill/>
        </p:spPr>
        <p:txBody>
          <a:bodyPr wrap="square" anchor="t" lIns="0" rIns="0" tIns="0" bIns="0"/>
          <a:lstStyle/>
          <a:p>
            <a:pPr algn="l">
              <a:spcBef>
                <a:spcPts val="0"/>
              </a:spcBef>
              <a:spcAft>
                <a:spcPts val="0"/>
              </a:spcAft>
            </a:pPr>
            <a:r>
              <a:rPr sz="2600" b="1" i="0">
                <a:solidFill>
                  <a:srgbClr val="1E2D44"/>
                </a:solidFill>
                <a:latin typeface="Karla"/>
              </a:rPr>
              <a:t>B_Cookie splits across the groups</a:t>
            </a:r>
          </a:p>
        </p:txBody>
      </p:sp>
      <p:sp>
        <p:nvSpPr>
          <p:cNvPr id="4" name="TextBox 3"/>
          <p:cNvSpPr txBox="1"/>
          <p:nvPr/>
        </p:nvSpPr>
        <p:spPr>
          <a:xfrm>
            <a:off x="502920" y="822960"/>
            <a:ext cx="7043927" cy="475488"/>
          </a:xfrm>
          <a:prstGeom prst="rect">
            <a:avLst/>
          </a:prstGeom>
          <a:noFill/>
        </p:spPr>
        <p:txBody>
          <a:bodyPr wrap="square" anchor="t" lIns="0" rIns="0" tIns="0" bIns="0"/>
          <a:lstStyle/>
          <a:p>
            <a:pPr algn="l">
              <a:spcBef>
                <a:spcPts val="0"/>
              </a:spcBef>
              <a:spcAft>
                <a:spcPts val="0"/>
              </a:spcAft>
            </a:pPr>
            <a:r>
              <a:rPr sz="1200" b="0" i="0">
                <a:solidFill>
                  <a:srgbClr val="617086"/>
                </a:solidFill>
                <a:latin typeface="Karla"/>
              </a:rPr>
              <a:t>Other favors B02 Cookie Orange Filling Right Upper D2D3; Protein bars favor B01 Cookie Chocolate Filling Right Upper D2D3; Protein cookies favor B01 Cookie Chocolate Filling Right Upper D2D3; Protein powder favors B03 Cookie Banana Filling Right Upper D2D3.</a:t>
            </a:r>
          </a:p>
        </p:txBody>
      </p:sp>
      <p:sp>
        <p:nvSpPr>
          <p:cNvPr id="5" name="Rectangle 4"/>
          <p:cNvSpPr/>
          <p:nvPr/>
        </p:nvSpPr>
        <p:spPr>
          <a:xfrm>
            <a:off x="502920" y="1335024"/>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B_COOKIE</a:t>
            </a:r>
          </a:p>
        </p:txBody>
      </p:sp>
      <p:sp>
        <p:nvSpPr>
          <p:cNvPr id="6" name="TextBox 5"/>
          <p:cNvSpPr txBox="1"/>
          <p:nvPr/>
        </p:nvSpPr>
        <p:spPr>
          <a:xfrm>
            <a:off x="1874520"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7" name="Rectangle 6"/>
          <p:cNvSpPr/>
          <p:nvPr/>
        </p:nvSpPr>
        <p:spPr>
          <a:xfrm>
            <a:off x="3379469"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86861"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9" name="Rectangle 8"/>
          <p:cNvSpPr/>
          <p:nvPr/>
        </p:nvSpPr>
        <p:spPr>
          <a:xfrm>
            <a:off x="4591811"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9203"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1" name="Rectangle 10"/>
          <p:cNvSpPr/>
          <p:nvPr/>
        </p:nvSpPr>
        <p:spPr>
          <a:xfrm>
            <a:off x="5804153"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11545"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30</a:t>
            </a:r>
          </a:p>
        </p:txBody>
      </p:sp>
      <p:sp>
        <p:nvSpPr>
          <p:cNvPr id="13" name="Rectangle 12"/>
          <p:cNvSpPr/>
          <p:nvPr/>
        </p:nvSpPr>
        <p:spPr>
          <a:xfrm>
            <a:off x="7016495"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23887"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40</a:t>
            </a:r>
          </a:p>
        </p:txBody>
      </p:sp>
      <p:sp>
        <p:nvSpPr>
          <p:cNvPr id="15" name="Rectangle 14"/>
          <p:cNvSpPr/>
          <p:nvPr/>
        </p:nvSpPr>
        <p:spPr>
          <a:xfrm>
            <a:off x="2167128" y="1645920"/>
            <a:ext cx="10972" cy="30906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167128" y="4736592"/>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1805940"/>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B01 Cookie Chocolate</a:t>
            </a:r>
          </a:p>
          <a:p>
            <a:pPr algn="r">
              <a:spcBef>
                <a:spcPts val="0"/>
              </a:spcBef>
              <a:spcAft>
                <a:spcPts val="0"/>
              </a:spcAft>
            </a:pPr>
            <a:r>
              <a:rPr sz="1000" b="0" i="0">
                <a:solidFill>
                  <a:srgbClr val="1E2D44"/>
                </a:solidFill>
                <a:latin typeface="Karla"/>
              </a:rPr>
              <a:t>Filling Right Upper…</a:t>
            </a:r>
          </a:p>
        </p:txBody>
      </p:sp>
      <p:sp>
        <p:nvSpPr>
          <p:cNvPr id="18" name="Rectangle 17"/>
          <p:cNvSpPr/>
          <p:nvPr/>
        </p:nvSpPr>
        <p:spPr>
          <a:xfrm>
            <a:off x="2167128" y="1805940"/>
            <a:ext cx="2060981"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282973" y="1805940"/>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+17</a:t>
            </a:r>
          </a:p>
        </p:txBody>
      </p:sp>
      <p:sp>
        <p:nvSpPr>
          <p:cNvPr id="20" name="Rectangle 19"/>
          <p:cNvSpPr/>
          <p:nvPr/>
        </p:nvSpPr>
        <p:spPr>
          <a:xfrm>
            <a:off x="2167128" y="1929384"/>
            <a:ext cx="2667152"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89144" y="1929384"/>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+22</a:t>
            </a:r>
          </a:p>
        </p:txBody>
      </p:sp>
      <p:sp>
        <p:nvSpPr>
          <p:cNvPr id="22" name="Rectangle 21"/>
          <p:cNvSpPr/>
          <p:nvPr/>
        </p:nvSpPr>
        <p:spPr>
          <a:xfrm>
            <a:off x="2167128" y="2052828"/>
            <a:ext cx="3758259"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80251" y="2052828"/>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+31</a:t>
            </a:r>
          </a:p>
        </p:txBody>
      </p:sp>
      <p:sp>
        <p:nvSpPr>
          <p:cNvPr id="24" name="Rectangle 23"/>
          <p:cNvSpPr/>
          <p:nvPr/>
        </p:nvSpPr>
        <p:spPr>
          <a:xfrm>
            <a:off x="2167128" y="2176272"/>
            <a:ext cx="1576044"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798036" y="2176272"/>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+13</a:t>
            </a:r>
          </a:p>
        </p:txBody>
      </p:sp>
      <p:sp>
        <p:nvSpPr>
          <p:cNvPr id="26" name="TextBox 25"/>
          <p:cNvSpPr txBox="1"/>
          <p:nvPr/>
        </p:nvSpPr>
        <p:spPr>
          <a:xfrm>
            <a:off x="502920" y="2578608"/>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B02 Cookie Orange</a:t>
            </a:r>
          </a:p>
          <a:p>
            <a:pPr algn="r">
              <a:spcBef>
                <a:spcPts val="0"/>
              </a:spcBef>
              <a:spcAft>
                <a:spcPts val="0"/>
              </a:spcAft>
            </a:pPr>
            <a:r>
              <a:rPr sz="1000" b="0" i="0">
                <a:solidFill>
                  <a:srgbClr val="1E2D44"/>
                </a:solidFill>
                <a:latin typeface="Karla"/>
              </a:rPr>
              <a:t>Filling Right Upper…</a:t>
            </a:r>
          </a:p>
        </p:txBody>
      </p:sp>
      <p:sp>
        <p:nvSpPr>
          <p:cNvPr id="27" name="Rectangle 26"/>
          <p:cNvSpPr/>
          <p:nvPr/>
        </p:nvSpPr>
        <p:spPr>
          <a:xfrm>
            <a:off x="2167128" y="2578608"/>
            <a:ext cx="3394557"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16549" y="2578608"/>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+28</a:t>
            </a:r>
          </a:p>
        </p:txBody>
      </p:sp>
      <p:sp>
        <p:nvSpPr>
          <p:cNvPr id="29" name="Rectangle 28"/>
          <p:cNvSpPr/>
          <p:nvPr/>
        </p:nvSpPr>
        <p:spPr>
          <a:xfrm>
            <a:off x="2167128" y="2702052"/>
            <a:ext cx="2060981"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282973" y="2702052"/>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+17</a:t>
            </a:r>
          </a:p>
        </p:txBody>
      </p:sp>
      <p:sp>
        <p:nvSpPr>
          <p:cNvPr id="31" name="Rectangle 30"/>
          <p:cNvSpPr/>
          <p:nvPr/>
        </p:nvSpPr>
        <p:spPr>
          <a:xfrm>
            <a:off x="2167128" y="2825496"/>
            <a:ext cx="3030854"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252846" y="2825496"/>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+25</a:t>
            </a:r>
          </a:p>
        </p:txBody>
      </p:sp>
      <p:sp>
        <p:nvSpPr>
          <p:cNvPr id="33" name="Rectangle 32"/>
          <p:cNvSpPr/>
          <p:nvPr/>
        </p:nvSpPr>
        <p:spPr>
          <a:xfrm>
            <a:off x="2167128" y="2948939"/>
            <a:ext cx="2545918"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767910" y="2948939"/>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+21</a:t>
            </a:r>
          </a:p>
        </p:txBody>
      </p:sp>
      <p:sp>
        <p:nvSpPr>
          <p:cNvPr id="35" name="TextBox 34"/>
          <p:cNvSpPr txBox="1"/>
          <p:nvPr/>
        </p:nvSpPr>
        <p:spPr>
          <a:xfrm>
            <a:off x="502920" y="3351276"/>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B03 Cookie Banana</a:t>
            </a:r>
          </a:p>
          <a:p>
            <a:pPr algn="r">
              <a:spcBef>
                <a:spcPts val="0"/>
              </a:spcBef>
              <a:spcAft>
                <a:spcPts val="0"/>
              </a:spcAft>
            </a:pPr>
            <a:r>
              <a:rPr sz="1000" b="0" i="0">
                <a:solidFill>
                  <a:srgbClr val="1E2D44"/>
                </a:solidFill>
                <a:latin typeface="Karla"/>
              </a:rPr>
              <a:t>Filling Right Upper…</a:t>
            </a:r>
          </a:p>
        </p:txBody>
      </p:sp>
      <p:sp>
        <p:nvSpPr>
          <p:cNvPr id="36" name="Rectangle 35"/>
          <p:cNvSpPr/>
          <p:nvPr/>
        </p:nvSpPr>
        <p:spPr>
          <a:xfrm>
            <a:off x="2167128" y="3351276"/>
            <a:ext cx="2788386"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010378" y="3351276"/>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+23</a:t>
            </a:r>
          </a:p>
        </p:txBody>
      </p:sp>
      <p:sp>
        <p:nvSpPr>
          <p:cNvPr id="38" name="Rectangle 37"/>
          <p:cNvSpPr/>
          <p:nvPr/>
        </p:nvSpPr>
        <p:spPr>
          <a:xfrm>
            <a:off x="2167128" y="3474720"/>
            <a:ext cx="2182215"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404207" y="3474720"/>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+18</a:t>
            </a:r>
          </a:p>
        </p:txBody>
      </p:sp>
      <p:sp>
        <p:nvSpPr>
          <p:cNvPr id="40" name="Rectangle 39"/>
          <p:cNvSpPr/>
          <p:nvPr/>
        </p:nvSpPr>
        <p:spPr>
          <a:xfrm>
            <a:off x="2167128" y="3598164"/>
            <a:ext cx="2788386"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010378" y="3598164"/>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+23</a:t>
            </a:r>
          </a:p>
        </p:txBody>
      </p:sp>
      <p:sp>
        <p:nvSpPr>
          <p:cNvPr id="42" name="Rectangle 41"/>
          <p:cNvSpPr/>
          <p:nvPr/>
        </p:nvSpPr>
        <p:spPr>
          <a:xfrm>
            <a:off x="2167128" y="3721608"/>
            <a:ext cx="3273323"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495315" y="3721608"/>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+27</a:t>
            </a:r>
          </a:p>
        </p:txBody>
      </p:sp>
      <p:sp>
        <p:nvSpPr>
          <p:cNvPr id="44" name="TextBox 43"/>
          <p:cNvSpPr txBox="1"/>
          <p:nvPr/>
        </p:nvSpPr>
        <p:spPr>
          <a:xfrm>
            <a:off x="502920" y="4123944"/>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B04 Cookie Vanilla</a:t>
            </a:r>
          </a:p>
          <a:p>
            <a:pPr algn="r">
              <a:spcBef>
                <a:spcPts val="0"/>
              </a:spcBef>
              <a:spcAft>
                <a:spcPts val="0"/>
              </a:spcAft>
            </a:pPr>
            <a:r>
              <a:rPr sz="1000" b="0" i="0">
                <a:solidFill>
                  <a:srgbClr val="1E2D44"/>
                </a:solidFill>
                <a:latin typeface="Karla"/>
              </a:rPr>
              <a:t>Filling Right Upper…</a:t>
            </a:r>
          </a:p>
        </p:txBody>
      </p:sp>
      <p:sp>
        <p:nvSpPr>
          <p:cNvPr id="45" name="Rectangle 44"/>
          <p:cNvSpPr/>
          <p:nvPr/>
        </p:nvSpPr>
        <p:spPr>
          <a:xfrm>
            <a:off x="2167128" y="4123944"/>
            <a:ext cx="3273323"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495315" y="4123944"/>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+27</a:t>
            </a:r>
          </a:p>
        </p:txBody>
      </p:sp>
      <p:sp>
        <p:nvSpPr>
          <p:cNvPr id="47" name="Rectangle 46"/>
          <p:cNvSpPr/>
          <p:nvPr/>
        </p:nvSpPr>
        <p:spPr>
          <a:xfrm>
            <a:off x="2167128" y="4247388"/>
            <a:ext cx="2182215"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404207" y="4247388"/>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+18</a:t>
            </a:r>
          </a:p>
        </p:txBody>
      </p:sp>
      <p:sp>
        <p:nvSpPr>
          <p:cNvPr id="49" name="Rectangle 48"/>
          <p:cNvSpPr/>
          <p:nvPr/>
        </p:nvSpPr>
        <p:spPr>
          <a:xfrm>
            <a:off x="2167128" y="4370831"/>
            <a:ext cx="2909620"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131612" y="4370831"/>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+24</a:t>
            </a:r>
          </a:p>
        </p:txBody>
      </p:sp>
      <p:sp>
        <p:nvSpPr>
          <p:cNvPr id="51" name="Rectangle 50"/>
          <p:cNvSpPr/>
          <p:nvPr/>
        </p:nvSpPr>
        <p:spPr>
          <a:xfrm>
            <a:off x="2167128" y="4494276"/>
            <a:ext cx="2909620"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131612" y="4494276"/>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+24</a:t>
            </a:r>
          </a:p>
        </p:txBody>
      </p:sp>
      <p:sp>
        <p:nvSpPr>
          <p:cNvPr id="53" name="Rectangle 52"/>
          <p:cNvSpPr/>
          <p:nvPr/>
        </p:nvSpPr>
        <p:spPr>
          <a:xfrm>
            <a:off x="823975" y="5161788"/>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97711" y="5102352"/>
            <a:ext cx="149352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Other (basesize = 10)</a:t>
            </a:r>
          </a:p>
        </p:txBody>
      </p:sp>
      <p:sp>
        <p:nvSpPr>
          <p:cNvPr id="55" name="Rectangle 54"/>
          <p:cNvSpPr/>
          <p:nvPr/>
        </p:nvSpPr>
        <p:spPr>
          <a:xfrm>
            <a:off x="2747263" y="5161788"/>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920999" y="5102352"/>
            <a:ext cx="199136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Protein bars (basesize = 52)</a:t>
            </a:r>
          </a:p>
        </p:txBody>
      </p:sp>
      <p:sp>
        <p:nvSpPr>
          <p:cNvPr id="57" name="Rectangle 56"/>
          <p:cNvSpPr/>
          <p:nvPr/>
        </p:nvSpPr>
        <p:spPr>
          <a:xfrm>
            <a:off x="5168391" y="5161788"/>
            <a:ext cx="100584" cy="10058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342127" y="5102352"/>
            <a:ext cx="220472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Protein cookies (basesize = 80)</a:t>
            </a:r>
          </a:p>
        </p:txBody>
      </p:sp>
      <p:sp>
        <p:nvSpPr>
          <p:cNvPr id="59" name="Rectangle 58"/>
          <p:cNvSpPr/>
          <p:nvPr/>
        </p:nvSpPr>
        <p:spPr>
          <a:xfrm>
            <a:off x="3473703" y="5381244"/>
            <a:ext cx="100584" cy="100584"/>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647439" y="5321808"/>
            <a:ext cx="206248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Protein powder (basesize = 8)</a:t>
            </a:r>
          </a:p>
        </p:txBody>
      </p:sp>
      <p:sp>
        <p:nvSpPr>
          <p:cNvPr id="61" name="Rounded Rectangle 60"/>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7935467" y="617280"/>
            <a:ext cx="1709927" cy="1325758"/>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3" name="Picture 62" descr="B1.png"/>
          <p:cNvPicPr>
            <a:picLocks noChangeAspect="1"/>
          </p:cNvPicPr>
          <p:nvPr/>
        </p:nvPicPr>
        <p:blipFill>
          <a:blip r:embed="rId2"/>
          <a:stretch>
            <a:fillRect/>
          </a:stretch>
        </p:blipFill>
        <p:spPr>
          <a:xfrm>
            <a:off x="7949183" y="630996"/>
            <a:ext cx="1682495" cy="1298326"/>
          </a:xfrm>
          <a:prstGeom prst="rect">
            <a:avLst/>
          </a:prstGeom>
        </p:spPr>
      </p:pic>
      <p:sp>
        <p:nvSpPr>
          <p:cNvPr id="64" name="TextBox 63"/>
          <p:cNvSpPr txBox="1"/>
          <p:nvPr/>
        </p:nvSpPr>
        <p:spPr>
          <a:xfrm>
            <a:off x="7912607" y="1984187"/>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B01 Cookie</a:t>
            </a:r>
          </a:p>
          <a:p>
            <a:pPr algn="ctr">
              <a:spcBef>
                <a:spcPts val="0"/>
              </a:spcBef>
              <a:spcAft>
                <a:spcPts val="0"/>
              </a:spcAft>
            </a:pPr>
            <a:r>
              <a:rPr sz="1200" b="0" i="0">
                <a:solidFill>
                  <a:srgbClr val="1E2D44"/>
                </a:solidFill>
                <a:latin typeface="Karla"/>
              </a:rPr>
              <a:t>Chocolate Filling…</a:t>
            </a:r>
          </a:p>
        </p:txBody>
      </p:sp>
      <p:sp>
        <p:nvSpPr>
          <p:cNvPr id="65" name="TextBox 64"/>
          <p:cNvSpPr txBox="1"/>
          <p:nvPr/>
        </p:nvSpPr>
        <p:spPr>
          <a:xfrm>
            <a:off x="7912607" y="2349947"/>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+21*</a:t>
            </a:r>
          </a:p>
        </p:txBody>
      </p:sp>
      <p:sp>
        <p:nvSpPr>
          <p:cNvPr id="66" name="Rectangle 65"/>
          <p:cNvSpPr/>
          <p:nvPr/>
        </p:nvSpPr>
        <p:spPr>
          <a:xfrm>
            <a:off x="9855707" y="617280"/>
            <a:ext cx="1709927" cy="1325758"/>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7" name="Picture 66" descr="B2.png"/>
          <p:cNvPicPr>
            <a:picLocks noChangeAspect="1"/>
          </p:cNvPicPr>
          <p:nvPr/>
        </p:nvPicPr>
        <p:blipFill>
          <a:blip r:embed="rId3"/>
          <a:stretch>
            <a:fillRect/>
          </a:stretch>
        </p:blipFill>
        <p:spPr>
          <a:xfrm>
            <a:off x="9869423" y="630996"/>
            <a:ext cx="1682495" cy="1298326"/>
          </a:xfrm>
          <a:prstGeom prst="rect">
            <a:avLst/>
          </a:prstGeom>
        </p:spPr>
      </p:pic>
      <p:sp>
        <p:nvSpPr>
          <p:cNvPr id="68" name="TextBox 67"/>
          <p:cNvSpPr txBox="1"/>
          <p:nvPr/>
        </p:nvSpPr>
        <p:spPr>
          <a:xfrm>
            <a:off x="9832847" y="1984187"/>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B02 Cookie Orange</a:t>
            </a:r>
          </a:p>
          <a:p>
            <a:pPr algn="ctr">
              <a:spcBef>
                <a:spcPts val="0"/>
              </a:spcBef>
              <a:spcAft>
                <a:spcPts val="0"/>
              </a:spcAft>
            </a:pPr>
            <a:r>
              <a:rPr sz="1200" b="0" i="0">
                <a:solidFill>
                  <a:srgbClr val="1E2D44"/>
                </a:solidFill>
                <a:latin typeface="Karla"/>
              </a:rPr>
              <a:t>Filling Right Upper…</a:t>
            </a:r>
          </a:p>
        </p:txBody>
      </p:sp>
      <p:sp>
        <p:nvSpPr>
          <p:cNvPr id="69" name="TextBox 68"/>
          <p:cNvSpPr txBox="1"/>
          <p:nvPr/>
        </p:nvSpPr>
        <p:spPr>
          <a:xfrm>
            <a:off x="9832847" y="2349947"/>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+23*</a:t>
            </a:r>
          </a:p>
        </p:txBody>
      </p:sp>
      <p:sp>
        <p:nvSpPr>
          <p:cNvPr id="70" name="Rectangle 69"/>
          <p:cNvSpPr/>
          <p:nvPr/>
        </p:nvSpPr>
        <p:spPr>
          <a:xfrm>
            <a:off x="7935467" y="3177600"/>
            <a:ext cx="1709927" cy="1325758"/>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1" name="Picture 70" descr="B3.png"/>
          <p:cNvPicPr>
            <a:picLocks noChangeAspect="1"/>
          </p:cNvPicPr>
          <p:nvPr/>
        </p:nvPicPr>
        <p:blipFill>
          <a:blip r:embed="rId4"/>
          <a:stretch>
            <a:fillRect/>
          </a:stretch>
        </p:blipFill>
        <p:spPr>
          <a:xfrm>
            <a:off x="7949183" y="3191316"/>
            <a:ext cx="1682495" cy="1298326"/>
          </a:xfrm>
          <a:prstGeom prst="rect">
            <a:avLst/>
          </a:prstGeom>
        </p:spPr>
      </p:pic>
      <p:sp>
        <p:nvSpPr>
          <p:cNvPr id="72" name="TextBox 71"/>
          <p:cNvSpPr txBox="1"/>
          <p:nvPr/>
        </p:nvSpPr>
        <p:spPr>
          <a:xfrm>
            <a:off x="7912607" y="4544507"/>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B03 Cookie Banana</a:t>
            </a:r>
          </a:p>
          <a:p>
            <a:pPr algn="ctr">
              <a:spcBef>
                <a:spcPts val="0"/>
              </a:spcBef>
              <a:spcAft>
                <a:spcPts val="0"/>
              </a:spcAft>
            </a:pPr>
            <a:r>
              <a:rPr sz="1200" b="0" i="0">
                <a:solidFill>
                  <a:srgbClr val="1E2D44"/>
                </a:solidFill>
                <a:latin typeface="Karla"/>
              </a:rPr>
              <a:t>Filling Right Upper…</a:t>
            </a:r>
          </a:p>
        </p:txBody>
      </p:sp>
      <p:sp>
        <p:nvSpPr>
          <p:cNvPr id="73" name="TextBox 72"/>
          <p:cNvSpPr txBox="1"/>
          <p:nvPr/>
        </p:nvSpPr>
        <p:spPr>
          <a:xfrm>
            <a:off x="7912607" y="4910267"/>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+23*</a:t>
            </a:r>
          </a:p>
        </p:txBody>
      </p:sp>
      <p:sp>
        <p:nvSpPr>
          <p:cNvPr id="74" name="Rectangle 73"/>
          <p:cNvSpPr/>
          <p:nvPr/>
        </p:nvSpPr>
        <p:spPr>
          <a:xfrm>
            <a:off x="9855707" y="3177600"/>
            <a:ext cx="1709927" cy="1325758"/>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5" name="Picture 74" descr="B4.png"/>
          <p:cNvPicPr>
            <a:picLocks noChangeAspect="1"/>
          </p:cNvPicPr>
          <p:nvPr/>
        </p:nvPicPr>
        <p:blipFill>
          <a:blip r:embed="rId5"/>
          <a:stretch>
            <a:fillRect/>
          </a:stretch>
        </p:blipFill>
        <p:spPr>
          <a:xfrm>
            <a:off x="9869423" y="3191316"/>
            <a:ext cx="1682495" cy="1298326"/>
          </a:xfrm>
          <a:prstGeom prst="rect">
            <a:avLst/>
          </a:prstGeom>
        </p:spPr>
      </p:pic>
      <p:sp>
        <p:nvSpPr>
          <p:cNvPr id="76" name="TextBox 75"/>
          <p:cNvSpPr txBox="1"/>
          <p:nvPr/>
        </p:nvSpPr>
        <p:spPr>
          <a:xfrm>
            <a:off x="9832847" y="4544507"/>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B04 Cookie Vanilla</a:t>
            </a:r>
          </a:p>
          <a:p>
            <a:pPr algn="ctr">
              <a:spcBef>
                <a:spcPts val="0"/>
              </a:spcBef>
              <a:spcAft>
                <a:spcPts val="0"/>
              </a:spcAft>
            </a:pPr>
            <a:r>
              <a:rPr sz="1200" b="0" i="0">
                <a:solidFill>
                  <a:srgbClr val="1E2D44"/>
                </a:solidFill>
                <a:latin typeface="Karla"/>
              </a:rPr>
              <a:t>Filling Right Upper…</a:t>
            </a:r>
          </a:p>
        </p:txBody>
      </p:sp>
      <p:sp>
        <p:nvSpPr>
          <p:cNvPr id="77" name="TextBox 76"/>
          <p:cNvSpPr txBox="1"/>
          <p:nvPr/>
        </p:nvSpPr>
        <p:spPr>
          <a:xfrm>
            <a:off x="9832847" y="4910267"/>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+23*</a:t>
            </a:r>
          </a:p>
        </p:txBody>
      </p:sp>
      <p:sp>
        <p:nvSpPr>
          <p:cNvPr id="78" name="Rounded Rectangle 77"/>
          <p:cNvSpPr/>
          <p:nvPr/>
        </p:nvSpPr>
        <p:spPr>
          <a:xfrm>
            <a:off x="502920" y="5632704"/>
            <a:ext cx="11268455" cy="676656"/>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200" b="0">
                <a:solidFill>
                  <a:srgbClr val="1E2D44"/>
                </a:solidFill>
                <a:latin typeface="Karla"/>
              </a:rPr>
              <a:t>Other favors B02 Cookie Orange Filling Right Upper D2D3; Protein bars favor B01 Cookie Chocolate Filling Right Upper D2D3; Protein cookies favor B01 Cookie Chocolate Filling Right Upper D2D3; Protein powder favors B03 Cookie Banana Filling Right Upper D2D3. The widest segment gap is B01 Cookie Chocolate Filling Right Upper D2D3: +17 other / +22 protein bars / +31 protein cookies / +13 protein powder.</a:t>
            </a:r>
          </a:p>
        </p:txBody>
      </p:sp>
      <p:sp>
        <p:nvSpPr>
          <p:cNvPr id="79" name="Rectangle 78"/>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Top-2 scores rounded to whole points. *Average of the groups in the legend.</a:t>
            </a:r>
          </a:p>
        </p:txBody>
      </p:sp>
      <p:sp>
        <p:nvSpPr>
          <p:cNvPr id="81" name="TextBox 80"/>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37744"/>
            <a:ext cx="7043927" cy="182880"/>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KEY FINDINGS: B_COOKIE  ·  What would be your ideal way to consume protein-enriched products?   ·   2 of 2</a:t>
            </a:r>
          </a:p>
        </p:txBody>
      </p:sp>
      <p:sp>
        <p:nvSpPr>
          <p:cNvPr id="3" name="TextBox 2"/>
          <p:cNvSpPr txBox="1"/>
          <p:nvPr/>
        </p:nvSpPr>
        <p:spPr>
          <a:xfrm>
            <a:off x="502920" y="438912"/>
            <a:ext cx="7043927" cy="365760"/>
          </a:xfrm>
          <a:prstGeom prst="rect">
            <a:avLst/>
          </a:prstGeom>
          <a:noFill/>
        </p:spPr>
        <p:txBody>
          <a:bodyPr wrap="square" anchor="t" lIns="0" rIns="0" tIns="0" bIns="0"/>
          <a:lstStyle/>
          <a:p>
            <a:pPr algn="l">
              <a:spcBef>
                <a:spcPts val="0"/>
              </a:spcBef>
              <a:spcAft>
                <a:spcPts val="0"/>
              </a:spcAft>
            </a:pPr>
            <a:r>
              <a:rPr sz="2600" b="1" i="0">
                <a:solidFill>
                  <a:srgbClr val="1E2D44"/>
                </a:solidFill>
                <a:latin typeface="Karla"/>
              </a:rPr>
              <a:t>B_Cookie splits across the groups</a:t>
            </a:r>
          </a:p>
        </p:txBody>
      </p:sp>
      <p:sp>
        <p:nvSpPr>
          <p:cNvPr id="4" name="TextBox 3"/>
          <p:cNvSpPr txBox="1"/>
          <p:nvPr/>
        </p:nvSpPr>
        <p:spPr>
          <a:xfrm>
            <a:off x="502920" y="822960"/>
            <a:ext cx="7043927" cy="475488"/>
          </a:xfrm>
          <a:prstGeom prst="rect">
            <a:avLst/>
          </a:prstGeom>
          <a:noFill/>
        </p:spPr>
        <p:txBody>
          <a:bodyPr wrap="square" anchor="t" lIns="0" rIns="0" tIns="0" bIns="0"/>
          <a:lstStyle/>
          <a:p>
            <a:pPr algn="l">
              <a:spcBef>
                <a:spcPts val="0"/>
              </a:spcBef>
              <a:spcAft>
                <a:spcPts val="0"/>
              </a:spcAft>
            </a:pPr>
            <a:r>
              <a:rPr sz="1200" b="0" i="0">
                <a:solidFill>
                  <a:srgbClr val="617086"/>
                </a:solidFill>
                <a:latin typeface="Karla"/>
              </a:rPr>
              <a:t>Other favors B02 Cookie Orange Filling Right Upper D2D3; Protein bars favor B01 Cookie Chocolate Filling Right Upper D2D3; Protein cookies favor B01 Cookie Chocolate Filling Right Upper D2D3; Protein powder favors B03 Cookie Banana Filling Right Upper D2D3.</a:t>
            </a:r>
          </a:p>
        </p:txBody>
      </p:sp>
      <p:sp>
        <p:nvSpPr>
          <p:cNvPr id="5" name="Rectangle 4"/>
          <p:cNvSpPr/>
          <p:nvPr/>
        </p:nvSpPr>
        <p:spPr>
          <a:xfrm>
            <a:off x="502920" y="1335024"/>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B_COOKIE</a:t>
            </a:r>
          </a:p>
        </p:txBody>
      </p:sp>
      <p:sp>
        <p:nvSpPr>
          <p:cNvPr id="6" name="TextBox 5"/>
          <p:cNvSpPr txBox="1"/>
          <p:nvPr/>
        </p:nvSpPr>
        <p:spPr>
          <a:xfrm>
            <a:off x="1874520"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7" name="Rectangle 6"/>
          <p:cNvSpPr/>
          <p:nvPr/>
        </p:nvSpPr>
        <p:spPr>
          <a:xfrm>
            <a:off x="3379469"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86861"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9" name="Rectangle 8"/>
          <p:cNvSpPr/>
          <p:nvPr/>
        </p:nvSpPr>
        <p:spPr>
          <a:xfrm>
            <a:off x="4591811"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9203"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1" name="Rectangle 10"/>
          <p:cNvSpPr/>
          <p:nvPr/>
        </p:nvSpPr>
        <p:spPr>
          <a:xfrm>
            <a:off x="5804153"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11545"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30</a:t>
            </a:r>
          </a:p>
        </p:txBody>
      </p:sp>
      <p:sp>
        <p:nvSpPr>
          <p:cNvPr id="13" name="Rectangle 12"/>
          <p:cNvSpPr/>
          <p:nvPr/>
        </p:nvSpPr>
        <p:spPr>
          <a:xfrm>
            <a:off x="7016495"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23887"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40</a:t>
            </a:r>
          </a:p>
        </p:txBody>
      </p:sp>
      <p:sp>
        <p:nvSpPr>
          <p:cNvPr id="15" name="Rectangle 14"/>
          <p:cNvSpPr/>
          <p:nvPr/>
        </p:nvSpPr>
        <p:spPr>
          <a:xfrm>
            <a:off x="2167128" y="1645920"/>
            <a:ext cx="10972" cy="30906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167128" y="4736592"/>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1805940"/>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B05 Cookie Chocolate</a:t>
            </a:r>
          </a:p>
          <a:p>
            <a:pPr algn="r">
              <a:spcBef>
                <a:spcPts val="0"/>
              </a:spcBef>
              <a:spcAft>
                <a:spcPts val="0"/>
              </a:spcAft>
            </a:pPr>
            <a:r>
              <a:rPr sz="1000" b="0" i="0">
                <a:solidFill>
                  <a:srgbClr val="1E2D44"/>
                </a:solidFill>
                <a:latin typeface="Karla"/>
              </a:rPr>
              <a:t>Filling Right Lower…</a:t>
            </a:r>
          </a:p>
        </p:txBody>
      </p:sp>
      <p:sp>
        <p:nvSpPr>
          <p:cNvPr id="18" name="Rectangle 17"/>
          <p:cNvSpPr/>
          <p:nvPr/>
        </p:nvSpPr>
        <p:spPr>
          <a:xfrm>
            <a:off x="2167128" y="1805940"/>
            <a:ext cx="2424683"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46675" y="1805940"/>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+20</a:t>
            </a:r>
          </a:p>
        </p:txBody>
      </p:sp>
      <p:sp>
        <p:nvSpPr>
          <p:cNvPr id="20" name="Rectangle 19"/>
          <p:cNvSpPr/>
          <p:nvPr/>
        </p:nvSpPr>
        <p:spPr>
          <a:xfrm>
            <a:off x="2167128" y="1929384"/>
            <a:ext cx="2545918"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67910" y="1929384"/>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+21</a:t>
            </a:r>
          </a:p>
        </p:txBody>
      </p:sp>
      <p:sp>
        <p:nvSpPr>
          <p:cNvPr id="22" name="Rectangle 21"/>
          <p:cNvSpPr/>
          <p:nvPr/>
        </p:nvSpPr>
        <p:spPr>
          <a:xfrm>
            <a:off x="2167128" y="2052828"/>
            <a:ext cx="3152089"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74081" y="2052828"/>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+26</a:t>
            </a:r>
          </a:p>
        </p:txBody>
      </p:sp>
      <p:sp>
        <p:nvSpPr>
          <p:cNvPr id="24" name="Rectangle 23"/>
          <p:cNvSpPr/>
          <p:nvPr/>
        </p:nvSpPr>
        <p:spPr>
          <a:xfrm>
            <a:off x="2167128" y="2176272"/>
            <a:ext cx="1576044"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798036" y="2176272"/>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+13</a:t>
            </a:r>
          </a:p>
        </p:txBody>
      </p:sp>
      <p:sp>
        <p:nvSpPr>
          <p:cNvPr id="26" name="TextBox 25"/>
          <p:cNvSpPr txBox="1"/>
          <p:nvPr/>
        </p:nvSpPr>
        <p:spPr>
          <a:xfrm>
            <a:off x="502920" y="2578608"/>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B08 Cookie Vanilla</a:t>
            </a:r>
          </a:p>
          <a:p>
            <a:pPr algn="r">
              <a:spcBef>
                <a:spcPts val="0"/>
              </a:spcBef>
              <a:spcAft>
                <a:spcPts val="0"/>
              </a:spcAft>
            </a:pPr>
            <a:r>
              <a:rPr sz="1000" b="0" i="0">
                <a:solidFill>
                  <a:srgbClr val="1E2D44"/>
                </a:solidFill>
                <a:latin typeface="Karla"/>
              </a:rPr>
              <a:t>Filling Right Lower…</a:t>
            </a:r>
          </a:p>
        </p:txBody>
      </p:sp>
      <p:sp>
        <p:nvSpPr>
          <p:cNvPr id="27" name="Rectangle 26"/>
          <p:cNvSpPr/>
          <p:nvPr/>
        </p:nvSpPr>
        <p:spPr>
          <a:xfrm>
            <a:off x="2167128" y="2578608"/>
            <a:ext cx="3030854"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252846" y="2578608"/>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+25</a:t>
            </a:r>
          </a:p>
        </p:txBody>
      </p:sp>
      <p:sp>
        <p:nvSpPr>
          <p:cNvPr id="29" name="Rectangle 28"/>
          <p:cNvSpPr/>
          <p:nvPr/>
        </p:nvSpPr>
        <p:spPr>
          <a:xfrm>
            <a:off x="2167128" y="2702052"/>
            <a:ext cx="1939747"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161739" y="2702052"/>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+16</a:t>
            </a:r>
          </a:p>
        </p:txBody>
      </p:sp>
      <p:sp>
        <p:nvSpPr>
          <p:cNvPr id="31" name="Rectangle 30"/>
          <p:cNvSpPr/>
          <p:nvPr/>
        </p:nvSpPr>
        <p:spPr>
          <a:xfrm>
            <a:off x="2167128" y="2825496"/>
            <a:ext cx="2667152"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89144" y="2825496"/>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+22</a:t>
            </a:r>
          </a:p>
        </p:txBody>
      </p:sp>
      <p:sp>
        <p:nvSpPr>
          <p:cNvPr id="33" name="Rectangle 32"/>
          <p:cNvSpPr/>
          <p:nvPr/>
        </p:nvSpPr>
        <p:spPr>
          <a:xfrm>
            <a:off x="2167128" y="2948939"/>
            <a:ext cx="2424683"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646675" y="2948939"/>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+20</a:t>
            </a:r>
          </a:p>
        </p:txBody>
      </p:sp>
      <p:sp>
        <p:nvSpPr>
          <p:cNvPr id="35" name="TextBox 34"/>
          <p:cNvSpPr txBox="1"/>
          <p:nvPr/>
        </p:nvSpPr>
        <p:spPr>
          <a:xfrm>
            <a:off x="502920" y="3351276"/>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B06 Cookie Orange</a:t>
            </a:r>
          </a:p>
          <a:p>
            <a:pPr algn="r">
              <a:spcBef>
                <a:spcPts val="0"/>
              </a:spcBef>
              <a:spcAft>
                <a:spcPts val="0"/>
              </a:spcAft>
            </a:pPr>
            <a:r>
              <a:rPr sz="1000" b="0" i="0">
                <a:solidFill>
                  <a:srgbClr val="1E2D44"/>
                </a:solidFill>
                <a:latin typeface="Karla"/>
              </a:rPr>
              <a:t>Filling Right Lower…</a:t>
            </a:r>
          </a:p>
        </p:txBody>
      </p:sp>
      <p:sp>
        <p:nvSpPr>
          <p:cNvPr id="36" name="Rectangle 35"/>
          <p:cNvSpPr/>
          <p:nvPr/>
        </p:nvSpPr>
        <p:spPr>
          <a:xfrm>
            <a:off x="2167128" y="3351276"/>
            <a:ext cx="1091107"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313099" y="3351276"/>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+9</a:t>
            </a:r>
          </a:p>
        </p:txBody>
      </p:sp>
      <p:sp>
        <p:nvSpPr>
          <p:cNvPr id="38" name="Rectangle 37"/>
          <p:cNvSpPr/>
          <p:nvPr/>
        </p:nvSpPr>
        <p:spPr>
          <a:xfrm>
            <a:off x="2167128" y="3474720"/>
            <a:ext cx="1818512"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040504" y="3474720"/>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+15</a:t>
            </a:r>
          </a:p>
        </p:txBody>
      </p:sp>
      <p:sp>
        <p:nvSpPr>
          <p:cNvPr id="40" name="Rectangle 39"/>
          <p:cNvSpPr/>
          <p:nvPr/>
        </p:nvSpPr>
        <p:spPr>
          <a:xfrm>
            <a:off x="2167128" y="3598164"/>
            <a:ext cx="2303449"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25441" y="3598164"/>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+19</a:t>
            </a:r>
          </a:p>
        </p:txBody>
      </p:sp>
      <p:sp>
        <p:nvSpPr>
          <p:cNvPr id="42" name="Rectangle 41"/>
          <p:cNvSpPr/>
          <p:nvPr/>
        </p:nvSpPr>
        <p:spPr>
          <a:xfrm>
            <a:off x="2167128" y="3721608"/>
            <a:ext cx="1212341"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434333" y="3721608"/>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+10</a:t>
            </a:r>
          </a:p>
        </p:txBody>
      </p:sp>
      <p:sp>
        <p:nvSpPr>
          <p:cNvPr id="44" name="TextBox 43"/>
          <p:cNvSpPr txBox="1"/>
          <p:nvPr/>
        </p:nvSpPr>
        <p:spPr>
          <a:xfrm>
            <a:off x="502920" y="4123944"/>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B07 Cookie Banana</a:t>
            </a:r>
          </a:p>
          <a:p>
            <a:pPr algn="r">
              <a:spcBef>
                <a:spcPts val="0"/>
              </a:spcBef>
              <a:spcAft>
                <a:spcPts val="0"/>
              </a:spcAft>
            </a:pPr>
            <a:r>
              <a:rPr sz="1000" b="0" i="0">
                <a:solidFill>
                  <a:srgbClr val="1E2D44"/>
                </a:solidFill>
                <a:latin typeface="Karla"/>
              </a:rPr>
              <a:t>Filling Right Lower…</a:t>
            </a:r>
          </a:p>
        </p:txBody>
      </p:sp>
      <p:sp>
        <p:nvSpPr>
          <p:cNvPr id="45" name="Rectangle 44"/>
          <p:cNvSpPr/>
          <p:nvPr/>
        </p:nvSpPr>
        <p:spPr>
          <a:xfrm>
            <a:off x="2167128" y="4123944"/>
            <a:ext cx="1697278"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919270" y="4123944"/>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+14</a:t>
            </a:r>
          </a:p>
        </p:txBody>
      </p:sp>
      <p:sp>
        <p:nvSpPr>
          <p:cNvPr id="47" name="Rectangle 46"/>
          <p:cNvSpPr/>
          <p:nvPr/>
        </p:nvSpPr>
        <p:spPr>
          <a:xfrm>
            <a:off x="2167128" y="4247388"/>
            <a:ext cx="1818512"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040504" y="4247388"/>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+15</a:t>
            </a:r>
          </a:p>
        </p:txBody>
      </p:sp>
      <p:sp>
        <p:nvSpPr>
          <p:cNvPr id="49" name="Rectangle 48"/>
          <p:cNvSpPr/>
          <p:nvPr/>
        </p:nvSpPr>
        <p:spPr>
          <a:xfrm>
            <a:off x="2167128" y="4370831"/>
            <a:ext cx="2303449"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525441" y="4370831"/>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+19</a:t>
            </a:r>
          </a:p>
        </p:txBody>
      </p:sp>
      <p:sp>
        <p:nvSpPr>
          <p:cNvPr id="51" name="Rectangle 50"/>
          <p:cNvSpPr/>
          <p:nvPr/>
        </p:nvSpPr>
        <p:spPr>
          <a:xfrm>
            <a:off x="2167128" y="4494276"/>
            <a:ext cx="1091107"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313099" y="4494276"/>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+9</a:t>
            </a:r>
          </a:p>
        </p:txBody>
      </p:sp>
      <p:sp>
        <p:nvSpPr>
          <p:cNvPr id="53" name="Rectangle 52"/>
          <p:cNvSpPr/>
          <p:nvPr/>
        </p:nvSpPr>
        <p:spPr>
          <a:xfrm>
            <a:off x="823975" y="5161788"/>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97711" y="5102352"/>
            <a:ext cx="149352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Other (basesize = 10)</a:t>
            </a:r>
          </a:p>
        </p:txBody>
      </p:sp>
      <p:sp>
        <p:nvSpPr>
          <p:cNvPr id="55" name="Rectangle 54"/>
          <p:cNvSpPr/>
          <p:nvPr/>
        </p:nvSpPr>
        <p:spPr>
          <a:xfrm>
            <a:off x="2747263" y="5161788"/>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920999" y="5102352"/>
            <a:ext cx="199136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Protein bars (basesize = 52)</a:t>
            </a:r>
          </a:p>
        </p:txBody>
      </p:sp>
      <p:sp>
        <p:nvSpPr>
          <p:cNvPr id="57" name="Rectangle 56"/>
          <p:cNvSpPr/>
          <p:nvPr/>
        </p:nvSpPr>
        <p:spPr>
          <a:xfrm>
            <a:off x="5168391" y="5161788"/>
            <a:ext cx="100584" cy="10058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342127" y="5102352"/>
            <a:ext cx="220472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Protein cookies (basesize = 80)</a:t>
            </a:r>
          </a:p>
        </p:txBody>
      </p:sp>
      <p:sp>
        <p:nvSpPr>
          <p:cNvPr id="59" name="Rectangle 58"/>
          <p:cNvSpPr/>
          <p:nvPr/>
        </p:nvSpPr>
        <p:spPr>
          <a:xfrm>
            <a:off x="3473703" y="5381244"/>
            <a:ext cx="100584" cy="100584"/>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647439" y="5321808"/>
            <a:ext cx="206248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Protein powder (basesize = 8)</a:t>
            </a:r>
          </a:p>
        </p:txBody>
      </p:sp>
      <p:sp>
        <p:nvSpPr>
          <p:cNvPr id="61" name="Rounded Rectangle 60"/>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7935467" y="617280"/>
            <a:ext cx="1709927" cy="1325758"/>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3" name="Picture 62" descr="B5.png"/>
          <p:cNvPicPr>
            <a:picLocks noChangeAspect="1"/>
          </p:cNvPicPr>
          <p:nvPr/>
        </p:nvPicPr>
        <p:blipFill>
          <a:blip r:embed="rId2"/>
          <a:stretch>
            <a:fillRect/>
          </a:stretch>
        </p:blipFill>
        <p:spPr>
          <a:xfrm>
            <a:off x="7949183" y="630996"/>
            <a:ext cx="1682495" cy="1298326"/>
          </a:xfrm>
          <a:prstGeom prst="rect">
            <a:avLst/>
          </a:prstGeom>
        </p:spPr>
      </p:pic>
      <p:sp>
        <p:nvSpPr>
          <p:cNvPr id="64" name="TextBox 63"/>
          <p:cNvSpPr txBox="1"/>
          <p:nvPr/>
        </p:nvSpPr>
        <p:spPr>
          <a:xfrm>
            <a:off x="7912607" y="1984187"/>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B05 Cookie</a:t>
            </a:r>
          </a:p>
          <a:p>
            <a:pPr algn="ctr">
              <a:spcBef>
                <a:spcPts val="0"/>
              </a:spcBef>
              <a:spcAft>
                <a:spcPts val="0"/>
              </a:spcAft>
            </a:pPr>
            <a:r>
              <a:rPr sz="1200" b="0" i="0">
                <a:solidFill>
                  <a:srgbClr val="1E2D44"/>
                </a:solidFill>
                <a:latin typeface="Karla"/>
              </a:rPr>
              <a:t>Chocolate Filling…</a:t>
            </a:r>
          </a:p>
        </p:txBody>
      </p:sp>
      <p:sp>
        <p:nvSpPr>
          <p:cNvPr id="65" name="TextBox 64"/>
          <p:cNvSpPr txBox="1"/>
          <p:nvPr/>
        </p:nvSpPr>
        <p:spPr>
          <a:xfrm>
            <a:off x="7912607" y="2349947"/>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+20*</a:t>
            </a:r>
          </a:p>
        </p:txBody>
      </p:sp>
      <p:sp>
        <p:nvSpPr>
          <p:cNvPr id="66" name="Rectangle 65"/>
          <p:cNvSpPr/>
          <p:nvPr/>
        </p:nvSpPr>
        <p:spPr>
          <a:xfrm>
            <a:off x="9855707" y="617280"/>
            <a:ext cx="1709927" cy="1325758"/>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7" name="Picture 66" descr="B8.png"/>
          <p:cNvPicPr>
            <a:picLocks noChangeAspect="1"/>
          </p:cNvPicPr>
          <p:nvPr/>
        </p:nvPicPr>
        <p:blipFill>
          <a:blip r:embed="rId3"/>
          <a:stretch>
            <a:fillRect/>
          </a:stretch>
        </p:blipFill>
        <p:spPr>
          <a:xfrm>
            <a:off x="9869423" y="630996"/>
            <a:ext cx="1682495" cy="1298326"/>
          </a:xfrm>
          <a:prstGeom prst="rect">
            <a:avLst/>
          </a:prstGeom>
        </p:spPr>
      </p:pic>
      <p:sp>
        <p:nvSpPr>
          <p:cNvPr id="68" name="TextBox 67"/>
          <p:cNvSpPr txBox="1"/>
          <p:nvPr/>
        </p:nvSpPr>
        <p:spPr>
          <a:xfrm>
            <a:off x="9832847" y="1984187"/>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B08 Cookie Vanilla</a:t>
            </a:r>
          </a:p>
          <a:p>
            <a:pPr algn="ctr">
              <a:spcBef>
                <a:spcPts val="0"/>
              </a:spcBef>
              <a:spcAft>
                <a:spcPts val="0"/>
              </a:spcAft>
            </a:pPr>
            <a:r>
              <a:rPr sz="1200" b="0" i="0">
                <a:solidFill>
                  <a:srgbClr val="1E2D44"/>
                </a:solidFill>
                <a:latin typeface="Karla"/>
              </a:rPr>
              <a:t>Filling Right Lower…</a:t>
            </a:r>
          </a:p>
        </p:txBody>
      </p:sp>
      <p:sp>
        <p:nvSpPr>
          <p:cNvPr id="69" name="TextBox 68"/>
          <p:cNvSpPr txBox="1"/>
          <p:nvPr/>
        </p:nvSpPr>
        <p:spPr>
          <a:xfrm>
            <a:off x="9832847" y="2349947"/>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+21*</a:t>
            </a:r>
          </a:p>
        </p:txBody>
      </p:sp>
      <p:sp>
        <p:nvSpPr>
          <p:cNvPr id="70" name="Rectangle 69"/>
          <p:cNvSpPr/>
          <p:nvPr/>
        </p:nvSpPr>
        <p:spPr>
          <a:xfrm>
            <a:off x="7935467" y="3177600"/>
            <a:ext cx="1709927" cy="1325758"/>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1" name="Picture 70" descr="B6.png"/>
          <p:cNvPicPr>
            <a:picLocks noChangeAspect="1"/>
          </p:cNvPicPr>
          <p:nvPr/>
        </p:nvPicPr>
        <p:blipFill>
          <a:blip r:embed="rId4"/>
          <a:stretch>
            <a:fillRect/>
          </a:stretch>
        </p:blipFill>
        <p:spPr>
          <a:xfrm>
            <a:off x="7949183" y="3191316"/>
            <a:ext cx="1682495" cy="1298326"/>
          </a:xfrm>
          <a:prstGeom prst="rect">
            <a:avLst/>
          </a:prstGeom>
        </p:spPr>
      </p:pic>
      <p:sp>
        <p:nvSpPr>
          <p:cNvPr id="72" name="TextBox 71"/>
          <p:cNvSpPr txBox="1"/>
          <p:nvPr/>
        </p:nvSpPr>
        <p:spPr>
          <a:xfrm>
            <a:off x="7912607" y="4544507"/>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B06 Cookie Orange</a:t>
            </a:r>
          </a:p>
          <a:p>
            <a:pPr algn="ctr">
              <a:spcBef>
                <a:spcPts val="0"/>
              </a:spcBef>
              <a:spcAft>
                <a:spcPts val="0"/>
              </a:spcAft>
            </a:pPr>
            <a:r>
              <a:rPr sz="1200" b="0" i="0">
                <a:solidFill>
                  <a:srgbClr val="1E2D44"/>
                </a:solidFill>
                <a:latin typeface="Karla"/>
              </a:rPr>
              <a:t>Filling Right Lower…</a:t>
            </a:r>
          </a:p>
        </p:txBody>
      </p:sp>
      <p:sp>
        <p:nvSpPr>
          <p:cNvPr id="73" name="TextBox 72"/>
          <p:cNvSpPr txBox="1"/>
          <p:nvPr/>
        </p:nvSpPr>
        <p:spPr>
          <a:xfrm>
            <a:off x="7912607" y="4910267"/>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+13*</a:t>
            </a:r>
          </a:p>
        </p:txBody>
      </p:sp>
      <p:sp>
        <p:nvSpPr>
          <p:cNvPr id="74" name="Rectangle 73"/>
          <p:cNvSpPr/>
          <p:nvPr/>
        </p:nvSpPr>
        <p:spPr>
          <a:xfrm>
            <a:off x="9855707" y="3177600"/>
            <a:ext cx="1709927" cy="1325758"/>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5" name="Picture 74" descr="B7.png"/>
          <p:cNvPicPr>
            <a:picLocks noChangeAspect="1"/>
          </p:cNvPicPr>
          <p:nvPr/>
        </p:nvPicPr>
        <p:blipFill>
          <a:blip r:embed="rId5"/>
          <a:stretch>
            <a:fillRect/>
          </a:stretch>
        </p:blipFill>
        <p:spPr>
          <a:xfrm>
            <a:off x="9869423" y="3191316"/>
            <a:ext cx="1682495" cy="1298326"/>
          </a:xfrm>
          <a:prstGeom prst="rect">
            <a:avLst/>
          </a:prstGeom>
        </p:spPr>
      </p:pic>
      <p:sp>
        <p:nvSpPr>
          <p:cNvPr id="76" name="TextBox 75"/>
          <p:cNvSpPr txBox="1"/>
          <p:nvPr/>
        </p:nvSpPr>
        <p:spPr>
          <a:xfrm>
            <a:off x="9832847" y="4544507"/>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B07 Cookie Banana</a:t>
            </a:r>
          </a:p>
          <a:p>
            <a:pPr algn="ctr">
              <a:spcBef>
                <a:spcPts val="0"/>
              </a:spcBef>
              <a:spcAft>
                <a:spcPts val="0"/>
              </a:spcAft>
            </a:pPr>
            <a:r>
              <a:rPr sz="1200" b="0" i="0">
                <a:solidFill>
                  <a:srgbClr val="1E2D44"/>
                </a:solidFill>
                <a:latin typeface="Karla"/>
              </a:rPr>
              <a:t>Filling Right Lower…</a:t>
            </a:r>
          </a:p>
        </p:txBody>
      </p:sp>
      <p:sp>
        <p:nvSpPr>
          <p:cNvPr id="77" name="TextBox 76"/>
          <p:cNvSpPr txBox="1"/>
          <p:nvPr/>
        </p:nvSpPr>
        <p:spPr>
          <a:xfrm>
            <a:off x="9832847" y="4910267"/>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+14*</a:t>
            </a:r>
          </a:p>
        </p:txBody>
      </p:sp>
      <p:sp>
        <p:nvSpPr>
          <p:cNvPr id="78" name="Rounded Rectangle 77"/>
          <p:cNvSpPr/>
          <p:nvPr/>
        </p:nvSpPr>
        <p:spPr>
          <a:xfrm>
            <a:off x="502920" y="5632704"/>
            <a:ext cx="11268455" cy="676656"/>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200" b="0">
                <a:solidFill>
                  <a:srgbClr val="1E2D44"/>
                </a:solidFill>
                <a:latin typeface="Karla"/>
              </a:rPr>
              <a:t>Other favors B02 Cookie Orange Filling Right Upper D2D3; Protein bars favor B01 Cookie Chocolate Filling Right Upper D2D3; Protein cookies favor B01 Cookie Chocolate Filling Right Upper D2D3; Protein powder favors B03 Cookie Banana Filling Right Upper D2D3. The widest segment gap is B01 Cookie Chocolate Filling Right Upper D2D3: +17 other / +22 protein bars / +31 protein cookies / +13 protein powder.</a:t>
            </a:r>
          </a:p>
        </p:txBody>
      </p:sp>
      <p:sp>
        <p:nvSpPr>
          <p:cNvPr id="79" name="Rectangle 78"/>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Top-2 scores rounded to whole points. *Average of the groups in the legend.</a:t>
            </a:r>
          </a:p>
        </p:txBody>
      </p:sp>
      <p:sp>
        <p:nvSpPr>
          <p:cNvPr id="81" name="TextBox 80"/>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37744"/>
            <a:ext cx="7043927" cy="182880"/>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KEY FINDINGS: B_COOKIE  ·  How familiar are you with the Fitspo brand?   ·   1 of 2</a:t>
            </a:r>
          </a:p>
        </p:txBody>
      </p:sp>
      <p:sp>
        <p:nvSpPr>
          <p:cNvPr id="3" name="TextBox 2"/>
          <p:cNvSpPr txBox="1"/>
          <p:nvPr/>
        </p:nvSpPr>
        <p:spPr>
          <a:xfrm>
            <a:off x="502920" y="438912"/>
            <a:ext cx="7043927" cy="365760"/>
          </a:xfrm>
          <a:prstGeom prst="rect">
            <a:avLst/>
          </a:prstGeom>
          <a:noFill/>
        </p:spPr>
        <p:txBody>
          <a:bodyPr wrap="square" anchor="t" lIns="0" rIns="0" tIns="0" bIns="0"/>
          <a:lstStyle/>
          <a:p>
            <a:pPr algn="l">
              <a:spcBef>
                <a:spcPts val="0"/>
              </a:spcBef>
              <a:spcAft>
                <a:spcPts val="0"/>
              </a:spcAft>
            </a:pPr>
            <a:r>
              <a:rPr sz="2600" b="1" i="0">
                <a:solidFill>
                  <a:srgbClr val="1E2D44"/>
                </a:solidFill>
                <a:latin typeface="Karla"/>
              </a:rPr>
              <a:t>B01 Cookie Chocolate Filling Right Upper D2D3 leads in every group</a:t>
            </a:r>
          </a:p>
        </p:txBody>
      </p:sp>
      <p:sp>
        <p:nvSpPr>
          <p:cNvPr id="4" name="TextBox 3"/>
          <p:cNvSpPr txBox="1"/>
          <p:nvPr/>
        </p:nvSpPr>
        <p:spPr>
          <a:xfrm>
            <a:off x="502920" y="822960"/>
            <a:ext cx="7043927" cy="475488"/>
          </a:xfrm>
          <a:prstGeom prst="rect">
            <a:avLst/>
          </a:prstGeom>
          <a:noFill/>
        </p:spPr>
        <p:txBody>
          <a:bodyPr wrap="square" anchor="t" lIns="0" rIns="0" tIns="0" bIns="0"/>
          <a:lstStyle/>
          <a:p>
            <a:pPr algn="l">
              <a:spcBef>
                <a:spcPts val="0"/>
              </a:spcBef>
              <a:spcAft>
                <a:spcPts val="0"/>
              </a:spcAft>
            </a:pPr>
            <a:r>
              <a:rPr sz="1200" b="0" i="0">
                <a:solidFill>
                  <a:srgbClr val="617086"/>
                </a:solidFill>
                <a:latin typeface="Karla"/>
              </a:rPr>
              <a:t>B01 Cookie Chocolate Filling Right Upper D2D3 leads every group; B08 Cookie Vanilla Filling Right Lower D1 ranks last.</a:t>
            </a:r>
          </a:p>
        </p:txBody>
      </p:sp>
      <p:sp>
        <p:nvSpPr>
          <p:cNvPr id="5" name="Rectangle 4"/>
          <p:cNvSpPr/>
          <p:nvPr/>
        </p:nvSpPr>
        <p:spPr>
          <a:xfrm>
            <a:off x="502920" y="1335024"/>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B_COOKIE</a:t>
            </a:r>
          </a:p>
        </p:txBody>
      </p:sp>
      <p:sp>
        <p:nvSpPr>
          <p:cNvPr id="6" name="TextBox 5"/>
          <p:cNvSpPr txBox="1"/>
          <p:nvPr/>
        </p:nvSpPr>
        <p:spPr>
          <a:xfrm>
            <a:off x="1874520"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7" name="Rectangle 6"/>
          <p:cNvSpPr/>
          <p:nvPr/>
        </p:nvSpPr>
        <p:spPr>
          <a:xfrm>
            <a:off x="3379469"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86861"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9" name="Rectangle 8"/>
          <p:cNvSpPr/>
          <p:nvPr/>
        </p:nvSpPr>
        <p:spPr>
          <a:xfrm>
            <a:off x="4591811"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9203"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1" name="Rectangle 10"/>
          <p:cNvSpPr/>
          <p:nvPr/>
        </p:nvSpPr>
        <p:spPr>
          <a:xfrm>
            <a:off x="5804153"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11545"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30</a:t>
            </a:r>
          </a:p>
        </p:txBody>
      </p:sp>
      <p:sp>
        <p:nvSpPr>
          <p:cNvPr id="13" name="Rectangle 12"/>
          <p:cNvSpPr/>
          <p:nvPr/>
        </p:nvSpPr>
        <p:spPr>
          <a:xfrm>
            <a:off x="7016495"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23887"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40</a:t>
            </a:r>
          </a:p>
        </p:txBody>
      </p:sp>
      <p:sp>
        <p:nvSpPr>
          <p:cNvPr id="15" name="Rectangle 14"/>
          <p:cNvSpPr/>
          <p:nvPr/>
        </p:nvSpPr>
        <p:spPr>
          <a:xfrm>
            <a:off x="2167128" y="1645920"/>
            <a:ext cx="10972" cy="30906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167128" y="4736592"/>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1805940"/>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B01 Cookie Chocolate</a:t>
            </a:r>
          </a:p>
          <a:p>
            <a:pPr algn="r">
              <a:spcBef>
                <a:spcPts val="0"/>
              </a:spcBef>
              <a:spcAft>
                <a:spcPts val="0"/>
              </a:spcAft>
            </a:pPr>
            <a:r>
              <a:rPr sz="1000" b="0" i="0">
                <a:solidFill>
                  <a:srgbClr val="1E2D44"/>
                </a:solidFill>
                <a:latin typeface="Karla"/>
              </a:rPr>
              <a:t>Filling Right Upper…</a:t>
            </a:r>
          </a:p>
        </p:txBody>
      </p:sp>
      <p:sp>
        <p:nvSpPr>
          <p:cNvPr id="18" name="Rectangle 17"/>
          <p:cNvSpPr/>
          <p:nvPr/>
        </p:nvSpPr>
        <p:spPr>
          <a:xfrm>
            <a:off x="2167128" y="1805940"/>
            <a:ext cx="3152089"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74081" y="1805940"/>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+26</a:t>
            </a:r>
          </a:p>
        </p:txBody>
      </p:sp>
      <p:sp>
        <p:nvSpPr>
          <p:cNvPr id="20" name="Rectangle 19"/>
          <p:cNvSpPr/>
          <p:nvPr/>
        </p:nvSpPr>
        <p:spPr>
          <a:xfrm>
            <a:off x="2167128" y="1929384"/>
            <a:ext cx="2303449"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25441" y="1929384"/>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+19</a:t>
            </a:r>
          </a:p>
        </p:txBody>
      </p:sp>
      <p:sp>
        <p:nvSpPr>
          <p:cNvPr id="22" name="Rectangle 21"/>
          <p:cNvSpPr/>
          <p:nvPr/>
        </p:nvSpPr>
        <p:spPr>
          <a:xfrm>
            <a:off x="2167128" y="2052828"/>
            <a:ext cx="3273323"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95315" y="2052828"/>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+27</a:t>
            </a:r>
          </a:p>
        </p:txBody>
      </p:sp>
      <p:sp>
        <p:nvSpPr>
          <p:cNvPr id="24" name="Rectangle 23"/>
          <p:cNvSpPr/>
          <p:nvPr/>
        </p:nvSpPr>
        <p:spPr>
          <a:xfrm>
            <a:off x="2167128" y="2176272"/>
            <a:ext cx="3394557"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16549" y="2176272"/>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+28</a:t>
            </a:r>
          </a:p>
        </p:txBody>
      </p:sp>
      <p:sp>
        <p:nvSpPr>
          <p:cNvPr id="26" name="TextBox 25"/>
          <p:cNvSpPr txBox="1"/>
          <p:nvPr/>
        </p:nvSpPr>
        <p:spPr>
          <a:xfrm>
            <a:off x="502920" y="2578608"/>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B05 Cookie Chocolate</a:t>
            </a:r>
          </a:p>
          <a:p>
            <a:pPr algn="r">
              <a:spcBef>
                <a:spcPts val="0"/>
              </a:spcBef>
              <a:spcAft>
                <a:spcPts val="0"/>
              </a:spcAft>
            </a:pPr>
            <a:r>
              <a:rPr sz="1000" b="0" i="0">
                <a:solidFill>
                  <a:srgbClr val="1E2D44"/>
                </a:solidFill>
                <a:latin typeface="Karla"/>
              </a:rPr>
              <a:t>Filling Right Lower…</a:t>
            </a:r>
          </a:p>
        </p:txBody>
      </p:sp>
      <p:sp>
        <p:nvSpPr>
          <p:cNvPr id="27" name="Rectangle 26"/>
          <p:cNvSpPr/>
          <p:nvPr/>
        </p:nvSpPr>
        <p:spPr>
          <a:xfrm>
            <a:off x="2167128" y="2578608"/>
            <a:ext cx="2909620"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131612" y="2578608"/>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+24</a:t>
            </a:r>
          </a:p>
        </p:txBody>
      </p:sp>
      <p:sp>
        <p:nvSpPr>
          <p:cNvPr id="29" name="Rectangle 28"/>
          <p:cNvSpPr/>
          <p:nvPr/>
        </p:nvSpPr>
        <p:spPr>
          <a:xfrm>
            <a:off x="2167128" y="2702052"/>
            <a:ext cx="2060981"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282973" y="2702052"/>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+17</a:t>
            </a:r>
          </a:p>
        </p:txBody>
      </p:sp>
      <p:sp>
        <p:nvSpPr>
          <p:cNvPr id="31" name="Rectangle 30"/>
          <p:cNvSpPr/>
          <p:nvPr/>
        </p:nvSpPr>
        <p:spPr>
          <a:xfrm>
            <a:off x="2167128" y="2825496"/>
            <a:ext cx="2667152"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89144" y="2825496"/>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+22</a:t>
            </a:r>
          </a:p>
        </p:txBody>
      </p:sp>
      <p:sp>
        <p:nvSpPr>
          <p:cNvPr id="33" name="Rectangle 32"/>
          <p:cNvSpPr/>
          <p:nvPr/>
        </p:nvSpPr>
        <p:spPr>
          <a:xfrm>
            <a:off x="2167128" y="2948939"/>
            <a:ext cx="3273323"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495315" y="2948939"/>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+27</a:t>
            </a:r>
          </a:p>
        </p:txBody>
      </p:sp>
      <p:sp>
        <p:nvSpPr>
          <p:cNvPr id="35" name="TextBox 34"/>
          <p:cNvSpPr txBox="1"/>
          <p:nvPr/>
        </p:nvSpPr>
        <p:spPr>
          <a:xfrm>
            <a:off x="502920" y="3351276"/>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B04 Cookie Vanilla</a:t>
            </a:r>
          </a:p>
          <a:p>
            <a:pPr algn="r">
              <a:spcBef>
                <a:spcPts val="0"/>
              </a:spcBef>
              <a:spcAft>
                <a:spcPts val="0"/>
              </a:spcAft>
            </a:pPr>
            <a:r>
              <a:rPr sz="1000" b="0" i="0">
                <a:solidFill>
                  <a:srgbClr val="1E2D44"/>
                </a:solidFill>
                <a:latin typeface="Karla"/>
              </a:rPr>
              <a:t>Filling Right Upper…</a:t>
            </a:r>
          </a:p>
        </p:txBody>
      </p:sp>
      <p:sp>
        <p:nvSpPr>
          <p:cNvPr id="36" name="Rectangle 35"/>
          <p:cNvSpPr/>
          <p:nvPr/>
        </p:nvSpPr>
        <p:spPr>
          <a:xfrm>
            <a:off x="2167128" y="3351276"/>
            <a:ext cx="2545918"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767910" y="3351276"/>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+21</a:t>
            </a:r>
          </a:p>
        </p:txBody>
      </p:sp>
      <p:sp>
        <p:nvSpPr>
          <p:cNvPr id="38" name="Rectangle 37"/>
          <p:cNvSpPr/>
          <p:nvPr/>
        </p:nvSpPr>
        <p:spPr>
          <a:xfrm>
            <a:off x="2167128" y="3474720"/>
            <a:ext cx="2303449"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25441" y="3474720"/>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+19</a:t>
            </a:r>
          </a:p>
        </p:txBody>
      </p:sp>
      <p:sp>
        <p:nvSpPr>
          <p:cNvPr id="40" name="Rectangle 39"/>
          <p:cNvSpPr/>
          <p:nvPr/>
        </p:nvSpPr>
        <p:spPr>
          <a:xfrm>
            <a:off x="2167128" y="3598164"/>
            <a:ext cx="2545918"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767910" y="3598164"/>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+21</a:t>
            </a:r>
          </a:p>
        </p:txBody>
      </p:sp>
      <p:sp>
        <p:nvSpPr>
          <p:cNvPr id="42" name="Rectangle 41"/>
          <p:cNvSpPr/>
          <p:nvPr/>
        </p:nvSpPr>
        <p:spPr>
          <a:xfrm>
            <a:off x="2167128" y="3721608"/>
            <a:ext cx="3030854"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252846" y="3721608"/>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+25</a:t>
            </a:r>
          </a:p>
        </p:txBody>
      </p:sp>
      <p:sp>
        <p:nvSpPr>
          <p:cNvPr id="44" name="TextBox 43"/>
          <p:cNvSpPr txBox="1"/>
          <p:nvPr/>
        </p:nvSpPr>
        <p:spPr>
          <a:xfrm>
            <a:off x="502920" y="4123944"/>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B02 Cookie Orange</a:t>
            </a:r>
          </a:p>
          <a:p>
            <a:pPr algn="r">
              <a:spcBef>
                <a:spcPts val="0"/>
              </a:spcBef>
              <a:spcAft>
                <a:spcPts val="0"/>
              </a:spcAft>
            </a:pPr>
            <a:r>
              <a:rPr sz="1000" b="0" i="0">
                <a:solidFill>
                  <a:srgbClr val="1E2D44"/>
                </a:solidFill>
                <a:latin typeface="Karla"/>
              </a:rPr>
              <a:t>Filling Right Upper…</a:t>
            </a:r>
          </a:p>
        </p:txBody>
      </p:sp>
      <p:sp>
        <p:nvSpPr>
          <p:cNvPr id="45" name="Rectangle 44"/>
          <p:cNvSpPr/>
          <p:nvPr/>
        </p:nvSpPr>
        <p:spPr>
          <a:xfrm>
            <a:off x="2167128" y="4123944"/>
            <a:ext cx="2667152"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889144" y="4123944"/>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+22</a:t>
            </a:r>
          </a:p>
        </p:txBody>
      </p:sp>
      <p:sp>
        <p:nvSpPr>
          <p:cNvPr id="47" name="Rectangle 46"/>
          <p:cNvSpPr/>
          <p:nvPr/>
        </p:nvSpPr>
        <p:spPr>
          <a:xfrm>
            <a:off x="2167128" y="4247388"/>
            <a:ext cx="2182215"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404207" y="4247388"/>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+18</a:t>
            </a:r>
          </a:p>
        </p:txBody>
      </p:sp>
      <p:sp>
        <p:nvSpPr>
          <p:cNvPr id="49" name="Rectangle 48"/>
          <p:cNvSpPr/>
          <p:nvPr/>
        </p:nvSpPr>
        <p:spPr>
          <a:xfrm>
            <a:off x="2167128" y="4370831"/>
            <a:ext cx="2667152"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889144" y="4370831"/>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+22</a:t>
            </a:r>
          </a:p>
        </p:txBody>
      </p:sp>
      <p:sp>
        <p:nvSpPr>
          <p:cNvPr id="51" name="Rectangle 50"/>
          <p:cNvSpPr/>
          <p:nvPr/>
        </p:nvSpPr>
        <p:spPr>
          <a:xfrm>
            <a:off x="2167128" y="4494276"/>
            <a:ext cx="2909620"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131612" y="4494276"/>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+24</a:t>
            </a:r>
          </a:p>
        </p:txBody>
      </p:sp>
      <p:sp>
        <p:nvSpPr>
          <p:cNvPr id="53" name="Rectangle 52"/>
          <p:cNvSpPr/>
          <p:nvPr/>
        </p:nvSpPr>
        <p:spPr>
          <a:xfrm>
            <a:off x="684783" y="5161788"/>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58519" y="5102352"/>
            <a:ext cx="376936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Heard of it, but know little about it (basesize = 22)</a:t>
            </a:r>
          </a:p>
        </p:txBody>
      </p:sp>
      <p:sp>
        <p:nvSpPr>
          <p:cNvPr id="55" name="Rectangle 54"/>
          <p:cNvSpPr/>
          <p:nvPr/>
        </p:nvSpPr>
        <p:spPr>
          <a:xfrm>
            <a:off x="4883911" y="5161788"/>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057647" y="5102352"/>
            <a:ext cx="248920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Not familiar at all (basesize = 25)</a:t>
            </a:r>
          </a:p>
        </p:txBody>
      </p:sp>
      <p:sp>
        <p:nvSpPr>
          <p:cNvPr id="57" name="Rectangle 56"/>
          <p:cNvSpPr/>
          <p:nvPr/>
        </p:nvSpPr>
        <p:spPr>
          <a:xfrm>
            <a:off x="2085339" y="5381244"/>
            <a:ext cx="100584" cy="10058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259075" y="5321808"/>
            <a:ext cx="234696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Somewhat familiar (basesize = 49)</a:t>
            </a:r>
          </a:p>
        </p:txBody>
      </p:sp>
      <p:sp>
        <p:nvSpPr>
          <p:cNvPr id="59" name="Rectangle 58"/>
          <p:cNvSpPr/>
          <p:nvPr/>
        </p:nvSpPr>
        <p:spPr>
          <a:xfrm>
            <a:off x="4862067" y="5381244"/>
            <a:ext cx="100584" cy="100584"/>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035803" y="5321808"/>
            <a:ext cx="206248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Very familiar (basesize = 54)</a:t>
            </a:r>
          </a:p>
        </p:txBody>
      </p:sp>
      <p:sp>
        <p:nvSpPr>
          <p:cNvPr id="61" name="Rounded Rectangle 60"/>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7935467" y="617280"/>
            <a:ext cx="1709927" cy="1325758"/>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3" name="Picture 62" descr="B1.png"/>
          <p:cNvPicPr>
            <a:picLocks noChangeAspect="1"/>
          </p:cNvPicPr>
          <p:nvPr/>
        </p:nvPicPr>
        <p:blipFill>
          <a:blip r:embed="rId2"/>
          <a:stretch>
            <a:fillRect/>
          </a:stretch>
        </p:blipFill>
        <p:spPr>
          <a:xfrm>
            <a:off x="7949183" y="630996"/>
            <a:ext cx="1682495" cy="1298326"/>
          </a:xfrm>
          <a:prstGeom prst="rect">
            <a:avLst/>
          </a:prstGeom>
        </p:spPr>
      </p:pic>
      <p:sp>
        <p:nvSpPr>
          <p:cNvPr id="64" name="TextBox 63"/>
          <p:cNvSpPr txBox="1"/>
          <p:nvPr/>
        </p:nvSpPr>
        <p:spPr>
          <a:xfrm>
            <a:off x="7912607" y="1984187"/>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B01 Cookie</a:t>
            </a:r>
          </a:p>
          <a:p>
            <a:pPr algn="ctr">
              <a:spcBef>
                <a:spcPts val="0"/>
              </a:spcBef>
              <a:spcAft>
                <a:spcPts val="0"/>
              </a:spcAft>
            </a:pPr>
            <a:r>
              <a:rPr sz="1200" b="0" i="0">
                <a:solidFill>
                  <a:srgbClr val="1E2D44"/>
                </a:solidFill>
                <a:latin typeface="Karla"/>
              </a:rPr>
              <a:t>Chocolate Filling…</a:t>
            </a:r>
          </a:p>
        </p:txBody>
      </p:sp>
      <p:sp>
        <p:nvSpPr>
          <p:cNvPr id="65" name="TextBox 64"/>
          <p:cNvSpPr txBox="1"/>
          <p:nvPr/>
        </p:nvSpPr>
        <p:spPr>
          <a:xfrm>
            <a:off x="7912607" y="2349947"/>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+25*</a:t>
            </a:r>
          </a:p>
        </p:txBody>
      </p:sp>
      <p:sp>
        <p:nvSpPr>
          <p:cNvPr id="66" name="Rectangle 65"/>
          <p:cNvSpPr/>
          <p:nvPr/>
        </p:nvSpPr>
        <p:spPr>
          <a:xfrm>
            <a:off x="9855707" y="617280"/>
            <a:ext cx="1709927" cy="1325758"/>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7" name="Picture 66" descr="B5.png"/>
          <p:cNvPicPr>
            <a:picLocks noChangeAspect="1"/>
          </p:cNvPicPr>
          <p:nvPr/>
        </p:nvPicPr>
        <p:blipFill>
          <a:blip r:embed="rId3"/>
          <a:stretch>
            <a:fillRect/>
          </a:stretch>
        </p:blipFill>
        <p:spPr>
          <a:xfrm>
            <a:off x="9869423" y="630996"/>
            <a:ext cx="1682495" cy="1298326"/>
          </a:xfrm>
          <a:prstGeom prst="rect">
            <a:avLst/>
          </a:prstGeom>
        </p:spPr>
      </p:pic>
      <p:sp>
        <p:nvSpPr>
          <p:cNvPr id="68" name="TextBox 67"/>
          <p:cNvSpPr txBox="1"/>
          <p:nvPr/>
        </p:nvSpPr>
        <p:spPr>
          <a:xfrm>
            <a:off x="9832847" y="1984187"/>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B05 Cookie</a:t>
            </a:r>
          </a:p>
          <a:p>
            <a:pPr algn="ctr">
              <a:spcBef>
                <a:spcPts val="0"/>
              </a:spcBef>
              <a:spcAft>
                <a:spcPts val="0"/>
              </a:spcAft>
            </a:pPr>
            <a:r>
              <a:rPr sz="1200" b="0" i="0">
                <a:solidFill>
                  <a:srgbClr val="1E2D44"/>
                </a:solidFill>
                <a:latin typeface="Karla"/>
              </a:rPr>
              <a:t>Chocolate Filling…</a:t>
            </a:r>
          </a:p>
        </p:txBody>
      </p:sp>
      <p:sp>
        <p:nvSpPr>
          <p:cNvPr id="69" name="TextBox 68"/>
          <p:cNvSpPr txBox="1"/>
          <p:nvPr/>
        </p:nvSpPr>
        <p:spPr>
          <a:xfrm>
            <a:off x="9832847" y="2349947"/>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+22*</a:t>
            </a:r>
          </a:p>
        </p:txBody>
      </p:sp>
      <p:sp>
        <p:nvSpPr>
          <p:cNvPr id="70" name="Rectangle 69"/>
          <p:cNvSpPr/>
          <p:nvPr/>
        </p:nvSpPr>
        <p:spPr>
          <a:xfrm>
            <a:off x="7935467" y="3177600"/>
            <a:ext cx="1709927" cy="1325758"/>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1" name="Picture 70" descr="B4.png"/>
          <p:cNvPicPr>
            <a:picLocks noChangeAspect="1"/>
          </p:cNvPicPr>
          <p:nvPr/>
        </p:nvPicPr>
        <p:blipFill>
          <a:blip r:embed="rId4"/>
          <a:stretch>
            <a:fillRect/>
          </a:stretch>
        </p:blipFill>
        <p:spPr>
          <a:xfrm>
            <a:off x="7949183" y="3191316"/>
            <a:ext cx="1682495" cy="1298326"/>
          </a:xfrm>
          <a:prstGeom prst="rect">
            <a:avLst/>
          </a:prstGeom>
        </p:spPr>
      </p:pic>
      <p:sp>
        <p:nvSpPr>
          <p:cNvPr id="72" name="TextBox 71"/>
          <p:cNvSpPr txBox="1"/>
          <p:nvPr/>
        </p:nvSpPr>
        <p:spPr>
          <a:xfrm>
            <a:off x="7912607" y="4544507"/>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B04 Cookie Vanilla</a:t>
            </a:r>
          </a:p>
          <a:p>
            <a:pPr algn="ctr">
              <a:spcBef>
                <a:spcPts val="0"/>
              </a:spcBef>
              <a:spcAft>
                <a:spcPts val="0"/>
              </a:spcAft>
            </a:pPr>
            <a:r>
              <a:rPr sz="1200" b="0" i="0">
                <a:solidFill>
                  <a:srgbClr val="1E2D44"/>
                </a:solidFill>
                <a:latin typeface="Karla"/>
              </a:rPr>
              <a:t>Filling Right Upper…</a:t>
            </a:r>
          </a:p>
        </p:txBody>
      </p:sp>
      <p:sp>
        <p:nvSpPr>
          <p:cNvPr id="73" name="TextBox 72"/>
          <p:cNvSpPr txBox="1"/>
          <p:nvPr/>
        </p:nvSpPr>
        <p:spPr>
          <a:xfrm>
            <a:off x="7912607" y="4910267"/>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+22*</a:t>
            </a:r>
          </a:p>
        </p:txBody>
      </p:sp>
      <p:sp>
        <p:nvSpPr>
          <p:cNvPr id="74" name="Rectangle 73"/>
          <p:cNvSpPr/>
          <p:nvPr/>
        </p:nvSpPr>
        <p:spPr>
          <a:xfrm>
            <a:off x="9855707" y="3177600"/>
            <a:ext cx="1709927" cy="1325758"/>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5" name="Picture 74" descr="B2.png"/>
          <p:cNvPicPr>
            <a:picLocks noChangeAspect="1"/>
          </p:cNvPicPr>
          <p:nvPr/>
        </p:nvPicPr>
        <p:blipFill>
          <a:blip r:embed="rId5"/>
          <a:stretch>
            <a:fillRect/>
          </a:stretch>
        </p:blipFill>
        <p:spPr>
          <a:xfrm>
            <a:off x="9869423" y="3191316"/>
            <a:ext cx="1682495" cy="1298326"/>
          </a:xfrm>
          <a:prstGeom prst="rect">
            <a:avLst/>
          </a:prstGeom>
        </p:spPr>
      </p:pic>
      <p:sp>
        <p:nvSpPr>
          <p:cNvPr id="76" name="TextBox 75"/>
          <p:cNvSpPr txBox="1"/>
          <p:nvPr/>
        </p:nvSpPr>
        <p:spPr>
          <a:xfrm>
            <a:off x="9832847" y="4544507"/>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B02 Cookie Orange</a:t>
            </a:r>
          </a:p>
          <a:p>
            <a:pPr algn="ctr">
              <a:spcBef>
                <a:spcPts val="0"/>
              </a:spcBef>
              <a:spcAft>
                <a:spcPts val="0"/>
              </a:spcAft>
            </a:pPr>
            <a:r>
              <a:rPr sz="1200" b="0" i="0">
                <a:solidFill>
                  <a:srgbClr val="1E2D44"/>
                </a:solidFill>
                <a:latin typeface="Karla"/>
              </a:rPr>
              <a:t>Filling Right Upper…</a:t>
            </a:r>
          </a:p>
        </p:txBody>
      </p:sp>
      <p:sp>
        <p:nvSpPr>
          <p:cNvPr id="77" name="TextBox 76"/>
          <p:cNvSpPr txBox="1"/>
          <p:nvPr/>
        </p:nvSpPr>
        <p:spPr>
          <a:xfrm>
            <a:off x="9832847" y="4910267"/>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+22*</a:t>
            </a:r>
          </a:p>
        </p:txBody>
      </p:sp>
      <p:sp>
        <p:nvSpPr>
          <p:cNvPr id="78" name="Rounded Rectangle 77"/>
          <p:cNvSpPr/>
          <p:nvPr/>
        </p:nvSpPr>
        <p:spPr>
          <a:xfrm>
            <a:off x="502920" y="5632704"/>
            <a:ext cx="11268455" cy="676656"/>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200" b="0">
                <a:solidFill>
                  <a:srgbClr val="1E2D44"/>
                </a:solidFill>
                <a:latin typeface="Karla"/>
              </a:rPr>
              <a:t>Every group ranks B01 Cookie Chocolate Filling Right Upper D2D3 first. The widest segment gap is B06 Cookie Orange Filling Right Lower D1: +15 heard of it, but know little about it / +8 not familiar at all / +15 somewhat familiar / +22 very familiar.</a:t>
            </a:r>
          </a:p>
        </p:txBody>
      </p:sp>
      <p:sp>
        <p:nvSpPr>
          <p:cNvPr id="79" name="Rectangle 78"/>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Top-2 scores rounded to whole points. *Average of the groups in the legend.</a:t>
            </a:r>
          </a:p>
        </p:txBody>
      </p:sp>
      <p:sp>
        <p:nvSpPr>
          <p:cNvPr id="81" name="TextBox 80"/>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37744"/>
            <a:ext cx="7043927" cy="182880"/>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KEY FINDINGS: B_COOKIE  ·  How familiar are you with the Fitspo brand?   ·   2 of 2</a:t>
            </a:r>
          </a:p>
        </p:txBody>
      </p:sp>
      <p:sp>
        <p:nvSpPr>
          <p:cNvPr id="3" name="TextBox 2"/>
          <p:cNvSpPr txBox="1"/>
          <p:nvPr/>
        </p:nvSpPr>
        <p:spPr>
          <a:xfrm>
            <a:off x="502920" y="438912"/>
            <a:ext cx="7043927" cy="365760"/>
          </a:xfrm>
          <a:prstGeom prst="rect">
            <a:avLst/>
          </a:prstGeom>
          <a:noFill/>
        </p:spPr>
        <p:txBody>
          <a:bodyPr wrap="square" anchor="t" lIns="0" rIns="0" tIns="0" bIns="0"/>
          <a:lstStyle/>
          <a:p>
            <a:pPr algn="l">
              <a:spcBef>
                <a:spcPts val="0"/>
              </a:spcBef>
              <a:spcAft>
                <a:spcPts val="0"/>
              </a:spcAft>
            </a:pPr>
            <a:r>
              <a:rPr sz="2600" b="1" i="0">
                <a:solidFill>
                  <a:srgbClr val="1E2D44"/>
                </a:solidFill>
                <a:latin typeface="Karla"/>
              </a:rPr>
              <a:t>B01 Cookie Chocolate Filling Right Upper D2D3 leads in every group</a:t>
            </a:r>
          </a:p>
        </p:txBody>
      </p:sp>
      <p:sp>
        <p:nvSpPr>
          <p:cNvPr id="4" name="TextBox 3"/>
          <p:cNvSpPr txBox="1"/>
          <p:nvPr/>
        </p:nvSpPr>
        <p:spPr>
          <a:xfrm>
            <a:off x="502920" y="822960"/>
            <a:ext cx="7043927" cy="475488"/>
          </a:xfrm>
          <a:prstGeom prst="rect">
            <a:avLst/>
          </a:prstGeom>
          <a:noFill/>
        </p:spPr>
        <p:txBody>
          <a:bodyPr wrap="square" anchor="t" lIns="0" rIns="0" tIns="0" bIns="0"/>
          <a:lstStyle/>
          <a:p>
            <a:pPr algn="l">
              <a:spcBef>
                <a:spcPts val="0"/>
              </a:spcBef>
              <a:spcAft>
                <a:spcPts val="0"/>
              </a:spcAft>
            </a:pPr>
            <a:r>
              <a:rPr sz="1200" b="0" i="0">
                <a:solidFill>
                  <a:srgbClr val="617086"/>
                </a:solidFill>
                <a:latin typeface="Karla"/>
              </a:rPr>
              <a:t>B01 Cookie Chocolate Filling Right Upper D2D3 leads every group; B08 Cookie Vanilla Filling Right Lower D1 ranks last.</a:t>
            </a:r>
          </a:p>
        </p:txBody>
      </p:sp>
      <p:sp>
        <p:nvSpPr>
          <p:cNvPr id="5" name="Rectangle 4"/>
          <p:cNvSpPr/>
          <p:nvPr/>
        </p:nvSpPr>
        <p:spPr>
          <a:xfrm>
            <a:off x="502920" y="1335024"/>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B_COOKIE</a:t>
            </a:r>
          </a:p>
        </p:txBody>
      </p:sp>
      <p:sp>
        <p:nvSpPr>
          <p:cNvPr id="6" name="TextBox 5"/>
          <p:cNvSpPr txBox="1"/>
          <p:nvPr/>
        </p:nvSpPr>
        <p:spPr>
          <a:xfrm>
            <a:off x="1874520"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7" name="Rectangle 6"/>
          <p:cNvSpPr/>
          <p:nvPr/>
        </p:nvSpPr>
        <p:spPr>
          <a:xfrm>
            <a:off x="3783583"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90975"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9" name="Rectangle 8"/>
          <p:cNvSpPr/>
          <p:nvPr/>
        </p:nvSpPr>
        <p:spPr>
          <a:xfrm>
            <a:off x="5400039"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7431"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1" name="Rectangle 10"/>
          <p:cNvSpPr/>
          <p:nvPr/>
        </p:nvSpPr>
        <p:spPr>
          <a:xfrm>
            <a:off x="7016495"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23887"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30</a:t>
            </a:r>
          </a:p>
        </p:txBody>
      </p:sp>
      <p:sp>
        <p:nvSpPr>
          <p:cNvPr id="13" name="Rectangle 12"/>
          <p:cNvSpPr/>
          <p:nvPr/>
        </p:nvSpPr>
        <p:spPr>
          <a:xfrm>
            <a:off x="2167128" y="1645920"/>
            <a:ext cx="10972" cy="30906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167128" y="4736592"/>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1805940"/>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B03 Cookie Banana</a:t>
            </a:r>
          </a:p>
          <a:p>
            <a:pPr algn="r">
              <a:spcBef>
                <a:spcPts val="0"/>
              </a:spcBef>
              <a:spcAft>
                <a:spcPts val="0"/>
              </a:spcAft>
            </a:pPr>
            <a:r>
              <a:rPr sz="1000" b="0" i="0">
                <a:solidFill>
                  <a:srgbClr val="1E2D44"/>
                </a:solidFill>
                <a:latin typeface="Karla"/>
              </a:rPr>
              <a:t>Filling Right Upper…</a:t>
            </a:r>
          </a:p>
        </p:txBody>
      </p:sp>
      <p:sp>
        <p:nvSpPr>
          <p:cNvPr id="16" name="Rectangle 15"/>
          <p:cNvSpPr/>
          <p:nvPr/>
        </p:nvSpPr>
        <p:spPr>
          <a:xfrm>
            <a:off x="2167128" y="1805940"/>
            <a:ext cx="3717848"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39840" y="1805940"/>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+23</a:t>
            </a:r>
          </a:p>
        </p:txBody>
      </p:sp>
      <p:sp>
        <p:nvSpPr>
          <p:cNvPr id="18" name="Rectangle 17"/>
          <p:cNvSpPr/>
          <p:nvPr/>
        </p:nvSpPr>
        <p:spPr>
          <a:xfrm>
            <a:off x="2167128" y="1929384"/>
            <a:ext cx="2586329"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08321" y="1929384"/>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+16</a:t>
            </a:r>
          </a:p>
        </p:txBody>
      </p:sp>
      <p:sp>
        <p:nvSpPr>
          <p:cNvPr id="20" name="Rectangle 19"/>
          <p:cNvSpPr/>
          <p:nvPr/>
        </p:nvSpPr>
        <p:spPr>
          <a:xfrm>
            <a:off x="2167128" y="2052828"/>
            <a:ext cx="3556202"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78194" y="2052828"/>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+22</a:t>
            </a:r>
          </a:p>
        </p:txBody>
      </p:sp>
      <p:sp>
        <p:nvSpPr>
          <p:cNvPr id="22" name="Rectangle 21"/>
          <p:cNvSpPr/>
          <p:nvPr/>
        </p:nvSpPr>
        <p:spPr>
          <a:xfrm>
            <a:off x="2167128" y="2176272"/>
            <a:ext cx="3556202"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78194" y="2176272"/>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+22</a:t>
            </a:r>
          </a:p>
        </p:txBody>
      </p:sp>
      <p:sp>
        <p:nvSpPr>
          <p:cNvPr id="24" name="TextBox 23"/>
          <p:cNvSpPr txBox="1"/>
          <p:nvPr/>
        </p:nvSpPr>
        <p:spPr>
          <a:xfrm>
            <a:off x="502920" y="2578608"/>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B06 Cookie Orange</a:t>
            </a:r>
          </a:p>
          <a:p>
            <a:pPr algn="r">
              <a:spcBef>
                <a:spcPts val="0"/>
              </a:spcBef>
              <a:spcAft>
                <a:spcPts val="0"/>
              </a:spcAft>
            </a:pPr>
            <a:r>
              <a:rPr sz="1000" b="0" i="0">
                <a:solidFill>
                  <a:srgbClr val="1E2D44"/>
                </a:solidFill>
                <a:latin typeface="Karla"/>
              </a:rPr>
              <a:t>Filling Right Lower…</a:t>
            </a:r>
          </a:p>
        </p:txBody>
      </p:sp>
      <p:sp>
        <p:nvSpPr>
          <p:cNvPr id="25" name="Rectangle 24"/>
          <p:cNvSpPr/>
          <p:nvPr/>
        </p:nvSpPr>
        <p:spPr>
          <a:xfrm>
            <a:off x="2167128" y="2578608"/>
            <a:ext cx="2424683"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46675" y="2578608"/>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+15</a:t>
            </a:r>
          </a:p>
        </p:txBody>
      </p:sp>
      <p:sp>
        <p:nvSpPr>
          <p:cNvPr id="27" name="Rectangle 26"/>
          <p:cNvSpPr/>
          <p:nvPr/>
        </p:nvSpPr>
        <p:spPr>
          <a:xfrm>
            <a:off x="2167128" y="2702052"/>
            <a:ext cx="1293164"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515156" y="2702052"/>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+8</a:t>
            </a:r>
          </a:p>
        </p:txBody>
      </p:sp>
      <p:sp>
        <p:nvSpPr>
          <p:cNvPr id="29" name="Rectangle 28"/>
          <p:cNvSpPr/>
          <p:nvPr/>
        </p:nvSpPr>
        <p:spPr>
          <a:xfrm>
            <a:off x="2167128" y="2825496"/>
            <a:ext cx="2424683"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46675" y="2825496"/>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+15</a:t>
            </a:r>
          </a:p>
        </p:txBody>
      </p:sp>
      <p:sp>
        <p:nvSpPr>
          <p:cNvPr id="31" name="Rectangle 30"/>
          <p:cNvSpPr/>
          <p:nvPr/>
        </p:nvSpPr>
        <p:spPr>
          <a:xfrm>
            <a:off x="2167128" y="2948939"/>
            <a:ext cx="3556202"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778194" y="2948939"/>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+22</a:t>
            </a:r>
          </a:p>
        </p:txBody>
      </p:sp>
      <p:sp>
        <p:nvSpPr>
          <p:cNvPr id="33" name="TextBox 32"/>
          <p:cNvSpPr txBox="1"/>
          <p:nvPr/>
        </p:nvSpPr>
        <p:spPr>
          <a:xfrm>
            <a:off x="502920" y="3351276"/>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B07 Cookie Banana</a:t>
            </a:r>
          </a:p>
          <a:p>
            <a:pPr algn="r">
              <a:spcBef>
                <a:spcPts val="0"/>
              </a:spcBef>
              <a:spcAft>
                <a:spcPts val="0"/>
              </a:spcAft>
            </a:pPr>
            <a:r>
              <a:rPr sz="1000" b="0" i="0">
                <a:solidFill>
                  <a:srgbClr val="1E2D44"/>
                </a:solidFill>
                <a:latin typeface="Karla"/>
              </a:rPr>
              <a:t>Filling Right Lower…</a:t>
            </a:r>
          </a:p>
        </p:txBody>
      </p:sp>
      <p:sp>
        <p:nvSpPr>
          <p:cNvPr id="34" name="Rectangle 33"/>
          <p:cNvSpPr/>
          <p:nvPr/>
        </p:nvSpPr>
        <p:spPr>
          <a:xfrm>
            <a:off x="2167128" y="3351276"/>
            <a:ext cx="2263038"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485030" y="3351276"/>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+14</a:t>
            </a:r>
          </a:p>
        </p:txBody>
      </p:sp>
      <p:sp>
        <p:nvSpPr>
          <p:cNvPr id="36" name="Rectangle 35"/>
          <p:cNvSpPr/>
          <p:nvPr/>
        </p:nvSpPr>
        <p:spPr>
          <a:xfrm>
            <a:off x="2167128" y="3474720"/>
            <a:ext cx="1454810"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676802" y="3474720"/>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+9</a:t>
            </a:r>
          </a:p>
        </p:txBody>
      </p:sp>
      <p:sp>
        <p:nvSpPr>
          <p:cNvPr id="38" name="Rectangle 37"/>
          <p:cNvSpPr/>
          <p:nvPr/>
        </p:nvSpPr>
        <p:spPr>
          <a:xfrm>
            <a:off x="2167128" y="3598164"/>
            <a:ext cx="3556202"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778194" y="3598164"/>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+22</a:t>
            </a:r>
          </a:p>
        </p:txBody>
      </p:sp>
      <p:sp>
        <p:nvSpPr>
          <p:cNvPr id="40" name="Rectangle 39"/>
          <p:cNvSpPr/>
          <p:nvPr/>
        </p:nvSpPr>
        <p:spPr>
          <a:xfrm>
            <a:off x="2167128" y="3721608"/>
            <a:ext cx="2747975"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969967" y="3721608"/>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+17</a:t>
            </a:r>
          </a:p>
        </p:txBody>
      </p:sp>
      <p:sp>
        <p:nvSpPr>
          <p:cNvPr id="42" name="TextBox 41"/>
          <p:cNvSpPr txBox="1"/>
          <p:nvPr/>
        </p:nvSpPr>
        <p:spPr>
          <a:xfrm>
            <a:off x="502920" y="4123944"/>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B08 Cookie Vanilla</a:t>
            </a:r>
          </a:p>
          <a:p>
            <a:pPr algn="r">
              <a:spcBef>
                <a:spcPts val="0"/>
              </a:spcBef>
              <a:spcAft>
                <a:spcPts val="0"/>
              </a:spcAft>
            </a:pPr>
            <a:r>
              <a:rPr sz="1000" b="0" i="0">
                <a:solidFill>
                  <a:srgbClr val="1E2D44"/>
                </a:solidFill>
                <a:latin typeface="Karla"/>
              </a:rPr>
              <a:t>Filling Right Lower…</a:t>
            </a:r>
          </a:p>
        </p:txBody>
      </p:sp>
      <p:sp>
        <p:nvSpPr>
          <p:cNvPr id="43" name="Rectangle 42"/>
          <p:cNvSpPr/>
          <p:nvPr/>
        </p:nvSpPr>
        <p:spPr>
          <a:xfrm>
            <a:off x="2167128" y="4123944"/>
            <a:ext cx="3394557"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616549" y="4123944"/>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+21</a:t>
            </a:r>
          </a:p>
        </p:txBody>
      </p:sp>
      <p:sp>
        <p:nvSpPr>
          <p:cNvPr id="45" name="Rectangle 44"/>
          <p:cNvSpPr/>
          <p:nvPr/>
        </p:nvSpPr>
        <p:spPr>
          <a:xfrm>
            <a:off x="2167128" y="4247388"/>
            <a:ext cx="2909620"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131612" y="4247388"/>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+18</a:t>
            </a:r>
          </a:p>
        </p:txBody>
      </p:sp>
      <p:sp>
        <p:nvSpPr>
          <p:cNvPr id="47" name="Rectangle 46"/>
          <p:cNvSpPr/>
          <p:nvPr/>
        </p:nvSpPr>
        <p:spPr>
          <a:xfrm>
            <a:off x="2167128" y="4370831"/>
            <a:ext cx="3071266"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293258" y="4370831"/>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+19</a:t>
            </a:r>
          </a:p>
        </p:txBody>
      </p:sp>
      <p:sp>
        <p:nvSpPr>
          <p:cNvPr id="49" name="Rectangle 48"/>
          <p:cNvSpPr/>
          <p:nvPr/>
        </p:nvSpPr>
        <p:spPr>
          <a:xfrm>
            <a:off x="2167128" y="4494276"/>
            <a:ext cx="3394557"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616549" y="4494276"/>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+21</a:t>
            </a:r>
          </a:p>
        </p:txBody>
      </p:sp>
      <p:sp>
        <p:nvSpPr>
          <p:cNvPr id="51" name="Rectangle 50"/>
          <p:cNvSpPr/>
          <p:nvPr/>
        </p:nvSpPr>
        <p:spPr>
          <a:xfrm>
            <a:off x="684783" y="5161788"/>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58519" y="5102352"/>
            <a:ext cx="376936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Heard of it, but know little about it (basesize = 22)</a:t>
            </a:r>
          </a:p>
        </p:txBody>
      </p:sp>
      <p:sp>
        <p:nvSpPr>
          <p:cNvPr id="53" name="Rectangle 52"/>
          <p:cNvSpPr/>
          <p:nvPr/>
        </p:nvSpPr>
        <p:spPr>
          <a:xfrm>
            <a:off x="4883911" y="5161788"/>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057647" y="5102352"/>
            <a:ext cx="248920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Not familiar at all (basesize = 25)</a:t>
            </a:r>
          </a:p>
        </p:txBody>
      </p:sp>
      <p:sp>
        <p:nvSpPr>
          <p:cNvPr id="55" name="Rectangle 54"/>
          <p:cNvSpPr/>
          <p:nvPr/>
        </p:nvSpPr>
        <p:spPr>
          <a:xfrm>
            <a:off x="2085339" y="5381244"/>
            <a:ext cx="100584" cy="10058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259075" y="5321808"/>
            <a:ext cx="234696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Somewhat familiar (basesize = 49)</a:t>
            </a:r>
          </a:p>
        </p:txBody>
      </p:sp>
      <p:sp>
        <p:nvSpPr>
          <p:cNvPr id="57" name="Rectangle 56"/>
          <p:cNvSpPr/>
          <p:nvPr/>
        </p:nvSpPr>
        <p:spPr>
          <a:xfrm>
            <a:off x="4862067" y="5381244"/>
            <a:ext cx="100584" cy="100584"/>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035803" y="5321808"/>
            <a:ext cx="206248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Very familiar (basesize = 54)</a:t>
            </a:r>
          </a:p>
        </p:txBody>
      </p:sp>
      <p:sp>
        <p:nvSpPr>
          <p:cNvPr id="59" name="Rounded Rectangle 58"/>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7935467" y="617280"/>
            <a:ext cx="1709927" cy="1325758"/>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1" name="Picture 60" descr="B3.png"/>
          <p:cNvPicPr>
            <a:picLocks noChangeAspect="1"/>
          </p:cNvPicPr>
          <p:nvPr/>
        </p:nvPicPr>
        <p:blipFill>
          <a:blip r:embed="rId2"/>
          <a:stretch>
            <a:fillRect/>
          </a:stretch>
        </p:blipFill>
        <p:spPr>
          <a:xfrm>
            <a:off x="7949183" y="630996"/>
            <a:ext cx="1682495" cy="1298326"/>
          </a:xfrm>
          <a:prstGeom prst="rect">
            <a:avLst/>
          </a:prstGeom>
        </p:spPr>
      </p:pic>
      <p:sp>
        <p:nvSpPr>
          <p:cNvPr id="62" name="TextBox 61"/>
          <p:cNvSpPr txBox="1"/>
          <p:nvPr/>
        </p:nvSpPr>
        <p:spPr>
          <a:xfrm>
            <a:off x="7912607" y="1984187"/>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B03 Cookie Banana</a:t>
            </a:r>
          </a:p>
          <a:p>
            <a:pPr algn="ctr">
              <a:spcBef>
                <a:spcPts val="0"/>
              </a:spcBef>
              <a:spcAft>
                <a:spcPts val="0"/>
              </a:spcAft>
            </a:pPr>
            <a:r>
              <a:rPr sz="1200" b="0" i="0">
                <a:solidFill>
                  <a:srgbClr val="1E2D44"/>
                </a:solidFill>
                <a:latin typeface="Karla"/>
              </a:rPr>
              <a:t>Filling Right Upper…</a:t>
            </a:r>
          </a:p>
        </p:txBody>
      </p:sp>
      <p:sp>
        <p:nvSpPr>
          <p:cNvPr id="63" name="TextBox 62"/>
          <p:cNvSpPr txBox="1"/>
          <p:nvPr/>
        </p:nvSpPr>
        <p:spPr>
          <a:xfrm>
            <a:off x="7912607" y="2349947"/>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+21*</a:t>
            </a:r>
          </a:p>
        </p:txBody>
      </p:sp>
      <p:sp>
        <p:nvSpPr>
          <p:cNvPr id="64" name="Rectangle 63"/>
          <p:cNvSpPr/>
          <p:nvPr/>
        </p:nvSpPr>
        <p:spPr>
          <a:xfrm>
            <a:off x="9855707" y="617280"/>
            <a:ext cx="1709927" cy="1325758"/>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5" name="Picture 64" descr="B6.png"/>
          <p:cNvPicPr>
            <a:picLocks noChangeAspect="1"/>
          </p:cNvPicPr>
          <p:nvPr/>
        </p:nvPicPr>
        <p:blipFill>
          <a:blip r:embed="rId3"/>
          <a:stretch>
            <a:fillRect/>
          </a:stretch>
        </p:blipFill>
        <p:spPr>
          <a:xfrm>
            <a:off x="9869423" y="630996"/>
            <a:ext cx="1682495" cy="1298326"/>
          </a:xfrm>
          <a:prstGeom prst="rect">
            <a:avLst/>
          </a:prstGeom>
        </p:spPr>
      </p:pic>
      <p:sp>
        <p:nvSpPr>
          <p:cNvPr id="66" name="TextBox 65"/>
          <p:cNvSpPr txBox="1"/>
          <p:nvPr/>
        </p:nvSpPr>
        <p:spPr>
          <a:xfrm>
            <a:off x="9832847" y="1984187"/>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B06 Cookie Orange</a:t>
            </a:r>
          </a:p>
          <a:p>
            <a:pPr algn="ctr">
              <a:spcBef>
                <a:spcPts val="0"/>
              </a:spcBef>
              <a:spcAft>
                <a:spcPts val="0"/>
              </a:spcAft>
            </a:pPr>
            <a:r>
              <a:rPr sz="1200" b="0" i="0">
                <a:solidFill>
                  <a:srgbClr val="1E2D44"/>
                </a:solidFill>
                <a:latin typeface="Karla"/>
              </a:rPr>
              <a:t>Filling Right Lower…</a:t>
            </a:r>
          </a:p>
        </p:txBody>
      </p:sp>
      <p:sp>
        <p:nvSpPr>
          <p:cNvPr id="67" name="TextBox 66"/>
          <p:cNvSpPr txBox="1"/>
          <p:nvPr/>
        </p:nvSpPr>
        <p:spPr>
          <a:xfrm>
            <a:off x="9832847" y="2349947"/>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+15*</a:t>
            </a:r>
          </a:p>
        </p:txBody>
      </p:sp>
      <p:sp>
        <p:nvSpPr>
          <p:cNvPr id="68" name="Rectangle 67"/>
          <p:cNvSpPr/>
          <p:nvPr/>
        </p:nvSpPr>
        <p:spPr>
          <a:xfrm>
            <a:off x="7935467" y="3177600"/>
            <a:ext cx="1709927" cy="1325758"/>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9" name="Picture 68" descr="B7.png"/>
          <p:cNvPicPr>
            <a:picLocks noChangeAspect="1"/>
          </p:cNvPicPr>
          <p:nvPr/>
        </p:nvPicPr>
        <p:blipFill>
          <a:blip r:embed="rId4"/>
          <a:stretch>
            <a:fillRect/>
          </a:stretch>
        </p:blipFill>
        <p:spPr>
          <a:xfrm>
            <a:off x="7949183" y="3191316"/>
            <a:ext cx="1682495" cy="1298326"/>
          </a:xfrm>
          <a:prstGeom prst="rect">
            <a:avLst/>
          </a:prstGeom>
        </p:spPr>
      </p:pic>
      <p:sp>
        <p:nvSpPr>
          <p:cNvPr id="70" name="TextBox 69"/>
          <p:cNvSpPr txBox="1"/>
          <p:nvPr/>
        </p:nvSpPr>
        <p:spPr>
          <a:xfrm>
            <a:off x="7912607" y="4544507"/>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B07 Cookie Banana</a:t>
            </a:r>
          </a:p>
          <a:p>
            <a:pPr algn="ctr">
              <a:spcBef>
                <a:spcPts val="0"/>
              </a:spcBef>
              <a:spcAft>
                <a:spcPts val="0"/>
              </a:spcAft>
            </a:pPr>
            <a:r>
              <a:rPr sz="1200" b="0" i="0">
                <a:solidFill>
                  <a:srgbClr val="1E2D44"/>
                </a:solidFill>
                <a:latin typeface="Karla"/>
              </a:rPr>
              <a:t>Filling Right Lower…</a:t>
            </a:r>
          </a:p>
        </p:txBody>
      </p:sp>
      <p:sp>
        <p:nvSpPr>
          <p:cNvPr id="71" name="TextBox 70"/>
          <p:cNvSpPr txBox="1"/>
          <p:nvPr/>
        </p:nvSpPr>
        <p:spPr>
          <a:xfrm>
            <a:off x="7912607" y="4910267"/>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+16*</a:t>
            </a:r>
          </a:p>
        </p:txBody>
      </p:sp>
      <p:sp>
        <p:nvSpPr>
          <p:cNvPr id="72" name="Rectangle 71"/>
          <p:cNvSpPr/>
          <p:nvPr/>
        </p:nvSpPr>
        <p:spPr>
          <a:xfrm>
            <a:off x="9855707" y="3177600"/>
            <a:ext cx="1709927" cy="1325758"/>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3" name="Picture 72" descr="B8.png"/>
          <p:cNvPicPr>
            <a:picLocks noChangeAspect="1"/>
          </p:cNvPicPr>
          <p:nvPr/>
        </p:nvPicPr>
        <p:blipFill>
          <a:blip r:embed="rId5"/>
          <a:stretch>
            <a:fillRect/>
          </a:stretch>
        </p:blipFill>
        <p:spPr>
          <a:xfrm>
            <a:off x="9869423" y="3191316"/>
            <a:ext cx="1682495" cy="1298326"/>
          </a:xfrm>
          <a:prstGeom prst="rect">
            <a:avLst/>
          </a:prstGeom>
        </p:spPr>
      </p:pic>
      <p:sp>
        <p:nvSpPr>
          <p:cNvPr id="74" name="TextBox 73"/>
          <p:cNvSpPr txBox="1"/>
          <p:nvPr/>
        </p:nvSpPr>
        <p:spPr>
          <a:xfrm>
            <a:off x="9832847" y="4544507"/>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B08 Cookie Vanilla</a:t>
            </a:r>
          </a:p>
          <a:p>
            <a:pPr algn="ctr">
              <a:spcBef>
                <a:spcPts val="0"/>
              </a:spcBef>
              <a:spcAft>
                <a:spcPts val="0"/>
              </a:spcAft>
            </a:pPr>
            <a:r>
              <a:rPr sz="1200" b="0" i="0">
                <a:solidFill>
                  <a:srgbClr val="1E2D44"/>
                </a:solidFill>
                <a:latin typeface="Karla"/>
              </a:rPr>
              <a:t>Filling Right Lower…</a:t>
            </a:r>
          </a:p>
        </p:txBody>
      </p:sp>
      <p:sp>
        <p:nvSpPr>
          <p:cNvPr id="75" name="TextBox 74"/>
          <p:cNvSpPr txBox="1"/>
          <p:nvPr/>
        </p:nvSpPr>
        <p:spPr>
          <a:xfrm>
            <a:off x="9832847" y="4910267"/>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+20*</a:t>
            </a:r>
          </a:p>
        </p:txBody>
      </p:sp>
      <p:sp>
        <p:nvSpPr>
          <p:cNvPr id="76" name="Rounded Rectangle 75"/>
          <p:cNvSpPr/>
          <p:nvPr/>
        </p:nvSpPr>
        <p:spPr>
          <a:xfrm>
            <a:off x="502920" y="5632704"/>
            <a:ext cx="11268455" cy="676656"/>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200" b="0">
                <a:solidFill>
                  <a:srgbClr val="1E2D44"/>
                </a:solidFill>
                <a:latin typeface="Karla"/>
              </a:rPr>
              <a:t>Every group ranks B01 Cookie Chocolate Filling Right Upper D2D3 first. The widest segment gap is B06 Cookie Orange Filling Right Lower D1: +15 heard of it, but know little about it / +8 not familiar at all / +15 somewhat familiar / +22 very familiar.</a:t>
            </a:r>
          </a:p>
        </p:txBody>
      </p:sp>
      <p:sp>
        <p:nvSpPr>
          <p:cNvPr id="77" name="Rectangle 76"/>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Top-2 scores rounded to whole points. *Average of the groups in the legend.</a:t>
            </a:r>
          </a:p>
        </p:txBody>
      </p:sp>
      <p:sp>
        <p:nvSpPr>
          <p:cNvPr id="79" name="TextBox 78"/>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37744"/>
            <a:ext cx="7043927" cy="182880"/>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KEY FINDINGS: B_COOKIE  ·  How often do you purchase Fitspo products?   ·   1 of 2</a:t>
            </a:r>
          </a:p>
        </p:txBody>
      </p:sp>
      <p:sp>
        <p:nvSpPr>
          <p:cNvPr id="3" name="TextBox 2"/>
          <p:cNvSpPr txBox="1"/>
          <p:nvPr/>
        </p:nvSpPr>
        <p:spPr>
          <a:xfrm>
            <a:off x="502920" y="438912"/>
            <a:ext cx="7043927" cy="365760"/>
          </a:xfrm>
          <a:prstGeom prst="rect">
            <a:avLst/>
          </a:prstGeom>
          <a:noFill/>
        </p:spPr>
        <p:txBody>
          <a:bodyPr wrap="square" anchor="t" lIns="0" rIns="0" tIns="0" bIns="0"/>
          <a:lstStyle/>
          <a:p>
            <a:pPr algn="l">
              <a:spcBef>
                <a:spcPts val="0"/>
              </a:spcBef>
              <a:spcAft>
                <a:spcPts val="0"/>
              </a:spcAft>
            </a:pPr>
            <a:r>
              <a:rPr sz="2600" b="1" i="0">
                <a:solidFill>
                  <a:srgbClr val="1E2D44"/>
                </a:solidFill>
                <a:latin typeface="Karla"/>
              </a:rPr>
              <a:t>B_Cookie splits across the groups</a:t>
            </a:r>
          </a:p>
        </p:txBody>
      </p:sp>
      <p:sp>
        <p:nvSpPr>
          <p:cNvPr id="4" name="TextBox 3"/>
          <p:cNvSpPr txBox="1"/>
          <p:nvPr/>
        </p:nvSpPr>
        <p:spPr>
          <a:xfrm>
            <a:off x="502920" y="822960"/>
            <a:ext cx="7043927" cy="475488"/>
          </a:xfrm>
          <a:prstGeom prst="rect">
            <a:avLst/>
          </a:prstGeom>
          <a:noFill/>
        </p:spPr>
        <p:txBody>
          <a:bodyPr wrap="square" anchor="t" lIns="0" rIns="0" tIns="0" bIns="0"/>
          <a:lstStyle/>
          <a:p>
            <a:pPr algn="l">
              <a:spcBef>
                <a:spcPts val="0"/>
              </a:spcBef>
              <a:spcAft>
                <a:spcPts val="0"/>
              </a:spcAft>
            </a:pPr>
            <a:r>
              <a:rPr sz="1200" b="0" i="0">
                <a:solidFill>
                  <a:srgbClr val="617086"/>
                </a:solidFill>
                <a:latin typeface="Karla"/>
              </a:rPr>
              <a:t>Have never purchased Fitspo products favor B04 Cookie Vanilla Filling Right Upper D2D3; Have purchased in the past, but not currently favors B01 Cookie Chocolate Filling Right Upper D2D3; Occasionally favors B01 Cookie Chocolate Filling Right Upper D2D3; Regularly favors B05 Cookie Chocolate Filling Right Lower D1.</a:t>
            </a:r>
          </a:p>
        </p:txBody>
      </p:sp>
      <p:sp>
        <p:nvSpPr>
          <p:cNvPr id="5" name="Rectangle 4"/>
          <p:cNvSpPr/>
          <p:nvPr/>
        </p:nvSpPr>
        <p:spPr>
          <a:xfrm>
            <a:off x="502920" y="1335024"/>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B_COOKIE</a:t>
            </a:r>
          </a:p>
        </p:txBody>
      </p:sp>
      <p:sp>
        <p:nvSpPr>
          <p:cNvPr id="6" name="TextBox 5"/>
          <p:cNvSpPr txBox="1"/>
          <p:nvPr/>
        </p:nvSpPr>
        <p:spPr>
          <a:xfrm>
            <a:off x="1874520"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7" name="Rectangle 6"/>
          <p:cNvSpPr/>
          <p:nvPr/>
        </p:nvSpPr>
        <p:spPr>
          <a:xfrm>
            <a:off x="3379469"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86861"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9" name="Rectangle 8"/>
          <p:cNvSpPr/>
          <p:nvPr/>
        </p:nvSpPr>
        <p:spPr>
          <a:xfrm>
            <a:off x="4591811"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9203"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1" name="Rectangle 10"/>
          <p:cNvSpPr/>
          <p:nvPr/>
        </p:nvSpPr>
        <p:spPr>
          <a:xfrm>
            <a:off x="5804153"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11545"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30</a:t>
            </a:r>
          </a:p>
        </p:txBody>
      </p:sp>
      <p:sp>
        <p:nvSpPr>
          <p:cNvPr id="13" name="Rectangle 12"/>
          <p:cNvSpPr/>
          <p:nvPr/>
        </p:nvSpPr>
        <p:spPr>
          <a:xfrm>
            <a:off x="7016495"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23887"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40</a:t>
            </a:r>
          </a:p>
        </p:txBody>
      </p:sp>
      <p:sp>
        <p:nvSpPr>
          <p:cNvPr id="15" name="Rectangle 14"/>
          <p:cNvSpPr/>
          <p:nvPr/>
        </p:nvSpPr>
        <p:spPr>
          <a:xfrm>
            <a:off x="2167128" y="1645920"/>
            <a:ext cx="10972" cy="2871215"/>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167128" y="4517136"/>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1778508"/>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B05 Cookie Chocolate</a:t>
            </a:r>
          </a:p>
          <a:p>
            <a:pPr algn="r">
              <a:spcBef>
                <a:spcPts val="0"/>
              </a:spcBef>
              <a:spcAft>
                <a:spcPts val="0"/>
              </a:spcAft>
            </a:pPr>
            <a:r>
              <a:rPr sz="1000" b="0" i="0">
                <a:solidFill>
                  <a:srgbClr val="1E2D44"/>
                </a:solidFill>
                <a:latin typeface="Karla"/>
              </a:rPr>
              <a:t>Filling Right Lower…</a:t>
            </a:r>
          </a:p>
        </p:txBody>
      </p:sp>
      <p:sp>
        <p:nvSpPr>
          <p:cNvPr id="18" name="Rectangle 17"/>
          <p:cNvSpPr/>
          <p:nvPr/>
        </p:nvSpPr>
        <p:spPr>
          <a:xfrm>
            <a:off x="2167128" y="1778508"/>
            <a:ext cx="2303449"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25441" y="1778508"/>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+19</a:t>
            </a:r>
          </a:p>
        </p:txBody>
      </p:sp>
      <p:sp>
        <p:nvSpPr>
          <p:cNvPr id="20" name="Rectangle 19"/>
          <p:cNvSpPr/>
          <p:nvPr/>
        </p:nvSpPr>
        <p:spPr>
          <a:xfrm>
            <a:off x="2167128" y="1901952"/>
            <a:ext cx="1697278"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19270" y="1901952"/>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+14</a:t>
            </a:r>
          </a:p>
        </p:txBody>
      </p:sp>
      <p:sp>
        <p:nvSpPr>
          <p:cNvPr id="22" name="Rectangle 21"/>
          <p:cNvSpPr/>
          <p:nvPr/>
        </p:nvSpPr>
        <p:spPr>
          <a:xfrm>
            <a:off x="2167128" y="2025395"/>
            <a:ext cx="2667152"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89144" y="2025395"/>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+22</a:t>
            </a:r>
          </a:p>
        </p:txBody>
      </p:sp>
      <p:sp>
        <p:nvSpPr>
          <p:cNvPr id="24" name="Rectangle 23"/>
          <p:cNvSpPr/>
          <p:nvPr/>
        </p:nvSpPr>
        <p:spPr>
          <a:xfrm>
            <a:off x="2167128" y="2148840"/>
            <a:ext cx="3758259"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80251" y="2148840"/>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+31</a:t>
            </a:r>
          </a:p>
        </p:txBody>
      </p:sp>
      <p:sp>
        <p:nvSpPr>
          <p:cNvPr id="26" name="TextBox 25"/>
          <p:cNvSpPr txBox="1"/>
          <p:nvPr/>
        </p:nvSpPr>
        <p:spPr>
          <a:xfrm>
            <a:off x="502920" y="2496312"/>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B01 Cookie Chocolate</a:t>
            </a:r>
          </a:p>
          <a:p>
            <a:pPr algn="r">
              <a:spcBef>
                <a:spcPts val="0"/>
              </a:spcBef>
              <a:spcAft>
                <a:spcPts val="0"/>
              </a:spcAft>
            </a:pPr>
            <a:r>
              <a:rPr sz="1000" b="0" i="0">
                <a:solidFill>
                  <a:srgbClr val="1E2D44"/>
                </a:solidFill>
                <a:latin typeface="Karla"/>
              </a:rPr>
              <a:t>Filling Right Upper…</a:t>
            </a:r>
          </a:p>
        </p:txBody>
      </p:sp>
      <p:sp>
        <p:nvSpPr>
          <p:cNvPr id="27" name="Rectangle 26"/>
          <p:cNvSpPr/>
          <p:nvPr/>
        </p:nvSpPr>
        <p:spPr>
          <a:xfrm>
            <a:off x="2167128" y="2496312"/>
            <a:ext cx="2788386"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10378" y="2496312"/>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+23</a:t>
            </a:r>
          </a:p>
        </p:txBody>
      </p:sp>
      <p:sp>
        <p:nvSpPr>
          <p:cNvPr id="29" name="Rectangle 28"/>
          <p:cNvSpPr/>
          <p:nvPr/>
        </p:nvSpPr>
        <p:spPr>
          <a:xfrm>
            <a:off x="2167128" y="2619756"/>
            <a:ext cx="2303449"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25441" y="2619756"/>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+19</a:t>
            </a:r>
          </a:p>
        </p:txBody>
      </p:sp>
      <p:sp>
        <p:nvSpPr>
          <p:cNvPr id="31" name="Rectangle 30"/>
          <p:cNvSpPr/>
          <p:nvPr/>
        </p:nvSpPr>
        <p:spPr>
          <a:xfrm>
            <a:off x="2167128" y="2743200"/>
            <a:ext cx="3515791"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737783" y="2743200"/>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+29</a:t>
            </a:r>
          </a:p>
        </p:txBody>
      </p:sp>
      <p:sp>
        <p:nvSpPr>
          <p:cNvPr id="33" name="Rectangle 32"/>
          <p:cNvSpPr/>
          <p:nvPr/>
        </p:nvSpPr>
        <p:spPr>
          <a:xfrm>
            <a:off x="2167128" y="2866644"/>
            <a:ext cx="3152089"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374081" y="2866644"/>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+26</a:t>
            </a:r>
          </a:p>
        </p:txBody>
      </p:sp>
      <p:sp>
        <p:nvSpPr>
          <p:cNvPr id="35" name="TextBox 34"/>
          <p:cNvSpPr txBox="1"/>
          <p:nvPr/>
        </p:nvSpPr>
        <p:spPr>
          <a:xfrm>
            <a:off x="502920" y="3214116"/>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B04 Cookie Vanilla</a:t>
            </a:r>
          </a:p>
          <a:p>
            <a:pPr algn="r">
              <a:spcBef>
                <a:spcPts val="0"/>
              </a:spcBef>
              <a:spcAft>
                <a:spcPts val="0"/>
              </a:spcAft>
            </a:pPr>
            <a:r>
              <a:rPr sz="1000" b="0" i="0">
                <a:solidFill>
                  <a:srgbClr val="1E2D44"/>
                </a:solidFill>
                <a:latin typeface="Karla"/>
              </a:rPr>
              <a:t>Filling Right Upper…</a:t>
            </a:r>
          </a:p>
        </p:txBody>
      </p:sp>
      <p:sp>
        <p:nvSpPr>
          <p:cNvPr id="36" name="Rectangle 35"/>
          <p:cNvSpPr/>
          <p:nvPr/>
        </p:nvSpPr>
        <p:spPr>
          <a:xfrm>
            <a:off x="2167128" y="3214116"/>
            <a:ext cx="3030854"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252846" y="3214116"/>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+25</a:t>
            </a:r>
          </a:p>
        </p:txBody>
      </p:sp>
      <p:sp>
        <p:nvSpPr>
          <p:cNvPr id="38" name="Rectangle 37"/>
          <p:cNvSpPr/>
          <p:nvPr/>
        </p:nvSpPr>
        <p:spPr>
          <a:xfrm>
            <a:off x="2167128" y="3337560"/>
            <a:ext cx="1212341"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434333" y="3337560"/>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+10</a:t>
            </a:r>
          </a:p>
        </p:txBody>
      </p:sp>
      <p:sp>
        <p:nvSpPr>
          <p:cNvPr id="40" name="Rectangle 39"/>
          <p:cNvSpPr/>
          <p:nvPr/>
        </p:nvSpPr>
        <p:spPr>
          <a:xfrm>
            <a:off x="2167128" y="3461004"/>
            <a:ext cx="2182215"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404207" y="3461004"/>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+18</a:t>
            </a:r>
          </a:p>
        </p:txBody>
      </p:sp>
      <p:sp>
        <p:nvSpPr>
          <p:cNvPr id="42" name="Rectangle 41"/>
          <p:cNvSpPr/>
          <p:nvPr/>
        </p:nvSpPr>
        <p:spPr>
          <a:xfrm>
            <a:off x="2167128" y="3584448"/>
            <a:ext cx="3394557"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616549" y="3584448"/>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+28</a:t>
            </a:r>
          </a:p>
        </p:txBody>
      </p:sp>
      <p:sp>
        <p:nvSpPr>
          <p:cNvPr id="44" name="TextBox 43"/>
          <p:cNvSpPr txBox="1"/>
          <p:nvPr/>
        </p:nvSpPr>
        <p:spPr>
          <a:xfrm>
            <a:off x="502920" y="3931919"/>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B02 Cookie Orange</a:t>
            </a:r>
          </a:p>
          <a:p>
            <a:pPr algn="r">
              <a:spcBef>
                <a:spcPts val="0"/>
              </a:spcBef>
              <a:spcAft>
                <a:spcPts val="0"/>
              </a:spcAft>
            </a:pPr>
            <a:r>
              <a:rPr sz="1000" b="0" i="0">
                <a:solidFill>
                  <a:srgbClr val="1E2D44"/>
                </a:solidFill>
                <a:latin typeface="Karla"/>
              </a:rPr>
              <a:t>Filling Right Upper…</a:t>
            </a:r>
          </a:p>
        </p:txBody>
      </p:sp>
      <p:sp>
        <p:nvSpPr>
          <p:cNvPr id="45" name="Rectangle 44"/>
          <p:cNvSpPr/>
          <p:nvPr/>
        </p:nvSpPr>
        <p:spPr>
          <a:xfrm>
            <a:off x="2167128" y="3931919"/>
            <a:ext cx="2909620"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131612" y="3931919"/>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+24</a:t>
            </a:r>
          </a:p>
        </p:txBody>
      </p:sp>
      <p:sp>
        <p:nvSpPr>
          <p:cNvPr id="47" name="Rectangle 46"/>
          <p:cNvSpPr/>
          <p:nvPr/>
        </p:nvSpPr>
        <p:spPr>
          <a:xfrm>
            <a:off x="2167128" y="4055363"/>
            <a:ext cx="969873"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191865" y="4055363"/>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+8</a:t>
            </a:r>
          </a:p>
        </p:txBody>
      </p:sp>
      <p:sp>
        <p:nvSpPr>
          <p:cNvPr id="49" name="Rectangle 48"/>
          <p:cNvSpPr/>
          <p:nvPr/>
        </p:nvSpPr>
        <p:spPr>
          <a:xfrm>
            <a:off x="2167128" y="4178807"/>
            <a:ext cx="2424683"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646675" y="4178807"/>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+20</a:t>
            </a:r>
          </a:p>
        </p:txBody>
      </p:sp>
      <p:sp>
        <p:nvSpPr>
          <p:cNvPr id="51" name="Rectangle 50"/>
          <p:cNvSpPr/>
          <p:nvPr/>
        </p:nvSpPr>
        <p:spPr>
          <a:xfrm>
            <a:off x="2167128" y="4302251"/>
            <a:ext cx="3273323"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495315" y="4302251"/>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+27</a:t>
            </a:r>
          </a:p>
        </p:txBody>
      </p:sp>
      <p:sp>
        <p:nvSpPr>
          <p:cNvPr id="53" name="Rectangle 52"/>
          <p:cNvSpPr/>
          <p:nvPr/>
        </p:nvSpPr>
        <p:spPr>
          <a:xfrm>
            <a:off x="2655823" y="4942332"/>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2829559" y="4882896"/>
            <a:ext cx="369824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Have never purchased Fitspo products (basesize = 37)</a:t>
            </a:r>
          </a:p>
        </p:txBody>
      </p:sp>
      <p:sp>
        <p:nvSpPr>
          <p:cNvPr id="55" name="Rectangle 54"/>
          <p:cNvSpPr/>
          <p:nvPr/>
        </p:nvSpPr>
        <p:spPr>
          <a:xfrm>
            <a:off x="613663" y="5161788"/>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87399" y="5102352"/>
            <a:ext cx="433832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Have purchased in the past, but not currently (basesize = 12)</a:t>
            </a:r>
          </a:p>
        </p:txBody>
      </p:sp>
      <p:sp>
        <p:nvSpPr>
          <p:cNvPr id="57" name="Rectangle 56"/>
          <p:cNvSpPr/>
          <p:nvPr/>
        </p:nvSpPr>
        <p:spPr>
          <a:xfrm>
            <a:off x="5381751" y="5161788"/>
            <a:ext cx="100584" cy="10058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555487" y="5102352"/>
            <a:ext cx="199136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Occasionally (basesize = 56)</a:t>
            </a:r>
          </a:p>
        </p:txBody>
      </p:sp>
      <p:sp>
        <p:nvSpPr>
          <p:cNvPr id="59" name="Rectangle 58"/>
          <p:cNvSpPr/>
          <p:nvPr/>
        </p:nvSpPr>
        <p:spPr>
          <a:xfrm>
            <a:off x="3615943" y="5381244"/>
            <a:ext cx="100584" cy="100584"/>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789679" y="5321808"/>
            <a:ext cx="177800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Regularly (basesize = 45)</a:t>
            </a:r>
          </a:p>
        </p:txBody>
      </p:sp>
      <p:sp>
        <p:nvSpPr>
          <p:cNvPr id="61" name="Rounded Rectangle 60"/>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7935467" y="617280"/>
            <a:ext cx="1709927" cy="1325758"/>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3" name="Picture 62" descr="B5.png"/>
          <p:cNvPicPr>
            <a:picLocks noChangeAspect="1"/>
          </p:cNvPicPr>
          <p:nvPr/>
        </p:nvPicPr>
        <p:blipFill>
          <a:blip r:embed="rId2"/>
          <a:stretch>
            <a:fillRect/>
          </a:stretch>
        </p:blipFill>
        <p:spPr>
          <a:xfrm>
            <a:off x="7949183" y="630996"/>
            <a:ext cx="1682495" cy="1298326"/>
          </a:xfrm>
          <a:prstGeom prst="rect">
            <a:avLst/>
          </a:prstGeom>
        </p:spPr>
      </p:pic>
      <p:sp>
        <p:nvSpPr>
          <p:cNvPr id="64" name="TextBox 63"/>
          <p:cNvSpPr txBox="1"/>
          <p:nvPr/>
        </p:nvSpPr>
        <p:spPr>
          <a:xfrm>
            <a:off x="7912607" y="1984187"/>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B05 Cookie</a:t>
            </a:r>
          </a:p>
          <a:p>
            <a:pPr algn="ctr">
              <a:spcBef>
                <a:spcPts val="0"/>
              </a:spcBef>
              <a:spcAft>
                <a:spcPts val="0"/>
              </a:spcAft>
            </a:pPr>
            <a:r>
              <a:rPr sz="1200" b="0" i="0">
                <a:solidFill>
                  <a:srgbClr val="1E2D44"/>
                </a:solidFill>
                <a:latin typeface="Karla"/>
              </a:rPr>
              <a:t>Chocolate Filling…</a:t>
            </a:r>
          </a:p>
        </p:txBody>
      </p:sp>
      <p:sp>
        <p:nvSpPr>
          <p:cNvPr id="65" name="TextBox 64"/>
          <p:cNvSpPr txBox="1"/>
          <p:nvPr/>
        </p:nvSpPr>
        <p:spPr>
          <a:xfrm>
            <a:off x="7912607" y="2349947"/>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+22*</a:t>
            </a:r>
          </a:p>
        </p:txBody>
      </p:sp>
      <p:sp>
        <p:nvSpPr>
          <p:cNvPr id="66" name="Rectangle 65"/>
          <p:cNvSpPr/>
          <p:nvPr/>
        </p:nvSpPr>
        <p:spPr>
          <a:xfrm>
            <a:off x="9855707" y="617280"/>
            <a:ext cx="1709927" cy="1325758"/>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7" name="Picture 66" descr="B1.png"/>
          <p:cNvPicPr>
            <a:picLocks noChangeAspect="1"/>
          </p:cNvPicPr>
          <p:nvPr/>
        </p:nvPicPr>
        <p:blipFill>
          <a:blip r:embed="rId3"/>
          <a:stretch>
            <a:fillRect/>
          </a:stretch>
        </p:blipFill>
        <p:spPr>
          <a:xfrm>
            <a:off x="9869423" y="630996"/>
            <a:ext cx="1682495" cy="1298326"/>
          </a:xfrm>
          <a:prstGeom prst="rect">
            <a:avLst/>
          </a:prstGeom>
        </p:spPr>
      </p:pic>
      <p:sp>
        <p:nvSpPr>
          <p:cNvPr id="68" name="TextBox 67"/>
          <p:cNvSpPr txBox="1"/>
          <p:nvPr/>
        </p:nvSpPr>
        <p:spPr>
          <a:xfrm>
            <a:off x="9832847" y="1984187"/>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B01 Cookie</a:t>
            </a:r>
          </a:p>
          <a:p>
            <a:pPr algn="ctr">
              <a:spcBef>
                <a:spcPts val="0"/>
              </a:spcBef>
              <a:spcAft>
                <a:spcPts val="0"/>
              </a:spcAft>
            </a:pPr>
            <a:r>
              <a:rPr sz="1200" b="0" i="0">
                <a:solidFill>
                  <a:srgbClr val="1E2D44"/>
                </a:solidFill>
                <a:latin typeface="Karla"/>
              </a:rPr>
              <a:t>Chocolate Filling…</a:t>
            </a:r>
          </a:p>
        </p:txBody>
      </p:sp>
      <p:sp>
        <p:nvSpPr>
          <p:cNvPr id="69" name="TextBox 68"/>
          <p:cNvSpPr txBox="1"/>
          <p:nvPr/>
        </p:nvSpPr>
        <p:spPr>
          <a:xfrm>
            <a:off x="9832847" y="2349947"/>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+24*</a:t>
            </a:r>
          </a:p>
        </p:txBody>
      </p:sp>
      <p:sp>
        <p:nvSpPr>
          <p:cNvPr id="70" name="Rectangle 69"/>
          <p:cNvSpPr/>
          <p:nvPr/>
        </p:nvSpPr>
        <p:spPr>
          <a:xfrm>
            <a:off x="7935467" y="3177600"/>
            <a:ext cx="1709927" cy="1325758"/>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1" name="Picture 70" descr="B4.png"/>
          <p:cNvPicPr>
            <a:picLocks noChangeAspect="1"/>
          </p:cNvPicPr>
          <p:nvPr/>
        </p:nvPicPr>
        <p:blipFill>
          <a:blip r:embed="rId4"/>
          <a:stretch>
            <a:fillRect/>
          </a:stretch>
        </p:blipFill>
        <p:spPr>
          <a:xfrm>
            <a:off x="7949183" y="3191316"/>
            <a:ext cx="1682495" cy="1298326"/>
          </a:xfrm>
          <a:prstGeom prst="rect">
            <a:avLst/>
          </a:prstGeom>
        </p:spPr>
      </p:pic>
      <p:sp>
        <p:nvSpPr>
          <p:cNvPr id="72" name="TextBox 71"/>
          <p:cNvSpPr txBox="1"/>
          <p:nvPr/>
        </p:nvSpPr>
        <p:spPr>
          <a:xfrm>
            <a:off x="7912607" y="4544507"/>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B04 Cookie Vanilla</a:t>
            </a:r>
          </a:p>
          <a:p>
            <a:pPr algn="ctr">
              <a:spcBef>
                <a:spcPts val="0"/>
              </a:spcBef>
              <a:spcAft>
                <a:spcPts val="0"/>
              </a:spcAft>
            </a:pPr>
            <a:r>
              <a:rPr sz="1200" b="0" i="0">
                <a:solidFill>
                  <a:srgbClr val="1E2D44"/>
                </a:solidFill>
                <a:latin typeface="Karla"/>
              </a:rPr>
              <a:t>Filling Right Upper…</a:t>
            </a:r>
          </a:p>
        </p:txBody>
      </p:sp>
      <p:sp>
        <p:nvSpPr>
          <p:cNvPr id="73" name="TextBox 72"/>
          <p:cNvSpPr txBox="1"/>
          <p:nvPr/>
        </p:nvSpPr>
        <p:spPr>
          <a:xfrm>
            <a:off x="7912607" y="4910267"/>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+20*</a:t>
            </a:r>
          </a:p>
        </p:txBody>
      </p:sp>
      <p:sp>
        <p:nvSpPr>
          <p:cNvPr id="74" name="Rectangle 73"/>
          <p:cNvSpPr/>
          <p:nvPr/>
        </p:nvSpPr>
        <p:spPr>
          <a:xfrm>
            <a:off x="9855707" y="3177600"/>
            <a:ext cx="1709927" cy="1325758"/>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5" name="Picture 74" descr="B2.png"/>
          <p:cNvPicPr>
            <a:picLocks noChangeAspect="1"/>
          </p:cNvPicPr>
          <p:nvPr/>
        </p:nvPicPr>
        <p:blipFill>
          <a:blip r:embed="rId5"/>
          <a:stretch>
            <a:fillRect/>
          </a:stretch>
        </p:blipFill>
        <p:spPr>
          <a:xfrm>
            <a:off x="9869423" y="3191316"/>
            <a:ext cx="1682495" cy="1298326"/>
          </a:xfrm>
          <a:prstGeom prst="rect">
            <a:avLst/>
          </a:prstGeom>
        </p:spPr>
      </p:pic>
      <p:sp>
        <p:nvSpPr>
          <p:cNvPr id="76" name="TextBox 75"/>
          <p:cNvSpPr txBox="1"/>
          <p:nvPr/>
        </p:nvSpPr>
        <p:spPr>
          <a:xfrm>
            <a:off x="9832847" y="4544507"/>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B02 Cookie Orange</a:t>
            </a:r>
          </a:p>
          <a:p>
            <a:pPr algn="ctr">
              <a:spcBef>
                <a:spcPts val="0"/>
              </a:spcBef>
              <a:spcAft>
                <a:spcPts val="0"/>
              </a:spcAft>
            </a:pPr>
            <a:r>
              <a:rPr sz="1200" b="0" i="0">
                <a:solidFill>
                  <a:srgbClr val="1E2D44"/>
                </a:solidFill>
                <a:latin typeface="Karla"/>
              </a:rPr>
              <a:t>Filling Right Upper…</a:t>
            </a:r>
          </a:p>
        </p:txBody>
      </p:sp>
      <p:sp>
        <p:nvSpPr>
          <p:cNvPr id="77" name="TextBox 76"/>
          <p:cNvSpPr txBox="1"/>
          <p:nvPr/>
        </p:nvSpPr>
        <p:spPr>
          <a:xfrm>
            <a:off x="9832847" y="4910267"/>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+20*</a:t>
            </a:r>
          </a:p>
        </p:txBody>
      </p:sp>
      <p:sp>
        <p:nvSpPr>
          <p:cNvPr id="78" name="Rounded Rectangle 77"/>
          <p:cNvSpPr/>
          <p:nvPr/>
        </p:nvSpPr>
        <p:spPr>
          <a:xfrm>
            <a:off x="502920" y="5632704"/>
            <a:ext cx="11268455" cy="676656"/>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200" b="0">
                <a:solidFill>
                  <a:srgbClr val="1E2D44"/>
                </a:solidFill>
                <a:latin typeface="Karla"/>
              </a:rPr>
              <a:t>Have never purchased Fitspo products favor B04 Cookie Vanilla Filling Right Upper D2D3; Have purchased in the past, but not currently favors B01 Cookie Chocolate Filling Right Upper D2D3; Occasionally favors B01 Cookie Chocolate Filling Right Upper D2D3; Regularly favors B05 Cookie Chocolate Filling Right Lower D1. The widest segment gap is B02 Cookie Orange Filling Right Upper D2D3: +24 have never purchased fitspo products / +8 have purchased in the past, but not currently / +20 occasionally / +27 regularly.</a:t>
            </a:r>
          </a:p>
        </p:txBody>
      </p:sp>
      <p:sp>
        <p:nvSpPr>
          <p:cNvPr id="79" name="Rectangle 78"/>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Top-2 scores rounded to whole points. *Average of the groups in the legend.</a:t>
            </a:r>
          </a:p>
        </p:txBody>
      </p:sp>
      <p:sp>
        <p:nvSpPr>
          <p:cNvPr id="81" name="TextBox 80"/>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37744"/>
            <a:ext cx="7043927" cy="182880"/>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KEY FINDINGS: B_COOKIE  ·  How often do you purchase Fitspo products?   ·   2 of 2</a:t>
            </a:r>
          </a:p>
        </p:txBody>
      </p:sp>
      <p:sp>
        <p:nvSpPr>
          <p:cNvPr id="3" name="TextBox 2"/>
          <p:cNvSpPr txBox="1"/>
          <p:nvPr/>
        </p:nvSpPr>
        <p:spPr>
          <a:xfrm>
            <a:off x="502920" y="438912"/>
            <a:ext cx="7043927" cy="365760"/>
          </a:xfrm>
          <a:prstGeom prst="rect">
            <a:avLst/>
          </a:prstGeom>
          <a:noFill/>
        </p:spPr>
        <p:txBody>
          <a:bodyPr wrap="square" anchor="t" lIns="0" rIns="0" tIns="0" bIns="0"/>
          <a:lstStyle/>
          <a:p>
            <a:pPr algn="l">
              <a:spcBef>
                <a:spcPts val="0"/>
              </a:spcBef>
              <a:spcAft>
                <a:spcPts val="0"/>
              </a:spcAft>
            </a:pPr>
            <a:r>
              <a:rPr sz="2600" b="1" i="0">
                <a:solidFill>
                  <a:srgbClr val="1E2D44"/>
                </a:solidFill>
                <a:latin typeface="Karla"/>
              </a:rPr>
              <a:t>B_Cookie splits across the groups</a:t>
            </a:r>
          </a:p>
        </p:txBody>
      </p:sp>
      <p:sp>
        <p:nvSpPr>
          <p:cNvPr id="4" name="TextBox 3"/>
          <p:cNvSpPr txBox="1"/>
          <p:nvPr/>
        </p:nvSpPr>
        <p:spPr>
          <a:xfrm>
            <a:off x="502920" y="822960"/>
            <a:ext cx="7043927" cy="475488"/>
          </a:xfrm>
          <a:prstGeom prst="rect">
            <a:avLst/>
          </a:prstGeom>
          <a:noFill/>
        </p:spPr>
        <p:txBody>
          <a:bodyPr wrap="square" anchor="t" lIns="0" rIns="0" tIns="0" bIns="0"/>
          <a:lstStyle/>
          <a:p>
            <a:pPr algn="l">
              <a:spcBef>
                <a:spcPts val="0"/>
              </a:spcBef>
              <a:spcAft>
                <a:spcPts val="0"/>
              </a:spcAft>
            </a:pPr>
            <a:r>
              <a:rPr sz="1200" b="0" i="0">
                <a:solidFill>
                  <a:srgbClr val="617086"/>
                </a:solidFill>
                <a:latin typeface="Karla"/>
              </a:rPr>
              <a:t>Have never purchased Fitspo products favor B04 Cookie Vanilla Filling Right Upper D2D3; Have purchased in the past, but not currently favors B01 Cookie Chocolate Filling Right Upper D2D3; Occasionally favors B01 Cookie Chocolate Filling Right Upper D2D3; Regularly favors B05 Cookie Chocolate Filling Right Lower D1.</a:t>
            </a:r>
          </a:p>
        </p:txBody>
      </p:sp>
      <p:sp>
        <p:nvSpPr>
          <p:cNvPr id="5" name="Rectangle 4"/>
          <p:cNvSpPr/>
          <p:nvPr/>
        </p:nvSpPr>
        <p:spPr>
          <a:xfrm>
            <a:off x="502920" y="1335024"/>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B_COOKIE</a:t>
            </a:r>
          </a:p>
        </p:txBody>
      </p:sp>
      <p:sp>
        <p:nvSpPr>
          <p:cNvPr id="6" name="TextBox 5"/>
          <p:cNvSpPr txBox="1"/>
          <p:nvPr/>
        </p:nvSpPr>
        <p:spPr>
          <a:xfrm>
            <a:off x="1874520"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7" name="Rectangle 6"/>
          <p:cNvSpPr/>
          <p:nvPr/>
        </p:nvSpPr>
        <p:spPr>
          <a:xfrm>
            <a:off x="3379469"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86861"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9" name="Rectangle 8"/>
          <p:cNvSpPr/>
          <p:nvPr/>
        </p:nvSpPr>
        <p:spPr>
          <a:xfrm>
            <a:off x="4591811"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9203"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1" name="Rectangle 10"/>
          <p:cNvSpPr/>
          <p:nvPr/>
        </p:nvSpPr>
        <p:spPr>
          <a:xfrm>
            <a:off x="5804153"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11545"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30</a:t>
            </a:r>
          </a:p>
        </p:txBody>
      </p:sp>
      <p:sp>
        <p:nvSpPr>
          <p:cNvPr id="13" name="Rectangle 12"/>
          <p:cNvSpPr/>
          <p:nvPr/>
        </p:nvSpPr>
        <p:spPr>
          <a:xfrm>
            <a:off x="7016495"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23887"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40</a:t>
            </a:r>
          </a:p>
        </p:txBody>
      </p:sp>
      <p:sp>
        <p:nvSpPr>
          <p:cNvPr id="15" name="Rectangle 14"/>
          <p:cNvSpPr/>
          <p:nvPr/>
        </p:nvSpPr>
        <p:spPr>
          <a:xfrm>
            <a:off x="2167128" y="1645920"/>
            <a:ext cx="10972" cy="2871215"/>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167128" y="4517136"/>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1778508"/>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B03 Cookie Banana</a:t>
            </a:r>
          </a:p>
          <a:p>
            <a:pPr algn="r">
              <a:spcBef>
                <a:spcPts val="0"/>
              </a:spcBef>
              <a:spcAft>
                <a:spcPts val="0"/>
              </a:spcAft>
            </a:pPr>
            <a:r>
              <a:rPr sz="1000" b="0" i="0">
                <a:solidFill>
                  <a:srgbClr val="1E2D44"/>
                </a:solidFill>
                <a:latin typeface="Karla"/>
              </a:rPr>
              <a:t>Filling Right Upper…</a:t>
            </a:r>
          </a:p>
        </p:txBody>
      </p:sp>
      <p:sp>
        <p:nvSpPr>
          <p:cNvPr id="18" name="Rectangle 17"/>
          <p:cNvSpPr/>
          <p:nvPr/>
        </p:nvSpPr>
        <p:spPr>
          <a:xfrm>
            <a:off x="2167128" y="1778508"/>
            <a:ext cx="2909620"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31612" y="1778508"/>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+24</a:t>
            </a:r>
          </a:p>
        </p:txBody>
      </p:sp>
      <p:sp>
        <p:nvSpPr>
          <p:cNvPr id="20" name="Rectangle 19"/>
          <p:cNvSpPr/>
          <p:nvPr/>
        </p:nvSpPr>
        <p:spPr>
          <a:xfrm>
            <a:off x="2167128" y="1901952"/>
            <a:ext cx="1818512"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040504" y="1901952"/>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+15</a:t>
            </a:r>
          </a:p>
        </p:txBody>
      </p:sp>
      <p:sp>
        <p:nvSpPr>
          <p:cNvPr id="22" name="Rectangle 21"/>
          <p:cNvSpPr/>
          <p:nvPr/>
        </p:nvSpPr>
        <p:spPr>
          <a:xfrm>
            <a:off x="2167128" y="2025395"/>
            <a:ext cx="1939747"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61739" y="2025395"/>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+16</a:t>
            </a:r>
          </a:p>
        </p:txBody>
      </p:sp>
      <p:sp>
        <p:nvSpPr>
          <p:cNvPr id="24" name="Rectangle 23"/>
          <p:cNvSpPr/>
          <p:nvPr/>
        </p:nvSpPr>
        <p:spPr>
          <a:xfrm>
            <a:off x="2167128" y="2148840"/>
            <a:ext cx="3273323"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95315" y="2148840"/>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+27</a:t>
            </a:r>
          </a:p>
        </p:txBody>
      </p:sp>
      <p:sp>
        <p:nvSpPr>
          <p:cNvPr id="26" name="TextBox 25"/>
          <p:cNvSpPr txBox="1"/>
          <p:nvPr/>
        </p:nvSpPr>
        <p:spPr>
          <a:xfrm>
            <a:off x="502920" y="2496312"/>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B06 Cookie Orange</a:t>
            </a:r>
          </a:p>
          <a:p>
            <a:pPr algn="r">
              <a:spcBef>
                <a:spcPts val="0"/>
              </a:spcBef>
              <a:spcAft>
                <a:spcPts val="0"/>
              </a:spcAft>
            </a:pPr>
            <a:r>
              <a:rPr sz="1000" b="0" i="0">
                <a:solidFill>
                  <a:srgbClr val="1E2D44"/>
                </a:solidFill>
                <a:latin typeface="Karla"/>
              </a:rPr>
              <a:t>Filling Right Lower…</a:t>
            </a:r>
          </a:p>
        </p:txBody>
      </p:sp>
      <p:sp>
        <p:nvSpPr>
          <p:cNvPr id="27" name="Rectangle 26"/>
          <p:cNvSpPr/>
          <p:nvPr/>
        </p:nvSpPr>
        <p:spPr>
          <a:xfrm>
            <a:off x="2167128" y="2496312"/>
            <a:ext cx="1576044"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798036" y="2496312"/>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+13</a:t>
            </a:r>
          </a:p>
        </p:txBody>
      </p:sp>
      <p:sp>
        <p:nvSpPr>
          <p:cNvPr id="29" name="Rectangle 28"/>
          <p:cNvSpPr/>
          <p:nvPr/>
        </p:nvSpPr>
        <p:spPr>
          <a:xfrm>
            <a:off x="2167128" y="2619756"/>
            <a:ext cx="1333576"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555568" y="2619756"/>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+11</a:t>
            </a:r>
          </a:p>
        </p:txBody>
      </p:sp>
      <p:sp>
        <p:nvSpPr>
          <p:cNvPr id="31" name="Rectangle 30"/>
          <p:cNvSpPr/>
          <p:nvPr/>
        </p:nvSpPr>
        <p:spPr>
          <a:xfrm>
            <a:off x="2167128" y="2743200"/>
            <a:ext cx="1454810"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76802" y="2743200"/>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+12</a:t>
            </a:r>
          </a:p>
        </p:txBody>
      </p:sp>
      <p:sp>
        <p:nvSpPr>
          <p:cNvPr id="33" name="Rectangle 32"/>
          <p:cNvSpPr/>
          <p:nvPr/>
        </p:nvSpPr>
        <p:spPr>
          <a:xfrm>
            <a:off x="2167128" y="2866644"/>
            <a:ext cx="3030854"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252846" y="2866644"/>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+25</a:t>
            </a:r>
          </a:p>
        </p:txBody>
      </p:sp>
      <p:sp>
        <p:nvSpPr>
          <p:cNvPr id="35" name="TextBox 34"/>
          <p:cNvSpPr txBox="1"/>
          <p:nvPr/>
        </p:nvSpPr>
        <p:spPr>
          <a:xfrm>
            <a:off x="502920" y="3214116"/>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B07 Cookie Banana</a:t>
            </a:r>
          </a:p>
          <a:p>
            <a:pPr algn="r">
              <a:spcBef>
                <a:spcPts val="0"/>
              </a:spcBef>
              <a:spcAft>
                <a:spcPts val="0"/>
              </a:spcAft>
            </a:pPr>
            <a:r>
              <a:rPr sz="1000" b="0" i="0">
                <a:solidFill>
                  <a:srgbClr val="1E2D44"/>
                </a:solidFill>
                <a:latin typeface="Karla"/>
              </a:rPr>
              <a:t>Filling Right Lower…</a:t>
            </a:r>
          </a:p>
        </p:txBody>
      </p:sp>
      <p:sp>
        <p:nvSpPr>
          <p:cNvPr id="36" name="Rectangle 35"/>
          <p:cNvSpPr/>
          <p:nvPr/>
        </p:nvSpPr>
        <p:spPr>
          <a:xfrm>
            <a:off x="2167128" y="3214116"/>
            <a:ext cx="1576044"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798036" y="3214116"/>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+13</a:t>
            </a:r>
          </a:p>
        </p:txBody>
      </p:sp>
      <p:sp>
        <p:nvSpPr>
          <p:cNvPr id="38" name="Rectangle 37"/>
          <p:cNvSpPr/>
          <p:nvPr/>
        </p:nvSpPr>
        <p:spPr>
          <a:xfrm>
            <a:off x="2167128" y="3337560"/>
            <a:ext cx="2060981"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282973" y="3337560"/>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+17</a:t>
            </a:r>
          </a:p>
        </p:txBody>
      </p:sp>
      <p:sp>
        <p:nvSpPr>
          <p:cNvPr id="40" name="Rectangle 39"/>
          <p:cNvSpPr/>
          <p:nvPr/>
        </p:nvSpPr>
        <p:spPr>
          <a:xfrm>
            <a:off x="2167128" y="3461004"/>
            <a:ext cx="1576044"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798036" y="3461004"/>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+13</a:t>
            </a:r>
          </a:p>
        </p:txBody>
      </p:sp>
      <p:sp>
        <p:nvSpPr>
          <p:cNvPr id="42" name="Rectangle 41"/>
          <p:cNvSpPr/>
          <p:nvPr/>
        </p:nvSpPr>
        <p:spPr>
          <a:xfrm>
            <a:off x="2167128" y="3584448"/>
            <a:ext cx="3030854"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252846" y="3584448"/>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+25</a:t>
            </a:r>
          </a:p>
        </p:txBody>
      </p:sp>
      <p:sp>
        <p:nvSpPr>
          <p:cNvPr id="44" name="TextBox 43"/>
          <p:cNvSpPr txBox="1"/>
          <p:nvPr/>
        </p:nvSpPr>
        <p:spPr>
          <a:xfrm>
            <a:off x="502920" y="3931919"/>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B08 Cookie Vanilla</a:t>
            </a:r>
          </a:p>
          <a:p>
            <a:pPr algn="r">
              <a:spcBef>
                <a:spcPts val="0"/>
              </a:spcBef>
              <a:spcAft>
                <a:spcPts val="0"/>
              </a:spcAft>
            </a:pPr>
            <a:r>
              <a:rPr sz="1000" b="0" i="0">
                <a:solidFill>
                  <a:srgbClr val="1E2D44"/>
                </a:solidFill>
                <a:latin typeface="Karla"/>
              </a:rPr>
              <a:t>Filling Right Lower…</a:t>
            </a:r>
          </a:p>
        </p:txBody>
      </p:sp>
      <p:sp>
        <p:nvSpPr>
          <p:cNvPr id="45" name="Rectangle 44"/>
          <p:cNvSpPr/>
          <p:nvPr/>
        </p:nvSpPr>
        <p:spPr>
          <a:xfrm>
            <a:off x="2167128" y="3931919"/>
            <a:ext cx="2667152"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889144" y="3931919"/>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+22</a:t>
            </a:r>
          </a:p>
        </p:txBody>
      </p:sp>
      <p:sp>
        <p:nvSpPr>
          <p:cNvPr id="47" name="Rectangle 46"/>
          <p:cNvSpPr/>
          <p:nvPr/>
        </p:nvSpPr>
        <p:spPr>
          <a:xfrm>
            <a:off x="2167128" y="4055363"/>
            <a:ext cx="1697278"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919270" y="4055363"/>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+14</a:t>
            </a:r>
          </a:p>
        </p:txBody>
      </p:sp>
      <p:sp>
        <p:nvSpPr>
          <p:cNvPr id="49" name="Rectangle 48"/>
          <p:cNvSpPr/>
          <p:nvPr/>
        </p:nvSpPr>
        <p:spPr>
          <a:xfrm>
            <a:off x="2167128" y="4178807"/>
            <a:ext cx="1939747"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161739" y="4178807"/>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+16</a:t>
            </a:r>
          </a:p>
        </p:txBody>
      </p:sp>
      <p:sp>
        <p:nvSpPr>
          <p:cNvPr id="51" name="Rectangle 50"/>
          <p:cNvSpPr/>
          <p:nvPr/>
        </p:nvSpPr>
        <p:spPr>
          <a:xfrm>
            <a:off x="2167128" y="4302251"/>
            <a:ext cx="3030854"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252846" y="4302251"/>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+25</a:t>
            </a:r>
          </a:p>
        </p:txBody>
      </p:sp>
      <p:sp>
        <p:nvSpPr>
          <p:cNvPr id="53" name="Rectangle 52"/>
          <p:cNvSpPr/>
          <p:nvPr/>
        </p:nvSpPr>
        <p:spPr>
          <a:xfrm>
            <a:off x="2655823" y="4942332"/>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2829559" y="4882896"/>
            <a:ext cx="369824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Have never purchased Fitspo products (basesize = 37)</a:t>
            </a:r>
          </a:p>
        </p:txBody>
      </p:sp>
      <p:sp>
        <p:nvSpPr>
          <p:cNvPr id="55" name="Rectangle 54"/>
          <p:cNvSpPr/>
          <p:nvPr/>
        </p:nvSpPr>
        <p:spPr>
          <a:xfrm>
            <a:off x="613663" y="5161788"/>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87399" y="5102352"/>
            <a:ext cx="433832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Have purchased in the past, but not currently (basesize = 12)</a:t>
            </a:r>
          </a:p>
        </p:txBody>
      </p:sp>
      <p:sp>
        <p:nvSpPr>
          <p:cNvPr id="57" name="Rectangle 56"/>
          <p:cNvSpPr/>
          <p:nvPr/>
        </p:nvSpPr>
        <p:spPr>
          <a:xfrm>
            <a:off x="5381751" y="5161788"/>
            <a:ext cx="100584" cy="10058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555487" y="5102352"/>
            <a:ext cx="199136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Occasionally (basesize = 56)</a:t>
            </a:r>
          </a:p>
        </p:txBody>
      </p:sp>
      <p:sp>
        <p:nvSpPr>
          <p:cNvPr id="59" name="Rectangle 58"/>
          <p:cNvSpPr/>
          <p:nvPr/>
        </p:nvSpPr>
        <p:spPr>
          <a:xfrm>
            <a:off x="3615943" y="5381244"/>
            <a:ext cx="100584" cy="100584"/>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789679" y="5321808"/>
            <a:ext cx="177800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Regularly (basesize = 45)</a:t>
            </a:r>
          </a:p>
        </p:txBody>
      </p:sp>
      <p:sp>
        <p:nvSpPr>
          <p:cNvPr id="61" name="Rounded Rectangle 60"/>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7935467" y="617280"/>
            <a:ext cx="1709927" cy="1325758"/>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3" name="Picture 62" descr="B3.png"/>
          <p:cNvPicPr>
            <a:picLocks noChangeAspect="1"/>
          </p:cNvPicPr>
          <p:nvPr/>
        </p:nvPicPr>
        <p:blipFill>
          <a:blip r:embed="rId2"/>
          <a:stretch>
            <a:fillRect/>
          </a:stretch>
        </p:blipFill>
        <p:spPr>
          <a:xfrm>
            <a:off x="7949183" y="630996"/>
            <a:ext cx="1682495" cy="1298326"/>
          </a:xfrm>
          <a:prstGeom prst="rect">
            <a:avLst/>
          </a:prstGeom>
        </p:spPr>
      </p:pic>
      <p:sp>
        <p:nvSpPr>
          <p:cNvPr id="64" name="TextBox 63"/>
          <p:cNvSpPr txBox="1"/>
          <p:nvPr/>
        </p:nvSpPr>
        <p:spPr>
          <a:xfrm>
            <a:off x="7912607" y="1984187"/>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B03 Cookie Banana</a:t>
            </a:r>
          </a:p>
          <a:p>
            <a:pPr algn="ctr">
              <a:spcBef>
                <a:spcPts val="0"/>
              </a:spcBef>
              <a:spcAft>
                <a:spcPts val="0"/>
              </a:spcAft>
            </a:pPr>
            <a:r>
              <a:rPr sz="1200" b="0" i="0">
                <a:solidFill>
                  <a:srgbClr val="1E2D44"/>
                </a:solidFill>
                <a:latin typeface="Karla"/>
              </a:rPr>
              <a:t>Filling Right Upper…</a:t>
            </a:r>
          </a:p>
        </p:txBody>
      </p:sp>
      <p:sp>
        <p:nvSpPr>
          <p:cNvPr id="65" name="TextBox 64"/>
          <p:cNvSpPr txBox="1"/>
          <p:nvPr/>
        </p:nvSpPr>
        <p:spPr>
          <a:xfrm>
            <a:off x="7912607" y="2349947"/>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+20*</a:t>
            </a:r>
          </a:p>
        </p:txBody>
      </p:sp>
      <p:sp>
        <p:nvSpPr>
          <p:cNvPr id="66" name="Rectangle 65"/>
          <p:cNvSpPr/>
          <p:nvPr/>
        </p:nvSpPr>
        <p:spPr>
          <a:xfrm>
            <a:off x="9855707" y="617280"/>
            <a:ext cx="1709927" cy="1325758"/>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7" name="Picture 66" descr="B6.png"/>
          <p:cNvPicPr>
            <a:picLocks noChangeAspect="1"/>
          </p:cNvPicPr>
          <p:nvPr/>
        </p:nvPicPr>
        <p:blipFill>
          <a:blip r:embed="rId3"/>
          <a:stretch>
            <a:fillRect/>
          </a:stretch>
        </p:blipFill>
        <p:spPr>
          <a:xfrm>
            <a:off x="9869423" y="630996"/>
            <a:ext cx="1682495" cy="1298326"/>
          </a:xfrm>
          <a:prstGeom prst="rect">
            <a:avLst/>
          </a:prstGeom>
        </p:spPr>
      </p:pic>
      <p:sp>
        <p:nvSpPr>
          <p:cNvPr id="68" name="TextBox 67"/>
          <p:cNvSpPr txBox="1"/>
          <p:nvPr/>
        </p:nvSpPr>
        <p:spPr>
          <a:xfrm>
            <a:off x="9832847" y="1984187"/>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B06 Cookie Orange</a:t>
            </a:r>
          </a:p>
          <a:p>
            <a:pPr algn="ctr">
              <a:spcBef>
                <a:spcPts val="0"/>
              </a:spcBef>
              <a:spcAft>
                <a:spcPts val="0"/>
              </a:spcAft>
            </a:pPr>
            <a:r>
              <a:rPr sz="1200" b="0" i="0">
                <a:solidFill>
                  <a:srgbClr val="1E2D44"/>
                </a:solidFill>
                <a:latin typeface="Karla"/>
              </a:rPr>
              <a:t>Filling Right Lower…</a:t>
            </a:r>
          </a:p>
        </p:txBody>
      </p:sp>
      <p:sp>
        <p:nvSpPr>
          <p:cNvPr id="69" name="TextBox 68"/>
          <p:cNvSpPr txBox="1"/>
          <p:nvPr/>
        </p:nvSpPr>
        <p:spPr>
          <a:xfrm>
            <a:off x="9832847" y="2349947"/>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+15*</a:t>
            </a:r>
          </a:p>
        </p:txBody>
      </p:sp>
      <p:sp>
        <p:nvSpPr>
          <p:cNvPr id="70" name="Rectangle 69"/>
          <p:cNvSpPr/>
          <p:nvPr/>
        </p:nvSpPr>
        <p:spPr>
          <a:xfrm>
            <a:off x="7935467" y="3177600"/>
            <a:ext cx="1709927" cy="1325758"/>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1" name="Picture 70" descr="B7.png"/>
          <p:cNvPicPr>
            <a:picLocks noChangeAspect="1"/>
          </p:cNvPicPr>
          <p:nvPr/>
        </p:nvPicPr>
        <p:blipFill>
          <a:blip r:embed="rId4"/>
          <a:stretch>
            <a:fillRect/>
          </a:stretch>
        </p:blipFill>
        <p:spPr>
          <a:xfrm>
            <a:off x="7949183" y="3191316"/>
            <a:ext cx="1682495" cy="1298326"/>
          </a:xfrm>
          <a:prstGeom prst="rect">
            <a:avLst/>
          </a:prstGeom>
        </p:spPr>
      </p:pic>
      <p:sp>
        <p:nvSpPr>
          <p:cNvPr id="72" name="TextBox 71"/>
          <p:cNvSpPr txBox="1"/>
          <p:nvPr/>
        </p:nvSpPr>
        <p:spPr>
          <a:xfrm>
            <a:off x="7912607" y="4544507"/>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B07 Cookie Banana</a:t>
            </a:r>
          </a:p>
          <a:p>
            <a:pPr algn="ctr">
              <a:spcBef>
                <a:spcPts val="0"/>
              </a:spcBef>
              <a:spcAft>
                <a:spcPts val="0"/>
              </a:spcAft>
            </a:pPr>
            <a:r>
              <a:rPr sz="1200" b="0" i="0">
                <a:solidFill>
                  <a:srgbClr val="1E2D44"/>
                </a:solidFill>
                <a:latin typeface="Karla"/>
              </a:rPr>
              <a:t>Filling Right Lower…</a:t>
            </a:r>
          </a:p>
        </p:txBody>
      </p:sp>
      <p:sp>
        <p:nvSpPr>
          <p:cNvPr id="73" name="TextBox 72"/>
          <p:cNvSpPr txBox="1"/>
          <p:nvPr/>
        </p:nvSpPr>
        <p:spPr>
          <a:xfrm>
            <a:off x="7912607" y="4910267"/>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+17*</a:t>
            </a:r>
          </a:p>
        </p:txBody>
      </p:sp>
      <p:sp>
        <p:nvSpPr>
          <p:cNvPr id="74" name="Rectangle 73"/>
          <p:cNvSpPr/>
          <p:nvPr/>
        </p:nvSpPr>
        <p:spPr>
          <a:xfrm>
            <a:off x="9855707" y="3177600"/>
            <a:ext cx="1709927" cy="1325758"/>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5" name="Picture 74" descr="B8.png"/>
          <p:cNvPicPr>
            <a:picLocks noChangeAspect="1"/>
          </p:cNvPicPr>
          <p:nvPr/>
        </p:nvPicPr>
        <p:blipFill>
          <a:blip r:embed="rId5"/>
          <a:stretch>
            <a:fillRect/>
          </a:stretch>
        </p:blipFill>
        <p:spPr>
          <a:xfrm>
            <a:off x="9869423" y="3191316"/>
            <a:ext cx="1682495" cy="1298326"/>
          </a:xfrm>
          <a:prstGeom prst="rect">
            <a:avLst/>
          </a:prstGeom>
        </p:spPr>
      </p:pic>
      <p:sp>
        <p:nvSpPr>
          <p:cNvPr id="76" name="TextBox 75"/>
          <p:cNvSpPr txBox="1"/>
          <p:nvPr/>
        </p:nvSpPr>
        <p:spPr>
          <a:xfrm>
            <a:off x="9832847" y="4544507"/>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B08 Cookie Vanilla</a:t>
            </a:r>
          </a:p>
          <a:p>
            <a:pPr algn="ctr">
              <a:spcBef>
                <a:spcPts val="0"/>
              </a:spcBef>
              <a:spcAft>
                <a:spcPts val="0"/>
              </a:spcAft>
            </a:pPr>
            <a:r>
              <a:rPr sz="1200" b="0" i="0">
                <a:solidFill>
                  <a:srgbClr val="1E2D44"/>
                </a:solidFill>
                <a:latin typeface="Karla"/>
              </a:rPr>
              <a:t>Filling Right Lower…</a:t>
            </a:r>
          </a:p>
        </p:txBody>
      </p:sp>
      <p:sp>
        <p:nvSpPr>
          <p:cNvPr id="77" name="TextBox 76"/>
          <p:cNvSpPr txBox="1"/>
          <p:nvPr/>
        </p:nvSpPr>
        <p:spPr>
          <a:xfrm>
            <a:off x="9832847" y="4910267"/>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+19*</a:t>
            </a:r>
          </a:p>
        </p:txBody>
      </p:sp>
      <p:sp>
        <p:nvSpPr>
          <p:cNvPr id="78" name="Rounded Rectangle 77"/>
          <p:cNvSpPr/>
          <p:nvPr/>
        </p:nvSpPr>
        <p:spPr>
          <a:xfrm>
            <a:off x="502920" y="5632704"/>
            <a:ext cx="11268455" cy="676656"/>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200" b="0">
                <a:solidFill>
                  <a:srgbClr val="1E2D44"/>
                </a:solidFill>
                <a:latin typeface="Karla"/>
              </a:rPr>
              <a:t>Have never purchased Fitspo products favor B04 Cookie Vanilla Filling Right Upper D2D3; Have purchased in the past, but not currently favors B01 Cookie Chocolate Filling Right Upper D2D3; Occasionally favors B01 Cookie Chocolate Filling Right Upper D2D3; Regularly favors B05 Cookie Chocolate Filling Right Lower D1. The widest segment gap is B02 Cookie Orange Filling Right Upper D2D3: +24 have never purchased fitspo products / +8 have purchased in the past, but not currently / +20 occasionally / +27 regularly.</a:t>
            </a:r>
          </a:p>
        </p:txBody>
      </p:sp>
      <p:sp>
        <p:nvSpPr>
          <p:cNvPr id="79" name="Rectangle 78"/>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Top-2 scores rounded to whole points. *Average of the groups in the legend.</a:t>
            </a:r>
          </a:p>
        </p:txBody>
      </p:sp>
      <p:sp>
        <p:nvSpPr>
          <p:cNvPr id="81" name="TextBox 80"/>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37744"/>
            <a:ext cx="7043927" cy="182880"/>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KEY FINDINGS: C_CLAIM  ·  Can you read english?   ·   1 of 2</a:t>
            </a:r>
          </a:p>
        </p:txBody>
      </p:sp>
      <p:sp>
        <p:nvSpPr>
          <p:cNvPr id="3" name="TextBox 2"/>
          <p:cNvSpPr txBox="1"/>
          <p:nvPr/>
        </p:nvSpPr>
        <p:spPr>
          <a:xfrm>
            <a:off x="502920" y="438912"/>
            <a:ext cx="7043927" cy="365760"/>
          </a:xfrm>
          <a:prstGeom prst="rect">
            <a:avLst/>
          </a:prstGeom>
          <a:noFill/>
        </p:spPr>
        <p:txBody>
          <a:bodyPr wrap="square" anchor="t" lIns="0" rIns="0" tIns="0" bIns="0"/>
          <a:lstStyle/>
          <a:p>
            <a:pPr algn="l">
              <a:spcBef>
                <a:spcPts val="0"/>
              </a:spcBef>
              <a:spcAft>
                <a:spcPts val="0"/>
              </a:spcAft>
            </a:pPr>
            <a:r>
              <a:rPr sz="2600" b="1" i="0">
                <a:solidFill>
                  <a:srgbClr val="1E2D44"/>
                </a:solidFill>
                <a:latin typeface="Karla"/>
              </a:rPr>
              <a:t>C04 Claim Full Block Fibrecollagen 33 Protein 20gno Sugar Mid Left D1 leads in both groups</a:t>
            </a:r>
          </a:p>
        </p:txBody>
      </p:sp>
      <p:sp>
        <p:nvSpPr>
          <p:cNvPr id="4" name="TextBox 3"/>
          <p:cNvSpPr txBox="1"/>
          <p:nvPr/>
        </p:nvSpPr>
        <p:spPr>
          <a:xfrm>
            <a:off x="502920" y="822960"/>
            <a:ext cx="7043927" cy="475488"/>
          </a:xfrm>
          <a:prstGeom prst="rect">
            <a:avLst/>
          </a:prstGeom>
          <a:noFill/>
        </p:spPr>
        <p:txBody>
          <a:bodyPr wrap="square" anchor="t" lIns="0" rIns="0" tIns="0" bIns="0"/>
          <a:lstStyle/>
          <a:p>
            <a:pPr algn="l">
              <a:spcBef>
                <a:spcPts val="0"/>
              </a:spcBef>
              <a:spcAft>
                <a:spcPts val="0"/>
              </a:spcAft>
            </a:pPr>
            <a:r>
              <a:rPr sz="1200" b="0" i="0">
                <a:solidFill>
                  <a:srgbClr val="617086"/>
                </a:solidFill>
                <a:latin typeface="Karla"/>
              </a:rPr>
              <a:t>C04 Claim Full Block Fibrecollagen 33 Protein 20gno Sugar Mid Left D1 leads both groups; C03 Claim 33 Protein Only Bottom Centre D2D3 ranks last.</a:t>
            </a:r>
          </a:p>
        </p:txBody>
      </p:sp>
      <p:sp>
        <p:nvSpPr>
          <p:cNvPr id="5" name="Rectangle 4"/>
          <p:cNvSpPr/>
          <p:nvPr/>
        </p:nvSpPr>
        <p:spPr>
          <a:xfrm>
            <a:off x="502920" y="1335024"/>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C_CLAIM</a:t>
            </a:r>
          </a:p>
        </p:txBody>
      </p:sp>
      <p:sp>
        <p:nvSpPr>
          <p:cNvPr id="6" name="Rectangle 5"/>
          <p:cNvSpPr/>
          <p:nvPr/>
        </p:nvSpPr>
        <p:spPr>
          <a:xfrm>
            <a:off x="2167128" y="1645920"/>
            <a:ext cx="9144" cy="3310128"/>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74520"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8" name="TextBox 7"/>
          <p:cNvSpPr txBox="1"/>
          <p:nvPr/>
        </p:nvSpPr>
        <p:spPr>
          <a:xfrm>
            <a:off x="3490975"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9" name="Rectangle 8"/>
          <p:cNvSpPr/>
          <p:nvPr/>
        </p:nvSpPr>
        <p:spPr>
          <a:xfrm>
            <a:off x="5400039" y="1645920"/>
            <a:ext cx="9144" cy="3310128"/>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7431"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1" name="Rectangle 10"/>
          <p:cNvSpPr/>
          <p:nvPr/>
        </p:nvSpPr>
        <p:spPr>
          <a:xfrm>
            <a:off x="7016495" y="1645920"/>
            <a:ext cx="9144" cy="3310128"/>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23887"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40</a:t>
            </a:r>
          </a:p>
        </p:txBody>
      </p:sp>
      <p:sp>
        <p:nvSpPr>
          <p:cNvPr id="13" name="Rectangle 12"/>
          <p:cNvSpPr/>
          <p:nvPr/>
        </p:nvSpPr>
        <p:spPr>
          <a:xfrm>
            <a:off x="3783583" y="1645920"/>
            <a:ext cx="10972" cy="3310128"/>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167128" y="4956048"/>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1883664"/>
            <a:ext cx="1554480" cy="352044"/>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C04 Claim Full Block</a:t>
            </a:r>
          </a:p>
          <a:p>
            <a:pPr algn="r">
              <a:spcBef>
                <a:spcPts val="0"/>
              </a:spcBef>
              <a:spcAft>
                <a:spcPts val="0"/>
              </a:spcAft>
            </a:pPr>
            <a:r>
              <a:rPr sz="1000" b="0" i="0">
                <a:solidFill>
                  <a:srgbClr val="1E2D44"/>
                </a:solidFill>
                <a:latin typeface="Karla"/>
              </a:rPr>
              <a:t>Fibrecollagen 33…</a:t>
            </a:r>
          </a:p>
        </p:txBody>
      </p:sp>
      <p:sp>
        <p:nvSpPr>
          <p:cNvPr id="16" name="Rectangle 15"/>
          <p:cNvSpPr/>
          <p:nvPr/>
        </p:nvSpPr>
        <p:spPr>
          <a:xfrm>
            <a:off x="3783583" y="1883664"/>
            <a:ext cx="646582"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85030" y="1883664"/>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+8</a:t>
            </a:r>
          </a:p>
        </p:txBody>
      </p:sp>
      <p:sp>
        <p:nvSpPr>
          <p:cNvPr id="18" name="Rectangle 17"/>
          <p:cNvSpPr/>
          <p:nvPr/>
        </p:nvSpPr>
        <p:spPr>
          <a:xfrm>
            <a:off x="3783583" y="2080260"/>
            <a:ext cx="1939747"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778194" y="2080260"/>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+24</a:t>
            </a:r>
          </a:p>
        </p:txBody>
      </p:sp>
      <p:sp>
        <p:nvSpPr>
          <p:cNvPr id="20" name="TextBox 19"/>
          <p:cNvSpPr txBox="1"/>
          <p:nvPr/>
        </p:nvSpPr>
        <p:spPr>
          <a:xfrm>
            <a:off x="502920" y="2711196"/>
            <a:ext cx="1554480" cy="352044"/>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C05 Claim 33 Protein</a:t>
            </a:r>
          </a:p>
          <a:p>
            <a:pPr algn="r">
              <a:spcBef>
                <a:spcPts val="0"/>
              </a:spcBef>
              <a:spcAft>
                <a:spcPts val="0"/>
              </a:spcAft>
            </a:pPr>
            <a:r>
              <a:rPr sz="1000" b="0" i="0">
                <a:solidFill>
                  <a:srgbClr val="1E2D44"/>
                </a:solidFill>
                <a:latin typeface="Karla"/>
              </a:rPr>
              <a:t>20g High Protein No…</a:t>
            </a:r>
          </a:p>
        </p:txBody>
      </p:sp>
      <p:sp>
        <p:nvSpPr>
          <p:cNvPr id="21" name="Rectangle 20"/>
          <p:cNvSpPr/>
          <p:nvPr/>
        </p:nvSpPr>
        <p:spPr>
          <a:xfrm>
            <a:off x="3783583" y="2711196"/>
            <a:ext cx="484936"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23384" y="2711196"/>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+6</a:t>
            </a:r>
          </a:p>
        </p:txBody>
      </p:sp>
      <p:sp>
        <p:nvSpPr>
          <p:cNvPr id="23" name="Rectangle 22"/>
          <p:cNvSpPr/>
          <p:nvPr/>
        </p:nvSpPr>
        <p:spPr>
          <a:xfrm>
            <a:off x="3783583" y="2907791"/>
            <a:ext cx="1697278"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535726" y="2907791"/>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+21</a:t>
            </a:r>
          </a:p>
        </p:txBody>
      </p:sp>
      <p:sp>
        <p:nvSpPr>
          <p:cNvPr id="25" name="TextBox 24"/>
          <p:cNvSpPr txBox="1"/>
          <p:nvPr/>
        </p:nvSpPr>
        <p:spPr>
          <a:xfrm>
            <a:off x="502920" y="3538728"/>
            <a:ext cx="1554480" cy="352044"/>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C01 Claim Full Block</a:t>
            </a:r>
          </a:p>
          <a:p>
            <a:pPr algn="r">
              <a:spcBef>
                <a:spcPts val="0"/>
              </a:spcBef>
              <a:spcAft>
                <a:spcPts val="0"/>
              </a:spcAft>
            </a:pPr>
            <a:r>
              <a:rPr sz="1000" b="0" i="0">
                <a:solidFill>
                  <a:srgbClr val="1E2D44"/>
                </a:solidFill>
                <a:latin typeface="Karla"/>
              </a:rPr>
              <a:t>Fibrecollagen 33…</a:t>
            </a:r>
          </a:p>
        </p:txBody>
      </p:sp>
      <p:sp>
        <p:nvSpPr>
          <p:cNvPr id="26" name="Rectangle 25"/>
          <p:cNvSpPr/>
          <p:nvPr/>
        </p:nvSpPr>
        <p:spPr>
          <a:xfrm>
            <a:off x="3137001" y="3538728"/>
            <a:ext cx="646582"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624937" y="3538728"/>
            <a:ext cx="457200" cy="155448"/>
          </a:xfrm>
          <a:prstGeom prst="rect">
            <a:avLst/>
          </a:prstGeom>
          <a:noFill/>
        </p:spPr>
        <p:txBody>
          <a:bodyPr wrap="none" anchor="ctr" lIns="0" rIns="0" tIns="0" bIns="0"/>
          <a:lstStyle/>
          <a:p>
            <a:pPr algn="r">
              <a:spcBef>
                <a:spcPts val="0"/>
              </a:spcBef>
              <a:spcAft>
                <a:spcPts val="0"/>
              </a:spcAft>
            </a:pPr>
            <a:r>
              <a:rPr sz="1200" b="1" i="0">
                <a:solidFill>
                  <a:srgbClr val="1A2332"/>
                </a:solidFill>
                <a:latin typeface="Karla"/>
              </a:rPr>
              <a:t>-8</a:t>
            </a:r>
          </a:p>
        </p:txBody>
      </p:sp>
      <p:sp>
        <p:nvSpPr>
          <p:cNvPr id="28" name="Rectangle 27"/>
          <p:cNvSpPr/>
          <p:nvPr/>
        </p:nvSpPr>
        <p:spPr>
          <a:xfrm>
            <a:off x="3783583" y="3735324"/>
            <a:ext cx="1373987"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212435" y="3735324"/>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+17</a:t>
            </a:r>
          </a:p>
        </p:txBody>
      </p:sp>
      <p:sp>
        <p:nvSpPr>
          <p:cNvPr id="30" name="TextBox 29"/>
          <p:cNvSpPr txBox="1"/>
          <p:nvPr/>
        </p:nvSpPr>
        <p:spPr>
          <a:xfrm>
            <a:off x="502920" y="4366259"/>
            <a:ext cx="1554480" cy="352044"/>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C02 Claim 33 Protein</a:t>
            </a:r>
          </a:p>
          <a:p>
            <a:pPr algn="r">
              <a:spcBef>
                <a:spcPts val="0"/>
              </a:spcBef>
              <a:spcAft>
                <a:spcPts val="0"/>
              </a:spcAft>
            </a:pPr>
            <a:r>
              <a:rPr sz="1000" b="0" i="0">
                <a:solidFill>
                  <a:srgbClr val="1E2D44"/>
                </a:solidFill>
                <a:latin typeface="Karla"/>
              </a:rPr>
              <a:t>20g High Protein No…</a:t>
            </a:r>
          </a:p>
        </p:txBody>
      </p:sp>
      <p:sp>
        <p:nvSpPr>
          <p:cNvPr id="31" name="Rectangle 30"/>
          <p:cNvSpPr/>
          <p:nvPr/>
        </p:nvSpPr>
        <p:spPr>
          <a:xfrm>
            <a:off x="3217824" y="4366259"/>
            <a:ext cx="565759"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705760" y="4366259"/>
            <a:ext cx="457200" cy="155448"/>
          </a:xfrm>
          <a:prstGeom prst="rect">
            <a:avLst/>
          </a:prstGeom>
          <a:noFill/>
        </p:spPr>
        <p:txBody>
          <a:bodyPr wrap="none" anchor="ctr" lIns="0" rIns="0" tIns="0" bIns="0"/>
          <a:lstStyle/>
          <a:p>
            <a:pPr algn="r">
              <a:spcBef>
                <a:spcPts val="0"/>
              </a:spcBef>
              <a:spcAft>
                <a:spcPts val="0"/>
              </a:spcAft>
            </a:pPr>
            <a:r>
              <a:rPr sz="1200" b="1" i="0">
                <a:solidFill>
                  <a:srgbClr val="1A2332"/>
                </a:solidFill>
                <a:latin typeface="Karla"/>
              </a:rPr>
              <a:t>-7</a:t>
            </a:r>
          </a:p>
        </p:txBody>
      </p:sp>
      <p:sp>
        <p:nvSpPr>
          <p:cNvPr id="33" name="Rectangle 32"/>
          <p:cNvSpPr/>
          <p:nvPr/>
        </p:nvSpPr>
        <p:spPr>
          <a:xfrm>
            <a:off x="3783583" y="4562855"/>
            <a:ext cx="1293164"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131612" y="4562855"/>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+16</a:t>
            </a:r>
          </a:p>
        </p:txBody>
      </p:sp>
      <p:sp>
        <p:nvSpPr>
          <p:cNvPr id="35" name="Rectangle 34"/>
          <p:cNvSpPr/>
          <p:nvPr/>
        </p:nvSpPr>
        <p:spPr>
          <a:xfrm>
            <a:off x="2797047" y="5381244"/>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970783" y="5321807"/>
            <a:ext cx="1329944" cy="219456"/>
          </a:xfrm>
          <a:prstGeom prst="rect">
            <a:avLst/>
          </a:prstGeom>
          <a:noFill/>
        </p:spPr>
        <p:txBody>
          <a:bodyPr wrap="none" anchor="ctr" lIns="0" rIns="0" tIns="0" bIns="0"/>
          <a:lstStyle/>
          <a:p>
            <a:pPr algn="l">
              <a:spcBef>
                <a:spcPts val="0"/>
              </a:spcBef>
              <a:spcAft>
                <a:spcPts val="0"/>
              </a:spcAft>
            </a:pPr>
            <a:r>
              <a:rPr sz="1100" b="0" i="0">
                <a:solidFill>
                  <a:srgbClr val="2C3A4A"/>
                </a:solidFill>
                <a:latin typeface="Karla"/>
              </a:rPr>
              <a:t>No (basesize = 1)</a:t>
            </a:r>
          </a:p>
        </p:txBody>
      </p:sp>
      <p:sp>
        <p:nvSpPr>
          <p:cNvPr id="37" name="Rectangle 36"/>
          <p:cNvSpPr/>
          <p:nvPr/>
        </p:nvSpPr>
        <p:spPr>
          <a:xfrm>
            <a:off x="4648199" y="5381244"/>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821935" y="5321807"/>
            <a:ext cx="1564640" cy="219456"/>
          </a:xfrm>
          <a:prstGeom prst="rect">
            <a:avLst/>
          </a:prstGeom>
          <a:noFill/>
        </p:spPr>
        <p:txBody>
          <a:bodyPr wrap="none" anchor="ctr" lIns="0" rIns="0" tIns="0" bIns="0"/>
          <a:lstStyle/>
          <a:p>
            <a:pPr algn="l">
              <a:spcBef>
                <a:spcPts val="0"/>
              </a:spcBef>
              <a:spcAft>
                <a:spcPts val="0"/>
              </a:spcAft>
            </a:pPr>
            <a:r>
              <a:rPr sz="1100" b="0" i="0">
                <a:solidFill>
                  <a:srgbClr val="2C3A4A"/>
                </a:solidFill>
                <a:latin typeface="Karla"/>
              </a:rPr>
              <a:t>Yes (basesize = 149)</a:t>
            </a:r>
          </a:p>
        </p:txBody>
      </p:sp>
      <p:sp>
        <p:nvSpPr>
          <p:cNvPr id="39" name="Rounded Rectangle 38"/>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935467" y="734834"/>
            <a:ext cx="1709927" cy="1090650"/>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C4.png"/>
          <p:cNvPicPr>
            <a:picLocks noChangeAspect="1"/>
          </p:cNvPicPr>
          <p:nvPr/>
        </p:nvPicPr>
        <p:blipFill>
          <a:blip r:embed="rId2"/>
          <a:stretch>
            <a:fillRect/>
          </a:stretch>
        </p:blipFill>
        <p:spPr>
          <a:xfrm>
            <a:off x="7949183" y="748550"/>
            <a:ext cx="1682495" cy="1063218"/>
          </a:xfrm>
          <a:prstGeom prst="rect">
            <a:avLst/>
          </a:prstGeom>
        </p:spPr>
      </p:pic>
      <p:sp>
        <p:nvSpPr>
          <p:cNvPr id="42" name="TextBox 41"/>
          <p:cNvSpPr txBox="1"/>
          <p:nvPr/>
        </p:nvSpPr>
        <p:spPr>
          <a:xfrm>
            <a:off x="7912607" y="1866633"/>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C04 Claim Full</a:t>
            </a:r>
          </a:p>
          <a:p>
            <a:pPr algn="ctr">
              <a:spcBef>
                <a:spcPts val="0"/>
              </a:spcBef>
              <a:spcAft>
                <a:spcPts val="0"/>
              </a:spcAft>
            </a:pPr>
            <a:r>
              <a:rPr sz="1200" b="0" i="0">
                <a:solidFill>
                  <a:srgbClr val="1E2D44"/>
                </a:solidFill>
                <a:latin typeface="Karla"/>
              </a:rPr>
              <a:t>Block Fibrecollagen…</a:t>
            </a:r>
          </a:p>
        </p:txBody>
      </p:sp>
      <p:sp>
        <p:nvSpPr>
          <p:cNvPr id="43" name="TextBox 42"/>
          <p:cNvSpPr txBox="1"/>
          <p:nvPr/>
        </p:nvSpPr>
        <p:spPr>
          <a:xfrm>
            <a:off x="7912607" y="2232393"/>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+16*</a:t>
            </a:r>
          </a:p>
        </p:txBody>
      </p:sp>
      <p:sp>
        <p:nvSpPr>
          <p:cNvPr id="44" name="Rectangle 43"/>
          <p:cNvSpPr/>
          <p:nvPr/>
        </p:nvSpPr>
        <p:spPr>
          <a:xfrm>
            <a:off x="9855707" y="876597"/>
            <a:ext cx="1709927" cy="80712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5" name="Picture 44" descr="C5.png"/>
          <p:cNvPicPr>
            <a:picLocks noChangeAspect="1"/>
          </p:cNvPicPr>
          <p:nvPr/>
        </p:nvPicPr>
        <p:blipFill>
          <a:blip r:embed="rId3"/>
          <a:stretch>
            <a:fillRect/>
          </a:stretch>
        </p:blipFill>
        <p:spPr>
          <a:xfrm>
            <a:off x="9869423" y="890313"/>
            <a:ext cx="1682495" cy="779693"/>
          </a:xfrm>
          <a:prstGeom prst="rect">
            <a:avLst/>
          </a:prstGeom>
        </p:spPr>
      </p:pic>
      <p:sp>
        <p:nvSpPr>
          <p:cNvPr id="46" name="TextBox 45"/>
          <p:cNvSpPr txBox="1"/>
          <p:nvPr/>
        </p:nvSpPr>
        <p:spPr>
          <a:xfrm>
            <a:off x="9832847" y="1866633"/>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C05 Claim 33</a:t>
            </a:r>
          </a:p>
          <a:p>
            <a:pPr algn="ctr">
              <a:spcBef>
                <a:spcPts val="0"/>
              </a:spcBef>
              <a:spcAft>
                <a:spcPts val="0"/>
              </a:spcAft>
            </a:pPr>
            <a:r>
              <a:rPr sz="1200" b="0" i="0">
                <a:solidFill>
                  <a:srgbClr val="1E2D44"/>
                </a:solidFill>
                <a:latin typeface="Karla"/>
              </a:rPr>
              <a:t>Protein 20g High…</a:t>
            </a:r>
          </a:p>
        </p:txBody>
      </p:sp>
      <p:sp>
        <p:nvSpPr>
          <p:cNvPr id="47" name="TextBox 46"/>
          <p:cNvSpPr txBox="1"/>
          <p:nvPr/>
        </p:nvSpPr>
        <p:spPr>
          <a:xfrm>
            <a:off x="9832847" y="2232393"/>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+14*</a:t>
            </a:r>
          </a:p>
        </p:txBody>
      </p:sp>
      <p:sp>
        <p:nvSpPr>
          <p:cNvPr id="48" name="Rectangle 47"/>
          <p:cNvSpPr/>
          <p:nvPr/>
        </p:nvSpPr>
        <p:spPr>
          <a:xfrm>
            <a:off x="7935467" y="3459458"/>
            <a:ext cx="1709927" cy="762042"/>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9" name="Picture 48" descr="C1.png"/>
          <p:cNvPicPr>
            <a:picLocks noChangeAspect="1"/>
          </p:cNvPicPr>
          <p:nvPr/>
        </p:nvPicPr>
        <p:blipFill>
          <a:blip r:embed="rId4"/>
          <a:stretch>
            <a:fillRect/>
          </a:stretch>
        </p:blipFill>
        <p:spPr>
          <a:xfrm>
            <a:off x="7949183" y="3473174"/>
            <a:ext cx="1682495" cy="734610"/>
          </a:xfrm>
          <a:prstGeom prst="rect">
            <a:avLst/>
          </a:prstGeom>
        </p:spPr>
      </p:pic>
      <p:sp>
        <p:nvSpPr>
          <p:cNvPr id="50" name="TextBox 49"/>
          <p:cNvSpPr txBox="1"/>
          <p:nvPr/>
        </p:nvSpPr>
        <p:spPr>
          <a:xfrm>
            <a:off x="7912607" y="4426953"/>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C01 Claim Full</a:t>
            </a:r>
          </a:p>
          <a:p>
            <a:pPr algn="ctr">
              <a:spcBef>
                <a:spcPts val="0"/>
              </a:spcBef>
              <a:spcAft>
                <a:spcPts val="0"/>
              </a:spcAft>
            </a:pPr>
            <a:r>
              <a:rPr sz="1200" b="0" i="0">
                <a:solidFill>
                  <a:srgbClr val="1E2D44"/>
                </a:solidFill>
                <a:latin typeface="Karla"/>
              </a:rPr>
              <a:t>Block Fibrecollagen…</a:t>
            </a:r>
          </a:p>
        </p:txBody>
      </p:sp>
      <p:sp>
        <p:nvSpPr>
          <p:cNvPr id="51" name="TextBox 50"/>
          <p:cNvSpPr txBox="1"/>
          <p:nvPr/>
        </p:nvSpPr>
        <p:spPr>
          <a:xfrm>
            <a:off x="7912607" y="4792713"/>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+4*</a:t>
            </a:r>
          </a:p>
        </p:txBody>
      </p:sp>
      <p:sp>
        <p:nvSpPr>
          <p:cNvPr id="52" name="Rectangle 51"/>
          <p:cNvSpPr/>
          <p:nvPr/>
        </p:nvSpPr>
        <p:spPr>
          <a:xfrm>
            <a:off x="9855707" y="3532030"/>
            <a:ext cx="1709927" cy="616898"/>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3" name="Picture 52" descr="C2.png"/>
          <p:cNvPicPr>
            <a:picLocks noChangeAspect="1"/>
          </p:cNvPicPr>
          <p:nvPr/>
        </p:nvPicPr>
        <p:blipFill>
          <a:blip r:embed="rId5"/>
          <a:stretch>
            <a:fillRect/>
          </a:stretch>
        </p:blipFill>
        <p:spPr>
          <a:xfrm>
            <a:off x="9869423" y="3545746"/>
            <a:ext cx="1682495" cy="589466"/>
          </a:xfrm>
          <a:prstGeom prst="rect">
            <a:avLst/>
          </a:prstGeom>
        </p:spPr>
      </p:pic>
      <p:sp>
        <p:nvSpPr>
          <p:cNvPr id="54" name="TextBox 53"/>
          <p:cNvSpPr txBox="1"/>
          <p:nvPr/>
        </p:nvSpPr>
        <p:spPr>
          <a:xfrm>
            <a:off x="9832847" y="4426953"/>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C02 Claim 33</a:t>
            </a:r>
          </a:p>
          <a:p>
            <a:pPr algn="ctr">
              <a:spcBef>
                <a:spcPts val="0"/>
              </a:spcBef>
              <a:spcAft>
                <a:spcPts val="0"/>
              </a:spcAft>
            </a:pPr>
            <a:r>
              <a:rPr sz="1200" b="0" i="0">
                <a:solidFill>
                  <a:srgbClr val="1E2D44"/>
                </a:solidFill>
                <a:latin typeface="Karla"/>
              </a:rPr>
              <a:t>Protein 20g High…</a:t>
            </a:r>
          </a:p>
        </p:txBody>
      </p:sp>
      <p:sp>
        <p:nvSpPr>
          <p:cNvPr id="55" name="TextBox 54"/>
          <p:cNvSpPr txBox="1"/>
          <p:nvPr/>
        </p:nvSpPr>
        <p:spPr>
          <a:xfrm>
            <a:off x="9832847" y="4792713"/>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+4*</a:t>
            </a:r>
          </a:p>
        </p:txBody>
      </p:sp>
      <p:sp>
        <p:nvSpPr>
          <p:cNvPr id="56" name="Rounded Rectangle 55"/>
          <p:cNvSpPr/>
          <p:nvPr/>
        </p:nvSpPr>
        <p:spPr>
          <a:xfrm>
            <a:off x="502920" y="5632704"/>
            <a:ext cx="11268455" cy="676656"/>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200" b="0">
                <a:solidFill>
                  <a:srgbClr val="1E2D44"/>
                </a:solidFill>
                <a:latin typeface="Karla"/>
              </a:rPr>
              <a:t>Both groups rank C04 Claim Full Block Fibrecollagen 33 Protein 20gno Sugar Mid Left D1 first. The widest segment gap is C01 Claim Full Block Fibrecollagen 33 Protein 20gno Sugar Bottom Centre D2D3: -8 no / +17 yes.</a:t>
            </a:r>
          </a:p>
        </p:txBody>
      </p:sp>
      <p:sp>
        <p:nvSpPr>
          <p:cNvPr id="57" name="Rectangle 56"/>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No basesize = 1; Yes basesize = 149. Top-2 scores rounded to whole points. *Average of the groups in the legend.</a:t>
            </a:r>
          </a:p>
        </p:txBody>
      </p:sp>
      <p:sp>
        <p:nvSpPr>
          <p:cNvPr id="59" name="TextBox 58"/>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37744"/>
            <a:ext cx="7043927" cy="182880"/>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KEY FINDINGS: C_CLAIM  ·  Can you read english?   ·   2 of 2</a:t>
            </a:r>
          </a:p>
        </p:txBody>
      </p:sp>
      <p:sp>
        <p:nvSpPr>
          <p:cNvPr id="3" name="TextBox 2"/>
          <p:cNvSpPr txBox="1"/>
          <p:nvPr/>
        </p:nvSpPr>
        <p:spPr>
          <a:xfrm>
            <a:off x="502920" y="438912"/>
            <a:ext cx="7043927" cy="365760"/>
          </a:xfrm>
          <a:prstGeom prst="rect">
            <a:avLst/>
          </a:prstGeom>
          <a:noFill/>
        </p:spPr>
        <p:txBody>
          <a:bodyPr wrap="square" anchor="t" lIns="0" rIns="0" tIns="0" bIns="0"/>
          <a:lstStyle/>
          <a:p>
            <a:pPr algn="l">
              <a:spcBef>
                <a:spcPts val="0"/>
              </a:spcBef>
              <a:spcAft>
                <a:spcPts val="0"/>
              </a:spcAft>
            </a:pPr>
            <a:r>
              <a:rPr sz="2600" b="1" i="0">
                <a:solidFill>
                  <a:srgbClr val="1E2D44"/>
                </a:solidFill>
                <a:latin typeface="Karla"/>
              </a:rPr>
              <a:t>C04 Claim Full Block Fibrecollagen 33 Protein 20gno Sugar Mid Left D1 leads in both groups</a:t>
            </a:r>
          </a:p>
        </p:txBody>
      </p:sp>
      <p:sp>
        <p:nvSpPr>
          <p:cNvPr id="4" name="TextBox 3"/>
          <p:cNvSpPr txBox="1"/>
          <p:nvPr/>
        </p:nvSpPr>
        <p:spPr>
          <a:xfrm>
            <a:off x="502920" y="822960"/>
            <a:ext cx="7043927" cy="475488"/>
          </a:xfrm>
          <a:prstGeom prst="rect">
            <a:avLst/>
          </a:prstGeom>
          <a:noFill/>
        </p:spPr>
        <p:txBody>
          <a:bodyPr wrap="square" anchor="t" lIns="0" rIns="0" tIns="0" bIns="0"/>
          <a:lstStyle/>
          <a:p>
            <a:pPr algn="l">
              <a:spcBef>
                <a:spcPts val="0"/>
              </a:spcBef>
              <a:spcAft>
                <a:spcPts val="0"/>
              </a:spcAft>
            </a:pPr>
            <a:r>
              <a:rPr sz="1200" b="0" i="0">
                <a:solidFill>
                  <a:srgbClr val="617086"/>
                </a:solidFill>
                <a:latin typeface="Karla"/>
              </a:rPr>
              <a:t>C04 Claim Full Block Fibrecollagen 33 Protein 20gno Sugar Mid Left D1 leads both groups; C03 Claim 33 Protein Only Bottom Centre D2D3 ranks last.</a:t>
            </a:r>
          </a:p>
        </p:txBody>
      </p:sp>
      <p:sp>
        <p:nvSpPr>
          <p:cNvPr id="5" name="Rectangle 4"/>
          <p:cNvSpPr/>
          <p:nvPr/>
        </p:nvSpPr>
        <p:spPr>
          <a:xfrm>
            <a:off x="502920" y="1335024"/>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C_CLAIM</a:t>
            </a:r>
          </a:p>
        </p:txBody>
      </p:sp>
      <p:sp>
        <p:nvSpPr>
          <p:cNvPr id="6" name="Rectangle 5"/>
          <p:cNvSpPr/>
          <p:nvPr/>
        </p:nvSpPr>
        <p:spPr>
          <a:xfrm>
            <a:off x="2167128" y="1645920"/>
            <a:ext cx="9144" cy="3310128"/>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74520"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8" name="TextBox 7"/>
          <p:cNvSpPr txBox="1"/>
          <p:nvPr/>
        </p:nvSpPr>
        <p:spPr>
          <a:xfrm>
            <a:off x="3490975"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9" name="Rectangle 8"/>
          <p:cNvSpPr/>
          <p:nvPr/>
        </p:nvSpPr>
        <p:spPr>
          <a:xfrm>
            <a:off x="5400039" y="1645920"/>
            <a:ext cx="9144" cy="3310128"/>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7431"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11" name="Rectangle 10"/>
          <p:cNvSpPr/>
          <p:nvPr/>
        </p:nvSpPr>
        <p:spPr>
          <a:xfrm>
            <a:off x="7016495" y="1645920"/>
            <a:ext cx="9144" cy="3310128"/>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23887"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3" name="Rectangle 12"/>
          <p:cNvSpPr/>
          <p:nvPr/>
        </p:nvSpPr>
        <p:spPr>
          <a:xfrm>
            <a:off x="3783583" y="1645920"/>
            <a:ext cx="10972" cy="3310128"/>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167128" y="4956048"/>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2297430"/>
            <a:ext cx="1554480" cy="352044"/>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C06 Claim 33 Protein</a:t>
            </a:r>
          </a:p>
          <a:p>
            <a:pPr algn="r">
              <a:spcBef>
                <a:spcPts val="0"/>
              </a:spcBef>
              <a:spcAft>
                <a:spcPts val="0"/>
              </a:spcAft>
            </a:pPr>
            <a:r>
              <a:rPr sz="1000" b="0" i="0">
                <a:solidFill>
                  <a:srgbClr val="1E2D44"/>
                </a:solidFill>
                <a:latin typeface="Karla"/>
              </a:rPr>
              <a:t>Only Mid Left D1</a:t>
            </a:r>
          </a:p>
        </p:txBody>
      </p:sp>
      <p:sp>
        <p:nvSpPr>
          <p:cNvPr id="16" name="Rectangle 15"/>
          <p:cNvSpPr/>
          <p:nvPr/>
        </p:nvSpPr>
        <p:spPr>
          <a:xfrm>
            <a:off x="3783583" y="2297430"/>
            <a:ext cx="1293164"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31612" y="2297430"/>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+8</a:t>
            </a:r>
          </a:p>
        </p:txBody>
      </p:sp>
      <p:sp>
        <p:nvSpPr>
          <p:cNvPr id="18" name="Rectangle 17"/>
          <p:cNvSpPr/>
          <p:nvPr/>
        </p:nvSpPr>
        <p:spPr>
          <a:xfrm>
            <a:off x="3783583" y="2494026"/>
            <a:ext cx="2263038"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01486" y="2494026"/>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+14</a:t>
            </a:r>
          </a:p>
        </p:txBody>
      </p:sp>
      <p:sp>
        <p:nvSpPr>
          <p:cNvPr id="20" name="TextBox 19"/>
          <p:cNvSpPr txBox="1"/>
          <p:nvPr/>
        </p:nvSpPr>
        <p:spPr>
          <a:xfrm>
            <a:off x="502920" y="3952494"/>
            <a:ext cx="1554480" cy="352044"/>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C03 Claim 33 Protein</a:t>
            </a:r>
          </a:p>
          <a:p>
            <a:pPr algn="r">
              <a:spcBef>
                <a:spcPts val="0"/>
              </a:spcBef>
              <a:spcAft>
                <a:spcPts val="0"/>
              </a:spcAft>
            </a:pPr>
            <a:r>
              <a:rPr sz="1000" b="0" i="0">
                <a:solidFill>
                  <a:srgbClr val="1E2D44"/>
                </a:solidFill>
                <a:latin typeface="Karla"/>
              </a:rPr>
              <a:t>Only Bottom Centre…</a:t>
            </a:r>
          </a:p>
        </p:txBody>
      </p:sp>
      <p:sp>
        <p:nvSpPr>
          <p:cNvPr id="21" name="Rectangle 20"/>
          <p:cNvSpPr/>
          <p:nvPr/>
        </p:nvSpPr>
        <p:spPr>
          <a:xfrm>
            <a:off x="2167128" y="3952494"/>
            <a:ext cx="1616455"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167128" y="3952494"/>
            <a:ext cx="457200" cy="155448"/>
          </a:xfrm>
          <a:prstGeom prst="rect">
            <a:avLst/>
          </a:prstGeom>
          <a:noFill/>
        </p:spPr>
        <p:txBody>
          <a:bodyPr wrap="none" anchor="ctr" lIns="0" rIns="0" tIns="0" bIns="0"/>
          <a:lstStyle/>
          <a:p>
            <a:pPr algn="r">
              <a:spcBef>
                <a:spcPts val="0"/>
              </a:spcBef>
              <a:spcAft>
                <a:spcPts val="0"/>
              </a:spcAft>
            </a:pPr>
            <a:r>
              <a:rPr sz="1200" b="1" i="0">
                <a:solidFill>
                  <a:srgbClr val="1A2332"/>
                </a:solidFill>
                <a:latin typeface="Karla"/>
              </a:rPr>
              <a:t>-10</a:t>
            </a:r>
          </a:p>
        </p:txBody>
      </p:sp>
      <p:sp>
        <p:nvSpPr>
          <p:cNvPr id="23" name="Rectangle 22"/>
          <p:cNvSpPr/>
          <p:nvPr/>
        </p:nvSpPr>
        <p:spPr>
          <a:xfrm>
            <a:off x="3783583" y="4149090"/>
            <a:ext cx="1939747"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778194" y="4149090"/>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+12</a:t>
            </a:r>
          </a:p>
        </p:txBody>
      </p:sp>
      <p:sp>
        <p:nvSpPr>
          <p:cNvPr id="25" name="Rectangle 24"/>
          <p:cNvSpPr/>
          <p:nvPr/>
        </p:nvSpPr>
        <p:spPr>
          <a:xfrm>
            <a:off x="2797047" y="5381244"/>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970783" y="5321807"/>
            <a:ext cx="1329944" cy="219456"/>
          </a:xfrm>
          <a:prstGeom prst="rect">
            <a:avLst/>
          </a:prstGeom>
          <a:noFill/>
        </p:spPr>
        <p:txBody>
          <a:bodyPr wrap="none" anchor="ctr" lIns="0" rIns="0" tIns="0" bIns="0"/>
          <a:lstStyle/>
          <a:p>
            <a:pPr algn="l">
              <a:spcBef>
                <a:spcPts val="0"/>
              </a:spcBef>
              <a:spcAft>
                <a:spcPts val="0"/>
              </a:spcAft>
            </a:pPr>
            <a:r>
              <a:rPr sz="1100" b="0" i="0">
                <a:solidFill>
                  <a:srgbClr val="2C3A4A"/>
                </a:solidFill>
                <a:latin typeface="Karla"/>
              </a:rPr>
              <a:t>No (basesize = 1)</a:t>
            </a:r>
          </a:p>
        </p:txBody>
      </p:sp>
      <p:sp>
        <p:nvSpPr>
          <p:cNvPr id="27" name="Rectangle 26"/>
          <p:cNvSpPr/>
          <p:nvPr/>
        </p:nvSpPr>
        <p:spPr>
          <a:xfrm>
            <a:off x="4648199" y="5381244"/>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21935" y="5321807"/>
            <a:ext cx="1564640" cy="219456"/>
          </a:xfrm>
          <a:prstGeom prst="rect">
            <a:avLst/>
          </a:prstGeom>
          <a:noFill/>
        </p:spPr>
        <p:txBody>
          <a:bodyPr wrap="none" anchor="ctr" lIns="0" rIns="0" tIns="0" bIns="0"/>
          <a:lstStyle/>
          <a:p>
            <a:pPr algn="l">
              <a:spcBef>
                <a:spcPts val="0"/>
              </a:spcBef>
              <a:spcAft>
                <a:spcPts val="0"/>
              </a:spcAft>
            </a:pPr>
            <a:r>
              <a:rPr sz="1100" b="0" i="0">
                <a:solidFill>
                  <a:srgbClr val="2C3A4A"/>
                </a:solidFill>
                <a:latin typeface="Karla"/>
              </a:rPr>
              <a:t>Yes (basesize = 149)</a:t>
            </a:r>
          </a:p>
        </p:txBody>
      </p:sp>
      <p:sp>
        <p:nvSpPr>
          <p:cNvPr id="29" name="Rounded Rectangle 28"/>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935467" y="2364051"/>
            <a:ext cx="1709927" cy="392537"/>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C6.png"/>
          <p:cNvPicPr>
            <a:picLocks noChangeAspect="1"/>
          </p:cNvPicPr>
          <p:nvPr/>
        </p:nvPicPr>
        <p:blipFill>
          <a:blip r:embed="rId2"/>
          <a:stretch>
            <a:fillRect/>
          </a:stretch>
        </p:blipFill>
        <p:spPr>
          <a:xfrm>
            <a:off x="7949183" y="2377767"/>
            <a:ext cx="1682495" cy="365105"/>
          </a:xfrm>
          <a:prstGeom prst="rect">
            <a:avLst/>
          </a:prstGeom>
        </p:spPr>
      </p:pic>
      <p:sp>
        <p:nvSpPr>
          <p:cNvPr id="32" name="TextBox 31"/>
          <p:cNvSpPr txBox="1"/>
          <p:nvPr/>
        </p:nvSpPr>
        <p:spPr>
          <a:xfrm>
            <a:off x="7912607" y="2800412"/>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C06 Claim 33</a:t>
            </a:r>
          </a:p>
          <a:p>
            <a:pPr algn="ctr">
              <a:spcBef>
                <a:spcPts val="0"/>
              </a:spcBef>
              <a:spcAft>
                <a:spcPts val="0"/>
              </a:spcAft>
            </a:pPr>
            <a:r>
              <a:rPr sz="1200" b="0" i="0">
                <a:solidFill>
                  <a:srgbClr val="1E2D44"/>
                </a:solidFill>
                <a:latin typeface="Karla"/>
              </a:rPr>
              <a:t>Protein Only Mid…</a:t>
            </a:r>
          </a:p>
        </p:txBody>
      </p:sp>
      <p:sp>
        <p:nvSpPr>
          <p:cNvPr id="33" name="TextBox 32"/>
          <p:cNvSpPr txBox="1"/>
          <p:nvPr/>
        </p:nvSpPr>
        <p:spPr>
          <a:xfrm>
            <a:off x="7912607" y="3166172"/>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+11*</a:t>
            </a:r>
          </a:p>
        </p:txBody>
      </p:sp>
      <p:sp>
        <p:nvSpPr>
          <p:cNvPr id="34" name="Rectangle 33"/>
          <p:cNvSpPr/>
          <p:nvPr/>
        </p:nvSpPr>
        <p:spPr>
          <a:xfrm>
            <a:off x="9855707" y="2361375"/>
            <a:ext cx="1709927" cy="397889"/>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C3.png"/>
          <p:cNvPicPr>
            <a:picLocks noChangeAspect="1"/>
          </p:cNvPicPr>
          <p:nvPr/>
        </p:nvPicPr>
        <p:blipFill>
          <a:blip r:embed="rId3"/>
          <a:stretch>
            <a:fillRect/>
          </a:stretch>
        </p:blipFill>
        <p:spPr>
          <a:xfrm>
            <a:off x="9869423" y="2375091"/>
            <a:ext cx="1682495" cy="370457"/>
          </a:xfrm>
          <a:prstGeom prst="rect">
            <a:avLst/>
          </a:prstGeom>
        </p:spPr>
      </p:pic>
      <p:sp>
        <p:nvSpPr>
          <p:cNvPr id="36" name="TextBox 35"/>
          <p:cNvSpPr txBox="1"/>
          <p:nvPr/>
        </p:nvSpPr>
        <p:spPr>
          <a:xfrm>
            <a:off x="9832847" y="2800412"/>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C03 Claim 33</a:t>
            </a:r>
          </a:p>
          <a:p>
            <a:pPr algn="ctr">
              <a:spcBef>
                <a:spcPts val="0"/>
              </a:spcBef>
              <a:spcAft>
                <a:spcPts val="0"/>
              </a:spcAft>
            </a:pPr>
            <a:r>
              <a:rPr sz="1200" b="0" i="0">
                <a:solidFill>
                  <a:srgbClr val="1E2D44"/>
                </a:solidFill>
                <a:latin typeface="Karla"/>
              </a:rPr>
              <a:t>Protein Only Bottom…</a:t>
            </a:r>
          </a:p>
        </p:txBody>
      </p:sp>
      <p:sp>
        <p:nvSpPr>
          <p:cNvPr id="37" name="TextBox 36"/>
          <p:cNvSpPr txBox="1"/>
          <p:nvPr/>
        </p:nvSpPr>
        <p:spPr>
          <a:xfrm>
            <a:off x="9832847" y="3166172"/>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a:t>
            </a:r>
          </a:p>
        </p:txBody>
      </p:sp>
      <p:sp>
        <p:nvSpPr>
          <p:cNvPr id="38" name="Rounded Rectangle 37"/>
          <p:cNvSpPr/>
          <p:nvPr/>
        </p:nvSpPr>
        <p:spPr>
          <a:xfrm>
            <a:off x="502920" y="5632704"/>
            <a:ext cx="11268455" cy="676656"/>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200" b="0">
                <a:solidFill>
                  <a:srgbClr val="1E2D44"/>
                </a:solidFill>
                <a:latin typeface="Karla"/>
              </a:rPr>
              <a:t>Both groups rank C04 Claim Full Block Fibrecollagen 33 Protein 20gno Sugar Mid Left D1 first. The widest segment gap is C01 Claim Full Block Fibrecollagen 33 Protein 20gno Sugar Bottom Centre D2D3: -8 no / +17 yes.</a:t>
            </a:r>
          </a:p>
        </p:txBody>
      </p:sp>
      <p:sp>
        <p:nvSpPr>
          <p:cNvPr id="39" name="Rectangle 38"/>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No basesize = 1; Yes basesize = 149. Top-2 scores rounded to whole points. *Average of the groups in the legend.</a:t>
            </a:r>
          </a:p>
        </p:txBody>
      </p:sp>
      <p:sp>
        <p:nvSpPr>
          <p:cNvPr id="41" name="TextBox 40"/>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37744"/>
            <a:ext cx="7043927" cy="182880"/>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KEY FINDINGS: C_CLAIM  ·  Which of these countries do you live in?   ·   1 of 2</a:t>
            </a:r>
          </a:p>
        </p:txBody>
      </p:sp>
      <p:sp>
        <p:nvSpPr>
          <p:cNvPr id="3" name="TextBox 2"/>
          <p:cNvSpPr txBox="1"/>
          <p:nvPr/>
        </p:nvSpPr>
        <p:spPr>
          <a:xfrm>
            <a:off x="502920" y="438912"/>
            <a:ext cx="7043927" cy="365760"/>
          </a:xfrm>
          <a:prstGeom prst="rect">
            <a:avLst/>
          </a:prstGeom>
          <a:noFill/>
        </p:spPr>
        <p:txBody>
          <a:bodyPr wrap="square" anchor="t" lIns="0" rIns="0" tIns="0" bIns="0"/>
          <a:lstStyle/>
          <a:p>
            <a:pPr algn="l">
              <a:spcBef>
                <a:spcPts val="0"/>
              </a:spcBef>
              <a:spcAft>
                <a:spcPts val="0"/>
              </a:spcAft>
            </a:pPr>
            <a:r>
              <a:rPr sz="2600" b="1" i="0">
                <a:solidFill>
                  <a:srgbClr val="1E2D44"/>
                </a:solidFill>
                <a:latin typeface="Karla"/>
              </a:rPr>
              <a:t>C04 Claim Full Block Fibrecollagen 33 Protein 20gno Sugar Mid Left D1 leads in every group</a:t>
            </a:r>
          </a:p>
        </p:txBody>
      </p:sp>
      <p:sp>
        <p:nvSpPr>
          <p:cNvPr id="4" name="TextBox 3"/>
          <p:cNvSpPr txBox="1"/>
          <p:nvPr/>
        </p:nvSpPr>
        <p:spPr>
          <a:xfrm>
            <a:off x="502920" y="822960"/>
            <a:ext cx="7043927" cy="475488"/>
          </a:xfrm>
          <a:prstGeom prst="rect">
            <a:avLst/>
          </a:prstGeom>
          <a:noFill/>
        </p:spPr>
        <p:txBody>
          <a:bodyPr wrap="square" anchor="t" lIns="0" rIns="0" tIns="0" bIns="0"/>
          <a:lstStyle/>
          <a:p>
            <a:pPr algn="l">
              <a:spcBef>
                <a:spcPts val="0"/>
              </a:spcBef>
              <a:spcAft>
                <a:spcPts val="0"/>
              </a:spcAft>
            </a:pPr>
            <a:r>
              <a:rPr sz="1200" b="0" i="0">
                <a:solidFill>
                  <a:srgbClr val="617086"/>
                </a:solidFill>
                <a:latin typeface="Karla"/>
              </a:rPr>
              <a:t>C04 Claim Full Block Fibrecollagen 33 Protein 20gno Sugar Mid Left D1 leads every group; C02 Claim 33 Protein 20g High Protein No Sugar Added Bottom Centre D2D3 ranks last.</a:t>
            </a:r>
          </a:p>
        </p:txBody>
      </p:sp>
      <p:sp>
        <p:nvSpPr>
          <p:cNvPr id="5" name="Rectangle 4"/>
          <p:cNvSpPr/>
          <p:nvPr/>
        </p:nvSpPr>
        <p:spPr>
          <a:xfrm>
            <a:off x="502920" y="1335024"/>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C_CLAIM</a:t>
            </a:r>
          </a:p>
        </p:txBody>
      </p:sp>
      <p:sp>
        <p:nvSpPr>
          <p:cNvPr id="6" name="TextBox 5"/>
          <p:cNvSpPr txBox="1"/>
          <p:nvPr/>
        </p:nvSpPr>
        <p:spPr>
          <a:xfrm>
            <a:off x="1874520"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7" name="Rectangle 6"/>
          <p:cNvSpPr/>
          <p:nvPr/>
        </p:nvSpPr>
        <p:spPr>
          <a:xfrm>
            <a:off x="3379469" y="1645920"/>
            <a:ext cx="9144" cy="3310128"/>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86861"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9" name="Rectangle 8"/>
          <p:cNvSpPr/>
          <p:nvPr/>
        </p:nvSpPr>
        <p:spPr>
          <a:xfrm>
            <a:off x="4591811" y="1645920"/>
            <a:ext cx="9144" cy="3310128"/>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9203"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1" name="Rectangle 10"/>
          <p:cNvSpPr/>
          <p:nvPr/>
        </p:nvSpPr>
        <p:spPr>
          <a:xfrm>
            <a:off x="5804153" y="1645920"/>
            <a:ext cx="9144" cy="3310128"/>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11545"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30</a:t>
            </a:r>
          </a:p>
        </p:txBody>
      </p:sp>
      <p:sp>
        <p:nvSpPr>
          <p:cNvPr id="13" name="Rectangle 12"/>
          <p:cNvSpPr/>
          <p:nvPr/>
        </p:nvSpPr>
        <p:spPr>
          <a:xfrm>
            <a:off x="7016495" y="1645920"/>
            <a:ext cx="9144" cy="3310128"/>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23887"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40</a:t>
            </a:r>
          </a:p>
        </p:txBody>
      </p:sp>
      <p:sp>
        <p:nvSpPr>
          <p:cNvPr id="15" name="Rectangle 14"/>
          <p:cNvSpPr/>
          <p:nvPr/>
        </p:nvSpPr>
        <p:spPr>
          <a:xfrm>
            <a:off x="2167128" y="1645920"/>
            <a:ext cx="10972" cy="3310128"/>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167128" y="4956048"/>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1827977"/>
            <a:ext cx="1554480" cy="463417"/>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C04 Claim Full Block</a:t>
            </a:r>
          </a:p>
          <a:p>
            <a:pPr algn="r">
              <a:spcBef>
                <a:spcPts val="0"/>
              </a:spcBef>
              <a:spcAft>
                <a:spcPts val="0"/>
              </a:spcAft>
            </a:pPr>
            <a:r>
              <a:rPr sz="1000" b="0" i="0">
                <a:solidFill>
                  <a:srgbClr val="1E2D44"/>
                </a:solidFill>
                <a:latin typeface="Karla"/>
              </a:rPr>
              <a:t>Fibrecollagen 33…</a:t>
            </a:r>
          </a:p>
        </p:txBody>
      </p:sp>
      <p:sp>
        <p:nvSpPr>
          <p:cNvPr id="18" name="Rectangle 17"/>
          <p:cNvSpPr/>
          <p:nvPr/>
        </p:nvSpPr>
        <p:spPr>
          <a:xfrm>
            <a:off x="2167128" y="1827977"/>
            <a:ext cx="3273323" cy="127040"/>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95315" y="1827977"/>
            <a:ext cx="457200" cy="127040"/>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+27</a:t>
            </a:r>
          </a:p>
        </p:txBody>
      </p:sp>
      <p:sp>
        <p:nvSpPr>
          <p:cNvPr id="20" name="Rectangle 19"/>
          <p:cNvSpPr/>
          <p:nvPr/>
        </p:nvSpPr>
        <p:spPr>
          <a:xfrm>
            <a:off x="2167128" y="1996165"/>
            <a:ext cx="2303449" cy="127040"/>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25441" y="1996165"/>
            <a:ext cx="457200" cy="127040"/>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+19</a:t>
            </a:r>
          </a:p>
        </p:txBody>
      </p:sp>
      <p:sp>
        <p:nvSpPr>
          <p:cNvPr id="22" name="Rectangle 21"/>
          <p:cNvSpPr/>
          <p:nvPr/>
        </p:nvSpPr>
        <p:spPr>
          <a:xfrm>
            <a:off x="2167128" y="2164354"/>
            <a:ext cx="2909620" cy="12704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31612" y="2164354"/>
            <a:ext cx="457200" cy="127040"/>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+24</a:t>
            </a:r>
          </a:p>
        </p:txBody>
      </p:sp>
      <p:sp>
        <p:nvSpPr>
          <p:cNvPr id="24" name="TextBox 23"/>
          <p:cNvSpPr txBox="1"/>
          <p:nvPr/>
        </p:nvSpPr>
        <p:spPr>
          <a:xfrm>
            <a:off x="502920" y="2655509"/>
            <a:ext cx="1554480" cy="463417"/>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C05 Claim 33 Protein</a:t>
            </a:r>
          </a:p>
          <a:p>
            <a:pPr algn="r">
              <a:spcBef>
                <a:spcPts val="0"/>
              </a:spcBef>
              <a:spcAft>
                <a:spcPts val="0"/>
              </a:spcAft>
            </a:pPr>
            <a:r>
              <a:rPr sz="1000" b="0" i="0">
                <a:solidFill>
                  <a:srgbClr val="1E2D44"/>
                </a:solidFill>
                <a:latin typeface="Karla"/>
              </a:rPr>
              <a:t>20g High Protein No…</a:t>
            </a:r>
          </a:p>
        </p:txBody>
      </p:sp>
      <p:sp>
        <p:nvSpPr>
          <p:cNvPr id="25" name="Rectangle 24"/>
          <p:cNvSpPr/>
          <p:nvPr/>
        </p:nvSpPr>
        <p:spPr>
          <a:xfrm>
            <a:off x="2167128" y="2655509"/>
            <a:ext cx="2424683" cy="127040"/>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46675" y="2655509"/>
            <a:ext cx="457200" cy="127040"/>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+20</a:t>
            </a:r>
          </a:p>
        </p:txBody>
      </p:sp>
      <p:sp>
        <p:nvSpPr>
          <p:cNvPr id="27" name="Rectangle 26"/>
          <p:cNvSpPr/>
          <p:nvPr/>
        </p:nvSpPr>
        <p:spPr>
          <a:xfrm>
            <a:off x="2167128" y="2823697"/>
            <a:ext cx="2303449" cy="127040"/>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25441" y="2823697"/>
            <a:ext cx="457200" cy="127040"/>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+19</a:t>
            </a:r>
          </a:p>
        </p:txBody>
      </p:sp>
      <p:sp>
        <p:nvSpPr>
          <p:cNvPr id="29" name="Rectangle 28"/>
          <p:cNvSpPr/>
          <p:nvPr/>
        </p:nvSpPr>
        <p:spPr>
          <a:xfrm>
            <a:off x="2167128" y="2991886"/>
            <a:ext cx="2788386" cy="12704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010378" y="2991886"/>
            <a:ext cx="457200" cy="127040"/>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+23</a:t>
            </a:r>
          </a:p>
        </p:txBody>
      </p:sp>
      <p:sp>
        <p:nvSpPr>
          <p:cNvPr id="31" name="TextBox 30"/>
          <p:cNvSpPr txBox="1"/>
          <p:nvPr/>
        </p:nvSpPr>
        <p:spPr>
          <a:xfrm>
            <a:off x="502920" y="3483041"/>
            <a:ext cx="1554480" cy="463417"/>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C01 Claim Full Block</a:t>
            </a:r>
          </a:p>
          <a:p>
            <a:pPr algn="r">
              <a:spcBef>
                <a:spcPts val="0"/>
              </a:spcBef>
              <a:spcAft>
                <a:spcPts val="0"/>
              </a:spcAft>
            </a:pPr>
            <a:r>
              <a:rPr sz="1000" b="0" i="0">
                <a:solidFill>
                  <a:srgbClr val="1E2D44"/>
                </a:solidFill>
                <a:latin typeface="Karla"/>
              </a:rPr>
              <a:t>Fibrecollagen 33…</a:t>
            </a:r>
          </a:p>
        </p:txBody>
      </p:sp>
      <p:sp>
        <p:nvSpPr>
          <p:cNvPr id="32" name="Rectangle 31"/>
          <p:cNvSpPr/>
          <p:nvPr/>
        </p:nvSpPr>
        <p:spPr>
          <a:xfrm>
            <a:off x="2167128" y="3483041"/>
            <a:ext cx="1939747" cy="127040"/>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161739" y="3483041"/>
            <a:ext cx="457200" cy="127040"/>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+16</a:t>
            </a:r>
          </a:p>
        </p:txBody>
      </p:sp>
      <p:sp>
        <p:nvSpPr>
          <p:cNvPr id="34" name="Rectangle 33"/>
          <p:cNvSpPr/>
          <p:nvPr/>
        </p:nvSpPr>
        <p:spPr>
          <a:xfrm>
            <a:off x="2167128" y="3651229"/>
            <a:ext cx="1697278" cy="127040"/>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919270" y="3651229"/>
            <a:ext cx="457200" cy="127040"/>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+14</a:t>
            </a:r>
          </a:p>
        </p:txBody>
      </p:sp>
      <p:sp>
        <p:nvSpPr>
          <p:cNvPr id="36" name="Rectangle 35"/>
          <p:cNvSpPr/>
          <p:nvPr/>
        </p:nvSpPr>
        <p:spPr>
          <a:xfrm>
            <a:off x="2167128" y="3819418"/>
            <a:ext cx="2424683" cy="12704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646675" y="3819418"/>
            <a:ext cx="457200" cy="127040"/>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+20</a:t>
            </a:r>
          </a:p>
        </p:txBody>
      </p:sp>
      <p:sp>
        <p:nvSpPr>
          <p:cNvPr id="38" name="TextBox 37"/>
          <p:cNvSpPr txBox="1"/>
          <p:nvPr/>
        </p:nvSpPr>
        <p:spPr>
          <a:xfrm>
            <a:off x="502920" y="4310573"/>
            <a:ext cx="1554480" cy="463417"/>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C02 Claim 33 Protein</a:t>
            </a:r>
          </a:p>
          <a:p>
            <a:pPr algn="r">
              <a:spcBef>
                <a:spcPts val="0"/>
              </a:spcBef>
              <a:spcAft>
                <a:spcPts val="0"/>
              </a:spcAft>
            </a:pPr>
            <a:r>
              <a:rPr sz="1000" b="0" i="0">
                <a:solidFill>
                  <a:srgbClr val="1E2D44"/>
                </a:solidFill>
                <a:latin typeface="Karla"/>
              </a:rPr>
              <a:t>20g High Protein No…</a:t>
            </a:r>
          </a:p>
        </p:txBody>
      </p:sp>
      <p:sp>
        <p:nvSpPr>
          <p:cNvPr id="39" name="Rectangle 38"/>
          <p:cNvSpPr/>
          <p:nvPr/>
        </p:nvSpPr>
        <p:spPr>
          <a:xfrm>
            <a:off x="2167128" y="4310573"/>
            <a:ext cx="2060981" cy="127040"/>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282973" y="4310573"/>
            <a:ext cx="457200" cy="127040"/>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+17</a:t>
            </a:r>
          </a:p>
        </p:txBody>
      </p:sp>
      <p:sp>
        <p:nvSpPr>
          <p:cNvPr id="41" name="Rectangle 40"/>
          <p:cNvSpPr/>
          <p:nvPr/>
        </p:nvSpPr>
        <p:spPr>
          <a:xfrm>
            <a:off x="2167128" y="4478761"/>
            <a:ext cx="1454810" cy="127040"/>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76802" y="4478761"/>
            <a:ext cx="457200" cy="127040"/>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+12</a:t>
            </a:r>
          </a:p>
        </p:txBody>
      </p:sp>
      <p:sp>
        <p:nvSpPr>
          <p:cNvPr id="43" name="Rectangle 42"/>
          <p:cNvSpPr/>
          <p:nvPr/>
        </p:nvSpPr>
        <p:spPr>
          <a:xfrm>
            <a:off x="2167128" y="4646950"/>
            <a:ext cx="2060981" cy="12704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282973" y="4646950"/>
            <a:ext cx="457200" cy="127040"/>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+17</a:t>
            </a:r>
          </a:p>
        </p:txBody>
      </p:sp>
      <p:sp>
        <p:nvSpPr>
          <p:cNvPr id="45" name="Rectangle 44"/>
          <p:cNvSpPr/>
          <p:nvPr/>
        </p:nvSpPr>
        <p:spPr>
          <a:xfrm>
            <a:off x="1250695" y="5381244"/>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424431" y="5321807"/>
            <a:ext cx="170688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Bulgaria (basesize = 50)</a:t>
            </a:r>
          </a:p>
        </p:txBody>
      </p:sp>
      <p:sp>
        <p:nvSpPr>
          <p:cNvPr id="47" name="Rectangle 46"/>
          <p:cNvSpPr/>
          <p:nvPr/>
        </p:nvSpPr>
        <p:spPr>
          <a:xfrm>
            <a:off x="3387343" y="5381244"/>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561079" y="5321807"/>
            <a:ext cx="156464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Greece (basesize = 49)</a:t>
            </a:r>
          </a:p>
        </p:txBody>
      </p:sp>
      <p:sp>
        <p:nvSpPr>
          <p:cNvPr id="49" name="Rectangle 48"/>
          <p:cNvSpPr/>
          <p:nvPr/>
        </p:nvSpPr>
        <p:spPr>
          <a:xfrm>
            <a:off x="5381751" y="5381244"/>
            <a:ext cx="100584" cy="10058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555487" y="5321807"/>
            <a:ext cx="199136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Saudi Arabia (basesize = 51)</a:t>
            </a:r>
          </a:p>
        </p:txBody>
      </p:sp>
      <p:sp>
        <p:nvSpPr>
          <p:cNvPr id="51" name="Rounded Rectangle 50"/>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7935467" y="734834"/>
            <a:ext cx="1709927" cy="1090650"/>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3" name="Picture 52" descr="C4.png"/>
          <p:cNvPicPr>
            <a:picLocks noChangeAspect="1"/>
          </p:cNvPicPr>
          <p:nvPr/>
        </p:nvPicPr>
        <p:blipFill>
          <a:blip r:embed="rId2"/>
          <a:stretch>
            <a:fillRect/>
          </a:stretch>
        </p:blipFill>
        <p:spPr>
          <a:xfrm>
            <a:off x="7949183" y="748550"/>
            <a:ext cx="1682495" cy="1063218"/>
          </a:xfrm>
          <a:prstGeom prst="rect">
            <a:avLst/>
          </a:prstGeom>
        </p:spPr>
      </p:pic>
      <p:sp>
        <p:nvSpPr>
          <p:cNvPr id="54" name="TextBox 53"/>
          <p:cNvSpPr txBox="1"/>
          <p:nvPr/>
        </p:nvSpPr>
        <p:spPr>
          <a:xfrm>
            <a:off x="7912607" y="1866633"/>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C04 Claim Full</a:t>
            </a:r>
          </a:p>
          <a:p>
            <a:pPr algn="ctr">
              <a:spcBef>
                <a:spcPts val="0"/>
              </a:spcBef>
              <a:spcAft>
                <a:spcPts val="0"/>
              </a:spcAft>
            </a:pPr>
            <a:r>
              <a:rPr sz="1200" b="0" i="0">
                <a:solidFill>
                  <a:srgbClr val="1E2D44"/>
                </a:solidFill>
                <a:latin typeface="Karla"/>
              </a:rPr>
              <a:t>Block Fibrecollagen…</a:t>
            </a:r>
          </a:p>
        </p:txBody>
      </p:sp>
      <p:sp>
        <p:nvSpPr>
          <p:cNvPr id="55" name="TextBox 54"/>
          <p:cNvSpPr txBox="1"/>
          <p:nvPr/>
        </p:nvSpPr>
        <p:spPr>
          <a:xfrm>
            <a:off x="7912607" y="2232393"/>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+23*</a:t>
            </a:r>
          </a:p>
        </p:txBody>
      </p:sp>
      <p:sp>
        <p:nvSpPr>
          <p:cNvPr id="56" name="Rectangle 55"/>
          <p:cNvSpPr/>
          <p:nvPr/>
        </p:nvSpPr>
        <p:spPr>
          <a:xfrm>
            <a:off x="9855707" y="876597"/>
            <a:ext cx="1709927" cy="80712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7" name="Picture 56" descr="C5.png"/>
          <p:cNvPicPr>
            <a:picLocks noChangeAspect="1"/>
          </p:cNvPicPr>
          <p:nvPr/>
        </p:nvPicPr>
        <p:blipFill>
          <a:blip r:embed="rId3"/>
          <a:stretch>
            <a:fillRect/>
          </a:stretch>
        </p:blipFill>
        <p:spPr>
          <a:xfrm>
            <a:off x="9869423" y="890313"/>
            <a:ext cx="1682495" cy="779693"/>
          </a:xfrm>
          <a:prstGeom prst="rect">
            <a:avLst/>
          </a:prstGeom>
        </p:spPr>
      </p:pic>
      <p:sp>
        <p:nvSpPr>
          <p:cNvPr id="58" name="TextBox 57"/>
          <p:cNvSpPr txBox="1"/>
          <p:nvPr/>
        </p:nvSpPr>
        <p:spPr>
          <a:xfrm>
            <a:off x="9832847" y="1866633"/>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C05 Claim 33</a:t>
            </a:r>
          </a:p>
          <a:p>
            <a:pPr algn="ctr">
              <a:spcBef>
                <a:spcPts val="0"/>
              </a:spcBef>
              <a:spcAft>
                <a:spcPts val="0"/>
              </a:spcAft>
            </a:pPr>
            <a:r>
              <a:rPr sz="1200" b="0" i="0">
                <a:solidFill>
                  <a:srgbClr val="1E2D44"/>
                </a:solidFill>
                <a:latin typeface="Karla"/>
              </a:rPr>
              <a:t>Protein 20g High…</a:t>
            </a:r>
          </a:p>
        </p:txBody>
      </p:sp>
      <p:sp>
        <p:nvSpPr>
          <p:cNvPr id="59" name="TextBox 58"/>
          <p:cNvSpPr txBox="1"/>
          <p:nvPr/>
        </p:nvSpPr>
        <p:spPr>
          <a:xfrm>
            <a:off x="9832847" y="2232393"/>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+21*</a:t>
            </a:r>
          </a:p>
        </p:txBody>
      </p:sp>
      <p:sp>
        <p:nvSpPr>
          <p:cNvPr id="60" name="Rectangle 59"/>
          <p:cNvSpPr/>
          <p:nvPr/>
        </p:nvSpPr>
        <p:spPr>
          <a:xfrm>
            <a:off x="7935467" y="3459458"/>
            <a:ext cx="1709927" cy="762042"/>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1" name="Picture 60" descr="C1.png"/>
          <p:cNvPicPr>
            <a:picLocks noChangeAspect="1"/>
          </p:cNvPicPr>
          <p:nvPr/>
        </p:nvPicPr>
        <p:blipFill>
          <a:blip r:embed="rId4"/>
          <a:stretch>
            <a:fillRect/>
          </a:stretch>
        </p:blipFill>
        <p:spPr>
          <a:xfrm>
            <a:off x="7949183" y="3473174"/>
            <a:ext cx="1682495" cy="734610"/>
          </a:xfrm>
          <a:prstGeom prst="rect">
            <a:avLst/>
          </a:prstGeom>
        </p:spPr>
      </p:pic>
      <p:sp>
        <p:nvSpPr>
          <p:cNvPr id="62" name="TextBox 61"/>
          <p:cNvSpPr txBox="1"/>
          <p:nvPr/>
        </p:nvSpPr>
        <p:spPr>
          <a:xfrm>
            <a:off x="7912607" y="4426953"/>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C01 Claim Full</a:t>
            </a:r>
          </a:p>
          <a:p>
            <a:pPr algn="ctr">
              <a:spcBef>
                <a:spcPts val="0"/>
              </a:spcBef>
              <a:spcAft>
                <a:spcPts val="0"/>
              </a:spcAft>
            </a:pPr>
            <a:r>
              <a:rPr sz="1200" b="0" i="0">
                <a:solidFill>
                  <a:srgbClr val="1E2D44"/>
                </a:solidFill>
                <a:latin typeface="Karla"/>
              </a:rPr>
              <a:t>Block Fibrecollagen…</a:t>
            </a:r>
          </a:p>
        </p:txBody>
      </p:sp>
      <p:sp>
        <p:nvSpPr>
          <p:cNvPr id="63" name="TextBox 62"/>
          <p:cNvSpPr txBox="1"/>
          <p:nvPr/>
        </p:nvSpPr>
        <p:spPr>
          <a:xfrm>
            <a:off x="7912607" y="4792713"/>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+17*</a:t>
            </a:r>
          </a:p>
        </p:txBody>
      </p:sp>
      <p:sp>
        <p:nvSpPr>
          <p:cNvPr id="64" name="Rectangle 63"/>
          <p:cNvSpPr/>
          <p:nvPr/>
        </p:nvSpPr>
        <p:spPr>
          <a:xfrm>
            <a:off x="9855707" y="3532030"/>
            <a:ext cx="1709927" cy="616898"/>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5" name="Picture 64" descr="C2.png"/>
          <p:cNvPicPr>
            <a:picLocks noChangeAspect="1"/>
          </p:cNvPicPr>
          <p:nvPr/>
        </p:nvPicPr>
        <p:blipFill>
          <a:blip r:embed="rId5"/>
          <a:stretch>
            <a:fillRect/>
          </a:stretch>
        </p:blipFill>
        <p:spPr>
          <a:xfrm>
            <a:off x="9869423" y="3545746"/>
            <a:ext cx="1682495" cy="589466"/>
          </a:xfrm>
          <a:prstGeom prst="rect">
            <a:avLst/>
          </a:prstGeom>
        </p:spPr>
      </p:pic>
      <p:sp>
        <p:nvSpPr>
          <p:cNvPr id="66" name="TextBox 65"/>
          <p:cNvSpPr txBox="1"/>
          <p:nvPr/>
        </p:nvSpPr>
        <p:spPr>
          <a:xfrm>
            <a:off x="9832847" y="4426953"/>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C02 Claim 33</a:t>
            </a:r>
          </a:p>
          <a:p>
            <a:pPr algn="ctr">
              <a:spcBef>
                <a:spcPts val="0"/>
              </a:spcBef>
              <a:spcAft>
                <a:spcPts val="0"/>
              </a:spcAft>
            </a:pPr>
            <a:r>
              <a:rPr sz="1200" b="0" i="0">
                <a:solidFill>
                  <a:srgbClr val="1E2D44"/>
                </a:solidFill>
                <a:latin typeface="Karla"/>
              </a:rPr>
              <a:t>Protein 20g High…</a:t>
            </a:r>
          </a:p>
        </p:txBody>
      </p:sp>
      <p:sp>
        <p:nvSpPr>
          <p:cNvPr id="67" name="TextBox 66"/>
          <p:cNvSpPr txBox="1"/>
          <p:nvPr/>
        </p:nvSpPr>
        <p:spPr>
          <a:xfrm>
            <a:off x="9832847" y="4792713"/>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+15*</a:t>
            </a:r>
          </a:p>
        </p:txBody>
      </p:sp>
      <p:sp>
        <p:nvSpPr>
          <p:cNvPr id="68" name="Rounded Rectangle 67"/>
          <p:cNvSpPr/>
          <p:nvPr/>
        </p:nvSpPr>
        <p:spPr>
          <a:xfrm>
            <a:off x="502920" y="5632704"/>
            <a:ext cx="11268455" cy="676656"/>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200" b="0">
                <a:solidFill>
                  <a:srgbClr val="1E2D44"/>
                </a:solidFill>
                <a:latin typeface="Karla"/>
              </a:rPr>
              <a:t>Every group ranks C04 Claim Full Block Fibrecollagen 33 Protein 20gno Sugar Mid Left D1 first. The widest segment gap is C03 Claim 33 Protein Only Bottom Centre D2D3: +12 bulgaria / +7 greece / +17 saudi arabia.</a:t>
            </a:r>
          </a:p>
        </p:txBody>
      </p:sp>
      <p:sp>
        <p:nvSpPr>
          <p:cNvPr id="69" name="Rectangle 68"/>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Bulgaria basesize = 50; Greece basesize = 49; Saudi Arabia basesize = 51. Top-2 scores rounded to whole points. *Average of the groups in the legend.</a:t>
            </a:r>
          </a:p>
        </p:txBody>
      </p:sp>
      <p:sp>
        <p:nvSpPr>
          <p:cNvPr id="71" name="TextBox 70"/>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37744"/>
            <a:ext cx="7043927" cy="182880"/>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KEY FINDINGS: C_CLAIM  ·  Which of these countries do you live in?   ·   2 of 2</a:t>
            </a:r>
          </a:p>
        </p:txBody>
      </p:sp>
      <p:sp>
        <p:nvSpPr>
          <p:cNvPr id="3" name="TextBox 2"/>
          <p:cNvSpPr txBox="1"/>
          <p:nvPr/>
        </p:nvSpPr>
        <p:spPr>
          <a:xfrm>
            <a:off x="502920" y="438912"/>
            <a:ext cx="7043927" cy="365760"/>
          </a:xfrm>
          <a:prstGeom prst="rect">
            <a:avLst/>
          </a:prstGeom>
          <a:noFill/>
        </p:spPr>
        <p:txBody>
          <a:bodyPr wrap="square" anchor="t" lIns="0" rIns="0" tIns="0" bIns="0"/>
          <a:lstStyle/>
          <a:p>
            <a:pPr algn="l">
              <a:spcBef>
                <a:spcPts val="0"/>
              </a:spcBef>
              <a:spcAft>
                <a:spcPts val="0"/>
              </a:spcAft>
            </a:pPr>
            <a:r>
              <a:rPr sz="2600" b="1" i="0">
                <a:solidFill>
                  <a:srgbClr val="1E2D44"/>
                </a:solidFill>
                <a:latin typeface="Karla"/>
              </a:rPr>
              <a:t>C04 Claim Full Block Fibrecollagen 33 Protein 20gno Sugar Mid Left D1 leads in every group</a:t>
            </a:r>
          </a:p>
        </p:txBody>
      </p:sp>
      <p:sp>
        <p:nvSpPr>
          <p:cNvPr id="4" name="TextBox 3"/>
          <p:cNvSpPr txBox="1"/>
          <p:nvPr/>
        </p:nvSpPr>
        <p:spPr>
          <a:xfrm>
            <a:off x="502920" y="822960"/>
            <a:ext cx="7043927" cy="475488"/>
          </a:xfrm>
          <a:prstGeom prst="rect">
            <a:avLst/>
          </a:prstGeom>
          <a:noFill/>
        </p:spPr>
        <p:txBody>
          <a:bodyPr wrap="square" anchor="t" lIns="0" rIns="0" tIns="0" bIns="0"/>
          <a:lstStyle/>
          <a:p>
            <a:pPr algn="l">
              <a:spcBef>
                <a:spcPts val="0"/>
              </a:spcBef>
              <a:spcAft>
                <a:spcPts val="0"/>
              </a:spcAft>
            </a:pPr>
            <a:r>
              <a:rPr sz="1200" b="0" i="0">
                <a:solidFill>
                  <a:srgbClr val="617086"/>
                </a:solidFill>
                <a:latin typeface="Karla"/>
              </a:rPr>
              <a:t>C04 Claim Full Block Fibrecollagen 33 Protein 20gno Sugar Mid Left D1 leads every group; C02 Claim 33 Protein 20g High Protein No Sugar Added Bottom Centre D2D3 ranks last.</a:t>
            </a:r>
          </a:p>
        </p:txBody>
      </p:sp>
      <p:sp>
        <p:nvSpPr>
          <p:cNvPr id="5" name="Rectangle 4"/>
          <p:cNvSpPr/>
          <p:nvPr/>
        </p:nvSpPr>
        <p:spPr>
          <a:xfrm>
            <a:off x="502920" y="1335024"/>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C_CLAIM</a:t>
            </a:r>
          </a:p>
        </p:txBody>
      </p:sp>
      <p:sp>
        <p:nvSpPr>
          <p:cNvPr id="6" name="TextBox 5"/>
          <p:cNvSpPr txBox="1"/>
          <p:nvPr/>
        </p:nvSpPr>
        <p:spPr>
          <a:xfrm>
            <a:off x="1874520"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7" name="Rectangle 6"/>
          <p:cNvSpPr/>
          <p:nvPr/>
        </p:nvSpPr>
        <p:spPr>
          <a:xfrm>
            <a:off x="3379469" y="1645920"/>
            <a:ext cx="9144" cy="3310128"/>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86861"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5</a:t>
            </a:r>
          </a:p>
        </p:txBody>
      </p:sp>
      <p:sp>
        <p:nvSpPr>
          <p:cNvPr id="9" name="Rectangle 8"/>
          <p:cNvSpPr/>
          <p:nvPr/>
        </p:nvSpPr>
        <p:spPr>
          <a:xfrm>
            <a:off x="4591811" y="1645920"/>
            <a:ext cx="9144" cy="3310128"/>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9203"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11" name="Rectangle 10"/>
          <p:cNvSpPr/>
          <p:nvPr/>
        </p:nvSpPr>
        <p:spPr>
          <a:xfrm>
            <a:off x="5804153" y="1645920"/>
            <a:ext cx="9144" cy="3310128"/>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11545"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15</a:t>
            </a:r>
          </a:p>
        </p:txBody>
      </p:sp>
      <p:sp>
        <p:nvSpPr>
          <p:cNvPr id="13" name="Rectangle 12"/>
          <p:cNvSpPr/>
          <p:nvPr/>
        </p:nvSpPr>
        <p:spPr>
          <a:xfrm>
            <a:off x="7016495" y="1645920"/>
            <a:ext cx="9144" cy="3310128"/>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23887"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5" name="Rectangle 14"/>
          <p:cNvSpPr/>
          <p:nvPr/>
        </p:nvSpPr>
        <p:spPr>
          <a:xfrm>
            <a:off x="2167128" y="1645920"/>
            <a:ext cx="10972" cy="3310128"/>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167128" y="4956048"/>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2199132"/>
            <a:ext cx="1554480" cy="548640"/>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C03 Claim 33 Protein</a:t>
            </a:r>
          </a:p>
          <a:p>
            <a:pPr algn="r">
              <a:spcBef>
                <a:spcPts val="0"/>
              </a:spcBef>
              <a:spcAft>
                <a:spcPts val="0"/>
              </a:spcAft>
            </a:pPr>
            <a:r>
              <a:rPr sz="1000" b="0" i="0">
                <a:solidFill>
                  <a:srgbClr val="1E2D44"/>
                </a:solidFill>
                <a:latin typeface="Karla"/>
              </a:rPr>
              <a:t>Only Bottom Centre…</a:t>
            </a:r>
          </a:p>
        </p:txBody>
      </p:sp>
      <p:sp>
        <p:nvSpPr>
          <p:cNvPr id="18" name="Rectangle 17"/>
          <p:cNvSpPr/>
          <p:nvPr/>
        </p:nvSpPr>
        <p:spPr>
          <a:xfrm>
            <a:off x="2167128" y="2199132"/>
            <a:ext cx="2909620"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31612" y="2199132"/>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+12</a:t>
            </a:r>
          </a:p>
        </p:txBody>
      </p:sp>
      <p:sp>
        <p:nvSpPr>
          <p:cNvPr id="20" name="Rectangle 19"/>
          <p:cNvSpPr/>
          <p:nvPr/>
        </p:nvSpPr>
        <p:spPr>
          <a:xfrm>
            <a:off x="2167128" y="2395728"/>
            <a:ext cx="1697278"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19270" y="2395728"/>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+7</a:t>
            </a:r>
          </a:p>
        </p:txBody>
      </p:sp>
      <p:sp>
        <p:nvSpPr>
          <p:cNvPr id="22" name="Rectangle 21"/>
          <p:cNvSpPr/>
          <p:nvPr/>
        </p:nvSpPr>
        <p:spPr>
          <a:xfrm>
            <a:off x="2167128" y="2592324"/>
            <a:ext cx="4121962" cy="155448"/>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43954" y="2592324"/>
            <a:ext cx="457200" cy="155448"/>
          </a:xfrm>
          <a:prstGeom prst="rect">
            <a:avLst/>
          </a:prstGeom>
          <a:noFill/>
        </p:spPr>
        <p:txBody>
          <a:bodyPr wrap="none" anchor="ctr" lIns="0" rIns="0" tIns="0" bIns="0"/>
          <a:lstStyle/>
          <a:p>
            <a:pPr algn="l">
              <a:spcBef>
                <a:spcPts val="0"/>
              </a:spcBef>
              <a:spcAft>
                <a:spcPts val="0"/>
              </a:spcAft>
            </a:pPr>
            <a:r>
              <a:rPr sz="1200" b="1" i="0">
                <a:solidFill>
                  <a:srgbClr val="C45C26"/>
                </a:solidFill>
                <a:latin typeface="Karla"/>
              </a:rPr>
              <a:t>+17</a:t>
            </a:r>
          </a:p>
        </p:txBody>
      </p:sp>
      <p:sp>
        <p:nvSpPr>
          <p:cNvPr id="24" name="TextBox 23"/>
          <p:cNvSpPr txBox="1"/>
          <p:nvPr/>
        </p:nvSpPr>
        <p:spPr>
          <a:xfrm>
            <a:off x="502920" y="3854196"/>
            <a:ext cx="1554480" cy="548640"/>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C06 Claim 33 Protein</a:t>
            </a:r>
          </a:p>
          <a:p>
            <a:pPr algn="r">
              <a:spcBef>
                <a:spcPts val="0"/>
              </a:spcBef>
              <a:spcAft>
                <a:spcPts val="0"/>
              </a:spcAft>
            </a:pPr>
            <a:r>
              <a:rPr sz="1000" b="0" i="0">
                <a:solidFill>
                  <a:srgbClr val="1E2D44"/>
                </a:solidFill>
                <a:latin typeface="Karla"/>
              </a:rPr>
              <a:t>Only Mid Left D1</a:t>
            </a:r>
          </a:p>
        </p:txBody>
      </p:sp>
      <p:sp>
        <p:nvSpPr>
          <p:cNvPr id="25" name="Rectangle 24"/>
          <p:cNvSpPr/>
          <p:nvPr/>
        </p:nvSpPr>
        <p:spPr>
          <a:xfrm>
            <a:off x="2167128" y="3854196"/>
            <a:ext cx="3879494"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101486" y="3854196"/>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+16</a:t>
            </a:r>
          </a:p>
        </p:txBody>
      </p:sp>
      <p:sp>
        <p:nvSpPr>
          <p:cNvPr id="27" name="Rectangle 26"/>
          <p:cNvSpPr/>
          <p:nvPr/>
        </p:nvSpPr>
        <p:spPr>
          <a:xfrm>
            <a:off x="2167128" y="4050791"/>
            <a:ext cx="2424683"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46675" y="4050791"/>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+10</a:t>
            </a:r>
          </a:p>
        </p:txBody>
      </p:sp>
      <p:sp>
        <p:nvSpPr>
          <p:cNvPr id="29" name="Rectangle 28"/>
          <p:cNvSpPr/>
          <p:nvPr/>
        </p:nvSpPr>
        <p:spPr>
          <a:xfrm>
            <a:off x="2167128" y="4247388"/>
            <a:ext cx="4121962" cy="155448"/>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43954" y="4247388"/>
            <a:ext cx="457200" cy="155448"/>
          </a:xfrm>
          <a:prstGeom prst="rect">
            <a:avLst/>
          </a:prstGeom>
          <a:noFill/>
        </p:spPr>
        <p:txBody>
          <a:bodyPr wrap="none" anchor="ctr" lIns="0" rIns="0" tIns="0" bIns="0"/>
          <a:lstStyle/>
          <a:p>
            <a:pPr algn="l">
              <a:spcBef>
                <a:spcPts val="0"/>
              </a:spcBef>
              <a:spcAft>
                <a:spcPts val="0"/>
              </a:spcAft>
            </a:pPr>
            <a:r>
              <a:rPr sz="1200" b="1" i="0">
                <a:solidFill>
                  <a:srgbClr val="C45C26"/>
                </a:solidFill>
                <a:latin typeface="Karla"/>
              </a:rPr>
              <a:t>+17</a:t>
            </a:r>
          </a:p>
        </p:txBody>
      </p:sp>
      <p:sp>
        <p:nvSpPr>
          <p:cNvPr id="31" name="Rectangle 30"/>
          <p:cNvSpPr/>
          <p:nvPr/>
        </p:nvSpPr>
        <p:spPr>
          <a:xfrm>
            <a:off x="1250695" y="5381244"/>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424431" y="5321807"/>
            <a:ext cx="170688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Bulgaria (basesize = 50)</a:t>
            </a:r>
          </a:p>
        </p:txBody>
      </p:sp>
      <p:sp>
        <p:nvSpPr>
          <p:cNvPr id="33" name="Rectangle 32"/>
          <p:cNvSpPr/>
          <p:nvPr/>
        </p:nvSpPr>
        <p:spPr>
          <a:xfrm>
            <a:off x="3387343" y="5381244"/>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561079" y="5321807"/>
            <a:ext cx="156464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Greece (basesize = 49)</a:t>
            </a:r>
          </a:p>
        </p:txBody>
      </p:sp>
      <p:sp>
        <p:nvSpPr>
          <p:cNvPr id="35" name="Rectangle 34"/>
          <p:cNvSpPr/>
          <p:nvPr/>
        </p:nvSpPr>
        <p:spPr>
          <a:xfrm>
            <a:off x="5381751" y="5381244"/>
            <a:ext cx="100584" cy="10058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555487" y="5321807"/>
            <a:ext cx="199136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Saudi Arabia (basesize = 51)</a:t>
            </a:r>
          </a:p>
        </p:txBody>
      </p:sp>
      <p:sp>
        <p:nvSpPr>
          <p:cNvPr id="37" name="Rounded Rectangle 36"/>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935467" y="2361375"/>
            <a:ext cx="1709927" cy="397889"/>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38" descr="C3.png"/>
          <p:cNvPicPr>
            <a:picLocks noChangeAspect="1"/>
          </p:cNvPicPr>
          <p:nvPr/>
        </p:nvPicPr>
        <p:blipFill>
          <a:blip r:embed="rId2"/>
          <a:stretch>
            <a:fillRect/>
          </a:stretch>
        </p:blipFill>
        <p:spPr>
          <a:xfrm>
            <a:off x="7949183" y="2375091"/>
            <a:ext cx="1682495" cy="370457"/>
          </a:xfrm>
          <a:prstGeom prst="rect">
            <a:avLst/>
          </a:prstGeom>
        </p:spPr>
      </p:pic>
      <p:sp>
        <p:nvSpPr>
          <p:cNvPr id="40" name="TextBox 39"/>
          <p:cNvSpPr txBox="1"/>
          <p:nvPr/>
        </p:nvSpPr>
        <p:spPr>
          <a:xfrm>
            <a:off x="7912607" y="2800412"/>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C03 Claim 33</a:t>
            </a:r>
          </a:p>
          <a:p>
            <a:pPr algn="ctr">
              <a:spcBef>
                <a:spcPts val="0"/>
              </a:spcBef>
              <a:spcAft>
                <a:spcPts val="0"/>
              </a:spcAft>
            </a:pPr>
            <a:r>
              <a:rPr sz="1200" b="0" i="0">
                <a:solidFill>
                  <a:srgbClr val="1E2D44"/>
                </a:solidFill>
                <a:latin typeface="Karla"/>
              </a:rPr>
              <a:t>Protein Only Bottom…</a:t>
            </a:r>
          </a:p>
        </p:txBody>
      </p:sp>
      <p:sp>
        <p:nvSpPr>
          <p:cNvPr id="41" name="TextBox 40"/>
          <p:cNvSpPr txBox="1"/>
          <p:nvPr/>
        </p:nvSpPr>
        <p:spPr>
          <a:xfrm>
            <a:off x="7912607" y="3166172"/>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+12*</a:t>
            </a:r>
          </a:p>
        </p:txBody>
      </p:sp>
      <p:sp>
        <p:nvSpPr>
          <p:cNvPr id="42" name="Rectangle 41"/>
          <p:cNvSpPr/>
          <p:nvPr/>
        </p:nvSpPr>
        <p:spPr>
          <a:xfrm>
            <a:off x="9855707" y="2364051"/>
            <a:ext cx="1709927" cy="392537"/>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3" name="Picture 42" descr="C6.png"/>
          <p:cNvPicPr>
            <a:picLocks noChangeAspect="1"/>
          </p:cNvPicPr>
          <p:nvPr/>
        </p:nvPicPr>
        <p:blipFill>
          <a:blip r:embed="rId3"/>
          <a:stretch>
            <a:fillRect/>
          </a:stretch>
        </p:blipFill>
        <p:spPr>
          <a:xfrm>
            <a:off x="9869423" y="2377767"/>
            <a:ext cx="1682495" cy="365105"/>
          </a:xfrm>
          <a:prstGeom prst="rect">
            <a:avLst/>
          </a:prstGeom>
        </p:spPr>
      </p:pic>
      <p:sp>
        <p:nvSpPr>
          <p:cNvPr id="44" name="TextBox 43"/>
          <p:cNvSpPr txBox="1"/>
          <p:nvPr/>
        </p:nvSpPr>
        <p:spPr>
          <a:xfrm>
            <a:off x="9832847" y="2800412"/>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C06 Claim 33</a:t>
            </a:r>
          </a:p>
          <a:p>
            <a:pPr algn="ctr">
              <a:spcBef>
                <a:spcPts val="0"/>
              </a:spcBef>
              <a:spcAft>
                <a:spcPts val="0"/>
              </a:spcAft>
            </a:pPr>
            <a:r>
              <a:rPr sz="1200" b="0" i="0">
                <a:solidFill>
                  <a:srgbClr val="1E2D44"/>
                </a:solidFill>
                <a:latin typeface="Karla"/>
              </a:rPr>
              <a:t>Protein Only Mid…</a:t>
            </a:r>
          </a:p>
        </p:txBody>
      </p:sp>
      <p:sp>
        <p:nvSpPr>
          <p:cNvPr id="45" name="TextBox 44"/>
          <p:cNvSpPr txBox="1"/>
          <p:nvPr/>
        </p:nvSpPr>
        <p:spPr>
          <a:xfrm>
            <a:off x="9832847" y="3166172"/>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+14*</a:t>
            </a:r>
          </a:p>
        </p:txBody>
      </p:sp>
      <p:sp>
        <p:nvSpPr>
          <p:cNvPr id="46" name="Rounded Rectangle 45"/>
          <p:cNvSpPr/>
          <p:nvPr/>
        </p:nvSpPr>
        <p:spPr>
          <a:xfrm>
            <a:off x="502920" y="5632704"/>
            <a:ext cx="11268455" cy="676656"/>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200" b="0">
                <a:solidFill>
                  <a:srgbClr val="1E2D44"/>
                </a:solidFill>
                <a:latin typeface="Karla"/>
              </a:rPr>
              <a:t>Every group ranks C04 Claim Full Block Fibrecollagen 33 Protein 20gno Sugar Mid Left D1 first. The widest segment gap is C03 Claim 33 Protein Only Bottom Centre D2D3: +12 bulgaria / +7 greece / +17 saudi arabia.</a:t>
            </a:r>
          </a:p>
        </p:txBody>
      </p:sp>
      <p:sp>
        <p:nvSpPr>
          <p:cNvPr id="47" name="Rectangle 46"/>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Bulgaria basesize = 50; Greece basesize = 49; Saudi Arabia basesize = 51. Top-2 scores rounded to whole points. *Average of the groups in the legend.</a:t>
            </a:r>
          </a:p>
        </p:txBody>
      </p:sp>
      <p:sp>
        <p:nvSpPr>
          <p:cNvPr id="49" name="TextBox 48"/>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37744"/>
            <a:ext cx="7043927" cy="182880"/>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KEY FINDINGS: C_CLAIM  ·  Do you currently consume protein-enriched food products   ·   1 of 2</a:t>
            </a:r>
          </a:p>
        </p:txBody>
      </p:sp>
      <p:sp>
        <p:nvSpPr>
          <p:cNvPr id="3" name="TextBox 2"/>
          <p:cNvSpPr txBox="1"/>
          <p:nvPr/>
        </p:nvSpPr>
        <p:spPr>
          <a:xfrm>
            <a:off x="502920" y="438912"/>
            <a:ext cx="7043927" cy="365760"/>
          </a:xfrm>
          <a:prstGeom prst="rect">
            <a:avLst/>
          </a:prstGeom>
          <a:noFill/>
        </p:spPr>
        <p:txBody>
          <a:bodyPr wrap="square" anchor="t" lIns="0" rIns="0" tIns="0" bIns="0"/>
          <a:lstStyle/>
          <a:p>
            <a:pPr algn="l">
              <a:spcBef>
                <a:spcPts val="0"/>
              </a:spcBef>
              <a:spcAft>
                <a:spcPts val="0"/>
              </a:spcAft>
            </a:pPr>
            <a:r>
              <a:rPr sz="2600" b="1" i="0">
                <a:solidFill>
                  <a:srgbClr val="1E2D44"/>
                </a:solidFill>
                <a:latin typeface="Karla"/>
              </a:rPr>
              <a:t>C_Claim splits across the groups</a:t>
            </a:r>
          </a:p>
        </p:txBody>
      </p:sp>
      <p:sp>
        <p:nvSpPr>
          <p:cNvPr id="4" name="TextBox 3"/>
          <p:cNvSpPr txBox="1"/>
          <p:nvPr/>
        </p:nvSpPr>
        <p:spPr>
          <a:xfrm>
            <a:off x="502920" y="822960"/>
            <a:ext cx="7043927" cy="475488"/>
          </a:xfrm>
          <a:prstGeom prst="rect">
            <a:avLst/>
          </a:prstGeom>
          <a:noFill/>
        </p:spPr>
        <p:txBody>
          <a:bodyPr wrap="square" anchor="t" lIns="0" rIns="0" tIns="0" bIns="0"/>
          <a:lstStyle/>
          <a:p>
            <a:pPr algn="l">
              <a:spcBef>
                <a:spcPts val="0"/>
              </a:spcBef>
              <a:spcAft>
                <a:spcPts val="0"/>
              </a:spcAft>
            </a:pPr>
            <a:r>
              <a:rPr sz="1200" b="0" i="0">
                <a:solidFill>
                  <a:srgbClr val="617086"/>
                </a:solidFill>
                <a:latin typeface="Karla"/>
              </a:rPr>
              <a:t>No, and I am not interested favors C05 Claim 33 Protein 20g High Protein No Sugar Added Mid Left D1; No, but I am interested in trying them favors C04 Claim Full Block Fibrecollagen 33 Protein 20gno Sugar Mid Left D1; Yes, occasionally favors C04 Claim Full Block Fibrecollagen 33 Protein 20gno Sugar Mid Left D1; Yes, regularly favors C04 Claim Full Block Fibrecollagen 33 Protein 20gno Sugar Mid Left D1.</a:t>
            </a:r>
          </a:p>
        </p:txBody>
      </p:sp>
      <p:sp>
        <p:nvSpPr>
          <p:cNvPr id="5" name="Rectangle 4"/>
          <p:cNvSpPr/>
          <p:nvPr/>
        </p:nvSpPr>
        <p:spPr>
          <a:xfrm>
            <a:off x="502920" y="1335024"/>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C_CLAIM</a:t>
            </a:r>
          </a:p>
        </p:txBody>
      </p:sp>
      <p:sp>
        <p:nvSpPr>
          <p:cNvPr id="6" name="Rectangle 5"/>
          <p:cNvSpPr/>
          <p:nvPr/>
        </p:nvSpPr>
        <p:spPr>
          <a:xfrm>
            <a:off x="2167128"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74520"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8" name="TextBox 7"/>
          <p:cNvSpPr txBox="1"/>
          <p:nvPr/>
        </p:nvSpPr>
        <p:spPr>
          <a:xfrm>
            <a:off x="3490975"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9" name="Rectangle 8"/>
          <p:cNvSpPr/>
          <p:nvPr/>
        </p:nvSpPr>
        <p:spPr>
          <a:xfrm>
            <a:off x="5400039"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7431"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1" name="Rectangle 10"/>
          <p:cNvSpPr/>
          <p:nvPr/>
        </p:nvSpPr>
        <p:spPr>
          <a:xfrm>
            <a:off x="7016495"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23887"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40</a:t>
            </a:r>
          </a:p>
        </p:txBody>
      </p:sp>
      <p:sp>
        <p:nvSpPr>
          <p:cNvPr id="13" name="Rectangle 12"/>
          <p:cNvSpPr/>
          <p:nvPr/>
        </p:nvSpPr>
        <p:spPr>
          <a:xfrm>
            <a:off x="3783583" y="1645920"/>
            <a:ext cx="10972" cy="2871215"/>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167128" y="4517136"/>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1778508"/>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C04 Claim Full Block</a:t>
            </a:r>
          </a:p>
          <a:p>
            <a:pPr algn="r">
              <a:spcBef>
                <a:spcPts val="0"/>
              </a:spcBef>
              <a:spcAft>
                <a:spcPts val="0"/>
              </a:spcAft>
            </a:pPr>
            <a:r>
              <a:rPr sz="1000" b="0" i="0">
                <a:solidFill>
                  <a:srgbClr val="1E2D44"/>
                </a:solidFill>
                <a:latin typeface="Karla"/>
              </a:rPr>
              <a:t>Fibrecollagen 33…</a:t>
            </a:r>
          </a:p>
        </p:txBody>
      </p:sp>
      <p:sp>
        <p:nvSpPr>
          <p:cNvPr id="16" name="Rectangle 15"/>
          <p:cNvSpPr/>
          <p:nvPr/>
        </p:nvSpPr>
        <p:spPr>
          <a:xfrm>
            <a:off x="3783583" y="1778508"/>
            <a:ext cx="27432"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838447" y="1778508"/>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0</a:t>
            </a:r>
          </a:p>
        </p:txBody>
      </p:sp>
      <p:sp>
        <p:nvSpPr>
          <p:cNvPr id="18" name="Rectangle 17"/>
          <p:cNvSpPr/>
          <p:nvPr/>
        </p:nvSpPr>
        <p:spPr>
          <a:xfrm>
            <a:off x="3783583" y="1901952"/>
            <a:ext cx="1778101"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16549" y="1901952"/>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+22</a:t>
            </a:r>
          </a:p>
        </p:txBody>
      </p:sp>
      <p:sp>
        <p:nvSpPr>
          <p:cNvPr id="20" name="Rectangle 19"/>
          <p:cNvSpPr/>
          <p:nvPr/>
        </p:nvSpPr>
        <p:spPr>
          <a:xfrm>
            <a:off x="3783583" y="2025395"/>
            <a:ext cx="1778101"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16549" y="2025395"/>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+22</a:t>
            </a:r>
          </a:p>
        </p:txBody>
      </p:sp>
      <p:sp>
        <p:nvSpPr>
          <p:cNvPr id="22" name="Rectangle 21"/>
          <p:cNvSpPr/>
          <p:nvPr/>
        </p:nvSpPr>
        <p:spPr>
          <a:xfrm>
            <a:off x="3783583" y="2148840"/>
            <a:ext cx="2101392"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39840" y="2148840"/>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+26</a:t>
            </a:r>
          </a:p>
        </p:txBody>
      </p:sp>
      <p:sp>
        <p:nvSpPr>
          <p:cNvPr id="24" name="TextBox 23"/>
          <p:cNvSpPr txBox="1"/>
          <p:nvPr/>
        </p:nvSpPr>
        <p:spPr>
          <a:xfrm>
            <a:off x="502920" y="2496312"/>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C05 Claim 33 Protein</a:t>
            </a:r>
          </a:p>
          <a:p>
            <a:pPr algn="r">
              <a:spcBef>
                <a:spcPts val="0"/>
              </a:spcBef>
              <a:spcAft>
                <a:spcPts val="0"/>
              </a:spcAft>
            </a:pPr>
            <a:r>
              <a:rPr sz="1000" b="0" i="0">
                <a:solidFill>
                  <a:srgbClr val="1E2D44"/>
                </a:solidFill>
                <a:latin typeface="Karla"/>
              </a:rPr>
              <a:t>20g High Protein No…</a:t>
            </a:r>
          </a:p>
        </p:txBody>
      </p:sp>
      <p:sp>
        <p:nvSpPr>
          <p:cNvPr id="25" name="Rectangle 24"/>
          <p:cNvSpPr/>
          <p:nvPr/>
        </p:nvSpPr>
        <p:spPr>
          <a:xfrm>
            <a:off x="3783583" y="2496312"/>
            <a:ext cx="1293164"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131612" y="2496312"/>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+16</a:t>
            </a:r>
          </a:p>
        </p:txBody>
      </p:sp>
      <p:sp>
        <p:nvSpPr>
          <p:cNvPr id="27" name="Rectangle 26"/>
          <p:cNvSpPr/>
          <p:nvPr/>
        </p:nvSpPr>
        <p:spPr>
          <a:xfrm>
            <a:off x="3783583" y="2619756"/>
            <a:ext cx="1373987"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212435" y="2619756"/>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+17</a:t>
            </a:r>
          </a:p>
        </p:txBody>
      </p:sp>
      <p:sp>
        <p:nvSpPr>
          <p:cNvPr id="29" name="Rectangle 28"/>
          <p:cNvSpPr/>
          <p:nvPr/>
        </p:nvSpPr>
        <p:spPr>
          <a:xfrm>
            <a:off x="3783583" y="2743200"/>
            <a:ext cx="1535633"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374081" y="2743200"/>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+19</a:t>
            </a:r>
          </a:p>
        </p:txBody>
      </p:sp>
      <p:sp>
        <p:nvSpPr>
          <p:cNvPr id="31" name="Rectangle 30"/>
          <p:cNvSpPr/>
          <p:nvPr/>
        </p:nvSpPr>
        <p:spPr>
          <a:xfrm>
            <a:off x="3783583" y="2866644"/>
            <a:ext cx="1858924"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697372" y="2866644"/>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+23</a:t>
            </a:r>
          </a:p>
        </p:txBody>
      </p:sp>
      <p:sp>
        <p:nvSpPr>
          <p:cNvPr id="33" name="TextBox 32"/>
          <p:cNvSpPr txBox="1"/>
          <p:nvPr/>
        </p:nvSpPr>
        <p:spPr>
          <a:xfrm>
            <a:off x="502920" y="3214116"/>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C02 Claim 33 Protein</a:t>
            </a:r>
          </a:p>
          <a:p>
            <a:pPr algn="r">
              <a:spcBef>
                <a:spcPts val="0"/>
              </a:spcBef>
              <a:spcAft>
                <a:spcPts val="0"/>
              </a:spcAft>
            </a:pPr>
            <a:r>
              <a:rPr sz="1000" b="0" i="0">
                <a:solidFill>
                  <a:srgbClr val="1E2D44"/>
                </a:solidFill>
                <a:latin typeface="Karla"/>
              </a:rPr>
              <a:t>20g High Protein No…</a:t>
            </a:r>
          </a:p>
        </p:txBody>
      </p:sp>
      <p:sp>
        <p:nvSpPr>
          <p:cNvPr id="34" name="Rectangle 33"/>
          <p:cNvSpPr/>
          <p:nvPr/>
        </p:nvSpPr>
        <p:spPr>
          <a:xfrm>
            <a:off x="3541115" y="3214116"/>
            <a:ext cx="242468"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029051" y="3214116"/>
            <a:ext cx="457200" cy="82296"/>
          </a:xfrm>
          <a:prstGeom prst="rect">
            <a:avLst/>
          </a:prstGeom>
          <a:noFill/>
        </p:spPr>
        <p:txBody>
          <a:bodyPr wrap="none" anchor="ctr" lIns="0" rIns="0" tIns="0" bIns="0"/>
          <a:lstStyle/>
          <a:p>
            <a:pPr algn="r">
              <a:spcBef>
                <a:spcPts val="0"/>
              </a:spcBef>
              <a:spcAft>
                <a:spcPts val="0"/>
              </a:spcAft>
            </a:pPr>
            <a:r>
              <a:rPr sz="1000" b="1" i="0">
                <a:solidFill>
                  <a:srgbClr val="1A2332"/>
                </a:solidFill>
                <a:latin typeface="Karla"/>
              </a:rPr>
              <a:t>-3</a:t>
            </a:r>
          </a:p>
        </p:txBody>
      </p:sp>
      <p:sp>
        <p:nvSpPr>
          <p:cNvPr id="36" name="Rectangle 35"/>
          <p:cNvSpPr/>
          <p:nvPr/>
        </p:nvSpPr>
        <p:spPr>
          <a:xfrm>
            <a:off x="3783583" y="3337560"/>
            <a:ext cx="969873"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808321" y="3337560"/>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+12</a:t>
            </a:r>
          </a:p>
        </p:txBody>
      </p:sp>
      <p:sp>
        <p:nvSpPr>
          <p:cNvPr id="38" name="Rectangle 37"/>
          <p:cNvSpPr/>
          <p:nvPr/>
        </p:nvSpPr>
        <p:spPr>
          <a:xfrm>
            <a:off x="3783583" y="3461004"/>
            <a:ext cx="889050"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727498" y="3461004"/>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+11</a:t>
            </a:r>
          </a:p>
        </p:txBody>
      </p:sp>
      <p:sp>
        <p:nvSpPr>
          <p:cNvPr id="40" name="Rectangle 39"/>
          <p:cNvSpPr/>
          <p:nvPr/>
        </p:nvSpPr>
        <p:spPr>
          <a:xfrm>
            <a:off x="3783583" y="3584448"/>
            <a:ext cx="1697278"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535726" y="3584448"/>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+21</a:t>
            </a:r>
          </a:p>
        </p:txBody>
      </p:sp>
      <p:sp>
        <p:nvSpPr>
          <p:cNvPr id="42" name="TextBox 41"/>
          <p:cNvSpPr txBox="1"/>
          <p:nvPr/>
        </p:nvSpPr>
        <p:spPr>
          <a:xfrm>
            <a:off x="502920" y="3931919"/>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C01 Claim Full Block</a:t>
            </a:r>
          </a:p>
          <a:p>
            <a:pPr algn="r">
              <a:spcBef>
                <a:spcPts val="0"/>
              </a:spcBef>
              <a:spcAft>
                <a:spcPts val="0"/>
              </a:spcAft>
            </a:pPr>
            <a:r>
              <a:rPr sz="1000" b="0" i="0">
                <a:solidFill>
                  <a:srgbClr val="1E2D44"/>
                </a:solidFill>
                <a:latin typeface="Karla"/>
              </a:rPr>
              <a:t>Fibrecollagen 33…</a:t>
            </a:r>
          </a:p>
        </p:txBody>
      </p:sp>
      <p:sp>
        <p:nvSpPr>
          <p:cNvPr id="43" name="Rectangle 42"/>
          <p:cNvSpPr/>
          <p:nvPr/>
        </p:nvSpPr>
        <p:spPr>
          <a:xfrm>
            <a:off x="3783583" y="3931919"/>
            <a:ext cx="80822"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919270" y="3931919"/>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+1</a:t>
            </a:r>
          </a:p>
        </p:txBody>
      </p:sp>
      <p:sp>
        <p:nvSpPr>
          <p:cNvPr id="45" name="Rectangle 44"/>
          <p:cNvSpPr/>
          <p:nvPr/>
        </p:nvSpPr>
        <p:spPr>
          <a:xfrm>
            <a:off x="3783583" y="4055363"/>
            <a:ext cx="727405"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565853" y="4055363"/>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+9</a:t>
            </a:r>
          </a:p>
        </p:txBody>
      </p:sp>
      <p:sp>
        <p:nvSpPr>
          <p:cNvPr id="47" name="Rectangle 46"/>
          <p:cNvSpPr/>
          <p:nvPr/>
        </p:nvSpPr>
        <p:spPr>
          <a:xfrm>
            <a:off x="3783583" y="4178807"/>
            <a:ext cx="1373987"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212435" y="4178807"/>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+17</a:t>
            </a:r>
          </a:p>
        </p:txBody>
      </p:sp>
      <p:sp>
        <p:nvSpPr>
          <p:cNvPr id="49" name="Rectangle 48"/>
          <p:cNvSpPr/>
          <p:nvPr/>
        </p:nvSpPr>
        <p:spPr>
          <a:xfrm>
            <a:off x="3783583" y="4302251"/>
            <a:ext cx="1616455"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454903" y="4302251"/>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+20</a:t>
            </a:r>
          </a:p>
        </p:txBody>
      </p:sp>
      <p:sp>
        <p:nvSpPr>
          <p:cNvPr id="51" name="Rectangle 50"/>
          <p:cNvSpPr/>
          <p:nvPr/>
        </p:nvSpPr>
        <p:spPr>
          <a:xfrm>
            <a:off x="3011423" y="4942332"/>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185159" y="4882896"/>
            <a:ext cx="298704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No, and I am not interested (basesize = 5)</a:t>
            </a:r>
          </a:p>
        </p:txBody>
      </p:sp>
      <p:sp>
        <p:nvSpPr>
          <p:cNvPr id="53" name="Rectangle 52"/>
          <p:cNvSpPr/>
          <p:nvPr/>
        </p:nvSpPr>
        <p:spPr>
          <a:xfrm>
            <a:off x="755903" y="5161788"/>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29639" y="5102352"/>
            <a:ext cx="384048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No, but I am interested in trying them (basesize = 15)</a:t>
            </a:r>
          </a:p>
        </p:txBody>
      </p:sp>
      <p:sp>
        <p:nvSpPr>
          <p:cNvPr id="55" name="Rectangle 54"/>
          <p:cNvSpPr/>
          <p:nvPr/>
        </p:nvSpPr>
        <p:spPr>
          <a:xfrm>
            <a:off x="5026151" y="5161788"/>
            <a:ext cx="100584" cy="10058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199887" y="5102352"/>
            <a:ext cx="234696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Yes, occasionally (basesize = 56)</a:t>
            </a:r>
          </a:p>
        </p:txBody>
      </p:sp>
      <p:sp>
        <p:nvSpPr>
          <p:cNvPr id="57" name="Rectangle 56"/>
          <p:cNvSpPr/>
          <p:nvPr/>
        </p:nvSpPr>
        <p:spPr>
          <a:xfrm>
            <a:off x="3438143" y="5381244"/>
            <a:ext cx="100584" cy="100584"/>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611879" y="5321808"/>
            <a:ext cx="213360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Yes, regularly (basesize = 74)</a:t>
            </a:r>
          </a:p>
        </p:txBody>
      </p:sp>
      <p:sp>
        <p:nvSpPr>
          <p:cNvPr id="59" name="Rounded Rectangle 58"/>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7935467" y="734834"/>
            <a:ext cx="1709927" cy="1090650"/>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1" name="Picture 60" descr="C4.png"/>
          <p:cNvPicPr>
            <a:picLocks noChangeAspect="1"/>
          </p:cNvPicPr>
          <p:nvPr/>
        </p:nvPicPr>
        <p:blipFill>
          <a:blip r:embed="rId2"/>
          <a:stretch>
            <a:fillRect/>
          </a:stretch>
        </p:blipFill>
        <p:spPr>
          <a:xfrm>
            <a:off x="7949183" y="748550"/>
            <a:ext cx="1682495" cy="1063218"/>
          </a:xfrm>
          <a:prstGeom prst="rect">
            <a:avLst/>
          </a:prstGeom>
        </p:spPr>
      </p:pic>
      <p:sp>
        <p:nvSpPr>
          <p:cNvPr id="62" name="TextBox 61"/>
          <p:cNvSpPr txBox="1"/>
          <p:nvPr/>
        </p:nvSpPr>
        <p:spPr>
          <a:xfrm>
            <a:off x="7912607" y="1866633"/>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C04 Claim Full</a:t>
            </a:r>
          </a:p>
          <a:p>
            <a:pPr algn="ctr">
              <a:spcBef>
                <a:spcPts val="0"/>
              </a:spcBef>
              <a:spcAft>
                <a:spcPts val="0"/>
              </a:spcAft>
            </a:pPr>
            <a:r>
              <a:rPr sz="1200" b="0" i="0">
                <a:solidFill>
                  <a:srgbClr val="1E2D44"/>
                </a:solidFill>
                <a:latin typeface="Karla"/>
              </a:rPr>
              <a:t>Block Fibrecollagen…</a:t>
            </a:r>
          </a:p>
        </p:txBody>
      </p:sp>
      <p:sp>
        <p:nvSpPr>
          <p:cNvPr id="63" name="TextBox 62"/>
          <p:cNvSpPr txBox="1"/>
          <p:nvPr/>
        </p:nvSpPr>
        <p:spPr>
          <a:xfrm>
            <a:off x="7912607" y="2232393"/>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+18*</a:t>
            </a:r>
          </a:p>
        </p:txBody>
      </p:sp>
      <p:sp>
        <p:nvSpPr>
          <p:cNvPr id="64" name="Rectangle 63"/>
          <p:cNvSpPr/>
          <p:nvPr/>
        </p:nvSpPr>
        <p:spPr>
          <a:xfrm>
            <a:off x="9855707" y="876597"/>
            <a:ext cx="1709927" cy="80712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5" name="Picture 64" descr="C5.png"/>
          <p:cNvPicPr>
            <a:picLocks noChangeAspect="1"/>
          </p:cNvPicPr>
          <p:nvPr/>
        </p:nvPicPr>
        <p:blipFill>
          <a:blip r:embed="rId3"/>
          <a:stretch>
            <a:fillRect/>
          </a:stretch>
        </p:blipFill>
        <p:spPr>
          <a:xfrm>
            <a:off x="9869423" y="890313"/>
            <a:ext cx="1682495" cy="779693"/>
          </a:xfrm>
          <a:prstGeom prst="rect">
            <a:avLst/>
          </a:prstGeom>
        </p:spPr>
      </p:pic>
      <p:sp>
        <p:nvSpPr>
          <p:cNvPr id="66" name="TextBox 65"/>
          <p:cNvSpPr txBox="1"/>
          <p:nvPr/>
        </p:nvSpPr>
        <p:spPr>
          <a:xfrm>
            <a:off x="9832847" y="1866633"/>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C05 Claim 33</a:t>
            </a:r>
          </a:p>
          <a:p>
            <a:pPr algn="ctr">
              <a:spcBef>
                <a:spcPts val="0"/>
              </a:spcBef>
              <a:spcAft>
                <a:spcPts val="0"/>
              </a:spcAft>
            </a:pPr>
            <a:r>
              <a:rPr sz="1200" b="0" i="0">
                <a:solidFill>
                  <a:srgbClr val="1E2D44"/>
                </a:solidFill>
                <a:latin typeface="Karla"/>
              </a:rPr>
              <a:t>Protein 20g High…</a:t>
            </a:r>
          </a:p>
        </p:txBody>
      </p:sp>
      <p:sp>
        <p:nvSpPr>
          <p:cNvPr id="67" name="TextBox 66"/>
          <p:cNvSpPr txBox="1"/>
          <p:nvPr/>
        </p:nvSpPr>
        <p:spPr>
          <a:xfrm>
            <a:off x="9832847" y="2232393"/>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+19*</a:t>
            </a:r>
          </a:p>
        </p:txBody>
      </p:sp>
      <p:sp>
        <p:nvSpPr>
          <p:cNvPr id="68" name="Rectangle 67"/>
          <p:cNvSpPr/>
          <p:nvPr/>
        </p:nvSpPr>
        <p:spPr>
          <a:xfrm>
            <a:off x="7935467" y="3532030"/>
            <a:ext cx="1709927" cy="616898"/>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9" name="Picture 68" descr="C2.png"/>
          <p:cNvPicPr>
            <a:picLocks noChangeAspect="1"/>
          </p:cNvPicPr>
          <p:nvPr/>
        </p:nvPicPr>
        <p:blipFill>
          <a:blip r:embed="rId4"/>
          <a:stretch>
            <a:fillRect/>
          </a:stretch>
        </p:blipFill>
        <p:spPr>
          <a:xfrm>
            <a:off x="7949183" y="3545746"/>
            <a:ext cx="1682495" cy="589466"/>
          </a:xfrm>
          <a:prstGeom prst="rect">
            <a:avLst/>
          </a:prstGeom>
        </p:spPr>
      </p:pic>
      <p:sp>
        <p:nvSpPr>
          <p:cNvPr id="70" name="TextBox 69"/>
          <p:cNvSpPr txBox="1"/>
          <p:nvPr/>
        </p:nvSpPr>
        <p:spPr>
          <a:xfrm>
            <a:off x="7912607" y="4426953"/>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C02 Claim 33</a:t>
            </a:r>
          </a:p>
          <a:p>
            <a:pPr algn="ctr">
              <a:spcBef>
                <a:spcPts val="0"/>
              </a:spcBef>
              <a:spcAft>
                <a:spcPts val="0"/>
              </a:spcAft>
            </a:pPr>
            <a:r>
              <a:rPr sz="1200" b="0" i="0">
                <a:solidFill>
                  <a:srgbClr val="1E2D44"/>
                </a:solidFill>
                <a:latin typeface="Karla"/>
              </a:rPr>
              <a:t>Protein 20g High…</a:t>
            </a:r>
          </a:p>
        </p:txBody>
      </p:sp>
      <p:sp>
        <p:nvSpPr>
          <p:cNvPr id="71" name="TextBox 70"/>
          <p:cNvSpPr txBox="1"/>
          <p:nvPr/>
        </p:nvSpPr>
        <p:spPr>
          <a:xfrm>
            <a:off x="7912607" y="4792713"/>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+10*</a:t>
            </a:r>
          </a:p>
        </p:txBody>
      </p:sp>
      <p:sp>
        <p:nvSpPr>
          <p:cNvPr id="72" name="Rectangle 71"/>
          <p:cNvSpPr/>
          <p:nvPr/>
        </p:nvSpPr>
        <p:spPr>
          <a:xfrm>
            <a:off x="9855707" y="3459458"/>
            <a:ext cx="1709927" cy="762042"/>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3" name="Picture 72" descr="C1.png"/>
          <p:cNvPicPr>
            <a:picLocks noChangeAspect="1"/>
          </p:cNvPicPr>
          <p:nvPr/>
        </p:nvPicPr>
        <p:blipFill>
          <a:blip r:embed="rId5"/>
          <a:stretch>
            <a:fillRect/>
          </a:stretch>
        </p:blipFill>
        <p:spPr>
          <a:xfrm>
            <a:off x="9869423" y="3473174"/>
            <a:ext cx="1682495" cy="734610"/>
          </a:xfrm>
          <a:prstGeom prst="rect">
            <a:avLst/>
          </a:prstGeom>
        </p:spPr>
      </p:pic>
      <p:sp>
        <p:nvSpPr>
          <p:cNvPr id="74" name="TextBox 73"/>
          <p:cNvSpPr txBox="1"/>
          <p:nvPr/>
        </p:nvSpPr>
        <p:spPr>
          <a:xfrm>
            <a:off x="9832847" y="4426953"/>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C01 Claim Full</a:t>
            </a:r>
          </a:p>
          <a:p>
            <a:pPr algn="ctr">
              <a:spcBef>
                <a:spcPts val="0"/>
              </a:spcBef>
              <a:spcAft>
                <a:spcPts val="0"/>
              </a:spcAft>
            </a:pPr>
            <a:r>
              <a:rPr sz="1200" b="0" i="0">
                <a:solidFill>
                  <a:srgbClr val="1E2D44"/>
                </a:solidFill>
                <a:latin typeface="Karla"/>
              </a:rPr>
              <a:t>Block Fibrecollagen…</a:t>
            </a:r>
          </a:p>
        </p:txBody>
      </p:sp>
      <p:sp>
        <p:nvSpPr>
          <p:cNvPr id="75" name="TextBox 74"/>
          <p:cNvSpPr txBox="1"/>
          <p:nvPr/>
        </p:nvSpPr>
        <p:spPr>
          <a:xfrm>
            <a:off x="9832847" y="4792713"/>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+12*</a:t>
            </a:r>
          </a:p>
        </p:txBody>
      </p:sp>
      <p:sp>
        <p:nvSpPr>
          <p:cNvPr id="76" name="Rounded Rectangle 75"/>
          <p:cNvSpPr/>
          <p:nvPr/>
        </p:nvSpPr>
        <p:spPr>
          <a:xfrm>
            <a:off x="502920" y="5632704"/>
            <a:ext cx="11268455" cy="676656"/>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200" b="0">
                <a:solidFill>
                  <a:srgbClr val="1E2D44"/>
                </a:solidFill>
                <a:latin typeface="Karla"/>
              </a:rPr>
              <a:t>No, and I am not interested favors C05 Claim 33 Protein 20g High Protein No Sugar Added Mid Left D1; No, but I am interested in trying them favors C04 Claim Full Block Fibrecollagen 33 Protein 20gno Sugar Mid Left D1; Yes, occasionally favors C04 Claim Full Block Fibrecollagen 33 Protein 20gno Sugar Mid Left D1; Yes, regularly favors C04 Claim Full Block Fibrecollagen 33 Protein 20gno Sugar Mid Left D1. The widest segment gap is C04 Claim Full Block Fibrecollagen 33 Protein 20gno Sugar Mid Left D1: 0 no, and i am not interested / +22 no, but i am interested in trying them / +22 yes, occasionally / +26 yes, regularly.</a:t>
            </a:r>
          </a:p>
        </p:txBody>
      </p:sp>
      <p:sp>
        <p:nvSpPr>
          <p:cNvPr id="77" name="Rectangle 76"/>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Top-2 scores rounded to whole points. *Average of the groups in the legend.</a:t>
            </a:r>
          </a:p>
        </p:txBody>
      </p:sp>
      <p:sp>
        <p:nvSpPr>
          <p:cNvPr id="79" name="TextBox 78"/>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37744"/>
            <a:ext cx="7043927" cy="182880"/>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KEY FINDINGS: C_CLAIM  ·  Do you currently consume protein-enriched food products   ·   2 of 2</a:t>
            </a:r>
          </a:p>
        </p:txBody>
      </p:sp>
      <p:sp>
        <p:nvSpPr>
          <p:cNvPr id="3" name="TextBox 2"/>
          <p:cNvSpPr txBox="1"/>
          <p:nvPr/>
        </p:nvSpPr>
        <p:spPr>
          <a:xfrm>
            <a:off x="502920" y="438912"/>
            <a:ext cx="7043927" cy="365760"/>
          </a:xfrm>
          <a:prstGeom prst="rect">
            <a:avLst/>
          </a:prstGeom>
          <a:noFill/>
        </p:spPr>
        <p:txBody>
          <a:bodyPr wrap="square" anchor="t" lIns="0" rIns="0" tIns="0" bIns="0"/>
          <a:lstStyle/>
          <a:p>
            <a:pPr algn="l">
              <a:spcBef>
                <a:spcPts val="0"/>
              </a:spcBef>
              <a:spcAft>
                <a:spcPts val="0"/>
              </a:spcAft>
            </a:pPr>
            <a:r>
              <a:rPr sz="2600" b="1" i="0">
                <a:solidFill>
                  <a:srgbClr val="1E2D44"/>
                </a:solidFill>
                <a:latin typeface="Karla"/>
              </a:rPr>
              <a:t>C_Claim splits across the groups</a:t>
            </a:r>
          </a:p>
        </p:txBody>
      </p:sp>
      <p:sp>
        <p:nvSpPr>
          <p:cNvPr id="4" name="TextBox 3"/>
          <p:cNvSpPr txBox="1"/>
          <p:nvPr/>
        </p:nvSpPr>
        <p:spPr>
          <a:xfrm>
            <a:off x="502920" y="822960"/>
            <a:ext cx="7043927" cy="475488"/>
          </a:xfrm>
          <a:prstGeom prst="rect">
            <a:avLst/>
          </a:prstGeom>
          <a:noFill/>
        </p:spPr>
        <p:txBody>
          <a:bodyPr wrap="square" anchor="t" lIns="0" rIns="0" tIns="0" bIns="0"/>
          <a:lstStyle/>
          <a:p>
            <a:pPr algn="l">
              <a:spcBef>
                <a:spcPts val="0"/>
              </a:spcBef>
              <a:spcAft>
                <a:spcPts val="0"/>
              </a:spcAft>
            </a:pPr>
            <a:r>
              <a:rPr sz="1200" b="0" i="0">
                <a:solidFill>
                  <a:srgbClr val="617086"/>
                </a:solidFill>
                <a:latin typeface="Karla"/>
              </a:rPr>
              <a:t>No, and I am not interested favors C05 Claim 33 Protein 20g High Protein No Sugar Added Mid Left D1; No, but I am interested in trying them favors C04 Claim Full Block Fibrecollagen 33 Protein 20gno Sugar Mid Left D1; Yes, occasionally favors C04 Claim Full Block Fibrecollagen 33 Protein 20gno Sugar Mid Left D1; Yes, regularly favors C04 Claim Full Block Fibrecollagen 33 Protein 20gno Sugar Mid Left D1.</a:t>
            </a:r>
          </a:p>
        </p:txBody>
      </p:sp>
      <p:sp>
        <p:nvSpPr>
          <p:cNvPr id="5" name="Rectangle 4"/>
          <p:cNvSpPr/>
          <p:nvPr/>
        </p:nvSpPr>
        <p:spPr>
          <a:xfrm>
            <a:off x="502920" y="1335024"/>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C_CLAIM</a:t>
            </a:r>
          </a:p>
        </p:txBody>
      </p:sp>
      <p:sp>
        <p:nvSpPr>
          <p:cNvPr id="6" name="Rectangle 5"/>
          <p:cNvSpPr/>
          <p:nvPr/>
        </p:nvSpPr>
        <p:spPr>
          <a:xfrm>
            <a:off x="2167128"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74520"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8" name="TextBox 7"/>
          <p:cNvSpPr txBox="1"/>
          <p:nvPr/>
        </p:nvSpPr>
        <p:spPr>
          <a:xfrm>
            <a:off x="3490975"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9" name="Rectangle 8"/>
          <p:cNvSpPr/>
          <p:nvPr/>
        </p:nvSpPr>
        <p:spPr>
          <a:xfrm>
            <a:off x="5400039"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7431"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11" name="Rectangle 10"/>
          <p:cNvSpPr/>
          <p:nvPr/>
        </p:nvSpPr>
        <p:spPr>
          <a:xfrm>
            <a:off x="7016495"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23887"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3" name="Rectangle 12"/>
          <p:cNvSpPr/>
          <p:nvPr/>
        </p:nvSpPr>
        <p:spPr>
          <a:xfrm>
            <a:off x="3783583" y="1645920"/>
            <a:ext cx="10972" cy="2871215"/>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167128" y="4517136"/>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1991105"/>
            <a:ext cx="1554480" cy="745236"/>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C03 Claim 33 Protein</a:t>
            </a:r>
          </a:p>
          <a:p>
            <a:pPr algn="r">
              <a:spcBef>
                <a:spcPts val="0"/>
              </a:spcBef>
              <a:spcAft>
                <a:spcPts val="0"/>
              </a:spcAft>
            </a:pPr>
            <a:r>
              <a:rPr sz="1000" b="0" i="0">
                <a:solidFill>
                  <a:srgbClr val="1E2D44"/>
                </a:solidFill>
                <a:latin typeface="Karla"/>
              </a:rPr>
              <a:t>Only Bottom Centre…</a:t>
            </a:r>
          </a:p>
        </p:txBody>
      </p:sp>
      <p:sp>
        <p:nvSpPr>
          <p:cNvPr id="16" name="Rectangle 15"/>
          <p:cNvSpPr/>
          <p:nvPr/>
        </p:nvSpPr>
        <p:spPr>
          <a:xfrm>
            <a:off x="2975355" y="1991105"/>
            <a:ext cx="808227"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463291" y="1991105"/>
            <a:ext cx="457200" cy="155448"/>
          </a:xfrm>
          <a:prstGeom prst="rect">
            <a:avLst/>
          </a:prstGeom>
          <a:noFill/>
        </p:spPr>
        <p:txBody>
          <a:bodyPr wrap="none" anchor="ctr" lIns="0" rIns="0" tIns="0" bIns="0"/>
          <a:lstStyle/>
          <a:p>
            <a:pPr algn="r">
              <a:spcBef>
                <a:spcPts val="0"/>
              </a:spcBef>
              <a:spcAft>
                <a:spcPts val="0"/>
              </a:spcAft>
            </a:pPr>
            <a:r>
              <a:rPr sz="1200" b="1" i="0">
                <a:solidFill>
                  <a:srgbClr val="1A2332"/>
                </a:solidFill>
                <a:latin typeface="Karla"/>
              </a:rPr>
              <a:t>-5</a:t>
            </a:r>
          </a:p>
        </p:txBody>
      </p:sp>
      <p:sp>
        <p:nvSpPr>
          <p:cNvPr id="18" name="Rectangle 17"/>
          <p:cNvSpPr/>
          <p:nvPr/>
        </p:nvSpPr>
        <p:spPr>
          <a:xfrm>
            <a:off x="3783583" y="2187701"/>
            <a:ext cx="484936"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23384" y="2187701"/>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+3</a:t>
            </a:r>
          </a:p>
        </p:txBody>
      </p:sp>
      <p:sp>
        <p:nvSpPr>
          <p:cNvPr id="20" name="Rectangle 19"/>
          <p:cNvSpPr/>
          <p:nvPr/>
        </p:nvSpPr>
        <p:spPr>
          <a:xfrm>
            <a:off x="3783583" y="2384298"/>
            <a:ext cx="1616455" cy="155448"/>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54903" y="2384298"/>
            <a:ext cx="457200" cy="155448"/>
          </a:xfrm>
          <a:prstGeom prst="rect">
            <a:avLst/>
          </a:prstGeom>
          <a:noFill/>
        </p:spPr>
        <p:txBody>
          <a:bodyPr wrap="none" anchor="ctr" lIns="0" rIns="0" tIns="0" bIns="0"/>
          <a:lstStyle/>
          <a:p>
            <a:pPr algn="l">
              <a:spcBef>
                <a:spcPts val="0"/>
              </a:spcBef>
              <a:spcAft>
                <a:spcPts val="0"/>
              </a:spcAft>
            </a:pPr>
            <a:r>
              <a:rPr sz="1200" b="1" i="0">
                <a:solidFill>
                  <a:srgbClr val="C45C26"/>
                </a:solidFill>
                <a:latin typeface="Karla"/>
              </a:rPr>
              <a:t>+10</a:t>
            </a:r>
          </a:p>
        </p:txBody>
      </p:sp>
      <p:sp>
        <p:nvSpPr>
          <p:cNvPr id="22" name="Rectangle 21"/>
          <p:cNvSpPr/>
          <p:nvPr/>
        </p:nvSpPr>
        <p:spPr>
          <a:xfrm>
            <a:off x="3783583" y="2580894"/>
            <a:ext cx="2747975" cy="155448"/>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86422" y="2580894"/>
            <a:ext cx="457200" cy="155448"/>
          </a:xfrm>
          <a:prstGeom prst="rect">
            <a:avLst/>
          </a:prstGeom>
          <a:noFill/>
        </p:spPr>
        <p:txBody>
          <a:bodyPr wrap="none" anchor="ctr" lIns="0" rIns="0" tIns="0" bIns="0"/>
          <a:lstStyle/>
          <a:p>
            <a:pPr algn="l">
              <a:spcBef>
                <a:spcPts val="0"/>
              </a:spcBef>
              <a:spcAft>
                <a:spcPts val="0"/>
              </a:spcAft>
            </a:pPr>
            <a:r>
              <a:rPr sz="1200" b="1" i="0">
                <a:solidFill>
                  <a:srgbClr val="1D4E89"/>
                </a:solidFill>
                <a:latin typeface="Karla"/>
              </a:rPr>
              <a:t>+17</a:t>
            </a:r>
          </a:p>
        </p:txBody>
      </p:sp>
      <p:sp>
        <p:nvSpPr>
          <p:cNvPr id="24" name="TextBox 23"/>
          <p:cNvSpPr txBox="1"/>
          <p:nvPr/>
        </p:nvSpPr>
        <p:spPr>
          <a:xfrm>
            <a:off x="502920" y="3426714"/>
            <a:ext cx="1554480" cy="745236"/>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C06 Claim 33 Protein</a:t>
            </a:r>
          </a:p>
          <a:p>
            <a:pPr algn="r">
              <a:spcBef>
                <a:spcPts val="0"/>
              </a:spcBef>
              <a:spcAft>
                <a:spcPts val="0"/>
              </a:spcAft>
            </a:pPr>
            <a:r>
              <a:rPr sz="1000" b="0" i="0">
                <a:solidFill>
                  <a:srgbClr val="1E2D44"/>
                </a:solidFill>
                <a:latin typeface="Karla"/>
              </a:rPr>
              <a:t>Only Mid Left D1</a:t>
            </a:r>
          </a:p>
        </p:txBody>
      </p:sp>
      <p:sp>
        <p:nvSpPr>
          <p:cNvPr id="25" name="Rectangle 24"/>
          <p:cNvSpPr/>
          <p:nvPr/>
        </p:nvSpPr>
        <p:spPr>
          <a:xfrm>
            <a:off x="3783583" y="3426714"/>
            <a:ext cx="1939747"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778194" y="3426714"/>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+12</a:t>
            </a:r>
          </a:p>
        </p:txBody>
      </p:sp>
      <p:sp>
        <p:nvSpPr>
          <p:cNvPr id="27" name="Rectangle 26"/>
          <p:cNvSpPr/>
          <p:nvPr/>
        </p:nvSpPr>
        <p:spPr>
          <a:xfrm>
            <a:off x="3783583" y="3623310"/>
            <a:ext cx="1616455"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54903" y="3623310"/>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+10</a:t>
            </a:r>
          </a:p>
        </p:txBody>
      </p:sp>
      <p:sp>
        <p:nvSpPr>
          <p:cNvPr id="29" name="Rectangle 28"/>
          <p:cNvSpPr/>
          <p:nvPr/>
        </p:nvSpPr>
        <p:spPr>
          <a:xfrm>
            <a:off x="3783583" y="3819906"/>
            <a:ext cx="1939747" cy="155448"/>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778194" y="3819906"/>
            <a:ext cx="457200" cy="155448"/>
          </a:xfrm>
          <a:prstGeom prst="rect">
            <a:avLst/>
          </a:prstGeom>
          <a:noFill/>
        </p:spPr>
        <p:txBody>
          <a:bodyPr wrap="none" anchor="ctr" lIns="0" rIns="0" tIns="0" bIns="0"/>
          <a:lstStyle/>
          <a:p>
            <a:pPr algn="l">
              <a:spcBef>
                <a:spcPts val="0"/>
              </a:spcBef>
              <a:spcAft>
                <a:spcPts val="0"/>
              </a:spcAft>
            </a:pPr>
            <a:r>
              <a:rPr sz="1200" b="1" i="0">
                <a:solidFill>
                  <a:srgbClr val="C45C26"/>
                </a:solidFill>
                <a:latin typeface="Karla"/>
              </a:rPr>
              <a:t>+12</a:t>
            </a:r>
          </a:p>
        </p:txBody>
      </p:sp>
      <p:sp>
        <p:nvSpPr>
          <p:cNvPr id="31" name="Rectangle 30"/>
          <p:cNvSpPr/>
          <p:nvPr/>
        </p:nvSpPr>
        <p:spPr>
          <a:xfrm>
            <a:off x="3783583" y="4016502"/>
            <a:ext cx="2747975" cy="155448"/>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86422" y="4016502"/>
            <a:ext cx="457200" cy="155448"/>
          </a:xfrm>
          <a:prstGeom prst="rect">
            <a:avLst/>
          </a:prstGeom>
          <a:noFill/>
        </p:spPr>
        <p:txBody>
          <a:bodyPr wrap="none" anchor="ctr" lIns="0" rIns="0" tIns="0" bIns="0"/>
          <a:lstStyle/>
          <a:p>
            <a:pPr algn="l">
              <a:spcBef>
                <a:spcPts val="0"/>
              </a:spcBef>
              <a:spcAft>
                <a:spcPts val="0"/>
              </a:spcAft>
            </a:pPr>
            <a:r>
              <a:rPr sz="1200" b="1" i="0">
                <a:solidFill>
                  <a:srgbClr val="1D4E89"/>
                </a:solidFill>
                <a:latin typeface="Karla"/>
              </a:rPr>
              <a:t>+17</a:t>
            </a:r>
          </a:p>
        </p:txBody>
      </p:sp>
      <p:sp>
        <p:nvSpPr>
          <p:cNvPr id="33" name="Rectangle 32"/>
          <p:cNvSpPr/>
          <p:nvPr/>
        </p:nvSpPr>
        <p:spPr>
          <a:xfrm>
            <a:off x="3011423" y="4942332"/>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185159" y="4882896"/>
            <a:ext cx="298704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No, and I am not interested (basesize = 5)</a:t>
            </a:r>
          </a:p>
        </p:txBody>
      </p:sp>
      <p:sp>
        <p:nvSpPr>
          <p:cNvPr id="35" name="Rectangle 34"/>
          <p:cNvSpPr/>
          <p:nvPr/>
        </p:nvSpPr>
        <p:spPr>
          <a:xfrm>
            <a:off x="755903" y="5161788"/>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29639" y="5102352"/>
            <a:ext cx="384048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No, but I am interested in trying them (basesize = 15)</a:t>
            </a:r>
          </a:p>
        </p:txBody>
      </p:sp>
      <p:sp>
        <p:nvSpPr>
          <p:cNvPr id="37" name="Rectangle 36"/>
          <p:cNvSpPr/>
          <p:nvPr/>
        </p:nvSpPr>
        <p:spPr>
          <a:xfrm>
            <a:off x="5026151" y="5161788"/>
            <a:ext cx="100584" cy="10058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199887" y="5102352"/>
            <a:ext cx="234696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Yes, occasionally (basesize = 56)</a:t>
            </a:r>
          </a:p>
        </p:txBody>
      </p:sp>
      <p:sp>
        <p:nvSpPr>
          <p:cNvPr id="39" name="Rectangle 38"/>
          <p:cNvSpPr/>
          <p:nvPr/>
        </p:nvSpPr>
        <p:spPr>
          <a:xfrm>
            <a:off x="3438143" y="5381244"/>
            <a:ext cx="100584" cy="100584"/>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11879" y="5321808"/>
            <a:ext cx="213360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Yes, regularly (basesize = 74)</a:t>
            </a:r>
          </a:p>
        </p:txBody>
      </p:sp>
      <p:sp>
        <p:nvSpPr>
          <p:cNvPr id="41" name="Rounded Rectangle 40"/>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935467" y="2361375"/>
            <a:ext cx="1709927" cy="397889"/>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3" name="Picture 42" descr="C3.png"/>
          <p:cNvPicPr>
            <a:picLocks noChangeAspect="1"/>
          </p:cNvPicPr>
          <p:nvPr/>
        </p:nvPicPr>
        <p:blipFill>
          <a:blip r:embed="rId2"/>
          <a:stretch>
            <a:fillRect/>
          </a:stretch>
        </p:blipFill>
        <p:spPr>
          <a:xfrm>
            <a:off x="7949183" y="2375091"/>
            <a:ext cx="1682495" cy="370457"/>
          </a:xfrm>
          <a:prstGeom prst="rect">
            <a:avLst/>
          </a:prstGeom>
        </p:spPr>
      </p:pic>
      <p:sp>
        <p:nvSpPr>
          <p:cNvPr id="44" name="TextBox 43"/>
          <p:cNvSpPr txBox="1"/>
          <p:nvPr/>
        </p:nvSpPr>
        <p:spPr>
          <a:xfrm>
            <a:off x="7912607" y="2800412"/>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C03 Claim 33</a:t>
            </a:r>
          </a:p>
          <a:p>
            <a:pPr algn="ctr">
              <a:spcBef>
                <a:spcPts val="0"/>
              </a:spcBef>
              <a:spcAft>
                <a:spcPts val="0"/>
              </a:spcAft>
            </a:pPr>
            <a:r>
              <a:rPr sz="1200" b="0" i="0">
                <a:solidFill>
                  <a:srgbClr val="1E2D44"/>
                </a:solidFill>
                <a:latin typeface="Karla"/>
              </a:rPr>
              <a:t>Protein Only Bottom…</a:t>
            </a:r>
          </a:p>
        </p:txBody>
      </p:sp>
      <p:sp>
        <p:nvSpPr>
          <p:cNvPr id="45" name="TextBox 44"/>
          <p:cNvSpPr txBox="1"/>
          <p:nvPr/>
        </p:nvSpPr>
        <p:spPr>
          <a:xfrm>
            <a:off x="7912607" y="3166172"/>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+6*</a:t>
            </a:r>
          </a:p>
        </p:txBody>
      </p:sp>
      <p:sp>
        <p:nvSpPr>
          <p:cNvPr id="46" name="Rectangle 45"/>
          <p:cNvSpPr/>
          <p:nvPr/>
        </p:nvSpPr>
        <p:spPr>
          <a:xfrm>
            <a:off x="9855707" y="2364051"/>
            <a:ext cx="1709927" cy="392537"/>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7" name="Picture 46" descr="C6.png"/>
          <p:cNvPicPr>
            <a:picLocks noChangeAspect="1"/>
          </p:cNvPicPr>
          <p:nvPr/>
        </p:nvPicPr>
        <p:blipFill>
          <a:blip r:embed="rId3"/>
          <a:stretch>
            <a:fillRect/>
          </a:stretch>
        </p:blipFill>
        <p:spPr>
          <a:xfrm>
            <a:off x="9869423" y="2377767"/>
            <a:ext cx="1682495" cy="365105"/>
          </a:xfrm>
          <a:prstGeom prst="rect">
            <a:avLst/>
          </a:prstGeom>
        </p:spPr>
      </p:pic>
      <p:sp>
        <p:nvSpPr>
          <p:cNvPr id="48" name="TextBox 47"/>
          <p:cNvSpPr txBox="1"/>
          <p:nvPr/>
        </p:nvSpPr>
        <p:spPr>
          <a:xfrm>
            <a:off x="9832847" y="2800412"/>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C06 Claim 33</a:t>
            </a:r>
          </a:p>
          <a:p>
            <a:pPr algn="ctr">
              <a:spcBef>
                <a:spcPts val="0"/>
              </a:spcBef>
              <a:spcAft>
                <a:spcPts val="0"/>
              </a:spcAft>
            </a:pPr>
            <a:r>
              <a:rPr sz="1200" b="0" i="0">
                <a:solidFill>
                  <a:srgbClr val="1E2D44"/>
                </a:solidFill>
                <a:latin typeface="Karla"/>
              </a:rPr>
              <a:t>Protein Only Mid…</a:t>
            </a:r>
          </a:p>
        </p:txBody>
      </p:sp>
      <p:sp>
        <p:nvSpPr>
          <p:cNvPr id="49" name="TextBox 48"/>
          <p:cNvSpPr txBox="1"/>
          <p:nvPr/>
        </p:nvSpPr>
        <p:spPr>
          <a:xfrm>
            <a:off x="9832847" y="3166172"/>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+13*</a:t>
            </a:r>
          </a:p>
        </p:txBody>
      </p:sp>
      <p:sp>
        <p:nvSpPr>
          <p:cNvPr id="50" name="Rounded Rectangle 49"/>
          <p:cNvSpPr/>
          <p:nvPr/>
        </p:nvSpPr>
        <p:spPr>
          <a:xfrm>
            <a:off x="502920" y="5632704"/>
            <a:ext cx="11268455" cy="676656"/>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200" b="0">
                <a:solidFill>
                  <a:srgbClr val="1E2D44"/>
                </a:solidFill>
                <a:latin typeface="Karla"/>
              </a:rPr>
              <a:t>No, and I am not interested favors C05 Claim 33 Protein 20g High Protein No Sugar Added Mid Left D1; No, but I am interested in trying them favors C04 Claim Full Block Fibrecollagen 33 Protein 20gno Sugar Mid Left D1; Yes, occasionally favors C04 Claim Full Block Fibrecollagen 33 Protein 20gno Sugar Mid Left D1; Yes, regularly favors C04 Claim Full Block Fibrecollagen 33 Protein 20gno Sugar Mid Left D1. The widest segment gap is C04 Claim Full Block Fibrecollagen 33 Protein 20gno Sugar Mid Left D1: 0 no, and i am not interested / +22 no, but i am interested in trying them / +22 yes, occasionally / +26 yes, regularly.</a:t>
            </a:r>
          </a:p>
        </p:txBody>
      </p:sp>
      <p:sp>
        <p:nvSpPr>
          <p:cNvPr id="51" name="Rectangle 50"/>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Top-2 scores rounded to whole points. *Average of the groups in the legend.</a:t>
            </a:r>
          </a:p>
        </p:txBody>
      </p:sp>
      <p:sp>
        <p:nvSpPr>
          <p:cNvPr id="53" name="TextBox 52"/>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37744"/>
            <a:ext cx="7043927" cy="182880"/>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KEY FINDINGS: C_CLAIM  ·  What would be your ideal way to consume protein-enriched products?   ·   1 of 2</a:t>
            </a:r>
          </a:p>
        </p:txBody>
      </p:sp>
      <p:sp>
        <p:nvSpPr>
          <p:cNvPr id="3" name="TextBox 2"/>
          <p:cNvSpPr txBox="1"/>
          <p:nvPr/>
        </p:nvSpPr>
        <p:spPr>
          <a:xfrm>
            <a:off x="502920" y="438912"/>
            <a:ext cx="7043927" cy="365760"/>
          </a:xfrm>
          <a:prstGeom prst="rect">
            <a:avLst/>
          </a:prstGeom>
          <a:noFill/>
        </p:spPr>
        <p:txBody>
          <a:bodyPr wrap="square" anchor="t" lIns="0" rIns="0" tIns="0" bIns="0"/>
          <a:lstStyle/>
          <a:p>
            <a:pPr algn="l">
              <a:spcBef>
                <a:spcPts val="0"/>
              </a:spcBef>
              <a:spcAft>
                <a:spcPts val="0"/>
              </a:spcAft>
            </a:pPr>
            <a:r>
              <a:rPr sz="2600" b="1" i="0">
                <a:solidFill>
                  <a:srgbClr val="1E2D44"/>
                </a:solidFill>
                <a:latin typeface="Karla"/>
              </a:rPr>
              <a:t>C_Claim splits across the groups</a:t>
            </a:r>
          </a:p>
        </p:txBody>
      </p:sp>
      <p:sp>
        <p:nvSpPr>
          <p:cNvPr id="4" name="TextBox 3"/>
          <p:cNvSpPr txBox="1"/>
          <p:nvPr/>
        </p:nvSpPr>
        <p:spPr>
          <a:xfrm>
            <a:off x="502920" y="822960"/>
            <a:ext cx="7043927" cy="475488"/>
          </a:xfrm>
          <a:prstGeom prst="rect">
            <a:avLst/>
          </a:prstGeom>
          <a:noFill/>
        </p:spPr>
        <p:txBody>
          <a:bodyPr wrap="square" anchor="t" lIns="0" rIns="0" tIns="0" bIns="0"/>
          <a:lstStyle/>
          <a:p>
            <a:pPr algn="l">
              <a:spcBef>
                <a:spcPts val="0"/>
              </a:spcBef>
              <a:spcAft>
                <a:spcPts val="0"/>
              </a:spcAft>
            </a:pPr>
            <a:r>
              <a:rPr sz="1200" b="0" i="0">
                <a:solidFill>
                  <a:srgbClr val="617086"/>
                </a:solidFill>
                <a:latin typeface="Karla"/>
              </a:rPr>
              <a:t>Other favors C05 Claim 33 Protein 20g High Protein No Sugar Added Mid Left D1; Protein bars favor C04 Claim Full Block Fibrecollagen 33 Protein 20gno Sugar Mid Left D1; Protein cookies favor C04 Claim Full Block Fibrecollagen 33 Protein 20gno Sugar Mid Left D1; Protein powder favors C01 Claim Full Block Fibrecollagen 33 Protein 20gno Sugar Bottom Centre D2D3.</a:t>
            </a:r>
          </a:p>
        </p:txBody>
      </p:sp>
      <p:sp>
        <p:nvSpPr>
          <p:cNvPr id="5" name="Rectangle 4"/>
          <p:cNvSpPr/>
          <p:nvPr/>
        </p:nvSpPr>
        <p:spPr>
          <a:xfrm>
            <a:off x="502920" y="1335024"/>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C_CLAIM</a:t>
            </a:r>
          </a:p>
        </p:txBody>
      </p:sp>
      <p:sp>
        <p:nvSpPr>
          <p:cNvPr id="6" name="TextBox 5"/>
          <p:cNvSpPr txBox="1"/>
          <p:nvPr/>
        </p:nvSpPr>
        <p:spPr>
          <a:xfrm>
            <a:off x="1874520"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7" name="Rectangle 6"/>
          <p:cNvSpPr/>
          <p:nvPr/>
        </p:nvSpPr>
        <p:spPr>
          <a:xfrm>
            <a:off x="3379469"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86861"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9" name="Rectangle 8"/>
          <p:cNvSpPr/>
          <p:nvPr/>
        </p:nvSpPr>
        <p:spPr>
          <a:xfrm>
            <a:off x="4591811"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9203"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1" name="Rectangle 10"/>
          <p:cNvSpPr/>
          <p:nvPr/>
        </p:nvSpPr>
        <p:spPr>
          <a:xfrm>
            <a:off x="5804153"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11545"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30</a:t>
            </a:r>
          </a:p>
        </p:txBody>
      </p:sp>
      <p:sp>
        <p:nvSpPr>
          <p:cNvPr id="13" name="Rectangle 12"/>
          <p:cNvSpPr/>
          <p:nvPr/>
        </p:nvSpPr>
        <p:spPr>
          <a:xfrm>
            <a:off x="7016495"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23887"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40</a:t>
            </a:r>
          </a:p>
        </p:txBody>
      </p:sp>
      <p:sp>
        <p:nvSpPr>
          <p:cNvPr id="15" name="Rectangle 14"/>
          <p:cNvSpPr/>
          <p:nvPr/>
        </p:nvSpPr>
        <p:spPr>
          <a:xfrm>
            <a:off x="2167128" y="1645920"/>
            <a:ext cx="10972" cy="30906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167128" y="4736592"/>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1805940"/>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C01 Claim Full Block</a:t>
            </a:r>
          </a:p>
          <a:p>
            <a:pPr algn="r">
              <a:spcBef>
                <a:spcPts val="0"/>
              </a:spcBef>
              <a:spcAft>
                <a:spcPts val="0"/>
              </a:spcAft>
            </a:pPr>
            <a:r>
              <a:rPr sz="1000" b="0" i="0">
                <a:solidFill>
                  <a:srgbClr val="1E2D44"/>
                </a:solidFill>
                <a:latin typeface="Karla"/>
              </a:rPr>
              <a:t>Fibrecollagen 33…</a:t>
            </a:r>
          </a:p>
        </p:txBody>
      </p:sp>
      <p:sp>
        <p:nvSpPr>
          <p:cNvPr id="18" name="Rectangle 17"/>
          <p:cNvSpPr/>
          <p:nvPr/>
        </p:nvSpPr>
        <p:spPr>
          <a:xfrm>
            <a:off x="2167128" y="1805940"/>
            <a:ext cx="969873"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191865" y="1805940"/>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+8</a:t>
            </a:r>
          </a:p>
        </p:txBody>
      </p:sp>
      <p:sp>
        <p:nvSpPr>
          <p:cNvPr id="20" name="Rectangle 19"/>
          <p:cNvSpPr/>
          <p:nvPr/>
        </p:nvSpPr>
        <p:spPr>
          <a:xfrm>
            <a:off x="2167128" y="1929384"/>
            <a:ext cx="1697278"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19270" y="1929384"/>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+14</a:t>
            </a:r>
          </a:p>
        </p:txBody>
      </p:sp>
      <p:sp>
        <p:nvSpPr>
          <p:cNvPr id="22" name="Rectangle 21"/>
          <p:cNvSpPr/>
          <p:nvPr/>
        </p:nvSpPr>
        <p:spPr>
          <a:xfrm>
            <a:off x="2167128" y="2052828"/>
            <a:ext cx="2303449"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25441" y="2052828"/>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+19</a:t>
            </a:r>
          </a:p>
        </p:txBody>
      </p:sp>
      <p:sp>
        <p:nvSpPr>
          <p:cNvPr id="24" name="Rectangle 23"/>
          <p:cNvSpPr/>
          <p:nvPr/>
        </p:nvSpPr>
        <p:spPr>
          <a:xfrm>
            <a:off x="2167128" y="2176272"/>
            <a:ext cx="3273323"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95315" y="2176272"/>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+27</a:t>
            </a:r>
          </a:p>
        </p:txBody>
      </p:sp>
      <p:sp>
        <p:nvSpPr>
          <p:cNvPr id="26" name="TextBox 25"/>
          <p:cNvSpPr txBox="1"/>
          <p:nvPr/>
        </p:nvSpPr>
        <p:spPr>
          <a:xfrm>
            <a:off x="502920" y="2578608"/>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C04 Claim Full Block</a:t>
            </a:r>
          </a:p>
          <a:p>
            <a:pPr algn="r">
              <a:spcBef>
                <a:spcPts val="0"/>
              </a:spcBef>
              <a:spcAft>
                <a:spcPts val="0"/>
              </a:spcAft>
            </a:pPr>
            <a:r>
              <a:rPr sz="1000" b="0" i="0">
                <a:solidFill>
                  <a:srgbClr val="1E2D44"/>
                </a:solidFill>
                <a:latin typeface="Karla"/>
              </a:rPr>
              <a:t>Fibrecollagen 33…</a:t>
            </a:r>
          </a:p>
        </p:txBody>
      </p:sp>
      <p:sp>
        <p:nvSpPr>
          <p:cNvPr id="27" name="Rectangle 26"/>
          <p:cNvSpPr/>
          <p:nvPr/>
        </p:nvSpPr>
        <p:spPr>
          <a:xfrm>
            <a:off x="2167128" y="2578608"/>
            <a:ext cx="1212341"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434333" y="2578608"/>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+10</a:t>
            </a:r>
          </a:p>
        </p:txBody>
      </p:sp>
      <p:sp>
        <p:nvSpPr>
          <p:cNvPr id="29" name="Rectangle 28"/>
          <p:cNvSpPr/>
          <p:nvPr/>
        </p:nvSpPr>
        <p:spPr>
          <a:xfrm>
            <a:off x="2167128" y="2702052"/>
            <a:ext cx="3273323"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495315" y="2702052"/>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+27</a:t>
            </a:r>
          </a:p>
        </p:txBody>
      </p:sp>
      <p:sp>
        <p:nvSpPr>
          <p:cNvPr id="31" name="Rectangle 30"/>
          <p:cNvSpPr/>
          <p:nvPr/>
        </p:nvSpPr>
        <p:spPr>
          <a:xfrm>
            <a:off x="2167128" y="2825496"/>
            <a:ext cx="2788386"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10378" y="2825496"/>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+23</a:t>
            </a:r>
          </a:p>
        </p:txBody>
      </p:sp>
      <p:sp>
        <p:nvSpPr>
          <p:cNvPr id="33" name="Rectangle 32"/>
          <p:cNvSpPr/>
          <p:nvPr/>
        </p:nvSpPr>
        <p:spPr>
          <a:xfrm>
            <a:off x="2167128" y="2948939"/>
            <a:ext cx="2909620"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131612" y="2948939"/>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+24</a:t>
            </a:r>
          </a:p>
        </p:txBody>
      </p:sp>
      <p:sp>
        <p:nvSpPr>
          <p:cNvPr id="35" name="TextBox 34"/>
          <p:cNvSpPr txBox="1"/>
          <p:nvPr/>
        </p:nvSpPr>
        <p:spPr>
          <a:xfrm>
            <a:off x="502920" y="3351276"/>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C05 Claim 33 Protein</a:t>
            </a:r>
          </a:p>
          <a:p>
            <a:pPr algn="r">
              <a:spcBef>
                <a:spcPts val="0"/>
              </a:spcBef>
              <a:spcAft>
                <a:spcPts val="0"/>
              </a:spcAft>
            </a:pPr>
            <a:r>
              <a:rPr sz="1000" b="0" i="0">
                <a:solidFill>
                  <a:srgbClr val="1E2D44"/>
                </a:solidFill>
                <a:latin typeface="Karla"/>
              </a:rPr>
              <a:t>20g High Protein No…</a:t>
            </a:r>
          </a:p>
        </p:txBody>
      </p:sp>
      <p:sp>
        <p:nvSpPr>
          <p:cNvPr id="36" name="Rectangle 35"/>
          <p:cNvSpPr/>
          <p:nvPr/>
        </p:nvSpPr>
        <p:spPr>
          <a:xfrm>
            <a:off x="2167128" y="3351276"/>
            <a:ext cx="1818512"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040504" y="3351276"/>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+15</a:t>
            </a:r>
          </a:p>
        </p:txBody>
      </p:sp>
      <p:sp>
        <p:nvSpPr>
          <p:cNvPr id="38" name="Rectangle 37"/>
          <p:cNvSpPr/>
          <p:nvPr/>
        </p:nvSpPr>
        <p:spPr>
          <a:xfrm>
            <a:off x="2167128" y="3474720"/>
            <a:ext cx="2667152"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889144" y="3474720"/>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+22</a:t>
            </a:r>
          </a:p>
        </p:txBody>
      </p:sp>
      <p:sp>
        <p:nvSpPr>
          <p:cNvPr id="40" name="Rectangle 39"/>
          <p:cNvSpPr/>
          <p:nvPr/>
        </p:nvSpPr>
        <p:spPr>
          <a:xfrm>
            <a:off x="2167128" y="3598164"/>
            <a:ext cx="2545918"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767910" y="3598164"/>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+21</a:t>
            </a:r>
          </a:p>
        </p:txBody>
      </p:sp>
      <p:sp>
        <p:nvSpPr>
          <p:cNvPr id="42" name="Rectangle 41"/>
          <p:cNvSpPr/>
          <p:nvPr/>
        </p:nvSpPr>
        <p:spPr>
          <a:xfrm>
            <a:off x="2167128" y="3721608"/>
            <a:ext cx="2060981"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282973" y="3721608"/>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+17</a:t>
            </a:r>
          </a:p>
        </p:txBody>
      </p:sp>
      <p:sp>
        <p:nvSpPr>
          <p:cNvPr id="44" name="TextBox 43"/>
          <p:cNvSpPr txBox="1"/>
          <p:nvPr/>
        </p:nvSpPr>
        <p:spPr>
          <a:xfrm>
            <a:off x="502920" y="4123944"/>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C02 Claim 33 Protein</a:t>
            </a:r>
          </a:p>
          <a:p>
            <a:pPr algn="r">
              <a:spcBef>
                <a:spcPts val="0"/>
              </a:spcBef>
              <a:spcAft>
                <a:spcPts val="0"/>
              </a:spcAft>
            </a:pPr>
            <a:r>
              <a:rPr sz="1000" b="0" i="0">
                <a:solidFill>
                  <a:srgbClr val="1E2D44"/>
                </a:solidFill>
                <a:latin typeface="Karla"/>
              </a:rPr>
              <a:t>20g High Protein No…</a:t>
            </a:r>
          </a:p>
        </p:txBody>
      </p:sp>
      <p:sp>
        <p:nvSpPr>
          <p:cNvPr id="45" name="Rectangle 44"/>
          <p:cNvSpPr/>
          <p:nvPr/>
        </p:nvSpPr>
        <p:spPr>
          <a:xfrm>
            <a:off x="2167128" y="4123944"/>
            <a:ext cx="363702"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585694" y="4123944"/>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+3</a:t>
            </a:r>
          </a:p>
        </p:txBody>
      </p:sp>
      <p:sp>
        <p:nvSpPr>
          <p:cNvPr id="47" name="Rectangle 46"/>
          <p:cNvSpPr/>
          <p:nvPr/>
        </p:nvSpPr>
        <p:spPr>
          <a:xfrm>
            <a:off x="2167128" y="4247388"/>
            <a:ext cx="2182215"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404207" y="4247388"/>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+18</a:t>
            </a:r>
          </a:p>
        </p:txBody>
      </p:sp>
      <p:sp>
        <p:nvSpPr>
          <p:cNvPr id="49" name="Rectangle 48"/>
          <p:cNvSpPr/>
          <p:nvPr/>
        </p:nvSpPr>
        <p:spPr>
          <a:xfrm>
            <a:off x="2167128" y="4370831"/>
            <a:ext cx="1939747"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161739" y="4370831"/>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+16</a:t>
            </a:r>
          </a:p>
        </p:txBody>
      </p:sp>
      <p:sp>
        <p:nvSpPr>
          <p:cNvPr id="51" name="Rectangle 50"/>
          <p:cNvSpPr/>
          <p:nvPr/>
        </p:nvSpPr>
        <p:spPr>
          <a:xfrm>
            <a:off x="2167128" y="4494276"/>
            <a:ext cx="1333576"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555568" y="4494276"/>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+11</a:t>
            </a:r>
          </a:p>
        </p:txBody>
      </p:sp>
      <p:sp>
        <p:nvSpPr>
          <p:cNvPr id="53" name="Rectangle 52"/>
          <p:cNvSpPr/>
          <p:nvPr/>
        </p:nvSpPr>
        <p:spPr>
          <a:xfrm>
            <a:off x="823975" y="5161788"/>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97711" y="5102352"/>
            <a:ext cx="149352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Other (basesize = 10)</a:t>
            </a:r>
          </a:p>
        </p:txBody>
      </p:sp>
      <p:sp>
        <p:nvSpPr>
          <p:cNvPr id="55" name="Rectangle 54"/>
          <p:cNvSpPr/>
          <p:nvPr/>
        </p:nvSpPr>
        <p:spPr>
          <a:xfrm>
            <a:off x="2747263" y="5161788"/>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920999" y="5102352"/>
            <a:ext cx="199136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Protein bars (basesize = 52)</a:t>
            </a:r>
          </a:p>
        </p:txBody>
      </p:sp>
      <p:sp>
        <p:nvSpPr>
          <p:cNvPr id="57" name="Rectangle 56"/>
          <p:cNvSpPr/>
          <p:nvPr/>
        </p:nvSpPr>
        <p:spPr>
          <a:xfrm>
            <a:off x="5168391" y="5161788"/>
            <a:ext cx="100584" cy="10058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342127" y="5102352"/>
            <a:ext cx="220472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Protein cookies (basesize = 80)</a:t>
            </a:r>
          </a:p>
        </p:txBody>
      </p:sp>
      <p:sp>
        <p:nvSpPr>
          <p:cNvPr id="59" name="Rectangle 58"/>
          <p:cNvSpPr/>
          <p:nvPr/>
        </p:nvSpPr>
        <p:spPr>
          <a:xfrm>
            <a:off x="3473703" y="5381244"/>
            <a:ext cx="100584" cy="100584"/>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647439" y="5321808"/>
            <a:ext cx="206248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Protein powder (basesize = 8)</a:t>
            </a:r>
          </a:p>
        </p:txBody>
      </p:sp>
      <p:sp>
        <p:nvSpPr>
          <p:cNvPr id="61" name="Rounded Rectangle 60"/>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7935467" y="899138"/>
            <a:ext cx="1709927" cy="762042"/>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3" name="Picture 62" descr="C1.png"/>
          <p:cNvPicPr>
            <a:picLocks noChangeAspect="1"/>
          </p:cNvPicPr>
          <p:nvPr/>
        </p:nvPicPr>
        <p:blipFill>
          <a:blip r:embed="rId2"/>
          <a:stretch>
            <a:fillRect/>
          </a:stretch>
        </p:blipFill>
        <p:spPr>
          <a:xfrm>
            <a:off x="7949183" y="912854"/>
            <a:ext cx="1682495" cy="734610"/>
          </a:xfrm>
          <a:prstGeom prst="rect">
            <a:avLst/>
          </a:prstGeom>
        </p:spPr>
      </p:pic>
      <p:sp>
        <p:nvSpPr>
          <p:cNvPr id="64" name="TextBox 63"/>
          <p:cNvSpPr txBox="1"/>
          <p:nvPr/>
        </p:nvSpPr>
        <p:spPr>
          <a:xfrm>
            <a:off x="7912607" y="1866633"/>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C01 Claim Full</a:t>
            </a:r>
          </a:p>
          <a:p>
            <a:pPr algn="ctr">
              <a:spcBef>
                <a:spcPts val="0"/>
              </a:spcBef>
              <a:spcAft>
                <a:spcPts val="0"/>
              </a:spcAft>
            </a:pPr>
            <a:r>
              <a:rPr sz="1200" b="0" i="0">
                <a:solidFill>
                  <a:srgbClr val="1E2D44"/>
                </a:solidFill>
                <a:latin typeface="Karla"/>
              </a:rPr>
              <a:t>Block Fibrecollagen…</a:t>
            </a:r>
          </a:p>
        </p:txBody>
      </p:sp>
      <p:sp>
        <p:nvSpPr>
          <p:cNvPr id="65" name="TextBox 64"/>
          <p:cNvSpPr txBox="1"/>
          <p:nvPr/>
        </p:nvSpPr>
        <p:spPr>
          <a:xfrm>
            <a:off x="7912607" y="2232393"/>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+17*</a:t>
            </a:r>
          </a:p>
        </p:txBody>
      </p:sp>
      <p:sp>
        <p:nvSpPr>
          <p:cNvPr id="66" name="Rectangle 65"/>
          <p:cNvSpPr/>
          <p:nvPr/>
        </p:nvSpPr>
        <p:spPr>
          <a:xfrm>
            <a:off x="9855707" y="734834"/>
            <a:ext cx="1709927" cy="1090650"/>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7" name="Picture 66" descr="C4.png"/>
          <p:cNvPicPr>
            <a:picLocks noChangeAspect="1"/>
          </p:cNvPicPr>
          <p:nvPr/>
        </p:nvPicPr>
        <p:blipFill>
          <a:blip r:embed="rId3"/>
          <a:stretch>
            <a:fillRect/>
          </a:stretch>
        </p:blipFill>
        <p:spPr>
          <a:xfrm>
            <a:off x="9869423" y="748550"/>
            <a:ext cx="1682495" cy="1063218"/>
          </a:xfrm>
          <a:prstGeom prst="rect">
            <a:avLst/>
          </a:prstGeom>
        </p:spPr>
      </p:pic>
      <p:sp>
        <p:nvSpPr>
          <p:cNvPr id="68" name="TextBox 67"/>
          <p:cNvSpPr txBox="1"/>
          <p:nvPr/>
        </p:nvSpPr>
        <p:spPr>
          <a:xfrm>
            <a:off x="9832847" y="1866633"/>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C04 Claim Full</a:t>
            </a:r>
          </a:p>
          <a:p>
            <a:pPr algn="ctr">
              <a:spcBef>
                <a:spcPts val="0"/>
              </a:spcBef>
              <a:spcAft>
                <a:spcPts val="0"/>
              </a:spcAft>
            </a:pPr>
            <a:r>
              <a:rPr sz="1200" b="0" i="0">
                <a:solidFill>
                  <a:srgbClr val="1E2D44"/>
                </a:solidFill>
                <a:latin typeface="Karla"/>
              </a:rPr>
              <a:t>Block Fibrecollagen…</a:t>
            </a:r>
          </a:p>
        </p:txBody>
      </p:sp>
      <p:sp>
        <p:nvSpPr>
          <p:cNvPr id="69" name="TextBox 68"/>
          <p:cNvSpPr txBox="1"/>
          <p:nvPr/>
        </p:nvSpPr>
        <p:spPr>
          <a:xfrm>
            <a:off x="9832847" y="2232393"/>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+21*</a:t>
            </a:r>
          </a:p>
        </p:txBody>
      </p:sp>
      <p:sp>
        <p:nvSpPr>
          <p:cNvPr id="70" name="Rectangle 69"/>
          <p:cNvSpPr/>
          <p:nvPr/>
        </p:nvSpPr>
        <p:spPr>
          <a:xfrm>
            <a:off x="7935467" y="3436917"/>
            <a:ext cx="1709927" cy="80712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1" name="Picture 70" descr="C5.png"/>
          <p:cNvPicPr>
            <a:picLocks noChangeAspect="1"/>
          </p:cNvPicPr>
          <p:nvPr/>
        </p:nvPicPr>
        <p:blipFill>
          <a:blip r:embed="rId4"/>
          <a:stretch>
            <a:fillRect/>
          </a:stretch>
        </p:blipFill>
        <p:spPr>
          <a:xfrm>
            <a:off x="7949183" y="3450633"/>
            <a:ext cx="1682495" cy="779693"/>
          </a:xfrm>
          <a:prstGeom prst="rect">
            <a:avLst/>
          </a:prstGeom>
        </p:spPr>
      </p:pic>
      <p:sp>
        <p:nvSpPr>
          <p:cNvPr id="72" name="TextBox 71"/>
          <p:cNvSpPr txBox="1"/>
          <p:nvPr/>
        </p:nvSpPr>
        <p:spPr>
          <a:xfrm>
            <a:off x="7912607" y="4426953"/>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C05 Claim 33</a:t>
            </a:r>
          </a:p>
          <a:p>
            <a:pPr algn="ctr">
              <a:spcBef>
                <a:spcPts val="0"/>
              </a:spcBef>
              <a:spcAft>
                <a:spcPts val="0"/>
              </a:spcAft>
            </a:pPr>
            <a:r>
              <a:rPr sz="1200" b="0" i="0">
                <a:solidFill>
                  <a:srgbClr val="1E2D44"/>
                </a:solidFill>
                <a:latin typeface="Karla"/>
              </a:rPr>
              <a:t>Protein 20g High…</a:t>
            </a:r>
          </a:p>
        </p:txBody>
      </p:sp>
      <p:sp>
        <p:nvSpPr>
          <p:cNvPr id="73" name="TextBox 72"/>
          <p:cNvSpPr txBox="1"/>
          <p:nvPr/>
        </p:nvSpPr>
        <p:spPr>
          <a:xfrm>
            <a:off x="7912607" y="4792713"/>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+19*</a:t>
            </a:r>
          </a:p>
        </p:txBody>
      </p:sp>
      <p:sp>
        <p:nvSpPr>
          <p:cNvPr id="74" name="Rectangle 73"/>
          <p:cNvSpPr/>
          <p:nvPr/>
        </p:nvSpPr>
        <p:spPr>
          <a:xfrm>
            <a:off x="9855707" y="3532030"/>
            <a:ext cx="1709927" cy="616898"/>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5" name="Picture 74" descr="C2.png"/>
          <p:cNvPicPr>
            <a:picLocks noChangeAspect="1"/>
          </p:cNvPicPr>
          <p:nvPr/>
        </p:nvPicPr>
        <p:blipFill>
          <a:blip r:embed="rId5"/>
          <a:stretch>
            <a:fillRect/>
          </a:stretch>
        </p:blipFill>
        <p:spPr>
          <a:xfrm>
            <a:off x="9869423" y="3545746"/>
            <a:ext cx="1682495" cy="589466"/>
          </a:xfrm>
          <a:prstGeom prst="rect">
            <a:avLst/>
          </a:prstGeom>
        </p:spPr>
      </p:pic>
      <p:sp>
        <p:nvSpPr>
          <p:cNvPr id="76" name="TextBox 75"/>
          <p:cNvSpPr txBox="1"/>
          <p:nvPr/>
        </p:nvSpPr>
        <p:spPr>
          <a:xfrm>
            <a:off x="9832847" y="4426953"/>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C02 Claim 33</a:t>
            </a:r>
          </a:p>
          <a:p>
            <a:pPr algn="ctr">
              <a:spcBef>
                <a:spcPts val="0"/>
              </a:spcBef>
              <a:spcAft>
                <a:spcPts val="0"/>
              </a:spcAft>
            </a:pPr>
            <a:r>
              <a:rPr sz="1200" b="0" i="0">
                <a:solidFill>
                  <a:srgbClr val="1E2D44"/>
                </a:solidFill>
                <a:latin typeface="Karla"/>
              </a:rPr>
              <a:t>Protein 20g High…</a:t>
            </a:r>
          </a:p>
        </p:txBody>
      </p:sp>
      <p:sp>
        <p:nvSpPr>
          <p:cNvPr id="77" name="TextBox 76"/>
          <p:cNvSpPr txBox="1"/>
          <p:nvPr/>
        </p:nvSpPr>
        <p:spPr>
          <a:xfrm>
            <a:off x="9832847" y="4792713"/>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+12*</a:t>
            </a:r>
          </a:p>
        </p:txBody>
      </p:sp>
      <p:sp>
        <p:nvSpPr>
          <p:cNvPr id="78" name="Rounded Rectangle 77"/>
          <p:cNvSpPr/>
          <p:nvPr/>
        </p:nvSpPr>
        <p:spPr>
          <a:xfrm>
            <a:off x="502920" y="5632704"/>
            <a:ext cx="11268455" cy="676656"/>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200" b="0">
                <a:solidFill>
                  <a:srgbClr val="1E2D44"/>
                </a:solidFill>
                <a:latin typeface="Karla"/>
              </a:rPr>
              <a:t>Other favors C05 Claim 33 Protein 20g High Protein No Sugar Added Mid Left D1; Protein bars favor C04 Claim Full Block Fibrecollagen 33 Protein 20gno Sugar Mid Left D1; Protein cookies favor C04 Claim Full Block Fibrecollagen 33 Protein 20gno Sugar Mid Left D1; Protein powder favors C01 Claim Full Block Fibrecollagen 33 Protein 20gno Sugar Bottom Centre D2D3. The widest segment gap is C01 Claim Full Block Fibrecollagen 33 Protein 20gno Sugar Bottom Centre D2D3: +8 other / +14 protein bars / +19 protein cookies / +27 protein powder.</a:t>
            </a:r>
          </a:p>
        </p:txBody>
      </p:sp>
      <p:sp>
        <p:nvSpPr>
          <p:cNvPr id="79" name="Rectangle 78"/>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Top-2 scores rounded to whole points. *Average of the groups in the legend.</a:t>
            </a:r>
          </a:p>
        </p:txBody>
      </p:sp>
      <p:sp>
        <p:nvSpPr>
          <p:cNvPr id="81" name="TextBox 80"/>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37744"/>
            <a:ext cx="7043927" cy="182880"/>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KEY FINDINGS: C_CLAIM  ·  What would be your ideal way to consume protein-enriched products?   ·   2 of 2</a:t>
            </a:r>
          </a:p>
        </p:txBody>
      </p:sp>
      <p:sp>
        <p:nvSpPr>
          <p:cNvPr id="3" name="TextBox 2"/>
          <p:cNvSpPr txBox="1"/>
          <p:nvPr/>
        </p:nvSpPr>
        <p:spPr>
          <a:xfrm>
            <a:off x="502920" y="438912"/>
            <a:ext cx="7043927" cy="365760"/>
          </a:xfrm>
          <a:prstGeom prst="rect">
            <a:avLst/>
          </a:prstGeom>
          <a:noFill/>
        </p:spPr>
        <p:txBody>
          <a:bodyPr wrap="square" anchor="t" lIns="0" rIns="0" tIns="0" bIns="0"/>
          <a:lstStyle/>
          <a:p>
            <a:pPr algn="l">
              <a:spcBef>
                <a:spcPts val="0"/>
              </a:spcBef>
              <a:spcAft>
                <a:spcPts val="0"/>
              </a:spcAft>
            </a:pPr>
            <a:r>
              <a:rPr sz="2600" b="1" i="0">
                <a:solidFill>
                  <a:srgbClr val="1E2D44"/>
                </a:solidFill>
                <a:latin typeface="Karla"/>
              </a:rPr>
              <a:t>C_Claim splits across the groups</a:t>
            </a:r>
          </a:p>
        </p:txBody>
      </p:sp>
      <p:sp>
        <p:nvSpPr>
          <p:cNvPr id="4" name="TextBox 3"/>
          <p:cNvSpPr txBox="1"/>
          <p:nvPr/>
        </p:nvSpPr>
        <p:spPr>
          <a:xfrm>
            <a:off x="502920" y="822960"/>
            <a:ext cx="7043927" cy="475488"/>
          </a:xfrm>
          <a:prstGeom prst="rect">
            <a:avLst/>
          </a:prstGeom>
          <a:noFill/>
        </p:spPr>
        <p:txBody>
          <a:bodyPr wrap="square" anchor="t" lIns="0" rIns="0" tIns="0" bIns="0"/>
          <a:lstStyle/>
          <a:p>
            <a:pPr algn="l">
              <a:spcBef>
                <a:spcPts val="0"/>
              </a:spcBef>
              <a:spcAft>
                <a:spcPts val="0"/>
              </a:spcAft>
            </a:pPr>
            <a:r>
              <a:rPr sz="1200" b="0" i="0">
                <a:solidFill>
                  <a:srgbClr val="617086"/>
                </a:solidFill>
                <a:latin typeface="Karla"/>
              </a:rPr>
              <a:t>Other favors C05 Claim 33 Protein 20g High Protein No Sugar Added Mid Left D1; Protein bars favor C04 Claim Full Block Fibrecollagen 33 Protein 20gno Sugar Mid Left D1; Protein cookies favor C04 Claim Full Block Fibrecollagen 33 Protein 20gno Sugar Mid Left D1; Protein powder favors C01 Claim Full Block Fibrecollagen 33 Protein 20gno Sugar Bottom Centre D2D3.</a:t>
            </a:r>
          </a:p>
        </p:txBody>
      </p:sp>
      <p:sp>
        <p:nvSpPr>
          <p:cNvPr id="5" name="Rectangle 4"/>
          <p:cNvSpPr/>
          <p:nvPr/>
        </p:nvSpPr>
        <p:spPr>
          <a:xfrm>
            <a:off x="502920" y="1335024"/>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C_CLAIM</a:t>
            </a:r>
          </a:p>
        </p:txBody>
      </p:sp>
      <p:sp>
        <p:nvSpPr>
          <p:cNvPr id="6" name="TextBox 5"/>
          <p:cNvSpPr txBox="1"/>
          <p:nvPr/>
        </p:nvSpPr>
        <p:spPr>
          <a:xfrm>
            <a:off x="1874520"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7" name="Rectangle 6"/>
          <p:cNvSpPr/>
          <p:nvPr/>
        </p:nvSpPr>
        <p:spPr>
          <a:xfrm>
            <a:off x="3379469"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86861"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5</a:t>
            </a:r>
          </a:p>
        </p:txBody>
      </p:sp>
      <p:sp>
        <p:nvSpPr>
          <p:cNvPr id="9" name="Rectangle 8"/>
          <p:cNvSpPr/>
          <p:nvPr/>
        </p:nvSpPr>
        <p:spPr>
          <a:xfrm>
            <a:off x="4591811"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9203"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11" name="Rectangle 10"/>
          <p:cNvSpPr/>
          <p:nvPr/>
        </p:nvSpPr>
        <p:spPr>
          <a:xfrm>
            <a:off x="5804153"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11545"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15</a:t>
            </a:r>
          </a:p>
        </p:txBody>
      </p:sp>
      <p:sp>
        <p:nvSpPr>
          <p:cNvPr id="13" name="Rectangle 12"/>
          <p:cNvSpPr/>
          <p:nvPr/>
        </p:nvSpPr>
        <p:spPr>
          <a:xfrm>
            <a:off x="7016495"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23887"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5" name="Rectangle 14"/>
          <p:cNvSpPr/>
          <p:nvPr/>
        </p:nvSpPr>
        <p:spPr>
          <a:xfrm>
            <a:off x="2167128" y="1645920"/>
            <a:ext cx="10972" cy="30906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167128" y="4736592"/>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2045969"/>
            <a:ext cx="1554480" cy="745236"/>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C06 Claim 33 Protein</a:t>
            </a:r>
          </a:p>
          <a:p>
            <a:pPr algn="r">
              <a:spcBef>
                <a:spcPts val="0"/>
              </a:spcBef>
              <a:spcAft>
                <a:spcPts val="0"/>
              </a:spcAft>
            </a:pPr>
            <a:r>
              <a:rPr sz="1000" b="0" i="0">
                <a:solidFill>
                  <a:srgbClr val="1E2D44"/>
                </a:solidFill>
                <a:latin typeface="Karla"/>
              </a:rPr>
              <a:t>Only Mid Left D1</a:t>
            </a:r>
          </a:p>
        </p:txBody>
      </p:sp>
      <p:sp>
        <p:nvSpPr>
          <p:cNvPr id="18" name="Rectangle 17"/>
          <p:cNvSpPr/>
          <p:nvPr/>
        </p:nvSpPr>
        <p:spPr>
          <a:xfrm>
            <a:off x="2167128" y="2045969"/>
            <a:ext cx="2182215"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04207" y="2045969"/>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+9</a:t>
            </a:r>
          </a:p>
        </p:txBody>
      </p:sp>
      <p:sp>
        <p:nvSpPr>
          <p:cNvPr id="20" name="Rectangle 19"/>
          <p:cNvSpPr/>
          <p:nvPr/>
        </p:nvSpPr>
        <p:spPr>
          <a:xfrm>
            <a:off x="2167128" y="2242565"/>
            <a:ext cx="3394557"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16549" y="2242565"/>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+14</a:t>
            </a:r>
          </a:p>
        </p:txBody>
      </p:sp>
      <p:sp>
        <p:nvSpPr>
          <p:cNvPr id="22" name="Rectangle 21"/>
          <p:cNvSpPr/>
          <p:nvPr/>
        </p:nvSpPr>
        <p:spPr>
          <a:xfrm>
            <a:off x="2167128" y="2439162"/>
            <a:ext cx="3879494" cy="155448"/>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01486" y="2439162"/>
            <a:ext cx="457200" cy="155448"/>
          </a:xfrm>
          <a:prstGeom prst="rect">
            <a:avLst/>
          </a:prstGeom>
          <a:noFill/>
        </p:spPr>
        <p:txBody>
          <a:bodyPr wrap="none" anchor="ctr" lIns="0" rIns="0" tIns="0" bIns="0"/>
          <a:lstStyle/>
          <a:p>
            <a:pPr algn="l">
              <a:spcBef>
                <a:spcPts val="0"/>
              </a:spcBef>
              <a:spcAft>
                <a:spcPts val="0"/>
              </a:spcAft>
            </a:pPr>
            <a:r>
              <a:rPr sz="1200" b="1" i="0">
                <a:solidFill>
                  <a:srgbClr val="C45C26"/>
                </a:solidFill>
                <a:latin typeface="Karla"/>
              </a:rPr>
              <a:t>+16</a:t>
            </a:r>
          </a:p>
        </p:txBody>
      </p:sp>
      <p:sp>
        <p:nvSpPr>
          <p:cNvPr id="24" name="Rectangle 23"/>
          <p:cNvSpPr/>
          <p:nvPr/>
        </p:nvSpPr>
        <p:spPr>
          <a:xfrm>
            <a:off x="2167128" y="2635758"/>
            <a:ext cx="1939747" cy="155448"/>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61739" y="2635758"/>
            <a:ext cx="457200" cy="155448"/>
          </a:xfrm>
          <a:prstGeom prst="rect">
            <a:avLst/>
          </a:prstGeom>
          <a:noFill/>
        </p:spPr>
        <p:txBody>
          <a:bodyPr wrap="none" anchor="ctr" lIns="0" rIns="0" tIns="0" bIns="0"/>
          <a:lstStyle/>
          <a:p>
            <a:pPr algn="l">
              <a:spcBef>
                <a:spcPts val="0"/>
              </a:spcBef>
              <a:spcAft>
                <a:spcPts val="0"/>
              </a:spcAft>
            </a:pPr>
            <a:r>
              <a:rPr sz="1200" b="1" i="0">
                <a:solidFill>
                  <a:srgbClr val="1D4E89"/>
                </a:solidFill>
                <a:latin typeface="Karla"/>
              </a:rPr>
              <a:t>+8</a:t>
            </a:r>
          </a:p>
        </p:txBody>
      </p:sp>
      <p:sp>
        <p:nvSpPr>
          <p:cNvPr id="26" name="TextBox 25"/>
          <p:cNvSpPr txBox="1"/>
          <p:nvPr/>
        </p:nvSpPr>
        <p:spPr>
          <a:xfrm>
            <a:off x="502920" y="3591306"/>
            <a:ext cx="1554480" cy="745236"/>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C03 Claim 33 Protein</a:t>
            </a:r>
          </a:p>
          <a:p>
            <a:pPr algn="r">
              <a:spcBef>
                <a:spcPts val="0"/>
              </a:spcBef>
              <a:spcAft>
                <a:spcPts val="0"/>
              </a:spcAft>
            </a:pPr>
            <a:r>
              <a:rPr sz="1000" b="0" i="0">
                <a:solidFill>
                  <a:srgbClr val="1E2D44"/>
                </a:solidFill>
                <a:latin typeface="Karla"/>
              </a:rPr>
              <a:t>Only Bottom Centre…</a:t>
            </a:r>
          </a:p>
        </p:txBody>
      </p:sp>
      <p:sp>
        <p:nvSpPr>
          <p:cNvPr id="27" name="Rectangle 26"/>
          <p:cNvSpPr/>
          <p:nvPr/>
        </p:nvSpPr>
        <p:spPr>
          <a:xfrm>
            <a:off x="2167128" y="3591306"/>
            <a:ext cx="1697278"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919270" y="3591306"/>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+7</a:t>
            </a:r>
          </a:p>
        </p:txBody>
      </p:sp>
      <p:sp>
        <p:nvSpPr>
          <p:cNvPr id="29" name="Rectangle 28"/>
          <p:cNvSpPr/>
          <p:nvPr/>
        </p:nvSpPr>
        <p:spPr>
          <a:xfrm>
            <a:off x="2167128" y="3787902"/>
            <a:ext cx="3394557"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616549" y="3787902"/>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+14</a:t>
            </a:r>
          </a:p>
        </p:txBody>
      </p:sp>
      <p:sp>
        <p:nvSpPr>
          <p:cNvPr id="31" name="Rectangle 30"/>
          <p:cNvSpPr/>
          <p:nvPr/>
        </p:nvSpPr>
        <p:spPr>
          <a:xfrm>
            <a:off x="2167128" y="3984498"/>
            <a:ext cx="2909620" cy="155448"/>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131612" y="3984498"/>
            <a:ext cx="457200" cy="155448"/>
          </a:xfrm>
          <a:prstGeom prst="rect">
            <a:avLst/>
          </a:prstGeom>
          <a:noFill/>
        </p:spPr>
        <p:txBody>
          <a:bodyPr wrap="none" anchor="ctr" lIns="0" rIns="0" tIns="0" bIns="0"/>
          <a:lstStyle/>
          <a:p>
            <a:pPr algn="l">
              <a:spcBef>
                <a:spcPts val="0"/>
              </a:spcBef>
              <a:spcAft>
                <a:spcPts val="0"/>
              </a:spcAft>
            </a:pPr>
            <a:r>
              <a:rPr sz="1200" b="1" i="0">
                <a:solidFill>
                  <a:srgbClr val="C45C26"/>
                </a:solidFill>
                <a:latin typeface="Karla"/>
              </a:rPr>
              <a:t>+12</a:t>
            </a:r>
          </a:p>
        </p:txBody>
      </p:sp>
      <p:sp>
        <p:nvSpPr>
          <p:cNvPr id="33" name="Rectangle 32"/>
          <p:cNvSpPr/>
          <p:nvPr/>
        </p:nvSpPr>
        <p:spPr>
          <a:xfrm>
            <a:off x="2167128" y="4181094"/>
            <a:ext cx="2424683" cy="155448"/>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646675" y="4181094"/>
            <a:ext cx="457200" cy="155448"/>
          </a:xfrm>
          <a:prstGeom prst="rect">
            <a:avLst/>
          </a:prstGeom>
          <a:noFill/>
        </p:spPr>
        <p:txBody>
          <a:bodyPr wrap="none" anchor="ctr" lIns="0" rIns="0" tIns="0" bIns="0"/>
          <a:lstStyle/>
          <a:p>
            <a:pPr algn="l">
              <a:spcBef>
                <a:spcPts val="0"/>
              </a:spcBef>
              <a:spcAft>
                <a:spcPts val="0"/>
              </a:spcAft>
            </a:pPr>
            <a:r>
              <a:rPr sz="1200" b="1" i="0">
                <a:solidFill>
                  <a:srgbClr val="1D4E89"/>
                </a:solidFill>
                <a:latin typeface="Karla"/>
              </a:rPr>
              <a:t>+10</a:t>
            </a:r>
          </a:p>
        </p:txBody>
      </p:sp>
      <p:sp>
        <p:nvSpPr>
          <p:cNvPr id="35" name="Rectangle 34"/>
          <p:cNvSpPr/>
          <p:nvPr/>
        </p:nvSpPr>
        <p:spPr>
          <a:xfrm>
            <a:off x="823975" y="5161788"/>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97711" y="5102352"/>
            <a:ext cx="149352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Other (basesize = 10)</a:t>
            </a:r>
          </a:p>
        </p:txBody>
      </p:sp>
      <p:sp>
        <p:nvSpPr>
          <p:cNvPr id="37" name="Rectangle 36"/>
          <p:cNvSpPr/>
          <p:nvPr/>
        </p:nvSpPr>
        <p:spPr>
          <a:xfrm>
            <a:off x="2747263" y="5161788"/>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920999" y="5102352"/>
            <a:ext cx="199136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Protein bars (basesize = 52)</a:t>
            </a:r>
          </a:p>
        </p:txBody>
      </p:sp>
      <p:sp>
        <p:nvSpPr>
          <p:cNvPr id="39" name="Rectangle 38"/>
          <p:cNvSpPr/>
          <p:nvPr/>
        </p:nvSpPr>
        <p:spPr>
          <a:xfrm>
            <a:off x="5168391" y="5161788"/>
            <a:ext cx="100584" cy="10058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342127" y="5102352"/>
            <a:ext cx="220472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Protein cookies (basesize = 80)</a:t>
            </a:r>
          </a:p>
        </p:txBody>
      </p:sp>
      <p:sp>
        <p:nvSpPr>
          <p:cNvPr id="41" name="Rectangle 40"/>
          <p:cNvSpPr/>
          <p:nvPr/>
        </p:nvSpPr>
        <p:spPr>
          <a:xfrm>
            <a:off x="3473703" y="5381244"/>
            <a:ext cx="100584" cy="100584"/>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47439" y="5321808"/>
            <a:ext cx="206248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Protein powder (basesize = 8)</a:t>
            </a:r>
          </a:p>
        </p:txBody>
      </p:sp>
      <p:sp>
        <p:nvSpPr>
          <p:cNvPr id="43" name="Rounded Rectangle 42"/>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935467" y="2364051"/>
            <a:ext cx="1709927" cy="392537"/>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5" name="Picture 44" descr="C6.png"/>
          <p:cNvPicPr>
            <a:picLocks noChangeAspect="1"/>
          </p:cNvPicPr>
          <p:nvPr/>
        </p:nvPicPr>
        <p:blipFill>
          <a:blip r:embed="rId2"/>
          <a:stretch>
            <a:fillRect/>
          </a:stretch>
        </p:blipFill>
        <p:spPr>
          <a:xfrm>
            <a:off x="7949183" y="2377767"/>
            <a:ext cx="1682495" cy="365105"/>
          </a:xfrm>
          <a:prstGeom prst="rect">
            <a:avLst/>
          </a:prstGeom>
        </p:spPr>
      </p:pic>
      <p:sp>
        <p:nvSpPr>
          <p:cNvPr id="46" name="TextBox 45"/>
          <p:cNvSpPr txBox="1"/>
          <p:nvPr/>
        </p:nvSpPr>
        <p:spPr>
          <a:xfrm>
            <a:off x="7912607" y="2800412"/>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C06 Claim 33</a:t>
            </a:r>
          </a:p>
          <a:p>
            <a:pPr algn="ctr">
              <a:spcBef>
                <a:spcPts val="0"/>
              </a:spcBef>
              <a:spcAft>
                <a:spcPts val="0"/>
              </a:spcAft>
            </a:pPr>
            <a:r>
              <a:rPr sz="1200" b="0" i="0">
                <a:solidFill>
                  <a:srgbClr val="1E2D44"/>
                </a:solidFill>
                <a:latin typeface="Karla"/>
              </a:rPr>
              <a:t>Protein Only Mid…</a:t>
            </a:r>
          </a:p>
        </p:txBody>
      </p:sp>
      <p:sp>
        <p:nvSpPr>
          <p:cNvPr id="47" name="TextBox 46"/>
          <p:cNvSpPr txBox="1"/>
          <p:nvPr/>
        </p:nvSpPr>
        <p:spPr>
          <a:xfrm>
            <a:off x="7912607" y="3166172"/>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+12*</a:t>
            </a:r>
          </a:p>
        </p:txBody>
      </p:sp>
      <p:sp>
        <p:nvSpPr>
          <p:cNvPr id="48" name="Rectangle 47"/>
          <p:cNvSpPr/>
          <p:nvPr/>
        </p:nvSpPr>
        <p:spPr>
          <a:xfrm>
            <a:off x="9855707" y="2361375"/>
            <a:ext cx="1709927" cy="397889"/>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9" name="Picture 48" descr="C3.png"/>
          <p:cNvPicPr>
            <a:picLocks noChangeAspect="1"/>
          </p:cNvPicPr>
          <p:nvPr/>
        </p:nvPicPr>
        <p:blipFill>
          <a:blip r:embed="rId3"/>
          <a:stretch>
            <a:fillRect/>
          </a:stretch>
        </p:blipFill>
        <p:spPr>
          <a:xfrm>
            <a:off x="9869423" y="2375091"/>
            <a:ext cx="1682495" cy="370457"/>
          </a:xfrm>
          <a:prstGeom prst="rect">
            <a:avLst/>
          </a:prstGeom>
        </p:spPr>
      </p:pic>
      <p:sp>
        <p:nvSpPr>
          <p:cNvPr id="50" name="TextBox 49"/>
          <p:cNvSpPr txBox="1"/>
          <p:nvPr/>
        </p:nvSpPr>
        <p:spPr>
          <a:xfrm>
            <a:off x="9832847" y="2800412"/>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C03 Claim 33</a:t>
            </a:r>
          </a:p>
          <a:p>
            <a:pPr algn="ctr">
              <a:spcBef>
                <a:spcPts val="0"/>
              </a:spcBef>
              <a:spcAft>
                <a:spcPts val="0"/>
              </a:spcAft>
            </a:pPr>
            <a:r>
              <a:rPr sz="1200" b="0" i="0">
                <a:solidFill>
                  <a:srgbClr val="1E2D44"/>
                </a:solidFill>
                <a:latin typeface="Karla"/>
              </a:rPr>
              <a:t>Protein Only Bottom…</a:t>
            </a:r>
          </a:p>
        </p:txBody>
      </p:sp>
      <p:sp>
        <p:nvSpPr>
          <p:cNvPr id="51" name="TextBox 50"/>
          <p:cNvSpPr txBox="1"/>
          <p:nvPr/>
        </p:nvSpPr>
        <p:spPr>
          <a:xfrm>
            <a:off x="9832847" y="3166172"/>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+11*</a:t>
            </a:r>
          </a:p>
        </p:txBody>
      </p:sp>
      <p:sp>
        <p:nvSpPr>
          <p:cNvPr id="52" name="Rounded Rectangle 51"/>
          <p:cNvSpPr/>
          <p:nvPr/>
        </p:nvSpPr>
        <p:spPr>
          <a:xfrm>
            <a:off x="502920" y="5632704"/>
            <a:ext cx="11268455" cy="676656"/>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200" b="0">
                <a:solidFill>
                  <a:srgbClr val="1E2D44"/>
                </a:solidFill>
                <a:latin typeface="Karla"/>
              </a:rPr>
              <a:t>Other favors C05 Claim 33 Protein 20g High Protein No Sugar Added Mid Left D1; Protein bars favor C04 Claim Full Block Fibrecollagen 33 Protein 20gno Sugar Mid Left D1; Protein cookies favor C04 Claim Full Block Fibrecollagen 33 Protein 20gno Sugar Mid Left D1; Protein powder favors C01 Claim Full Block Fibrecollagen 33 Protein 20gno Sugar Bottom Centre D2D3. The widest segment gap is C01 Claim Full Block Fibrecollagen 33 Protein 20gno Sugar Bottom Centre D2D3: +8 other / +14 protein bars / +19 protein cookies / +27 protein powder.</a:t>
            </a:r>
          </a:p>
        </p:txBody>
      </p:sp>
      <p:sp>
        <p:nvSpPr>
          <p:cNvPr id="53" name="Rectangle 52"/>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Top-2 scores rounded to whole points. *Average of the groups in the legend.</a:t>
            </a:r>
          </a:p>
        </p:txBody>
      </p:sp>
      <p:sp>
        <p:nvSpPr>
          <p:cNvPr id="55" name="TextBox 54"/>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37744"/>
            <a:ext cx="7043927" cy="182880"/>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KEY FINDINGS: C_CLAIM  ·  How familiar are you with the Fitspo brand?   ·   1 of 2</a:t>
            </a:r>
          </a:p>
        </p:txBody>
      </p:sp>
      <p:sp>
        <p:nvSpPr>
          <p:cNvPr id="3" name="TextBox 2"/>
          <p:cNvSpPr txBox="1"/>
          <p:nvPr/>
        </p:nvSpPr>
        <p:spPr>
          <a:xfrm>
            <a:off x="502920" y="438912"/>
            <a:ext cx="7043927" cy="365760"/>
          </a:xfrm>
          <a:prstGeom prst="rect">
            <a:avLst/>
          </a:prstGeom>
          <a:noFill/>
        </p:spPr>
        <p:txBody>
          <a:bodyPr wrap="square" anchor="t" lIns="0" rIns="0" tIns="0" bIns="0"/>
          <a:lstStyle/>
          <a:p>
            <a:pPr algn="l">
              <a:spcBef>
                <a:spcPts val="0"/>
              </a:spcBef>
              <a:spcAft>
                <a:spcPts val="0"/>
              </a:spcAft>
            </a:pPr>
            <a:r>
              <a:rPr sz="2600" b="1" i="0">
                <a:solidFill>
                  <a:srgbClr val="1E2D44"/>
                </a:solidFill>
                <a:latin typeface="Karla"/>
              </a:rPr>
              <a:t>C_Claim splits across the groups</a:t>
            </a:r>
          </a:p>
        </p:txBody>
      </p:sp>
      <p:sp>
        <p:nvSpPr>
          <p:cNvPr id="4" name="TextBox 3"/>
          <p:cNvSpPr txBox="1"/>
          <p:nvPr/>
        </p:nvSpPr>
        <p:spPr>
          <a:xfrm>
            <a:off x="502920" y="822960"/>
            <a:ext cx="7043927" cy="475488"/>
          </a:xfrm>
          <a:prstGeom prst="rect">
            <a:avLst/>
          </a:prstGeom>
          <a:noFill/>
        </p:spPr>
        <p:txBody>
          <a:bodyPr wrap="square" anchor="t" lIns="0" rIns="0" tIns="0" bIns="0"/>
          <a:lstStyle/>
          <a:p>
            <a:pPr algn="l">
              <a:spcBef>
                <a:spcPts val="0"/>
              </a:spcBef>
              <a:spcAft>
                <a:spcPts val="0"/>
              </a:spcAft>
            </a:pPr>
            <a:r>
              <a:rPr sz="1200" b="0" i="0">
                <a:solidFill>
                  <a:srgbClr val="617086"/>
                </a:solidFill>
                <a:latin typeface="Karla"/>
              </a:rPr>
              <a:t>Heard of it, but know little about it favors C01 Claim Full Block Fibrecollagen 33 Protein 20gno Sugar Bottom Centre D2D3; Not familiar at all favors C04 Claim Full Block Fibrecollagen 33 Protein 20gno Sugar Mid Left D1; Somewhat familiar favors C04 Claim Full Block Fibrecollagen 33 Protein 20gno Sugar Mid Left D1; Very familiar favors C04 Claim Full Block Fibrecollagen 33 Protein 20gno Sugar Mid Left D1.</a:t>
            </a:r>
          </a:p>
        </p:txBody>
      </p:sp>
      <p:sp>
        <p:nvSpPr>
          <p:cNvPr id="5" name="Rectangle 4"/>
          <p:cNvSpPr/>
          <p:nvPr/>
        </p:nvSpPr>
        <p:spPr>
          <a:xfrm>
            <a:off x="502920" y="1335024"/>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C_CLAIM</a:t>
            </a:r>
          </a:p>
        </p:txBody>
      </p:sp>
      <p:sp>
        <p:nvSpPr>
          <p:cNvPr id="6" name="TextBox 5"/>
          <p:cNvSpPr txBox="1"/>
          <p:nvPr/>
        </p:nvSpPr>
        <p:spPr>
          <a:xfrm>
            <a:off x="1874520"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7" name="Rectangle 6"/>
          <p:cNvSpPr/>
          <p:nvPr/>
        </p:nvSpPr>
        <p:spPr>
          <a:xfrm>
            <a:off x="3379469"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86861"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9" name="Rectangle 8"/>
          <p:cNvSpPr/>
          <p:nvPr/>
        </p:nvSpPr>
        <p:spPr>
          <a:xfrm>
            <a:off x="4591811"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9203"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1" name="Rectangle 10"/>
          <p:cNvSpPr/>
          <p:nvPr/>
        </p:nvSpPr>
        <p:spPr>
          <a:xfrm>
            <a:off x="5804153"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11545"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30</a:t>
            </a:r>
          </a:p>
        </p:txBody>
      </p:sp>
      <p:sp>
        <p:nvSpPr>
          <p:cNvPr id="13" name="Rectangle 12"/>
          <p:cNvSpPr/>
          <p:nvPr/>
        </p:nvSpPr>
        <p:spPr>
          <a:xfrm>
            <a:off x="7016495"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23887"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40</a:t>
            </a:r>
          </a:p>
        </p:txBody>
      </p:sp>
      <p:sp>
        <p:nvSpPr>
          <p:cNvPr id="15" name="Rectangle 14"/>
          <p:cNvSpPr/>
          <p:nvPr/>
        </p:nvSpPr>
        <p:spPr>
          <a:xfrm>
            <a:off x="2167128" y="1645920"/>
            <a:ext cx="10972" cy="30906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167128" y="4736592"/>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1805940"/>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C04 Claim Full Block</a:t>
            </a:r>
          </a:p>
          <a:p>
            <a:pPr algn="r">
              <a:spcBef>
                <a:spcPts val="0"/>
              </a:spcBef>
              <a:spcAft>
                <a:spcPts val="0"/>
              </a:spcAft>
            </a:pPr>
            <a:r>
              <a:rPr sz="1000" b="0" i="0">
                <a:solidFill>
                  <a:srgbClr val="1E2D44"/>
                </a:solidFill>
                <a:latin typeface="Karla"/>
              </a:rPr>
              <a:t>Fibrecollagen 33…</a:t>
            </a:r>
          </a:p>
        </p:txBody>
      </p:sp>
      <p:sp>
        <p:nvSpPr>
          <p:cNvPr id="18" name="Rectangle 17"/>
          <p:cNvSpPr/>
          <p:nvPr/>
        </p:nvSpPr>
        <p:spPr>
          <a:xfrm>
            <a:off x="2167128" y="1805940"/>
            <a:ext cx="2788386"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10378" y="1805940"/>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+23</a:t>
            </a:r>
          </a:p>
        </p:txBody>
      </p:sp>
      <p:sp>
        <p:nvSpPr>
          <p:cNvPr id="20" name="Rectangle 19"/>
          <p:cNvSpPr/>
          <p:nvPr/>
        </p:nvSpPr>
        <p:spPr>
          <a:xfrm>
            <a:off x="2167128" y="1929384"/>
            <a:ext cx="3152089"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74081" y="1929384"/>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+26</a:t>
            </a:r>
          </a:p>
        </p:txBody>
      </p:sp>
      <p:sp>
        <p:nvSpPr>
          <p:cNvPr id="22" name="Rectangle 21"/>
          <p:cNvSpPr/>
          <p:nvPr/>
        </p:nvSpPr>
        <p:spPr>
          <a:xfrm>
            <a:off x="2167128" y="2052828"/>
            <a:ext cx="2545918"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67910" y="2052828"/>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+21</a:t>
            </a:r>
          </a:p>
        </p:txBody>
      </p:sp>
      <p:sp>
        <p:nvSpPr>
          <p:cNvPr id="24" name="Rectangle 23"/>
          <p:cNvSpPr/>
          <p:nvPr/>
        </p:nvSpPr>
        <p:spPr>
          <a:xfrm>
            <a:off x="2167128" y="2176272"/>
            <a:ext cx="3030854"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52846" y="2176272"/>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+25</a:t>
            </a:r>
          </a:p>
        </p:txBody>
      </p:sp>
      <p:sp>
        <p:nvSpPr>
          <p:cNvPr id="26" name="TextBox 25"/>
          <p:cNvSpPr txBox="1"/>
          <p:nvPr/>
        </p:nvSpPr>
        <p:spPr>
          <a:xfrm>
            <a:off x="502920" y="2578608"/>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C01 Claim Full Block</a:t>
            </a:r>
          </a:p>
          <a:p>
            <a:pPr algn="r">
              <a:spcBef>
                <a:spcPts val="0"/>
              </a:spcBef>
              <a:spcAft>
                <a:spcPts val="0"/>
              </a:spcAft>
            </a:pPr>
            <a:r>
              <a:rPr sz="1000" b="0" i="0">
                <a:solidFill>
                  <a:srgbClr val="1E2D44"/>
                </a:solidFill>
                <a:latin typeface="Karla"/>
              </a:rPr>
              <a:t>Fibrecollagen 33…</a:t>
            </a:r>
          </a:p>
        </p:txBody>
      </p:sp>
      <p:sp>
        <p:nvSpPr>
          <p:cNvPr id="27" name="Rectangle 26"/>
          <p:cNvSpPr/>
          <p:nvPr/>
        </p:nvSpPr>
        <p:spPr>
          <a:xfrm>
            <a:off x="2167128" y="2578608"/>
            <a:ext cx="2788386"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10378" y="2578608"/>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+23</a:t>
            </a:r>
          </a:p>
        </p:txBody>
      </p:sp>
      <p:sp>
        <p:nvSpPr>
          <p:cNvPr id="29" name="Rectangle 28"/>
          <p:cNvSpPr/>
          <p:nvPr/>
        </p:nvSpPr>
        <p:spPr>
          <a:xfrm>
            <a:off x="2167128" y="2702052"/>
            <a:ext cx="1454810"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76802" y="2702052"/>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+12</a:t>
            </a:r>
          </a:p>
        </p:txBody>
      </p:sp>
      <p:sp>
        <p:nvSpPr>
          <p:cNvPr id="31" name="Rectangle 30"/>
          <p:cNvSpPr/>
          <p:nvPr/>
        </p:nvSpPr>
        <p:spPr>
          <a:xfrm>
            <a:off x="2167128" y="2825496"/>
            <a:ext cx="1818512"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040504" y="2825496"/>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+15</a:t>
            </a:r>
          </a:p>
        </p:txBody>
      </p:sp>
      <p:sp>
        <p:nvSpPr>
          <p:cNvPr id="33" name="Rectangle 32"/>
          <p:cNvSpPr/>
          <p:nvPr/>
        </p:nvSpPr>
        <p:spPr>
          <a:xfrm>
            <a:off x="2167128" y="2948939"/>
            <a:ext cx="2182215"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04207" y="2948939"/>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+18</a:t>
            </a:r>
          </a:p>
        </p:txBody>
      </p:sp>
      <p:sp>
        <p:nvSpPr>
          <p:cNvPr id="35" name="TextBox 34"/>
          <p:cNvSpPr txBox="1"/>
          <p:nvPr/>
        </p:nvSpPr>
        <p:spPr>
          <a:xfrm>
            <a:off x="502920" y="3351276"/>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C05 Claim 33 Protein</a:t>
            </a:r>
          </a:p>
          <a:p>
            <a:pPr algn="r">
              <a:spcBef>
                <a:spcPts val="0"/>
              </a:spcBef>
              <a:spcAft>
                <a:spcPts val="0"/>
              </a:spcAft>
            </a:pPr>
            <a:r>
              <a:rPr sz="1000" b="0" i="0">
                <a:solidFill>
                  <a:srgbClr val="1E2D44"/>
                </a:solidFill>
                <a:latin typeface="Karla"/>
              </a:rPr>
              <a:t>20g High Protein No…</a:t>
            </a:r>
          </a:p>
        </p:txBody>
      </p:sp>
      <p:sp>
        <p:nvSpPr>
          <p:cNvPr id="36" name="Rectangle 35"/>
          <p:cNvSpPr/>
          <p:nvPr/>
        </p:nvSpPr>
        <p:spPr>
          <a:xfrm>
            <a:off x="2167128" y="3351276"/>
            <a:ext cx="1818512"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040504" y="3351276"/>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+15</a:t>
            </a:r>
          </a:p>
        </p:txBody>
      </p:sp>
      <p:sp>
        <p:nvSpPr>
          <p:cNvPr id="38" name="Rectangle 37"/>
          <p:cNvSpPr/>
          <p:nvPr/>
        </p:nvSpPr>
        <p:spPr>
          <a:xfrm>
            <a:off x="2167128" y="3474720"/>
            <a:ext cx="2667152"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889144" y="3474720"/>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+22</a:t>
            </a:r>
          </a:p>
        </p:txBody>
      </p:sp>
      <p:sp>
        <p:nvSpPr>
          <p:cNvPr id="40" name="Rectangle 39"/>
          <p:cNvSpPr/>
          <p:nvPr/>
        </p:nvSpPr>
        <p:spPr>
          <a:xfrm>
            <a:off x="2167128" y="3598164"/>
            <a:ext cx="2545918"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767910" y="3598164"/>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+21</a:t>
            </a:r>
          </a:p>
        </p:txBody>
      </p:sp>
      <p:sp>
        <p:nvSpPr>
          <p:cNvPr id="42" name="Rectangle 41"/>
          <p:cNvSpPr/>
          <p:nvPr/>
        </p:nvSpPr>
        <p:spPr>
          <a:xfrm>
            <a:off x="2167128" y="3721608"/>
            <a:ext cx="2788386"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010378" y="3721608"/>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+23</a:t>
            </a:r>
          </a:p>
        </p:txBody>
      </p:sp>
      <p:sp>
        <p:nvSpPr>
          <p:cNvPr id="44" name="TextBox 43"/>
          <p:cNvSpPr txBox="1"/>
          <p:nvPr/>
        </p:nvSpPr>
        <p:spPr>
          <a:xfrm>
            <a:off x="502920" y="4123944"/>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C02 Claim 33 Protein</a:t>
            </a:r>
          </a:p>
          <a:p>
            <a:pPr algn="r">
              <a:spcBef>
                <a:spcPts val="0"/>
              </a:spcBef>
              <a:spcAft>
                <a:spcPts val="0"/>
              </a:spcAft>
            </a:pPr>
            <a:r>
              <a:rPr sz="1000" b="0" i="0">
                <a:solidFill>
                  <a:srgbClr val="1E2D44"/>
                </a:solidFill>
                <a:latin typeface="Karla"/>
              </a:rPr>
              <a:t>20g High Protein No…</a:t>
            </a:r>
          </a:p>
        </p:txBody>
      </p:sp>
      <p:sp>
        <p:nvSpPr>
          <p:cNvPr id="45" name="Rectangle 44"/>
          <p:cNvSpPr/>
          <p:nvPr/>
        </p:nvSpPr>
        <p:spPr>
          <a:xfrm>
            <a:off x="2167128" y="4123944"/>
            <a:ext cx="1697278"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919270" y="4123944"/>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+14</a:t>
            </a:r>
          </a:p>
        </p:txBody>
      </p:sp>
      <p:sp>
        <p:nvSpPr>
          <p:cNvPr id="47" name="Rectangle 46"/>
          <p:cNvSpPr/>
          <p:nvPr/>
        </p:nvSpPr>
        <p:spPr>
          <a:xfrm>
            <a:off x="2167128" y="4247388"/>
            <a:ext cx="1212341"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434333" y="4247388"/>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+10</a:t>
            </a:r>
          </a:p>
        </p:txBody>
      </p:sp>
      <p:sp>
        <p:nvSpPr>
          <p:cNvPr id="49" name="Rectangle 48"/>
          <p:cNvSpPr/>
          <p:nvPr/>
        </p:nvSpPr>
        <p:spPr>
          <a:xfrm>
            <a:off x="2167128" y="4370831"/>
            <a:ext cx="1454810"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676802" y="4370831"/>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+12</a:t>
            </a:r>
          </a:p>
        </p:txBody>
      </p:sp>
      <p:sp>
        <p:nvSpPr>
          <p:cNvPr id="51" name="Rectangle 50"/>
          <p:cNvSpPr/>
          <p:nvPr/>
        </p:nvSpPr>
        <p:spPr>
          <a:xfrm>
            <a:off x="2167128" y="4494276"/>
            <a:ext cx="2667152"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889144" y="4494276"/>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+22</a:t>
            </a:r>
          </a:p>
        </p:txBody>
      </p:sp>
      <p:sp>
        <p:nvSpPr>
          <p:cNvPr id="53" name="Rectangle 52"/>
          <p:cNvSpPr/>
          <p:nvPr/>
        </p:nvSpPr>
        <p:spPr>
          <a:xfrm>
            <a:off x="684783" y="5161788"/>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58519" y="5102352"/>
            <a:ext cx="376936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Heard of it, but know little about it (basesize = 22)</a:t>
            </a:r>
          </a:p>
        </p:txBody>
      </p:sp>
      <p:sp>
        <p:nvSpPr>
          <p:cNvPr id="55" name="Rectangle 54"/>
          <p:cNvSpPr/>
          <p:nvPr/>
        </p:nvSpPr>
        <p:spPr>
          <a:xfrm>
            <a:off x="4883911" y="5161788"/>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057647" y="5102352"/>
            <a:ext cx="248920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Not familiar at all (basesize = 25)</a:t>
            </a:r>
          </a:p>
        </p:txBody>
      </p:sp>
      <p:sp>
        <p:nvSpPr>
          <p:cNvPr id="57" name="Rectangle 56"/>
          <p:cNvSpPr/>
          <p:nvPr/>
        </p:nvSpPr>
        <p:spPr>
          <a:xfrm>
            <a:off x="2085339" y="5381244"/>
            <a:ext cx="100584" cy="10058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259075" y="5321808"/>
            <a:ext cx="234696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Somewhat familiar (basesize = 49)</a:t>
            </a:r>
          </a:p>
        </p:txBody>
      </p:sp>
      <p:sp>
        <p:nvSpPr>
          <p:cNvPr id="59" name="Rectangle 58"/>
          <p:cNvSpPr/>
          <p:nvPr/>
        </p:nvSpPr>
        <p:spPr>
          <a:xfrm>
            <a:off x="4862067" y="5381244"/>
            <a:ext cx="100584" cy="100584"/>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035803" y="5321808"/>
            <a:ext cx="206248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Very familiar (basesize = 54)</a:t>
            </a:r>
          </a:p>
        </p:txBody>
      </p:sp>
      <p:sp>
        <p:nvSpPr>
          <p:cNvPr id="61" name="Rounded Rectangle 60"/>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7935467" y="734834"/>
            <a:ext cx="1709927" cy="1090650"/>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3" name="Picture 62" descr="C4.png"/>
          <p:cNvPicPr>
            <a:picLocks noChangeAspect="1"/>
          </p:cNvPicPr>
          <p:nvPr/>
        </p:nvPicPr>
        <p:blipFill>
          <a:blip r:embed="rId2"/>
          <a:stretch>
            <a:fillRect/>
          </a:stretch>
        </p:blipFill>
        <p:spPr>
          <a:xfrm>
            <a:off x="7949183" y="748550"/>
            <a:ext cx="1682495" cy="1063218"/>
          </a:xfrm>
          <a:prstGeom prst="rect">
            <a:avLst/>
          </a:prstGeom>
        </p:spPr>
      </p:pic>
      <p:sp>
        <p:nvSpPr>
          <p:cNvPr id="64" name="TextBox 63"/>
          <p:cNvSpPr txBox="1"/>
          <p:nvPr/>
        </p:nvSpPr>
        <p:spPr>
          <a:xfrm>
            <a:off x="7912607" y="1866633"/>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C04 Claim Full</a:t>
            </a:r>
          </a:p>
          <a:p>
            <a:pPr algn="ctr">
              <a:spcBef>
                <a:spcPts val="0"/>
              </a:spcBef>
              <a:spcAft>
                <a:spcPts val="0"/>
              </a:spcAft>
            </a:pPr>
            <a:r>
              <a:rPr sz="1200" b="0" i="0">
                <a:solidFill>
                  <a:srgbClr val="1E2D44"/>
                </a:solidFill>
                <a:latin typeface="Karla"/>
              </a:rPr>
              <a:t>Block Fibrecollagen…</a:t>
            </a:r>
          </a:p>
        </p:txBody>
      </p:sp>
      <p:sp>
        <p:nvSpPr>
          <p:cNvPr id="65" name="TextBox 64"/>
          <p:cNvSpPr txBox="1"/>
          <p:nvPr/>
        </p:nvSpPr>
        <p:spPr>
          <a:xfrm>
            <a:off x="7912607" y="2232393"/>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+24*</a:t>
            </a:r>
          </a:p>
        </p:txBody>
      </p:sp>
      <p:sp>
        <p:nvSpPr>
          <p:cNvPr id="66" name="Rectangle 65"/>
          <p:cNvSpPr/>
          <p:nvPr/>
        </p:nvSpPr>
        <p:spPr>
          <a:xfrm>
            <a:off x="9855707" y="899138"/>
            <a:ext cx="1709927" cy="762042"/>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7" name="Picture 66" descr="C1.png"/>
          <p:cNvPicPr>
            <a:picLocks noChangeAspect="1"/>
          </p:cNvPicPr>
          <p:nvPr/>
        </p:nvPicPr>
        <p:blipFill>
          <a:blip r:embed="rId3"/>
          <a:stretch>
            <a:fillRect/>
          </a:stretch>
        </p:blipFill>
        <p:spPr>
          <a:xfrm>
            <a:off x="9869423" y="912854"/>
            <a:ext cx="1682495" cy="734610"/>
          </a:xfrm>
          <a:prstGeom prst="rect">
            <a:avLst/>
          </a:prstGeom>
        </p:spPr>
      </p:pic>
      <p:sp>
        <p:nvSpPr>
          <p:cNvPr id="68" name="TextBox 67"/>
          <p:cNvSpPr txBox="1"/>
          <p:nvPr/>
        </p:nvSpPr>
        <p:spPr>
          <a:xfrm>
            <a:off x="9832847" y="1866633"/>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C01 Claim Full</a:t>
            </a:r>
          </a:p>
          <a:p>
            <a:pPr algn="ctr">
              <a:spcBef>
                <a:spcPts val="0"/>
              </a:spcBef>
              <a:spcAft>
                <a:spcPts val="0"/>
              </a:spcAft>
            </a:pPr>
            <a:r>
              <a:rPr sz="1200" b="0" i="0">
                <a:solidFill>
                  <a:srgbClr val="1E2D44"/>
                </a:solidFill>
                <a:latin typeface="Karla"/>
              </a:rPr>
              <a:t>Block Fibrecollagen…</a:t>
            </a:r>
          </a:p>
        </p:txBody>
      </p:sp>
      <p:sp>
        <p:nvSpPr>
          <p:cNvPr id="69" name="TextBox 68"/>
          <p:cNvSpPr txBox="1"/>
          <p:nvPr/>
        </p:nvSpPr>
        <p:spPr>
          <a:xfrm>
            <a:off x="9832847" y="2232393"/>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+17*</a:t>
            </a:r>
          </a:p>
        </p:txBody>
      </p:sp>
      <p:sp>
        <p:nvSpPr>
          <p:cNvPr id="70" name="Rectangle 69"/>
          <p:cNvSpPr/>
          <p:nvPr/>
        </p:nvSpPr>
        <p:spPr>
          <a:xfrm>
            <a:off x="7935467" y="3436917"/>
            <a:ext cx="1709927" cy="80712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1" name="Picture 70" descr="C5.png"/>
          <p:cNvPicPr>
            <a:picLocks noChangeAspect="1"/>
          </p:cNvPicPr>
          <p:nvPr/>
        </p:nvPicPr>
        <p:blipFill>
          <a:blip r:embed="rId4"/>
          <a:stretch>
            <a:fillRect/>
          </a:stretch>
        </p:blipFill>
        <p:spPr>
          <a:xfrm>
            <a:off x="7949183" y="3450633"/>
            <a:ext cx="1682495" cy="779693"/>
          </a:xfrm>
          <a:prstGeom prst="rect">
            <a:avLst/>
          </a:prstGeom>
        </p:spPr>
      </p:pic>
      <p:sp>
        <p:nvSpPr>
          <p:cNvPr id="72" name="TextBox 71"/>
          <p:cNvSpPr txBox="1"/>
          <p:nvPr/>
        </p:nvSpPr>
        <p:spPr>
          <a:xfrm>
            <a:off x="7912607" y="4426953"/>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C05 Claim 33</a:t>
            </a:r>
          </a:p>
          <a:p>
            <a:pPr algn="ctr">
              <a:spcBef>
                <a:spcPts val="0"/>
              </a:spcBef>
              <a:spcAft>
                <a:spcPts val="0"/>
              </a:spcAft>
            </a:pPr>
            <a:r>
              <a:rPr sz="1200" b="0" i="0">
                <a:solidFill>
                  <a:srgbClr val="1E2D44"/>
                </a:solidFill>
                <a:latin typeface="Karla"/>
              </a:rPr>
              <a:t>Protein 20g High…</a:t>
            </a:r>
          </a:p>
        </p:txBody>
      </p:sp>
      <p:sp>
        <p:nvSpPr>
          <p:cNvPr id="73" name="TextBox 72"/>
          <p:cNvSpPr txBox="1"/>
          <p:nvPr/>
        </p:nvSpPr>
        <p:spPr>
          <a:xfrm>
            <a:off x="7912607" y="4792713"/>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+20*</a:t>
            </a:r>
          </a:p>
        </p:txBody>
      </p:sp>
      <p:sp>
        <p:nvSpPr>
          <p:cNvPr id="74" name="Rectangle 73"/>
          <p:cNvSpPr/>
          <p:nvPr/>
        </p:nvSpPr>
        <p:spPr>
          <a:xfrm>
            <a:off x="9855707" y="3532030"/>
            <a:ext cx="1709927" cy="616898"/>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5" name="Picture 74" descr="C2.png"/>
          <p:cNvPicPr>
            <a:picLocks noChangeAspect="1"/>
          </p:cNvPicPr>
          <p:nvPr/>
        </p:nvPicPr>
        <p:blipFill>
          <a:blip r:embed="rId5"/>
          <a:stretch>
            <a:fillRect/>
          </a:stretch>
        </p:blipFill>
        <p:spPr>
          <a:xfrm>
            <a:off x="9869423" y="3545746"/>
            <a:ext cx="1682495" cy="589466"/>
          </a:xfrm>
          <a:prstGeom prst="rect">
            <a:avLst/>
          </a:prstGeom>
        </p:spPr>
      </p:pic>
      <p:sp>
        <p:nvSpPr>
          <p:cNvPr id="76" name="TextBox 75"/>
          <p:cNvSpPr txBox="1"/>
          <p:nvPr/>
        </p:nvSpPr>
        <p:spPr>
          <a:xfrm>
            <a:off x="9832847" y="4426953"/>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C02 Claim 33</a:t>
            </a:r>
          </a:p>
          <a:p>
            <a:pPr algn="ctr">
              <a:spcBef>
                <a:spcPts val="0"/>
              </a:spcBef>
              <a:spcAft>
                <a:spcPts val="0"/>
              </a:spcAft>
            </a:pPr>
            <a:r>
              <a:rPr sz="1200" b="0" i="0">
                <a:solidFill>
                  <a:srgbClr val="1E2D44"/>
                </a:solidFill>
                <a:latin typeface="Karla"/>
              </a:rPr>
              <a:t>Protein 20g High…</a:t>
            </a:r>
          </a:p>
        </p:txBody>
      </p:sp>
      <p:sp>
        <p:nvSpPr>
          <p:cNvPr id="77" name="TextBox 76"/>
          <p:cNvSpPr txBox="1"/>
          <p:nvPr/>
        </p:nvSpPr>
        <p:spPr>
          <a:xfrm>
            <a:off x="9832847" y="4792713"/>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+14*</a:t>
            </a:r>
          </a:p>
        </p:txBody>
      </p:sp>
      <p:sp>
        <p:nvSpPr>
          <p:cNvPr id="78" name="Rounded Rectangle 77"/>
          <p:cNvSpPr/>
          <p:nvPr/>
        </p:nvSpPr>
        <p:spPr>
          <a:xfrm>
            <a:off x="502920" y="5632704"/>
            <a:ext cx="11268455" cy="676656"/>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200" b="0">
                <a:solidFill>
                  <a:srgbClr val="1E2D44"/>
                </a:solidFill>
                <a:latin typeface="Karla"/>
              </a:rPr>
              <a:t>Heard of it, but know little about it favors C01 Claim Full Block Fibrecollagen 33 Protein 20gno Sugar Bottom Centre D2D3; Not familiar at all favors C04 Claim Full Block Fibrecollagen 33 Protein 20gno Sugar Mid Left D1; Somewhat familiar favors C04 Claim Full Block Fibrecollagen 33 Protein 20gno Sugar Mid Left D1; Very familiar favors C04 Claim Full Block Fibrecollagen 33 Protein 20gno Sugar Mid Left D1. The widest segment gap is C03 Claim 33 Protein Only Bottom Centre D2D3: +13 heard of it, but know little about it / +1 not familiar at all / +12 somewhat familiar / +17 very familiar.</a:t>
            </a:r>
          </a:p>
        </p:txBody>
      </p:sp>
      <p:sp>
        <p:nvSpPr>
          <p:cNvPr id="79" name="Rectangle 78"/>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Top-2 scores rounded to whole points. *Average of the groups in the legend.</a:t>
            </a:r>
          </a:p>
        </p:txBody>
      </p:sp>
      <p:sp>
        <p:nvSpPr>
          <p:cNvPr id="81" name="TextBox 80"/>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37744"/>
            <a:ext cx="7043927" cy="182880"/>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KEY FINDINGS: C_CLAIM  ·  How familiar are you with the Fitspo brand?   ·   2 of 2</a:t>
            </a:r>
          </a:p>
        </p:txBody>
      </p:sp>
      <p:sp>
        <p:nvSpPr>
          <p:cNvPr id="3" name="TextBox 2"/>
          <p:cNvSpPr txBox="1"/>
          <p:nvPr/>
        </p:nvSpPr>
        <p:spPr>
          <a:xfrm>
            <a:off x="502920" y="438912"/>
            <a:ext cx="7043927" cy="365760"/>
          </a:xfrm>
          <a:prstGeom prst="rect">
            <a:avLst/>
          </a:prstGeom>
          <a:noFill/>
        </p:spPr>
        <p:txBody>
          <a:bodyPr wrap="square" anchor="t" lIns="0" rIns="0" tIns="0" bIns="0"/>
          <a:lstStyle/>
          <a:p>
            <a:pPr algn="l">
              <a:spcBef>
                <a:spcPts val="0"/>
              </a:spcBef>
              <a:spcAft>
                <a:spcPts val="0"/>
              </a:spcAft>
            </a:pPr>
            <a:r>
              <a:rPr sz="2600" b="1" i="0">
                <a:solidFill>
                  <a:srgbClr val="1E2D44"/>
                </a:solidFill>
                <a:latin typeface="Karla"/>
              </a:rPr>
              <a:t>C_Claim splits across the groups</a:t>
            </a:r>
          </a:p>
        </p:txBody>
      </p:sp>
      <p:sp>
        <p:nvSpPr>
          <p:cNvPr id="4" name="TextBox 3"/>
          <p:cNvSpPr txBox="1"/>
          <p:nvPr/>
        </p:nvSpPr>
        <p:spPr>
          <a:xfrm>
            <a:off x="502920" y="822960"/>
            <a:ext cx="7043927" cy="475488"/>
          </a:xfrm>
          <a:prstGeom prst="rect">
            <a:avLst/>
          </a:prstGeom>
          <a:noFill/>
        </p:spPr>
        <p:txBody>
          <a:bodyPr wrap="square" anchor="t" lIns="0" rIns="0" tIns="0" bIns="0"/>
          <a:lstStyle/>
          <a:p>
            <a:pPr algn="l">
              <a:spcBef>
                <a:spcPts val="0"/>
              </a:spcBef>
              <a:spcAft>
                <a:spcPts val="0"/>
              </a:spcAft>
            </a:pPr>
            <a:r>
              <a:rPr sz="1200" b="0" i="0">
                <a:solidFill>
                  <a:srgbClr val="617086"/>
                </a:solidFill>
                <a:latin typeface="Karla"/>
              </a:rPr>
              <a:t>Heard of it, but know little about it favors C01 Claim Full Block Fibrecollagen 33 Protein 20gno Sugar Bottom Centre D2D3; Not familiar at all favors C04 Claim Full Block Fibrecollagen 33 Protein 20gno Sugar Mid Left D1; Somewhat familiar favors C04 Claim Full Block Fibrecollagen 33 Protein 20gno Sugar Mid Left D1; Very familiar favors C04 Claim Full Block Fibrecollagen 33 Protein 20gno Sugar Mid Left D1.</a:t>
            </a:r>
          </a:p>
        </p:txBody>
      </p:sp>
      <p:sp>
        <p:nvSpPr>
          <p:cNvPr id="5" name="Rectangle 4"/>
          <p:cNvSpPr/>
          <p:nvPr/>
        </p:nvSpPr>
        <p:spPr>
          <a:xfrm>
            <a:off x="502920" y="1335024"/>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C_CLAIM</a:t>
            </a:r>
          </a:p>
        </p:txBody>
      </p:sp>
      <p:sp>
        <p:nvSpPr>
          <p:cNvPr id="6" name="TextBox 5"/>
          <p:cNvSpPr txBox="1"/>
          <p:nvPr/>
        </p:nvSpPr>
        <p:spPr>
          <a:xfrm>
            <a:off x="1874520"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7" name="Rectangle 6"/>
          <p:cNvSpPr/>
          <p:nvPr/>
        </p:nvSpPr>
        <p:spPr>
          <a:xfrm>
            <a:off x="3379469"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86861"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5</a:t>
            </a:r>
          </a:p>
        </p:txBody>
      </p:sp>
      <p:sp>
        <p:nvSpPr>
          <p:cNvPr id="9" name="Rectangle 8"/>
          <p:cNvSpPr/>
          <p:nvPr/>
        </p:nvSpPr>
        <p:spPr>
          <a:xfrm>
            <a:off x="4591811"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9203"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11" name="Rectangle 10"/>
          <p:cNvSpPr/>
          <p:nvPr/>
        </p:nvSpPr>
        <p:spPr>
          <a:xfrm>
            <a:off x="5804153"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11545"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15</a:t>
            </a:r>
          </a:p>
        </p:txBody>
      </p:sp>
      <p:sp>
        <p:nvSpPr>
          <p:cNvPr id="13" name="Rectangle 12"/>
          <p:cNvSpPr/>
          <p:nvPr/>
        </p:nvSpPr>
        <p:spPr>
          <a:xfrm>
            <a:off x="7016495"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23887"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5" name="Rectangle 14"/>
          <p:cNvSpPr/>
          <p:nvPr/>
        </p:nvSpPr>
        <p:spPr>
          <a:xfrm>
            <a:off x="2167128" y="1645920"/>
            <a:ext cx="10972" cy="30906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167128" y="4736592"/>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2045969"/>
            <a:ext cx="1554480" cy="745236"/>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C06 Claim 33 Protein</a:t>
            </a:r>
          </a:p>
          <a:p>
            <a:pPr algn="r">
              <a:spcBef>
                <a:spcPts val="0"/>
              </a:spcBef>
              <a:spcAft>
                <a:spcPts val="0"/>
              </a:spcAft>
            </a:pPr>
            <a:r>
              <a:rPr sz="1000" b="0" i="0">
                <a:solidFill>
                  <a:srgbClr val="1E2D44"/>
                </a:solidFill>
                <a:latin typeface="Karla"/>
              </a:rPr>
              <a:t>Only Mid Left D1</a:t>
            </a:r>
          </a:p>
        </p:txBody>
      </p:sp>
      <p:sp>
        <p:nvSpPr>
          <p:cNvPr id="18" name="Rectangle 17"/>
          <p:cNvSpPr/>
          <p:nvPr/>
        </p:nvSpPr>
        <p:spPr>
          <a:xfrm>
            <a:off x="2167128" y="2045969"/>
            <a:ext cx="3394557"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16549" y="2045969"/>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+14</a:t>
            </a:r>
          </a:p>
        </p:txBody>
      </p:sp>
      <p:sp>
        <p:nvSpPr>
          <p:cNvPr id="20" name="Rectangle 19"/>
          <p:cNvSpPr/>
          <p:nvPr/>
        </p:nvSpPr>
        <p:spPr>
          <a:xfrm>
            <a:off x="2167128" y="2242565"/>
            <a:ext cx="2909620"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31612" y="2242565"/>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+12</a:t>
            </a:r>
          </a:p>
        </p:txBody>
      </p:sp>
      <p:sp>
        <p:nvSpPr>
          <p:cNvPr id="22" name="Rectangle 21"/>
          <p:cNvSpPr/>
          <p:nvPr/>
        </p:nvSpPr>
        <p:spPr>
          <a:xfrm>
            <a:off x="2167128" y="2439162"/>
            <a:ext cx="2424683" cy="155448"/>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46675" y="2439162"/>
            <a:ext cx="457200" cy="155448"/>
          </a:xfrm>
          <a:prstGeom prst="rect">
            <a:avLst/>
          </a:prstGeom>
          <a:noFill/>
        </p:spPr>
        <p:txBody>
          <a:bodyPr wrap="none" anchor="ctr" lIns="0" rIns="0" tIns="0" bIns="0"/>
          <a:lstStyle/>
          <a:p>
            <a:pPr algn="l">
              <a:spcBef>
                <a:spcPts val="0"/>
              </a:spcBef>
              <a:spcAft>
                <a:spcPts val="0"/>
              </a:spcAft>
            </a:pPr>
            <a:r>
              <a:rPr sz="1200" b="1" i="0">
                <a:solidFill>
                  <a:srgbClr val="C45C26"/>
                </a:solidFill>
                <a:latin typeface="Karla"/>
              </a:rPr>
              <a:t>+10</a:t>
            </a:r>
          </a:p>
        </p:txBody>
      </p:sp>
      <p:sp>
        <p:nvSpPr>
          <p:cNvPr id="24" name="Rectangle 23"/>
          <p:cNvSpPr/>
          <p:nvPr/>
        </p:nvSpPr>
        <p:spPr>
          <a:xfrm>
            <a:off x="2167128" y="2635758"/>
            <a:ext cx="4606899" cy="155448"/>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28891" y="2635758"/>
            <a:ext cx="457200" cy="155448"/>
          </a:xfrm>
          <a:prstGeom prst="rect">
            <a:avLst/>
          </a:prstGeom>
          <a:noFill/>
        </p:spPr>
        <p:txBody>
          <a:bodyPr wrap="none" anchor="ctr" lIns="0" rIns="0" tIns="0" bIns="0"/>
          <a:lstStyle/>
          <a:p>
            <a:pPr algn="l">
              <a:spcBef>
                <a:spcPts val="0"/>
              </a:spcBef>
              <a:spcAft>
                <a:spcPts val="0"/>
              </a:spcAft>
            </a:pPr>
            <a:r>
              <a:rPr sz="1200" b="1" i="0">
                <a:solidFill>
                  <a:srgbClr val="1D4E89"/>
                </a:solidFill>
                <a:latin typeface="Karla"/>
              </a:rPr>
              <a:t>+19</a:t>
            </a:r>
          </a:p>
        </p:txBody>
      </p:sp>
      <p:sp>
        <p:nvSpPr>
          <p:cNvPr id="26" name="TextBox 25"/>
          <p:cNvSpPr txBox="1"/>
          <p:nvPr/>
        </p:nvSpPr>
        <p:spPr>
          <a:xfrm>
            <a:off x="502920" y="3591306"/>
            <a:ext cx="1554480" cy="745236"/>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C03 Claim 33 Protein</a:t>
            </a:r>
          </a:p>
          <a:p>
            <a:pPr algn="r">
              <a:spcBef>
                <a:spcPts val="0"/>
              </a:spcBef>
              <a:spcAft>
                <a:spcPts val="0"/>
              </a:spcAft>
            </a:pPr>
            <a:r>
              <a:rPr sz="1000" b="0" i="0">
                <a:solidFill>
                  <a:srgbClr val="1E2D44"/>
                </a:solidFill>
                <a:latin typeface="Karla"/>
              </a:rPr>
              <a:t>Only Bottom Centre…</a:t>
            </a:r>
          </a:p>
        </p:txBody>
      </p:sp>
      <p:sp>
        <p:nvSpPr>
          <p:cNvPr id="27" name="Rectangle 26"/>
          <p:cNvSpPr/>
          <p:nvPr/>
        </p:nvSpPr>
        <p:spPr>
          <a:xfrm>
            <a:off x="2167128" y="3591306"/>
            <a:ext cx="3152089"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374081" y="3591306"/>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+13</a:t>
            </a:r>
          </a:p>
        </p:txBody>
      </p:sp>
      <p:sp>
        <p:nvSpPr>
          <p:cNvPr id="29" name="Rectangle 28"/>
          <p:cNvSpPr/>
          <p:nvPr/>
        </p:nvSpPr>
        <p:spPr>
          <a:xfrm>
            <a:off x="2167128" y="3787902"/>
            <a:ext cx="242468"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464460" y="3787902"/>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+1</a:t>
            </a:r>
          </a:p>
        </p:txBody>
      </p:sp>
      <p:sp>
        <p:nvSpPr>
          <p:cNvPr id="31" name="Rectangle 30"/>
          <p:cNvSpPr/>
          <p:nvPr/>
        </p:nvSpPr>
        <p:spPr>
          <a:xfrm>
            <a:off x="2167128" y="3984498"/>
            <a:ext cx="2909620" cy="155448"/>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131612" y="3984498"/>
            <a:ext cx="457200" cy="155448"/>
          </a:xfrm>
          <a:prstGeom prst="rect">
            <a:avLst/>
          </a:prstGeom>
          <a:noFill/>
        </p:spPr>
        <p:txBody>
          <a:bodyPr wrap="none" anchor="ctr" lIns="0" rIns="0" tIns="0" bIns="0"/>
          <a:lstStyle/>
          <a:p>
            <a:pPr algn="l">
              <a:spcBef>
                <a:spcPts val="0"/>
              </a:spcBef>
              <a:spcAft>
                <a:spcPts val="0"/>
              </a:spcAft>
            </a:pPr>
            <a:r>
              <a:rPr sz="1200" b="1" i="0">
                <a:solidFill>
                  <a:srgbClr val="C45C26"/>
                </a:solidFill>
                <a:latin typeface="Karla"/>
              </a:rPr>
              <a:t>+12</a:t>
            </a:r>
          </a:p>
        </p:txBody>
      </p:sp>
      <p:sp>
        <p:nvSpPr>
          <p:cNvPr id="33" name="Rectangle 32"/>
          <p:cNvSpPr/>
          <p:nvPr/>
        </p:nvSpPr>
        <p:spPr>
          <a:xfrm>
            <a:off x="2167128" y="4181094"/>
            <a:ext cx="4121962" cy="155448"/>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43954" y="4181094"/>
            <a:ext cx="457200" cy="155448"/>
          </a:xfrm>
          <a:prstGeom prst="rect">
            <a:avLst/>
          </a:prstGeom>
          <a:noFill/>
        </p:spPr>
        <p:txBody>
          <a:bodyPr wrap="none" anchor="ctr" lIns="0" rIns="0" tIns="0" bIns="0"/>
          <a:lstStyle/>
          <a:p>
            <a:pPr algn="l">
              <a:spcBef>
                <a:spcPts val="0"/>
              </a:spcBef>
              <a:spcAft>
                <a:spcPts val="0"/>
              </a:spcAft>
            </a:pPr>
            <a:r>
              <a:rPr sz="1200" b="1" i="0">
                <a:solidFill>
                  <a:srgbClr val="1D4E89"/>
                </a:solidFill>
                <a:latin typeface="Karla"/>
              </a:rPr>
              <a:t>+17</a:t>
            </a:r>
          </a:p>
        </p:txBody>
      </p:sp>
      <p:sp>
        <p:nvSpPr>
          <p:cNvPr id="35" name="Rectangle 34"/>
          <p:cNvSpPr/>
          <p:nvPr/>
        </p:nvSpPr>
        <p:spPr>
          <a:xfrm>
            <a:off x="684783" y="5161788"/>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58519" y="5102352"/>
            <a:ext cx="376936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Heard of it, but know little about it (basesize = 22)</a:t>
            </a:r>
          </a:p>
        </p:txBody>
      </p:sp>
      <p:sp>
        <p:nvSpPr>
          <p:cNvPr id="37" name="Rectangle 36"/>
          <p:cNvSpPr/>
          <p:nvPr/>
        </p:nvSpPr>
        <p:spPr>
          <a:xfrm>
            <a:off x="4883911" y="5161788"/>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057647" y="5102352"/>
            <a:ext cx="248920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Not familiar at all (basesize = 25)</a:t>
            </a:r>
          </a:p>
        </p:txBody>
      </p:sp>
      <p:sp>
        <p:nvSpPr>
          <p:cNvPr id="39" name="Rectangle 38"/>
          <p:cNvSpPr/>
          <p:nvPr/>
        </p:nvSpPr>
        <p:spPr>
          <a:xfrm>
            <a:off x="2085339" y="5381244"/>
            <a:ext cx="100584" cy="10058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259075" y="5321808"/>
            <a:ext cx="234696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Somewhat familiar (basesize = 49)</a:t>
            </a:r>
          </a:p>
        </p:txBody>
      </p:sp>
      <p:sp>
        <p:nvSpPr>
          <p:cNvPr id="41" name="Rectangle 40"/>
          <p:cNvSpPr/>
          <p:nvPr/>
        </p:nvSpPr>
        <p:spPr>
          <a:xfrm>
            <a:off x="4862067" y="5381244"/>
            <a:ext cx="100584" cy="100584"/>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035803" y="5321808"/>
            <a:ext cx="206248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Very familiar (basesize = 54)</a:t>
            </a:r>
          </a:p>
        </p:txBody>
      </p:sp>
      <p:sp>
        <p:nvSpPr>
          <p:cNvPr id="43" name="Rounded Rectangle 42"/>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935467" y="2364051"/>
            <a:ext cx="1709927" cy="392537"/>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5" name="Picture 44" descr="C6.png"/>
          <p:cNvPicPr>
            <a:picLocks noChangeAspect="1"/>
          </p:cNvPicPr>
          <p:nvPr/>
        </p:nvPicPr>
        <p:blipFill>
          <a:blip r:embed="rId2"/>
          <a:stretch>
            <a:fillRect/>
          </a:stretch>
        </p:blipFill>
        <p:spPr>
          <a:xfrm>
            <a:off x="7949183" y="2377767"/>
            <a:ext cx="1682495" cy="365105"/>
          </a:xfrm>
          <a:prstGeom prst="rect">
            <a:avLst/>
          </a:prstGeom>
        </p:spPr>
      </p:pic>
      <p:sp>
        <p:nvSpPr>
          <p:cNvPr id="46" name="TextBox 45"/>
          <p:cNvSpPr txBox="1"/>
          <p:nvPr/>
        </p:nvSpPr>
        <p:spPr>
          <a:xfrm>
            <a:off x="7912607" y="2800412"/>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C06 Claim 33</a:t>
            </a:r>
          </a:p>
          <a:p>
            <a:pPr algn="ctr">
              <a:spcBef>
                <a:spcPts val="0"/>
              </a:spcBef>
              <a:spcAft>
                <a:spcPts val="0"/>
              </a:spcAft>
            </a:pPr>
            <a:r>
              <a:rPr sz="1200" b="0" i="0">
                <a:solidFill>
                  <a:srgbClr val="1E2D44"/>
                </a:solidFill>
                <a:latin typeface="Karla"/>
              </a:rPr>
              <a:t>Protein Only Mid…</a:t>
            </a:r>
          </a:p>
        </p:txBody>
      </p:sp>
      <p:sp>
        <p:nvSpPr>
          <p:cNvPr id="47" name="TextBox 46"/>
          <p:cNvSpPr txBox="1"/>
          <p:nvPr/>
        </p:nvSpPr>
        <p:spPr>
          <a:xfrm>
            <a:off x="7912607" y="3166172"/>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+14*</a:t>
            </a:r>
          </a:p>
        </p:txBody>
      </p:sp>
      <p:sp>
        <p:nvSpPr>
          <p:cNvPr id="48" name="Rectangle 47"/>
          <p:cNvSpPr/>
          <p:nvPr/>
        </p:nvSpPr>
        <p:spPr>
          <a:xfrm>
            <a:off x="9855707" y="2361375"/>
            <a:ext cx="1709927" cy="397889"/>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9" name="Picture 48" descr="C3.png"/>
          <p:cNvPicPr>
            <a:picLocks noChangeAspect="1"/>
          </p:cNvPicPr>
          <p:nvPr/>
        </p:nvPicPr>
        <p:blipFill>
          <a:blip r:embed="rId3"/>
          <a:stretch>
            <a:fillRect/>
          </a:stretch>
        </p:blipFill>
        <p:spPr>
          <a:xfrm>
            <a:off x="9869423" y="2375091"/>
            <a:ext cx="1682495" cy="370457"/>
          </a:xfrm>
          <a:prstGeom prst="rect">
            <a:avLst/>
          </a:prstGeom>
        </p:spPr>
      </p:pic>
      <p:sp>
        <p:nvSpPr>
          <p:cNvPr id="50" name="TextBox 49"/>
          <p:cNvSpPr txBox="1"/>
          <p:nvPr/>
        </p:nvSpPr>
        <p:spPr>
          <a:xfrm>
            <a:off x="9832847" y="2800412"/>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C03 Claim 33</a:t>
            </a:r>
          </a:p>
          <a:p>
            <a:pPr algn="ctr">
              <a:spcBef>
                <a:spcPts val="0"/>
              </a:spcBef>
              <a:spcAft>
                <a:spcPts val="0"/>
              </a:spcAft>
            </a:pPr>
            <a:r>
              <a:rPr sz="1200" b="0" i="0">
                <a:solidFill>
                  <a:srgbClr val="1E2D44"/>
                </a:solidFill>
                <a:latin typeface="Karla"/>
              </a:rPr>
              <a:t>Protein Only Bottom…</a:t>
            </a:r>
          </a:p>
        </p:txBody>
      </p:sp>
      <p:sp>
        <p:nvSpPr>
          <p:cNvPr id="51" name="TextBox 50"/>
          <p:cNvSpPr txBox="1"/>
          <p:nvPr/>
        </p:nvSpPr>
        <p:spPr>
          <a:xfrm>
            <a:off x="9832847" y="3166172"/>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+11*</a:t>
            </a:r>
          </a:p>
        </p:txBody>
      </p:sp>
      <p:sp>
        <p:nvSpPr>
          <p:cNvPr id="52" name="Rounded Rectangle 51"/>
          <p:cNvSpPr/>
          <p:nvPr/>
        </p:nvSpPr>
        <p:spPr>
          <a:xfrm>
            <a:off x="502920" y="5632704"/>
            <a:ext cx="11268455" cy="676656"/>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200" b="0">
                <a:solidFill>
                  <a:srgbClr val="1E2D44"/>
                </a:solidFill>
                <a:latin typeface="Karla"/>
              </a:rPr>
              <a:t>Heard of it, but know little about it favors C01 Claim Full Block Fibrecollagen 33 Protein 20gno Sugar Bottom Centre D2D3; Not familiar at all favors C04 Claim Full Block Fibrecollagen 33 Protein 20gno Sugar Mid Left D1; Somewhat familiar favors C04 Claim Full Block Fibrecollagen 33 Protein 20gno Sugar Mid Left D1; Very familiar favors C04 Claim Full Block Fibrecollagen 33 Protein 20gno Sugar Mid Left D1. The widest segment gap is C03 Claim 33 Protein Only Bottom Centre D2D3: +13 heard of it, but know little about it / +1 not familiar at all / +12 somewhat familiar / +17 very familiar.</a:t>
            </a:r>
          </a:p>
        </p:txBody>
      </p:sp>
      <p:sp>
        <p:nvSpPr>
          <p:cNvPr id="53" name="Rectangle 52"/>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Top-2 scores rounded to whole points. *Average of the groups in the legend.</a:t>
            </a:r>
          </a:p>
        </p:txBody>
      </p:sp>
      <p:sp>
        <p:nvSpPr>
          <p:cNvPr id="55" name="TextBox 54"/>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37744"/>
            <a:ext cx="7043927" cy="182880"/>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KEY FINDINGS: C_CLAIM  ·  How often do you purchase Fitspo products?   ·   1 of 2</a:t>
            </a:r>
          </a:p>
        </p:txBody>
      </p:sp>
      <p:sp>
        <p:nvSpPr>
          <p:cNvPr id="3" name="TextBox 2"/>
          <p:cNvSpPr txBox="1"/>
          <p:nvPr/>
        </p:nvSpPr>
        <p:spPr>
          <a:xfrm>
            <a:off x="502920" y="438912"/>
            <a:ext cx="7043927" cy="365760"/>
          </a:xfrm>
          <a:prstGeom prst="rect">
            <a:avLst/>
          </a:prstGeom>
          <a:noFill/>
        </p:spPr>
        <p:txBody>
          <a:bodyPr wrap="square" anchor="t" lIns="0" rIns="0" tIns="0" bIns="0"/>
          <a:lstStyle/>
          <a:p>
            <a:pPr algn="l">
              <a:spcBef>
                <a:spcPts val="0"/>
              </a:spcBef>
              <a:spcAft>
                <a:spcPts val="0"/>
              </a:spcAft>
            </a:pPr>
            <a:r>
              <a:rPr sz="2600" b="1" i="0">
                <a:solidFill>
                  <a:srgbClr val="1E2D44"/>
                </a:solidFill>
                <a:latin typeface="Karla"/>
              </a:rPr>
              <a:t>C04 Claim Full Block Fibrecollagen 33 Protein 20gno Sugar Mid Left D1 leads in every group</a:t>
            </a:r>
          </a:p>
        </p:txBody>
      </p:sp>
      <p:sp>
        <p:nvSpPr>
          <p:cNvPr id="4" name="TextBox 3"/>
          <p:cNvSpPr txBox="1"/>
          <p:nvPr/>
        </p:nvSpPr>
        <p:spPr>
          <a:xfrm>
            <a:off x="502920" y="822960"/>
            <a:ext cx="7043927" cy="475488"/>
          </a:xfrm>
          <a:prstGeom prst="rect">
            <a:avLst/>
          </a:prstGeom>
          <a:noFill/>
        </p:spPr>
        <p:txBody>
          <a:bodyPr wrap="square" anchor="t" lIns="0" rIns="0" tIns="0" bIns="0"/>
          <a:lstStyle/>
          <a:p>
            <a:pPr algn="l">
              <a:spcBef>
                <a:spcPts val="0"/>
              </a:spcBef>
              <a:spcAft>
                <a:spcPts val="0"/>
              </a:spcAft>
            </a:pPr>
            <a:r>
              <a:rPr sz="1200" b="0" i="0">
                <a:solidFill>
                  <a:srgbClr val="617086"/>
                </a:solidFill>
                <a:latin typeface="Karla"/>
              </a:rPr>
              <a:t>C04 Claim Full Block Fibrecollagen 33 Protein 20gno Sugar Mid Left D1 leads every group; C06 Claim 33 Protein Only Mid Left D1 ranks last.</a:t>
            </a:r>
          </a:p>
        </p:txBody>
      </p:sp>
      <p:sp>
        <p:nvSpPr>
          <p:cNvPr id="5" name="Rectangle 4"/>
          <p:cNvSpPr/>
          <p:nvPr/>
        </p:nvSpPr>
        <p:spPr>
          <a:xfrm>
            <a:off x="502920" y="1335024"/>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C_CLAIM</a:t>
            </a:r>
          </a:p>
        </p:txBody>
      </p:sp>
      <p:sp>
        <p:nvSpPr>
          <p:cNvPr id="6" name="TextBox 5"/>
          <p:cNvSpPr txBox="1"/>
          <p:nvPr/>
        </p:nvSpPr>
        <p:spPr>
          <a:xfrm>
            <a:off x="1874520"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7" name="Rectangle 6"/>
          <p:cNvSpPr/>
          <p:nvPr/>
        </p:nvSpPr>
        <p:spPr>
          <a:xfrm>
            <a:off x="3379469"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86861"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9" name="Rectangle 8"/>
          <p:cNvSpPr/>
          <p:nvPr/>
        </p:nvSpPr>
        <p:spPr>
          <a:xfrm>
            <a:off x="4591811"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9203"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1" name="Rectangle 10"/>
          <p:cNvSpPr/>
          <p:nvPr/>
        </p:nvSpPr>
        <p:spPr>
          <a:xfrm>
            <a:off x="5804153"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11545"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30</a:t>
            </a:r>
          </a:p>
        </p:txBody>
      </p:sp>
      <p:sp>
        <p:nvSpPr>
          <p:cNvPr id="13" name="Rectangle 12"/>
          <p:cNvSpPr/>
          <p:nvPr/>
        </p:nvSpPr>
        <p:spPr>
          <a:xfrm>
            <a:off x="7016495"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23887"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40</a:t>
            </a:r>
          </a:p>
        </p:txBody>
      </p:sp>
      <p:sp>
        <p:nvSpPr>
          <p:cNvPr id="15" name="Rectangle 14"/>
          <p:cNvSpPr/>
          <p:nvPr/>
        </p:nvSpPr>
        <p:spPr>
          <a:xfrm>
            <a:off x="2167128" y="1645920"/>
            <a:ext cx="10972" cy="2871215"/>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167128" y="4517136"/>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1778508"/>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C04 Claim Full Block</a:t>
            </a:r>
          </a:p>
          <a:p>
            <a:pPr algn="r">
              <a:spcBef>
                <a:spcPts val="0"/>
              </a:spcBef>
              <a:spcAft>
                <a:spcPts val="0"/>
              </a:spcAft>
            </a:pPr>
            <a:r>
              <a:rPr sz="1000" b="0" i="0">
                <a:solidFill>
                  <a:srgbClr val="1E2D44"/>
                </a:solidFill>
                <a:latin typeface="Karla"/>
              </a:rPr>
              <a:t>Fibrecollagen 33…</a:t>
            </a:r>
          </a:p>
        </p:txBody>
      </p:sp>
      <p:sp>
        <p:nvSpPr>
          <p:cNvPr id="18" name="Rectangle 17"/>
          <p:cNvSpPr/>
          <p:nvPr/>
        </p:nvSpPr>
        <p:spPr>
          <a:xfrm>
            <a:off x="2167128" y="1778508"/>
            <a:ext cx="2788386"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10378" y="1778508"/>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+23</a:t>
            </a:r>
          </a:p>
        </p:txBody>
      </p:sp>
      <p:sp>
        <p:nvSpPr>
          <p:cNvPr id="20" name="Rectangle 19"/>
          <p:cNvSpPr/>
          <p:nvPr/>
        </p:nvSpPr>
        <p:spPr>
          <a:xfrm>
            <a:off x="2167128" y="1901952"/>
            <a:ext cx="3515791"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37783" y="1901952"/>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+29</a:t>
            </a:r>
          </a:p>
        </p:txBody>
      </p:sp>
      <p:sp>
        <p:nvSpPr>
          <p:cNvPr id="22" name="Rectangle 21"/>
          <p:cNvSpPr/>
          <p:nvPr/>
        </p:nvSpPr>
        <p:spPr>
          <a:xfrm>
            <a:off x="2167128" y="2025395"/>
            <a:ext cx="2667152"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89144" y="2025395"/>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+22</a:t>
            </a:r>
          </a:p>
        </p:txBody>
      </p:sp>
      <p:sp>
        <p:nvSpPr>
          <p:cNvPr id="24" name="Rectangle 23"/>
          <p:cNvSpPr/>
          <p:nvPr/>
        </p:nvSpPr>
        <p:spPr>
          <a:xfrm>
            <a:off x="2167128" y="2148840"/>
            <a:ext cx="2909620"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131612" y="2148840"/>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+24</a:t>
            </a:r>
          </a:p>
        </p:txBody>
      </p:sp>
      <p:sp>
        <p:nvSpPr>
          <p:cNvPr id="26" name="TextBox 25"/>
          <p:cNvSpPr txBox="1"/>
          <p:nvPr/>
        </p:nvSpPr>
        <p:spPr>
          <a:xfrm>
            <a:off x="502920" y="2496312"/>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C01 Claim Full Block</a:t>
            </a:r>
          </a:p>
          <a:p>
            <a:pPr algn="r">
              <a:spcBef>
                <a:spcPts val="0"/>
              </a:spcBef>
              <a:spcAft>
                <a:spcPts val="0"/>
              </a:spcAft>
            </a:pPr>
            <a:r>
              <a:rPr sz="1000" b="0" i="0">
                <a:solidFill>
                  <a:srgbClr val="1E2D44"/>
                </a:solidFill>
                <a:latin typeface="Karla"/>
              </a:rPr>
              <a:t>Fibrecollagen 33…</a:t>
            </a:r>
          </a:p>
        </p:txBody>
      </p:sp>
      <p:sp>
        <p:nvSpPr>
          <p:cNvPr id="27" name="Rectangle 26"/>
          <p:cNvSpPr/>
          <p:nvPr/>
        </p:nvSpPr>
        <p:spPr>
          <a:xfrm>
            <a:off x="2167128" y="2496312"/>
            <a:ext cx="1697278"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919270" y="2496312"/>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+14</a:t>
            </a:r>
          </a:p>
        </p:txBody>
      </p:sp>
      <p:sp>
        <p:nvSpPr>
          <p:cNvPr id="29" name="Rectangle 28"/>
          <p:cNvSpPr/>
          <p:nvPr/>
        </p:nvSpPr>
        <p:spPr>
          <a:xfrm>
            <a:off x="2167128" y="2619756"/>
            <a:ext cx="3030854"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252846" y="2619756"/>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+25</a:t>
            </a:r>
          </a:p>
        </p:txBody>
      </p:sp>
      <p:sp>
        <p:nvSpPr>
          <p:cNvPr id="31" name="Rectangle 30"/>
          <p:cNvSpPr/>
          <p:nvPr/>
        </p:nvSpPr>
        <p:spPr>
          <a:xfrm>
            <a:off x="2167128" y="2743200"/>
            <a:ext cx="1939747"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61739" y="2743200"/>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+16</a:t>
            </a:r>
          </a:p>
        </p:txBody>
      </p:sp>
      <p:sp>
        <p:nvSpPr>
          <p:cNvPr id="33" name="Rectangle 32"/>
          <p:cNvSpPr/>
          <p:nvPr/>
        </p:nvSpPr>
        <p:spPr>
          <a:xfrm>
            <a:off x="2167128" y="2866644"/>
            <a:ext cx="2060981"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282973" y="2866644"/>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+17</a:t>
            </a:r>
          </a:p>
        </p:txBody>
      </p:sp>
      <p:sp>
        <p:nvSpPr>
          <p:cNvPr id="35" name="TextBox 34"/>
          <p:cNvSpPr txBox="1"/>
          <p:nvPr/>
        </p:nvSpPr>
        <p:spPr>
          <a:xfrm>
            <a:off x="502920" y="3214116"/>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C02 Claim 33 Protein</a:t>
            </a:r>
          </a:p>
          <a:p>
            <a:pPr algn="r">
              <a:spcBef>
                <a:spcPts val="0"/>
              </a:spcBef>
              <a:spcAft>
                <a:spcPts val="0"/>
              </a:spcAft>
            </a:pPr>
            <a:r>
              <a:rPr sz="1000" b="0" i="0">
                <a:solidFill>
                  <a:srgbClr val="1E2D44"/>
                </a:solidFill>
                <a:latin typeface="Karla"/>
              </a:rPr>
              <a:t>20g High Protein No…</a:t>
            </a:r>
          </a:p>
        </p:txBody>
      </p:sp>
      <p:sp>
        <p:nvSpPr>
          <p:cNvPr id="36" name="Rectangle 35"/>
          <p:cNvSpPr/>
          <p:nvPr/>
        </p:nvSpPr>
        <p:spPr>
          <a:xfrm>
            <a:off x="2167128" y="3214116"/>
            <a:ext cx="1091107"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313099" y="3214116"/>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+9</a:t>
            </a:r>
          </a:p>
        </p:txBody>
      </p:sp>
      <p:sp>
        <p:nvSpPr>
          <p:cNvPr id="38" name="Rectangle 37"/>
          <p:cNvSpPr/>
          <p:nvPr/>
        </p:nvSpPr>
        <p:spPr>
          <a:xfrm>
            <a:off x="2167128" y="3337560"/>
            <a:ext cx="2303449"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25441" y="3337560"/>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+19</a:t>
            </a:r>
          </a:p>
        </p:txBody>
      </p:sp>
      <p:sp>
        <p:nvSpPr>
          <p:cNvPr id="40" name="Rectangle 39"/>
          <p:cNvSpPr/>
          <p:nvPr/>
        </p:nvSpPr>
        <p:spPr>
          <a:xfrm>
            <a:off x="2167128" y="3461004"/>
            <a:ext cx="1576044"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798036" y="3461004"/>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+13</a:t>
            </a:r>
          </a:p>
        </p:txBody>
      </p:sp>
      <p:sp>
        <p:nvSpPr>
          <p:cNvPr id="42" name="Rectangle 41"/>
          <p:cNvSpPr/>
          <p:nvPr/>
        </p:nvSpPr>
        <p:spPr>
          <a:xfrm>
            <a:off x="2167128" y="3584448"/>
            <a:ext cx="2788386"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010378" y="3584448"/>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+23</a:t>
            </a:r>
          </a:p>
        </p:txBody>
      </p:sp>
      <p:sp>
        <p:nvSpPr>
          <p:cNvPr id="44" name="TextBox 43"/>
          <p:cNvSpPr txBox="1"/>
          <p:nvPr/>
        </p:nvSpPr>
        <p:spPr>
          <a:xfrm>
            <a:off x="502920" y="3931919"/>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C05 Claim 33 Protein</a:t>
            </a:r>
          </a:p>
          <a:p>
            <a:pPr algn="r">
              <a:spcBef>
                <a:spcPts val="0"/>
              </a:spcBef>
              <a:spcAft>
                <a:spcPts val="0"/>
              </a:spcAft>
            </a:pPr>
            <a:r>
              <a:rPr sz="1000" b="0" i="0">
                <a:solidFill>
                  <a:srgbClr val="1E2D44"/>
                </a:solidFill>
                <a:latin typeface="Karla"/>
              </a:rPr>
              <a:t>20g High Protein No…</a:t>
            </a:r>
          </a:p>
        </p:txBody>
      </p:sp>
      <p:sp>
        <p:nvSpPr>
          <p:cNvPr id="45" name="Rectangle 44"/>
          <p:cNvSpPr/>
          <p:nvPr/>
        </p:nvSpPr>
        <p:spPr>
          <a:xfrm>
            <a:off x="2167128" y="3931919"/>
            <a:ext cx="2303449"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525441" y="3931919"/>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+19</a:t>
            </a:r>
          </a:p>
        </p:txBody>
      </p:sp>
      <p:sp>
        <p:nvSpPr>
          <p:cNvPr id="47" name="Rectangle 46"/>
          <p:cNvSpPr/>
          <p:nvPr/>
        </p:nvSpPr>
        <p:spPr>
          <a:xfrm>
            <a:off x="2167128" y="4055363"/>
            <a:ext cx="2788386"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010378" y="4055363"/>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+23</a:t>
            </a:r>
          </a:p>
        </p:txBody>
      </p:sp>
      <p:sp>
        <p:nvSpPr>
          <p:cNvPr id="49" name="Rectangle 48"/>
          <p:cNvSpPr/>
          <p:nvPr/>
        </p:nvSpPr>
        <p:spPr>
          <a:xfrm>
            <a:off x="2167128" y="4178807"/>
            <a:ext cx="2545918"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767910" y="4178807"/>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+21</a:t>
            </a:r>
          </a:p>
        </p:txBody>
      </p:sp>
      <p:sp>
        <p:nvSpPr>
          <p:cNvPr id="51" name="Rectangle 50"/>
          <p:cNvSpPr/>
          <p:nvPr/>
        </p:nvSpPr>
        <p:spPr>
          <a:xfrm>
            <a:off x="2167128" y="4302251"/>
            <a:ext cx="2545918"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767910" y="4302251"/>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+21</a:t>
            </a:r>
          </a:p>
        </p:txBody>
      </p:sp>
      <p:sp>
        <p:nvSpPr>
          <p:cNvPr id="53" name="Rectangle 52"/>
          <p:cNvSpPr/>
          <p:nvPr/>
        </p:nvSpPr>
        <p:spPr>
          <a:xfrm>
            <a:off x="2655823" y="4942332"/>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2829559" y="4882896"/>
            <a:ext cx="369824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Have never purchased Fitspo products (basesize = 37)</a:t>
            </a:r>
          </a:p>
        </p:txBody>
      </p:sp>
      <p:sp>
        <p:nvSpPr>
          <p:cNvPr id="55" name="Rectangle 54"/>
          <p:cNvSpPr/>
          <p:nvPr/>
        </p:nvSpPr>
        <p:spPr>
          <a:xfrm>
            <a:off x="613663" y="5161788"/>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87399" y="5102352"/>
            <a:ext cx="433832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Have purchased in the past, but not currently (basesize = 12)</a:t>
            </a:r>
          </a:p>
        </p:txBody>
      </p:sp>
      <p:sp>
        <p:nvSpPr>
          <p:cNvPr id="57" name="Rectangle 56"/>
          <p:cNvSpPr/>
          <p:nvPr/>
        </p:nvSpPr>
        <p:spPr>
          <a:xfrm>
            <a:off x="5381751" y="5161788"/>
            <a:ext cx="100584" cy="10058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555487" y="5102352"/>
            <a:ext cx="199136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Occasionally (basesize = 56)</a:t>
            </a:r>
          </a:p>
        </p:txBody>
      </p:sp>
      <p:sp>
        <p:nvSpPr>
          <p:cNvPr id="59" name="Rectangle 58"/>
          <p:cNvSpPr/>
          <p:nvPr/>
        </p:nvSpPr>
        <p:spPr>
          <a:xfrm>
            <a:off x="3615943" y="5381244"/>
            <a:ext cx="100584" cy="100584"/>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789679" y="5321808"/>
            <a:ext cx="177800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Regularly (basesize = 45)</a:t>
            </a:r>
          </a:p>
        </p:txBody>
      </p:sp>
      <p:sp>
        <p:nvSpPr>
          <p:cNvPr id="61" name="Rounded Rectangle 60"/>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7935467" y="734834"/>
            <a:ext cx="1709927" cy="1090650"/>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3" name="Picture 62" descr="C4.png"/>
          <p:cNvPicPr>
            <a:picLocks noChangeAspect="1"/>
          </p:cNvPicPr>
          <p:nvPr/>
        </p:nvPicPr>
        <p:blipFill>
          <a:blip r:embed="rId2"/>
          <a:stretch>
            <a:fillRect/>
          </a:stretch>
        </p:blipFill>
        <p:spPr>
          <a:xfrm>
            <a:off x="7949183" y="748550"/>
            <a:ext cx="1682495" cy="1063218"/>
          </a:xfrm>
          <a:prstGeom prst="rect">
            <a:avLst/>
          </a:prstGeom>
        </p:spPr>
      </p:pic>
      <p:sp>
        <p:nvSpPr>
          <p:cNvPr id="64" name="TextBox 63"/>
          <p:cNvSpPr txBox="1"/>
          <p:nvPr/>
        </p:nvSpPr>
        <p:spPr>
          <a:xfrm>
            <a:off x="7912607" y="1866633"/>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C04 Claim Full</a:t>
            </a:r>
          </a:p>
          <a:p>
            <a:pPr algn="ctr">
              <a:spcBef>
                <a:spcPts val="0"/>
              </a:spcBef>
              <a:spcAft>
                <a:spcPts val="0"/>
              </a:spcAft>
            </a:pPr>
            <a:r>
              <a:rPr sz="1200" b="0" i="0">
                <a:solidFill>
                  <a:srgbClr val="1E2D44"/>
                </a:solidFill>
                <a:latin typeface="Karla"/>
              </a:rPr>
              <a:t>Block Fibrecollagen…</a:t>
            </a:r>
          </a:p>
        </p:txBody>
      </p:sp>
      <p:sp>
        <p:nvSpPr>
          <p:cNvPr id="65" name="TextBox 64"/>
          <p:cNvSpPr txBox="1"/>
          <p:nvPr/>
        </p:nvSpPr>
        <p:spPr>
          <a:xfrm>
            <a:off x="7912607" y="2232393"/>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+24*</a:t>
            </a:r>
          </a:p>
        </p:txBody>
      </p:sp>
      <p:sp>
        <p:nvSpPr>
          <p:cNvPr id="66" name="Rectangle 65"/>
          <p:cNvSpPr/>
          <p:nvPr/>
        </p:nvSpPr>
        <p:spPr>
          <a:xfrm>
            <a:off x="9855707" y="899138"/>
            <a:ext cx="1709927" cy="762042"/>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7" name="Picture 66" descr="C1.png"/>
          <p:cNvPicPr>
            <a:picLocks noChangeAspect="1"/>
          </p:cNvPicPr>
          <p:nvPr/>
        </p:nvPicPr>
        <p:blipFill>
          <a:blip r:embed="rId3"/>
          <a:stretch>
            <a:fillRect/>
          </a:stretch>
        </p:blipFill>
        <p:spPr>
          <a:xfrm>
            <a:off x="9869423" y="912854"/>
            <a:ext cx="1682495" cy="734610"/>
          </a:xfrm>
          <a:prstGeom prst="rect">
            <a:avLst/>
          </a:prstGeom>
        </p:spPr>
      </p:pic>
      <p:sp>
        <p:nvSpPr>
          <p:cNvPr id="68" name="TextBox 67"/>
          <p:cNvSpPr txBox="1"/>
          <p:nvPr/>
        </p:nvSpPr>
        <p:spPr>
          <a:xfrm>
            <a:off x="9832847" y="1866633"/>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C01 Claim Full</a:t>
            </a:r>
          </a:p>
          <a:p>
            <a:pPr algn="ctr">
              <a:spcBef>
                <a:spcPts val="0"/>
              </a:spcBef>
              <a:spcAft>
                <a:spcPts val="0"/>
              </a:spcAft>
            </a:pPr>
            <a:r>
              <a:rPr sz="1200" b="0" i="0">
                <a:solidFill>
                  <a:srgbClr val="1E2D44"/>
                </a:solidFill>
                <a:latin typeface="Karla"/>
              </a:rPr>
              <a:t>Block Fibrecollagen…</a:t>
            </a:r>
          </a:p>
        </p:txBody>
      </p:sp>
      <p:sp>
        <p:nvSpPr>
          <p:cNvPr id="69" name="TextBox 68"/>
          <p:cNvSpPr txBox="1"/>
          <p:nvPr/>
        </p:nvSpPr>
        <p:spPr>
          <a:xfrm>
            <a:off x="9832847" y="2232393"/>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+18*</a:t>
            </a:r>
          </a:p>
        </p:txBody>
      </p:sp>
      <p:sp>
        <p:nvSpPr>
          <p:cNvPr id="70" name="Rectangle 69"/>
          <p:cNvSpPr/>
          <p:nvPr/>
        </p:nvSpPr>
        <p:spPr>
          <a:xfrm>
            <a:off x="7935467" y="3532030"/>
            <a:ext cx="1709927" cy="616898"/>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1" name="Picture 70" descr="C2.png"/>
          <p:cNvPicPr>
            <a:picLocks noChangeAspect="1"/>
          </p:cNvPicPr>
          <p:nvPr/>
        </p:nvPicPr>
        <p:blipFill>
          <a:blip r:embed="rId4"/>
          <a:stretch>
            <a:fillRect/>
          </a:stretch>
        </p:blipFill>
        <p:spPr>
          <a:xfrm>
            <a:off x="7949183" y="3545746"/>
            <a:ext cx="1682495" cy="589466"/>
          </a:xfrm>
          <a:prstGeom prst="rect">
            <a:avLst/>
          </a:prstGeom>
        </p:spPr>
      </p:pic>
      <p:sp>
        <p:nvSpPr>
          <p:cNvPr id="72" name="TextBox 71"/>
          <p:cNvSpPr txBox="1"/>
          <p:nvPr/>
        </p:nvSpPr>
        <p:spPr>
          <a:xfrm>
            <a:off x="7912607" y="4426953"/>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C02 Claim 33</a:t>
            </a:r>
          </a:p>
          <a:p>
            <a:pPr algn="ctr">
              <a:spcBef>
                <a:spcPts val="0"/>
              </a:spcBef>
              <a:spcAft>
                <a:spcPts val="0"/>
              </a:spcAft>
            </a:pPr>
            <a:r>
              <a:rPr sz="1200" b="0" i="0">
                <a:solidFill>
                  <a:srgbClr val="1E2D44"/>
                </a:solidFill>
                <a:latin typeface="Karla"/>
              </a:rPr>
              <a:t>Protein 20g High…</a:t>
            </a:r>
          </a:p>
        </p:txBody>
      </p:sp>
      <p:sp>
        <p:nvSpPr>
          <p:cNvPr id="73" name="TextBox 72"/>
          <p:cNvSpPr txBox="1"/>
          <p:nvPr/>
        </p:nvSpPr>
        <p:spPr>
          <a:xfrm>
            <a:off x="7912607" y="4792713"/>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+16*</a:t>
            </a:r>
          </a:p>
        </p:txBody>
      </p:sp>
      <p:sp>
        <p:nvSpPr>
          <p:cNvPr id="74" name="Rectangle 73"/>
          <p:cNvSpPr/>
          <p:nvPr/>
        </p:nvSpPr>
        <p:spPr>
          <a:xfrm>
            <a:off x="9855707" y="3436917"/>
            <a:ext cx="1709927" cy="80712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5" name="Picture 74" descr="C5.png"/>
          <p:cNvPicPr>
            <a:picLocks noChangeAspect="1"/>
          </p:cNvPicPr>
          <p:nvPr/>
        </p:nvPicPr>
        <p:blipFill>
          <a:blip r:embed="rId5"/>
          <a:stretch>
            <a:fillRect/>
          </a:stretch>
        </p:blipFill>
        <p:spPr>
          <a:xfrm>
            <a:off x="9869423" y="3450633"/>
            <a:ext cx="1682495" cy="779693"/>
          </a:xfrm>
          <a:prstGeom prst="rect">
            <a:avLst/>
          </a:prstGeom>
        </p:spPr>
      </p:pic>
      <p:sp>
        <p:nvSpPr>
          <p:cNvPr id="76" name="TextBox 75"/>
          <p:cNvSpPr txBox="1"/>
          <p:nvPr/>
        </p:nvSpPr>
        <p:spPr>
          <a:xfrm>
            <a:off x="9832847" y="4426953"/>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C05 Claim 33</a:t>
            </a:r>
          </a:p>
          <a:p>
            <a:pPr algn="ctr">
              <a:spcBef>
                <a:spcPts val="0"/>
              </a:spcBef>
              <a:spcAft>
                <a:spcPts val="0"/>
              </a:spcAft>
            </a:pPr>
            <a:r>
              <a:rPr sz="1200" b="0" i="0">
                <a:solidFill>
                  <a:srgbClr val="1E2D44"/>
                </a:solidFill>
                <a:latin typeface="Karla"/>
              </a:rPr>
              <a:t>Protein 20g High…</a:t>
            </a:r>
          </a:p>
        </p:txBody>
      </p:sp>
      <p:sp>
        <p:nvSpPr>
          <p:cNvPr id="77" name="TextBox 76"/>
          <p:cNvSpPr txBox="1"/>
          <p:nvPr/>
        </p:nvSpPr>
        <p:spPr>
          <a:xfrm>
            <a:off x="9832847" y="4792713"/>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+21*</a:t>
            </a:r>
          </a:p>
        </p:txBody>
      </p:sp>
      <p:sp>
        <p:nvSpPr>
          <p:cNvPr id="78" name="Rounded Rectangle 77"/>
          <p:cNvSpPr/>
          <p:nvPr/>
        </p:nvSpPr>
        <p:spPr>
          <a:xfrm>
            <a:off x="502920" y="5632704"/>
            <a:ext cx="11268455" cy="676656"/>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200" b="0">
                <a:solidFill>
                  <a:srgbClr val="1E2D44"/>
                </a:solidFill>
                <a:latin typeface="Karla"/>
              </a:rPr>
              <a:t>Every group ranks C04 Claim Full Block Fibrecollagen 33 Protein 20gno Sugar Mid Left D1 first. The widest segment gap is C02 Claim 33 Protein 20g High Protein No Sugar Added Bottom Centre D2D3: +9 have never purchased fitspo products / +19 have purchased in the past, but not currently / +13 occasionally / +23 regularly.</a:t>
            </a:r>
          </a:p>
        </p:txBody>
      </p:sp>
      <p:sp>
        <p:nvSpPr>
          <p:cNvPr id="79" name="Rectangle 78"/>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Top-2 scores rounded to whole points. *Average of the groups in the legend.</a:t>
            </a:r>
          </a:p>
        </p:txBody>
      </p:sp>
      <p:sp>
        <p:nvSpPr>
          <p:cNvPr id="81" name="TextBox 80"/>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37744"/>
            <a:ext cx="7043927" cy="182880"/>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KEY FINDINGS: C_CLAIM  ·  How often do you purchase Fitspo products?   ·   2 of 2</a:t>
            </a:r>
          </a:p>
        </p:txBody>
      </p:sp>
      <p:sp>
        <p:nvSpPr>
          <p:cNvPr id="3" name="TextBox 2"/>
          <p:cNvSpPr txBox="1"/>
          <p:nvPr/>
        </p:nvSpPr>
        <p:spPr>
          <a:xfrm>
            <a:off x="502920" y="438912"/>
            <a:ext cx="7043927" cy="365760"/>
          </a:xfrm>
          <a:prstGeom prst="rect">
            <a:avLst/>
          </a:prstGeom>
          <a:noFill/>
        </p:spPr>
        <p:txBody>
          <a:bodyPr wrap="square" anchor="t" lIns="0" rIns="0" tIns="0" bIns="0"/>
          <a:lstStyle/>
          <a:p>
            <a:pPr algn="l">
              <a:spcBef>
                <a:spcPts val="0"/>
              </a:spcBef>
              <a:spcAft>
                <a:spcPts val="0"/>
              </a:spcAft>
            </a:pPr>
            <a:r>
              <a:rPr sz="2600" b="1" i="0">
                <a:solidFill>
                  <a:srgbClr val="1E2D44"/>
                </a:solidFill>
                <a:latin typeface="Karla"/>
              </a:rPr>
              <a:t>C04 Claim Full Block Fibrecollagen 33 Protein 20gno Sugar Mid Left D1 leads in every group</a:t>
            </a:r>
          </a:p>
        </p:txBody>
      </p:sp>
      <p:sp>
        <p:nvSpPr>
          <p:cNvPr id="4" name="TextBox 3"/>
          <p:cNvSpPr txBox="1"/>
          <p:nvPr/>
        </p:nvSpPr>
        <p:spPr>
          <a:xfrm>
            <a:off x="502920" y="822960"/>
            <a:ext cx="7043927" cy="475488"/>
          </a:xfrm>
          <a:prstGeom prst="rect">
            <a:avLst/>
          </a:prstGeom>
          <a:noFill/>
        </p:spPr>
        <p:txBody>
          <a:bodyPr wrap="square" anchor="t" lIns="0" rIns="0" tIns="0" bIns="0"/>
          <a:lstStyle/>
          <a:p>
            <a:pPr algn="l">
              <a:spcBef>
                <a:spcPts val="0"/>
              </a:spcBef>
              <a:spcAft>
                <a:spcPts val="0"/>
              </a:spcAft>
            </a:pPr>
            <a:r>
              <a:rPr sz="1200" b="0" i="0">
                <a:solidFill>
                  <a:srgbClr val="617086"/>
                </a:solidFill>
                <a:latin typeface="Karla"/>
              </a:rPr>
              <a:t>C04 Claim Full Block Fibrecollagen 33 Protein 20gno Sugar Mid Left D1 leads every group; C06 Claim 33 Protein Only Mid Left D1 ranks last.</a:t>
            </a:r>
          </a:p>
        </p:txBody>
      </p:sp>
      <p:sp>
        <p:nvSpPr>
          <p:cNvPr id="5" name="Rectangle 4"/>
          <p:cNvSpPr/>
          <p:nvPr/>
        </p:nvSpPr>
        <p:spPr>
          <a:xfrm>
            <a:off x="502920" y="1335024"/>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C_CLAIM</a:t>
            </a:r>
          </a:p>
        </p:txBody>
      </p:sp>
      <p:sp>
        <p:nvSpPr>
          <p:cNvPr id="6" name="TextBox 5"/>
          <p:cNvSpPr txBox="1"/>
          <p:nvPr/>
        </p:nvSpPr>
        <p:spPr>
          <a:xfrm>
            <a:off x="1874520"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7" name="Rectangle 6"/>
          <p:cNvSpPr/>
          <p:nvPr/>
        </p:nvSpPr>
        <p:spPr>
          <a:xfrm>
            <a:off x="3379469"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86861"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5</a:t>
            </a:r>
          </a:p>
        </p:txBody>
      </p:sp>
      <p:sp>
        <p:nvSpPr>
          <p:cNvPr id="9" name="Rectangle 8"/>
          <p:cNvSpPr/>
          <p:nvPr/>
        </p:nvSpPr>
        <p:spPr>
          <a:xfrm>
            <a:off x="4591811"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9203"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11" name="Rectangle 10"/>
          <p:cNvSpPr/>
          <p:nvPr/>
        </p:nvSpPr>
        <p:spPr>
          <a:xfrm>
            <a:off x="5804153"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11545"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15</a:t>
            </a:r>
          </a:p>
        </p:txBody>
      </p:sp>
      <p:sp>
        <p:nvSpPr>
          <p:cNvPr id="13" name="Rectangle 12"/>
          <p:cNvSpPr/>
          <p:nvPr/>
        </p:nvSpPr>
        <p:spPr>
          <a:xfrm>
            <a:off x="7016495"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23887"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5" name="Rectangle 14"/>
          <p:cNvSpPr/>
          <p:nvPr/>
        </p:nvSpPr>
        <p:spPr>
          <a:xfrm>
            <a:off x="2167128" y="1645920"/>
            <a:ext cx="10972" cy="2871215"/>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167128" y="4517136"/>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1991105"/>
            <a:ext cx="1554480" cy="745236"/>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C03 Claim 33 Protein</a:t>
            </a:r>
          </a:p>
          <a:p>
            <a:pPr algn="r">
              <a:spcBef>
                <a:spcPts val="0"/>
              </a:spcBef>
              <a:spcAft>
                <a:spcPts val="0"/>
              </a:spcAft>
            </a:pPr>
            <a:r>
              <a:rPr sz="1000" b="0" i="0">
                <a:solidFill>
                  <a:srgbClr val="1E2D44"/>
                </a:solidFill>
                <a:latin typeface="Karla"/>
              </a:rPr>
              <a:t>Only Bottom Centre…</a:t>
            </a:r>
          </a:p>
        </p:txBody>
      </p:sp>
      <p:sp>
        <p:nvSpPr>
          <p:cNvPr id="18" name="Rectangle 17"/>
          <p:cNvSpPr/>
          <p:nvPr/>
        </p:nvSpPr>
        <p:spPr>
          <a:xfrm>
            <a:off x="2167128" y="1991105"/>
            <a:ext cx="1454810"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76802" y="1991105"/>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+6</a:t>
            </a:r>
          </a:p>
        </p:txBody>
      </p:sp>
      <p:sp>
        <p:nvSpPr>
          <p:cNvPr id="20" name="Rectangle 19"/>
          <p:cNvSpPr/>
          <p:nvPr/>
        </p:nvSpPr>
        <p:spPr>
          <a:xfrm>
            <a:off x="2167128" y="2187701"/>
            <a:ext cx="3879494"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01486" y="2187701"/>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+16</a:t>
            </a:r>
          </a:p>
        </p:txBody>
      </p:sp>
      <p:sp>
        <p:nvSpPr>
          <p:cNvPr id="22" name="Rectangle 21"/>
          <p:cNvSpPr/>
          <p:nvPr/>
        </p:nvSpPr>
        <p:spPr>
          <a:xfrm>
            <a:off x="2167128" y="2384298"/>
            <a:ext cx="2909620" cy="155448"/>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31612" y="2384298"/>
            <a:ext cx="457200" cy="155448"/>
          </a:xfrm>
          <a:prstGeom prst="rect">
            <a:avLst/>
          </a:prstGeom>
          <a:noFill/>
        </p:spPr>
        <p:txBody>
          <a:bodyPr wrap="none" anchor="ctr" lIns="0" rIns="0" tIns="0" bIns="0"/>
          <a:lstStyle/>
          <a:p>
            <a:pPr algn="l">
              <a:spcBef>
                <a:spcPts val="0"/>
              </a:spcBef>
              <a:spcAft>
                <a:spcPts val="0"/>
              </a:spcAft>
            </a:pPr>
            <a:r>
              <a:rPr sz="1200" b="1" i="0">
                <a:solidFill>
                  <a:srgbClr val="C45C26"/>
                </a:solidFill>
                <a:latin typeface="Karla"/>
              </a:rPr>
              <a:t>+12</a:t>
            </a:r>
          </a:p>
        </p:txBody>
      </p:sp>
      <p:sp>
        <p:nvSpPr>
          <p:cNvPr id="24" name="Rectangle 23"/>
          <p:cNvSpPr/>
          <p:nvPr/>
        </p:nvSpPr>
        <p:spPr>
          <a:xfrm>
            <a:off x="2167128" y="2580894"/>
            <a:ext cx="3879494" cy="155448"/>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01486" y="2580894"/>
            <a:ext cx="457200" cy="155448"/>
          </a:xfrm>
          <a:prstGeom prst="rect">
            <a:avLst/>
          </a:prstGeom>
          <a:noFill/>
        </p:spPr>
        <p:txBody>
          <a:bodyPr wrap="none" anchor="ctr" lIns="0" rIns="0" tIns="0" bIns="0"/>
          <a:lstStyle/>
          <a:p>
            <a:pPr algn="l">
              <a:spcBef>
                <a:spcPts val="0"/>
              </a:spcBef>
              <a:spcAft>
                <a:spcPts val="0"/>
              </a:spcAft>
            </a:pPr>
            <a:r>
              <a:rPr sz="1200" b="1" i="0">
                <a:solidFill>
                  <a:srgbClr val="1D4E89"/>
                </a:solidFill>
                <a:latin typeface="Karla"/>
              </a:rPr>
              <a:t>+16</a:t>
            </a:r>
          </a:p>
        </p:txBody>
      </p:sp>
      <p:sp>
        <p:nvSpPr>
          <p:cNvPr id="26" name="TextBox 25"/>
          <p:cNvSpPr txBox="1"/>
          <p:nvPr/>
        </p:nvSpPr>
        <p:spPr>
          <a:xfrm>
            <a:off x="502920" y="3426714"/>
            <a:ext cx="1554480" cy="745236"/>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C06 Claim 33 Protein</a:t>
            </a:r>
          </a:p>
          <a:p>
            <a:pPr algn="r">
              <a:spcBef>
                <a:spcPts val="0"/>
              </a:spcBef>
              <a:spcAft>
                <a:spcPts val="0"/>
              </a:spcAft>
            </a:pPr>
            <a:r>
              <a:rPr sz="1000" b="0" i="0">
                <a:solidFill>
                  <a:srgbClr val="1E2D44"/>
                </a:solidFill>
                <a:latin typeface="Karla"/>
              </a:rPr>
              <a:t>Only Mid Left D1</a:t>
            </a:r>
          </a:p>
        </p:txBody>
      </p:sp>
      <p:sp>
        <p:nvSpPr>
          <p:cNvPr id="27" name="Rectangle 26"/>
          <p:cNvSpPr/>
          <p:nvPr/>
        </p:nvSpPr>
        <p:spPr>
          <a:xfrm>
            <a:off x="2167128" y="3426714"/>
            <a:ext cx="3394557"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16549" y="3426714"/>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+14</a:t>
            </a:r>
          </a:p>
        </p:txBody>
      </p:sp>
      <p:sp>
        <p:nvSpPr>
          <p:cNvPr id="29" name="Rectangle 28"/>
          <p:cNvSpPr/>
          <p:nvPr/>
        </p:nvSpPr>
        <p:spPr>
          <a:xfrm>
            <a:off x="2167128" y="3623310"/>
            <a:ext cx="3394557"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616549" y="3623310"/>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+14</a:t>
            </a:r>
          </a:p>
        </p:txBody>
      </p:sp>
      <p:sp>
        <p:nvSpPr>
          <p:cNvPr id="31" name="Rectangle 30"/>
          <p:cNvSpPr/>
          <p:nvPr/>
        </p:nvSpPr>
        <p:spPr>
          <a:xfrm>
            <a:off x="2167128" y="3819906"/>
            <a:ext cx="3637025" cy="155448"/>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859017" y="3819906"/>
            <a:ext cx="457200" cy="155448"/>
          </a:xfrm>
          <a:prstGeom prst="rect">
            <a:avLst/>
          </a:prstGeom>
          <a:noFill/>
        </p:spPr>
        <p:txBody>
          <a:bodyPr wrap="none" anchor="ctr" lIns="0" rIns="0" tIns="0" bIns="0"/>
          <a:lstStyle/>
          <a:p>
            <a:pPr algn="l">
              <a:spcBef>
                <a:spcPts val="0"/>
              </a:spcBef>
              <a:spcAft>
                <a:spcPts val="0"/>
              </a:spcAft>
            </a:pPr>
            <a:r>
              <a:rPr sz="1200" b="1" i="0">
                <a:solidFill>
                  <a:srgbClr val="C45C26"/>
                </a:solidFill>
                <a:latin typeface="Karla"/>
              </a:rPr>
              <a:t>+15</a:t>
            </a:r>
          </a:p>
        </p:txBody>
      </p:sp>
      <p:sp>
        <p:nvSpPr>
          <p:cNvPr id="33" name="Rectangle 32"/>
          <p:cNvSpPr/>
          <p:nvPr/>
        </p:nvSpPr>
        <p:spPr>
          <a:xfrm>
            <a:off x="2167128" y="4016502"/>
            <a:ext cx="3394557" cy="155448"/>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616549" y="4016502"/>
            <a:ext cx="457200" cy="155448"/>
          </a:xfrm>
          <a:prstGeom prst="rect">
            <a:avLst/>
          </a:prstGeom>
          <a:noFill/>
        </p:spPr>
        <p:txBody>
          <a:bodyPr wrap="none" anchor="ctr" lIns="0" rIns="0" tIns="0" bIns="0"/>
          <a:lstStyle/>
          <a:p>
            <a:pPr algn="l">
              <a:spcBef>
                <a:spcPts val="0"/>
              </a:spcBef>
              <a:spcAft>
                <a:spcPts val="0"/>
              </a:spcAft>
            </a:pPr>
            <a:r>
              <a:rPr sz="1200" b="1" i="0">
                <a:solidFill>
                  <a:srgbClr val="1D4E89"/>
                </a:solidFill>
                <a:latin typeface="Karla"/>
              </a:rPr>
              <a:t>+14</a:t>
            </a:r>
          </a:p>
        </p:txBody>
      </p:sp>
      <p:sp>
        <p:nvSpPr>
          <p:cNvPr id="35" name="Rectangle 34"/>
          <p:cNvSpPr/>
          <p:nvPr/>
        </p:nvSpPr>
        <p:spPr>
          <a:xfrm>
            <a:off x="2655823" y="4942332"/>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829559" y="4882896"/>
            <a:ext cx="369824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Have never purchased Fitspo products (basesize = 37)</a:t>
            </a:r>
          </a:p>
        </p:txBody>
      </p:sp>
      <p:sp>
        <p:nvSpPr>
          <p:cNvPr id="37" name="Rectangle 36"/>
          <p:cNvSpPr/>
          <p:nvPr/>
        </p:nvSpPr>
        <p:spPr>
          <a:xfrm>
            <a:off x="613663" y="5161788"/>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87399" y="5102352"/>
            <a:ext cx="433832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Have purchased in the past, but not currently (basesize = 12)</a:t>
            </a:r>
          </a:p>
        </p:txBody>
      </p:sp>
      <p:sp>
        <p:nvSpPr>
          <p:cNvPr id="39" name="Rectangle 38"/>
          <p:cNvSpPr/>
          <p:nvPr/>
        </p:nvSpPr>
        <p:spPr>
          <a:xfrm>
            <a:off x="5381751" y="5161788"/>
            <a:ext cx="100584" cy="10058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555487" y="5102352"/>
            <a:ext cx="199136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Occasionally (basesize = 56)</a:t>
            </a:r>
          </a:p>
        </p:txBody>
      </p:sp>
      <p:sp>
        <p:nvSpPr>
          <p:cNvPr id="41" name="Rectangle 40"/>
          <p:cNvSpPr/>
          <p:nvPr/>
        </p:nvSpPr>
        <p:spPr>
          <a:xfrm>
            <a:off x="3615943" y="5381244"/>
            <a:ext cx="100584" cy="100584"/>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789679" y="5321808"/>
            <a:ext cx="177800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Regularly (basesize = 45)</a:t>
            </a:r>
          </a:p>
        </p:txBody>
      </p:sp>
      <p:sp>
        <p:nvSpPr>
          <p:cNvPr id="43" name="Rounded Rectangle 42"/>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935467" y="2361375"/>
            <a:ext cx="1709927" cy="397889"/>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5" name="Picture 44" descr="C3.png"/>
          <p:cNvPicPr>
            <a:picLocks noChangeAspect="1"/>
          </p:cNvPicPr>
          <p:nvPr/>
        </p:nvPicPr>
        <p:blipFill>
          <a:blip r:embed="rId2"/>
          <a:stretch>
            <a:fillRect/>
          </a:stretch>
        </p:blipFill>
        <p:spPr>
          <a:xfrm>
            <a:off x="7949183" y="2375091"/>
            <a:ext cx="1682495" cy="370457"/>
          </a:xfrm>
          <a:prstGeom prst="rect">
            <a:avLst/>
          </a:prstGeom>
        </p:spPr>
      </p:pic>
      <p:sp>
        <p:nvSpPr>
          <p:cNvPr id="46" name="TextBox 45"/>
          <p:cNvSpPr txBox="1"/>
          <p:nvPr/>
        </p:nvSpPr>
        <p:spPr>
          <a:xfrm>
            <a:off x="7912607" y="2800412"/>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C03 Claim 33</a:t>
            </a:r>
          </a:p>
          <a:p>
            <a:pPr algn="ctr">
              <a:spcBef>
                <a:spcPts val="0"/>
              </a:spcBef>
              <a:spcAft>
                <a:spcPts val="0"/>
              </a:spcAft>
            </a:pPr>
            <a:r>
              <a:rPr sz="1200" b="0" i="0">
                <a:solidFill>
                  <a:srgbClr val="1E2D44"/>
                </a:solidFill>
                <a:latin typeface="Karla"/>
              </a:rPr>
              <a:t>Protein Only Bottom…</a:t>
            </a:r>
          </a:p>
        </p:txBody>
      </p:sp>
      <p:sp>
        <p:nvSpPr>
          <p:cNvPr id="47" name="TextBox 46"/>
          <p:cNvSpPr txBox="1"/>
          <p:nvPr/>
        </p:nvSpPr>
        <p:spPr>
          <a:xfrm>
            <a:off x="7912607" y="3166172"/>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+12*</a:t>
            </a:r>
          </a:p>
        </p:txBody>
      </p:sp>
      <p:sp>
        <p:nvSpPr>
          <p:cNvPr id="48" name="Rectangle 47"/>
          <p:cNvSpPr/>
          <p:nvPr/>
        </p:nvSpPr>
        <p:spPr>
          <a:xfrm>
            <a:off x="9855707" y="2364051"/>
            <a:ext cx="1709927" cy="392537"/>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9" name="Picture 48" descr="C6.png"/>
          <p:cNvPicPr>
            <a:picLocks noChangeAspect="1"/>
          </p:cNvPicPr>
          <p:nvPr/>
        </p:nvPicPr>
        <p:blipFill>
          <a:blip r:embed="rId3"/>
          <a:stretch>
            <a:fillRect/>
          </a:stretch>
        </p:blipFill>
        <p:spPr>
          <a:xfrm>
            <a:off x="9869423" y="2377767"/>
            <a:ext cx="1682495" cy="365105"/>
          </a:xfrm>
          <a:prstGeom prst="rect">
            <a:avLst/>
          </a:prstGeom>
        </p:spPr>
      </p:pic>
      <p:sp>
        <p:nvSpPr>
          <p:cNvPr id="50" name="TextBox 49"/>
          <p:cNvSpPr txBox="1"/>
          <p:nvPr/>
        </p:nvSpPr>
        <p:spPr>
          <a:xfrm>
            <a:off x="9832847" y="2800412"/>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C06 Claim 33</a:t>
            </a:r>
          </a:p>
          <a:p>
            <a:pPr algn="ctr">
              <a:spcBef>
                <a:spcPts val="0"/>
              </a:spcBef>
              <a:spcAft>
                <a:spcPts val="0"/>
              </a:spcAft>
            </a:pPr>
            <a:r>
              <a:rPr sz="1200" b="0" i="0">
                <a:solidFill>
                  <a:srgbClr val="1E2D44"/>
                </a:solidFill>
                <a:latin typeface="Karla"/>
              </a:rPr>
              <a:t>Protein Only Mid…</a:t>
            </a:r>
          </a:p>
        </p:txBody>
      </p:sp>
      <p:sp>
        <p:nvSpPr>
          <p:cNvPr id="51" name="TextBox 50"/>
          <p:cNvSpPr txBox="1"/>
          <p:nvPr/>
        </p:nvSpPr>
        <p:spPr>
          <a:xfrm>
            <a:off x="9832847" y="3166172"/>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+14*</a:t>
            </a:r>
          </a:p>
        </p:txBody>
      </p:sp>
      <p:sp>
        <p:nvSpPr>
          <p:cNvPr id="52" name="Rounded Rectangle 51"/>
          <p:cNvSpPr/>
          <p:nvPr/>
        </p:nvSpPr>
        <p:spPr>
          <a:xfrm>
            <a:off x="502920" y="5632704"/>
            <a:ext cx="11268455" cy="676656"/>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200" b="0">
                <a:solidFill>
                  <a:srgbClr val="1E2D44"/>
                </a:solidFill>
                <a:latin typeface="Karla"/>
              </a:rPr>
              <a:t>Every group ranks C04 Claim Full Block Fibrecollagen 33 Protein 20gno Sugar Mid Left D1 first. The widest segment gap is C02 Claim 33 Protein 20g High Protein No Sugar Added Bottom Centre D2D3: +9 have never purchased fitspo products / +19 have purchased in the past, but not currently / +13 occasionally / +23 regularly.</a:t>
            </a:r>
          </a:p>
        </p:txBody>
      </p:sp>
      <p:sp>
        <p:nvSpPr>
          <p:cNvPr id="53" name="Rectangle 52"/>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Top-2 scores rounded to whole points. *Average of the groups in the legend.</a:t>
            </a:r>
          </a:p>
        </p:txBody>
      </p:sp>
      <p:sp>
        <p:nvSpPr>
          <p:cNvPr id="55" name="TextBox 54"/>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37744"/>
            <a:ext cx="7043927" cy="182880"/>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KEY FINDINGS: D_LOGO  ·  Can you read english?</a:t>
            </a:r>
          </a:p>
        </p:txBody>
      </p:sp>
      <p:sp>
        <p:nvSpPr>
          <p:cNvPr id="3" name="TextBox 2"/>
          <p:cNvSpPr txBox="1"/>
          <p:nvPr/>
        </p:nvSpPr>
        <p:spPr>
          <a:xfrm>
            <a:off x="502920" y="438912"/>
            <a:ext cx="7043927" cy="365760"/>
          </a:xfrm>
          <a:prstGeom prst="rect">
            <a:avLst/>
          </a:prstGeom>
          <a:noFill/>
        </p:spPr>
        <p:txBody>
          <a:bodyPr wrap="square" anchor="t" lIns="0" rIns="0" tIns="0" bIns="0"/>
          <a:lstStyle/>
          <a:p>
            <a:pPr algn="l">
              <a:spcBef>
                <a:spcPts val="0"/>
              </a:spcBef>
              <a:spcAft>
                <a:spcPts val="0"/>
              </a:spcAft>
            </a:pPr>
            <a:r>
              <a:rPr sz="2600" b="1" i="0">
                <a:solidFill>
                  <a:srgbClr val="1E2D44"/>
                </a:solidFill>
                <a:latin typeface="Karla"/>
              </a:rPr>
              <a:t>D03 Logo Small Upper Centre Right D1 leads in both groups</a:t>
            </a:r>
          </a:p>
        </p:txBody>
      </p:sp>
      <p:sp>
        <p:nvSpPr>
          <p:cNvPr id="4" name="TextBox 3"/>
          <p:cNvSpPr txBox="1"/>
          <p:nvPr/>
        </p:nvSpPr>
        <p:spPr>
          <a:xfrm>
            <a:off x="502920" y="822960"/>
            <a:ext cx="7043927" cy="274320"/>
          </a:xfrm>
          <a:prstGeom prst="rect">
            <a:avLst/>
          </a:prstGeom>
          <a:noFill/>
        </p:spPr>
        <p:txBody>
          <a:bodyPr wrap="square" anchor="t" lIns="0" rIns="0" tIns="0" bIns="0"/>
          <a:lstStyle/>
          <a:p>
            <a:pPr algn="l">
              <a:spcBef>
                <a:spcPts val="0"/>
              </a:spcBef>
              <a:spcAft>
                <a:spcPts val="0"/>
              </a:spcAft>
            </a:pPr>
            <a:r>
              <a:rPr sz="1300" b="0" i="0">
                <a:solidFill>
                  <a:srgbClr val="617086"/>
                </a:solidFill>
                <a:latin typeface="Karla"/>
              </a:rPr>
              <a:t>D03 Logo Small Upper Centre Right D1 leads both groups; D01 Logo Small Top Left D2 ranks last.</a:t>
            </a:r>
          </a:p>
        </p:txBody>
      </p:sp>
      <p:sp>
        <p:nvSpPr>
          <p:cNvPr id="5" name="Rectangle 4"/>
          <p:cNvSpPr/>
          <p:nvPr/>
        </p:nvSpPr>
        <p:spPr>
          <a:xfrm>
            <a:off x="502920" y="1133856"/>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D_LOGO</a:t>
            </a:r>
          </a:p>
        </p:txBody>
      </p:sp>
      <p:sp>
        <p:nvSpPr>
          <p:cNvPr id="6" name="TextBox 5"/>
          <p:cNvSpPr txBox="1"/>
          <p:nvPr/>
        </p:nvSpPr>
        <p:spPr>
          <a:xfrm>
            <a:off x="1874520"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7" name="Rectangle 6"/>
          <p:cNvSpPr/>
          <p:nvPr/>
        </p:nvSpPr>
        <p:spPr>
          <a:xfrm>
            <a:off x="3783583" y="1444752"/>
            <a:ext cx="9144" cy="351129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90975"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9" name="Rectangle 8"/>
          <p:cNvSpPr/>
          <p:nvPr/>
        </p:nvSpPr>
        <p:spPr>
          <a:xfrm>
            <a:off x="5400039" y="1444752"/>
            <a:ext cx="9144" cy="351129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7431"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1" name="Rectangle 10"/>
          <p:cNvSpPr/>
          <p:nvPr/>
        </p:nvSpPr>
        <p:spPr>
          <a:xfrm>
            <a:off x="7016495" y="1444752"/>
            <a:ext cx="9144" cy="351129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23887"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30</a:t>
            </a:r>
          </a:p>
        </p:txBody>
      </p:sp>
      <p:sp>
        <p:nvSpPr>
          <p:cNvPr id="13" name="Rectangle 12"/>
          <p:cNvSpPr/>
          <p:nvPr/>
        </p:nvSpPr>
        <p:spPr>
          <a:xfrm>
            <a:off x="2167128" y="1444752"/>
            <a:ext cx="10972" cy="3511295"/>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167128" y="4956047"/>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1707642"/>
            <a:ext cx="1554480" cy="352044"/>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D03 Logo Small</a:t>
            </a:r>
          </a:p>
          <a:p>
            <a:pPr algn="r">
              <a:spcBef>
                <a:spcPts val="0"/>
              </a:spcBef>
              <a:spcAft>
                <a:spcPts val="0"/>
              </a:spcAft>
            </a:pPr>
            <a:r>
              <a:rPr sz="1100" b="0" i="0">
                <a:solidFill>
                  <a:srgbClr val="1E2D44"/>
                </a:solidFill>
                <a:latin typeface="Karla"/>
              </a:rPr>
              <a:t>Upper Centre Right…</a:t>
            </a:r>
          </a:p>
        </p:txBody>
      </p:sp>
      <p:sp>
        <p:nvSpPr>
          <p:cNvPr id="16" name="Rectangle 15"/>
          <p:cNvSpPr/>
          <p:nvPr/>
        </p:nvSpPr>
        <p:spPr>
          <a:xfrm>
            <a:off x="2167128" y="1707642"/>
            <a:ext cx="3556202"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778194" y="1707642"/>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+22</a:t>
            </a:r>
          </a:p>
        </p:txBody>
      </p:sp>
      <p:sp>
        <p:nvSpPr>
          <p:cNvPr id="18" name="Rectangle 17"/>
          <p:cNvSpPr/>
          <p:nvPr/>
        </p:nvSpPr>
        <p:spPr>
          <a:xfrm>
            <a:off x="2167128" y="1904238"/>
            <a:ext cx="808227"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030219" y="1904238"/>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+5</a:t>
            </a:r>
          </a:p>
        </p:txBody>
      </p:sp>
      <p:sp>
        <p:nvSpPr>
          <p:cNvPr id="20" name="TextBox 19"/>
          <p:cNvSpPr txBox="1"/>
          <p:nvPr/>
        </p:nvSpPr>
        <p:spPr>
          <a:xfrm>
            <a:off x="502920" y="2585465"/>
            <a:ext cx="1554480" cy="352044"/>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D04 Logo Large Upper</a:t>
            </a:r>
          </a:p>
          <a:p>
            <a:pPr algn="r">
              <a:spcBef>
                <a:spcPts val="0"/>
              </a:spcBef>
              <a:spcAft>
                <a:spcPts val="0"/>
              </a:spcAft>
            </a:pPr>
            <a:r>
              <a:rPr sz="1000" b="0" i="0">
                <a:solidFill>
                  <a:srgbClr val="1E2D44"/>
                </a:solidFill>
                <a:latin typeface="Karla"/>
              </a:rPr>
              <a:t>Centre Right D1…</a:t>
            </a:r>
          </a:p>
        </p:txBody>
      </p:sp>
      <p:sp>
        <p:nvSpPr>
          <p:cNvPr id="21" name="Rectangle 20"/>
          <p:cNvSpPr/>
          <p:nvPr/>
        </p:nvSpPr>
        <p:spPr>
          <a:xfrm>
            <a:off x="2167128" y="2585465"/>
            <a:ext cx="3556202"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78194" y="2585465"/>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+22</a:t>
            </a:r>
          </a:p>
        </p:txBody>
      </p:sp>
      <p:sp>
        <p:nvSpPr>
          <p:cNvPr id="23" name="Rectangle 22"/>
          <p:cNvSpPr/>
          <p:nvPr/>
        </p:nvSpPr>
        <p:spPr>
          <a:xfrm>
            <a:off x="2167128" y="2782061"/>
            <a:ext cx="484936"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706928" y="2782061"/>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+3</a:t>
            </a:r>
          </a:p>
        </p:txBody>
      </p:sp>
      <p:sp>
        <p:nvSpPr>
          <p:cNvPr id="25" name="TextBox 24"/>
          <p:cNvSpPr txBox="1"/>
          <p:nvPr/>
        </p:nvSpPr>
        <p:spPr>
          <a:xfrm>
            <a:off x="502920" y="3463289"/>
            <a:ext cx="1554480" cy="352044"/>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D02 Logo Large Top</a:t>
            </a:r>
          </a:p>
          <a:p>
            <a:pPr algn="r">
              <a:spcBef>
                <a:spcPts val="0"/>
              </a:spcBef>
              <a:spcAft>
                <a:spcPts val="0"/>
              </a:spcAft>
            </a:pPr>
            <a:r>
              <a:rPr sz="1100" b="0" i="0">
                <a:solidFill>
                  <a:srgbClr val="1E2D44"/>
                </a:solidFill>
                <a:latin typeface="Karla"/>
              </a:rPr>
              <a:t>Left D3</a:t>
            </a:r>
          </a:p>
        </p:txBody>
      </p:sp>
      <p:sp>
        <p:nvSpPr>
          <p:cNvPr id="26" name="Rectangle 25"/>
          <p:cNvSpPr/>
          <p:nvPr/>
        </p:nvSpPr>
        <p:spPr>
          <a:xfrm>
            <a:off x="2167128" y="3463289"/>
            <a:ext cx="2586329"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08321" y="3463289"/>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+16</a:t>
            </a:r>
          </a:p>
        </p:txBody>
      </p:sp>
      <p:sp>
        <p:nvSpPr>
          <p:cNvPr id="28" name="Rectangle 27"/>
          <p:cNvSpPr/>
          <p:nvPr/>
        </p:nvSpPr>
        <p:spPr>
          <a:xfrm>
            <a:off x="2167128" y="3659885"/>
            <a:ext cx="646582"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868574" y="3659885"/>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+4</a:t>
            </a:r>
          </a:p>
        </p:txBody>
      </p:sp>
      <p:sp>
        <p:nvSpPr>
          <p:cNvPr id="30" name="TextBox 29"/>
          <p:cNvSpPr txBox="1"/>
          <p:nvPr/>
        </p:nvSpPr>
        <p:spPr>
          <a:xfrm>
            <a:off x="502920" y="4341113"/>
            <a:ext cx="1554480" cy="352044"/>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D01 Logo Small Top</a:t>
            </a:r>
          </a:p>
          <a:p>
            <a:pPr algn="r">
              <a:spcBef>
                <a:spcPts val="0"/>
              </a:spcBef>
              <a:spcAft>
                <a:spcPts val="0"/>
              </a:spcAft>
            </a:pPr>
            <a:r>
              <a:rPr sz="1100" b="0" i="0">
                <a:solidFill>
                  <a:srgbClr val="1E2D44"/>
                </a:solidFill>
                <a:latin typeface="Karla"/>
              </a:rPr>
              <a:t>Left D2</a:t>
            </a:r>
          </a:p>
        </p:txBody>
      </p:sp>
      <p:sp>
        <p:nvSpPr>
          <p:cNvPr id="31" name="Rectangle 30"/>
          <p:cNvSpPr/>
          <p:nvPr/>
        </p:nvSpPr>
        <p:spPr>
          <a:xfrm>
            <a:off x="2167128" y="4341113"/>
            <a:ext cx="1939747"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61739" y="4341113"/>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+12</a:t>
            </a:r>
          </a:p>
        </p:txBody>
      </p:sp>
      <p:sp>
        <p:nvSpPr>
          <p:cNvPr id="33" name="Rectangle 32"/>
          <p:cNvSpPr/>
          <p:nvPr/>
        </p:nvSpPr>
        <p:spPr>
          <a:xfrm>
            <a:off x="2167128" y="4537709"/>
            <a:ext cx="484936"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706928" y="4537709"/>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+3</a:t>
            </a:r>
          </a:p>
        </p:txBody>
      </p:sp>
      <p:sp>
        <p:nvSpPr>
          <p:cNvPr id="35" name="Rectangle 34"/>
          <p:cNvSpPr/>
          <p:nvPr/>
        </p:nvSpPr>
        <p:spPr>
          <a:xfrm>
            <a:off x="2797047" y="5381244"/>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970783" y="5321807"/>
            <a:ext cx="1329944" cy="219456"/>
          </a:xfrm>
          <a:prstGeom prst="rect">
            <a:avLst/>
          </a:prstGeom>
          <a:noFill/>
        </p:spPr>
        <p:txBody>
          <a:bodyPr wrap="none" anchor="ctr" lIns="0" rIns="0" tIns="0" bIns="0"/>
          <a:lstStyle/>
          <a:p>
            <a:pPr algn="l">
              <a:spcBef>
                <a:spcPts val="0"/>
              </a:spcBef>
              <a:spcAft>
                <a:spcPts val="0"/>
              </a:spcAft>
            </a:pPr>
            <a:r>
              <a:rPr sz="1100" b="0" i="0">
                <a:solidFill>
                  <a:srgbClr val="2C3A4A"/>
                </a:solidFill>
                <a:latin typeface="Karla"/>
              </a:rPr>
              <a:t>No (basesize = 1)</a:t>
            </a:r>
          </a:p>
        </p:txBody>
      </p:sp>
      <p:sp>
        <p:nvSpPr>
          <p:cNvPr id="37" name="Rectangle 36"/>
          <p:cNvSpPr/>
          <p:nvPr/>
        </p:nvSpPr>
        <p:spPr>
          <a:xfrm>
            <a:off x="4648199" y="5381244"/>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821935" y="5321807"/>
            <a:ext cx="1564640" cy="219456"/>
          </a:xfrm>
          <a:prstGeom prst="rect">
            <a:avLst/>
          </a:prstGeom>
          <a:noFill/>
        </p:spPr>
        <p:txBody>
          <a:bodyPr wrap="none" anchor="ctr" lIns="0" rIns="0" tIns="0" bIns="0"/>
          <a:lstStyle/>
          <a:p>
            <a:pPr algn="l">
              <a:spcBef>
                <a:spcPts val="0"/>
              </a:spcBef>
              <a:spcAft>
                <a:spcPts val="0"/>
              </a:spcAft>
            </a:pPr>
            <a:r>
              <a:rPr sz="1100" b="0" i="0">
                <a:solidFill>
                  <a:srgbClr val="2C3A4A"/>
                </a:solidFill>
                <a:latin typeface="Karla"/>
              </a:rPr>
              <a:t>Yes (basesize = 149)</a:t>
            </a:r>
          </a:p>
        </p:txBody>
      </p:sp>
      <p:sp>
        <p:nvSpPr>
          <p:cNvPr id="39" name="Rounded Rectangle 38"/>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935467" y="617280"/>
            <a:ext cx="1709927" cy="1325758"/>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D3.png"/>
          <p:cNvPicPr>
            <a:picLocks noChangeAspect="1"/>
          </p:cNvPicPr>
          <p:nvPr/>
        </p:nvPicPr>
        <p:blipFill>
          <a:blip r:embed="rId2"/>
          <a:stretch>
            <a:fillRect/>
          </a:stretch>
        </p:blipFill>
        <p:spPr>
          <a:xfrm>
            <a:off x="7949183" y="630996"/>
            <a:ext cx="1682495" cy="1298326"/>
          </a:xfrm>
          <a:prstGeom prst="rect">
            <a:avLst/>
          </a:prstGeom>
        </p:spPr>
      </p:pic>
      <p:sp>
        <p:nvSpPr>
          <p:cNvPr id="42" name="TextBox 41"/>
          <p:cNvSpPr txBox="1"/>
          <p:nvPr/>
        </p:nvSpPr>
        <p:spPr>
          <a:xfrm>
            <a:off x="7912607" y="1984187"/>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D03 Logo Small</a:t>
            </a:r>
          </a:p>
          <a:p>
            <a:pPr algn="ctr">
              <a:spcBef>
                <a:spcPts val="0"/>
              </a:spcBef>
              <a:spcAft>
                <a:spcPts val="0"/>
              </a:spcAft>
            </a:pPr>
            <a:r>
              <a:rPr sz="1200" b="0" i="0">
                <a:solidFill>
                  <a:srgbClr val="1E2D44"/>
                </a:solidFill>
                <a:latin typeface="Karla"/>
              </a:rPr>
              <a:t>Upper Centre Right…</a:t>
            </a:r>
          </a:p>
        </p:txBody>
      </p:sp>
      <p:sp>
        <p:nvSpPr>
          <p:cNvPr id="43" name="TextBox 42"/>
          <p:cNvSpPr txBox="1"/>
          <p:nvPr/>
        </p:nvSpPr>
        <p:spPr>
          <a:xfrm>
            <a:off x="7912607" y="2349947"/>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+14*</a:t>
            </a:r>
          </a:p>
        </p:txBody>
      </p:sp>
      <p:sp>
        <p:nvSpPr>
          <p:cNvPr id="44" name="Rectangle 43"/>
          <p:cNvSpPr/>
          <p:nvPr/>
        </p:nvSpPr>
        <p:spPr>
          <a:xfrm>
            <a:off x="9855707" y="617280"/>
            <a:ext cx="1709927" cy="1325758"/>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5" name="Picture 44" descr="D4.png"/>
          <p:cNvPicPr>
            <a:picLocks noChangeAspect="1"/>
          </p:cNvPicPr>
          <p:nvPr/>
        </p:nvPicPr>
        <p:blipFill>
          <a:blip r:embed="rId3"/>
          <a:stretch>
            <a:fillRect/>
          </a:stretch>
        </p:blipFill>
        <p:spPr>
          <a:xfrm>
            <a:off x="9869423" y="630996"/>
            <a:ext cx="1682495" cy="1298326"/>
          </a:xfrm>
          <a:prstGeom prst="rect">
            <a:avLst/>
          </a:prstGeom>
        </p:spPr>
      </p:pic>
      <p:sp>
        <p:nvSpPr>
          <p:cNvPr id="46" name="TextBox 45"/>
          <p:cNvSpPr txBox="1"/>
          <p:nvPr/>
        </p:nvSpPr>
        <p:spPr>
          <a:xfrm>
            <a:off x="9832847" y="1984187"/>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D04 Logo Large</a:t>
            </a:r>
          </a:p>
          <a:p>
            <a:pPr algn="ctr">
              <a:spcBef>
                <a:spcPts val="0"/>
              </a:spcBef>
              <a:spcAft>
                <a:spcPts val="0"/>
              </a:spcAft>
            </a:pPr>
            <a:r>
              <a:rPr sz="1200" b="0" i="0">
                <a:solidFill>
                  <a:srgbClr val="1E2D44"/>
                </a:solidFill>
                <a:latin typeface="Karla"/>
              </a:rPr>
              <a:t>Upper Centre Right…</a:t>
            </a:r>
          </a:p>
        </p:txBody>
      </p:sp>
      <p:sp>
        <p:nvSpPr>
          <p:cNvPr id="47" name="TextBox 46"/>
          <p:cNvSpPr txBox="1"/>
          <p:nvPr/>
        </p:nvSpPr>
        <p:spPr>
          <a:xfrm>
            <a:off x="9832847" y="2349947"/>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+12*</a:t>
            </a:r>
          </a:p>
        </p:txBody>
      </p:sp>
      <p:sp>
        <p:nvSpPr>
          <p:cNvPr id="48" name="Rectangle 47"/>
          <p:cNvSpPr/>
          <p:nvPr/>
        </p:nvSpPr>
        <p:spPr>
          <a:xfrm>
            <a:off x="7935467" y="3177600"/>
            <a:ext cx="1709927" cy="1325758"/>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9" name="Picture 48" descr="D2.png"/>
          <p:cNvPicPr>
            <a:picLocks noChangeAspect="1"/>
          </p:cNvPicPr>
          <p:nvPr/>
        </p:nvPicPr>
        <p:blipFill>
          <a:blip r:embed="rId4"/>
          <a:stretch>
            <a:fillRect/>
          </a:stretch>
        </p:blipFill>
        <p:spPr>
          <a:xfrm>
            <a:off x="7949183" y="3191316"/>
            <a:ext cx="1682495" cy="1298326"/>
          </a:xfrm>
          <a:prstGeom prst="rect">
            <a:avLst/>
          </a:prstGeom>
        </p:spPr>
      </p:pic>
      <p:sp>
        <p:nvSpPr>
          <p:cNvPr id="50" name="TextBox 49"/>
          <p:cNvSpPr txBox="1"/>
          <p:nvPr/>
        </p:nvSpPr>
        <p:spPr>
          <a:xfrm>
            <a:off x="7912607" y="4544507"/>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D02 Logo Large Top</a:t>
            </a:r>
          </a:p>
          <a:p>
            <a:pPr algn="ctr">
              <a:spcBef>
                <a:spcPts val="0"/>
              </a:spcBef>
              <a:spcAft>
                <a:spcPts val="0"/>
              </a:spcAft>
            </a:pPr>
            <a:r>
              <a:rPr sz="1200" b="0" i="0">
                <a:solidFill>
                  <a:srgbClr val="1E2D44"/>
                </a:solidFill>
                <a:latin typeface="Karla"/>
              </a:rPr>
              <a:t>Left D3</a:t>
            </a:r>
          </a:p>
        </p:txBody>
      </p:sp>
      <p:sp>
        <p:nvSpPr>
          <p:cNvPr id="51" name="TextBox 50"/>
          <p:cNvSpPr txBox="1"/>
          <p:nvPr/>
        </p:nvSpPr>
        <p:spPr>
          <a:xfrm>
            <a:off x="7912607" y="4910267"/>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+10*</a:t>
            </a:r>
          </a:p>
        </p:txBody>
      </p:sp>
      <p:sp>
        <p:nvSpPr>
          <p:cNvPr id="52" name="Rectangle 51"/>
          <p:cNvSpPr/>
          <p:nvPr/>
        </p:nvSpPr>
        <p:spPr>
          <a:xfrm>
            <a:off x="9855707" y="3177600"/>
            <a:ext cx="1709927" cy="1325758"/>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3" name="Picture 52" descr="D1.png"/>
          <p:cNvPicPr>
            <a:picLocks noChangeAspect="1"/>
          </p:cNvPicPr>
          <p:nvPr/>
        </p:nvPicPr>
        <p:blipFill>
          <a:blip r:embed="rId5"/>
          <a:stretch>
            <a:fillRect/>
          </a:stretch>
        </p:blipFill>
        <p:spPr>
          <a:xfrm>
            <a:off x="9869423" y="3191316"/>
            <a:ext cx="1682495" cy="1298326"/>
          </a:xfrm>
          <a:prstGeom prst="rect">
            <a:avLst/>
          </a:prstGeom>
        </p:spPr>
      </p:pic>
      <p:sp>
        <p:nvSpPr>
          <p:cNvPr id="54" name="TextBox 53"/>
          <p:cNvSpPr txBox="1"/>
          <p:nvPr/>
        </p:nvSpPr>
        <p:spPr>
          <a:xfrm>
            <a:off x="9832847" y="4544507"/>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D01 Logo Small Top</a:t>
            </a:r>
          </a:p>
          <a:p>
            <a:pPr algn="ctr">
              <a:spcBef>
                <a:spcPts val="0"/>
              </a:spcBef>
              <a:spcAft>
                <a:spcPts val="0"/>
              </a:spcAft>
            </a:pPr>
            <a:r>
              <a:rPr sz="1200" b="0" i="0">
                <a:solidFill>
                  <a:srgbClr val="1E2D44"/>
                </a:solidFill>
                <a:latin typeface="Karla"/>
              </a:rPr>
              <a:t>Left D2</a:t>
            </a:r>
          </a:p>
        </p:txBody>
      </p:sp>
      <p:sp>
        <p:nvSpPr>
          <p:cNvPr id="55" name="TextBox 54"/>
          <p:cNvSpPr txBox="1"/>
          <p:nvPr/>
        </p:nvSpPr>
        <p:spPr>
          <a:xfrm>
            <a:off x="9832847" y="4910267"/>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+8*</a:t>
            </a:r>
          </a:p>
        </p:txBody>
      </p:sp>
      <p:sp>
        <p:nvSpPr>
          <p:cNvPr id="56" name="Rounded Rectangle 55"/>
          <p:cNvSpPr/>
          <p:nvPr/>
        </p:nvSpPr>
        <p:spPr>
          <a:xfrm>
            <a:off x="502920" y="5632704"/>
            <a:ext cx="11268455" cy="530352"/>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300" b="0">
                <a:solidFill>
                  <a:srgbClr val="1E2D44"/>
                </a:solidFill>
                <a:latin typeface="Karla"/>
              </a:rPr>
              <a:t>Both groups rank D03 Logo Small Upper Centre Right D1 first. The widest segment gap is D04 Logo Large Upper Centre Right D1 Position: +22 no / +3 yes.</a:t>
            </a:r>
          </a:p>
        </p:txBody>
      </p:sp>
      <p:sp>
        <p:nvSpPr>
          <p:cNvPr id="57" name="Rectangle 56"/>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No basesize = 1; Yes basesize = 149. Top-2 scores rounded to whole points. *Average of the groups in the legend.</a:t>
            </a:r>
          </a:p>
        </p:txBody>
      </p:sp>
      <p:sp>
        <p:nvSpPr>
          <p:cNvPr id="59" name="TextBox 58"/>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37744"/>
            <a:ext cx="7043927" cy="182880"/>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KEY FINDINGS: D_LOGO  ·  Which of these countries do you live in?</a:t>
            </a:r>
          </a:p>
        </p:txBody>
      </p:sp>
      <p:sp>
        <p:nvSpPr>
          <p:cNvPr id="3" name="TextBox 2"/>
          <p:cNvSpPr txBox="1"/>
          <p:nvPr/>
        </p:nvSpPr>
        <p:spPr>
          <a:xfrm>
            <a:off x="502920" y="438912"/>
            <a:ext cx="7043927" cy="365760"/>
          </a:xfrm>
          <a:prstGeom prst="rect">
            <a:avLst/>
          </a:prstGeom>
          <a:noFill/>
        </p:spPr>
        <p:txBody>
          <a:bodyPr wrap="square" anchor="t" lIns="0" rIns="0" tIns="0" bIns="0"/>
          <a:lstStyle/>
          <a:p>
            <a:pPr algn="l">
              <a:spcBef>
                <a:spcPts val="0"/>
              </a:spcBef>
              <a:spcAft>
                <a:spcPts val="0"/>
              </a:spcAft>
            </a:pPr>
            <a:r>
              <a:rPr sz="2600" b="1" i="0">
                <a:solidFill>
                  <a:srgbClr val="1E2D44"/>
                </a:solidFill>
                <a:latin typeface="Karla"/>
              </a:rPr>
              <a:t>D_Logo splits across the groups</a:t>
            </a:r>
          </a:p>
        </p:txBody>
      </p:sp>
      <p:sp>
        <p:nvSpPr>
          <p:cNvPr id="4" name="TextBox 3"/>
          <p:cNvSpPr txBox="1"/>
          <p:nvPr/>
        </p:nvSpPr>
        <p:spPr>
          <a:xfrm>
            <a:off x="502920" y="822960"/>
            <a:ext cx="7043927" cy="475488"/>
          </a:xfrm>
          <a:prstGeom prst="rect">
            <a:avLst/>
          </a:prstGeom>
          <a:noFill/>
        </p:spPr>
        <p:txBody>
          <a:bodyPr wrap="square" anchor="t" lIns="0" rIns="0" tIns="0" bIns="0"/>
          <a:lstStyle/>
          <a:p>
            <a:pPr algn="l">
              <a:spcBef>
                <a:spcPts val="0"/>
              </a:spcBef>
              <a:spcAft>
                <a:spcPts val="0"/>
              </a:spcAft>
            </a:pPr>
            <a:r>
              <a:rPr sz="1200" b="0" i="0">
                <a:solidFill>
                  <a:srgbClr val="617086"/>
                </a:solidFill>
                <a:latin typeface="Karla"/>
              </a:rPr>
              <a:t>Bulgaria favors D03 Logo Small Upper Centre Right D1; Greece favors D02 Logo Large Top Left D3; Saudi Arabia favors D03 Logo Small Upper Centre Right D1.</a:t>
            </a:r>
          </a:p>
        </p:txBody>
      </p:sp>
      <p:sp>
        <p:nvSpPr>
          <p:cNvPr id="5" name="Rectangle 4"/>
          <p:cNvSpPr/>
          <p:nvPr/>
        </p:nvSpPr>
        <p:spPr>
          <a:xfrm>
            <a:off x="502920" y="1335024"/>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D_LOGO</a:t>
            </a:r>
          </a:p>
        </p:txBody>
      </p:sp>
      <p:sp>
        <p:nvSpPr>
          <p:cNvPr id="6" name="Rectangle 5"/>
          <p:cNvSpPr/>
          <p:nvPr/>
        </p:nvSpPr>
        <p:spPr>
          <a:xfrm>
            <a:off x="2167128" y="1645920"/>
            <a:ext cx="9144" cy="3310128"/>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74520"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-5</a:t>
            </a:r>
          </a:p>
        </p:txBody>
      </p:sp>
      <p:sp>
        <p:nvSpPr>
          <p:cNvPr id="8" name="TextBox 7"/>
          <p:cNvSpPr txBox="1"/>
          <p:nvPr/>
        </p:nvSpPr>
        <p:spPr>
          <a:xfrm>
            <a:off x="3490975"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9" name="Rectangle 8"/>
          <p:cNvSpPr/>
          <p:nvPr/>
        </p:nvSpPr>
        <p:spPr>
          <a:xfrm>
            <a:off x="5400039" y="1645920"/>
            <a:ext cx="9144" cy="3310128"/>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7431"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5</a:t>
            </a:r>
          </a:p>
        </p:txBody>
      </p:sp>
      <p:sp>
        <p:nvSpPr>
          <p:cNvPr id="11" name="Rectangle 10"/>
          <p:cNvSpPr/>
          <p:nvPr/>
        </p:nvSpPr>
        <p:spPr>
          <a:xfrm>
            <a:off x="7016495" y="1645920"/>
            <a:ext cx="9144" cy="3310128"/>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23887"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13" name="Rectangle 12"/>
          <p:cNvSpPr/>
          <p:nvPr/>
        </p:nvSpPr>
        <p:spPr>
          <a:xfrm>
            <a:off x="3783583" y="1645920"/>
            <a:ext cx="10972" cy="3310128"/>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167128" y="4956048"/>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1827977"/>
            <a:ext cx="1554480" cy="463417"/>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D03 Logo Small</a:t>
            </a:r>
          </a:p>
          <a:p>
            <a:pPr algn="r">
              <a:spcBef>
                <a:spcPts val="0"/>
              </a:spcBef>
              <a:spcAft>
                <a:spcPts val="0"/>
              </a:spcAft>
            </a:pPr>
            <a:r>
              <a:rPr sz="1100" b="0" i="0">
                <a:solidFill>
                  <a:srgbClr val="1E2D44"/>
                </a:solidFill>
                <a:latin typeface="Karla"/>
              </a:rPr>
              <a:t>Upper Centre Right…</a:t>
            </a:r>
          </a:p>
        </p:txBody>
      </p:sp>
      <p:sp>
        <p:nvSpPr>
          <p:cNvPr id="16" name="Rectangle 15"/>
          <p:cNvSpPr/>
          <p:nvPr/>
        </p:nvSpPr>
        <p:spPr>
          <a:xfrm>
            <a:off x="3783583" y="1827977"/>
            <a:ext cx="2586329" cy="127040"/>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4777" y="1827977"/>
            <a:ext cx="457200" cy="127040"/>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+8</a:t>
            </a:r>
          </a:p>
        </p:txBody>
      </p:sp>
      <p:sp>
        <p:nvSpPr>
          <p:cNvPr id="18" name="Rectangle 17"/>
          <p:cNvSpPr/>
          <p:nvPr/>
        </p:nvSpPr>
        <p:spPr>
          <a:xfrm>
            <a:off x="3783583" y="1996165"/>
            <a:ext cx="323291" cy="127040"/>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61739" y="1996165"/>
            <a:ext cx="457200" cy="127040"/>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a:t>
            </a:r>
          </a:p>
        </p:txBody>
      </p:sp>
      <p:sp>
        <p:nvSpPr>
          <p:cNvPr id="20" name="Rectangle 19"/>
          <p:cNvSpPr/>
          <p:nvPr/>
        </p:nvSpPr>
        <p:spPr>
          <a:xfrm>
            <a:off x="3783583" y="2164354"/>
            <a:ext cx="1939747" cy="12704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78194" y="2164354"/>
            <a:ext cx="457200" cy="127040"/>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+6</a:t>
            </a:r>
          </a:p>
        </p:txBody>
      </p:sp>
      <p:sp>
        <p:nvSpPr>
          <p:cNvPr id="22" name="TextBox 21"/>
          <p:cNvSpPr txBox="1"/>
          <p:nvPr/>
        </p:nvSpPr>
        <p:spPr>
          <a:xfrm>
            <a:off x="502920" y="2655509"/>
            <a:ext cx="1554480" cy="463417"/>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D01 Logo Small Top</a:t>
            </a:r>
          </a:p>
          <a:p>
            <a:pPr algn="r">
              <a:spcBef>
                <a:spcPts val="0"/>
              </a:spcBef>
              <a:spcAft>
                <a:spcPts val="0"/>
              </a:spcAft>
            </a:pPr>
            <a:r>
              <a:rPr sz="1100" b="0" i="0">
                <a:solidFill>
                  <a:srgbClr val="1E2D44"/>
                </a:solidFill>
                <a:latin typeface="Karla"/>
              </a:rPr>
              <a:t>Left D2</a:t>
            </a:r>
          </a:p>
        </p:txBody>
      </p:sp>
      <p:sp>
        <p:nvSpPr>
          <p:cNvPr id="23" name="Rectangle 22"/>
          <p:cNvSpPr/>
          <p:nvPr/>
        </p:nvSpPr>
        <p:spPr>
          <a:xfrm>
            <a:off x="3783583" y="2655509"/>
            <a:ext cx="2263038" cy="127040"/>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01486" y="2655509"/>
            <a:ext cx="457200" cy="127040"/>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+7</a:t>
            </a:r>
          </a:p>
        </p:txBody>
      </p:sp>
      <p:sp>
        <p:nvSpPr>
          <p:cNvPr id="25" name="Rectangle 24"/>
          <p:cNvSpPr/>
          <p:nvPr/>
        </p:nvSpPr>
        <p:spPr>
          <a:xfrm>
            <a:off x="3783583" y="2823697"/>
            <a:ext cx="646582" cy="127040"/>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85030" y="2823697"/>
            <a:ext cx="457200" cy="127040"/>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+2</a:t>
            </a:r>
          </a:p>
        </p:txBody>
      </p:sp>
      <p:sp>
        <p:nvSpPr>
          <p:cNvPr id="27" name="Rectangle 26"/>
          <p:cNvSpPr/>
          <p:nvPr/>
        </p:nvSpPr>
        <p:spPr>
          <a:xfrm>
            <a:off x="3783583" y="2991886"/>
            <a:ext cx="323291" cy="12704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161739" y="2991886"/>
            <a:ext cx="457200" cy="127040"/>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a:t>
            </a:r>
          </a:p>
        </p:txBody>
      </p:sp>
      <p:sp>
        <p:nvSpPr>
          <p:cNvPr id="29" name="TextBox 28"/>
          <p:cNvSpPr txBox="1"/>
          <p:nvPr/>
        </p:nvSpPr>
        <p:spPr>
          <a:xfrm>
            <a:off x="502920" y="3483041"/>
            <a:ext cx="1554480" cy="463417"/>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D04 Logo Large Upper</a:t>
            </a:r>
          </a:p>
          <a:p>
            <a:pPr algn="r">
              <a:spcBef>
                <a:spcPts val="0"/>
              </a:spcBef>
              <a:spcAft>
                <a:spcPts val="0"/>
              </a:spcAft>
            </a:pPr>
            <a:r>
              <a:rPr sz="1000" b="0" i="0">
                <a:solidFill>
                  <a:srgbClr val="1E2D44"/>
                </a:solidFill>
                <a:latin typeface="Karla"/>
              </a:rPr>
              <a:t>Centre Right D1…</a:t>
            </a:r>
          </a:p>
        </p:txBody>
      </p:sp>
      <p:sp>
        <p:nvSpPr>
          <p:cNvPr id="30" name="Rectangle 29"/>
          <p:cNvSpPr/>
          <p:nvPr/>
        </p:nvSpPr>
        <p:spPr>
          <a:xfrm>
            <a:off x="3783583" y="3483041"/>
            <a:ext cx="1293164" cy="127040"/>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131612" y="3483041"/>
            <a:ext cx="457200" cy="127040"/>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+4</a:t>
            </a:r>
          </a:p>
        </p:txBody>
      </p:sp>
      <p:sp>
        <p:nvSpPr>
          <p:cNvPr id="32" name="Rectangle 31"/>
          <p:cNvSpPr/>
          <p:nvPr/>
        </p:nvSpPr>
        <p:spPr>
          <a:xfrm>
            <a:off x="3137001" y="3651229"/>
            <a:ext cx="646582" cy="127040"/>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624937" y="3651229"/>
            <a:ext cx="457200" cy="127040"/>
          </a:xfrm>
          <a:prstGeom prst="rect">
            <a:avLst/>
          </a:prstGeom>
          <a:noFill/>
        </p:spPr>
        <p:txBody>
          <a:bodyPr wrap="none" anchor="ctr" lIns="0" rIns="0" tIns="0" bIns="0"/>
          <a:lstStyle/>
          <a:p>
            <a:pPr algn="r">
              <a:spcBef>
                <a:spcPts val="0"/>
              </a:spcBef>
              <a:spcAft>
                <a:spcPts val="0"/>
              </a:spcAft>
            </a:pPr>
            <a:r>
              <a:rPr sz="1000" b="1" i="0">
                <a:solidFill>
                  <a:srgbClr val="04746E"/>
                </a:solidFill>
                <a:latin typeface="Karla"/>
              </a:rPr>
              <a:t>-2</a:t>
            </a:r>
          </a:p>
        </p:txBody>
      </p:sp>
      <p:sp>
        <p:nvSpPr>
          <p:cNvPr id="34" name="Rectangle 33"/>
          <p:cNvSpPr/>
          <p:nvPr/>
        </p:nvSpPr>
        <p:spPr>
          <a:xfrm>
            <a:off x="3783583" y="3819418"/>
            <a:ext cx="1939747" cy="12704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778194" y="3819418"/>
            <a:ext cx="457200" cy="127040"/>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+6</a:t>
            </a:r>
          </a:p>
        </p:txBody>
      </p:sp>
      <p:sp>
        <p:nvSpPr>
          <p:cNvPr id="36" name="TextBox 35"/>
          <p:cNvSpPr txBox="1"/>
          <p:nvPr/>
        </p:nvSpPr>
        <p:spPr>
          <a:xfrm>
            <a:off x="502920" y="4310573"/>
            <a:ext cx="1554480" cy="463417"/>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D02 Logo Large Top</a:t>
            </a:r>
          </a:p>
          <a:p>
            <a:pPr algn="r">
              <a:spcBef>
                <a:spcPts val="0"/>
              </a:spcBef>
              <a:spcAft>
                <a:spcPts val="0"/>
              </a:spcAft>
            </a:pPr>
            <a:r>
              <a:rPr sz="1100" b="0" i="0">
                <a:solidFill>
                  <a:srgbClr val="1E2D44"/>
                </a:solidFill>
                <a:latin typeface="Karla"/>
              </a:rPr>
              <a:t>Left D3</a:t>
            </a:r>
          </a:p>
        </p:txBody>
      </p:sp>
      <p:sp>
        <p:nvSpPr>
          <p:cNvPr id="37" name="Rectangle 36"/>
          <p:cNvSpPr/>
          <p:nvPr/>
        </p:nvSpPr>
        <p:spPr>
          <a:xfrm>
            <a:off x="3783583" y="4310573"/>
            <a:ext cx="1293164" cy="127040"/>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131612" y="4310573"/>
            <a:ext cx="457200" cy="127040"/>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+4</a:t>
            </a:r>
          </a:p>
        </p:txBody>
      </p:sp>
      <p:sp>
        <p:nvSpPr>
          <p:cNvPr id="39" name="Rectangle 38"/>
          <p:cNvSpPr/>
          <p:nvPr/>
        </p:nvSpPr>
        <p:spPr>
          <a:xfrm>
            <a:off x="3783583" y="4478761"/>
            <a:ext cx="969873" cy="127040"/>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808321" y="4478761"/>
            <a:ext cx="457200" cy="127040"/>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+3</a:t>
            </a:r>
          </a:p>
        </p:txBody>
      </p:sp>
      <p:sp>
        <p:nvSpPr>
          <p:cNvPr id="41" name="Rectangle 40"/>
          <p:cNvSpPr/>
          <p:nvPr/>
        </p:nvSpPr>
        <p:spPr>
          <a:xfrm>
            <a:off x="3783583" y="4646950"/>
            <a:ext cx="1616455" cy="12704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454903" y="4646950"/>
            <a:ext cx="457200" cy="127040"/>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+5</a:t>
            </a:r>
          </a:p>
        </p:txBody>
      </p:sp>
      <p:sp>
        <p:nvSpPr>
          <p:cNvPr id="43" name="Rectangle 42"/>
          <p:cNvSpPr/>
          <p:nvPr/>
        </p:nvSpPr>
        <p:spPr>
          <a:xfrm>
            <a:off x="1250695" y="5381244"/>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424431" y="5321807"/>
            <a:ext cx="170688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Bulgaria (basesize = 50)</a:t>
            </a:r>
          </a:p>
        </p:txBody>
      </p:sp>
      <p:sp>
        <p:nvSpPr>
          <p:cNvPr id="45" name="Rectangle 44"/>
          <p:cNvSpPr/>
          <p:nvPr/>
        </p:nvSpPr>
        <p:spPr>
          <a:xfrm>
            <a:off x="3387343" y="5381244"/>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561079" y="5321807"/>
            <a:ext cx="156464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Greece (basesize = 49)</a:t>
            </a:r>
          </a:p>
        </p:txBody>
      </p:sp>
      <p:sp>
        <p:nvSpPr>
          <p:cNvPr id="47" name="Rectangle 46"/>
          <p:cNvSpPr/>
          <p:nvPr/>
        </p:nvSpPr>
        <p:spPr>
          <a:xfrm>
            <a:off x="5381751" y="5381244"/>
            <a:ext cx="100584" cy="10058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555487" y="5321807"/>
            <a:ext cx="199136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Saudi Arabia (basesize = 51)</a:t>
            </a:r>
          </a:p>
        </p:txBody>
      </p:sp>
      <p:sp>
        <p:nvSpPr>
          <p:cNvPr id="49" name="Rounded Rectangle 48"/>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935467" y="617280"/>
            <a:ext cx="1709927" cy="1325758"/>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1" name="Picture 50" descr="D3.png"/>
          <p:cNvPicPr>
            <a:picLocks noChangeAspect="1"/>
          </p:cNvPicPr>
          <p:nvPr/>
        </p:nvPicPr>
        <p:blipFill>
          <a:blip r:embed="rId2"/>
          <a:stretch>
            <a:fillRect/>
          </a:stretch>
        </p:blipFill>
        <p:spPr>
          <a:xfrm>
            <a:off x="7949183" y="630996"/>
            <a:ext cx="1682495" cy="1298326"/>
          </a:xfrm>
          <a:prstGeom prst="rect">
            <a:avLst/>
          </a:prstGeom>
        </p:spPr>
      </p:pic>
      <p:sp>
        <p:nvSpPr>
          <p:cNvPr id="52" name="TextBox 51"/>
          <p:cNvSpPr txBox="1"/>
          <p:nvPr/>
        </p:nvSpPr>
        <p:spPr>
          <a:xfrm>
            <a:off x="7912607" y="1984187"/>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D03 Logo Small</a:t>
            </a:r>
          </a:p>
          <a:p>
            <a:pPr algn="ctr">
              <a:spcBef>
                <a:spcPts val="0"/>
              </a:spcBef>
              <a:spcAft>
                <a:spcPts val="0"/>
              </a:spcAft>
            </a:pPr>
            <a:r>
              <a:rPr sz="1200" b="0" i="0">
                <a:solidFill>
                  <a:srgbClr val="1E2D44"/>
                </a:solidFill>
                <a:latin typeface="Karla"/>
              </a:rPr>
              <a:t>Upper Centre Right…</a:t>
            </a:r>
          </a:p>
        </p:txBody>
      </p:sp>
      <p:sp>
        <p:nvSpPr>
          <p:cNvPr id="53" name="TextBox 52"/>
          <p:cNvSpPr txBox="1"/>
          <p:nvPr/>
        </p:nvSpPr>
        <p:spPr>
          <a:xfrm>
            <a:off x="7912607" y="2349947"/>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+5*</a:t>
            </a:r>
          </a:p>
        </p:txBody>
      </p:sp>
      <p:sp>
        <p:nvSpPr>
          <p:cNvPr id="54" name="Rectangle 53"/>
          <p:cNvSpPr/>
          <p:nvPr/>
        </p:nvSpPr>
        <p:spPr>
          <a:xfrm>
            <a:off x="9855707" y="617280"/>
            <a:ext cx="1709927" cy="1325758"/>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5" name="Picture 54" descr="D1.png"/>
          <p:cNvPicPr>
            <a:picLocks noChangeAspect="1"/>
          </p:cNvPicPr>
          <p:nvPr/>
        </p:nvPicPr>
        <p:blipFill>
          <a:blip r:embed="rId3"/>
          <a:stretch>
            <a:fillRect/>
          </a:stretch>
        </p:blipFill>
        <p:spPr>
          <a:xfrm>
            <a:off x="9869423" y="630996"/>
            <a:ext cx="1682495" cy="1298326"/>
          </a:xfrm>
          <a:prstGeom prst="rect">
            <a:avLst/>
          </a:prstGeom>
        </p:spPr>
      </p:pic>
      <p:sp>
        <p:nvSpPr>
          <p:cNvPr id="56" name="TextBox 55"/>
          <p:cNvSpPr txBox="1"/>
          <p:nvPr/>
        </p:nvSpPr>
        <p:spPr>
          <a:xfrm>
            <a:off x="9832847" y="1984187"/>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D01 Logo Small Top</a:t>
            </a:r>
          </a:p>
          <a:p>
            <a:pPr algn="ctr">
              <a:spcBef>
                <a:spcPts val="0"/>
              </a:spcBef>
              <a:spcAft>
                <a:spcPts val="0"/>
              </a:spcAft>
            </a:pPr>
            <a:r>
              <a:rPr sz="1200" b="0" i="0">
                <a:solidFill>
                  <a:srgbClr val="1E2D44"/>
                </a:solidFill>
                <a:latin typeface="Karla"/>
              </a:rPr>
              <a:t>Left D2</a:t>
            </a:r>
          </a:p>
        </p:txBody>
      </p:sp>
      <p:sp>
        <p:nvSpPr>
          <p:cNvPr id="57" name="TextBox 56"/>
          <p:cNvSpPr txBox="1"/>
          <p:nvPr/>
        </p:nvSpPr>
        <p:spPr>
          <a:xfrm>
            <a:off x="9832847" y="2349947"/>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+3*</a:t>
            </a:r>
          </a:p>
        </p:txBody>
      </p:sp>
      <p:sp>
        <p:nvSpPr>
          <p:cNvPr id="58" name="Rectangle 57"/>
          <p:cNvSpPr/>
          <p:nvPr/>
        </p:nvSpPr>
        <p:spPr>
          <a:xfrm>
            <a:off x="7935467" y="3177600"/>
            <a:ext cx="1709927" cy="1325758"/>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9" name="Picture 58" descr="D4.png"/>
          <p:cNvPicPr>
            <a:picLocks noChangeAspect="1"/>
          </p:cNvPicPr>
          <p:nvPr/>
        </p:nvPicPr>
        <p:blipFill>
          <a:blip r:embed="rId4"/>
          <a:stretch>
            <a:fillRect/>
          </a:stretch>
        </p:blipFill>
        <p:spPr>
          <a:xfrm>
            <a:off x="7949183" y="3191316"/>
            <a:ext cx="1682495" cy="1298326"/>
          </a:xfrm>
          <a:prstGeom prst="rect">
            <a:avLst/>
          </a:prstGeom>
        </p:spPr>
      </p:pic>
      <p:sp>
        <p:nvSpPr>
          <p:cNvPr id="60" name="TextBox 59"/>
          <p:cNvSpPr txBox="1"/>
          <p:nvPr/>
        </p:nvSpPr>
        <p:spPr>
          <a:xfrm>
            <a:off x="7912607" y="4544507"/>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D04 Logo Large</a:t>
            </a:r>
          </a:p>
          <a:p>
            <a:pPr algn="ctr">
              <a:spcBef>
                <a:spcPts val="0"/>
              </a:spcBef>
              <a:spcAft>
                <a:spcPts val="0"/>
              </a:spcAft>
            </a:pPr>
            <a:r>
              <a:rPr sz="1200" b="0" i="0">
                <a:solidFill>
                  <a:srgbClr val="1E2D44"/>
                </a:solidFill>
                <a:latin typeface="Karla"/>
              </a:rPr>
              <a:t>Upper Centre Right…</a:t>
            </a:r>
          </a:p>
        </p:txBody>
      </p:sp>
      <p:sp>
        <p:nvSpPr>
          <p:cNvPr id="61" name="TextBox 60"/>
          <p:cNvSpPr txBox="1"/>
          <p:nvPr/>
        </p:nvSpPr>
        <p:spPr>
          <a:xfrm>
            <a:off x="7912607" y="4910267"/>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+3*</a:t>
            </a:r>
          </a:p>
        </p:txBody>
      </p:sp>
      <p:sp>
        <p:nvSpPr>
          <p:cNvPr id="62" name="Rectangle 61"/>
          <p:cNvSpPr/>
          <p:nvPr/>
        </p:nvSpPr>
        <p:spPr>
          <a:xfrm>
            <a:off x="9855707" y="3177600"/>
            <a:ext cx="1709927" cy="1325758"/>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3" name="Picture 62" descr="D2.png"/>
          <p:cNvPicPr>
            <a:picLocks noChangeAspect="1"/>
          </p:cNvPicPr>
          <p:nvPr/>
        </p:nvPicPr>
        <p:blipFill>
          <a:blip r:embed="rId5"/>
          <a:stretch>
            <a:fillRect/>
          </a:stretch>
        </p:blipFill>
        <p:spPr>
          <a:xfrm>
            <a:off x="9869423" y="3191316"/>
            <a:ext cx="1682495" cy="1298326"/>
          </a:xfrm>
          <a:prstGeom prst="rect">
            <a:avLst/>
          </a:prstGeom>
        </p:spPr>
      </p:pic>
      <p:sp>
        <p:nvSpPr>
          <p:cNvPr id="64" name="TextBox 63"/>
          <p:cNvSpPr txBox="1"/>
          <p:nvPr/>
        </p:nvSpPr>
        <p:spPr>
          <a:xfrm>
            <a:off x="9832847" y="4544507"/>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D02 Logo Large Top</a:t>
            </a:r>
          </a:p>
          <a:p>
            <a:pPr algn="ctr">
              <a:spcBef>
                <a:spcPts val="0"/>
              </a:spcBef>
              <a:spcAft>
                <a:spcPts val="0"/>
              </a:spcAft>
            </a:pPr>
            <a:r>
              <a:rPr sz="1200" b="0" i="0">
                <a:solidFill>
                  <a:srgbClr val="1E2D44"/>
                </a:solidFill>
                <a:latin typeface="Karla"/>
              </a:rPr>
              <a:t>Left D3</a:t>
            </a:r>
          </a:p>
        </p:txBody>
      </p:sp>
      <p:sp>
        <p:nvSpPr>
          <p:cNvPr id="65" name="TextBox 64"/>
          <p:cNvSpPr txBox="1"/>
          <p:nvPr/>
        </p:nvSpPr>
        <p:spPr>
          <a:xfrm>
            <a:off x="9832847" y="4910267"/>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+4*</a:t>
            </a:r>
          </a:p>
        </p:txBody>
      </p:sp>
      <p:sp>
        <p:nvSpPr>
          <p:cNvPr id="66" name="Rounded Rectangle 65"/>
          <p:cNvSpPr/>
          <p:nvPr/>
        </p:nvSpPr>
        <p:spPr>
          <a:xfrm>
            <a:off x="502920" y="5632704"/>
            <a:ext cx="11268455" cy="676656"/>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200" b="0">
                <a:solidFill>
                  <a:srgbClr val="1E2D44"/>
                </a:solidFill>
                <a:latin typeface="Karla"/>
              </a:rPr>
              <a:t>Bulgaria favors D03 Logo Small Upper Centre Right D1; Greece favors D02 Logo Large Top Left D3; Saudi Arabia favors D03 Logo Small Upper Centre Right D1. The widest segment gap is D04 Logo Large Upper Centre Right D1 Position: +4 bulgaria / -2 greece / +6 saudi arabia.</a:t>
            </a:r>
          </a:p>
        </p:txBody>
      </p:sp>
      <p:sp>
        <p:nvSpPr>
          <p:cNvPr id="67" name="Rectangle 66"/>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Bulgaria basesize = 50; Greece basesize = 49; Saudi Arabia basesize = 51. Top-2 scores rounded to whole points. *Average of the groups in the legend.</a:t>
            </a:r>
          </a:p>
        </p:txBody>
      </p:sp>
      <p:sp>
        <p:nvSpPr>
          <p:cNvPr id="69" name="TextBox 68"/>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37744"/>
            <a:ext cx="7043927" cy="182880"/>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KEY FINDINGS: D_LOGO  ·  Do you currently consume protein-enriched food products</a:t>
            </a:r>
          </a:p>
        </p:txBody>
      </p:sp>
      <p:sp>
        <p:nvSpPr>
          <p:cNvPr id="3" name="TextBox 2"/>
          <p:cNvSpPr txBox="1"/>
          <p:nvPr/>
        </p:nvSpPr>
        <p:spPr>
          <a:xfrm>
            <a:off x="502920" y="438912"/>
            <a:ext cx="7043927" cy="365760"/>
          </a:xfrm>
          <a:prstGeom prst="rect">
            <a:avLst/>
          </a:prstGeom>
          <a:noFill/>
        </p:spPr>
        <p:txBody>
          <a:bodyPr wrap="square" anchor="t" lIns="0" rIns="0" tIns="0" bIns="0"/>
          <a:lstStyle/>
          <a:p>
            <a:pPr algn="l">
              <a:spcBef>
                <a:spcPts val="0"/>
              </a:spcBef>
              <a:spcAft>
                <a:spcPts val="0"/>
              </a:spcAft>
            </a:pPr>
            <a:r>
              <a:rPr sz="2600" b="1" i="0">
                <a:solidFill>
                  <a:srgbClr val="1E2D44"/>
                </a:solidFill>
                <a:latin typeface="Karla"/>
              </a:rPr>
              <a:t>D_Logo splits across the groups</a:t>
            </a:r>
          </a:p>
        </p:txBody>
      </p:sp>
      <p:sp>
        <p:nvSpPr>
          <p:cNvPr id="4" name="TextBox 3"/>
          <p:cNvSpPr txBox="1"/>
          <p:nvPr/>
        </p:nvSpPr>
        <p:spPr>
          <a:xfrm>
            <a:off x="502920" y="822960"/>
            <a:ext cx="7043927" cy="475488"/>
          </a:xfrm>
          <a:prstGeom prst="rect">
            <a:avLst/>
          </a:prstGeom>
          <a:noFill/>
        </p:spPr>
        <p:txBody>
          <a:bodyPr wrap="square" anchor="t" lIns="0" rIns="0" tIns="0" bIns="0"/>
          <a:lstStyle/>
          <a:p>
            <a:pPr algn="l">
              <a:spcBef>
                <a:spcPts val="0"/>
              </a:spcBef>
              <a:spcAft>
                <a:spcPts val="0"/>
              </a:spcAft>
            </a:pPr>
            <a:r>
              <a:rPr sz="1200" b="0" i="0">
                <a:solidFill>
                  <a:srgbClr val="617086"/>
                </a:solidFill>
                <a:latin typeface="Karla"/>
              </a:rPr>
              <a:t>No, and I am not interested favors D03 Logo Small Upper Centre Right D1; No, but I am interested in trying them favors D01 Logo Small Top Left D2; Yes, occasionally favors D01 Logo Small Top Left D2; Yes, regularly favors D03 Logo Small Upper Centre Right D1.</a:t>
            </a:r>
          </a:p>
        </p:txBody>
      </p:sp>
      <p:sp>
        <p:nvSpPr>
          <p:cNvPr id="5" name="Rectangle 4"/>
          <p:cNvSpPr/>
          <p:nvPr/>
        </p:nvSpPr>
        <p:spPr>
          <a:xfrm>
            <a:off x="502920" y="1335024"/>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D_LOGO</a:t>
            </a:r>
          </a:p>
        </p:txBody>
      </p:sp>
      <p:sp>
        <p:nvSpPr>
          <p:cNvPr id="6" name="Rectangle 5"/>
          <p:cNvSpPr/>
          <p:nvPr/>
        </p:nvSpPr>
        <p:spPr>
          <a:xfrm>
            <a:off x="2167128"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74520"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8" name="TextBox 7"/>
          <p:cNvSpPr txBox="1"/>
          <p:nvPr/>
        </p:nvSpPr>
        <p:spPr>
          <a:xfrm>
            <a:off x="3490975"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9" name="Rectangle 8"/>
          <p:cNvSpPr/>
          <p:nvPr/>
        </p:nvSpPr>
        <p:spPr>
          <a:xfrm>
            <a:off x="5400039"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7431"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11" name="Rectangle 10"/>
          <p:cNvSpPr/>
          <p:nvPr/>
        </p:nvSpPr>
        <p:spPr>
          <a:xfrm>
            <a:off x="7016495"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23887"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3" name="Rectangle 12"/>
          <p:cNvSpPr/>
          <p:nvPr/>
        </p:nvSpPr>
        <p:spPr>
          <a:xfrm>
            <a:off x="3783583" y="1645920"/>
            <a:ext cx="10972" cy="2871215"/>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167128" y="4517136"/>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1778508"/>
            <a:ext cx="1554480" cy="452628"/>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D03 Logo Small</a:t>
            </a:r>
          </a:p>
          <a:p>
            <a:pPr algn="r">
              <a:spcBef>
                <a:spcPts val="0"/>
              </a:spcBef>
              <a:spcAft>
                <a:spcPts val="0"/>
              </a:spcAft>
            </a:pPr>
            <a:r>
              <a:rPr sz="1100" b="0" i="0">
                <a:solidFill>
                  <a:srgbClr val="1E2D44"/>
                </a:solidFill>
                <a:latin typeface="Karla"/>
              </a:rPr>
              <a:t>Upper Centre Right…</a:t>
            </a:r>
          </a:p>
        </p:txBody>
      </p:sp>
      <p:sp>
        <p:nvSpPr>
          <p:cNvPr id="16" name="Rectangle 15"/>
          <p:cNvSpPr/>
          <p:nvPr/>
        </p:nvSpPr>
        <p:spPr>
          <a:xfrm>
            <a:off x="3783583" y="1778508"/>
            <a:ext cx="1778101"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16549" y="1778508"/>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+11</a:t>
            </a:r>
          </a:p>
        </p:txBody>
      </p:sp>
      <p:sp>
        <p:nvSpPr>
          <p:cNvPr id="18" name="Rectangle 17"/>
          <p:cNvSpPr/>
          <p:nvPr/>
        </p:nvSpPr>
        <p:spPr>
          <a:xfrm>
            <a:off x="3783583" y="1901952"/>
            <a:ext cx="27432"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838447" y="1901952"/>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0</a:t>
            </a:r>
          </a:p>
        </p:txBody>
      </p:sp>
      <p:sp>
        <p:nvSpPr>
          <p:cNvPr id="20" name="Rectangle 19"/>
          <p:cNvSpPr/>
          <p:nvPr/>
        </p:nvSpPr>
        <p:spPr>
          <a:xfrm>
            <a:off x="3783583" y="2025395"/>
            <a:ext cx="969873"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08321" y="2025395"/>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+6</a:t>
            </a:r>
          </a:p>
        </p:txBody>
      </p:sp>
      <p:sp>
        <p:nvSpPr>
          <p:cNvPr id="22" name="Rectangle 21"/>
          <p:cNvSpPr/>
          <p:nvPr/>
        </p:nvSpPr>
        <p:spPr>
          <a:xfrm>
            <a:off x="3783583" y="2148840"/>
            <a:ext cx="808227"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46675" y="2148840"/>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+5</a:t>
            </a:r>
          </a:p>
        </p:txBody>
      </p:sp>
      <p:sp>
        <p:nvSpPr>
          <p:cNvPr id="24" name="TextBox 23"/>
          <p:cNvSpPr txBox="1"/>
          <p:nvPr/>
        </p:nvSpPr>
        <p:spPr>
          <a:xfrm>
            <a:off x="502920" y="2496312"/>
            <a:ext cx="1554480" cy="452628"/>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D01 Logo Small Top</a:t>
            </a:r>
          </a:p>
          <a:p>
            <a:pPr algn="r">
              <a:spcBef>
                <a:spcPts val="0"/>
              </a:spcBef>
              <a:spcAft>
                <a:spcPts val="0"/>
              </a:spcAft>
            </a:pPr>
            <a:r>
              <a:rPr sz="1100" b="0" i="0">
                <a:solidFill>
                  <a:srgbClr val="1E2D44"/>
                </a:solidFill>
                <a:latin typeface="Karla"/>
              </a:rPr>
              <a:t>Left D2</a:t>
            </a:r>
          </a:p>
        </p:txBody>
      </p:sp>
      <p:sp>
        <p:nvSpPr>
          <p:cNvPr id="25" name="Rectangle 24"/>
          <p:cNvSpPr/>
          <p:nvPr/>
        </p:nvSpPr>
        <p:spPr>
          <a:xfrm>
            <a:off x="2975355" y="2496312"/>
            <a:ext cx="808227"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463291" y="2496312"/>
            <a:ext cx="457200" cy="82296"/>
          </a:xfrm>
          <a:prstGeom prst="rect">
            <a:avLst/>
          </a:prstGeom>
          <a:noFill/>
        </p:spPr>
        <p:txBody>
          <a:bodyPr wrap="none" anchor="ctr" lIns="0" rIns="0" tIns="0" bIns="0"/>
          <a:lstStyle/>
          <a:p>
            <a:pPr algn="r">
              <a:spcBef>
                <a:spcPts val="0"/>
              </a:spcBef>
              <a:spcAft>
                <a:spcPts val="0"/>
              </a:spcAft>
            </a:pPr>
            <a:r>
              <a:rPr sz="1000" b="1" i="0">
                <a:solidFill>
                  <a:srgbClr val="1A2332"/>
                </a:solidFill>
                <a:latin typeface="Karla"/>
              </a:rPr>
              <a:t>-5</a:t>
            </a:r>
          </a:p>
        </p:txBody>
      </p:sp>
      <p:sp>
        <p:nvSpPr>
          <p:cNvPr id="27" name="Rectangle 26"/>
          <p:cNvSpPr/>
          <p:nvPr/>
        </p:nvSpPr>
        <p:spPr>
          <a:xfrm>
            <a:off x="3783583" y="2619756"/>
            <a:ext cx="27432"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838447" y="2619756"/>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0</a:t>
            </a:r>
          </a:p>
        </p:txBody>
      </p:sp>
      <p:sp>
        <p:nvSpPr>
          <p:cNvPr id="29" name="Rectangle 28"/>
          <p:cNvSpPr/>
          <p:nvPr/>
        </p:nvSpPr>
        <p:spPr>
          <a:xfrm>
            <a:off x="3783583" y="2743200"/>
            <a:ext cx="1293164"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131612" y="2743200"/>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+8</a:t>
            </a:r>
          </a:p>
        </p:txBody>
      </p:sp>
      <p:sp>
        <p:nvSpPr>
          <p:cNvPr id="31" name="Rectangle 30"/>
          <p:cNvSpPr/>
          <p:nvPr/>
        </p:nvSpPr>
        <p:spPr>
          <a:xfrm>
            <a:off x="3783583" y="2866644"/>
            <a:ext cx="161645"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000093" y="2866644"/>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+1</a:t>
            </a:r>
          </a:p>
        </p:txBody>
      </p:sp>
      <p:sp>
        <p:nvSpPr>
          <p:cNvPr id="33" name="TextBox 32"/>
          <p:cNvSpPr txBox="1"/>
          <p:nvPr/>
        </p:nvSpPr>
        <p:spPr>
          <a:xfrm>
            <a:off x="502920" y="3214116"/>
            <a:ext cx="1554480" cy="452628"/>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D02 Logo Large Top</a:t>
            </a:r>
          </a:p>
          <a:p>
            <a:pPr algn="r">
              <a:spcBef>
                <a:spcPts val="0"/>
              </a:spcBef>
              <a:spcAft>
                <a:spcPts val="0"/>
              </a:spcAft>
            </a:pPr>
            <a:r>
              <a:rPr sz="1100" b="0" i="0">
                <a:solidFill>
                  <a:srgbClr val="1E2D44"/>
                </a:solidFill>
                <a:latin typeface="Karla"/>
              </a:rPr>
              <a:t>Left D3</a:t>
            </a:r>
          </a:p>
        </p:txBody>
      </p:sp>
      <p:sp>
        <p:nvSpPr>
          <p:cNvPr id="34" name="Rectangle 33"/>
          <p:cNvSpPr/>
          <p:nvPr/>
        </p:nvSpPr>
        <p:spPr>
          <a:xfrm>
            <a:off x="2813710" y="3214116"/>
            <a:ext cx="969873"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301646" y="3214116"/>
            <a:ext cx="457200" cy="82296"/>
          </a:xfrm>
          <a:prstGeom prst="rect">
            <a:avLst/>
          </a:prstGeom>
          <a:noFill/>
        </p:spPr>
        <p:txBody>
          <a:bodyPr wrap="none" anchor="ctr" lIns="0" rIns="0" tIns="0" bIns="0"/>
          <a:lstStyle/>
          <a:p>
            <a:pPr algn="r">
              <a:spcBef>
                <a:spcPts val="0"/>
              </a:spcBef>
              <a:spcAft>
                <a:spcPts val="0"/>
              </a:spcAft>
            </a:pPr>
            <a:r>
              <a:rPr sz="1000" b="1" i="0">
                <a:solidFill>
                  <a:srgbClr val="1A2332"/>
                </a:solidFill>
                <a:latin typeface="Karla"/>
              </a:rPr>
              <a:t>-6</a:t>
            </a:r>
          </a:p>
        </p:txBody>
      </p:sp>
      <p:sp>
        <p:nvSpPr>
          <p:cNvPr id="36" name="Rectangle 35"/>
          <p:cNvSpPr/>
          <p:nvPr/>
        </p:nvSpPr>
        <p:spPr>
          <a:xfrm>
            <a:off x="3783583" y="3337560"/>
            <a:ext cx="27432"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38447" y="3337560"/>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0</a:t>
            </a:r>
          </a:p>
        </p:txBody>
      </p:sp>
      <p:sp>
        <p:nvSpPr>
          <p:cNvPr id="38" name="Rectangle 37"/>
          <p:cNvSpPr/>
          <p:nvPr/>
        </p:nvSpPr>
        <p:spPr>
          <a:xfrm>
            <a:off x="3783583" y="3461004"/>
            <a:ext cx="1293164"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131612" y="3461004"/>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+8</a:t>
            </a:r>
          </a:p>
        </p:txBody>
      </p:sp>
      <p:sp>
        <p:nvSpPr>
          <p:cNvPr id="40" name="Rectangle 39"/>
          <p:cNvSpPr/>
          <p:nvPr/>
        </p:nvSpPr>
        <p:spPr>
          <a:xfrm>
            <a:off x="3783583" y="3584448"/>
            <a:ext cx="484936"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323384" y="3584448"/>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+3</a:t>
            </a:r>
          </a:p>
        </p:txBody>
      </p:sp>
      <p:sp>
        <p:nvSpPr>
          <p:cNvPr id="42" name="TextBox 41"/>
          <p:cNvSpPr txBox="1"/>
          <p:nvPr/>
        </p:nvSpPr>
        <p:spPr>
          <a:xfrm>
            <a:off x="502920" y="3931919"/>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D04 Logo Large Upper</a:t>
            </a:r>
          </a:p>
          <a:p>
            <a:pPr algn="r">
              <a:spcBef>
                <a:spcPts val="0"/>
              </a:spcBef>
              <a:spcAft>
                <a:spcPts val="0"/>
              </a:spcAft>
            </a:pPr>
            <a:r>
              <a:rPr sz="1000" b="0" i="0">
                <a:solidFill>
                  <a:srgbClr val="1E2D44"/>
                </a:solidFill>
                <a:latin typeface="Karla"/>
              </a:rPr>
              <a:t>Centre Right D1…</a:t>
            </a:r>
          </a:p>
        </p:txBody>
      </p:sp>
      <p:sp>
        <p:nvSpPr>
          <p:cNvPr id="43" name="Rectangle 42"/>
          <p:cNvSpPr/>
          <p:nvPr/>
        </p:nvSpPr>
        <p:spPr>
          <a:xfrm>
            <a:off x="3783583" y="3931919"/>
            <a:ext cx="646582"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485030" y="3931919"/>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+4</a:t>
            </a:r>
          </a:p>
        </p:txBody>
      </p:sp>
      <p:sp>
        <p:nvSpPr>
          <p:cNvPr id="45" name="Rectangle 44"/>
          <p:cNvSpPr/>
          <p:nvPr/>
        </p:nvSpPr>
        <p:spPr>
          <a:xfrm>
            <a:off x="3621938" y="4055363"/>
            <a:ext cx="161645"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109874" y="4055363"/>
            <a:ext cx="457200" cy="82296"/>
          </a:xfrm>
          <a:prstGeom prst="rect">
            <a:avLst/>
          </a:prstGeom>
          <a:noFill/>
        </p:spPr>
        <p:txBody>
          <a:bodyPr wrap="none" anchor="ctr" lIns="0" rIns="0" tIns="0" bIns="0"/>
          <a:lstStyle/>
          <a:p>
            <a:pPr algn="r">
              <a:spcBef>
                <a:spcPts val="0"/>
              </a:spcBef>
              <a:spcAft>
                <a:spcPts val="0"/>
              </a:spcAft>
            </a:pPr>
            <a:r>
              <a:rPr sz="1000" b="1" i="0">
                <a:solidFill>
                  <a:srgbClr val="04746E"/>
                </a:solidFill>
                <a:latin typeface="Karla"/>
              </a:rPr>
              <a:t>-1</a:t>
            </a:r>
          </a:p>
        </p:txBody>
      </p:sp>
      <p:sp>
        <p:nvSpPr>
          <p:cNvPr id="47" name="Rectangle 46"/>
          <p:cNvSpPr/>
          <p:nvPr/>
        </p:nvSpPr>
        <p:spPr>
          <a:xfrm>
            <a:off x="3783583" y="4178807"/>
            <a:ext cx="808227"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646675" y="4178807"/>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+5</a:t>
            </a:r>
          </a:p>
        </p:txBody>
      </p:sp>
      <p:sp>
        <p:nvSpPr>
          <p:cNvPr id="49" name="Rectangle 48"/>
          <p:cNvSpPr/>
          <p:nvPr/>
        </p:nvSpPr>
        <p:spPr>
          <a:xfrm>
            <a:off x="3783583" y="4302251"/>
            <a:ext cx="323291"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161739" y="4302251"/>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+2</a:t>
            </a:r>
          </a:p>
        </p:txBody>
      </p:sp>
      <p:sp>
        <p:nvSpPr>
          <p:cNvPr id="51" name="Rectangle 50"/>
          <p:cNvSpPr/>
          <p:nvPr/>
        </p:nvSpPr>
        <p:spPr>
          <a:xfrm>
            <a:off x="3011423" y="4942332"/>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185159" y="4882896"/>
            <a:ext cx="298704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No, and I am not interested (basesize = 5)</a:t>
            </a:r>
          </a:p>
        </p:txBody>
      </p:sp>
      <p:sp>
        <p:nvSpPr>
          <p:cNvPr id="53" name="Rectangle 52"/>
          <p:cNvSpPr/>
          <p:nvPr/>
        </p:nvSpPr>
        <p:spPr>
          <a:xfrm>
            <a:off x="755903" y="5161788"/>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29639" y="5102352"/>
            <a:ext cx="384048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No, but I am interested in trying them (basesize = 15)</a:t>
            </a:r>
          </a:p>
        </p:txBody>
      </p:sp>
      <p:sp>
        <p:nvSpPr>
          <p:cNvPr id="55" name="Rectangle 54"/>
          <p:cNvSpPr/>
          <p:nvPr/>
        </p:nvSpPr>
        <p:spPr>
          <a:xfrm>
            <a:off x="5026151" y="5161788"/>
            <a:ext cx="100584" cy="10058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199887" y="5102352"/>
            <a:ext cx="234696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Yes, occasionally (basesize = 56)</a:t>
            </a:r>
          </a:p>
        </p:txBody>
      </p:sp>
      <p:sp>
        <p:nvSpPr>
          <p:cNvPr id="57" name="Rectangle 56"/>
          <p:cNvSpPr/>
          <p:nvPr/>
        </p:nvSpPr>
        <p:spPr>
          <a:xfrm>
            <a:off x="3438143" y="5381244"/>
            <a:ext cx="100584" cy="100584"/>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611879" y="5321808"/>
            <a:ext cx="213360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Yes, regularly (basesize = 74)</a:t>
            </a:r>
          </a:p>
        </p:txBody>
      </p:sp>
      <p:sp>
        <p:nvSpPr>
          <p:cNvPr id="59" name="Rounded Rectangle 58"/>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7935467" y="617280"/>
            <a:ext cx="1709927" cy="1325758"/>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1" name="Picture 60" descr="D3.png"/>
          <p:cNvPicPr>
            <a:picLocks noChangeAspect="1"/>
          </p:cNvPicPr>
          <p:nvPr/>
        </p:nvPicPr>
        <p:blipFill>
          <a:blip r:embed="rId2"/>
          <a:stretch>
            <a:fillRect/>
          </a:stretch>
        </p:blipFill>
        <p:spPr>
          <a:xfrm>
            <a:off x="7949183" y="630996"/>
            <a:ext cx="1682495" cy="1298326"/>
          </a:xfrm>
          <a:prstGeom prst="rect">
            <a:avLst/>
          </a:prstGeom>
        </p:spPr>
      </p:pic>
      <p:sp>
        <p:nvSpPr>
          <p:cNvPr id="62" name="TextBox 61"/>
          <p:cNvSpPr txBox="1"/>
          <p:nvPr/>
        </p:nvSpPr>
        <p:spPr>
          <a:xfrm>
            <a:off x="7912607" y="1984187"/>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D03 Logo Small</a:t>
            </a:r>
          </a:p>
          <a:p>
            <a:pPr algn="ctr">
              <a:spcBef>
                <a:spcPts val="0"/>
              </a:spcBef>
              <a:spcAft>
                <a:spcPts val="0"/>
              </a:spcAft>
            </a:pPr>
            <a:r>
              <a:rPr sz="1200" b="0" i="0">
                <a:solidFill>
                  <a:srgbClr val="1E2D44"/>
                </a:solidFill>
                <a:latin typeface="Karla"/>
              </a:rPr>
              <a:t>Upper Centre Right…</a:t>
            </a:r>
          </a:p>
        </p:txBody>
      </p:sp>
      <p:sp>
        <p:nvSpPr>
          <p:cNvPr id="63" name="TextBox 62"/>
          <p:cNvSpPr txBox="1"/>
          <p:nvPr/>
        </p:nvSpPr>
        <p:spPr>
          <a:xfrm>
            <a:off x="7912607" y="2349947"/>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+6*</a:t>
            </a:r>
          </a:p>
        </p:txBody>
      </p:sp>
      <p:sp>
        <p:nvSpPr>
          <p:cNvPr id="64" name="Rectangle 63"/>
          <p:cNvSpPr/>
          <p:nvPr/>
        </p:nvSpPr>
        <p:spPr>
          <a:xfrm>
            <a:off x="9855707" y="617280"/>
            <a:ext cx="1709927" cy="1325758"/>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5" name="Picture 64" descr="D1.png"/>
          <p:cNvPicPr>
            <a:picLocks noChangeAspect="1"/>
          </p:cNvPicPr>
          <p:nvPr/>
        </p:nvPicPr>
        <p:blipFill>
          <a:blip r:embed="rId3"/>
          <a:stretch>
            <a:fillRect/>
          </a:stretch>
        </p:blipFill>
        <p:spPr>
          <a:xfrm>
            <a:off x="9869423" y="630996"/>
            <a:ext cx="1682495" cy="1298326"/>
          </a:xfrm>
          <a:prstGeom prst="rect">
            <a:avLst/>
          </a:prstGeom>
        </p:spPr>
      </p:pic>
      <p:sp>
        <p:nvSpPr>
          <p:cNvPr id="66" name="TextBox 65"/>
          <p:cNvSpPr txBox="1"/>
          <p:nvPr/>
        </p:nvSpPr>
        <p:spPr>
          <a:xfrm>
            <a:off x="9832847" y="1984187"/>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D01 Logo Small Top</a:t>
            </a:r>
          </a:p>
          <a:p>
            <a:pPr algn="ctr">
              <a:spcBef>
                <a:spcPts val="0"/>
              </a:spcBef>
              <a:spcAft>
                <a:spcPts val="0"/>
              </a:spcAft>
            </a:pPr>
            <a:r>
              <a:rPr sz="1200" b="0" i="0">
                <a:solidFill>
                  <a:srgbClr val="1E2D44"/>
                </a:solidFill>
                <a:latin typeface="Karla"/>
              </a:rPr>
              <a:t>Left D2</a:t>
            </a:r>
          </a:p>
        </p:txBody>
      </p:sp>
      <p:sp>
        <p:nvSpPr>
          <p:cNvPr id="67" name="TextBox 66"/>
          <p:cNvSpPr txBox="1"/>
          <p:nvPr/>
        </p:nvSpPr>
        <p:spPr>
          <a:xfrm>
            <a:off x="9832847" y="2349947"/>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a:t>
            </a:r>
          </a:p>
        </p:txBody>
      </p:sp>
      <p:sp>
        <p:nvSpPr>
          <p:cNvPr id="68" name="Rectangle 67"/>
          <p:cNvSpPr/>
          <p:nvPr/>
        </p:nvSpPr>
        <p:spPr>
          <a:xfrm>
            <a:off x="7935467" y="3177600"/>
            <a:ext cx="1709927" cy="1325758"/>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9" name="Picture 68" descr="D2.png"/>
          <p:cNvPicPr>
            <a:picLocks noChangeAspect="1"/>
          </p:cNvPicPr>
          <p:nvPr/>
        </p:nvPicPr>
        <p:blipFill>
          <a:blip r:embed="rId4"/>
          <a:stretch>
            <a:fillRect/>
          </a:stretch>
        </p:blipFill>
        <p:spPr>
          <a:xfrm>
            <a:off x="7949183" y="3191316"/>
            <a:ext cx="1682495" cy="1298326"/>
          </a:xfrm>
          <a:prstGeom prst="rect">
            <a:avLst/>
          </a:prstGeom>
        </p:spPr>
      </p:pic>
      <p:sp>
        <p:nvSpPr>
          <p:cNvPr id="70" name="TextBox 69"/>
          <p:cNvSpPr txBox="1"/>
          <p:nvPr/>
        </p:nvSpPr>
        <p:spPr>
          <a:xfrm>
            <a:off x="7912607" y="4544507"/>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D02 Logo Large Top</a:t>
            </a:r>
          </a:p>
          <a:p>
            <a:pPr algn="ctr">
              <a:spcBef>
                <a:spcPts val="0"/>
              </a:spcBef>
              <a:spcAft>
                <a:spcPts val="0"/>
              </a:spcAft>
            </a:pPr>
            <a:r>
              <a:rPr sz="1200" b="0" i="0">
                <a:solidFill>
                  <a:srgbClr val="1E2D44"/>
                </a:solidFill>
                <a:latin typeface="Karla"/>
              </a:rPr>
              <a:t>Left D3</a:t>
            </a:r>
          </a:p>
        </p:txBody>
      </p:sp>
      <p:sp>
        <p:nvSpPr>
          <p:cNvPr id="71" name="TextBox 70"/>
          <p:cNvSpPr txBox="1"/>
          <p:nvPr/>
        </p:nvSpPr>
        <p:spPr>
          <a:xfrm>
            <a:off x="7912607" y="4910267"/>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a:t>
            </a:r>
          </a:p>
        </p:txBody>
      </p:sp>
      <p:sp>
        <p:nvSpPr>
          <p:cNvPr id="72" name="Rectangle 71"/>
          <p:cNvSpPr/>
          <p:nvPr/>
        </p:nvSpPr>
        <p:spPr>
          <a:xfrm>
            <a:off x="9855707" y="3177600"/>
            <a:ext cx="1709927" cy="1325758"/>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3" name="Picture 72" descr="D4.png"/>
          <p:cNvPicPr>
            <a:picLocks noChangeAspect="1"/>
          </p:cNvPicPr>
          <p:nvPr/>
        </p:nvPicPr>
        <p:blipFill>
          <a:blip r:embed="rId5"/>
          <a:stretch>
            <a:fillRect/>
          </a:stretch>
        </p:blipFill>
        <p:spPr>
          <a:xfrm>
            <a:off x="9869423" y="3191316"/>
            <a:ext cx="1682495" cy="1298326"/>
          </a:xfrm>
          <a:prstGeom prst="rect">
            <a:avLst/>
          </a:prstGeom>
        </p:spPr>
      </p:pic>
      <p:sp>
        <p:nvSpPr>
          <p:cNvPr id="74" name="TextBox 73"/>
          <p:cNvSpPr txBox="1"/>
          <p:nvPr/>
        </p:nvSpPr>
        <p:spPr>
          <a:xfrm>
            <a:off x="9832847" y="4544507"/>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D04 Logo Large</a:t>
            </a:r>
          </a:p>
          <a:p>
            <a:pPr algn="ctr">
              <a:spcBef>
                <a:spcPts val="0"/>
              </a:spcBef>
              <a:spcAft>
                <a:spcPts val="0"/>
              </a:spcAft>
            </a:pPr>
            <a:r>
              <a:rPr sz="1200" b="0" i="0">
                <a:solidFill>
                  <a:srgbClr val="1E2D44"/>
                </a:solidFill>
                <a:latin typeface="Karla"/>
              </a:rPr>
              <a:t>Upper Centre Right…</a:t>
            </a:r>
          </a:p>
        </p:txBody>
      </p:sp>
      <p:sp>
        <p:nvSpPr>
          <p:cNvPr id="75" name="TextBox 74"/>
          <p:cNvSpPr txBox="1"/>
          <p:nvPr/>
        </p:nvSpPr>
        <p:spPr>
          <a:xfrm>
            <a:off x="9832847" y="4910267"/>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+2*</a:t>
            </a:r>
          </a:p>
        </p:txBody>
      </p:sp>
      <p:sp>
        <p:nvSpPr>
          <p:cNvPr id="76" name="Rounded Rectangle 75"/>
          <p:cNvSpPr/>
          <p:nvPr/>
        </p:nvSpPr>
        <p:spPr>
          <a:xfrm>
            <a:off x="502920" y="5632704"/>
            <a:ext cx="11268455" cy="676656"/>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200" b="0">
                <a:solidFill>
                  <a:srgbClr val="1E2D44"/>
                </a:solidFill>
                <a:latin typeface="Karla"/>
              </a:rPr>
              <a:t>No, and I am not interested favors D03 Logo Small Upper Centre Right D1; No, but I am interested in trying them favors D01 Logo Small Top Left D2; Yes, occasionally favors D01 Logo Small Top Left D2; Yes, regularly favors D03 Logo Small Upper Centre Right D1. The widest segment gap is D02 Logo Large Top Left D3: -6 no, and i am not interested / 0 no, but i am interested in trying them / +8 yes, occasionally / +3 yes, regularly.</a:t>
            </a:r>
          </a:p>
        </p:txBody>
      </p:sp>
      <p:sp>
        <p:nvSpPr>
          <p:cNvPr id="77" name="Rectangle 76"/>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Top-2 scores rounded to whole points. *Average of the groups in the legend.</a:t>
            </a:r>
          </a:p>
        </p:txBody>
      </p:sp>
      <p:sp>
        <p:nvSpPr>
          <p:cNvPr id="79" name="TextBox 78"/>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37744"/>
            <a:ext cx="7043927" cy="182880"/>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KEY FINDINGS: D_LOGO  ·  What would be your ideal way to consume protein-enriched products?</a:t>
            </a:r>
          </a:p>
        </p:txBody>
      </p:sp>
      <p:sp>
        <p:nvSpPr>
          <p:cNvPr id="3" name="TextBox 2"/>
          <p:cNvSpPr txBox="1"/>
          <p:nvPr/>
        </p:nvSpPr>
        <p:spPr>
          <a:xfrm>
            <a:off x="502920" y="438912"/>
            <a:ext cx="7043927" cy="365760"/>
          </a:xfrm>
          <a:prstGeom prst="rect">
            <a:avLst/>
          </a:prstGeom>
          <a:noFill/>
        </p:spPr>
        <p:txBody>
          <a:bodyPr wrap="square" anchor="t" lIns="0" rIns="0" tIns="0" bIns="0"/>
          <a:lstStyle/>
          <a:p>
            <a:pPr algn="l">
              <a:spcBef>
                <a:spcPts val="0"/>
              </a:spcBef>
              <a:spcAft>
                <a:spcPts val="0"/>
              </a:spcAft>
            </a:pPr>
            <a:r>
              <a:rPr sz="2600" b="1" i="0">
                <a:solidFill>
                  <a:srgbClr val="1E2D44"/>
                </a:solidFill>
                <a:latin typeface="Karla"/>
              </a:rPr>
              <a:t>D_Logo splits across the groups</a:t>
            </a:r>
          </a:p>
        </p:txBody>
      </p:sp>
      <p:sp>
        <p:nvSpPr>
          <p:cNvPr id="4" name="TextBox 3"/>
          <p:cNvSpPr txBox="1"/>
          <p:nvPr/>
        </p:nvSpPr>
        <p:spPr>
          <a:xfrm>
            <a:off x="502920" y="822960"/>
            <a:ext cx="7043927" cy="475488"/>
          </a:xfrm>
          <a:prstGeom prst="rect">
            <a:avLst/>
          </a:prstGeom>
          <a:noFill/>
        </p:spPr>
        <p:txBody>
          <a:bodyPr wrap="square" anchor="t" lIns="0" rIns="0" tIns="0" bIns="0"/>
          <a:lstStyle/>
          <a:p>
            <a:pPr algn="l">
              <a:spcBef>
                <a:spcPts val="0"/>
              </a:spcBef>
              <a:spcAft>
                <a:spcPts val="0"/>
              </a:spcAft>
            </a:pPr>
            <a:r>
              <a:rPr sz="1200" b="0" i="0">
                <a:solidFill>
                  <a:srgbClr val="617086"/>
                </a:solidFill>
                <a:latin typeface="Karla"/>
              </a:rPr>
              <a:t>Other favors D03 Logo Small Upper Centre Right D1; Protein bars favor D01 Logo Small Top Left D2; Protein cookies favor D02 Logo Large Top Left D3; Protein powder favors D01 Logo Small Top Left D2.</a:t>
            </a:r>
          </a:p>
        </p:txBody>
      </p:sp>
      <p:sp>
        <p:nvSpPr>
          <p:cNvPr id="5" name="Rectangle 4"/>
          <p:cNvSpPr/>
          <p:nvPr/>
        </p:nvSpPr>
        <p:spPr>
          <a:xfrm>
            <a:off x="502920" y="1335024"/>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D_LOGO</a:t>
            </a:r>
          </a:p>
        </p:txBody>
      </p:sp>
      <p:sp>
        <p:nvSpPr>
          <p:cNvPr id="6" name="Rectangle 5"/>
          <p:cNvSpPr/>
          <p:nvPr/>
        </p:nvSpPr>
        <p:spPr>
          <a:xfrm>
            <a:off x="2167128"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74520"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8" name="Rectangle 7"/>
          <p:cNvSpPr/>
          <p:nvPr/>
        </p:nvSpPr>
        <p:spPr>
          <a:xfrm>
            <a:off x="3379469"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086861"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-5</a:t>
            </a:r>
          </a:p>
        </p:txBody>
      </p:sp>
      <p:sp>
        <p:nvSpPr>
          <p:cNvPr id="10" name="TextBox 9"/>
          <p:cNvSpPr txBox="1"/>
          <p:nvPr/>
        </p:nvSpPr>
        <p:spPr>
          <a:xfrm>
            <a:off x="4299203"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11" name="Rectangle 10"/>
          <p:cNvSpPr/>
          <p:nvPr/>
        </p:nvSpPr>
        <p:spPr>
          <a:xfrm>
            <a:off x="5804153"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11545"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5</a:t>
            </a:r>
          </a:p>
        </p:txBody>
      </p:sp>
      <p:sp>
        <p:nvSpPr>
          <p:cNvPr id="13" name="Rectangle 12"/>
          <p:cNvSpPr/>
          <p:nvPr/>
        </p:nvSpPr>
        <p:spPr>
          <a:xfrm>
            <a:off x="7016495"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23887"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15" name="Rectangle 14"/>
          <p:cNvSpPr/>
          <p:nvPr/>
        </p:nvSpPr>
        <p:spPr>
          <a:xfrm>
            <a:off x="4591811" y="1645920"/>
            <a:ext cx="10972" cy="30906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167128" y="4736592"/>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1805940"/>
            <a:ext cx="1554480" cy="452628"/>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D03 Logo Small</a:t>
            </a:r>
          </a:p>
          <a:p>
            <a:pPr algn="r">
              <a:spcBef>
                <a:spcPts val="0"/>
              </a:spcBef>
              <a:spcAft>
                <a:spcPts val="0"/>
              </a:spcAft>
            </a:pPr>
            <a:r>
              <a:rPr sz="1100" b="0" i="0">
                <a:solidFill>
                  <a:srgbClr val="1E2D44"/>
                </a:solidFill>
                <a:latin typeface="Karla"/>
              </a:rPr>
              <a:t>Upper Centre Right…</a:t>
            </a:r>
          </a:p>
        </p:txBody>
      </p:sp>
      <p:sp>
        <p:nvSpPr>
          <p:cNvPr id="18" name="Rectangle 17"/>
          <p:cNvSpPr/>
          <p:nvPr/>
        </p:nvSpPr>
        <p:spPr>
          <a:xfrm>
            <a:off x="4591811" y="1805940"/>
            <a:ext cx="2424683"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71359" y="1805940"/>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+10</a:t>
            </a:r>
          </a:p>
        </p:txBody>
      </p:sp>
      <p:sp>
        <p:nvSpPr>
          <p:cNvPr id="20" name="Rectangle 19"/>
          <p:cNvSpPr/>
          <p:nvPr/>
        </p:nvSpPr>
        <p:spPr>
          <a:xfrm>
            <a:off x="4591811" y="1929384"/>
            <a:ext cx="1212341"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859017" y="1929384"/>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+5</a:t>
            </a:r>
          </a:p>
        </p:txBody>
      </p:sp>
      <p:sp>
        <p:nvSpPr>
          <p:cNvPr id="22" name="Rectangle 21"/>
          <p:cNvSpPr/>
          <p:nvPr/>
        </p:nvSpPr>
        <p:spPr>
          <a:xfrm>
            <a:off x="4591811" y="2052828"/>
            <a:ext cx="1212341"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59017" y="2052828"/>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+5</a:t>
            </a:r>
          </a:p>
        </p:txBody>
      </p:sp>
      <p:sp>
        <p:nvSpPr>
          <p:cNvPr id="24" name="Rectangle 23"/>
          <p:cNvSpPr/>
          <p:nvPr/>
        </p:nvSpPr>
        <p:spPr>
          <a:xfrm>
            <a:off x="4591811" y="2176272"/>
            <a:ext cx="969873"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16549" y="2176272"/>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+4</a:t>
            </a:r>
          </a:p>
        </p:txBody>
      </p:sp>
      <p:sp>
        <p:nvSpPr>
          <p:cNvPr id="26" name="TextBox 25"/>
          <p:cNvSpPr txBox="1"/>
          <p:nvPr/>
        </p:nvSpPr>
        <p:spPr>
          <a:xfrm>
            <a:off x="502920" y="2578608"/>
            <a:ext cx="1554480" cy="452628"/>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D01 Logo Small Top</a:t>
            </a:r>
          </a:p>
          <a:p>
            <a:pPr algn="r">
              <a:spcBef>
                <a:spcPts val="0"/>
              </a:spcBef>
              <a:spcAft>
                <a:spcPts val="0"/>
              </a:spcAft>
            </a:pPr>
            <a:r>
              <a:rPr sz="1100" b="0" i="0">
                <a:solidFill>
                  <a:srgbClr val="1E2D44"/>
                </a:solidFill>
                <a:latin typeface="Karla"/>
              </a:rPr>
              <a:t>Left D2</a:t>
            </a:r>
          </a:p>
        </p:txBody>
      </p:sp>
      <p:sp>
        <p:nvSpPr>
          <p:cNvPr id="27" name="Rectangle 26"/>
          <p:cNvSpPr/>
          <p:nvPr/>
        </p:nvSpPr>
        <p:spPr>
          <a:xfrm>
            <a:off x="3137001" y="2578608"/>
            <a:ext cx="1454810"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624937" y="2578608"/>
            <a:ext cx="457200" cy="82296"/>
          </a:xfrm>
          <a:prstGeom prst="rect">
            <a:avLst/>
          </a:prstGeom>
          <a:noFill/>
        </p:spPr>
        <p:txBody>
          <a:bodyPr wrap="none" anchor="ctr" lIns="0" rIns="0" tIns="0" bIns="0"/>
          <a:lstStyle/>
          <a:p>
            <a:pPr algn="r">
              <a:spcBef>
                <a:spcPts val="0"/>
              </a:spcBef>
              <a:spcAft>
                <a:spcPts val="0"/>
              </a:spcAft>
            </a:pPr>
            <a:r>
              <a:rPr sz="1000" b="1" i="0">
                <a:solidFill>
                  <a:srgbClr val="1A2332"/>
                </a:solidFill>
                <a:latin typeface="Karla"/>
              </a:rPr>
              <a:t>-6</a:t>
            </a:r>
          </a:p>
        </p:txBody>
      </p:sp>
      <p:sp>
        <p:nvSpPr>
          <p:cNvPr id="29" name="Rectangle 28"/>
          <p:cNvSpPr/>
          <p:nvPr/>
        </p:nvSpPr>
        <p:spPr>
          <a:xfrm>
            <a:off x="4591811" y="2702052"/>
            <a:ext cx="1212341"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859017" y="2702052"/>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+5</a:t>
            </a:r>
          </a:p>
        </p:txBody>
      </p:sp>
      <p:sp>
        <p:nvSpPr>
          <p:cNvPr id="31" name="Rectangle 30"/>
          <p:cNvSpPr/>
          <p:nvPr/>
        </p:nvSpPr>
        <p:spPr>
          <a:xfrm>
            <a:off x="4591811" y="2825496"/>
            <a:ext cx="727405"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374081" y="2825496"/>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+3</a:t>
            </a:r>
          </a:p>
        </p:txBody>
      </p:sp>
      <p:sp>
        <p:nvSpPr>
          <p:cNvPr id="33" name="Rectangle 32"/>
          <p:cNvSpPr/>
          <p:nvPr/>
        </p:nvSpPr>
        <p:spPr>
          <a:xfrm>
            <a:off x="4591811" y="2948939"/>
            <a:ext cx="1697278"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43954" y="2948939"/>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+7</a:t>
            </a:r>
          </a:p>
        </p:txBody>
      </p:sp>
      <p:sp>
        <p:nvSpPr>
          <p:cNvPr id="35" name="TextBox 34"/>
          <p:cNvSpPr txBox="1"/>
          <p:nvPr/>
        </p:nvSpPr>
        <p:spPr>
          <a:xfrm>
            <a:off x="502920" y="3351276"/>
            <a:ext cx="1554480" cy="452628"/>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D02 Logo Large Top</a:t>
            </a:r>
          </a:p>
          <a:p>
            <a:pPr algn="r">
              <a:spcBef>
                <a:spcPts val="0"/>
              </a:spcBef>
              <a:spcAft>
                <a:spcPts val="0"/>
              </a:spcAft>
            </a:pPr>
            <a:r>
              <a:rPr sz="1100" b="0" i="0">
                <a:solidFill>
                  <a:srgbClr val="1E2D44"/>
                </a:solidFill>
                <a:latin typeface="Karla"/>
              </a:rPr>
              <a:t>Left D3</a:t>
            </a:r>
          </a:p>
        </p:txBody>
      </p:sp>
      <p:sp>
        <p:nvSpPr>
          <p:cNvPr id="36" name="Rectangle 35"/>
          <p:cNvSpPr/>
          <p:nvPr/>
        </p:nvSpPr>
        <p:spPr>
          <a:xfrm>
            <a:off x="2409596" y="3351276"/>
            <a:ext cx="2182215"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167128" y="3351276"/>
            <a:ext cx="457200" cy="82296"/>
          </a:xfrm>
          <a:prstGeom prst="rect">
            <a:avLst/>
          </a:prstGeom>
          <a:noFill/>
        </p:spPr>
        <p:txBody>
          <a:bodyPr wrap="none" anchor="ctr" lIns="0" rIns="0" tIns="0" bIns="0"/>
          <a:lstStyle/>
          <a:p>
            <a:pPr algn="r">
              <a:spcBef>
                <a:spcPts val="0"/>
              </a:spcBef>
              <a:spcAft>
                <a:spcPts val="0"/>
              </a:spcAft>
            </a:pPr>
            <a:r>
              <a:rPr sz="1000" b="1" i="0">
                <a:solidFill>
                  <a:srgbClr val="1A2332"/>
                </a:solidFill>
                <a:latin typeface="Karla"/>
              </a:rPr>
              <a:t>-9</a:t>
            </a:r>
          </a:p>
        </p:txBody>
      </p:sp>
      <p:sp>
        <p:nvSpPr>
          <p:cNvPr id="38" name="Rectangle 37"/>
          <p:cNvSpPr/>
          <p:nvPr/>
        </p:nvSpPr>
        <p:spPr>
          <a:xfrm>
            <a:off x="4591811" y="3474720"/>
            <a:ext cx="727405"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374081" y="3474720"/>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+3</a:t>
            </a:r>
          </a:p>
        </p:txBody>
      </p:sp>
      <p:sp>
        <p:nvSpPr>
          <p:cNvPr id="40" name="Rectangle 39"/>
          <p:cNvSpPr/>
          <p:nvPr/>
        </p:nvSpPr>
        <p:spPr>
          <a:xfrm>
            <a:off x="4591811" y="3598164"/>
            <a:ext cx="1454810"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101486" y="3598164"/>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+6</a:t>
            </a:r>
          </a:p>
        </p:txBody>
      </p:sp>
      <p:sp>
        <p:nvSpPr>
          <p:cNvPr id="42" name="Rectangle 41"/>
          <p:cNvSpPr/>
          <p:nvPr/>
        </p:nvSpPr>
        <p:spPr>
          <a:xfrm>
            <a:off x="4591811" y="3721608"/>
            <a:ext cx="1697278"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343954" y="3721608"/>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+7</a:t>
            </a:r>
          </a:p>
        </p:txBody>
      </p:sp>
      <p:sp>
        <p:nvSpPr>
          <p:cNvPr id="44" name="TextBox 43"/>
          <p:cNvSpPr txBox="1"/>
          <p:nvPr/>
        </p:nvSpPr>
        <p:spPr>
          <a:xfrm>
            <a:off x="502920" y="4123944"/>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D04 Logo Large Upper</a:t>
            </a:r>
          </a:p>
          <a:p>
            <a:pPr algn="r">
              <a:spcBef>
                <a:spcPts val="0"/>
              </a:spcBef>
              <a:spcAft>
                <a:spcPts val="0"/>
              </a:spcAft>
            </a:pPr>
            <a:r>
              <a:rPr sz="1000" b="0" i="0">
                <a:solidFill>
                  <a:srgbClr val="1E2D44"/>
                </a:solidFill>
                <a:latin typeface="Karla"/>
              </a:rPr>
              <a:t>Centre Right D1…</a:t>
            </a:r>
          </a:p>
        </p:txBody>
      </p:sp>
      <p:sp>
        <p:nvSpPr>
          <p:cNvPr id="45" name="Rectangle 44"/>
          <p:cNvSpPr/>
          <p:nvPr/>
        </p:nvSpPr>
        <p:spPr>
          <a:xfrm>
            <a:off x="4591811" y="4123944"/>
            <a:ext cx="1697278"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343954" y="4123944"/>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+7</a:t>
            </a:r>
          </a:p>
        </p:txBody>
      </p:sp>
      <p:sp>
        <p:nvSpPr>
          <p:cNvPr id="47" name="Rectangle 46"/>
          <p:cNvSpPr/>
          <p:nvPr/>
        </p:nvSpPr>
        <p:spPr>
          <a:xfrm>
            <a:off x="4591811" y="4247388"/>
            <a:ext cx="727405"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374081" y="4247388"/>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+3</a:t>
            </a:r>
          </a:p>
        </p:txBody>
      </p:sp>
      <p:sp>
        <p:nvSpPr>
          <p:cNvPr id="49" name="Rectangle 48"/>
          <p:cNvSpPr/>
          <p:nvPr/>
        </p:nvSpPr>
        <p:spPr>
          <a:xfrm>
            <a:off x="4591811" y="4370831"/>
            <a:ext cx="727405"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374081" y="4370831"/>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+3</a:t>
            </a:r>
          </a:p>
        </p:txBody>
      </p:sp>
      <p:sp>
        <p:nvSpPr>
          <p:cNvPr id="51" name="Rectangle 50"/>
          <p:cNvSpPr/>
          <p:nvPr/>
        </p:nvSpPr>
        <p:spPr>
          <a:xfrm>
            <a:off x="4591811" y="4494276"/>
            <a:ext cx="484936"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131612" y="4494276"/>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+2</a:t>
            </a:r>
          </a:p>
        </p:txBody>
      </p:sp>
      <p:sp>
        <p:nvSpPr>
          <p:cNvPr id="53" name="Rectangle 52"/>
          <p:cNvSpPr/>
          <p:nvPr/>
        </p:nvSpPr>
        <p:spPr>
          <a:xfrm>
            <a:off x="823975" y="5161788"/>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97711" y="5102352"/>
            <a:ext cx="149352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Other (basesize = 10)</a:t>
            </a:r>
          </a:p>
        </p:txBody>
      </p:sp>
      <p:sp>
        <p:nvSpPr>
          <p:cNvPr id="55" name="Rectangle 54"/>
          <p:cNvSpPr/>
          <p:nvPr/>
        </p:nvSpPr>
        <p:spPr>
          <a:xfrm>
            <a:off x="2747263" y="5161788"/>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920999" y="5102352"/>
            <a:ext cx="199136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Protein bars (basesize = 52)</a:t>
            </a:r>
          </a:p>
        </p:txBody>
      </p:sp>
      <p:sp>
        <p:nvSpPr>
          <p:cNvPr id="57" name="Rectangle 56"/>
          <p:cNvSpPr/>
          <p:nvPr/>
        </p:nvSpPr>
        <p:spPr>
          <a:xfrm>
            <a:off x="5168391" y="5161788"/>
            <a:ext cx="100584" cy="10058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342127" y="5102352"/>
            <a:ext cx="220472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Protein cookies (basesize = 80)</a:t>
            </a:r>
          </a:p>
        </p:txBody>
      </p:sp>
      <p:sp>
        <p:nvSpPr>
          <p:cNvPr id="59" name="Rectangle 58"/>
          <p:cNvSpPr/>
          <p:nvPr/>
        </p:nvSpPr>
        <p:spPr>
          <a:xfrm>
            <a:off x="3473703" y="5381244"/>
            <a:ext cx="100584" cy="100584"/>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647439" y="5321808"/>
            <a:ext cx="206248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Protein powder (basesize = 8)</a:t>
            </a:r>
          </a:p>
        </p:txBody>
      </p:sp>
      <p:sp>
        <p:nvSpPr>
          <p:cNvPr id="61" name="Rounded Rectangle 60"/>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7935467" y="617280"/>
            <a:ext cx="1709927" cy="1325758"/>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3" name="Picture 62" descr="D3.png"/>
          <p:cNvPicPr>
            <a:picLocks noChangeAspect="1"/>
          </p:cNvPicPr>
          <p:nvPr/>
        </p:nvPicPr>
        <p:blipFill>
          <a:blip r:embed="rId2"/>
          <a:stretch>
            <a:fillRect/>
          </a:stretch>
        </p:blipFill>
        <p:spPr>
          <a:xfrm>
            <a:off x="7949183" y="630996"/>
            <a:ext cx="1682495" cy="1298326"/>
          </a:xfrm>
          <a:prstGeom prst="rect">
            <a:avLst/>
          </a:prstGeom>
        </p:spPr>
      </p:pic>
      <p:sp>
        <p:nvSpPr>
          <p:cNvPr id="64" name="TextBox 63"/>
          <p:cNvSpPr txBox="1"/>
          <p:nvPr/>
        </p:nvSpPr>
        <p:spPr>
          <a:xfrm>
            <a:off x="7912607" y="1984187"/>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D03 Logo Small</a:t>
            </a:r>
          </a:p>
          <a:p>
            <a:pPr algn="ctr">
              <a:spcBef>
                <a:spcPts val="0"/>
              </a:spcBef>
              <a:spcAft>
                <a:spcPts val="0"/>
              </a:spcAft>
            </a:pPr>
            <a:r>
              <a:rPr sz="1200" b="0" i="0">
                <a:solidFill>
                  <a:srgbClr val="1E2D44"/>
                </a:solidFill>
                <a:latin typeface="Karla"/>
              </a:rPr>
              <a:t>Upper Centre Right…</a:t>
            </a:r>
          </a:p>
        </p:txBody>
      </p:sp>
      <p:sp>
        <p:nvSpPr>
          <p:cNvPr id="65" name="TextBox 64"/>
          <p:cNvSpPr txBox="1"/>
          <p:nvPr/>
        </p:nvSpPr>
        <p:spPr>
          <a:xfrm>
            <a:off x="7912607" y="2349947"/>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+6*</a:t>
            </a:r>
          </a:p>
        </p:txBody>
      </p:sp>
      <p:sp>
        <p:nvSpPr>
          <p:cNvPr id="66" name="Rectangle 65"/>
          <p:cNvSpPr/>
          <p:nvPr/>
        </p:nvSpPr>
        <p:spPr>
          <a:xfrm>
            <a:off x="9855707" y="617280"/>
            <a:ext cx="1709927" cy="1325758"/>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7" name="Picture 66" descr="D1.png"/>
          <p:cNvPicPr>
            <a:picLocks noChangeAspect="1"/>
          </p:cNvPicPr>
          <p:nvPr/>
        </p:nvPicPr>
        <p:blipFill>
          <a:blip r:embed="rId3"/>
          <a:stretch>
            <a:fillRect/>
          </a:stretch>
        </p:blipFill>
        <p:spPr>
          <a:xfrm>
            <a:off x="9869423" y="630996"/>
            <a:ext cx="1682495" cy="1298326"/>
          </a:xfrm>
          <a:prstGeom prst="rect">
            <a:avLst/>
          </a:prstGeom>
        </p:spPr>
      </p:pic>
      <p:sp>
        <p:nvSpPr>
          <p:cNvPr id="68" name="TextBox 67"/>
          <p:cNvSpPr txBox="1"/>
          <p:nvPr/>
        </p:nvSpPr>
        <p:spPr>
          <a:xfrm>
            <a:off x="9832847" y="1984187"/>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D01 Logo Small Top</a:t>
            </a:r>
          </a:p>
          <a:p>
            <a:pPr algn="ctr">
              <a:spcBef>
                <a:spcPts val="0"/>
              </a:spcBef>
              <a:spcAft>
                <a:spcPts val="0"/>
              </a:spcAft>
            </a:pPr>
            <a:r>
              <a:rPr sz="1200" b="0" i="0">
                <a:solidFill>
                  <a:srgbClr val="1E2D44"/>
                </a:solidFill>
                <a:latin typeface="Karla"/>
              </a:rPr>
              <a:t>Left D2</a:t>
            </a:r>
          </a:p>
        </p:txBody>
      </p:sp>
      <p:sp>
        <p:nvSpPr>
          <p:cNvPr id="69" name="TextBox 68"/>
          <p:cNvSpPr txBox="1"/>
          <p:nvPr/>
        </p:nvSpPr>
        <p:spPr>
          <a:xfrm>
            <a:off x="9832847" y="2349947"/>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+2*</a:t>
            </a:r>
          </a:p>
        </p:txBody>
      </p:sp>
      <p:sp>
        <p:nvSpPr>
          <p:cNvPr id="70" name="Rectangle 69"/>
          <p:cNvSpPr/>
          <p:nvPr/>
        </p:nvSpPr>
        <p:spPr>
          <a:xfrm>
            <a:off x="7935467" y="3177600"/>
            <a:ext cx="1709927" cy="1325758"/>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1" name="Picture 70" descr="D2.png"/>
          <p:cNvPicPr>
            <a:picLocks noChangeAspect="1"/>
          </p:cNvPicPr>
          <p:nvPr/>
        </p:nvPicPr>
        <p:blipFill>
          <a:blip r:embed="rId4"/>
          <a:stretch>
            <a:fillRect/>
          </a:stretch>
        </p:blipFill>
        <p:spPr>
          <a:xfrm>
            <a:off x="7949183" y="3191316"/>
            <a:ext cx="1682495" cy="1298326"/>
          </a:xfrm>
          <a:prstGeom prst="rect">
            <a:avLst/>
          </a:prstGeom>
        </p:spPr>
      </p:pic>
      <p:sp>
        <p:nvSpPr>
          <p:cNvPr id="72" name="TextBox 71"/>
          <p:cNvSpPr txBox="1"/>
          <p:nvPr/>
        </p:nvSpPr>
        <p:spPr>
          <a:xfrm>
            <a:off x="7912607" y="4544507"/>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D02 Logo Large Top</a:t>
            </a:r>
          </a:p>
          <a:p>
            <a:pPr algn="ctr">
              <a:spcBef>
                <a:spcPts val="0"/>
              </a:spcBef>
              <a:spcAft>
                <a:spcPts val="0"/>
              </a:spcAft>
            </a:pPr>
            <a:r>
              <a:rPr sz="1200" b="0" i="0">
                <a:solidFill>
                  <a:srgbClr val="1E2D44"/>
                </a:solidFill>
                <a:latin typeface="Karla"/>
              </a:rPr>
              <a:t>Left D3</a:t>
            </a:r>
          </a:p>
        </p:txBody>
      </p:sp>
      <p:sp>
        <p:nvSpPr>
          <p:cNvPr id="73" name="TextBox 72"/>
          <p:cNvSpPr txBox="1"/>
          <p:nvPr/>
        </p:nvSpPr>
        <p:spPr>
          <a:xfrm>
            <a:off x="7912607" y="4910267"/>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+2*</a:t>
            </a:r>
          </a:p>
        </p:txBody>
      </p:sp>
      <p:sp>
        <p:nvSpPr>
          <p:cNvPr id="74" name="Rectangle 73"/>
          <p:cNvSpPr/>
          <p:nvPr/>
        </p:nvSpPr>
        <p:spPr>
          <a:xfrm>
            <a:off x="9855707" y="3177600"/>
            <a:ext cx="1709927" cy="1325758"/>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5" name="Picture 74" descr="D4.png"/>
          <p:cNvPicPr>
            <a:picLocks noChangeAspect="1"/>
          </p:cNvPicPr>
          <p:nvPr/>
        </p:nvPicPr>
        <p:blipFill>
          <a:blip r:embed="rId5"/>
          <a:stretch>
            <a:fillRect/>
          </a:stretch>
        </p:blipFill>
        <p:spPr>
          <a:xfrm>
            <a:off x="9869423" y="3191316"/>
            <a:ext cx="1682495" cy="1298326"/>
          </a:xfrm>
          <a:prstGeom prst="rect">
            <a:avLst/>
          </a:prstGeom>
        </p:spPr>
      </p:pic>
      <p:sp>
        <p:nvSpPr>
          <p:cNvPr id="76" name="TextBox 75"/>
          <p:cNvSpPr txBox="1"/>
          <p:nvPr/>
        </p:nvSpPr>
        <p:spPr>
          <a:xfrm>
            <a:off x="9832847" y="4544507"/>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D04 Logo Large</a:t>
            </a:r>
          </a:p>
          <a:p>
            <a:pPr algn="ctr">
              <a:spcBef>
                <a:spcPts val="0"/>
              </a:spcBef>
              <a:spcAft>
                <a:spcPts val="0"/>
              </a:spcAft>
            </a:pPr>
            <a:r>
              <a:rPr sz="1200" b="0" i="0">
                <a:solidFill>
                  <a:srgbClr val="1E2D44"/>
                </a:solidFill>
                <a:latin typeface="Karla"/>
              </a:rPr>
              <a:t>Upper Centre Right…</a:t>
            </a:r>
          </a:p>
        </p:txBody>
      </p:sp>
      <p:sp>
        <p:nvSpPr>
          <p:cNvPr id="77" name="TextBox 76"/>
          <p:cNvSpPr txBox="1"/>
          <p:nvPr/>
        </p:nvSpPr>
        <p:spPr>
          <a:xfrm>
            <a:off x="9832847" y="4910267"/>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+4*</a:t>
            </a:r>
          </a:p>
        </p:txBody>
      </p:sp>
      <p:sp>
        <p:nvSpPr>
          <p:cNvPr id="78" name="Rounded Rectangle 77"/>
          <p:cNvSpPr/>
          <p:nvPr/>
        </p:nvSpPr>
        <p:spPr>
          <a:xfrm>
            <a:off x="502920" y="5632704"/>
            <a:ext cx="11268455" cy="676656"/>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200" b="0">
                <a:solidFill>
                  <a:srgbClr val="1E2D44"/>
                </a:solidFill>
                <a:latin typeface="Karla"/>
              </a:rPr>
              <a:t>Other favors D03 Logo Small Upper Centre Right D1; Protein bars favor D01 Logo Small Top Left D2; Protein cookies favor D02 Logo Large Top Left D3; Protein powder favors D01 Logo Small Top Left D2. The widest segment gap is D02 Logo Large Top Left D3: -9 other / +3 protein bars / +6 protein cookies / +7 protein powder.</a:t>
            </a:r>
          </a:p>
        </p:txBody>
      </p:sp>
      <p:sp>
        <p:nvSpPr>
          <p:cNvPr id="79" name="Rectangle 78"/>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Top-2 scores rounded to whole points. *Average of the groups in the legend.</a:t>
            </a:r>
          </a:p>
        </p:txBody>
      </p:sp>
      <p:sp>
        <p:nvSpPr>
          <p:cNvPr id="81" name="TextBox 80"/>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37744"/>
            <a:ext cx="7043927" cy="182880"/>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KEY FINDINGS: D_LOGO  ·  How familiar are you with the Fitspo brand?</a:t>
            </a:r>
          </a:p>
        </p:txBody>
      </p:sp>
      <p:sp>
        <p:nvSpPr>
          <p:cNvPr id="3" name="TextBox 2"/>
          <p:cNvSpPr txBox="1"/>
          <p:nvPr/>
        </p:nvSpPr>
        <p:spPr>
          <a:xfrm>
            <a:off x="502920" y="438912"/>
            <a:ext cx="7043927" cy="365760"/>
          </a:xfrm>
          <a:prstGeom prst="rect">
            <a:avLst/>
          </a:prstGeom>
          <a:noFill/>
        </p:spPr>
        <p:txBody>
          <a:bodyPr wrap="square" anchor="t" lIns="0" rIns="0" tIns="0" bIns="0"/>
          <a:lstStyle/>
          <a:p>
            <a:pPr algn="l">
              <a:spcBef>
                <a:spcPts val="0"/>
              </a:spcBef>
              <a:spcAft>
                <a:spcPts val="0"/>
              </a:spcAft>
            </a:pPr>
            <a:r>
              <a:rPr sz="2600" b="1" i="0">
                <a:solidFill>
                  <a:srgbClr val="1E2D44"/>
                </a:solidFill>
                <a:latin typeface="Karla"/>
              </a:rPr>
              <a:t>D_Logo splits across the groups</a:t>
            </a:r>
          </a:p>
        </p:txBody>
      </p:sp>
      <p:sp>
        <p:nvSpPr>
          <p:cNvPr id="4" name="TextBox 3"/>
          <p:cNvSpPr txBox="1"/>
          <p:nvPr/>
        </p:nvSpPr>
        <p:spPr>
          <a:xfrm>
            <a:off x="502920" y="822960"/>
            <a:ext cx="7043927" cy="475488"/>
          </a:xfrm>
          <a:prstGeom prst="rect">
            <a:avLst/>
          </a:prstGeom>
          <a:noFill/>
        </p:spPr>
        <p:txBody>
          <a:bodyPr wrap="square" anchor="t" lIns="0" rIns="0" tIns="0" bIns="0"/>
          <a:lstStyle/>
          <a:p>
            <a:pPr algn="l">
              <a:spcBef>
                <a:spcPts val="0"/>
              </a:spcBef>
              <a:spcAft>
                <a:spcPts val="0"/>
              </a:spcAft>
            </a:pPr>
            <a:r>
              <a:rPr sz="1200" b="0" i="0">
                <a:solidFill>
                  <a:srgbClr val="617086"/>
                </a:solidFill>
                <a:latin typeface="Karla"/>
              </a:rPr>
              <a:t>Heard of it, but know little about it favors D01 Logo Small Top Left D2; Not familiar at all favors D01 Logo Small Top Left D2; Somewhat familiar favors D02 Logo Large Top Left D3; Very familiar favors D03 Logo Small Upper Centre Right D1.</a:t>
            </a:r>
          </a:p>
        </p:txBody>
      </p:sp>
      <p:sp>
        <p:nvSpPr>
          <p:cNvPr id="5" name="Rectangle 4"/>
          <p:cNvSpPr/>
          <p:nvPr/>
        </p:nvSpPr>
        <p:spPr>
          <a:xfrm>
            <a:off x="502920" y="1335024"/>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D_LOGO</a:t>
            </a:r>
          </a:p>
        </p:txBody>
      </p:sp>
      <p:sp>
        <p:nvSpPr>
          <p:cNvPr id="6" name="TextBox 5"/>
          <p:cNvSpPr txBox="1"/>
          <p:nvPr/>
        </p:nvSpPr>
        <p:spPr>
          <a:xfrm>
            <a:off x="1874520"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7" name="Rectangle 6"/>
          <p:cNvSpPr/>
          <p:nvPr/>
        </p:nvSpPr>
        <p:spPr>
          <a:xfrm>
            <a:off x="4591811"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99203"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5</a:t>
            </a:r>
          </a:p>
        </p:txBody>
      </p:sp>
      <p:sp>
        <p:nvSpPr>
          <p:cNvPr id="9" name="Rectangle 8"/>
          <p:cNvSpPr/>
          <p:nvPr/>
        </p:nvSpPr>
        <p:spPr>
          <a:xfrm>
            <a:off x="7016495"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23887"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11" name="Rectangle 10"/>
          <p:cNvSpPr/>
          <p:nvPr/>
        </p:nvSpPr>
        <p:spPr>
          <a:xfrm>
            <a:off x="2167128" y="1645920"/>
            <a:ext cx="10972" cy="30906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167128" y="4736592"/>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1805940"/>
            <a:ext cx="1554480" cy="452628"/>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D01 Logo Small Top</a:t>
            </a:r>
          </a:p>
          <a:p>
            <a:pPr algn="r">
              <a:spcBef>
                <a:spcPts val="0"/>
              </a:spcBef>
              <a:spcAft>
                <a:spcPts val="0"/>
              </a:spcAft>
            </a:pPr>
            <a:r>
              <a:rPr sz="1100" b="0" i="0">
                <a:solidFill>
                  <a:srgbClr val="1E2D44"/>
                </a:solidFill>
                <a:latin typeface="Karla"/>
              </a:rPr>
              <a:t>Left D2</a:t>
            </a:r>
          </a:p>
        </p:txBody>
      </p:sp>
      <p:sp>
        <p:nvSpPr>
          <p:cNvPr id="14" name="Rectangle 13"/>
          <p:cNvSpPr/>
          <p:nvPr/>
        </p:nvSpPr>
        <p:spPr>
          <a:xfrm>
            <a:off x="2167128" y="1805940"/>
            <a:ext cx="4849367"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71359" y="1805940"/>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+10</a:t>
            </a:r>
          </a:p>
        </p:txBody>
      </p:sp>
      <p:sp>
        <p:nvSpPr>
          <p:cNvPr id="16" name="Rectangle 15"/>
          <p:cNvSpPr/>
          <p:nvPr/>
        </p:nvSpPr>
        <p:spPr>
          <a:xfrm>
            <a:off x="2167128" y="1929384"/>
            <a:ext cx="1454810"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76802" y="1929384"/>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+3</a:t>
            </a:r>
          </a:p>
        </p:txBody>
      </p:sp>
      <p:sp>
        <p:nvSpPr>
          <p:cNvPr id="18" name="Rectangle 17"/>
          <p:cNvSpPr/>
          <p:nvPr/>
        </p:nvSpPr>
        <p:spPr>
          <a:xfrm>
            <a:off x="2167128" y="2052828"/>
            <a:ext cx="1454810"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76802" y="2052828"/>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+3</a:t>
            </a:r>
          </a:p>
        </p:txBody>
      </p:sp>
      <p:sp>
        <p:nvSpPr>
          <p:cNvPr id="20" name="Rectangle 19"/>
          <p:cNvSpPr/>
          <p:nvPr/>
        </p:nvSpPr>
        <p:spPr>
          <a:xfrm>
            <a:off x="2167128" y="2176272"/>
            <a:ext cx="969873"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191865" y="2176272"/>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+2</a:t>
            </a:r>
          </a:p>
        </p:txBody>
      </p:sp>
      <p:sp>
        <p:nvSpPr>
          <p:cNvPr id="22" name="TextBox 21"/>
          <p:cNvSpPr txBox="1"/>
          <p:nvPr/>
        </p:nvSpPr>
        <p:spPr>
          <a:xfrm>
            <a:off x="502920" y="2578608"/>
            <a:ext cx="1554480" cy="452628"/>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D03 Logo Small</a:t>
            </a:r>
          </a:p>
          <a:p>
            <a:pPr algn="r">
              <a:spcBef>
                <a:spcPts val="0"/>
              </a:spcBef>
              <a:spcAft>
                <a:spcPts val="0"/>
              </a:spcAft>
            </a:pPr>
            <a:r>
              <a:rPr sz="1100" b="0" i="0">
                <a:solidFill>
                  <a:srgbClr val="1E2D44"/>
                </a:solidFill>
                <a:latin typeface="Karla"/>
              </a:rPr>
              <a:t>Upper Centre Right…</a:t>
            </a:r>
          </a:p>
        </p:txBody>
      </p:sp>
      <p:sp>
        <p:nvSpPr>
          <p:cNvPr id="23" name="Rectangle 22"/>
          <p:cNvSpPr/>
          <p:nvPr/>
        </p:nvSpPr>
        <p:spPr>
          <a:xfrm>
            <a:off x="2167128" y="2578608"/>
            <a:ext cx="2424683"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646675" y="2578608"/>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+5</a:t>
            </a:r>
          </a:p>
        </p:txBody>
      </p:sp>
      <p:sp>
        <p:nvSpPr>
          <p:cNvPr id="25" name="Rectangle 24"/>
          <p:cNvSpPr/>
          <p:nvPr/>
        </p:nvSpPr>
        <p:spPr>
          <a:xfrm>
            <a:off x="2167128" y="2702052"/>
            <a:ext cx="484936"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706928" y="2702052"/>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a:t>
            </a:r>
          </a:p>
        </p:txBody>
      </p:sp>
      <p:sp>
        <p:nvSpPr>
          <p:cNvPr id="27" name="Rectangle 26"/>
          <p:cNvSpPr/>
          <p:nvPr/>
        </p:nvSpPr>
        <p:spPr>
          <a:xfrm>
            <a:off x="2167128" y="2825496"/>
            <a:ext cx="1939747"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161739" y="2825496"/>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+4</a:t>
            </a:r>
          </a:p>
        </p:txBody>
      </p:sp>
      <p:sp>
        <p:nvSpPr>
          <p:cNvPr id="29" name="Rectangle 28"/>
          <p:cNvSpPr/>
          <p:nvPr/>
        </p:nvSpPr>
        <p:spPr>
          <a:xfrm>
            <a:off x="2167128" y="2948939"/>
            <a:ext cx="3879494"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101486" y="2948939"/>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+8</a:t>
            </a:r>
          </a:p>
        </p:txBody>
      </p:sp>
      <p:sp>
        <p:nvSpPr>
          <p:cNvPr id="31" name="TextBox 30"/>
          <p:cNvSpPr txBox="1"/>
          <p:nvPr/>
        </p:nvSpPr>
        <p:spPr>
          <a:xfrm>
            <a:off x="502920" y="3351276"/>
            <a:ext cx="1554480" cy="452628"/>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D02 Logo Large Top</a:t>
            </a:r>
          </a:p>
          <a:p>
            <a:pPr algn="r">
              <a:spcBef>
                <a:spcPts val="0"/>
              </a:spcBef>
              <a:spcAft>
                <a:spcPts val="0"/>
              </a:spcAft>
            </a:pPr>
            <a:r>
              <a:rPr sz="1100" b="0" i="0">
                <a:solidFill>
                  <a:srgbClr val="1E2D44"/>
                </a:solidFill>
                <a:latin typeface="Karla"/>
              </a:rPr>
              <a:t>Left D3</a:t>
            </a:r>
          </a:p>
        </p:txBody>
      </p:sp>
      <p:sp>
        <p:nvSpPr>
          <p:cNvPr id="32" name="Rectangle 31"/>
          <p:cNvSpPr/>
          <p:nvPr/>
        </p:nvSpPr>
        <p:spPr>
          <a:xfrm>
            <a:off x="2167128" y="3351276"/>
            <a:ext cx="3394557"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616549" y="3351276"/>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+7</a:t>
            </a:r>
          </a:p>
        </p:txBody>
      </p:sp>
      <p:sp>
        <p:nvSpPr>
          <p:cNvPr id="34" name="Rectangle 33"/>
          <p:cNvSpPr/>
          <p:nvPr/>
        </p:nvSpPr>
        <p:spPr>
          <a:xfrm>
            <a:off x="2167128" y="3474720"/>
            <a:ext cx="969873"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191865" y="3474720"/>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+2</a:t>
            </a:r>
          </a:p>
        </p:txBody>
      </p:sp>
      <p:sp>
        <p:nvSpPr>
          <p:cNvPr id="36" name="Rectangle 35"/>
          <p:cNvSpPr/>
          <p:nvPr/>
        </p:nvSpPr>
        <p:spPr>
          <a:xfrm>
            <a:off x="2167128" y="3598164"/>
            <a:ext cx="1939747"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161739" y="3598164"/>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+4</a:t>
            </a:r>
          </a:p>
        </p:txBody>
      </p:sp>
      <p:sp>
        <p:nvSpPr>
          <p:cNvPr id="38" name="Rectangle 37"/>
          <p:cNvSpPr/>
          <p:nvPr/>
        </p:nvSpPr>
        <p:spPr>
          <a:xfrm>
            <a:off x="2167128" y="3721608"/>
            <a:ext cx="2424683"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646675" y="3721608"/>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+5</a:t>
            </a:r>
          </a:p>
        </p:txBody>
      </p:sp>
      <p:sp>
        <p:nvSpPr>
          <p:cNvPr id="40" name="TextBox 39"/>
          <p:cNvSpPr txBox="1"/>
          <p:nvPr/>
        </p:nvSpPr>
        <p:spPr>
          <a:xfrm>
            <a:off x="502920" y="4123944"/>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D04 Logo Large Upper</a:t>
            </a:r>
          </a:p>
          <a:p>
            <a:pPr algn="r">
              <a:spcBef>
                <a:spcPts val="0"/>
              </a:spcBef>
              <a:spcAft>
                <a:spcPts val="0"/>
              </a:spcAft>
            </a:pPr>
            <a:r>
              <a:rPr sz="1000" b="0" i="0">
                <a:solidFill>
                  <a:srgbClr val="1E2D44"/>
                </a:solidFill>
                <a:latin typeface="Karla"/>
              </a:rPr>
              <a:t>Centre Right D1…</a:t>
            </a:r>
          </a:p>
        </p:txBody>
      </p:sp>
      <p:sp>
        <p:nvSpPr>
          <p:cNvPr id="41" name="Rectangle 40"/>
          <p:cNvSpPr/>
          <p:nvPr/>
        </p:nvSpPr>
        <p:spPr>
          <a:xfrm>
            <a:off x="2167128" y="4123944"/>
            <a:ext cx="2909620"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131612" y="4123944"/>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+6</a:t>
            </a:r>
          </a:p>
        </p:txBody>
      </p:sp>
      <p:sp>
        <p:nvSpPr>
          <p:cNvPr id="43" name="Rectangle 42"/>
          <p:cNvSpPr/>
          <p:nvPr/>
        </p:nvSpPr>
        <p:spPr>
          <a:xfrm>
            <a:off x="2167128" y="4247388"/>
            <a:ext cx="27432"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221992" y="4247388"/>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0</a:t>
            </a:r>
          </a:p>
        </p:txBody>
      </p:sp>
      <p:sp>
        <p:nvSpPr>
          <p:cNvPr id="45" name="Rectangle 44"/>
          <p:cNvSpPr/>
          <p:nvPr/>
        </p:nvSpPr>
        <p:spPr>
          <a:xfrm>
            <a:off x="2167128" y="4370831"/>
            <a:ext cx="484936"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706928" y="4370831"/>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a:t>
            </a:r>
          </a:p>
        </p:txBody>
      </p:sp>
      <p:sp>
        <p:nvSpPr>
          <p:cNvPr id="47" name="Rectangle 46"/>
          <p:cNvSpPr/>
          <p:nvPr/>
        </p:nvSpPr>
        <p:spPr>
          <a:xfrm>
            <a:off x="2167128" y="4494276"/>
            <a:ext cx="1939747"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161739" y="4494276"/>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+4</a:t>
            </a:r>
          </a:p>
        </p:txBody>
      </p:sp>
      <p:sp>
        <p:nvSpPr>
          <p:cNvPr id="49" name="Rectangle 48"/>
          <p:cNvSpPr/>
          <p:nvPr/>
        </p:nvSpPr>
        <p:spPr>
          <a:xfrm>
            <a:off x="684783" y="5161788"/>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58519" y="5102352"/>
            <a:ext cx="376936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Heard of it, but know little about it (basesize = 22)</a:t>
            </a:r>
          </a:p>
        </p:txBody>
      </p:sp>
      <p:sp>
        <p:nvSpPr>
          <p:cNvPr id="51" name="Rectangle 50"/>
          <p:cNvSpPr/>
          <p:nvPr/>
        </p:nvSpPr>
        <p:spPr>
          <a:xfrm>
            <a:off x="4883911" y="5161788"/>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057647" y="5102352"/>
            <a:ext cx="248920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Not familiar at all (basesize = 25)</a:t>
            </a:r>
          </a:p>
        </p:txBody>
      </p:sp>
      <p:sp>
        <p:nvSpPr>
          <p:cNvPr id="53" name="Rectangle 52"/>
          <p:cNvSpPr/>
          <p:nvPr/>
        </p:nvSpPr>
        <p:spPr>
          <a:xfrm>
            <a:off x="2085339" y="5381244"/>
            <a:ext cx="100584" cy="10058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2259075" y="5321808"/>
            <a:ext cx="234696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Somewhat familiar (basesize = 49)</a:t>
            </a:r>
          </a:p>
        </p:txBody>
      </p:sp>
      <p:sp>
        <p:nvSpPr>
          <p:cNvPr id="55" name="Rectangle 54"/>
          <p:cNvSpPr/>
          <p:nvPr/>
        </p:nvSpPr>
        <p:spPr>
          <a:xfrm>
            <a:off x="4862067" y="5381244"/>
            <a:ext cx="100584" cy="100584"/>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035803" y="5321808"/>
            <a:ext cx="206248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Very familiar (basesize = 54)</a:t>
            </a:r>
          </a:p>
        </p:txBody>
      </p:sp>
      <p:sp>
        <p:nvSpPr>
          <p:cNvPr id="57" name="Rounded Rectangle 56"/>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935467" y="617280"/>
            <a:ext cx="1709927" cy="1325758"/>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9" name="Picture 58" descr="D1.png"/>
          <p:cNvPicPr>
            <a:picLocks noChangeAspect="1"/>
          </p:cNvPicPr>
          <p:nvPr/>
        </p:nvPicPr>
        <p:blipFill>
          <a:blip r:embed="rId2"/>
          <a:stretch>
            <a:fillRect/>
          </a:stretch>
        </p:blipFill>
        <p:spPr>
          <a:xfrm>
            <a:off x="7949183" y="630996"/>
            <a:ext cx="1682495" cy="1298326"/>
          </a:xfrm>
          <a:prstGeom prst="rect">
            <a:avLst/>
          </a:prstGeom>
        </p:spPr>
      </p:pic>
      <p:sp>
        <p:nvSpPr>
          <p:cNvPr id="60" name="TextBox 59"/>
          <p:cNvSpPr txBox="1"/>
          <p:nvPr/>
        </p:nvSpPr>
        <p:spPr>
          <a:xfrm>
            <a:off x="7912607" y="1984187"/>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D01 Logo Small Top</a:t>
            </a:r>
          </a:p>
          <a:p>
            <a:pPr algn="ctr">
              <a:spcBef>
                <a:spcPts val="0"/>
              </a:spcBef>
              <a:spcAft>
                <a:spcPts val="0"/>
              </a:spcAft>
            </a:pPr>
            <a:r>
              <a:rPr sz="1200" b="0" i="0">
                <a:solidFill>
                  <a:srgbClr val="1E2D44"/>
                </a:solidFill>
                <a:latin typeface="Karla"/>
              </a:rPr>
              <a:t>Left D2</a:t>
            </a:r>
          </a:p>
        </p:txBody>
      </p:sp>
      <p:sp>
        <p:nvSpPr>
          <p:cNvPr id="61" name="TextBox 60"/>
          <p:cNvSpPr txBox="1"/>
          <p:nvPr/>
        </p:nvSpPr>
        <p:spPr>
          <a:xfrm>
            <a:off x="7912607" y="2349947"/>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+4*</a:t>
            </a:r>
          </a:p>
        </p:txBody>
      </p:sp>
      <p:sp>
        <p:nvSpPr>
          <p:cNvPr id="62" name="Rectangle 61"/>
          <p:cNvSpPr/>
          <p:nvPr/>
        </p:nvSpPr>
        <p:spPr>
          <a:xfrm>
            <a:off x="9855707" y="617280"/>
            <a:ext cx="1709927" cy="1325758"/>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3" name="Picture 62" descr="D3.png"/>
          <p:cNvPicPr>
            <a:picLocks noChangeAspect="1"/>
          </p:cNvPicPr>
          <p:nvPr/>
        </p:nvPicPr>
        <p:blipFill>
          <a:blip r:embed="rId3"/>
          <a:stretch>
            <a:fillRect/>
          </a:stretch>
        </p:blipFill>
        <p:spPr>
          <a:xfrm>
            <a:off x="9869423" y="630996"/>
            <a:ext cx="1682495" cy="1298326"/>
          </a:xfrm>
          <a:prstGeom prst="rect">
            <a:avLst/>
          </a:prstGeom>
        </p:spPr>
      </p:pic>
      <p:sp>
        <p:nvSpPr>
          <p:cNvPr id="64" name="TextBox 63"/>
          <p:cNvSpPr txBox="1"/>
          <p:nvPr/>
        </p:nvSpPr>
        <p:spPr>
          <a:xfrm>
            <a:off x="9832847" y="1984187"/>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D03 Logo Small</a:t>
            </a:r>
          </a:p>
          <a:p>
            <a:pPr algn="ctr">
              <a:spcBef>
                <a:spcPts val="0"/>
              </a:spcBef>
              <a:spcAft>
                <a:spcPts val="0"/>
              </a:spcAft>
            </a:pPr>
            <a:r>
              <a:rPr sz="1200" b="0" i="0">
                <a:solidFill>
                  <a:srgbClr val="1E2D44"/>
                </a:solidFill>
                <a:latin typeface="Karla"/>
              </a:rPr>
              <a:t>Upper Centre Right…</a:t>
            </a:r>
          </a:p>
        </p:txBody>
      </p:sp>
      <p:sp>
        <p:nvSpPr>
          <p:cNvPr id="65" name="TextBox 64"/>
          <p:cNvSpPr txBox="1"/>
          <p:nvPr/>
        </p:nvSpPr>
        <p:spPr>
          <a:xfrm>
            <a:off x="9832847" y="2349947"/>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+4*</a:t>
            </a:r>
          </a:p>
        </p:txBody>
      </p:sp>
      <p:sp>
        <p:nvSpPr>
          <p:cNvPr id="66" name="Rectangle 65"/>
          <p:cNvSpPr/>
          <p:nvPr/>
        </p:nvSpPr>
        <p:spPr>
          <a:xfrm>
            <a:off x="7935467" y="3177600"/>
            <a:ext cx="1709927" cy="1325758"/>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7" name="Picture 66" descr="D2.png"/>
          <p:cNvPicPr>
            <a:picLocks noChangeAspect="1"/>
          </p:cNvPicPr>
          <p:nvPr/>
        </p:nvPicPr>
        <p:blipFill>
          <a:blip r:embed="rId4"/>
          <a:stretch>
            <a:fillRect/>
          </a:stretch>
        </p:blipFill>
        <p:spPr>
          <a:xfrm>
            <a:off x="7949183" y="3191316"/>
            <a:ext cx="1682495" cy="1298326"/>
          </a:xfrm>
          <a:prstGeom prst="rect">
            <a:avLst/>
          </a:prstGeom>
        </p:spPr>
      </p:pic>
      <p:sp>
        <p:nvSpPr>
          <p:cNvPr id="68" name="TextBox 67"/>
          <p:cNvSpPr txBox="1"/>
          <p:nvPr/>
        </p:nvSpPr>
        <p:spPr>
          <a:xfrm>
            <a:off x="7912607" y="4544507"/>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D02 Logo Large Top</a:t>
            </a:r>
          </a:p>
          <a:p>
            <a:pPr algn="ctr">
              <a:spcBef>
                <a:spcPts val="0"/>
              </a:spcBef>
              <a:spcAft>
                <a:spcPts val="0"/>
              </a:spcAft>
            </a:pPr>
            <a:r>
              <a:rPr sz="1200" b="0" i="0">
                <a:solidFill>
                  <a:srgbClr val="1E2D44"/>
                </a:solidFill>
                <a:latin typeface="Karla"/>
              </a:rPr>
              <a:t>Left D3</a:t>
            </a:r>
          </a:p>
        </p:txBody>
      </p:sp>
      <p:sp>
        <p:nvSpPr>
          <p:cNvPr id="69" name="TextBox 68"/>
          <p:cNvSpPr txBox="1"/>
          <p:nvPr/>
        </p:nvSpPr>
        <p:spPr>
          <a:xfrm>
            <a:off x="7912607" y="4910267"/>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+4*</a:t>
            </a:r>
          </a:p>
        </p:txBody>
      </p:sp>
      <p:sp>
        <p:nvSpPr>
          <p:cNvPr id="70" name="Rectangle 69"/>
          <p:cNvSpPr/>
          <p:nvPr/>
        </p:nvSpPr>
        <p:spPr>
          <a:xfrm>
            <a:off x="9855707" y="3177600"/>
            <a:ext cx="1709927" cy="1325758"/>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1" name="Picture 70" descr="D4.png"/>
          <p:cNvPicPr>
            <a:picLocks noChangeAspect="1"/>
          </p:cNvPicPr>
          <p:nvPr/>
        </p:nvPicPr>
        <p:blipFill>
          <a:blip r:embed="rId5"/>
          <a:stretch>
            <a:fillRect/>
          </a:stretch>
        </p:blipFill>
        <p:spPr>
          <a:xfrm>
            <a:off x="9869423" y="3191316"/>
            <a:ext cx="1682495" cy="1298326"/>
          </a:xfrm>
          <a:prstGeom prst="rect">
            <a:avLst/>
          </a:prstGeom>
        </p:spPr>
      </p:pic>
      <p:sp>
        <p:nvSpPr>
          <p:cNvPr id="72" name="TextBox 71"/>
          <p:cNvSpPr txBox="1"/>
          <p:nvPr/>
        </p:nvSpPr>
        <p:spPr>
          <a:xfrm>
            <a:off x="9832847" y="4544507"/>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D04 Logo Large</a:t>
            </a:r>
          </a:p>
          <a:p>
            <a:pPr algn="ctr">
              <a:spcBef>
                <a:spcPts val="0"/>
              </a:spcBef>
              <a:spcAft>
                <a:spcPts val="0"/>
              </a:spcAft>
            </a:pPr>
            <a:r>
              <a:rPr sz="1200" b="0" i="0">
                <a:solidFill>
                  <a:srgbClr val="1E2D44"/>
                </a:solidFill>
                <a:latin typeface="Karla"/>
              </a:rPr>
              <a:t>Upper Centre Right…</a:t>
            </a:r>
          </a:p>
        </p:txBody>
      </p:sp>
      <p:sp>
        <p:nvSpPr>
          <p:cNvPr id="73" name="TextBox 72"/>
          <p:cNvSpPr txBox="1"/>
          <p:nvPr/>
        </p:nvSpPr>
        <p:spPr>
          <a:xfrm>
            <a:off x="9832847" y="4910267"/>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+3*</a:t>
            </a:r>
          </a:p>
        </p:txBody>
      </p:sp>
      <p:sp>
        <p:nvSpPr>
          <p:cNvPr id="74" name="Rounded Rectangle 73"/>
          <p:cNvSpPr/>
          <p:nvPr/>
        </p:nvSpPr>
        <p:spPr>
          <a:xfrm>
            <a:off x="502920" y="5632704"/>
            <a:ext cx="11268455" cy="676656"/>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200" b="0">
                <a:solidFill>
                  <a:srgbClr val="1E2D44"/>
                </a:solidFill>
                <a:latin typeface="Karla"/>
              </a:rPr>
              <a:t>Heard of it, but know little about it favors D01 Logo Small Top Left D2; Not familiar at all favors D01 Logo Small Top Left D2; Somewhat familiar favors D02 Logo Large Top Left D3; Very familiar favors D03 Logo Small Upper Centre Right D1. The widest segment gap is D01 Logo Small Top Left D2: +10 heard of it, but know little about it / +3 not familiar at all / +3 somewhat familiar / +2 very familiar.</a:t>
            </a:r>
          </a:p>
        </p:txBody>
      </p:sp>
      <p:sp>
        <p:nvSpPr>
          <p:cNvPr id="75" name="Rectangle 74"/>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Top-2 scores rounded to whole points. *Average of the groups in the legend.</a:t>
            </a:r>
          </a:p>
        </p:txBody>
      </p:sp>
      <p:sp>
        <p:nvSpPr>
          <p:cNvPr id="77" name="TextBox 76"/>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37744"/>
            <a:ext cx="7043927" cy="182880"/>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KEY FINDINGS: D_LOGO  ·  How often do you purchase Fitspo products?</a:t>
            </a:r>
          </a:p>
        </p:txBody>
      </p:sp>
      <p:sp>
        <p:nvSpPr>
          <p:cNvPr id="3" name="TextBox 2"/>
          <p:cNvSpPr txBox="1"/>
          <p:nvPr/>
        </p:nvSpPr>
        <p:spPr>
          <a:xfrm>
            <a:off x="502920" y="438912"/>
            <a:ext cx="7043927" cy="365760"/>
          </a:xfrm>
          <a:prstGeom prst="rect">
            <a:avLst/>
          </a:prstGeom>
          <a:noFill/>
        </p:spPr>
        <p:txBody>
          <a:bodyPr wrap="square" anchor="t" lIns="0" rIns="0" tIns="0" bIns="0"/>
          <a:lstStyle/>
          <a:p>
            <a:pPr algn="l">
              <a:spcBef>
                <a:spcPts val="0"/>
              </a:spcBef>
              <a:spcAft>
                <a:spcPts val="0"/>
              </a:spcAft>
            </a:pPr>
            <a:r>
              <a:rPr sz="2600" b="1" i="0">
                <a:solidFill>
                  <a:srgbClr val="1E2D44"/>
                </a:solidFill>
                <a:latin typeface="Karla"/>
              </a:rPr>
              <a:t>D_Logo splits across the groups</a:t>
            </a:r>
          </a:p>
        </p:txBody>
      </p:sp>
      <p:sp>
        <p:nvSpPr>
          <p:cNvPr id="4" name="TextBox 3"/>
          <p:cNvSpPr txBox="1"/>
          <p:nvPr/>
        </p:nvSpPr>
        <p:spPr>
          <a:xfrm>
            <a:off x="502920" y="822960"/>
            <a:ext cx="7043927" cy="475488"/>
          </a:xfrm>
          <a:prstGeom prst="rect">
            <a:avLst/>
          </a:prstGeom>
          <a:noFill/>
        </p:spPr>
        <p:txBody>
          <a:bodyPr wrap="square" anchor="t" lIns="0" rIns="0" tIns="0" bIns="0"/>
          <a:lstStyle/>
          <a:p>
            <a:pPr algn="l">
              <a:spcBef>
                <a:spcPts val="0"/>
              </a:spcBef>
              <a:spcAft>
                <a:spcPts val="0"/>
              </a:spcAft>
            </a:pPr>
            <a:r>
              <a:rPr sz="1200" b="0" i="0">
                <a:solidFill>
                  <a:srgbClr val="617086"/>
                </a:solidFill>
                <a:latin typeface="Karla"/>
              </a:rPr>
              <a:t>Have never purchased Fitspo products favor D02 Logo Large Top Left D3; Have purchased in the past, but not currently favors D01 Logo Small Top Left D2; Occasionally favors D01 Logo Small Top Left D2; Regularly favors D03 Logo Small Upper Centre Right D1.</a:t>
            </a:r>
          </a:p>
        </p:txBody>
      </p:sp>
      <p:sp>
        <p:nvSpPr>
          <p:cNvPr id="5" name="Rectangle 4"/>
          <p:cNvSpPr/>
          <p:nvPr/>
        </p:nvSpPr>
        <p:spPr>
          <a:xfrm>
            <a:off x="502920" y="1335024"/>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D_LOGO</a:t>
            </a:r>
          </a:p>
        </p:txBody>
      </p:sp>
      <p:sp>
        <p:nvSpPr>
          <p:cNvPr id="6" name="Rectangle 5"/>
          <p:cNvSpPr/>
          <p:nvPr/>
        </p:nvSpPr>
        <p:spPr>
          <a:xfrm>
            <a:off x="2167128"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74520"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8" name="TextBox 7"/>
          <p:cNvSpPr txBox="1"/>
          <p:nvPr/>
        </p:nvSpPr>
        <p:spPr>
          <a:xfrm>
            <a:off x="3490975"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9" name="Rectangle 8"/>
          <p:cNvSpPr/>
          <p:nvPr/>
        </p:nvSpPr>
        <p:spPr>
          <a:xfrm>
            <a:off x="5400039"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7431"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11" name="Rectangle 10"/>
          <p:cNvSpPr/>
          <p:nvPr/>
        </p:nvSpPr>
        <p:spPr>
          <a:xfrm>
            <a:off x="7016495"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23887"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3" name="Rectangle 12"/>
          <p:cNvSpPr/>
          <p:nvPr/>
        </p:nvSpPr>
        <p:spPr>
          <a:xfrm>
            <a:off x="3783583" y="1645920"/>
            <a:ext cx="10972" cy="2871215"/>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167128" y="4517136"/>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1778508"/>
            <a:ext cx="1554480" cy="452628"/>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D01 Logo Small Top</a:t>
            </a:r>
          </a:p>
          <a:p>
            <a:pPr algn="r">
              <a:spcBef>
                <a:spcPts val="0"/>
              </a:spcBef>
              <a:spcAft>
                <a:spcPts val="0"/>
              </a:spcAft>
            </a:pPr>
            <a:r>
              <a:rPr sz="1100" b="0" i="0">
                <a:solidFill>
                  <a:srgbClr val="1E2D44"/>
                </a:solidFill>
                <a:latin typeface="Karla"/>
              </a:rPr>
              <a:t>Left D2</a:t>
            </a:r>
          </a:p>
        </p:txBody>
      </p:sp>
      <p:sp>
        <p:nvSpPr>
          <p:cNvPr id="16" name="Rectangle 15"/>
          <p:cNvSpPr/>
          <p:nvPr/>
        </p:nvSpPr>
        <p:spPr>
          <a:xfrm>
            <a:off x="3783583" y="1778508"/>
            <a:ext cx="484936"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23384" y="1778508"/>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+3</a:t>
            </a:r>
          </a:p>
        </p:txBody>
      </p:sp>
      <p:sp>
        <p:nvSpPr>
          <p:cNvPr id="18" name="Rectangle 17"/>
          <p:cNvSpPr/>
          <p:nvPr/>
        </p:nvSpPr>
        <p:spPr>
          <a:xfrm>
            <a:off x="3783583" y="1901952"/>
            <a:ext cx="1939747"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778194" y="1901952"/>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+12</a:t>
            </a:r>
          </a:p>
        </p:txBody>
      </p:sp>
      <p:sp>
        <p:nvSpPr>
          <p:cNvPr id="20" name="Rectangle 19"/>
          <p:cNvSpPr/>
          <p:nvPr/>
        </p:nvSpPr>
        <p:spPr>
          <a:xfrm>
            <a:off x="3783583" y="2025395"/>
            <a:ext cx="969873"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08321" y="2025395"/>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+6</a:t>
            </a:r>
          </a:p>
        </p:txBody>
      </p:sp>
      <p:sp>
        <p:nvSpPr>
          <p:cNvPr id="22" name="Rectangle 21"/>
          <p:cNvSpPr/>
          <p:nvPr/>
        </p:nvSpPr>
        <p:spPr>
          <a:xfrm>
            <a:off x="3621938" y="2148840"/>
            <a:ext cx="161645"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09874" y="2148840"/>
            <a:ext cx="457200" cy="82296"/>
          </a:xfrm>
          <a:prstGeom prst="rect">
            <a:avLst/>
          </a:prstGeom>
          <a:noFill/>
        </p:spPr>
        <p:txBody>
          <a:bodyPr wrap="none" anchor="ctr" lIns="0" rIns="0" tIns="0" bIns="0"/>
          <a:lstStyle/>
          <a:p>
            <a:pPr algn="r">
              <a:spcBef>
                <a:spcPts val="0"/>
              </a:spcBef>
              <a:spcAft>
                <a:spcPts val="0"/>
              </a:spcAft>
            </a:pPr>
            <a:r>
              <a:rPr sz="1000" b="1" i="0">
                <a:solidFill>
                  <a:srgbClr val="1D4E89"/>
                </a:solidFill>
                <a:latin typeface="Karla"/>
              </a:rPr>
              <a:t>-1</a:t>
            </a:r>
          </a:p>
        </p:txBody>
      </p:sp>
      <p:sp>
        <p:nvSpPr>
          <p:cNvPr id="24" name="TextBox 23"/>
          <p:cNvSpPr txBox="1"/>
          <p:nvPr/>
        </p:nvSpPr>
        <p:spPr>
          <a:xfrm>
            <a:off x="502920" y="2496312"/>
            <a:ext cx="1554480" cy="452628"/>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D02 Logo Large Top</a:t>
            </a:r>
          </a:p>
          <a:p>
            <a:pPr algn="r">
              <a:spcBef>
                <a:spcPts val="0"/>
              </a:spcBef>
              <a:spcAft>
                <a:spcPts val="0"/>
              </a:spcAft>
            </a:pPr>
            <a:r>
              <a:rPr sz="1100" b="0" i="0">
                <a:solidFill>
                  <a:srgbClr val="1E2D44"/>
                </a:solidFill>
                <a:latin typeface="Karla"/>
              </a:rPr>
              <a:t>Left D3</a:t>
            </a:r>
          </a:p>
        </p:txBody>
      </p:sp>
      <p:sp>
        <p:nvSpPr>
          <p:cNvPr id="25" name="Rectangle 24"/>
          <p:cNvSpPr/>
          <p:nvPr/>
        </p:nvSpPr>
        <p:spPr>
          <a:xfrm>
            <a:off x="3783583" y="2496312"/>
            <a:ext cx="646582"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85030" y="2496312"/>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+4</a:t>
            </a:r>
          </a:p>
        </p:txBody>
      </p:sp>
      <p:sp>
        <p:nvSpPr>
          <p:cNvPr id="27" name="Rectangle 26"/>
          <p:cNvSpPr/>
          <p:nvPr/>
        </p:nvSpPr>
        <p:spPr>
          <a:xfrm>
            <a:off x="3783583" y="2619756"/>
            <a:ext cx="1293164"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131612" y="2619756"/>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+8</a:t>
            </a:r>
          </a:p>
        </p:txBody>
      </p:sp>
      <p:sp>
        <p:nvSpPr>
          <p:cNvPr id="29" name="Rectangle 28"/>
          <p:cNvSpPr/>
          <p:nvPr/>
        </p:nvSpPr>
        <p:spPr>
          <a:xfrm>
            <a:off x="3783583" y="2743200"/>
            <a:ext cx="646582"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485030" y="2743200"/>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+4</a:t>
            </a:r>
          </a:p>
        </p:txBody>
      </p:sp>
      <p:sp>
        <p:nvSpPr>
          <p:cNvPr id="31" name="Rectangle 30"/>
          <p:cNvSpPr/>
          <p:nvPr/>
        </p:nvSpPr>
        <p:spPr>
          <a:xfrm>
            <a:off x="3783583" y="2866644"/>
            <a:ext cx="646582"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485030" y="2866644"/>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+4</a:t>
            </a:r>
          </a:p>
        </p:txBody>
      </p:sp>
      <p:sp>
        <p:nvSpPr>
          <p:cNvPr id="33" name="TextBox 32"/>
          <p:cNvSpPr txBox="1"/>
          <p:nvPr/>
        </p:nvSpPr>
        <p:spPr>
          <a:xfrm>
            <a:off x="502920" y="3214116"/>
            <a:ext cx="1554480" cy="452628"/>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D03 Logo Small</a:t>
            </a:r>
          </a:p>
          <a:p>
            <a:pPr algn="r">
              <a:spcBef>
                <a:spcPts val="0"/>
              </a:spcBef>
              <a:spcAft>
                <a:spcPts val="0"/>
              </a:spcAft>
            </a:pPr>
            <a:r>
              <a:rPr sz="1100" b="0" i="0">
                <a:solidFill>
                  <a:srgbClr val="1E2D44"/>
                </a:solidFill>
                <a:latin typeface="Karla"/>
              </a:rPr>
              <a:t>Upper Centre Right…</a:t>
            </a:r>
          </a:p>
        </p:txBody>
      </p:sp>
      <p:sp>
        <p:nvSpPr>
          <p:cNvPr id="34" name="Rectangle 33"/>
          <p:cNvSpPr/>
          <p:nvPr/>
        </p:nvSpPr>
        <p:spPr>
          <a:xfrm>
            <a:off x="3783583" y="3214116"/>
            <a:ext cx="484936"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323384" y="3214116"/>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+3</a:t>
            </a:r>
          </a:p>
        </p:txBody>
      </p:sp>
      <p:sp>
        <p:nvSpPr>
          <p:cNvPr id="36" name="Rectangle 35"/>
          <p:cNvSpPr/>
          <p:nvPr/>
        </p:nvSpPr>
        <p:spPr>
          <a:xfrm>
            <a:off x="3783583" y="3337560"/>
            <a:ext cx="27432"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38447" y="3337560"/>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0</a:t>
            </a:r>
          </a:p>
        </p:txBody>
      </p:sp>
      <p:sp>
        <p:nvSpPr>
          <p:cNvPr id="38" name="Rectangle 37"/>
          <p:cNvSpPr/>
          <p:nvPr/>
        </p:nvSpPr>
        <p:spPr>
          <a:xfrm>
            <a:off x="3783583" y="3461004"/>
            <a:ext cx="969873"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808321" y="3461004"/>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+6</a:t>
            </a:r>
          </a:p>
        </p:txBody>
      </p:sp>
      <p:sp>
        <p:nvSpPr>
          <p:cNvPr id="40" name="Rectangle 39"/>
          <p:cNvSpPr/>
          <p:nvPr/>
        </p:nvSpPr>
        <p:spPr>
          <a:xfrm>
            <a:off x="3783583" y="3584448"/>
            <a:ext cx="1131519"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969967" y="3584448"/>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+7</a:t>
            </a:r>
          </a:p>
        </p:txBody>
      </p:sp>
      <p:sp>
        <p:nvSpPr>
          <p:cNvPr id="42" name="TextBox 41"/>
          <p:cNvSpPr txBox="1"/>
          <p:nvPr/>
        </p:nvSpPr>
        <p:spPr>
          <a:xfrm>
            <a:off x="502920" y="3931919"/>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D04 Logo Large Upper</a:t>
            </a:r>
          </a:p>
          <a:p>
            <a:pPr algn="r">
              <a:spcBef>
                <a:spcPts val="0"/>
              </a:spcBef>
              <a:spcAft>
                <a:spcPts val="0"/>
              </a:spcAft>
            </a:pPr>
            <a:r>
              <a:rPr sz="1000" b="0" i="0">
                <a:solidFill>
                  <a:srgbClr val="1E2D44"/>
                </a:solidFill>
                <a:latin typeface="Karla"/>
              </a:rPr>
              <a:t>Centre Right D1…</a:t>
            </a:r>
          </a:p>
        </p:txBody>
      </p:sp>
      <p:sp>
        <p:nvSpPr>
          <p:cNvPr id="43" name="Rectangle 42"/>
          <p:cNvSpPr/>
          <p:nvPr/>
        </p:nvSpPr>
        <p:spPr>
          <a:xfrm>
            <a:off x="3783583" y="3931919"/>
            <a:ext cx="323291"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161739" y="3931919"/>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+2</a:t>
            </a:r>
          </a:p>
        </p:txBody>
      </p:sp>
      <p:sp>
        <p:nvSpPr>
          <p:cNvPr id="45" name="Rectangle 44"/>
          <p:cNvSpPr/>
          <p:nvPr/>
        </p:nvSpPr>
        <p:spPr>
          <a:xfrm>
            <a:off x="3783583" y="4055363"/>
            <a:ext cx="646582"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485030" y="4055363"/>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+4</a:t>
            </a:r>
          </a:p>
        </p:txBody>
      </p:sp>
      <p:sp>
        <p:nvSpPr>
          <p:cNvPr id="47" name="Rectangle 46"/>
          <p:cNvSpPr/>
          <p:nvPr/>
        </p:nvSpPr>
        <p:spPr>
          <a:xfrm>
            <a:off x="3783583" y="4178807"/>
            <a:ext cx="484936"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323384" y="4178807"/>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+3</a:t>
            </a:r>
          </a:p>
        </p:txBody>
      </p:sp>
      <p:sp>
        <p:nvSpPr>
          <p:cNvPr id="49" name="Rectangle 48"/>
          <p:cNvSpPr/>
          <p:nvPr/>
        </p:nvSpPr>
        <p:spPr>
          <a:xfrm>
            <a:off x="3783583" y="4302251"/>
            <a:ext cx="484936"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323384" y="4302251"/>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+3</a:t>
            </a:r>
          </a:p>
        </p:txBody>
      </p:sp>
      <p:sp>
        <p:nvSpPr>
          <p:cNvPr id="51" name="Rectangle 50"/>
          <p:cNvSpPr/>
          <p:nvPr/>
        </p:nvSpPr>
        <p:spPr>
          <a:xfrm>
            <a:off x="2655823" y="4942332"/>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829559" y="4882896"/>
            <a:ext cx="369824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Have never purchased Fitspo products (basesize = 37)</a:t>
            </a:r>
          </a:p>
        </p:txBody>
      </p:sp>
      <p:sp>
        <p:nvSpPr>
          <p:cNvPr id="53" name="Rectangle 52"/>
          <p:cNvSpPr/>
          <p:nvPr/>
        </p:nvSpPr>
        <p:spPr>
          <a:xfrm>
            <a:off x="613663" y="5161788"/>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87399" y="5102352"/>
            <a:ext cx="433832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Have purchased in the past, but not currently (basesize = 12)</a:t>
            </a:r>
          </a:p>
        </p:txBody>
      </p:sp>
      <p:sp>
        <p:nvSpPr>
          <p:cNvPr id="55" name="Rectangle 54"/>
          <p:cNvSpPr/>
          <p:nvPr/>
        </p:nvSpPr>
        <p:spPr>
          <a:xfrm>
            <a:off x="5381751" y="5161788"/>
            <a:ext cx="100584" cy="10058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555487" y="5102352"/>
            <a:ext cx="199136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Occasionally (basesize = 56)</a:t>
            </a:r>
          </a:p>
        </p:txBody>
      </p:sp>
      <p:sp>
        <p:nvSpPr>
          <p:cNvPr id="57" name="Rectangle 56"/>
          <p:cNvSpPr/>
          <p:nvPr/>
        </p:nvSpPr>
        <p:spPr>
          <a:xfrm>
            <a:off x="3615943" y="5381244"/>
            <a:ext cx="100584" cy="100584"/>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789679" y="5321808"/>
            <a:ext cx="177800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Regularly (basesize = 45)</a:t>
            </a:r>
          </a:p>
        </p:txBody>
      </p:sp>
      <p:sp>
        <p:nvSpPr>
          <p:cNvPr id="59" name="Rounded Rectangle 58"/>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7935467" y="617280"/>
            <a:ext cx="1709927" cy="1325758"/>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1" name="Picture 60" descr="D1.png"/>
          <p:cNvPicPr>
            <a:picLocks noChangeAspect="1"/>
          </p:cNvPicPr>
          <p:nvPr/>
        </p:nvPicPr>
        <p:blipFill>
          <a:blip r:embed="rId2"/>
          <a:stretch>
            <a:fillRect/>
          </a:stretch>
        </p:blipFill>
        <p:spPr>
          <a:xfrm>
            <a:off x="7949183" y="630996"/>
            <a:ext cx="1682495" cy="1298326"/>
          </a:xfrm>
          <a:prstGeom prst="rect">
            <a:avLst/>
          </a:prstGeom>
        </p:spPr>
      </p:pic>
      <p:sp>
        <p:nvSpPr>
          <p:cNvPr id="62" name="TextBox 61"/>
          <p:cNvSpPr txBox="1"/>
          <p:nvPr/>
        </p:nvSpPr>
        <p:spPr>
          <a:xfrm>
            <a:off x="7912607" y="1984187"/>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D01 Logo Small Top</a:t>
            </a:r>
          </a:p>
          <a:p>
            <a:pPr algn="ctr">
              <a:spcBef>
                <a:spcPts val="0"/>
              </a:spcBef>
              <a:spcAft>
                <a:spcPts val="0"/>
              </a:spcAft>
            </a:pPr>
            <a:r>
              <a:rPr sz="1200" b="0" i="0">
                <a:solidFill>
                  <a:srgbClr val="1E2D44"/>
                </a:solidFill>
                <a:latin typeface="Karla"/>
              </a:rPr>
              <a:t>Left D2</a:t>
            </a:r>
          </a:p>
        </p:txBody>
      </p:sp>
      <p:sp>
        <p:nvSpPr>
          <p:cNvPr id="63" name="TextBox 62"/>
          <p:cNvSpPr txBox="1"/>
          <p:nvPr/>
        </p:nvSpPr>
        <p:spPr>
          <a:xfrm>
            <a:off x="7912607" y="2349947"/>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+5*</a:t>
            </a:r>
          </a:p>
        </p:txBody>
      </p:sp>
      <p:sp>
        <p:nvSpPr>
          <p:cNvPr id="64" name="Rectangle 63"/>
          <p:cNvSpPr/>
          <p:nvPr/>
        </p:nvSpPr>
        <p:spPr>
          <a:xfrm>
            <a:off x="9855707" y="617280"/>
            <a:ext cx="1709927" cy="1325758"/>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5" name="Picture 64" descr="D2.png"/>
          <p:cNvPicPr>
            <a:picLocks noChangeAspect="1"/>
          </p:cNvPicPr>
          <p:nvPr/>
        </p:nvPicPr>
        <p:blipFill>
          <a:blip r:embed="rId3"/>
          <a:stretch>
            <a:fillRect/>
          </a:stretch>
        </p:blipFill>
        <p:spPr>
          <a:xfrm>
            <a:off x="9869423" y="630996"/>
            <a:ext cx="1682495" cy="1298326"/>
          </a:xfrm>
          <a:prstGeom prst="rect">
            <a:avLst/>
          </a:prstGeom>
        </p:spPr>
      </p:pic>
      <p:sp>
        <p:nvSpPr>
          <p:cNvPr id="66" name="TextBox 65"/>
          <p:cNvSpPr txBox="1"/>
          <p:nvPr/>
        </p:nvSpPr>
        <p:spPr>
          <a:xfrm>
            <a:off x="9832847" y="1984187"/>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D02 Logo Large Top</a:t>
            </a:r>
          </a:p>
          <a:p>
            <a:pPr algn="ctr">
              <a:spcBef>
                <a:spcPts val="0"/>
              </a:spcBef>
              <a:spcAft>
                <a:spcPts val="0"/>
              </a:spcAft>
            </a:pPr>
            <a:r>
              <a:rPr sz="1200" b="0" i="0">
                <a:solidFill>
                  <a:srgbClr val="1E2D44"/>
                </a:solidFill>
                <a:latin typeface="Karla"/>
              </a:rPr>
              <a:t>Left D3</a:t>
            </a:r>
          </a:p>
        </p:txBody>
      </p:sp>
      <p:sp>
        <p:nvSpPr>
          <p:cNvPr id="67" name="TextBox 66"/>
          <p:cNvSpPr txBox="1"/>
          <p:nvPr/>
        </p:nvSpPr>
        <p:spPr>
          <a:xfrm>
            <a:off x="9832847" y="2349947"/>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+5*</a:t>
            </a:r>
          </a:p>
        </p:txBody>
      </p:sp>
      <p:sp>
        <p:nvSpPr>
          <p:cNvPr id="68" name="Rectangle 67"/>
          <p:cNvSpPr/>
          <p:nvPr/>
        </p:nvSpPr>
        <p:spPr>
          <a:xfrm>
            <a:off x="7935467" y="3177600"/>
            <a:ext cx="1709927" cy="1325758"/>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9" name="Picture 68" descr="D3.png"/>
          <p:cNvPicPr>
            <a:picLocks noChangeAspect="1"/>
          </p:cNvPicPr>
          <p:nvPr/>
        </p:nvPicPr>
        <p:blipFill>
          <a:blip r:embed="rId4"/>
          <a:stretch>
            <a:fillRect/>
          </a:stretch>
        </p:blipFill>
        <p:spPr>
          <a:xfrm>
            <a:off x="7949183" y="3191316"/>
            <a:ext cx="1682495" cy="1298326"/>
          </a:xfrm>
          <a:prstGeom prst="rect">
            <a:avLst/>
          </a:prstGeom>
        </p:spPr>
      </p:pic>
      <p:sp>
        <p:nvSpPr>
          <p:cNvPr id="70" name="TextBox 69"/>
          <p:cNvSpPr txBox="1"/>
          <p:nvPr/>
        </p:nvSpPr>
        <p:spPr>
          <a:xfrm>
            <a:off x="7912607" y="4544507"/>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D03 Logo Small</a:t>
            </a:r>
          </a:p>
          <a:p>
            <a:pPr algn="ctr">
              <a:spcBef>
                <a:spcPts val="0"/>
              </a:spcBef>
              <a:spcAft>
                <a:spcPts val="0"/>
              </a:spcAft>
            </a:pPr>
            <a:r>
              <a:rPr sz="1200" b="0" i="0">
                <a:solidFill>
                  <a:srgbClr val="1E2D44"/>
                </a:solidFill>
                <a:latin typeface="Karla"/>
              </a:rPr>
              <a:t>Upper Centre Right…</a:t>
            </a:r>
          </a:p>
        </p:txBody>
      </p:sp>
      <p:sp>
        <p:nvSpPr>
          <p:cNvPr id="71" name="TextBox 70"/>
          <p:cNvSpPr txBox="1"/>
          <p:nvPr/>
        </p:nvSpPr>
        <p:spPr>
          <a:xfrm>
            <a:off x="7912607" y="4910267"/>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+4*</a:t>
            </a:r>
          </a:p>
        </p:txBody>
      </p:sp>
      <p:sp>
        <p:nvSpPr>
          <p:cNvPr id="72" name="Rectangle 71"/>
          <p:cNvSpPr/>
          <p:nvPr/>
        </p:nvSpPr>
        <p:spPr>
          <a:xfrm>
            <a:off x="9855707" y="3177600"/>
            <a:ext cx="1709927" cy="1325758"/>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3" name="Picture 72" descr="D4.png"/>
          <p:cNvPicPr>
            <a:picLocks noChangeAspect="1"/>
          </p:cNvPicPr>
          <p:nvPr/>
        </p:nvPicPr>
        <p:blipFill>
          <a:blip r:embed="rId5"/>
          <a:stretch>
            <a:fillRect/>
          </a:stretch>
        </p:blipFill>
        <p:spPr>
          <a:xfrm>
            <a:off x="9869423" y="3191316"/>
            <a:ext cx="1682495" cy="1298326"/>
          </a:xfrm>
          <a:prstGeom prst="rect">
            <a:avLst/>
          </a:prstGeom>
        </p:spPr>
      </p:pic>
      <p:sp>
        <p:nvSpPr>
          <p:cNvPr id="74" name="TextBox 73"/>
          <p:cNvSpPr txBox="1"/>
          <p:nvPr/>
        </p:nvSpPr>
        <p:spPr>
          <a:xfrm>
            <a:off x="9832847" y="4544507"/>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D04 Logo Large</a:t>
            </a:r>
          </a:p>
          <a:p>
            <a:pPr algn="ctr">
              <a:spcBef>
                <a:spcPts val="0"/>
              </a:spcBef>
              <a:spcAft>
                <a:spcPts val="0"/>
              </a:spcAft>
            </a:pPr>
            <a:r>
              <a:rPr sz="1200" b="0" i="0">
                <a:solidFill>
                  <a:srgbClr val="1E2D44"/>
                </a:solidFill>
                <a:latin typeface="Karla"/>
              </a:rPr>
              <a:t>Upper Centre Right…</a:t>
            </a:r>
          </a:p>
        </p:txBody>
      </p:sp>
      <p:sp>
        <p:nvSpPr>
          <p:cNvPr id="75" name="TextBox 74"/>
          <p:cNvSpPr txBox="1"/>
          <p:nvPr/>
        </p:nvSpPr>
        <p:spPr>
          <a:xfrm>
            <a:off x="9832847" y="4910267"/>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+3*</a:t>
            </a:r>
          </a:p>
        </p:txBody>
      </p:sp>
      <p:sp>
        <p:nvSpPr>
          <p:cNvPr id="76" name="Rounded Rectangle 75"/>
          <p:cNvSpPr/>
          <p:nvPr/>
        </p:nvSpPr>
        <p:spPr>
          <a:xfrm>
            <a:off x="502920" y="5632704"/>
            <a:ext cx="11268455" cy="676656"/>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200" b="0">
                <a:solidFill>
                  <a:srgbClr val="1E2D44"/>
                </a:solidFill>
                <a:latin typeface="Karla"/>
              </a:rPr>
              <a:t>Have never purchased Fitspo products favor D02 Logo Large Top Left D3; Have purchased in the past, but not currently favors D01 Logo Small Top Left D2; Occasionally favors D01 Logo Small Top Left D2; Regularly favors D03 Logo Small Upper Centre Right D1. The widest segment gap is D01 Logo Small Top Left D2: +3 have never purchased fitspo products / +12 have purchased in the past, but not currently / +6 occasionally / -1 regularly.</a:t>
            </a:r>
          </a:p>
        </p:txBody>
      </p:sp>
      <p:sp>
        <p:nvSpPr>
          <p:cNvPr id="77" name="Rectangle 76"/>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Top-2 scores rounded to whole points. *Average of the groups in the legend.</a:t>
            </a:r>
          </a:p>
        </p:txBody>
      </p:sp>
      <p:sp>
        <p:nvSpPr>
          <p:cNvPr id="79" name="TextBox 78"/>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37744"/>
            <a:ext cx="7043927" cy="182880"/>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KEY FINDINGS: E_FLAVOUR  ·  Can you read english?   ·   1 of 3</a:t>
            </a:r>
          </a:p>
        </p:txBody>
      </p:sp>
      <p:sp>
        <p:nvSpPr>
          <p:cNvPr id="3" name="TextBox 2"/>
          <p:cNvSpPr txBox="1"/>
          <p:nvPr/>
        </p:nvSpPr>
        <p:spPr>
          <a:xfrm>
            <a:off x="502920" y="438912"/>
            <a:ext cx="7043927" cy="365760"/>
          </a:xfrm>
          <a:prstGeom prst="rect">
            <a:avLst/>
          </a:prstGeom>
          <a:noFill/>
        </p:spPr>
        <p:txBody>
          <a:bodyPr wrap="square" anchor="t" lIns="0" rIns="0" tIns="0" bIns="0"/>
          <a:lstStyle/>
          <a:p>
            <a:pPr algn="l">
              <a:spcBef>
                <a:spcPts val="0"/>
              </a:spcBef>
              <a:spcAft>
                <a:spcPts val="0"/>
              </a:spcAft>
            </a:pPr>
            <a:r>
              <a:rPr sz="2600" b="1" i="0">
                <a:solidFill>
                  <a:srgbClr val="1E2D44"/>
                </a:solidFill>
                <a:latin typeface="Karla"/>
              </a:rPr>
              <a:t>E_Flavour splits across the groups</a:t>
            </a:r>
          </a:p>
        </p:txBody>
      </p:sp>
      <p:sp>
        <p:nvSpPr>
          <p:cNvPr id="4" name="TextBox 3"/>
          <p:cNvSpPr txBox="1"/>
          <p:nvPr/>
        </p:nvSpPr>
        <p:spPr>
          <a:xfrm>
            <a:off x="502920" y="822960"/>
            <a:ext cx="7043927" cy="475488"/>
          </a:xfrm>
          <a:prstGeom prst="rect">
            <a:avLst/>
          </a:prstGeom>
          <a:noFill/>
        </p:spPr>
        <p:txBody>
          <a:bodyPr wrap="square" anchor="t" lIns="0" rIns="0" tIns="0" bIns="0"/>
          <a:lstStyle/>
          <a:p>
            <a:pPr algn="l">
              <a:spcBef>
                <a:spcPts val="0"/>
              </a:spcBef>
              <a:spcAft>
                <a:spcPts val="0"/>
              </a:spcAft>
            </a:pPr>
            <a:r>
              <a:rPr sz="1200" b="0" i="0">
                <a:solidFill>
                  <a:srgbClr val="617086"/>
                </a:solidFill>
                <a:latin typeface="Karla"/>
              </a:rPr>
              <a:t>No favors E05 Orange Chocolate Top Left Dark Text Panel; Yes favor Vanilla Chocolate Top Left Dark Text Panel.</a:t>
            </a:r>
          </a:p>
        </p:txBody>
      </p:sp>
      <p:sp>
        <p:nvSpPr>
          <p:cNvPr id="5" name="Rectangle 4"/>
          <p:cNvSpPr/>
          <p:nvPr/>
        </p:nvSpPr>
        <p:spPr>
          <a:xfrm>
            <a:off x="502920" y="1335024"/>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E_FLAVOUR</a:t>
            </a:r>
          </a:p>
        </p:txBody>
      </p:sp>
      <p:sp>
        <p:nvSpPr>
          <p:cNvPr id="6" name="Rectangle 5"/>
          <p:cNvSpPr/>
          <p:nvPr/>
        </p:nvSpPr>
        <p:spPr>
          <a:xfrm>
            <a:off x="2167128" y="1645920"/>
            <a:ext cx="9144" cy="3310128"/>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74520"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-50</a:t>
            </a:r>
          </a:p>
        </p:txBody>
      </p:sp>
      <p:sp>
        <p:nvSpPr>
          <p:cNvPr id="8" name="TextBox 7"/>
          <p:cNvSpPr txBox="1"/>
          <p:nvPr/>
        </p:nvSpPr>
        <p:spPr>
          <a:xfrm>
            <a:off x="4299203"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9" name="Rectangle 8"/>
          <p:cNvSpPr/>
          <p:nvPr/>
        </p:nvSpPr>
        <p:spPr>
          <a:xfrm>
            <a:off x="7016495" y="1645920"/>
            <a:ext cx="9144" cy="3310128"/>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23887"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50</a:t>
            </a:r>
          </a:p>
        </p:txBody>
      </p:sp>
      <p:sp>
        <p:nvSpPr>
          <p:cNvPr id="11" name="Rectangle 10"/>
          <p:cNvSpPr/>
          <p:nvPr/>
        </p:nvSpPr>
        <p:spPr>
          <a:xfrm>
            <a:off x="4591811" y="1645920"/>
            <a:ext cx="10972" cy="3310128"/>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167128" y="4956048"/>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1883664"/>
            <a:ext cx="1554480" cy="352044"/>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E05 Orange Chocolate</a:t>
            </a:r>
          </a:p>
          <a:p>
            <a:pPr algn="r">
              <a:spcBef>
                <a:spcPts val="0"/>
              </a:spcBef>
              <a:spcAft>
                <a:spcPts val="0"/>
              </a:spcAft>
            </a:pPr>
            <a:r>
              <a:rPr sz="1000" b="0" i="0">
                <a:solidFill>
                  <a:srgbClr val="1E2D44"/>
                </a:solidFill>
                <a:latin typeface="Karla"/>
              </a:rPr>
              <a:t>Top Left Dark Text…</a:t>
            </a:r>
          </a:p>
        </p:txBody>
      </p:sp>
      <p:sp>
        <p:nvSpPr>
          <p:cNvPr id="14" name="Rectangle 13"/>
          <p:cNvSpPr/>
          <p:nvPr/>
        </p:nvSpPr>
        <p:spPr>
          <a:xfrm>
            <a:off x="4591811" y="1883664"/>
            <a:ext cx="1163848"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10524" y="1883664"/>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+24</a:t>
            </a:r>
          </a:p>
        </p:txBody>
      </p:sp>
      <p:sp>
        <p:nvSpPr>
          <p:cNvPr id="16" name="Rectangle 15"/>
          <p:cNvSpPr/>
          <p:nvPr/>
        </p:nvSpPr>
        <p:spPr>
          <a:xfrm>
            <a:off x="4591811" y="2080260"/>
            <a:ext cx="872886"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19562" y="2080260"/>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+18</a:t>
            </a:r>
          </a:p>
        </p:txBody>
      </p:sp>
      <p:sp>
        <p:nvSpPr>
          <p:cNvPr id="18" name="TextBox 17"/>
          <p:cNvSpPr txBox="1"/>
          <p:nvPr/>
        </p:nvSpPr>
        <p:spPr>
          <a:xfrm>
            <a:off x="502920" y="2711196"/>
            <a:ext cx="1554480" cy="352044"/>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Vanilla Chocolate</a:t>
            </a:r>
          </a:p>
          <a:p>
            <a:pPr algn="r">
              <a:spcBef>
                <a:spcPts val="0"/>
              </a:spcBef>
              <a:spcAft>
                <a:spcPts val="0"/>
              </a:spcAft>
            </a:pPr>
            <a:r>
              <a:rPr sz="1000" b="0" i="0">
                <a:solidFill>
                  <a:srgbClr val="1E2D44"/>
                </a:solidFill>
                <a:latin typeface="Karla"/>
              </a:rPr>
              <a:t>Top Left Dark Text…</a:t>
            </a:r>
          </a:p>
        </p:txBody>
      </p:sp>
      <p:sp>
        <p:nvSpPr>
          <p:cNvPr id="19" name="Rectangle 18"/>
          <p:cNvSpPr/>
          <p:nvPr/>
        </p:nvSpPr>
        <p:spPr>
          <a:xfrm>
            <a:off x="3379469" y="2711196"/>
            <a:ext cx="1212341"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867405" y="2711196"/>
            <a:ext cx="457200" cy="155448"/>
          </a:xfrm>
          <a:prstGeom prst="rect">
            <a:avLst/>
          </a:prstGeom>
          <a:noFill/>
        </p:spPr>
        <p:txBody>
          <a:bodyPr wrap="none" anchor="ctr" lIns="0" rIns="0" tIns="0" bIns="0"/>
          <a:lstStyle/>
          <a:p>
            <a:pPr algn="r">
              <a:spcBef>
                <a:spcPts val="0"/>
              </a:spcBef>
              <a:spcAft>
                <a:spcPts val="0"/>
              </a:spcAft>
            </a:pPr>
            <a:r>
              <a:rPr sz="1200" b="1" i="0">
                <a:solidFill>
                  <a:srgbClr val="1A2332"/>
                </a:solidFill>
                <a:latin typeface="Karla"/>
              </a:rPr>
              <a:t>-25</a:t>
            </a:r>
          </a:p>
        </p:txBody>
      </p:sp>
      <p:sp>
        <p:nvSpPr>
          <p:cNvPr id="21" name="Rectangle 20"/>
          <p:cNvSpPr/>
          <p:nvPr/>
        </p:nvSpPr>
        <p:spPr>
          <a:xfrm>
            <a:off x="4591811" y="2907791"/>
            <a:ext cx="1163848"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810524" y="2907791"/>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+24</a:t>
            </a:r>
          </a:p>
        </p:txBody>
      </p:sp>
      <p:sp>
        <p:nvSpPr>
          <p:cNvPr id="23" name="TextBox 22"/>
          <p:cNvSpPr txBox="1"/>
          <p:nvPr/>
        </p:nvSpPr>
        <p:spPr>
          <a:xfrm>
            <a:off x="502920" y="3538728"/>
            <a:ext cx="1554480" cy="352044"/>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E02 Tripple</a:t>
            </a:r>
          </a:p>
          <a:p>
            <a:pPr algn="r">
              <a:spcBef>
                <a:spcPts val="0"/>
              </a:spcBef>
              <a:spcAft>
                <a:spcPts val="0"/>
              </a:spcAft>
            </a:pPr>
            <a:r>
              <a:rPr sz="1000" b="0" i="0">
                <a:solidFill>
                  <a:srgbClr val="1E2D44"/>
                </a:solidFill>
                <a:latin typeface="Karla"/>
              </a:rPr>
              <a:t>Chocolate Chip Top…</a:t>
            </a:r>
          </a:p>
        </p:txBody>
      </p:sp>
      <p:sp>
        <p:nvSpPr>
          <p:cNvPr id="24" name="Rectangle 23"/>
          <p:cNvSpPr/>
          <p:nvPr/>
        </p:nvSpPr>
        <p:spPr>
          <a:xfrm>
            <a:off x="4591811" y="3538728"/>
            <a:ext cx="339455"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986131" y="3538728"/>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+7</a:t>
            </a:r>
          </a:p>
        </p:txBody>
      </p:sp>
      <p:sp>
        <p:nvSpPr>
          <p:cNvPr id="26" name="Rectangle 25"/>
          <p:cNvSpPr/>
          <p:nvPr/>
        </p:nvSpPr>
        <p:spPr>
          <a:xfrm>
            <a:off x="4591811" y="3735324"/>
            <a:ext cx="1115354"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762030" y="3735324"/>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+23</a:t>
            </a:r>
          </a:p>
        </p:txBody>
      </p:sp>
      <p:sp>
        <p:nvSpPr>
          <p:cNvPr id="28" name="TextBox 27"/>
          <p:cNvSpPr txBox="1"/>
          <p:nvPr/>
        </p:nvSpPr>
        <p:spPr>
          <a:xfrm>
            <a:off x="502920" y="4366259"/>
            <a:ext cx="1554480" cy="352044"/>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E08 Banana Chocolate</a:t>
            </a:r>
          </a:p>
          <a:p>
            <a:pPr algn="r">
              <a:spcBef>
                <a:spcPts val="0"/>
              </a:spcBef>
              <a:spcAft>
                <a:spcPts val="0"/>
              </a:spcAft>
            </a:pPr>
            <a:r>
              <a:rPr sz="1000" b="0" i="0">
                <a:solidFill>
                  <a:srgbClr val="1E2D44"/>
                </a:solidFill>
                <a:latin typeface="Karla"/>
              </a:rPr>
              <a:t>Top Left Dark Text…</a:t>
            </a:r>
          </a:p>
        </p:txBody>
      </p:sp>
      <p:sp>
        <p:nvSpPr>
          <p:cNvPr id="29" name="Rectangle 28"/>
          <p:cNvSpPr/>
          <p:nvPr/>
        </p:nvSpPr>
        <p:spPr>
          <a:xfrm>
            <a:off x="2652064" y="4366259"/>
            <a:ext cx="1939747"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167128" y="4366259"/>
            <a:ext cx="457200" cy="155448"/>
          </a:xfrm>
          <a:prstGeom prst="rect">
            <a:avLst/>
          </a:prstGeom>
          <a:noFill/>
        </p:spPr>
        <p:txBody>
          <a:bodyPr wrap="none" anchor="ctr" lIns="0" rIns="0" tIns="0" bIns="0"/>
          <a:lstStyle/>
          <a:p>
            <a:pPr algn="r">
              <a:spcBef>
                <a:spcPts val="0"/>
              </a:spcBef>
              <a:spcAft>
                <a:spcPts val="0"/>
              </a:spcAft>
            </a:pPr>
            <a:r>
              <a:rPr sz="1200" b="1" i="0">
                <a:solidFill>
                  <a:srgbClr val="1A2332"/>
                </a:solidFill>
                <a:latin typeface="Karla"/>
              </a:rPr>
              <a:t>-40</a:t>
            </a:r>
          </a:p>
        </p:txBody>
      </p:sp>
      <p:sp>
        <p:nvSpPr>
          <p:cNvPr id="31" name="Rectangle 30"/>
          <p:cNvSpPr/>
          <p:nvPr/>
        </p:nvSpPr>
        <p:spPr>
          <a:xfrm>
            <a:off x="4591811" y="4562855"/>
            <a:ext cx="1115354"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762030" y="4562855"/>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+23</a:t>
            </a:r>
          </a:p>
        </p:txBody>
      </p:sp>
      <p:sp>
        <p:nvSpPr>
          <p:cNvPr id="33" name="Rectangle 32"/>
          <p:cNvSpPr/>
          <p:nvPr/>
        </p:nvSpPr>
        <p:spPr>
          <a:xfrm>
            <a:off x="2797047" y="5381244"/>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970783" y="5321807"/>
            <a:ext cx="1329944" cy="219456"/>
          </a:xfrm>
          <a:prstGeom prst="rect">
            <a:avLst/>
          </a:prstGeom>
          <a:noFill/>
        </p:spPr>
        <p:txBody>
          <a:bodyPr wrap="none" anchor="ctr" lIns="0" rIns="0" tIns="0" bIns="0"/>
          <a:lstStyle/>
          <a:p>
            <a:pPr algn="l">
              <a:spcBef>
                <a:spcPts val="0"/>
              </a:spcBef>
              <a:spcAft>
                <a:spcPts val="0"/>
              </a:spcAft>
            </a:pPr>
            <a:r>
              <a:rPr sz="1100" b="0" i="0">
                <a:solidFill>
                  <a:srgbClr val="2C3A4A"/>
                </a:solidFill>
                <a:latin typeface="Karla"/>
              </a:rPr>
              <a:t>No (basesize = 1)</a:t>
            </a:r>
          </a:p>
        </p:txBody>
      </p:sp>
      <p:sp>
        <p:nvSpPr>
          <p:cNvPr id="35" name="Rectangle 34"/>
          <p:cNvSpPr/>
          <p:nvPr/>
        </p:nvSpPr>
        <p:spPr>
          <a:xfrm>
            <a:off x="4648199" y="5381244"/>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821935" y="5321807"/>
            <a:ext cx="1564640" cy="219456"/>
          </a:xfrm>
          <a:prstGeom prst="rect">
            <a:avLst/>
          </a:prstGeom>
          <a:noFill/>
        </p:spPr>
        <p:txBody>
          <a:bodyPr wrap="none" anchor="ctr" lIns="0" rIns="0" tIns="0" bIns="0"/>
          <a:lstStyle/>
          <a:p>
            <a:pPr algn="l">
              <a:spcBef>
                <a:spcPts val="0"/>
              </a:spcBef>
              <a:spcAft>
                <a:spcPts val="0"/>
              </a:spcAft>
            </a:pPr>
            <a:r>
              <a:rPr sz="1100" b="0" i="0">
                <a:solidFill>
                  <a:srgbClr val="2C3A4A"/>
                </a:solidFill>
                <a:latin typeface="Karla"/>
              </a:rPr>
              <a:t>Yes (basesize = 149)</a:t>
            </a:r>
          </a:p>
        </p:txBody>
      </p:sp>
      <p:sp>
        <p:nvSpPr>
          <p:cNvPr id="37" name="Rounded Rectangle 36"/>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935467" y="618001"/>
            <a:ext cx="1709927" cy="132431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38" descr="E5.png"/>
          <p:cNvPicPr>
            <a:picLocks noChangeAspect="1"/>
          </p:cNvPicPr>
          <p:nvPr/>
        </p:nvPicPr>
        <p:blipFill>
          <a:blip r:embed="rId2"/>
          <a:stretch>
            <a:fillRect/>
          </a:stretch>
        </p:blipFill>
        <p:spPr>
          <a:xfrm>
            <a:off x="7949183" y="631717"/>
            <a:ext cx="1682495" cy="1296884"/>
          </a:xfrm>
          <a:prstGeom prst="rect">
            <a:avLst/>
          </a:prstGeom>
        </p:spPr>
      </p:pic>
      <p:sp>
        <p:nvSpPr>
          <p:cNvPr id="40" name="TextBox 39"/>
          <p:cNvSpPr txBox="1"/>
          <p:nvPr/>
        </p:nvSpPr>
        <p:spPr>
          <a:xfrm>
            <a:off x="7912607" y="1983466"/>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E05 Orange</a:t>
            </a:r>
          </a:p>
          <a:p>
            <a:pPr algn="ctr">
              <a:spcBef>
                <a:spcPts val="0"/>
              </a:spcBef>
              <a:spcAft>
                <a:spcPts val="0"/>
              </a:spcAft>
            </a:pPr>
            <a:r>
              <a:rPr sz="1200" b="0" i="0">
                <a:solidFill>
                  <a:srgbClr val="1E2D44"/>
                </a:solidFill>
                <a:latin typeface="Karla"/>
              </a:rPr>
              <a:t>Chocolate Top Left…</a:t>
            </a:r>
          </a:p>
        </p:txBody>
      </p:sp>
      <p:sp>
        <p:nvSpPr>
          <p:cNvPr id="41" name="TextBox 40"/>
          <p:cNvSpPr txBox="1"/>
          <p:nvPr/>
        </p:nvSpPr>
        <p:spPr>
          <a:xfrm>
            <a:off x="7912607" y="2349226"/>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+21*</a:t>
            </a:r>
          </a:p>
        </p:txBody>
      </p:sp>
      <p:sp>
        <p:nvSpPr>
          <p:cNvPr id="42" name="Rectangle 41"/>
          <p:cNvSpPr/>
          <p:nvPr/>
        </p:nvSpPr>
        <p:spPr>
          <a:xfrm>
            <a:off x="9855707" y="618001"/>
            <a:ext cx="1709927" cy="132431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3" name="Picture 42" descr="E11.png"/>
          <p:cNvPicPr>
            <a:picLocks noChangeAspect="1"/>
          </p:cNvPicPr>
          <p:nvPr/>
        </p:nvPicPr>
        <p:blipFill>
          <a:blip r:embed="rId3"/>
          <a:stretch>
            <a:fillRect/>
          </a:stretch>
        </p:blipFill>
        <p:spPr>
          <a:xfrm>
            <a:off x="9869423" y="631717"/>
            <a:ext cx="1682495" cy="1296884"/>
          </a:xfrm>
          <a:prstGeom prst="rect">
            <a:avLst/>
          </a:prstGeom>
        </p:spPr>
      </p:pic>
      <p:sp>
        <p:nvSpPr>
          <p:cNvPr id="44" name="TextBox 43"/>
          <p:cNvSpPr txBox="1"/>
          <p:nvPr/>
        </p:nvSpPr>
        <p:spPr>
          <a:xfrm>
            <a:off x="9832847" y="1983466"/>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Vanilla Chocolate</a:t>
            </a:r>
          </a:p>
          <a:p>
            <a:pPr algn="ctr">
              <a:spcBef>
                <a:spcPts val="0"/>
              </a:spcBef>
              <a:spcAft>
                <a:spcPts val="0"/>
              </a:spcAft>
            </a:pPr>
            <a:r>
              <a:rPr sz="1200" b="0" i="0">
                <a:solidFill>
                  <a:srgbClr val="1E2D44"/>
                </a:solidFill>
                <a:latin typeface="Karla"/>
              </a:rPr>
              <a:t>Top Left Dark Text…</a:t>
            </a:r>
          </a:p>
        </p:txBody>
      </p:sp>
      <p:sp>
        <p:nvSpPr>
          <p:cNvPr id="45" name="TextBox 44"/>
          <p:cNvSpPr txBox="1"/>
          <p:nvPr/>
        </p:nvSpPr>
        <p:spPr>
          <a:xfrm>
            <a:off x="9832847" y="2349226"/>
            <a:ext cx="1755647" cy="237744"/>
          </a:xfrm>
          <a:prstGeom prst="rect">
            <a:avLst/>
          </a:prstGeom>
          <a:noFill/>
        </p:spPr>
        <p:txBody>
          <a:bodyPr wrap="square" anchor="t" lIns="0" rIns="0" tIns="0" bIns="0"/>
          <a:lstStyle/>
          <a:p>
            <a:pPr algn="ctr">
              <a:spcBef>
                <a:spcPts val="0"/>
              </a:spcBef>
              <a:spcAft>
                <a:spcPts val="0"/>
              </a:spcAft>
            </a:pPr>
            <a:r>
              <a:rPr sz="1500" b="1" i="0">
                <a:solidFill>
                  <a:srgbClr val="617086"/>
                </a:solidFill>
                <a:latin typeface="Karla"/>
              </a:rPr>
              <a:t>0*</a:t>
            </a:r>
          </a:p>
        </p:txBody>
      </p:sp>
      <p:sp>
        <p:nvSpPr>
          <p:cNvPr id="46" name="Rectangle 45"/>
          <p:cNvSpPr/>
          <p:nvPr/>
        </p:nvSpPr>
        <p:spPr>
          <a:xfrm>
            <a:off x="7935467" y="3178321"/>
            <a:ext cx="1709927" cy="132431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7" name="Picture 46" descr="E2.png"/>
          <p:cNvPicPr>
            <a:picLocks noChangeAspect="1"/>
          </p:cNvPicPr>
          <p:nvPr/>
        </p:nvPicPr>
        <p:blipFill>
          <a:blip r:embed="rId4"/>
          <a:stretch>
            <a:fillRect/>
          </a:stretch>
        </p:blipFill>
        <p:spPr>
          <a:xfrm>
            <a:off x="7949183" y="3192037"/>
            <a:ext cx="1682495" cy="1296884"/>
          </a:xfrm>
          <a:prstGeom prst="rect">
            <a:avLst/>
          </a:prstGeom>
        </p:spPr>
      </p:pic>
      <p:sp>
        <p:nvSpPr>
          <p:cNvPr id="48" name="TextBox 47"/>
          <p:cNvSpPr txBox="1"/>
          <p:nvPr/>
        </p:nvSpPr>
        <p:spPr>
          <a:xfrm>
            <a:off x="7912607" y="4543786"/>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E02 Tripple</a:t>
            </a:r>
          </a:p>
          <a:p>
            <a:pPr algn="ctr">
              <a:spcBef>
                <a:spcPts val="0"/>
              </a:spcBef>
              <a:spcAft>
                <a:spcPts val="0"/>
              </a:spcAft>
            </a:pPr>
            <a:r>
              <a:rPr sz="1200" b="0" i="0">
                <a:solidFill>
                  <a:srgbClr val="1E2D44"/>
                </a:solidFill>
                <a:latin typeface="Karla"/>
              </a:rPr>
              <a:t>Chocolate Chip Top…</a:t>
            </a:r>
          </a:p>
        </p:txBody>
      </p:sp>
      <p:sp>
        <p:nvSpPr>
          <p:cNvPr id="49" name="TextBox 48"/>
          <p:cNvSpPr txBox="1"/>
          <p:nvPr/>
        </p:nvSpPr>
        <p:spPr>
          <a:xfrm>
            <a:off x="7912607" y="4909546"/>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+15*</a:t>
            </a:r>
          </a:p>
        </p:txBody>
      </p:sp>
      <p:sp>
        <p:nvSpPr>
          <p:cNvPr id="50" name="Rectangle 49"/>
          <p:cNvSpPr/>
          <p:nvPr/>
        </p:nvSpPr>
        <p:spPr>
          <a:xfrm>
            <a:off x="9855707" y="3178321"/>
            <a:ext cx="1709927" cy="132431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1" name="Picture 50" descr="E8.png"/>
          <p:cNvPicPr>
            <a:picLocks noChangeAspect="1"/>
          </p:cNvPicPr>
          <p:nvPr/>
        </p:nvPicPr>
        <p:blipFill>
          <a:blip r:embed="rId5"/>
          <a:stretch>
            <a:fillRect/>
          </a:stretch>
        </p:blipFill>
        <p:spPr>
          <a:xfrm>
            <a:off x="9869423" y="3192037"/>
            <a:ext cx="1682495" cy="1296884"/>
          </a:xfrm>
          <a:prstGeom prst="rect">
            <a:avLst/>
          </a:prstGeom>
        </p:spPr>
      </p:pic>
      <p:sp>
        <p:nvSpPr>
          <p:cNvPr id="52" name="TextBox 51"/>
          <p:cNvSpPr txBox="1"/>
          <p:nvPr/>
        </p:nvSpPr>
        <p:spPr>
          <a:xfrm>
            <a:off x="9832847" y="4543786"/>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E08 Banana</a:t>
            </a:r>
          </a:p>
          <a:p>
            <a:pPr algn="ctr">
              <a:spcBef>
                <a:spcPts val="0"/>
              </a:spcBef>
              <a:spcAft>
                <a:spcPts val="0"/>
              </a:spcAft>
            </a:pPr>
            <a:r>
              <a:rPr sz="1200" b="0" i="0">
                <a:solidFill>
                  <a:srgbClr val="1E2D44"/>
                </a:solidFill>
                <a:latin typeface="Karla"/>
              </a:rPr>
              <a:t>Chocolate Top Left…</a:t>
            </a:r>
          </a:p>
        </p:txBody>
      </p:sp>
      <p:sp>
        <p:nvSpPr>
          <p:cNvPr id="53" name="TextBox 52"/>
          <p:cNvSpPr txBox="1"/>
          <p:nvPr/>
        </p:nvSpPr>
        <p:spPr>
          <a:xfrm>
            <a:off x="9832847" y="4909546"/>
            <a:ext cx="1755647" cy="237744"/>
          </a:xfrm>
          <a:prstGeom prst="rect">
            <a:avLst/>
          </a:prstGeom>
          <a:noFill/>
        </p:spPr>
        <p:txBody>
          <a:bodyPr wrap="square" anchor="t" lIns="0" rIns="0" tIns="0" bIns="0"/>
          <a:lstStyle/>
          <a:p>
            <a:pPr algn="ctr">
              <a:spcBef>
                <a:spcPts val="0"/>
              </a:spcBef>
              <a:spcAft>
                <a:spcPts val="0"/>
              </a:spcAft>
            </a:pPr>
            <a:r>
              <a:rPr sz="1500" b="1" i="0">
                <a:solidFill>
                  <a:srgbClr val="DD0000"/>
                </a:solidFill>
                <a:latin typeface="Karla"/>
              </a:rPr>
              <a:t>-8*</a:t>
            </a:r>
          </a:p>
        </p:txBody>
      </p:sp>
      <p:sp>
        <p:nvSpPr>
          <p:cNvPr id="54" name="Rounded Rectangle 53"/>
          <p:cNvSpPr/>
          <p:nvPr/>
        </p:nvSpPr>
        <p:spPr>
          <a:xfrm>
            <a:off x="502920" y="5632704"/>
            <a:ext cx="11268455" cy="676656"/>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200" b="0">
                <a:solidFill>
                  <a:srgbClr val="1E2D44"/>
                </a:solidFill>
                <a:latin typeface="Karla"/>
              </a:rPr>
              <a:t>No favors E05 Orange Chocolate Top Left Dark Text Panel; Yes favor Vanilla Chocolate Top Left Dark Text Panel. The widest segment gap is E08 Banana Chocolate Top Left Dark Text Panel: -40 no / +23 yes.</a:t>
            </a:r>
          </a:p>
        </p:txBody>
      </p:sp>
      <p:sp>
        <p:nvSpPr>
          <p:cNvPr id="55" name="Rectangle 54"/>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No basesize = 1; Yes basesize = 149. Top-2 scores rounded to whole points. *Average of the groups in the legend.</a:t>
            </a:r>
          </a:p>
        </p:txBody>
      </p:sp>
      <p:sp>
        <p:nvSpPr>
          <p:cNvPr id="57" name="TextBox 56"/>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37744"/>
            <a:ext cx="7043927" cy="182880"/>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KEY FINDINGS: E_FLAVOUR  ·  Can you read english?   ·   2 of 3</a:t>
            </a:r>
          </a:p>
        </p:txBody>
      </p:sp>
      <p:sp>
        <p:nvSpPr>
          <p:cNvPr id="3" name="TextBox 2"/>
          <p:cNvSpPr txBox="1"/>
          <p:nvPr/>
        </p:nvSpPr>
        <p:spPr>
          <a:xfrm>
            <a:off x="502920" y="438912"/>
            <a:ext cx="7043927" cy="365760"/>
          </a:xfrm>
          <a:prstGeom prst="rect">
            <a:avLst/>
          </a:prstGeom>
          <a:noFill/>
        </p:spPr>
        <p:txBody>
          <a:bodyPr wrap="square" anchor="t" lIns="0" rIns="0" tIns="0" bIns="0"/>
          <a:lstStyle/>
          <a:p>
            <a:pPr algn="l">
              <a:spcBef>
                <a:spcPts val="0"/>
              </a:spcBef>
              <a:spcAft>
                <a:spcPts val="0"/>
              </a:spcAft>
            </a:pPr>
            <a:r>
              <a:rPr sz="2600" b="1" i="0">
                <a:solidFill>
                  <a:srgbClr val="1E2D44"/>
                </a:solidFill>
                <a:latin typeface="Karla"/>
              </a:rPr>
              <a:t>E_Flavour splits across the groups</a:t>
            </a:r>
          </a:p>
        </p:txBody>
      </p:sp>
      <p:sp>
        <p:nvSpPr>
          <p:cNvPr id="4" name="TextBox 3"/>
          <p:cNvSpPr txBox="1"/>
          <p:nvPr/>
        </p:nvSpPr>
        <p:spPr>
          <a:xfrm>
            <a:off x="502920" y="822960"/>
            <a:ext cx="7043927" cy="475488"/>
          </a:xfrm>
          <a:prstGeom prst="rect">
            <a:avLst/>
          </a:prstGeom>
          <a:noFill/>
        </p:spPr>
        <p:txBody>
          <a:bodyPr wrap="square" anchor="t" lIns="0" rIns="0" tIns="0" bIns="0"/>
          <a:lstStyle/>
          <a:p>
            <a:pPr algn="l">
              <a:spcBef>
                <a:spcPts val="0"/>
              </a:spcBef>
              <a:spcAft>
                <a:spcPts val="0"/>
              </a:spcAft>
            </a:pPr>
            <a:r>
              <a:rPr sz="1200" b="0" i="0">
                <a:solidFill>
                  <a:srgbClr val="617086"/>
                </a:solidFill>
                <a:latin typeface="Karla"/>
              </a:rPr>
              <a:t>No favors E05 Orange Chocolate Top Left Dark Text Panel; Yes favor Vanilla Chocolate Top Left Dark Text Panel.</a:t>
            </a:r>
          </a:p>
        </p:txBody>
      </p:sp>
      <p:sp>
        <p:nvSpPr>
          <p:cNvPr id="5" name="Rectangle 4"/>
          <p:cNvSpPr/>
          <p:nvPr/>
        </p:nvSpPr>
        <p:spPr>
          <a:xfrm>
            <a:off x="502920" y="1335024"/>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E_FLAVOUR</a:t>
            </a:r>
          </a:p>
        </p:txBody>
      </p:sp>
      <p:sp>
        <p:nvSpPr>
          <p:cNvPr id="6" name="Rectangle 5"/>
          <p:cNvSpPr/>
          <p:nvPr/>
        </p:nvSpPr>
        <p:spPr>
          <a:xfrm>
            <a:off x="2167128" y="1645920"/>
            <a:ext cx="9144" cy="3310128"/>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74520"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-40</a:t>
            </a:r>
          </a:p>
        </p:txBody>
      </p:sp>
      <p:sp>
        <p:nvSpPr>
          <p:cNvPr id="8" name="Rectangle 7"/>
          <p:cNvSpPr/>
          <p:nvPr/>
        </p:nvSpPr>
        <p:spPr>
          <a:xfrm>
            <a:off x="3783583" y="1645920"/>
            <a:ext cx="9144" cy="3310128"/>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90975"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0" name="TextBox 9"/>
          <p:cNvSpPr txBox="1"/>
          <p:nvPr/>
        </p:nvSpPr>
        <p:spPr>
          <a:xfrm>
            <a:off x="5107431"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11" name="Rectangle 10"/>
          <p:cNvSpPr/>
          <p:nvPr/>
        </p:nvSpPr>
        <p:spPr>
          <a:xfrm>
            <a:off x="7016495" y="1645920"/>
            <a:ext cx="9144" cy="3310128"/>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23887"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3" name="Rectangle 12"/>
          <p:cNvSpPr/>
          <p:nvPr/>
        </p:nvSpPr>
        <p:spPr>
          <a:xfrm>
            <a:off x="5400039" y="1645920"/>
            <a:ext cx="10972" cy="3310128"/>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167128" y="4956048"/>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1883664"/>
            <a:ext cx="1554480" cy="352044"/>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Vanilla Chocolate</a:t>
            </a:r>
          </a:p>
          <a:p>
            <a:pPr algn="r">
              <a:spcBef>
                <a:spcPts val="0"/>
              </a:spcBef>
              <a:spcAft>
                <a:spcPts val="0"/>
              </a:spcAft>
            </a:pPr>
            <a:r>
              <a:rPr sz="1000" b="0" i="0">
                <a:solidFill>
                  <a:srgbClr val="1E2D44"/>
                </a:solidFill>
                <a:latin typeface="Karla"/>
              </a:rPr>
              <a:t>Top Left White Text…</a:t>
            </a:r>
          </a:p>
        </p:txBody>
      </p:sp>
      <p:sp>
        <p:nvSpPr>
          <p:cNvPr id="16" name="Rectangle 15"/>
          <p:cNvSpPr/>
          <p:nvPr/>
        </p:nvSpPr>
        <p:spPr>
          <a:xfrm>
            <a:off x="5400039" y="1883664"/>
            <a:ext cx="1131519"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6422" y="1883664"/>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+14</a:t>
            </a:r>
          </a:p>
        </p:txBody>
      </p:sp>
      <p:sp>
        <p:nvSpPr>
          <p:cNvPr id="18" name="Rectangle 17"/>
          <p:cNvSpPr/>
          <p:nvPr/>
        </p:nvSpPr>
        <p:spPr>
          <a:xfrm>
            <a:off x="5400039" y="2080260"/>
            <a:ext cx="889050"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43954" y="2080260"/>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+11</a:t>
            </a:r>
          </a:p>
        </p:txBody>
      </p:sp>
      <p:sp>
        <p:nvSpPr>
          <p:cNvPr id="20" name="TextBox 19"/>
          <p:cNvSpPr txBox="1"/>
          <p:nvPr/>
        </p:nvSpPr>
        <p:spPr>
          <a:xfrm>
            <a:off x="502920" y="2711196"/>
            <a:ext cx="1554480" cy="352044"/>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E03 Tripple</a:t>
            </a:r>
          </a:p>
          <a:p>
            <a:pPr algn="r">
              <a:spcBef>
                <a:spcPts val="0"/>
              </a:spcBef>
              <a:spcAft>
                <a:spcPts val="0"/>
              </a:spcAft>
            </a:pPr>
            <a:r>
              <a:rPr sz="1000" b="0" i="0">
                <a:solidFill>
                  <a:srgbClr val="1E2D44"/>
                </a:solidFill>
                <a:latin typeface="Karla"/>
              </a:rPr>
              <a:t>Chocolate Chip Top…</a:t>
            </a:r>
          </a:p>
        </p:txBody>
      </p:sp>
      <p:sp>
        <p:nvSpPr>
          <p:cNvPr id="21" name="Rectangle 20"/>
          <p:cNvSpPr/>
          <p:nvPr/>
        </p:nvSpPr>
        <p:spPr>
          <a:xfrm>
            <a:off x="4187697" y="2711196"/>
            <a:ext cx="1212341"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5633" y="2711196"/>
            <a:ext cx="457200" cy="155448"/>
          </a:xfrm>
          <a:prstGeom prst="rect">
            <a:avLst/>
          </a:prstGeom>
          <a:noFill/>
        </p:spPr>
        <p:txBody>
          <a:bodyPr wrap="none" anchor="ctr" lIns="0" rIns="0" tIns="0" bIns="0"/>
          <a:lstStyle/>
          <a:p>
            <a:pPr algn="r">
              <a:spcBef>
                <a:spcPts val="0"/>
              </a:spcBef>
              <a:spcAft>
                <a:spcPts val="0"/>
              </a:spcAft>
            </a:pPr>
            <a:r>
              <a:rPr sz="1200" b="1" i="0">
                <a:solidFill>
                  <a:srgbClr val="1A2332"/>
                </a:solidFill>
                <a:latin typeface="Karla"/>
              </a:rPr>
              <a:t>-15</a:t>
            </a:r>
          </a:p>
        </p:txBody>
      </p:sp>
      <p:sp>
        <p:nvSpPr>
          <p:cNvPr id="23" name="Rectangle 22"/>
          <p:cNvSpPr/>
          <p:nvPr/>
        </p:nvSpPr>
        <p:spPr>
          <a:xfrm>
            <a:off x="5400039" y="2907791"/>
            <a:ext cx="969873"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24777" y="2907791"/>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+12</a:t>
            </a:r>
          </a:p>
        </p:txBody>
      </p:sp>
      <p:sp>
        <p:nvSpPr>
          <p:cNvPr id="25" name="TextBox 24"/>
          <p:cNvSpPr txBox="1"/>
          <p:nvPr/>
        </p:nvSpPr>
        <p:spPr>
          <a:xfrm>
            <a:off x="502920" y="3538728"/>
            <a:ext cx="1554480" cy="352044"/>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E09 Banana Chocolate</a:t>
            </a:r>
          </a:p>
          <a:p>
            <a:pPr algn="r">
              <a:spcBef>
                <a:spcPts val="0"/>
              </a:spcBef>
              <a:spcAft>
                <a:spcPts val="0"/>
              </a:spcAft>
            </a:pPr>
            <a:r>
              <a:rPr sz="1000" b="0" i="0">
                <a:solidFill>
                  <a:srgbClr val="1E2D44"/>
                </a:solidFill>
                <a:latin typeface="Karla"/>
              </a:rPr>
              <a:t>Top Left White Text…</a:t>
            </a:r>
          </a:p>
        </p:txBody>
      </p:sp>
      <p:sp>
        <p:nvSpPr>
          <p:cNvPr id="26" name="Rectangle 25"/>
          <p:cNvSpPr/>
          <p:nvPr/>
        </p:nvSpPr>
        <p:spPr>
          <a:xfrm>
            <a:off x="5400039" y="3538728"/>
            <a:ext cx="808227"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63131" y="3538728"/>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+10</a:t>
            </a:r>
          </a:p>
        </p:txBody>
      </p:sp>
      <p:sp>
        <p:nvSpPr>
          <p:cNvPr id="28" name="Rectangle 27"/>
          <p:cNvSpPr/>
          <p:nvPr/>
        </p:nvSpPr>
        <p:spPr>
          <a:xfrm>
            <a:off x="5400039" y="3735324"/>
            <a:ext cx="969873"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24777" y="3735324"/>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+12</a:t>
            </a:r>
          </a:p>
        </p:txBody>
      </p:sp>
      <p:sp>
        <p:nvSpPr>
          <p:cNvPr id="30" name="TextBox 29"/>
          <p:cNvSpPr txBox="1"/>
          <p:nvPr/>
        </p:nvSpPr>
        <p:spPr>
          <a:xfrm>
            <a:off x="502920" y="4366259"/>
            <a:ext cx="1554480" cy="352044"/>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Vanilla Chocolate</a:t>
            </a:r>
          </a:p>
          <a:p>
            <a:pPr algn="r">
              <a:spcBef>
                <a:spcPts val="0"/>
              </a:spcBef>
              <a:spcAft>
                <a:spcPts val="0"/>
              </a:spcAft>
            </a:pPr>
            <a:r>
              <a:rPr sz="1000" b="0" i="0">
                <a:solidFill>
                  <a:srgbClr val="1E2D44"/>
                </a:solidFill>
                <a:latin typeface="Karla"/>
              </a:rPr>
              <a:t>Top Centre Dark Text…</a:t>
            </a:r>
          </a:p>
        </p:txBody>
      </p:sp>
      <p:sp>
        <p:nvSpPr>
          <p:cNvPr id="31" name="Rectangle 30"/>
          <p:cNvSpPr/>
          <p:nvPr/>
        </p:nvSpPr>
        <p:spPr>
          <a:xfrm>
            <a:off x="3541115" y="4366259"/>
            <a:ext cx="1858924"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029051" y="4366259"/>
            <a:ext cx="457200" cy="155448"/>
          </a:xfrm>
          <a:prstGeom prst="rect">
            <a:avLst/>
          </a:prstGeom>
          <a:noFill/>
        </p:spPr>
        <p:txBody>
          <a:bodyPr wrap="none" anchor="ctr" lIns="0" rIns="0" tIns="0" bIns="0"/>
          <a:lstStyle/>
          <a:p>
            <a:pPr algn="r">
              <a:spcBef>
                <a:spcPts val="0"/>
              </a:spcBef>
              <a:spcAft>
                <a:spcPts val="0"/>
              </a:spcAft>
            </a:pPr>
            <a:r>
              <a:rPr sz="1200" b="1" i="0">
                <a:solidFill>
                  <a:srgbClr val="1A2332"/>
                </a:solidFill>
                <a:latin typeface="Karla"/>
              </a:rPr>
              <a:t>-23</a:t>
            </a:r>
          </a:p>
        </p:txBody>
      </p:sp>
      <p:sp>
        <p:nvSpPr>
          <p:cNvPr id="33" name="Rectangle 32"/>
          <p:cNvSpPr/>
          <p:nvPr/>
        </p:nvSpPr>
        <p:spPr>
          <a:xfrm>
            <a:off x="5400039" y="4562855"/>
            <a:ext cx="969873"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24777" y="4562855"/>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+12</a:t>
            </a:r>
          </a:p>
        </p:txBody>
      </p:sp>
      <p:sp>
        <p:nvSpPr>
          <p:cNvPr id="35" name="Rectangle 34"/>
          <p:cNvSpPr/>
          <p:nvPr/>
        </p:nvSpPr>
        <p:spPr>
          <a:xfrm>
            <a:off x="2797047" y="5381244"/>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970783" y="5321807"/>
            <a:ext cx="1329944" cy="219456"/>
          </a:xfrm>
          <a:prstGeom prst="rect">
            <a:avLst/>
          </a:prstGeom>
          <a:noFill/>
        </p:spPr>
        <p:txBody>
          <a:bodyPr wrap="none" anchor="ctr" lIns="0" rIns="0" tIns="0" bIns="0"/>
          <a:lstStyle/>
          <a:p>
            <a:pPr algn="l">
              <a:spcBef>
                <a:spcPts val="0"/>
              </a:spcBef>
              <a:spcAft>
                <a:spcPts val="0"/>
              </a:spcAft>
            </a:pPr>
            <a:r>
              <a:rPr sz="1100" b="0" i="0">
                <a:solidFill>
                  <a:srgbClr val="2C3A4A"/>
                </a:solidFill>
                <a:latin typeface="Karla"/>
              </a:rPr>
              <a:t>No (basesize = 1)</a:t>
            </a:r>
          </a:p>
        </p:txBody>
      </p:sp>
      <p:sp>
        <p:nvSpPr>
          <p:cNvPr id="37" name="Rectangle 36"/>
          <p:cNvSpPr/>
          <p:nvPr/>
        </p:nvSpPr>
        <p:spPr>
          <a:xfrm>
            <a:off x="4648199" y="5381244"/>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821935" y="5321807"/>
            <a:ext cx="1564640" cy="219456"/>
          </a:xfrm>
          <a:prstGeom prst="rect">
            <a:avLst/>
          </a:prstGeom>
          <a:noFill/>
        </p:spPr>
        <p:txBody>
          <a:bodyPr wrap="none" anchor="ctr" lIns="0" rIns="0" tIns="0" bIns="0"/>
          <a:lstStyle/>
          <a:p>
            <a:pPr algn="l">
              <a:spcBef>
                <a:spcPts val="0"/>
              </a:spcBef>
              <a:spcAft>
                <a:spcPts val="0"/>
              </a:spcAft>
            </a:pPr>
            <a:r>
              <a:rPr sz="1100" b="0" i="0">
                <a:solidFill>
                  <a:srgbClr val="2C3A4A"/>
                </a:solidFill>
                <a:latin typeface="Karla"/>
              </a:rPr>
              <a:t>Yes (basesize = 149)</a:t>
            </a:r>
          </a:p>
        </p:txBody>
      </p:sp>
      <p:sp>
        <p:nvSpPr>
          <p:cNvPr id="39" name="Rounded Rectangle 38"/>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935467" y="618001"/>
            <a:ext cx="1709927" cy="132431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E12.png"/>
          <p:cNvPicPr>
            <a:picLocks noChangeAspect="1"/>
          </p:cNvPicPr>
          <p:nvPr/>
        </p:nvPicPr>
        <p:blipFill>
          <a:blip r:embed="rId2"/>
          <a:stretch>
            <a:fillRect/>
          </a:stretch>
        </p:blipFill>
        <p:spPr>
          <a:xfrm>
            <a:off x="7949183" y="631717"/>
            <a:ext cx="1682495" cy="1296884"/>
          </a:xfrm>
          <a:prstGeom prst="rect">
            <a:avLst/>
          </a:prstGeom>
        </p:spPr>
      </p:pic>
      <p:sp>
        <p:nvSpPr>
          <p:cNvPr id="42" name="TextBox 41"/>
          <p:cNvSpPr txBox="1"/>
          <p:nvPr/>
        </p:nvSpPr>
        <p:spPr>
          <a:xfrm>
            <a:off x="7912607" y="1983466"/>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Vanilla Chocolate</a:t>
            </a:r>
          </a:p>
          <a:p>
            <a:pPr algn="ctr">
              <a:spcBef>
                <a:spcPts val="0"/>
              </a:spcBef>
              <a:spcAft>
                <a:spcPts val="0"/>
              </a:spcAft>
            </a:pPr>
            <a:r>
              <a:rPr sz="1200" b="0" i="0">
                <a:solidFill>
                  <a:srgbClr val="1E2D44"/>
                </a:solidFill>
                <a:latin typeface="Karla"/>
              </a:rPr>
              <a:t>Top Left White Text…</a:t>
            </a:r>
          </a:p>
        </p:txBody>
      </p:sp>
      <p:sp>
        <p:nvSpPr>
          <p:cNvPr id="43" name="TextBox 42"/>
          <p:cNvSpPr txBox="1"/>
          <p:nvPr/>
        </p:nvSpPr>
        <p:spPr>
          <a:xfrm>
            <a:off x="7912607" y="2349226"/>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+12*</a:t>
            </a:r>
          </a:p>
        </p:txBody>
      </p:sp>
      <p:sp>
        <p:nvSpPr>
          <p:cNvPr id="44" name="Rectangle 43"/>
          <p:cNvSpPr/>
          <p:nvPr/>
        </p:nvSpPr>
        <p:spPr>
          <a:xfrm>
            <a:off x="9855707" y="618001"/>
            <a:ext cx="1709927" cy="132431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5" name="Picture 44" descr="E3.png"/>
          <p:cNvPicPr>
            <a:picLocks noChangeAspect="1"/>
          </p:cNvPicPr>
          <p:nvPr/>
        </p:nvPicPr>
        <p:blipFill>
          <a:blip r:embed="rId3"/>
          <a:stretch>
            <a:fillRect/>
          </a:stretch>
        </p:blipFill>
        <p:spPr>
          <a:xfrm>
            <a:off x="9869423" y="631717"/>
            <a:ext cx="1682495" cy="1296884"/>
          </a:xfrm>
          <a:prstGeom prst="rect">
            <a:avLst/>
          </a:prstGeom>
        </p:spPr>
      </p:pic>
      <p:sp>
        <p:nvSpPr>
          <p:cNvPr id="46" name="TextBox 45"/>
          <p:cNvSpPr txBox="1"/>
          <p:nvPr/>
        </p:nvSpPr>
        <p:spPr>
          <a:xfrm>
            <a:off x="9832847" y="1983466"/>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E03 Tripple</a:t>
            </a:r>
          </a:p>
          <a:p>
            <a:pPr algn="ctr">
              <a:spcBef>
                <a:spcPts val="0"/>
              </a:spcBef>
              <a:spcAft>
                <a:spcPts val="0"/>
              </a:spcAft>
            </a:pPr>
            <a:r>
              <a:rPr sz="1200" b="0" i="0">
                <a:solidFill>
                  <a:srgbClr val="1E2D44"/>
                </a:solidFill>
                <a:latin typeface="Karla"/>
              </a:rPr>
              <a:t>Chocolate Chip Top…</a:t>
            </a:r>
          </a:p>
        </p:txBody>
      </p:sp>
      <p:sp>
        <p:nvSpPr>
          <p:cNvPr id="47" name="TextBox 46"/>
          <p:cNvSpPr txBox="1"/>
          <p:nvPr/>
        </p:nvSpPr>
        <p:spPr>
          <a:xfrm>
            <a:off x="9832847" y="2349226"/>
            <a:ext cx="1755647" cy="237744"/>
          </a:xfrm>
          <a:prstGeom prst="rect">
            <a:avLst/>
          </a:prstGeom>
          <a:noFill/>
        </p:spPr>
        <p:txBody>
          <a:bodyPr wrap="square" anchor="t" lIns="0" rIns="0" tIns="0" bIns="0"/>
          <a:lstStyle/>
          <a:p>
            <a:pPr algn="ctr">
              <a:spcBef>
                <a:spcPts val="0"/>
              </a:spcBef>
              <a:spcAft>
                <a:spcPts val="0"/>
              </a:spcAft>
            </a:pPr>
            <a:r>
              <a:rPr sz="1500" b="1" i="0">
                <a:solidFill>
                  <a:srgbClr val="DD0000"/>
                </a:solidFill>
                <a:latin typeface="Karla"/>
              </a:rPr>
              <a:t>-2*</a:t>
            </a:r>
          </a:p>
        </p:txBody>
      </p:sp>
      <p:sp>
        <p:nvSpPr>
          <p:cNvPr id="48" name="Rectangle 47"/>
          <p:cNvSpPr/>
          <p:nvPr/>
        </p:nvSpPr>
        <p:spPr>
          <a:xfrm>
            <a:off x="7935467" y="3178321"/>
            <a:ext cx="1709927" cy="132431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9" name="Picture 48" descr="E9.png"/>
          <p:cNvPicPr>
            <a:picLocks noChangeAspect="1"/>
          </p:cNvPicPr>
          <p:nvPr/>
        </p:nvPicPr>
        <p:blipFill>
          <a:blip r:embed="rId4"/>
          <a:stretch>
            <a:fillRect/>
          </a:stretch>
        </p:blipFill>
        <p:spPr>
          <a:xfrm>
            <a:off x="7949183" y="3192037"/>
            <a:ext cx="1682495" cy="1296884"/>
          </a:xfrm>
          <a:prstGeom prst="rect">
            <a:avLst/>
          </a:prstGeom>
        </p:spPr>
      </p:pic>
      <p:sp>
        <p:nvSpPr>
          <p:cNvPr id="50" name="TextBox 49"/>
          <p:cNvSpPr txBox="1"/>
          <p:nvPr/>
        </p:nvSpPr>
        <p:spPr>
          <a:xfrm>
            <a:off x="7912607" y="4543786"/>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E09 Banana</a:t>
            </a:r>
          </a:p>
          <a:p>
            <a:pPr algn="ctr">
              <a:spcBef>
                <a:spcPts val="0"/>
              </a:spcBef>
              <a:spcAft>
                <a:spcPts val="0"/>
              </a:spcAft>
            </a:pPr>
            <a:r>
              <a:rPr sz="1200" b="0" i="0">
                <a:solidFill>
                  <a:srgbClr val="1E2D44"/>
                </a:solidFill>
                <a:latin typeface="Karla"/>
              </a:rPr>
              <a:t>Chocolate Top Left…</a:t>
            </a:r>
          </a:p>
        </p:txBody>
      </p:sp>
      <p:sp>
        <p:nvSpPr>
          <p:cNvPr id="51" name="TextBox 50"/>
          <p:cNvSpPr txBox="1"/>
          <p:nvPr/>
        </p:nvSpPr>
        <p:spPr>
          <a:xfrm>
            <a:off x="7912607" y="4909546"/>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+11*</a:t>
            </a:r>
          </a:p>
        </p:txBody>
      </p:sp>
      <p:sp>
        <p:nvSpPr>
          <p:cNvPr id="52" name="Rectangle 51"/>
          <p:cNvSpPr/>
          <p:nvPr/>
        </p:nvSpPr>
        <p:spPr>
          <a:xfrm>
            <a:off x="9855707" y="3178321"/>
            <a:ext cx="1709927" cy="132431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3" name="Picture 52" descr="E10.png"/>
          <p:cNvPicPr>
            <a:picLocks noChangeAspect="1"/>
          </p:cNvPicPr>
          <p:nvPr/>
        </p:nvPicPr>
        <p:blipFill>
          <a:blip r:embed="rId5"/>
          <a:stretch>
            <a:fillRect/>
          </a:stretch>
        </p:blipFill>
        <p:spPr>
          <a:xfrm>
            <a:off x="9869423" y="3192037"/>
            <a:ext cx="1682495" cy="1296884"/>
          </a:xfrm>
          <a:prstGeom prst="rect">
            <a:avLst/>
          </a:prstGeom>
        </p:spPr>
      </p:pic>
      <p:sp>
        <p:nvSpPr>
          <p:cNvPr id="54" name="TextBox 53"/>
          <p:cNvSpPr txBox="1"/>
          <p:nvPr/>
        </p:nvSpPr>
        <p:spPr>
          <a:xfrm>
            <a:off x="9832847" y="4543786"/>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Vanilla Chocolate</a:t>
            </a:r>
          </a:p>
          <a:p>
            <a:pPr algn="ctr">
              <a:spcBef>
                <a:spcPts val="0"/>
              </a:spcBef>
              <a:spcAft>
                <a:spcPts val="0"/>
              </a:spcAft>
            </a:pPr>
            <a:r>
              <a:rPr sz="1200" b="0" i="0">
                <a:solidFill>
                  <a:srgbClr val="1E2D44"/>
                </a:solidFill>
                <a:latin typeface="Karla"/>
              </a:rPr>
              <a:t>Top Centre Dark…</a:t>
            </a:r>
          </a:p>
        </p:txBody>
      </p:sp>
      <p:sp>
        <p:nvSpPr>
          <p:cNvPr id="55" name="TextBox 54"/>
          <p:cNvSpPr txBox="1"/>
          <p:nvPr/>
        </p:nvSpPr>
        <p:spPr>
          <a:xfrm>
            <a:off x="9832847" y="4909546"/>
            <a:ext cx="1755647" cy="237744"/>
          </a:xfrm>
          <a:prstGeom prst="rect">
            <a:avLst/>
          </a:prstGeom>
          <a:noFill/>
        </p:spPr>
        <p:txBody>
          <a:bodyPr wrap="square" anchor="t" lIns="0" rIns="0" tIns="0" bIns="0"/>
          <a:lstStyle/>
          <a:p>
            <a:pPr algn="ctr">
              <a:spcBef>
                <a:spcPts val="0"/>
              </a:spcBef>
              <a:spcAft>
                <a:spcPts val="0"/>
              </a:spcAft>
            </a:pPr>
            <a:r>
              <a:rPr sz="1500" b="1" i="0">
                <a:solidFill>
                  <a:srgbClr val="DD0000"/>
                </a:solidFill>
                <a:latin typeface="Karla"/>
              </a:rPr>
              <a:t>-6*</a:t>
            </a:r>
          </a:p>
        </p:txBody>
      </p:sp>
      <p:sp>
        <p:nvSpPr>
          <p:cNvPr id="56" name="Rounded Rectangle 55"/>
          <p:cNvSpPr/>
          <p:nvPr/>
        </p:nvSpPr>
        <p:spPr>
          <a:xfrm>
            <a:off x="502920" y="5632704"/>
            <a:ext cx="11268455" cy="676656"/>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200" b="0">
                <a:solidFill>
                  <a:srgbClr val="1E2D44"/>
                </a:solidFill>
                <a:latin typeface="Karla"/>
              </a:rPr>
              <a:t>No favors E05 Orange Chocolate Top Left Dark Text Panel; Yes favor Vanilla Chocolate Top Left Dark Text Panel. The widest segment gap is E08 Banana Chocolate Top Left Dark Text Panel: -40 no / +23 yes.</a:t>
            </a:r>
          </a:p>
        </p:txBody>
      </p:sp>
      <p:sp>
        <p:nvSpPr>
          <p:cNvPr id="57" name="Rectangle 56"/>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No basesize = 1; Yes basesize = 149. Top-2 scores rounded to whole points. *Average of the groups in the legend.</a:t>
            </a:r>
          </a:p>
        </p:txBody>
      </p:sp>
      <p:sp>
        <p:nvSpPr>
          <p:cNvPr id="59" name="TextBox 58"/>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37744"/>
            <a:ext cx="7043927" cy="182880"/>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KEY FINDINGS: E_FLAVOUR  ·  Can you read english?   ·   3 of 3</a:t>
            </a:r>
          </a:p>
        </p:txBody>
      </p:sp>
      <p:sp>
        <p:nvSpPr>
          <p:cNvPr id="3" name="TextBox 2"/>
          <p:cNvSpPr txBox="1"/>
          <p:nvPr/>
        </p:nvSpPr>
        <p:spPr>
          <a:xfrm>
            <a:off x="502920" y="438912"/>
            <a:ext cx="7043927" cy="365760"/>
          </a:xfrm>
          <a:prstGeom prst="rect">
            <a:avLst/>
          </a:prstGeom>
          <a:noFill/>
        </p:spPr>
        <p:txBody>
          <a:bodyPr wrap="square" anchor="t" lIns="0" rIns="0" tIns="0" bIns="0"/>
          <a:lstStyle/>
          <a:p>
            <a:pPr algn="l">
              <a:spcBef>
                <a:spcPts val="0"/>
              </a:spcBef>
              <a:spcAft>
                <a:spcPts val="0"/>
              </a:spcAft>
            </a:pPr>
            <a:r>
              <a:rPr sz="2600" b="1" i="0">
                <a:solidFill>
                  <a:srgbClr val="1E2D44"/>
                </a:solidFill>
                <a:latin typeface="Karla"/>
              </a:rPr>
              <a:t>E_Flavour splits across the groups</a:t>
            </a:r>
          </a:p>
        </p:txBody>
      </p:sp>
      <p:sp>
        <p:nvSpPr>
          <p:cNvPr id="4" name="TextBox 3"/>
          <p:cNvSpPr txBox="1"/>
          <p:nvPr/>
        </p:nvSpPr>
        <p:spPr>
          <a:xfrm>
            <a:off x="502920" y="822960"/>
            <a:ext cx="7043927" cy="475488"/>
          </a:xfrm>
          <a:prstGeom prst="rect">
            <a:avLst/>
          </a:prstGeom>
          <a:noFill/>
        </p:spPr>
        <p:txBody>
          <a:bodyPr wrap="square" anchor="t" lIns="0" rIns="0" tIns="0" bIns="0"/>
          <a:lstStyle/>
          <a:p>
            <a:pPr algn="l">
              <a:spcBef>
                <a:spcPts val="0"/>
              </a:spcBef>
              <a:spcAft>
                <a:spcPts val="0"/>
              </a:spcAft>
            </a:pPr>
            <a:r>
              <a:rPr sz="1200" b="0" i="0">
                <a:solidFill>
                  <a:srgbClr val="617086"/>
                </a:solidFill>
                <a:latin typeface="Karla"/>
              </a:rPr>
              <a:t>No favors E05 Orange Chocolate Top Left Dark Text Panel; Yes favor Vanilla Chocolate Top Left Dark Text Panel.</a:t>
            </a:r>
          </a:p>
        </p:txBody>
      </p:sp>
      <p:sp>
        <p:nvSpPr>
          <p:cNvPr id="5" name="Rectangle 4"/>
          <p:cNvSpPr/>
          <p:nvPr/>
        </p:nvSpPr>
        <p:spPr>
          <a:xfrm>
            <a:off x="502920" y="1335024"/>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E_FLAVOUR</a:t>
            </a:r>
          </a:p>
        </p:txBody>
      </p:sp>
      <p:sp>
        <p:nvSpPr>
          <p:cNvPr id="6" name="Rectangle 5"/>
          <p:cNvSpPr/>
          <p:nvPr/>
        </p:nvSpPr>
        <p:spPr>
          <a:xfrm>
            <a:off x="2167128" y="1645920"/>
            <a:ext cx="9144" cy="3310128"/>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74520"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8" name="TextBox 7"/>
          <p:cNvSpPr txBox="1"/>
          <p:nvPr/>
        </p:nvSpPr>
        <p:spPr>
          <a:xfrm>
            <a:off x="3490975"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9" name="Rectangle 8"/>
          <p:cNvSpPr/>
          <p:nvPr/>
        </p:nvSpPr>
        <p:spPr>
          <a:xfrm>
            <a:off x="5400039" y="1645920"/>
            <a:ext cx="9144" cy="3310128"/>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7431"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11" name="Rectangle 10"/>
          <p:cNvSpPr/>
          <p:nvPr/>
        </p:nvSpPr>
        <p:spPr>
          <a:xfrm>
            <a:off x="7016495" y="1645920"/>
            <a:ext cx="9144" cy="3310128"/>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23887"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3" name="Rectangle 12"/>
          <p:cNvSpPr/>
          <p:nvPr/>
        </p:nvSpPr>
        <p:spPr>
          <a:xfrm>
            <a:off x="3783583" y="1645920"/>
            <a:ext cx="10972" cy="3310128"/>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167128" y="4956048"/>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1883664"/>
            <a:ext cx="1554480" cy="352044"/>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E01 Tripple</a:t>
            </a:r>
          </a:p>
          <a:p>
            <a:pPr algn="r">
              <a:spcBef>
                <a:spcPts val="0"/>
              </a:spcBef>
              <a:spcAft>
                <a:spcPts val="0"/>
              </a:spcAft>
            </a:pPr>
            <a:r>
              <a:rPr sz="1000" b="0" i="0">
                <a:solidFill>
                  <a:srgbClr val="1E2D44"/>
                </a:solidFill>
                <a:latin typeface="Karla"/>
              </a:rPr>
              <a:t>Chocolate Chip Top…</a:t>
            </a:r>
          </a:p>
        </p:txBody>
      </p:sp>
      <p:sp>
        <p:nvSpPr>
          <p:cNvPr id="16" name="Rectangle 15"/>
          <p:cNvSpPr/>
          <p:nvPr/>
        </p:nvSpPr>
        <p:spPr>
          <a:xfrm>
            <a:off x="3783583" y="1883664"/>
            <a:ext cx="1293164"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31612" y="1883664"/>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+8</a:t>
            </a:r>
          </a:p>
        </p:txBody>
      </p:sp>
      <p:sp>
        <p:nvSpPr>
          <p:cNvPr id="18" name="Rectangle 17"/>
          <p:cNvSpPr/>
          <p:nvPr/>
        </p:nvSpPr>
        <p:spPr>
          <a:xfrm>
            <a:off x="3783583" y="2080260"/>
            <a:ext cx="1778101"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16549" y="2080260"/>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+11</a:t>
            </a:r>
          </a:p>
        </p:txBody>
      </p:sp>
      <p:sp>
        <p:nvSpPr>
          <p:cNvPr id="20" name="TextBox 19"/>
          <p:cNvSpPr txBox="1"/>
          <p:nvPr/>
        </p:nvSpPr>
        <p:spPr>
          <a:xfrm>
            <a:off x="502920" y="2711196"/>
            <a:ext cx="1554480" cy="352044"/>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E06 Orange Chocolate</a:t>
            </a:r>
          </a:p>
          <a:p>
            <a:pPr algn="r">
              <a:spcBef>
                <a:spcPts val="0"/>
              </a:spcBef>
              <a:spcAft>
                <a:spcPts val="0"/>
              </a:spcAft>
            </a:pPr>
            <a:r>
              <a:rPr sz="1000" b="0" i="0">
                <a:solidFill>
                  <a:srgbClr val="1E2D44"/>
                </a:solidFill>
                <a:latin typeface="Karla"/>
              </a:rPr>
              <a:t>Top Left White Text…</a:t>
            </a:r>
          </a:p>
        </p:txBody>
      </p:sp>
      <p:sp>
        <p:nvSpPr>
          <p:cNvPr id="21" name="Rectangle 20"/>
          <p:cNvSpPr/>
          <p:nvPr/>
        </p:nvSpPr>
        <p:spPr>
          <a:xfrm>
            <a:off x="3137001" y="2711196"/>
            <a:ext cx="646582"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624937" y="2711196"/>
            <a:ext cx="457200" cy="155448"/>
          </a:xfrm>
          <a:prstGeom prst="rect">
            <a:avLst/>
          </a:prstGeom>
          <a:noFill/>
        </p:spPr>
        <p:txBody>
          <a:bodyPr wrap="none" anchor="ctr" lIns="0" rIns="0" tIns="0" bIns="0"/>
          <a:lstStyle/>
          <a:p>
            <a:pPr algn="r">
              <a:spcBef>
                <a:spcPts val="0"/>
              </a:spcBef>
              <a:spcAft>
                <a:spcPts val="0"/>
              </a:spcAft>
            </a:pPr>
            <a:r>
              <a:rPr sz="1200" b="1" i="0">
                <a:solidFill>
                  <a:srgbClr val="1A2332"/>
                </a:solidFill>
                <a:latin typeface="Karla"/>
              </a:rPr>
              <a:t>-4</a:t>
            </a:r>
          </a:p>
        </p:txBody>
      </p:sp>
      <p:sp>
        <p:nvSpPr>
          <p:cNvPr id="23" name="Rectangle 22"/>
          <p:cNvSpPr/>
          <p:nvPr/>
        </p:nvSpPr>
        <p:spPr>
          <a:xfrm>
            <a:off x="3783583" y="2907791"/>
            <a:ext cx="1778101"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616549" y="2907791"/>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+11</a:t>
            </a:r>
          </a:p>
        </p:txBody>
      </p:sp>
      <p:sp>
        <p:nvSpPr>
          <p:cNvPr id="25" name="TextBox 24"/>
          <p:cNvSpPr txBox="1"/>
          <p:nvPr/>
        </p:nvSpPr>
        <p:spPr>
          <a:xfrm>
            <a:off x="502920" y="3538728"/>
            <a:ext cx="1554480" cy="352044"/>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E07 Banana Chocolate</a:t>
            </a:r>
          </a:p>
          <a:p>
            <a:pPr algn="r">
              <a:spcBef>
                <a:spcPts val="0"/>
              </a:spcBef>
              <a:spcAft>
                <a:spcPts val="0"/>
              </a:spcAft>
            </a:pPr>
            <a:r>
              <a:rPr sz="1000" b="0" i="0">
                <a:solidFill>
                  <a:srgbClr val="1E2D44"/>
                </a:solidFill>
                <a:latin typeface="Karla"/>
              </a:rPr>
              <a:t>Top Centre Dark Text…</a:t>
            </a:r>
          </a:p>
        </p:txBody>
      </p:sp>
      <p:sp>
        <p:nvSpPr>
          <p:cNvPr id="26" name="Rectangle 25"/>
          <p:cNvSpPr/>
          <p:nvPr/>
        </p:nvSpPr>
        <p:spPr>
          <a:xfrm>
            <a:off x="3298647" y="3538728"/>
            <a:ext cx="484936"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786583" y="3538728"/>
            <a:ext cx="457200" cy="155448"/>
          </a:xfrm>
          <a:prstGeom prst="rect">
            <a:avLst/>
          </a:prstGeom>
          <a:noFill/>
        </p:spPr>
        <p:txBody>
          <a:bodyPr wrap="none" anchor="ctr" lIns="0" rIns="0" tIns="0" bIns="0"/>
          <a:lstStyle/>
          <a:p>
            <a:pPr algn="r">
              <a:spcBef>
                <a:spcPts val="0"/>
              </a:spcBef>
              <a:spcAft>
                <a:spcPts val="0"/>
              </a:spcAft>
            </a:pPr>
            <a:r>
              <a:rPr sz="1200" b="1" i="0">
                <a:solidFill>
                  <a:srgbClr val="1A2332"/>
                </a:solidFill>
                <a:latin typeface="Karla"/>
              </a:rPr>
              <a:t>-3</a:t>
            </a:r>
          </a:p>
        </p:txBody>
      </p:sp>
      <p:sp>
        <p:nvSpPr>
          <p:cNvPr id="28" name="Rectangle 27"/>
          <p:cNvSpPr/>
          <p:nvPr/>
        </p:nvSpPr>
        <p:spPr>
          <a:xfrm>
            <a:off x="3783583" y="3735324"/>
            <a:ext cx="1454810"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293258" y="3735324"/>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+9</a:t>
            </a:r>
          </a:p>
        </p:txBody>
      </p:sp>
      <p:sp>
        <p:nvSpPr>
          <p:cNvPr id="30" name="TextBox 29"/>
          <p:cNvSpPr txBox="1"/>
          <p:nvPr/>
        </p:nvSpPr>
        <p:spPr>
          <a:xfrm>
            <a:off x="502920" y="4366259"/>
            <a:ext cx="1554480" cy="352044"/>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E04 Orange Chocolate</a:t>
            </a:r>
          </a:p>
          <a:p>
            <a:pPr algn="r">
              <a:spcBef>
                <a:spcPts val="0"/>
              </a:spcBef>
              <a:spcAft>
                <a:spcPts val="0"/>
              </a:spcAft>
            </a:pPr>
            <a:r>
              <a:rPr sz="1000" b="0" i="0">
                <a:solidFill>
                  <a:srgbClr val="1E2D44"/>
                </a:solidFill>
                <a:latin typeface="Karla"/>
              </a:rPr>
              <a:t>Top Centre Dark Text…</a:t>
            </a:r>
          </a:p>
        </p:txBody>
      </p:sp>
      <p:sp>
        <p:nvSpPr>
          <p:cNvPr id="31" name="Rectangle 30"/>
          <p:cNvSpPr/>
          <p:nvPr/>
        </p:nvSpPr>
        <p:spPr>
          <a:xfrm>
            <a:off x="3783583" y="4366259"/>
            <a:ext cx="1293164"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131612" y="4366259"/>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+8</a:t>
            </a:r>
          </a:p>
        </p:txBody>
      </p:sp>
      <p:sp>
        <p:nvSpPr>
          <p:cNvPr id="33" name="Rectangle 32"/>
          <p:cNvSpPr/>
          <p:nvPr/>
        </p:nvSpPr>
        <p:spPr>
          <a:xfrm>
            <a:off x="3783583" y="4562855"/>
            <a:ext cx="1293164"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131612" y="4562855"/>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+8</a:t>
            </a:r>
          </a:p>
        </p:txBody>
      </p:sp>
      <p:sp>
        <p:nvSpPr>
          <p:cNvPr id="35" name="Rectangle 34"/>
          <p:cNvSpPr/>
          <p:nvPr/>
        </p:nvSpPr>
        <p:spPr>
          <a:xfrm>
            <a:off x="2797047" y="5381244"/>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970783" y="5321807"/>
            <a:ext cx="1329944" cy="219456"/>
          </a:xfrm>
          <a:prstGeom prst="rect">
            <a:avLst/>
          </a:prstGeom>
          <a:noFill/>
        </p:spPr>
        <p:txBody>
          <a:bodyPr wrap="none" anchor="ctr" lIns="0" rIns="0" tIns="0" bIns="0"/>
          <a:lstStyle/>
          <a:p>
            <a:pPr algn="l">
              <a:spcBef>
                <a:spcPts val="0"/>
              </a:spcBef>
              <a:spcAft>
                <a:spcPts val="0"/>
              </a:spcAft>
            </a:pPr>
            <a:r>
              <a:rPr sz="1100" b="0" i="0">
                <a:solidFill>
                  <a:srgbClr val="2C3A4A"/>
                </a:solidFill>
                <a:latin typeface="Karla"/>
              </a:rPr>
              <a:t>No (basesize = 1)</a:t>
            </a:r>
          </a:p>
        </p:txBody>
      </p:sp>
      <p:sp>
        <p:nvSpPr>
          <p:cNvPr id="37" name="Rectangle 36"/>
          <p:cNvSpPr/>
          <p:nvPr/>
        </p:nvSpPr>
        <p:spPr>
          <a:xfrm>
            <a:off x="4648199" y="5381244"/>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821935" y="5321807"/>
            <a:ext cx="1564640" cy="219456"/>
          </a:xfrm>
          <a:prstGeom prst="rect">
            <a:avLst/>
          </a:prstGeom>
          <a:noFill/>
        </p:spPr>
        <p:txBody>
          <a:bodyPr wrap="none" anchor="ctr" lIns="0" rIns="0" tIns="0" bIns="0"/>
          <a:lstStyle/>
          <a:p>
            <a:pPr algn="l">
              <a:spcBef>
                <a:spcPts val="0"/>
              </a:spcBef>
              <a:spcAft>
                <a:spcPts val="0"/>
              </a:spcAft>
            </a:pPr>
            <a:r>
              <a:rPr sz="1100" b="0" i="0">
                <a:solidFill>
                  <a:srgbClr val="2C3A4A"/>
                </a:solidFill>
                <a:latin typeface="Karla"/>
              </a:rPr>
              <a:t>Yes (basesize = 149)</a:t>
            </a:r>
          </a:p>
        </p:txBody>
      </p:sp>
      <p:sp>
        <p:nvSpPr>
          <p:cNvPr id="39" name="Rounded Rectangle 38"/>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935467" y="618001"/>
            <a:ext cx="1709927" cy="132431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E1.png"/>
          <p:cNvPicPr>
            <a:picLocks noChangeAspect="1"/>
          </p:cNvPicPr>
          <p:nvPr/>
        </p:nvPicPr>
        <p:blipFill>
          <a:blip r:embed="rId2"/>
          <a:stretch>
            <a:fillRect/>
          </a:stretch>
        </p:blipFill>
        <p:spPr>
          <a:xfrm>
            <a:off x="7949183" y="631717"/>
            <a:ext cx="1682495" cy="1296884"/>
          </a:xfrm>
          <a:prstGeom prst="rect">
            <a:avLst/>
          </a:prstGeom>
        </p:spPr>
      </p:pic>
      <p:sp>
        <p:nvSpPr>
          <p:cNvPr id="42" name="TextBox 41"/>
          <p:cNvSpPr txBox="1"/>
          <p:nvPr/>
        </p:nvSpPr>
        <p:spPr>
          <a:xfrm>
            <a:off x="7912607" y="1983466"/>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E01 Tripple</a:t>
            </a:r>
          </a:p>
          <a:p>
            <a:pPr algn="ctr">
              <a:spcBef>
                <a:spcPts val="0"/>
              </a:spcBef>
              <a:spcAft>
                <a:spcPts val="0"/>
              </a:spcAft>
            </a:pPr>
            <a:r>
              <a:rPr sz="1200" b="0" i="0">
                <a:solidFill>
                  <a:srgbClr val="1E2D44"/>
                </a:solidFill>
                <a:latin typeface="Karla"/>
              </a:rPr>
              <a:t>Chocolate Chip Top…</a:t>
            </a:r>
          </a:p>
        </p:txBody>
      </p:sp>
      <p:sp>
        <p:nvSpPr>
          <p:cNvPr id="43" name="TextBox 42"/>
          <p:cNvSpPr txBox="1"/>
          <p:nvPr/>
        </p:nvSpPr>
        <p:spPr>
          <a:xfrm>
            <a:off x="7912607" y="2349226"/>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+10*</a:t>
            </a:r>
          </a:p>
        </p:txBody>
      </p:sp>
      <p:sp>
        <p:nvSpPr>
          <p:cNvPr id="44" name="Rectangle 43"/>
          <p:cNvSpPr/>
          <p:nvPr/>
        </p:nvSpPr>
        <p:spPr>
          <a:xfrm>
            <a:off x="9855707" y="618001"/>
            <a:ext cx="1709927" cy="132431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5" name="Picture 44" descr="E6.png"/>
          <p:cNvPicPr>
            <a:picLocks noChangeAspect="1"/>
          </p:cNvPicPr>
          <p:nvPr/>
        </p:nvPicPr>
        <p:blipFill>
          <a:blip r:embed="rId3"/>
          <a:stretch>
            <a:fillRect/>
          </a:stretch>
        </p:blipFill>
        <p:spPr>
          <a:xfrm>
            <a:off x="9869423" y="631717"/>
            <a:ext cx="1682495" cy="1296884"/>
          </a:xfrm>
          <a:prstGeom prst="rect">
            <a:avLst/>
          </a:prstGeom>
        </p:spPr>
      </p:pic>
      <p:sp>
        <p:nvSpPr>
          <p:cNvPr id="46" name="TextBox 45"/>
          <p:cNvSpPr txBox="1"/>
          <p:nvPr/>
        </p:nvSpPr>
        <p:spPr>
          <a:xfrm>
            <a:off x="9832847" y="1983466"/>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E06 Orange</a:t>
            </a:r>
          </a:p>
          <a:p>
            <a:pPr algn="ctr">
              <a:spcBef>
                <a:spcPts val="0"/>
              </a:spcBef>
              <a:spcAft>
                <a:spcPts val="0"/>
              </a:spcAft>
            </a:pPr>
            <a:r>
              <a:rPr sz="1200" b="0" i="0">
                <a:solidFill>
                  <a:srgbClr val="1E2D44"/>
                </a:solidFill>
                <a:latin typeface="Karla"/>
              </a:rPr>
              <a:t>Chocolate Top Left…</a:t>
            </a:r>
          </a:p>
        </p:txBody>
      </p:sp>
      <p:sp>
        <p:nvSpPr>
          <p:cNvPr id="47" name="TextBox 46"/>
          <p:cNvSpPr txBox="1"/>
          <p:nvPr/>
        </p:nvSpPr>
        <p:spPr>
          <a:xfrm>
            <a:off x="9832847" y="2349226"/>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+4*</a:t>
            </a:r>
          </a:p>
        </p:txBody>
      </p:sp>
      <p:sp>
        <p:nvSpPr>
          <p:cNvPr id="48" name="Rectangle 47"/>
          <p:cNvSpPr/>
          <p:nvPr/>
        </p:nvSpPr>
        <p:spPr>
          <a:xfrm>
            <a:off x="7935467" y="3178321"/>
            <a:ext cx="1709927" cy="132431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9" name="Picture 48" descr="E7.png"/>
          <p:cNvPicPr>
            <a:picLocks noChangeAspect="1"/>
          </p:cNvPicPr>
          <p:nvPr/>
        </p:nvPicPr>
        <p:blipFill>
          <a:blip r:embed="rId4"/>
          <a:stretch>
            <a:fillRect/>
          </a:stretch>
        </p:blipFill>
        <p:spPr>
          <a:xfrm>
            <a:off x="7949183" y="3192037"/>
            <a:ext cx="1682495" cy="1296884"/>
          </a:xfrm>
          <a:prstGeom prst="rect">
            <a:avLst/>
          </a:prstGeom>
        </p:spPr>
      </p:pic>
      <p:sp>
        <p:nvSpPr>
          <p:cNvPr id="50" name="TextBox 49"/>
          <p:cNvSpPr txBox="1"/>
          <p:nvPr/>
        </p:nvSpPr>
        <p:spPr>
          <a:xfrm>
            <a:off x="7912607" y="4543786"/>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E07 Banana</a:t>
            </a:r>
          </a:p>
          <a:p>
            <a:pPr algn="ctr">
              <a:spcBef>
                <a:spcPts val="0"/>
              </a:spcBef>
              <a:spcAft>
                <a:spcPts val="0"/>
              </a:spcAft>
            </a:pPr>
            <a:r>
              <a:rPr sz="1200" b="0" i="0">
                <a:solidFill>
                  <a:srgbClr val="1E2D44"/>
                </a:solidFill>
                <a:latin typeface="Karla"/>
              </a:rPr>
              <a:t>Chocolate Top…</a:t>
            </a:r>
          </a:p>
        </p:txBody>
      </p:sp>
      <p:sp>
        <p:nvSpPr>
          <p:cNvPr id="51" name="TextBox 50"/>
          <p:cNvSpPr txBox="1"/>
          <p:nvPr/>
        </p:nvSpPr>
        <p:spPr>
          <a:xfrm>
            <a:off x="7912607" y="4909546"/>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+3*</a:t>
            </a:r>
          </a:p>
        </p:txBody>
      </p:sp>
      <p:sp>
        <p:nvSpPr>
          <p:cNvPr id="52" name="Rectangle 51"/>
          <p:cNvSpPr/>
          <p:nvPr/>
        </p:nvSpPr>
        <p:spPr>
          <a:xfrm>
            <a:off x="9855707" y="3178321"/>
            <a:ext cx="1709927" cy="132431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3" name="Picture 52" descr="E4.png"/>
          <p:cNvPicPr>
            <a:picLocks noChangeAspect="1"/>
          </p:cNvPicPr>
          <p:nvPr/>
        </p:nvPicPr>
        <p:blipFill>
          <a:blip r:embed="rId5"/>
          <a:stretch>
            <a:fillRect/>
          </a:stretch>
        </p:blipFill>
        <p:spPr>
          <a:xfrm>
            <a:off x="9869423" y="3192037"/>
            <a:ext cx="1682495" cy="1296884"/>
          </a:xfrm>
          <a:prstGeom prst="rect">
            <a:avLst/>
          </a:prstGeom>
        </p:spPr>
      </p:pic>
      <p:sp>
        <p:nvSpPr>
          <p:cNvPr id="54" name="TextBox 53"/>
          <p:cNvSpPr txBox="1"/>
          <p:nvPr/>
        </p:nvSpPr>
        <p:spPr>
          <a:xfrm>
            <a:off x="9832847" y="4543786"/>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E04 Orange</a:t>
            </a:r>
          </a:p>
          <a:p>
            <a:pPr algn="ctr">
              <a:spcBef>
                <a:spcPts val="0"/>
              </a:spcBef>
              <a:spcAft>
                <a:spcPts val="0"/>
              </a:spcAft>
            </a:pPr>
            <a:r>
              <a:rPr sz="1200" b="0" i="0">
                <a:solidFill>
                  <a:srgbClr val="1E2D44"/>
                </a:solidFill>
                <a:latin typeface="Karla"/>
              </a:rPr>
              <a:t>Chocolate Top…</a:t>
            </a:r>
          </a:p>
        </p:txBody>
      </p:sp>
      <p:sp>
        <p:nvSpPr>
          <p:cNvPr id="55" name="TextBox 54"/>
          <p:cNvSpPr txBox="1"/>
          <p:nvPr/>
        </p:nvSpPr>
        <p:spPr>
          <a:xfrm>
            <a:off x="9832847" y="4909546"/>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+8*</a:t>
            </a:r>
          </a:p>
        </p:txBody>
      </p:sp>
      <p:sp>
        <p:nvSpPr>
          <p:cNvPr id="56" name="Rounded Rectangle 55"/>
          <p:cNvSpPr/>
          <p:nvPr/>
        </p:nvSpPr>
        <p:spPr>
          <a:xfrm>
            <a:off x="502920" y="5632704"/>
            <a:ext cx="11268455" cy="676656"/>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200" b="0">
                <a:solidFill>
                  <a:srgbClr val="1E2D44"/>
                </a:solidFill>
                <a:latin typeface="Karla"/>
              </a:rPr>
              <a:t>No favors E05 Orange Chocolate Top Left Dark Text Panel; Yes favor Vanilla Chocolate Top Left Dark Text Panel. The widest segment gap is E08 Banana Chocolate Top Left Dark Text Panel: -40 no / +23 yes.</a:t>
            </a:r>
          </a:p>
        </p:txBody>
      </p:sp>
      <p:sp>
        <p:nvSpPr>
          <p:cNvPr id="57" name="Rectangle 56"/>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No basesize = 1; Yes basesize = 149. Top-2 scores rounded to whole points. *Average of the groups in the legend.</a:t>
            </a:r>
          </a:p>
        </p:txBody>
      </p:sp>
      <p:sp>
        <p:nvSpPr>
          <p:cNvPr id="59" name="TextBox 58"/>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37744"/>
            <a:ext cx="7043927" cy="182880"/>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KEY FINDINGS: E_FLAVOUR  ·  Which of these countries do you live in?   ·   1 of 3</a:t>
            </a:r>
          </a:p>
        </p:txBody>
      </p:sp>
      <p:sp>
        <p:nvSpPr>
          <p:cNvPr id="3" name="TextBox 2"/>
          <p:cNvSpPr txBox="1"/>
          <p:nvPr/>
        </p:nvSpPr>
        <p:spPr>
          <a:xfrm>
            <a:off x="502920" y="438912"/>
            <a:ext cx="7043927" cy="365760"/>
          </a:xfrm>
          <a:prstGeom prst="rect">
            <a:avLst/>
          </a:prstGeom>
          <a:noFill/>
        </p:spPr>
        <p:txBody>
          <a:bodyPr wrap="square" anchor="t" lIns="0" rIns="0" tIns="0" bIns="0"/>
          <a:lstStyle/>
          <a:p>
            <a:pPr algn="l">
              <a:spcBef>
                <a:spcPts val="0"/>
              </a:spcBef>
              <a:spcAft>
                <a:spcPts val="0"/>
              </a:spcAft>
            </a:pPr>
            <a:r>
              <a:rPr sz="2600" b="1" i="0">
                <a:solidFill>
                  <a:srgbClr val="1E2D44"/>
                </a:solidFill>
                <a:latin typeface="Karla"/>
              </a:rPr>
              <a:t>E_Flavour splits across the groups</a:t>
            </a:r>
          </a:p>
        </p:txBody>
      </p:sp>
      <p:sp>
        <p:nvSpPr>
          <p:cNvPr id="4" name="TextBox 3"/>
          <p:cNvSpPr txBox="1"/>
          <p:nvPr/>
        </p:nvSpPr>
        <p:spPr>
          <a:xfrm>
            <a:off x="502920" y="822960"/>
            <a:ext cx="7043927" cy="475488"/>
          </a:xfrm>
          <a:prstGeom prst="rect">
            <a:avLst/>
          </a:prstGeom>
          <a:noFill/>
        </p:spPr>
        <p:txBody>
          <a:bodyPr wrap="square" anchor="t" lIns="0" rIns="0" tIns="0" bIns="0"/>
          <a:lstStyle/>
          <a:p>
            <a:pPr algn="l">
              <a:spcBef>
                <a:spcPts val="0"/>
              </a:spcBef>
              <a:spcAft>
                <a:spcPts val="0"/>
              </a:spcAft>
            </a:pPr>
            <a:r>
              <a:rPr sz="1200" b="0" i="0">
                <a:solidFill>
                  <a:srgbClr val="617086"/>
                </a:solidFill>
                <a:latin typeface="Karla"/>
              </a:rPr>
              <a:t>Bulgaria favors E02 Tripple Chocolate Chip Top Left Dark Text Panel; Greece favors E02 Tripple Chocolate Chip Top Left Dark Text Panel; Saudi Arabia favors Vanilla Chocolate Top Left Dark Text Panel.</a:t>
            </a:r>
          </a:p>
        </p:txBody>
      </p:sp>
      <p:sp>
        <p:nvSpPr>
          <p:cNvPr id="5" name="Rectangle 4"/>
          <p:cNvSpPr/>
          <p:nvPr/>
        </p:nvSpPr>
        <p:spPr>
          <a:xfrm>
            <a:off x="502920" y="1335024"/>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E_FLAVOUR</a:t>
            </a:r>
          </a:p>
        </p:txBody>
      </p:sp>
      <p:sp>
        <p:nvSpPr>
          <p:cNvPr id="6" name="TextBox 5"/>
          <p:cNvSpPr txBox="1"/>
          <p:nvPr/>
        </p:nvSpPr>
        <p:spPr>
          <a:xfrm>
            <a:off x="1874520"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7" name="Rectangle 6"/>
          <p:cNvSpPr/>
          <p:nvPr/>
        </p:nvSpPr>
        <p:spPr>
          <a:xfrm>
            <a:off x="3379469" y="1645920"/>
            <a:ext cx="9144" cy="3310128"/>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86861"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9" name="Rectangle 8"/>
          <p:cNvSpPr/>
          <p:nvPr/>
        </p:nvSpPr>
        <p:spPr>
          <a:xfrm>
            <a:off x="4591811" y="1645920"/>
            <a:ext cx="9144" cy="3310128"/>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9203"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1" name="Rectangle 10"/>
          <p:cNvSpPr/>
          <p:nvPr/>
        </p:nvSpPr>
        <p:spPr>
          <a:xfrm>
            <a:off x="5804153" y="1645920"/>
            <a:ext cx="9144" cy="3310128"/>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11545"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30</a:t>
            </a:r>
          </a:p>
        </p:txBody>
      </p:sp>
      <p:sp>
        <p:nvSpPr>
          <p:cNvPr id="13" name="Rectangle 12"/>
          <p:cNvSpPr/>
          <p:nvPr/>
        </p:nvSpPr>
        <p:spPr>
          <a:xfrm>
            <a:off x="7016495" y="1645920"/>
            <a:ext cx="9144" cy="3310128"/>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23887"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40</a:t>
            </a:r>
          </a:p>
        </p:txBody>
      </p:sp>
      <p:sp>
        <p:nvSpPr>
          <p:cNvPr id="15" name="Rectangle 14"/>
          <p:cNvSpPr/>
          <p:nvPr/>
        </p:nvSpPr>
        <p:spPr>
          <a:xfrm>
            <a:off x="2167128" y="1645920"/>
            <a:ext cx="10972" cy="3310128"/>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167128" y="4956048"/>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1827977"/>
            <a:ext cx="1554480" cy="463417"/>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E02 Tripple</a:t>
            </a:r>
          </a:p>
          <a:p>
            <a:pPr algn="r">
              <a:spcBef>
                <a:spcPts val="0"/>
              </a:spcBef>
              <a:spcAft>
                <a:spcPts val="0"/>
              </a:spcAft>
            </a:pPr>
            <a:r>
              <a:rPr sz="1000" b="0" i="0">
                <a:solidFill>
                  <a:srgbClr val="1E2D44"/>
                </a:solidFill>
                <a:latin typeface="Karla"/>
              </a:rPr>
              <a:t>Chocolate Chip Top…</a:t>
            </a:r>
          </a:p>
        </p:txBody>
      </p:sp>
      <p:sp>
        <p:nvSpPr>
          <p:cNvPr id="18" name="Rectangle 17"/>
          <p:cNvSpPr/>
          <p:nvPr/>
        </p:nvSpPr>
        <p:spPr>
          <a:xfrm>
            <a:off x="2167128" y="1827977"/>
            <a:ext cx="2424683" cy="127040"/>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46675" y="1827977"/>
            <a:ext cx="457200" cy="127040"/>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+20</a:t>
            </a:r>
          </a:p>
        </p:txBody>
      </p:sp>
      <p:sp>
        <p:nvSpPr>
          <p:cNvPr id="20" name="Rectangle 19"/>
          <p:cNvSpPr/>
          <p:nvPr/>
        </p:nvSpPr>
        <p:spPr>
          <a:xfrm>
            <a:off x="2167128" y="1996165"/>
            <a:ext cx="3152089" cy="127040"/>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74081" y="1996165"/>
            <a:ext cx="457200" cy="127040"/>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+26</a:t>
            </a:r>
          </a:p>
        </p:txBody>
      </p:sp>
      <p:sp>
        <p:nvSpPr>
          <p:cNvPr id="22" name="Rectangle 21"/>
          <p:cNvSpPr/>
          <p:nvPr/>
        </p:nvSpPr>
        <p:spPr>
          <a:xfrm>
            <a:off x="2167128" y="2164354"/>
            <a:ext cx="2545918" cy="12704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67910" y="2164354"/>
            <a:ext cx="457200" cy="127040"/>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+21</a:t>
            </a:r>
          </a:p>
        </p:txBody>
      </p:sp>
      <p:sp>
        <p:nvSpPr>
          <p:cNvPr id="24" name="TextBox 23"/>
          <p:cNvSpPr txBox="1"/>
          <p:nvPr/>
        </p:nvSpPr>
        <p:spPr>
          <a:xfrm>
            <a:off x="502920" y="2655509"/>
            <a:ext cx="1554480" cy="463417"/>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Vanilla Chocolate</a:t>
            </a:r>
          </a:p>
          <a:p>
            <a:pPr algn="r">
              <a:spcBef>
                <a:spcPts val="0"/>
              </a:spcBef>
              <a:spcAft>
                <a:spcPts val="0"/>
              </a:spcAft>
            </a:pPr>
            <a:r>
              <a:rPr sz="1000" b="0" i="0">
                <a:solidFill>
                  <a:srgbClr val="1E2D44"/>
                </a:solidFill>
                <a:latin typeface="Karla"/>
              </a:rPr>
              <a:t>Top Left Dark Text…</a:t>
            </a:r>
          </a:p>
        </p:txBody>
      </p:sp>
      <p:sp>
        <p:nvSpPr>
          <p:cNvPr id="25" name="Rectangle 24"/>
          <p:cNvSpPr/>
          <p:nvPr/>
        </p:nvSpPr>
        <p:spPr>
          <a:xfrm>
            <a:off x="2167128" y="2655509"/>
            <a:ext cx="2424683" cy="127040"/>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46675" y="2655509"/>
            <a:ext cx="457200" cy="127040"/>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+20</a:t>
            </a:r>
          </a:p>
        </p:txBody>
      </p:sp>
      <p:sp>
        <p:nvSpPr>
          <p:cNvPr id="27" name="Rectangle 26"/>
          <p:cNvSpPr/>
          <p:nvPr/>
        </p:nvSpPr>
        <p:spPr>
          <a:xfrm>
            <a:off x="2167128" y="2823697"/>
            <a:ext cx="2788386" cy="127040"/>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10378" y="2823697"/>
            <a:ext cx="457200" cy="127040"/>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+23</a:t>
            </a:r>
          </a:p>
        </p:txBody>
      </p:sp>
      <p:sp>
        <p:nvSpPr>
          <p:cNvPr id="29" name="Rectangle 28"/>
          <p:cNvSpPr/>
          <p:nvPr/>
        </p:nvSpPr>
        <p:spPr>
          <a:xfrm>
            <a:off x="2167128" y="2991886"/>
            <a:ext cx="3152089" cy="12704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374081" y="2991886"/>
            <a:ext cx="457200" cy="127040"/>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+26</a:t>
            </a:r>
          </a:p>
        </p:txBody>
      </p:sp>
      <p:sp>
        <p:nvSpPr>
          <p:cNvPr id="31" name="TextBox 30"/>
          <p:cNvSpPr txBox="1"/>
          <p:nvPr/>
        </p:nvSpPr>
        <p:spPr>
          <a:xfrm>
            <a:off x="502920" y="3483041"/>
            <a:ext cx="1554480" cy="463417"/>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E08 Banana Chocolate</a:t>
            </a:r>
          </a:p>
          <a:p>
            <a:pPr algn="r">
              <a:spcBef>
                <a:spcPts val="0"/>
              </a:spcBef>
              <a:spcAft>
                <a:spcPts val="0"/>
              </a:spcAft>
            </a:pPr>
            <a:r>
              <a:rPr sz="1000" b="0" i="0">
                <a:solidFill>
                  <a:srgbClr val="1E2D44"/>
                </a:solidFill>
                <a:latin typeface="Karla"/>
              </a:rPr>
              <a:t>Top Left Dark Text…</a:t>
            </a:r>
          </a:p>
        </p:txBody>
      </p:sp>
      <p:sp>
        <p:nvSpPr>
          <p:cNvPr id="32" name="Rectangle 31"/>
          <p:cNvSpPr/>
          <p:nvPr/>
        </p:nvSpPr>
        <p:spPr>
          <a:xfrm>
            <a:off x="2167128" y="3483041"/>
            <a:ext cx="2303449" cy="127040"/>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25441" y="3483041"/>
            <a:ext cx="457200" cy="127040"/>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+19</a:t>
            </a:r>
          </a:p>
        </p:txBody>
      </p:sp>
      <p:sp>
        <p:nvSpPr>
          <p:cNvPr id="34" name="Rectangle 33"/>
          <p:cNvSpPr/>
          <p:nvPr/>
        </p:nvSpPr>
        <p:spPr>
          <a:xfrm>
            <a:off x="2167128" y="3651229"/>
            <a:ext cx="3030854" cy="127040"/>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252846" y="3651229"/>
            <a:ext cx="457200" cy="127040"/>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+25</a:t>
            </a:r>
          </a:p>
        </p:txBody>
      </p:sp>
      <p:sp>
        <p:nvSpPr>
          <p:cNvPr id="36" name="Rectangle 35"/>
          <p:cNvSpPr/>
          <p:nvPr/>
        </p:nvSpPr>
        <p:spPr>
          <a:xfrm>
            <a:off x="2167128" y="3819418"/>
            <a:ext cx="3030854" cy="12704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252846" y="3819418"/>
            <a:ext cx="457200" cy="127040"/>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+25</a:t>
            </a:r>
          </a:p>
        </p:txBody>
      </p:sp>
      <p:sp>
        <p:nvSpPr>
          <p:cNvPr id="38" name="TextBox 37"/>
          <p:cNvSpPr txBox="1"/>
          <p:nvPr/>
        </p:nvSpPr>
        <p:spPr>
          <a:xfrm>
            <a:off x="502920" y="4310573"/>
            <a:ext cx="1554480" cy="463417"/>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E05 Orange Chocolate</a:t>
            </a:r>
          </a:p>
          <a:p>
            <a:pPr algn="r">
              <a:spcBef>
                <a:spcPts val="0"/>
              </a:spcBef>
              <a:spcAft>
                <a:spcPts val="0"/>
              </a:spcAft>
            </a:pPr>
            <a:r>
              <a:rPr sz="1000" b="0" i="0">
                <a:solidFill>
                  <a:srgbClr val="1E2D44"/>
                </a:solidFill>
                <a:latin typeface="Karla"/>
              </a:rPr>
              <a:t>Top Left Dark Text…</a:t>
            </a:r>
          </a:p>
        </p:txBody>
      </p:sp>
      <p:sp>
        <p:nvSpPr>
          <p:cNvPr id="39" name="Rectangle 38"/>
          <p:cNvSpPr/>
          <p:nvPr/>
        </p:nvSpPr>
        <p:spPr>
          <a:xfrm>
            <a:off x="2167128" y="4310573"/>
            <a:ext cx="2060981" cy="127040"/>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282973" y="4310573"/>
            <a:ext cx="457200" cy="127040"/>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+17</a:t>
            </a:r>
          </a:p>
        </p:txBody>
      </p:sp>
      <p:sp>
        <p:nvSpPr>
          <p:cNvPr id="41" name="Rectangle 40"/>
          <p:cNvSpPr/>
          <p:nvPr/>
        </p:nvSpPr>
        <p:spPr>
          <a:xfrm>
            <a:off x="2167128" y="4478761"/>
            <a:ext cx="2545918" cy="127040"/>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767910" y="4478761"/>
            <a:ext cx="457200" cy="127040"/>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+21</a:t>
            </a:r>
          </a:p>
        </p:txBody>
      </p:sp>
      <p:sp>
        <p:nvSpPr>
          <p:cNvPr id="43" name="Rectangle 42"/>
          <p:cNvSpPr/>
          <p:nvPr/>
        </p:nvSpPr>
        <p:spPr>
          <a:xfrm>
            <a:off x="2167128" y="4646950"/>
            <a:ext cx="1818512" cy="12704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040504" y="4646950"/>
            <a:ext cx="457200" cy="127040"/>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+15</a:t>
            </a:r>
          </a:p>
        </p:txBody>
      </p:sp>
      <p:sp>
        <p:nvSpPr>
          <p:cNvPr id="45" name="Rectangle 44"/>
          <p:cNvSpPr/>
          <p:nvPr/>
        </p:nvSpPr>
        <p:spPr>
          <a:xfrm>
            <a:off x="1250695" y="5381244"/>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424431" y="5321807"/>
            <a:ext cx="170688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Bulgaria (basesize = 50)</a:t>
            </a:r>
          </a:p>
        </p:txBody>
      </p:sp>
      <p:sp>
        <p:nvSpPr>
          <p:cNvPr id="47" name="Rectangle 46"/>
          <p:cNvSpPr/>
          <p:nvPr/>
        </p:nvSpPr>
        <p:spPr>
          <a:xfrm>
            <a:off x="3387343" y="5381244"/>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561079" y="5321807"/>
            <a:ext cx="156464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Greece (basesize = 49)</a:t>
            </a:r>
          </a:p>
        </p:txBody>
      </p:sp>
      <p:sp>
        <p:nvSpPr>
          <p:cNvPr id="49" name="Rectangle 48"/>
          <p:cNvSpPr/>
          <p:nvPr/>
        </p:nvSpPr>
        <p:spPr>
          <a:xfrm>
            <a:off x="5381751" y="5381244"/>
            <a:ext cx="100584" cy="10058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555487" y="5321807"/>
            <a:ext cx="199136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Saudi Arabia (basesize = 51)</a:t>
            </a:r>
          </a:p>
        </p:txBody>
      </p:sp>
      <p:sp>
        <p:nvSpPr>
          <p:cNvPr id="51" name="Rounded Rectangle 50"/>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7935467" y="618001"/>
            <a:ext cx="1709927" cy="132431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3" name="Picture 52" descr="E2.png"/>
          <p:cNvPicPr>
            <a:picLocks noChangeAspect="1"/>
          </p:cNvPicPr>
          <p:nvPr/>
        </p:nvPicPr>
        <p:blipFill>
          <a:blip r:embed="rId2"/>
          <a:stretch>
            <a:fillRect/>
          </a:stretch>
        </p:blipFill>
        <p:spPr>
          <a:xfrm>
            <a:off x="7949183" y="631717"/>
            <a:ext cx="1682495" cy="1296884"/>
          </a:xfrm>
          <a:prstGeom prst="rect">
            <a:avLst/>
          </a:prstGeom>
        </p:spPr>
      </p:pic>
      <p:sp>
        <p:nvSpPr>
          <p:cNvPr id="54" name="TextBox 53"/>
          <p:cNvSpPr txBox="1"/>
          <p:nvPr/>
        </p:nvSpPr>
        <p:spPr>
          <a:xfrm>
            <a:off x="7912607" y="1983466"/>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E02 Tripple</a:t>
            </a:r>
          </a:p>
          <a:p>
            <a:pPr algn="ctr">
              <a:spcBef>
                <a:spcPts val="0"/>
              </a:spcBef>
              <a:spcAft>
                <a:spcPts val="0"/>
              </a:spcAft>
            </a:pPr>
            <a:r>
              <a:rPr sz="1200" b="0" i="0">
                <a:solidFill>
                  <a:srgbClr val="1E2D44"/>
                </a:solidFill>
                <a:latin typeface="Karla"/>
              </a:rPr>
              <a:t>Chocolate Chip Top…</a:t>
            </a:r>
          </a:p>
        </p:txBody>
      </p:sp>
      <p:sp>
        <p:nvSpPr>
          <p:cNvPr id="55" name="TextBox 54"/>
          <p:cNvSpPr txBox="1"/>
          <p:nvPr/>
        </p:nvSpPr>
        <p:spPr>
          <a:xfrm>
            <a:off x="7912607" y="2349226"/>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+22*</a:t>
            </a:r>
          </a:p>
        </p:txBody>
      </p:sp>
      <p:sp>
        <p:nvSpPr>
          <p:cNvPr id="56" name="Rectangle 55"/>
          <p:cNvSpPr/>
          <p:nvPr/>
        </p:nvSpPr>
        <p:spPr>
          <a:xfrm>
            <a:off x="9855707" y="618001"/>
            <a:ext cx="1709927" cy="132431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7" name="Picture 56" descr="E11.png"/>
          <p:cNvPicPr>
            <a:picLocks noChangeAspect="1"/>
          </p:cNvPicPr>
          <p:nvPr/>
        </p:nvPicPr>
        <p:blipFill>
          <a:blip r:embed="rId3"/>
          <a:stretch>
            <a:fillRect/>
          </a:stretch>
        </p:blipFill>
        <p:spPr>
          <a:xfrm>
            <a:off x="9869423" y="631717"/>
            <a:ext cx="1682495" cy="1296884"/>
          </a:xfrm>
          <a:prstGeom prst="rect">
            <a:avLst/>
          </a:prstGeom>
        </p:spPr>
      </p:pic>
      <p:sp>
        <p:nvSpPr>
          <p:cNvPr id="58" name="TextBox 57"/>
          <p:cNvSpPr txBox="1"/>
          <p:nvPr/>
        </p:nvSpPr>
        <p:spPr>
          <a:xfrm>
            <a:off x="9832847" y="1983466"/>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Vanilla Chocolate</a:t>
            </a:r>
          </a:p>
          <a:p>
            <a:pPr algn="ctr">
              <a:spcBef>
                <a:spcPts val="0"/>
              </a:spcBef>
              <a:spcAft>
                <a:spcPts val="0"/>
              </a:spcAft>
            </a:pPr>
            <a:r>
              <a:rPr sz="1200" b="0" i="0">
                <a:solidFill>
                  <a:srgbClr val="1E2D44"/>
                </a:solidFill>
                <a:latin typeface="Karla"/>
              </a:rPr>
              <a:t>Top Left Dark Text…</a:t>
            </a:r>
          </a:p>
        </p:txBody>
      </p:sp>
      <p:sp>
        <p:nvSpPr>
          <p:cNvPr id="59" name="TextBox 58"/>
          <p:cNvSpPr txBox="1"/>
          <p:nvPr/>
        </p:nvSpPr>
        <p:spPr>
          <a:xfrm>
            <a:off x="9832847" y="2349226"/>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+23*</a:t>
            </a:r>
          </a:p>
        </p:txBody>
      </p:sp>
      <p:sp>
        <p:nvSpPr>
          <p:cNvPr id="60" name="Rectangle 59"/>
          <p:cNvSpPr/>
          <p:nvPr/>
        </p:nvSpPr>
        <p:spPr>
          <a:xfrm>
            <a:off x="7935467" y="3178321"/>
            <a:ext cx="1709927" cy="132431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1" name="Picture 60" descr="E8.png"/>
          <p:cNvPicPr>
            <a:picLocks noChangeAspect="1"/>
          </p:cNvPicPr>
          <p:nvPr/>
        </p:nvPicPr>
        <p:blipFill>
          <a:blip r:embed="rId4"/>
          <a:stretch>
            <a:fillRect/>
          </a:stretch>
        </p:blipFill>
        <p:spPr>
          <a:xfrm>
            <a:off x="7949183" y="3192037"/>
            <a:ext cx="1682495" cy="1296884"/>
          </a:xfrm>
          <a:prstGeom prst="rect">
            <a:avLst/>
          </a:prstGeom>
        </p:spPr>
      </p:pic>
      <p:sp>
        <p:nvSpPr>
          <p:cNvPr id="62" name="TextBox 61"/>
          <p:cNvSpPr txBox="1"/>
          <p:nvPr/>
        </p:nvSpPr>
        <p:spPr>
          <a:xfrm>
            <a:off x="7912607" y="4543786"/>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E08 Banana</a:t>
            </a:r>
          </a:p>
          <a:p>
            <a:pPr algn="ctr">
              <a:spcBef>
                <a:spcPts val="0"/>
              </a:spcBef>
              <a:spcAft>
                <a:spcPts val="0"/>
              </a:spcAft>
            </a:pPr>
            <a:r>
              <a:rPr sz="1200" b="0" i="0">
                <a:solidFill>
                  <a:srgbClr val="1E2D44"/>
                </a:solidFill>
                <a:latin typeface="Karla"/>
              </a:rPr>
              <a:t>Chocolate Top Left…</a:t>
            </a:r>
          </a:p>
        </p:txBody>
      </p:sp>
      <p:sp>
        <p:nvSpPr>
          <p:cNvPr id="63" name="TextBox 62"/>
          <p:cNvSpPr txBox="1"/>
          <p:nvPr/>
        </p:nvSpPr>
        <p:spPr>
          <a:xfrm>
            <a:off x="7912607" y="4909546"/>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+23*</a:t>
            </a:r>
          </a:p>
        </p:txBody>
      </p:sp>
      <p:sp>
        <p:nvSpPr>
          <p:cNvPr id="64" name="Rectangle 63"/>
          <p:cNvSpPr/>
          <p:nvPr/>
        </p:nvSpPr>
        <p:spPr>
          <a:xfrm>
            <a:off x="9855707" y="3178321"/>
            <a:ext cx="1709927" cy="132431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5" name="Picture 64" descr="E5.png"/>
          <p:cNvPicPr>
            <a:picLocks noChangeAspect="1"/>
          </p:cNvPicPr>
          <p:nvPr/>
        </p:nvPicPr>
        <p:blipFill>
          <a:blip r:embed="rId5"/>
          <a:stretch>
            <a:fillRect/>
          </a:stretch>
        </p:blipFill>
        <p:spPr>
          <a:xfrm>
            <a:off x="9869423" y="3192037"/>
            <a:ext cx="1682495" cy="1296884"/>
          </a:xfrm>
          <a:prstGeom prst="rect">
            <a:avLst/>
          </a:prstGeom>
        </p:spPr>
      </p:pic>
      <p:sp>
        <p:nvSpPr>
          <p:cNvPr id="66" name="TextBox 65"/>
          <p:cNvSpPr txBox="1"/>
          <p:nvPr/>
        </p:nvSpPr>
        <p:spPr>
          <a:xfrm>
            <a:off x="9832847" y="4543786"/>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E05 Orange</a:t>
            </a:r>
          </a:p>
          <a:p>
            <a:pPr algn="ctr">
              <a:spcBef>
                <a:spcPts val="0"/>
              </a:spcBef>
              <a:spcAft>
                <a:spcPts val="0"/>
              </a:spcAft>
            </a:pPr>
            <a:r>
              <a:rPr sz="1200" b="0" i="0">
                <a:solidFill>
                  <a:srgbClr val="1E2D44"/>
                </a:solidFill>
                <a:latin typeface="Karla"/>
              </a:rPr>
              <a:t>Chocolate Top Left…</a:t>
            </a:r>
          </a:p>
        </p:txBody>
      </p:sp>
      <p:sp>
        <p:nvSpPr>
          <p:cNvPr id="67" name="TextBox 66"/>
          <p:cNvSpPr txBox="1"/>
          <p:nvPr/>
        </p:nvSpPr>
        <p:spPr>
          <a:xfrm>
            <a:off x="9832847" y="4909546"/>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+18*</a:t>
            </a:r>
          </a:p>
        </p:txBody>
      </p:sp>
      <p:sp>
        <p:nvSpPr>
          <p:cNvPr id="68" name="Rounded Rectangle 67"/>
          <p:cNvSpPr/>
          <p:nvPr/>
        </p:nvSpPr>
        <p:spPr>
          <a:xfrm>
            <a:off x="502920" y="5632704"/>
            <a:ext cx="11268455" cy="676656"/>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200" b="0">
                <a:solidFill>
                  <a:srgbClr val="1E2D44"/>
                </a:solidFill>
                <a:latin typeface="Karla"/>
              </a:rPr>
              <a:t>Bulgaria favors E02 Tripple Chocolate Chip Top Left Dark Text Panel; Greece favors E02 Tripple Chocolate Chip Top Left Dark Text Panel; Saudi Arabia favors Vanilla Chocolate Top Left Dark Text Panel. The widest segment gap is Vanilla Chocolate Top Centre Dark Text D2D3 Panel: +7 bulgaria / +17 greece / +11 saudi arabia.</a:t>
            </a:r>
          </a:p>
        </p:txBody>
      </p:sp>
      <p:sp>
        <p:nvSpPr>
          <p:cNvPr id="69" name="Rectangle 68"/>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Bulgaria basesize = 50; Greece basesize = 49; Saudi Arabia basesize = 51. Top-2 scores rounded to whole points. *Average of the groups in the legend.</a:t>
            </a:r>
          </a:p>
        </p:txBody>
      </p:sp>
      <p:sp>
        <p:nvSpPr>
          <p:cNvPr id="71" name="TextBox 70"/>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37744"/>
            <a:ext cx="7043927" cy="182880"/>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KEY FINDINGS: E_FLAVOUR  ·  Which of these countries do you live in?   ·   2 of 3</a:t>
            </a:r>
          </a:p>
        </p:txBody>
      </p:sp>
      <p:sp>
        <p:nvSpPr>
          <p:cNvPr id="3" name="TextBox 2"/>
          <p:cNvSpPr txBox="1"/>
          <p:nvPr/>
        </p:nvSpPr>
        <p:spPr>
          <a:xfrm>
            <a:off x="502920" y="438912"/>
            <a:ext cx="7043927" cy="365760"/>
          </a:xfrm>
          <a:prstGeom prst="rect">
            <a:avLst/>
          </a:prstGeom>
          <a:noFill/>
        </p:spPr>
        <p:txBody>
          <a:bodyPr wrap="square" anchor="t" lIns="0" rIns="0" tIns="0" bIns="0"/>
          <a:lstStyle/>
          <a:p>
            <a:pPr algn="l">
              <a:spcBef>
                <a:spcPts val="0"/>
              </a:spcBef>
              <a:spcAft>
                <a:spcPts val="0"/>
              </a:spcAft>
            </a:pPr>
            <a:r>
              <a:rPr sz="2600" b="1" i="0">
                <a:solidFill>
                  <a:srgbClr val="1E2D44"/>
                </a:solidFill>
                <a:latin typeface="Karla"/>
              </a:rPr>
              <a:t>E_Flavour splits across the groups</a:t>
            </a:r>
          </a:p>
        </p:txBody>
      </p:sp>
      <p:sp>
        <p:nvSpPr>
          <p:cNvPr id="4" name="TextBox 3"/>
          <p:cNvSpPr txBox="1"/>
          <p:nvPr/>
        </p:nvSpPr>
        <p:spPr>
          <a:xfrm>
            <a:off x="502920" y="822960"/>
            <a:ext cx="7043927" cy="475488"/>
          </a:xfrm>
          <a:prstGeom prst="rect">
            <a:avLst/>
          </a:prstGeom>
          <a:noFill/>
        </p:spPr>
        <p:txBody>
          <a:bodyPr wrap="square" anchor="t" lIns="0" rIns="0" tIns="0" bIns="0"/>
          <a:lstStyle/>
          <a:p>
            <a:pPr algn="l">
              <a:spcBef>
                <a:spcPts val="0"/>
              </a:spcBef>
              <a:spcAft>
                <a:spcPts val="0"/>
              </a:spcAft>
            </a:pPr>
            <a:r>
              <a:rPr sz="1200" b="0" i="0">
                <a:solidFill>
                  <a:srgbClr val="617086"/>
                </a:solidFill>
                <a:latin typeface="Karla"/>
              </a:rPr>
              <a:t>Bulgaria favors E02 Tripple Chocolate Chip Top Left Dark Text Panel; Greece favors E02 Tripple Chocolate Chip Top Left Dark Text Panel; Saudi Arabia favors Vanilla Chocolate Top Left Dark Text Panel.</a:t>
            </a:r>
          </a:p>
        </p:txBody>
      </p:sp>
      <p:sp>
        <p:nvSpPr>
          <p:cNvPr id="5" name="Rectangle 4"/>
          <p:cNvSpPr/>
          <p:nvPr/>
        </p:nvSpPr>
        <p:spPr>
          <a:xfrm>
            <a:off x="502920" y="1335024"/>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E_FLAVOUR</a:t>
            </a:r>
          </a:p>
        </p:txBody>
      </p:sp>
      <p:sp>
        <p:nvSpPr>
          <p:cNvPr id="6" name="TextBox 5"/>
          <p:cNvSpPr txBox="1"/>
          <p:nvPr/>
        </p:nvSpPr>
        <p:spPr>
          <a:xfrm>
            <a:off x="1874520"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7" name="Rectangle 6"/>
          <p:cNvSpPr/>
          <p:nvPr/>
        </p:nvSpPr>
        <p:spPr>
          <a:xfrm>
            <a:off x="3379469" y="1645920"/>
            <a:ext cx="9144" cy="3310128"/>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86861"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5</a:t>
            </a:r>
          </a:p>
        </p:txBody>
      </p:sp>
      <p:sp>
        <p:nvSpPr>
          <p:cNvPr id="9" name="Rectangle 8"/>
          <p:cNvSpPr/>
          <p:nvPr/>
        </p:nvSpPr>
        <p:spPr>
          <a:xfrm>
            <a:off x="4591811" y="1645920"/>
            <a:ext cx="9144" cy="3310128"/>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9203"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11" name="Rectangle 10"/>
          <p:cNvSpPr/>
          <p:nvPr/>
        </p:nvSpPr>
        <p:spPr>
          <a:xfrm>
            <a:off x="5804153" y="1645920"/>
            <a:ext cx="9144" cy="3310128"/>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11545"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15</a:t>
            </a:r>
          </a:p>
        </p:txBody>
      </p:sp>
      <p:sp>
        <p:nvSpPr>
          <p:cNvPr id="13" name="Rectangle 12"/>
          <p:cNvSpPr/>
          <p:nvPr/>
        </p:nvSpPr>
        <p:spPr>
          <a:xfrm>
            <a:off x="7016495" y="1645920"/>
            <a:ext cx="9144" cy="3310128"/>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23887"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5" name="Rectangle 14"/>
          <p:cNvSpPr/>
          <p:nvPr/>
        </p:nvSpPr>
        <p:spPr>
          <a:xfrm>
            <a:off x="2167128" y="1645920"/>
            <a:ext cx="10972" cy="3310128"/>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167128" y="4956048"/>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1827977"/>
            <a:ext cx="1554480" cy="463417"/>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Vanilla Chocolate</a:t>
            </a:r>
          </a:p>
          <a:p>
            <a:pPr algn="r">
              <a:spcBef>
                <a:spcPts val="0"/>
              </a:spcBef>
              <a:spcAft>
                <a:spcPts val="0"/>
              </a:spcAft>
            </a:pPr>
            <a:r>
              <a:rPr sz="1000" b="0" i="0">
                <a:solidFill>
                  <a:srgbClr val="1E2D44"/>
                </a:solidFill>
                <a:latin typeface="Karla"/>
              </a:rPr>
              <a:t>Top Centre Dark Text…</a:t>
            </a:r>
          </a:p>
        </p:txBody>
      </p:sp>
      <p:sp>
        <p:nvSpPr>
          <p:cNvPr id="18" name="Rectangle 17"/>
          <p:cNvSpPr/>
          <p:nvPr/>
        </p:nvSpPr>
        <p:spPr>
          <a:xfrm>
            <a:off x="2167128" y="1827977"/>
            <a:ext cx="1697278" cy="127040"/>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919270" y="1827977"/>
            <a:ext cx="457200" cy="127040"/>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+7</a:t>
            </a:r>
          </a:p>
        </p:txBody>
      </p:sp>
      <p:sp>
        <p:nvSpPr>
          <p:cNvPr id="20" name="Rectangle 19"/>
          <p:cNvSpPr/>
          <p:nvPr/>
        </p:nvSpPr>
        <p:spPr>
          <a:xfrm>
            <a:off x="2167128" y="1996165"/>
            <a:ext cx="4121962" cy="127040"/>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43954" y="1996165"/>
            <a:ext cx="457200" cy="127040"/>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+17</a:t>
            </a:r>
          </a:p>
        </p:txBody>
      </p:sp>
      <p:sp>
        <p:nvSpPr>
          <p:cNvPr id="22" name="Rectangle 21"/>
          <p:cNvSpPr/>
          <p:nvPr/>
        </p:nvSpPr>
        <p:spPr>
          <a:xfrm>
            <a:off x="2167128" y="2164354"/>
            <a:ext cx="2667152" cy="12704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89144" y="2164354"/>
            <a:ext cx="457200" cy="127040"/>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+11</a:t>
            </a:r>
          </a:p>
        </p:txBody>
      </p:sp>
      <p:sp>
        <p:nvSpPr>
          <p:cNvPr id="24" name="TextBox 23"/>
          <p:cNvSpPr txBox="1"/>
          <p:nvPr/>
        </p:nvSpPr>
        <p:spPr>
          <a:xfrm>
            <a:off x="502920" y="2655509"/>
            <a:ext cx="1554480" cy="463417"/>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E01 Tripple</a:t>
            </a:r>
          </a:p>
          <a:p>
            <a:pPr algn="r">
              <a:spcBef>
                <a:spcPts val="0"/>
              </a:spcBef>
              <a:spcAft>
                <a:spcPts val="0"/>
              </a:spcAft>
            </a:pPr>
            <a:r>
              <a:rPr sz="1000" b="0" i="0">
                <a:solidFill>
                  <a:srgbClr val="1E2D44"/>
                </a:solidFill>
                <a:latin typeface="Karla"/>
              </a:rPr>
              <a:t>Chocolate Chip Top…</a:t>
            </a:r>
          </a:p>
        </p:txBody>
      </p:sp>
      <p:sp>
        <p:nvSpPr>
          <p:cNvPr id="25" name="Rectangle 24"/>
          <p:cNvSpPr/>
          <p:nvPr/>
        </p:nvSpPr>
        <p:spPr>
          <a:xfrm>
            <a:off x="2167128" y="2655509"/>
            <a:ext cx="1939747" cy="127040"/>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61739" y="2655509"/>
            <a:ext cx="457200" cy="127040"/>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+8</a:t>
            </a:r>
          </a:p>
        </p:txBody>
      </p:sp>
      <p:sp>
        <p:nvSpPr>
          <p:cNvPr id="27" name="Rectangle 26"/>
          <p:cNvSpPr/>
          <p:nvPr/>
        </p:nvSpPr>
        <p:spPr>
          <a:xfrm>
            <a:off x="2167128" y="2823697"/>
            <a:ext cx="2424683" cy="127040"/>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46675" y="2823697"/>
            <a:ext cx="457200" cy="127040"/>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+10</a:t>
            </a:r>
          </a:p>
        </p:txBody>
      </p:sp>
      <p:sp>
        <p:nvSpPr>
          <p:cNvPr id="29" name="Rectangle 28"/>
          <p:cNvSpPr/>
          <p:nvPr/>
        </p:nvSpPr>
        <p:spPr>
          <a:xfrm>
            <a:off x="2167128" y="2991886"/>
            <a:ext cx="3879494" cy="12704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101486" y="2991886"/>
            <a:ext cx="457200" cy="127040"/>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+16</a:t>
            </a:r>
          </a:p>
        </p:txBody>
      </p:sp>
      <p:sp>
        <p:nvSpPr>
          <p:cNvPr id="31" name="TextBox 30"/>
          <p:cNvSpPr txBox="1"/>
          <p:nvPr/>
        </p:nvSpPr>
        <p:spPr>
          <a:xfrm>
            <a:off x="502920" y="3483041"/>
            <a:ext cx="1554480" cy="463417"/>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E03 Tripple</a:t>
            </a:r>
          </a:p>
          <a:p>
            <a:pPr algn="r">
              <a:spcBef>
                <a:spcPts val="0"/>
              </a:spcBef>
              <a:spcAft>
                <a:spcPts val="0"/>
              </a:spcAft>
            </a:pPr>
            <a:r>
              <a:rPr sz="1000" b="0" i="0">
                <a:solidFill>
                  <a:srgbClr val="1E2D44"/>
                </a:solidFill>
                <a:latin typeface="Karla"/>
              </a:rPr>
              <a:t>Chocolate Chip Top…</a:t>
            </a:r>
          </a:p>
        </p:txBody>
      </p:sp>
      <p:sp>
        <p:nvSpPr>
          <p:cNvPr id="32" name="Rectangle 31"/>
          <p:cNvSpPr/>
          <p:nvPr/>
        </p:nvSpPr>
        <p:spPr>
          <a:xfrm>
            <a:off x="2167128" y="3483041"/>
            <a:ext cx="1697278" cy="127040"/>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919270" y="3483041"/>
            <a:ext cx="457200" cy="127040"/>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+7</a:t>
            </a:r>
          </a:p>
        </p:txBody>
      </p:sp>
      <p:sp>
        <p:nvSpPr>
          <p:cNvPr id="34" name="Rectangle 33"/>
          <p:cNvSpPr/>
          <p:nvPr/>
        </p:nvSpPr>
        <p:spPr>
          <a:xfrm>
            <a:off x="2167128" y="3651229"/>
            <a:ext cx="3637025" cy="127040"/>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859017" y="3651229"/>
            <a:ext cx="457200" cy="127040"/>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+15</a:t>
            </a:r>
          </a:p>
        </p:txBody>
      </p:sp>
      <p:sp>
        <p:nvSpPr>
          <p:cNvPr id="36" name="Rectangle 35"/>
          <p:cNvSpPr/>
          <p:nvPr/>
        </p:nvSpPr>
        <p:spPr>
          <a:xfrm>
            <a:off x="2167128" y="3819418"/>
            <a:ext cx="2909620" cy="12704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131612" y="3819418"/>
            <a:ext cx="457200" cy="127040"/>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+12</a:t>
            </a:r>
          </a:p>
        </p:txBody>
      </p:sp>
      <p:sp>
        <p:nvSpPr>
          <p:cNvPr id="38" name="TextBox 37"/>
          <p:cNvSpPr txBox="1"/>
          <p:nvPr/>
        </p:nvSpPr>
        <p:spPr>
          <a:xfrm>
            <a:off x="502920" y="4310573"/>
            <a:ext cx="1554480" cy="463417"/>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E06 Orange Chocolate</a:t>
            </a:r>
          </a:p>
          <a:p>
            <a:pPr algn="r">
              <a:spcBef>
                <a:spcPts val="0"/>
              </a:spcBef>
              <a:spcAft>
                <a:spcPts val="0"/>
              </a:spcAft>
            </a:pPr>
            <a:r>
              <a:rPr sz="1000" b="0" i="0">
                <a:solidFill>
                  <a:srgbClr val="1E2D44"/>
                </a:solidFill>
                <a:latin typeface="Karla"/>
              </a:rPr>
              <a:t>Top Left White Text…</a:t>
            </a:r>
          </a:p>
        </p:txBody>
      </p:sp>
      <p:sp>
        <p:nvSpPr>
          <p:cNvPr id="39" name="Rectangle 38"/>
          <p:cNvSpPr/>
          <p:nvPr/>
        </p:nvSpPr>
        <p:spPr>
          <a:xfrm>
            <a:off x="2167128" y="4310573"/>
            <a:ext cx="2909620" cy="127040"/>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131612" y="4310573"/>
            <a:ext cx="457200" cy="127040"/>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+12</a:t>
            </a:r>
          </a:p>
        </p:txBody>
      </p:sp>
      <p:sp>
        <p:nvSpPr>
          <p:cNvPr id="41" name="Rectangle 40"/>
          <p:cNvSpPr/>
          <p:nvPr/>
        </p:nvSpPr>
        <p:spPr>
          <a:xfrm>
            <a:off x="2167128" y="4478761"/>
            <a:ext cx="1939747" cy="127040"/>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161739" y="4478761"/>
            <a:ext cx="457200" cy="127040"/>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+8</a:t>
            </a:r>
          </a:p>
        </p:txBody>
      </p:sp>
      <p:sp>
        <p:nvSpPr>
          <p:cNvPr id="43" name="Rectangle 42"/>
          <p:cNvSpPr/>
          <p:nvPr/>
        </p:nvSpPr>
        <p:spPr>
          <a:xfrm>
            <a:off x="2167128" y="4646950"/>
            <a:ext cx="3394557" cy="12704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616549" y="4646950"/>
            <a:ext cx="457200" cy="127040"/>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+14</a:t>
            </a:r>
          </a:p>
        </p:txBody>
      </p:sp>
      <p:sp>
        <p:nvSpPr>
          <p:cNvPr id="45" name="Rectangle 44"/>
          <p:cNvSpPr/>
          <p:nvPr/>
        </p:nvSpPr>
        <p:spPr>
          <a:xfrm>
            <a:off x="1250695" y="5381244"/>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424431" y="5321807"/>
            <a:ext cx="170688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Bulgaria (basesize = 50)</a:t>
            </a:r>
          </a:p>
        </p:txBody>
      </p:sp>
      <p:sp>
        <p:nvSpPr>
          <p:cNvPr id="47" name="Rectangle 46"/>
          <p:cNvSpPr/>
          <p:nvPr/>
        </p:nvSpPr>
        <p:spPr>
          <a:xfrm>
            <a:off x="3387343" y="5381244"/>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561079" y="5321807"/>
            <a:ext cx="156464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Greece (basesize = 49)</a:t>
            </a:r>
          </a:p>
        </p:txBody>
      </p:sp>
      <p:sp>
        <p:nvSpPr>
          <p:cNvPr id="49" name="Rectangle 48"/>
          <p:cNvSpPr/>
          <p:nvPr/>
        </p:nvSpPr>
        <p:spPr>
          <a:xfrm>
            <a:off x="5381751" y="5381244"/>
            <a:ext cx="100584" cy="10058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555487" y="5321807"/>
            <a:ext cx="199136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Saudi Arabia (basesize = 51)</a:t>
            </a:r>
          </a:p>
        </p:txBody>
      </p:sp>
      <p:sp>
        <p:nvSpPr>
          <p:cNvPr id="51" name="Rounded Rectangle 50"/>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7935467" y="618001"/>
            <a:ext cx="1709927" cy="132431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3" name="Picture 52" descr="E10.png"/>
          <p:cNvPicPr>
            <a:picLocks noChangeAspect="1"/>
          </p:cNvPicPr>
          <p:nvPr/>
        </p:nvPicPr>
        <p:blipFill>
          <a:blip r:embed="rId2"/>
          <a:stretch>
            <a:fillRect/>
          </a:stretch>
        </p:blipFill>
        <p:spPr>
          <a:xfrm>
            <a:off x="7949183" y="631717"/>
            <a:ext cx="1682495" cy="1296884"/>
          </a:xfrm>
          <a:prstGeom prst="rect">
            <a:avLst/>
          </a:prstGeom>
        </p:spPr>
      </p:pic>
      <p:sp>
        <p:nvSpPr>
          <p:cNvPr id="54" name="TextBox 53"/>
          <p:cNvSpPr txBox="1"/>
          <p:nvPr/>
        </p:nvSpPr>
        <p:spPr>
          <a:xfrm>
            <a:off x="7912607" y="1983466"/>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Vanilla Chocolate</a:t>
            </a:r>
          </a:p>
          <a:p>
            <a:pPr algn="ctr">
              <a:spcBef>
                <a:spcPts val="0"/>
              </a:spcBef>
              <a:spcAft>
                <a:spcPts val="0"/>
              </a:spcAft>
            </a:pPr>
            <a:r>
              <a:rPr sz="1200" b="0" i="0">
                <a:solidFill>
                  <a:srgbClr val="1E2D44"/>
                </a:solidFill>
                <a:latin typeface="Karla"/>
              </a:rPr>
              <a:t>Top Centre Dark…</a:t>
            </a:r>
          </a:p>
        </p:txBody>
      </p:sp>
      <p:sp>
        <p:nvSpPr>
          <p:cNvPr id="55" name="TextBox 54"/>
          <p:cNvSpPr txBox="1"/>
          <p:nvPr/>
        </p:nvSpPr>
        <p:spPr>
          <a:xfrm>
            <a:off x="7912607" y="2349226"/>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+12*</a:t>
            </a:r>
          </a:p>
        </p:txBody>
      </p:sp>
      <p:sp>
        <p:nvSpPr>
          <p:cNvPr id="56" name="Rectangle 55"/>
          <p:cNvSpPr/>
          <p:nvPr/>
        </p:nvSpPr>
        <p:spPr>
          <a:xfrm>
            <a:off x="9855707" y="618001"/>
            <a:ext cx="1709927" cy="132431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7" name="Picture 56" descr="E1.png"/>
          <p:cNvPicPr>
            <a:picLocks noChangeAspect="1"/>
          </p:cNvPicPr>
          <p:nvPr/>
        </p:nvPicPr>
        <p:blipFill>
          <a:blip r:embed="rId3"/>
          <a:stretch>
            <a:fillRect/>
          </a:stretch>
        </p:blipFill>
        <p:spPr>
          <a:xfrm>
            <a:off x="9869423" y="631717"/>
            <a:ext cx="1682495" cy="1296884"/>
          </a:xfrm>
          <a:prstGeom prst="rect">
            <a:avLst/>
          </a:prstGeom>
        </p:spPr>
      </p:pic>
      <p:sp>
        <p:nvSpPr>
          <p:cNvPr id="58" name="TextBox 57"/>
          <p:cNvSpPr txBox="1"/>
          <p:nvPr/>
        </p:nvSpPr>
        <p:spPr>
          <a:xfrm>
            <a:off x="9832847" y="1983466"/>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E01 Tripple</a:t>
            </a:r>
          </a:p>
          <a:p>
            <a:pPr algn="ctr">
              <a:spcBef>
                <a:spcPts val="0"/>
              </a:spcBef>
              <a:spcAft>
                <a:spcPts val="0"/>
              </a:spcAft>
            </a:pPr>
            <a:r>
              <a:rPr sz="1200" b="0" i="0">
                <a:solidFill>
                  <a:srgbClr val="1E2D44"/>
                </a:solidFill>
                <a:latin typeface="Karla"/>
              </a:rPr>
              <a:t>Chocolate Chip Top…</a:t>
            </a:r>
          </a:p>
        </p:txBody>
      </p:sp>
      <p:sp>
        <p:nvSpPr>
          <p:cNvPr id="59" name="TextBox 58"/>
          <p:cNvSpPr txBox="1"/>
          <p:nvPr/>
        </p:nvSpPr>
        <p:spPr>
          <a:xfrm>
            <a:off x="9832847" y="2349226"/>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+11*</a:t>
            </a:r>
          </a:p>
        </p:txBody>
      </p:sp>
      <p:sp>
        <p:nvSpPr>
          <p:cNvPr id="60" name="Rectangle 59"/>
          <p:cNvSpPr/>
          <p:nvPr/>
        </p:nvSpPr>
        <p:spPr>
          <a:xfrm>
            <a:off x="7935467" y="3178321"/>
            <a:ext cx="1709927" cy="132431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1" name="Picture 60" descr="E3.png"/>
          <p:cNvPicPr>
            <a:picLocks noChangeAspect="1"/>
          </p:cNvPicPr>
          <p:nvPr/>
        </p:nvPicPr>
        <p:blipFill>
          <a:blip r:embed="rId4"/>
          <a:stretch>
            <a:fillRect/>
          </a:stretch>
        </p:blipFill>
        <p:spPr>
          <a:xfrm>
            <a:off x="7949183" y="3192037"/>
            <a:ext cx="1682495" cy="1296884"/>
          </a:xfrm>
          <a:prstGeom prst="rect">
            <a:avLst/>
          </a:prstGeom>
        </p:spPr>
      </p:pic>
      <p:sp>
        <p:nvSpPr>
          <p:cNvPr id="62" name="TextBox 61"/>
          <p:cNvSpPr txBox="1"/>
          <p:nvPr/>
        </p:nvSpPr>
        <p:spPr>
          <a:xfrm>
            <a:off x="7912607" y="4543786"/>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E03 Tripple</a:t>
            </a:r>
          </a:p>
          <a:p>
            <a:pPr algn="ctr">
              <a:spcBef>
                <a:spcPts val="0"/>
              </a:spcBef>
              <a:spcAft>
                <a:spcPts val="0"/>
              </a:spcAft>
            </a:pPr>
            <a:r>
              <a:rPr sz="1200" b="0" i="0">
                <a:solidFill>
                  <a:srgbClr val="1E2D44"/>
                </a:solidFill>
                <a:latin typeface="Karla"/>
              </a:rPr>
              <a:t>Chocolate Chip Top…</a:t>
            </a:r>
          </a:p>
        </p:txBody>
      </p:sp>
      <p:sp>
        <p:nvSpPr>
          <p:cNvPr id="63" name="TextBox 62"/>
          <p:cNvSpPr txBox="1"/>
          <p:nvPr/>
        </p:nvSpPr>
        <p:spPr>
          <a:xfrm>
            <a:off x="7912607" y="4909546"/>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+11*</a:t>
            </a:r>
          </a:p>
        </p:txBody>
      </p:sp>
      <p:sp>
        <p:nvSpPr>
          <p:cNvPr id="64" name="Rectangle 63"/>
          <p:cNvSpPr/>
          <p:nvPr/>
        </p:nvSpPr>
        <p:spPr>
          <a:xfrm>
            <a:off x="9855707" y="3178321"/>
            <a:ext cx="1709927" cy="132431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5" name="Picture 64" descr="E6.png"/>
          <p:cNvPicPr>
            <a:picLocks noChangeAspect="1"/>
          </p:cNvPicPr>
          <p:nvPr/>
        </p:nvPicPr>
        <p:blipFill>
          <a:blip r:embed="rId5"/>
          <a:stretch>
            <a:fillRect/>
          </a:stretch>
        </p:blipFill>
        <p:spPr>
          <a:xfrm>
            <a:off x="9869423" y="3192037"/>
            <a:ext cx="1682495" cy="1296884"/>
          </a:xfrm>
          <a:prstGeom prst="rect">
            <a:avLst/>
          </a:prstGeom>
        </p:spPr>
      </p:pic>
      <p:sp>
        <p:nvSpPr>
          <p:cNvPr id="66" name="TextBox 65"/>
          <p:cNvSpPr txBox="1"/>
          <p:nvPr/>
        </p:nvSpPr>
        <p:spPr>
          <a:xfrm>
            <a:off x="9832847" y="4543786"/>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E06 Orange</a:t>
            </a:r>
          </a:p>
          <a:p>
            <a:pPr algn="ctr">
              <a:spcBef>
                <a:spcPts val="0"/>
              </a:spcBef>
              <a:spcAft>
                <a:spcPts val="0"/>
              </a:spcAft>
            </a:pPr>
            <a:r>
              <a:rPr sz="1200" b="0" i="0">
                <a:solidFill>
                  <a:srgbClr val="1E2D44"/>
                </a:solidFill>
                <a:latin typeface="Karla"/>
              </a:rPr>
              <a:t>Chocolate Top Left…</a:t>
            </a:r>
          </a:p>
        </p:txBody>
      </p:sp>
      <p:sp>
        <p:nvSpPr>
          <p:cNvPr id="67" name="TextBox 66"/>
          <p:cNvSpPr txBox="1"/>
          <p:nvPr/>
        </p:nvSpPr>
        <p:spPr>
          <a:xfrm>
            <a:off x="9832847" y="4909546"/>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+11*</a:t>
            </a:r>
          </a:p>
        </p:txBody>
      </p:sp>
      <p:sp>
        <p:nvSpPr>
          <p:cNvPr id="68" name="Rounded Rectangle 67"/>
          <p:cNvSpPr/>
          <p:nvPr/>
        </p:nvSpPr>
        <p:spPr>
          <a:xfrm>
            <a:off x="502920" y="5632704"/>
            <a:ext cx="11268455" cy="676656"/>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200" b="0">
                <a:solidFill>
                  <a:srgbClr val="1E2D44"/>
                </a:solidFill>
                <a:latin typeface="Karla"/>
              </a:rPr>
              <a:t>Bulgaria favors E02 Tripple Chocolate Chip Top Left Dark Text Panel; Greece favors E02 Tripple Chocolate Chip Top Left Dark Text Panel; Saudi Arabia favors Vanilla Chocolate Top Left Dark Text Panel. The widest segment gap is Vanilla Chocolate Top Centre Dark Text D2D3 Panel: +7 bulgaria / +17 greece / +11 saudi arabia.</a:t>
            </a:r>
          </a:p>
        </p:txBody>
      </p:sp>
      <p:sp>
        <p:nvSpPr>
          <p:cNvPr id="69" name="Rectangle 68"/>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Bulgaria basesize = 50; Greece basesize = 49; Saudi Arabia basesize = 51. Top-2 scores rounded to whole points. *Average of the groups in the legend.</a:t>
            </a:r>
          </a:p>
        </p:txBody>
      </p:sp>
      <p:sp>
        <p:nvSpPr>
          <p:cNvPr id="71" name="TextBox 70"/>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37744"/>
            <a:ext cx="7043927" cy="182880"/>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KEY FINDINGS: E_FLAVOUR  ·  Which of these countries do you live in?   ·   3 of 3</a:t>
            </a:r>
          </a:p>
        </p:txBody>
      </p:sp>
      <p:sp>
        <p:nvSpPr>
          <p:cNvPr id="3" name="TextBox 2"/>
          <p:cNvSpPr txBox="1"/>
          <p:nvPr/>
        </p:nvSpPr>
        <p:spPr>
          <a:xfrm>
            <a:off x="502920" y="438912"/>
            <a:ext cx="7043927" cy="365760"/>
          </a:xfrm>
          <a:prstGeom prst="rect">
            <a:avLst/>
          </a:prstGeom>
          <a:noFill/>
        </p:spPr>
        <p:txBody>
          <a:bodyPr wrap="square" anchor="t" lIns="0" rIns="0" tIns="0" bIns="0"/>
          <a:lstStyle/>
          <a:p>
            <a:pPr algn="l">
              <a:spcBef>
                <a:spcPts val="0"/>
              </a:spcBef>
              <a:spcAft>
                <a:spcPts val="0"/>
              </a:spcAft>
            </a:pPr>
            <a:r>
              <a:rPr sz="2600" b="1" i="0">
                <a:solidFill>
                  <a:srgbClr val="1E2D44"/>
                </a:solidFill>
                <a:latin typeface="Karla"/>
              </a:rPr>
              <a:t>E_Flavour splits across the groups</a:t>
            </a:r>
          </a:p>
        </p:txBody>
      </p:sp>
      <p:sp>
        <p:nvSpPr>
          <p:cNvPr id="4" name="TextBox 3"/>
          <p:cNvSpPr txBox="1"/>
          <p:nvPr/>
        </p:nvSpPr>
        <p:spPr>
          <a:xfrm>
            <a:off x="502920" y="822960"/>
            <a:ext cx="7043927" cy="475488"/>
          </a:xfrm>
          <a:prstGeom prst="rect">
            <a:avLst/>
          </a:prstGeom>
          <a:noFill/>
        </p:spPr>
        <p:txBody>
          <a:bodyPr wrap="square" anchor="t" lIns="0" rIns="0" tIns="0" bIns="0"/>
          <a:lstStyle/>
          <a:p>
            <a:pPr algn="l">
              <a:spcBef>
                <a:spcPts val="0"/>
              </a:spcBef>
              <a:spcAft>
                <a:spcPts val="0"/>
              </a:spcAft>
            </a:pPr>
            <a:r>
              <a:rPr sz="1200" b="0" i="0">
                <a:solidFill>
                  <a:srgbClr val="617086"/>
                </a:solidFill>
                <a:latin typeface="Karla"/>
              </a:rPr>
              <a:t>Bulgaria favors E02 Tripple Chocolate Chip Top Left Dark Text Panel; Greece favors E02 Tripple Chocolate Chip Top Left Dark Text Panel; Saudi Arabia favors Vanilla Chocolate Top Left Dark Text Panel.</a:t>
            </a:r>
          </a:p>
        </p:txBody>
      </p:sp>
      <p:sp>
        <p:nvSpPr>
          <p:cNvPr id="5" name="Rectangle 4"/>
          <p:cNvSpPr/>
          <p:nvPr/>
        </p:nvSpPr>
        <p:spPr>
          <a:xfrm>
            <a:off x="502920" y="1335024"/>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E_FLAVOUR</a:t>
            </a:r>
          </a:p>
        </p:txBody>
      </p:sp>
      <p:sp>
        <p:nvSpPr>
          <p:cNvPr id="6" name="TextBox 5"/>
          <p:cNvSpPr txBox="1"/>
          <p:nvPr/>
        </p:nvSpPr>
        <p:spPr>
          <a:xfrm>
            <a:off x="1874520"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7" name="Rectangle 6"/>
          <p:cNvSpPr/>
          <p:nvPr/>
        </p:nvSpPr>
        <p:spPr>
          <a:xfrm>
            <a:off x="3379469" y="1645920"/>
            <a:ext cx="9144" cy="3310128"/>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86861"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5</a:t>
            </a:r>
          </a:p>
        </p:txBody>
      </p:sp>
      <p:sp>
        <p:nvSpPr>
          <p:cNvPr id="9" name="Rectangle 8"/>
          <p:cNvSpPr/>
          <p:nvPr/>
        </p:nvSpPr>
        <p:spPr>
          <a:xfrm>
            <a:off x="4591811" y="1645920"/>
            <a:ext cx="9144" cy="3310128"/>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9203"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11" name="Rectangle 10"/>
          <p:cNvSpPr/>
          <p:nvPr/>
        </p:nvSpPr>
        <p:spPr>
          <a:xfrm>
            <a:off x="5804153" y="1645920"/>
            <a:ext cx="9144" cy="3310128"/>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11545"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15</a:t>
            </a:r>
          </a:p>
        </p:txBody>
      </p:sp>
      <p:sp>
        <p:nvSpPr>
          <p:cNvPr id="13" name="Rectangle 12"/>
          <p:cNvSpPr/>
          <p:nvPr/>
        </p:nvSpPr>
        <p:spPr>
          <a:xfrm>
            <a:off x="7016495" y="1645920"/>
            <a:ext cx="9144" cy="3310128"/>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23887"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5" name="Rectangle 14"/>
          <p:cNvSpPr/>
          <p:nvPr/>
        </p:nvSpPr>
        <p:spPr>
          <a:xfrm>
            <a:off x="2167128" y="1645920"/>
            <a:ext cx="10972" cy="3310128"/>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167128" y="4956048"/>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1827977"/>
            <a:ext cx="1554480" cy="463417"/>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E09 Banana Chocolate</a:t>
            </a:r>
          </a:p>
          <a:p>
            <a:pPr algn="r">
              <a:spcBef>
                <a:spcPts val="0"/>
              </a:spcBef>
              <a:spcAft>
                <a:spcPts val="0"/>
              </a:spcAft>
            </a:pPr>
            <a:r>
              <a:rPr sz="1000" b="0" i="0">
                <a:solidFill>
                  <a:srgbClr val="1E2D44"/>
                </a:solidFill>
                <a:latin typeface="Karla"/>
              </a:rPr>
              <a:t>Top Left White Text…</a:t>
            </a:r>
          </a:p>
        </p:txBody>
      </p:sp>
      <p:sp>
        <p:nvSpPr>
          <p:cNvPr id="18" name="Rectangle 17"/>
          <p:cNvSpPr/>
          <p:nvPr/>
        </p:nvSpPr>
        <p:spPr>
          <a:xfrm>
            <a:off x="2167128" y="1827977"/>
            <a:ext cx="2667152" cy="127040"/>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89144" y="1827977"/>
            <a:ext cx="457200" cy="127040"/>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+11</a:t>
            </a:r>
          </a:p>
        </p:txBody>
      </p:sp>
      <p:sp>
        <p:nvSpPr>
          <p:cNvPr id="20" name="Rectangle 19"/>
          <p:cNvSpPr/>
          <p:nvPr/>
        </p:nvSpPr>
        <p:spPr>
          <a:xfrm>
            <a:off x="2167128" y="1996165"/>
            <a:ext cx="2424683" cy="127040"/>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46675" y="1996165"/>
            <a:ext cx="457200" cy="127040"/>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+10</a:t>
            </a:r>
          </a:p>
        </p:txBody>
      </p:sp>
      <p:sp>
        <p:nvSpPr>
          <p:cNvPr id="22" name="Rectangle 21"/>
          <p:cNvSpPr/>
          <p:nvPr/>
        </p:nvSpPr>
        <p:spPr>
          <a:xfrm>
            <a:off x="2167128" y="2164354"/>
            <a:ext cx="3394557" cy="12704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16549" y="2164354"/>
            <a:ext cx="457200" cy="127040"/>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+14</a:t>
            </a:r>
          </a:p>
        </p:txBody>
      </p:sp>
      <p:sp>
        <p:nvSpPr>
          <p:cNvPr id="24" name="TextBox 23"/>
          <p:cNvSpPr txBox="1"/>
          <p:nvPr/>
        </p:nvSpPr>
        <p:spPr>
          <a:xfrm>
            <a:off x="502920" y="2655509"/>
            <a:ext cx="1554480" cy="463417"/>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Vanilla Chocolate</a:t>
            </a:r>
          </a:p>
          <a:p>
            <a:pPr algn="r">
              <a:spcBef>
                <a:spcPts val="0"/>
              </a:spcBef>
              <a:spcAft>
                <a:spcPts val="0"/>
              </a:spcAft>
            </a:pPr>
            <a:r>
              <a:rPr sz="1000" b="0" i="0">
                <a:solidFill>
                  <a:srgbClr val="1E2D44"/>
                </a:solidFill>
                <a:latin typeface="Karla"/>
              </a:rPr>
              <a:t>Top Left White Text…</a:t>
            </a:r>
          </a:p>
        </p:txBody>
      </p:sp>
      <p:sp>
        <p:nvSpPr>
          <p:cNvPr id="25" name="Rectangle 24"/>
          <p:cNvSpPr/>
          <p:nvPr/>
        </p:nvSpPr>
        <p:spPr>
          <a:xfrm>
            <a:off x="2167128" y="2655509"/>
            <a:ext cx="3152089" cy="127040"/>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374081" y="2655509"/>
            <a:ext cx="457200" cy="127040"/>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+13</a:t>
            </a:r>
          </a:p>
        </p:txBody>
      </p:sp>
      <p:sp>
        <p:nvSpPr>
          <p:cNvPr id="27" name="Rectangle 26"/>
          <p:cNvSpPr/>
          <p:nvPr/>
        </p:nvSpPr>
        <p:spPr>
          <a:xfrm>
            <a:off x="2167128" y="2823697"/>
            <a:ext cx="2424683" cy="127040"/>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46675" y="2823697"/>
            <a:ext cx="457200" cy="127040"/>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+10</a:t>
            </a:r>
          </a:p>
        </p:txBody>
      </p:sp>
      <p:sp>
        <p:nvSpPr>
          <p:cNvPr id="29" name="Rectangle 28"/>
          <p:cNvSpPr/>
          <p:nvPr/>
        </p:nvSpPr>
        <p:spPr>
          <a:xfrm>
            <a:off x="2167128" y="2991886"/>
            <a:ext cx="2667152" cy="12704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89144" y="2991886"/>
            <a:ext cx="457200" cy="127040"/>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+11</a:t>
            </a:r>
          </a:p>
        </p:txBody>
      </p:sp>
      <p:sp>
        <p:nvSpPr>
          <p:cNvPr id="31" name="TextBox 30"/>
          <p:cNvSpPr txBox="1"/>
          <p:nvPr/>
        </p:nvSpPr>
        <p:spPr>
          <a:xfrm>
            <a:off x="502920" y="3483041"/>
            <a:ext cx="1554480" cy="463417"/>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E04 Orange Chocolate</a:t>
            </a:r>
          </a:p>
          <a:p>
            <a:pPr algn="r">
              <a:spcBef>
                <a:spcPts val="0"/>
              </a:spcBef>
              <a:spcAft>
                <a:spcPts val="0"/>
              </a:spcAft>
            </a:pPr>
            <a:r>
              <a:rPr sz="1000" b="0" i="0">
                <a:solidFill>
                  <a:srgbClr val="1E2D44"/>
                </a:solidFill>
                <a:latin typeface="Karla"/>
              </a:rPr>
              <a:t>Top Centre Dark Text…</a:t>
            </a:r>
          </a:p>
        </p:txBody>
      </p:sp>
      <p:sp>
        <p:nvSpPr>
          <p:cNvPr id="32" name="Rectangle 31"/>
          <p:cNvSpPr/>
          <p:nvPr/>
        </p:nvSpPr>
        <p:spPr>
          <a:xfrm>
            <a:off x="2167128" y="3483041"/>
            <a:ext cx="1697278" cy="127040"/>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919270" y="3483041"/>
            <a:ext cx="457200" cy="127040"/>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+7</a:t>
            </a:r>
          </a:p>
        </p:txBody>
      </p:sp>
      <p:sp>
        <p:nvSpPr>
          <p:cNvPr id="34" name="Rectangle 33"/>
          <p:cNvSpPr/>
          <p:nvPr/>
        </p:nvSpPr>
        <p:spPr>
          <a:xfrm>
            <a:off x="2167128" y="3651229"/>
            <a:ext cx="1454810" cy="127040"/>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676802" y="3651229"/>
            <a:ext cx="457200" cy="127040"/>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+6</a:t>
            </a:r>
          </a:p>
        </p:txBody>
      </p:sp>
      <p:sp>
        <p:nvSpPr>
          <p:cNvPr id="36" name="Rectangle 35"/>
          <p:cNvSpPr/>
          <p:nvPr/>
        </p:nvSpPr>
        <p:spPr>
          <a:xfrm>
            <a:off x="2167128" y="3819418"/>
            <a:ext cx="2667152" cy="12704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889144" y="3819418"/>
            <a:ext cx="457200" cy="127040"/>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+11</a:t>
            </a:r>
          </a:p>
        </p:txBody>
      </p:sp>
      <p:sp>
        <p:nvSpPr>
          <p:cNvPr id="38" name="TextBox 37"/>
          <p:cNvSpPr txBox="1"/>
          <p:nvPr/>
        </p:nvSpPr>
        <p:spPr>
          <a:xfrm>
            <a:off x="502920" y="4310573"/>
            <a:ext cx="1554480" cy="463417"/>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E07 Banana Chocolate</a:t>
            </a:r>
          </a:p>
          <a:p>
            <a:pPr algn="r">
              <a:spcBef>
                <a:spcPts val="0"/>
              </a:spcBef>
              <a:spcAft>
                <a:spcPts val="0"/>
              </a:spcAft>
            </a:pPr>
            <a:r>
              <a:rPr sz="1000" b="0" i="0">
                <a:solidFill>
                  <a:srgbClr val="1E2D44"/>
                </a:solidFill>
                <a:latin typeface="Karla"/>
              </a:rPr>
              <a:t>Top Centre Dark Text…</a:t>
            </a:r>
          </a:p>
        </p:txBody>
      </p:sp>
      <p:sp>
        <p:nvSpPr>
          <p:cNvPr id="39" name="Rectangle 38"/>
          <p:cNvSpPr/>
          <p:nvPr/>
        </p:nvSpPr>
        <p:spPr>
          <a:xfrm>
            <a:off x="2167128" y="4310573"/>
            <a:ext cx="2182215" cy="127040"/>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404207" y="4310573"/>
            <a:ext cx="457200" cy="127040"/>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+9</a:t>
            </a:r>
          </a:p>
        </p:txBody>
      </p:sp>
      <p:sp>
        <p:nvSpPr>
          <p:cNvPr id="41" name="Rectangle 40"/>
          <p:cNvSpPr/>
          <p:nvPr/>
        </p:nvSpPr>
        <p:spPr>
          <a:xfrm>
            <a:off x="2167128" y="4478761"/>
            <a:ext cx="2182215" cy="127040"/>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404207" y="4478761"/>
            <a:ext cx="457200" cy="127040"/>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+9</a:t>
            </a:r>
          </a:p>
        </p:txBody>
      </p:sp>
      <p:sp>
        <p:nvSpPr>
          <p:cNvPr id="43" name="Rectangle 42"/>
          <p:cNvSpPr/>
          <p:nvPr/>
        </p:nvSpPr>
        <p:spPr>
          <a:xfrm>
            <a:off x="2167128" y="4646950"/>
            <a:ext cx="2424683" cy="12704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646675" y="4646950"/>
            <a:ext cx="457200" cy="127040"/>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+10</a:t>
            </a:r>
          </a:p>
        </p:txBody>
      </p:sp>
      <p:sp>
        <p:nvSpPr>
          <p:cNvPr id="45" name="Rectangle 44"/>
          <p:cNvSpPr/>
          <p:nvPr/>
        </p:nvSpPr>
        <p:spPr>
          <a:xfrm>
            <a:off x="1250695" y="5381244"/>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424431" y="5321807"/>
            <a:ext cx="170688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Bulgaria (basesize = 50)</a:t>
            </a:r>
          </a:p>
        </p:txBody>
      </p:sp>
      <p:sp>
        <p:nvSpPr>
          <p:cNvPr id="47" name="Rectangle 46"/>
          <p:cNvSpPr/>
          <p:nvPr/>
        </p:nvSpPr>
        <p:spPr>
          <a:xfrm>
            <a:off x="3387343" y="5381244"/>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561079" y="5321807"/>
            <a:ext cx="156464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Greece (basesize = 49)</a:t>
            </a:r>
          </a:p>
        </p:txBody>
      </p:sp>
      <p:sp>
        <p:nvSpPr>
          <p:cNvPr id="49" name="Rectangle 48"/>
          <p:cNvSpPr/>
          <p:nvPr/>
        </p:nvSpPr>
        <p:spPr>
          <a:xfrm>
            <a:off x="5381751" y="5381244"/>
            <a:ext cx="100584" cy="10058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555487" y="5321807"/>
            <a:ext cx="199136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Saudi Arabia (basesize = 51)</a:t>
            </a:r>
          </a:p>
        </p:txBody>
      </p:sp>
      <p:sp>
        <p:nvSpPr>
          <p:cNvPr id="51" name="Rounded Rectangle 50"/>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7935467" y="618001"/>
            <a:ext cx="1709927" cy="132431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3" name="Picture 52" descr="E9.png"/>
          <p:cNvPicPr>
            <a:picLocks noChangeAspect="1"/>
          </p:cNvPicPr>
          <p:nvPr/>
        </p:nvPicPr>
        <p:blipFill>
          <a:blip r:embed="rId2"/>
          <a:stretch>
            <a:fillRect/>
          </a:stretch>
        </p:blipFill>
        <p:spPr>
          <a:xfrm>
            <a:off x="7949183" y="631717"/>
            <a:ext cx="1682495" cy="1296884"/>
          </a:xfrm>
          <a:prstGeom prst="rect">
            <a:avLst/>
          </a:prstGeom>
        </p:spPr>
      </p:pic>
      <p:sp>
        <p:nvSpPr>
          <p:cNvPr id="54" name="TextBox 53"/>
          <p:cNvSpPr txBox="1"/>
          <p:nvPr/>
        </p:nvSpPr>
        <p:spPr>
          <a:xfrm>
            <a:off x="7912607" y="1983466"/>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E09 Banana</a:t>
            </a:r>
          </a:p>
          <a:p>
            <a:pPr algn="ctr">
              <a:spcBef>
                <a:spcPts val="0"/>
              </a:spcBef>
              <a:spcAft>
                <a:spcPts val="0"/>
              </a:spcAft>
            </a:pPr>
            <a:r>
              <a:rPr sz="1200" b="0" i="0">
                <a:solidFill>
                  <a:srgbClr val="1E2D44"/>
                </a:solidFill>
                <a:latin typeface="Karla"/>
              </a:rPr>
              <a:t>Chocolate Top Left…</a:t>
            </a:r>
          </a:p>
        </p:txBody>
      </p:sp>
      <p:sp>
        <p:nvSpPr>
          <p:cNvPr id="55" name="TextBox 54"/>
          <p:cNvSpPr txBox="1"/>
          <p:nvPr/>
        </p:nvSpPr>
        <p:spPr>
          <a:xfrm>
            <a:off x="7912607" y="2349226"/>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+12*</a:t>
            </a:r>
          </a:p>
        </p:txBody>
      </p:sp>
      <p:sp>
        <p:nvSpPr>
          <p:cNvPr id="56" name="Rectangle 55"/>
          <p:cNvSpPr/>
          <p:nvPr/>
        </p:nvSpPr>
        <p:spPr>
          <a:xfrm>
            <a:off x="9855707" y="618001"/>
            <a:ext cx="1709927" cy="132431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7" name="Picture 56" descr="E12.png"/>
          <p:cNvPicPr>
            <a:picLocks noChangeAspect="1"/>
          </p:cNvPicPr>
          <p:nvPr/>
        </p:nvPicPr>
        <p:blipFill>
          <a:blip r:embed="rId3"/>
          <a:stretch>
            <a:fillRect/>
          </a:stretch>
        </p:blipFill>
        <p:spPr>
          <a:xfrm>
            <a:off x="9869423" y="631717"/>
            <a:ext cx="1682495" cy="1296884"/>
          </a:xfrm>
          <a:prstGeom prst="rect">
            <a:avLst/>
          </a:prstGeom>
        </p:spPr>
      </p:pic>
      <p:sp>
        <p:nvSpPr>
          <p:cNvPr id="58" name="TextBox 57"/>
          <p:cNvSpPr txBox="1"/>
          <p:nvPr/>
        </p:nvSpPr>
        <p:spPr>
          <a:xfrm>
            <a:off x="9832847" y="1983466"/>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Vanilla Chocolate</a:t>
            </a:r>
          </a:p>
          <a:p>
            <a:pPr algn="ctr">
              <a:spcBef>
                <a:spcPts val="0"/>
              </a:spcBef>
              <a:spcAft>
                <a:spcPts val="0"/>
              </a:spcAft>
            </a:pPr>
            <a:r>
              <a:rPr sz="1200" b="0" i="0">
                <a:solidFill>
                  <a:srgbClr val="1E2D44"/>
                </a:solidFill>
                <a:latin typeface="Karla"/>
              </a:rPr>
              <a:t>Top Left White Text…</a:t>
            </a:r>
          </a:p>
        </p:txBody>
      </p:sp>
      <p:sp>
        <p:nvSpPr>
          <p:cNvPr id="59" name="TextBox 58"/>
          <p:cNvSpPr txBox="1"/>
          <p:nvPr/>
        </p:nvSpPr>
        <p:spPr>
          <a:xfrm>
            <a:off x="9832847" y="2349226"/>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+11*</a:t>
            </a:r>
          </a:p>
        </p:txBody>
      </p:sp>
      <p:sp>
        <p:nvSpPr>
          <p:cNvPr id="60" name="Rectangle 59"/>
          <p:cNvSpPr/>
          <p:nvPr/>
        </p:nvSpPr>
        <p:spPr>
          <a:xfrm>
            <a:off x="7935467" y="3178321"/>
            <a:ext cx="1709927" cy="132431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1" name="Picture 60" descr="E4.png"/>
          <p:cNvPicPr>
            <a:picLocks noChangeAspect="1"/>
          </p:cNvPicPr>
          <p:nvPr/>
        </p:nvPicPr>
        <p:blipFill>
          <a:blip r:embed="rId4"/>
          <a:stretch>
            <a:fillRect/>
          </a:stretch>
        </p:blipFill>
        <p:spPr>
          <a:xfrm>
            <a:off x="7949183" y="3192037"/>
            <a:ext cx="1682495" cy="1296884"/>
          </a:xfrm>
          <a:prstGeom prst="rect">
            <a:avLst/>
          </a:prstGeom>
        </p:spPr>
      </p:pic>
      <p:sp>
        <p:nvSpPr>
          <p:cNvPr id="62" name="TextBox 61"/>
          <p:cNvSpPr txBox="1"/>
          <p:nvPr/>
        </p:nvSpPr>
        <p:spPr>
          <a:xfrm>
            <a:off x="7912607" y="4543786"/>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E04 Orange</a:t>
            </a:r>
          </a:p>
          <a:p>
            <a:pPr algn="ctr">
              <a:spcBef>
                <a:spcPts val="0"/>
              </a:spcBef>
              <a:spcAft>
                <a:spcPts val="0"/>
              </a:spcAft>
            </a:pPr>
            <a:r>
              <a:rPr sz="1200" b="0" i="0">
                <a:solidFill>
                  <a:srgbClr val="1E2D44"/>
                </a:solidFill>
                <a:latin typeface="Karla"/>
              </a:rPr>
              <a:t>Chocolate Top…</a:t>
            </a:r>
          </a:p>
        </p:txBody>
      </p:sp>
      <p:sp>
        <p:nvSpPr>
          <p:cNvPr id="63" name="TextBox 62"/>
          <p:cNvSpPr txBox="1"/>
          <p:nvPr/>
        </p:nvSpPr>
        <p:spPr>
          <a:xfrm>
            <a:off x="7912607" y="4909546"/>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+8*</a:t>
            </a:r>
          </a:p>
        </p:txBody>
      </p:sp>
      <p:sp>
        <p:nvSpPr>
          <p:cNvPr id="64" name="Rectangle 63"/>
          <p:cNvSpPr/>
          <p:nvPr/>
        </p:nvSpPr>
        <p:spPr>
          <a:xfrm>
            <a:off x="9855707" y="3178321"/>
            <a:ext cx="1709927" cy="132431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5" name="Picture 64" descr="E7.png"/>
          <p:cNvPicPr>
            <a:picLocks noChangeAspect="1"/>
          </p:cNvPicPr>
          <p:nvPr/>
        </p:nvPicPr>
        <p:blipFill>
          <a:blip r:embed="rId5"/>
          <a:stretch>
            <a:fillRect/>
          </a:stretch>
        </p:blipFill>
        <p:spPr>
          <a:xfrm>
            <a:off x="9869423" y="3192037"/>
            <a:ext cx="1682495" cy="1296884"/>
          </a:xfrm>
          <a:prstGeom prst="rect">
            <a:avLst/>
          </a:prstGeom>
        </p:spPr>
      </p:pic>
      <p:sp>
        <p:nvSpPr>
          <p:cNvPr id="66" name="TextBox 65"/>
          <p:cNvSpPr txBox="1"/>
          <p:nvPr/>
        </p:nvSpPr>
        <p:spPr>
          <a:xfrm>
            <a:off x="9832847" y="4543786"/>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E07 Banana</a:t>
            </a:r>
          </a:p>
          <a:p>
            <a:pPr algn="ctr">
              <a:spcBef>
                <a:spcPts val="0"/>
              </a:spcBef>
              <a:spcAft>
                <a:spcPts val="0"/>
              </a:spcAft>
            </a:pPr>
            <a:r>
              <a:rPr sz="1200" b="0" i="0">
                <a:solidFill>
                  <a:srgbClr val="1E2D44"/>
                </a:solidFill>
                <a:latin typeface="Karla"/>
              </a:rPr>
              <a:t>Chocolate Top…</a:t>
            </a:r>
          </a:p>
        </p:txBody>
      </p:sp>
      <p:sp>
        <p:nvSpPr>
          <p:cNvPr id="67" name="TextBox 66"/>
          <p:cNvSpPr txBox="1"/>
          <p:nvPr/>
        </p:nvSpPr>
        <p:spPr>
          <a:xfrm>
            <a:off x="9832847" y="4909546"/>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+9*</a:t>
            </a:r>
          </a:p>
        </p:txBody>
      </p:sp>
      <p:sp>
        <p:nvSpPr>
          <p:cNvPr id="68" name="Rounded Rectangle 67"/>
          <p:cNvSpPr/>
          <p:nvPr/>
        </p:nvSpPr>
        <p:spPr>
          <a:xfrm>
            <a:off x="502920" y="5632704"/>
            <a:ext cx="11268455" cy="676656"/>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200" b="0">
                <a:solidFill>
                  <a:srgbClr val="1E2D44"/>
                </a:solidFill>
                <a:latin typeface="Karla"/>
              </a:rPr>
              <a:t>Bulgaria favors E02 Tripple Chocolate Chip Top Left Dark Text Panel; Greece favors E02 Tripple Chocolate Chip Top Left Dark Text Panel; Saudi Arabia favors Vanilla Chocolate Top Left Dark Text Panel. The widest segment gap is Vanilla Chocolate Top Centre Dark Text D2D3 Panel: +7 bulgaria / +17 greece / +11 saudi arabia.</a:t>
            </a:r>
          </a:p>
        </p:txBody>
      </p:sp>
      <p:sp>
        <p:nvSpPr>
          <p:cNvPr id="69" name="Rectangle 68"/>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Bulgaria basesize = 50; Greece basesize = 49; Saudi Arabia basesize = 51. Top-2 scores rounded to whole points. *Average of the groups in the legend.</a:t>
            </a:r>
          </a:p>
        </p:txBody>
      </p:sp>
      <p:sp>
        <p:nvSpPr>
          <p:cNvPr id="71" name="TextBox 70"/>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37744"/>
            <a:ext cx="7043927" cy="182880"/>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KEY FINDINGS: E_FLAVOUR  ·  Do you currently consume protein-enriched food products   ·   1 of 3</a:t>
            </a:r>
          </a:p>
        </p:txBody>
      </p:sp>
      <p:sp>
        <p:nvSpPr>
          <p:cNvPr id="3" name="TextBox 2"/>
          <p:cNvSpPr txBox="1"/>
          <p:nvPr/>
        </p:nvSpPr>
        <p:spPr>
          <a:xfrm>
            <a:off x="502920" y="438912"/>
            <a:ext cx="7043927" cy="365760"/>
          </a:xfrm>
          <a:prstGeom prst="rect">
            <a:avLst/>
          </a:prstGeom>
          <a:noFill/>
        </p:spPr>
        <p:txBody>
          <a:bodyPr wrap="square" anchor="t" lIns="0" rIns="0" tIns="0" bIns="0"/>
          <a:lstStyle/>
          <a:p>
            <a:pPr algn="l">
              <a:spcBef>
                <a:spcPts val="0"/>
              </a:spcBef>
              <a:spcAft>
                <a:spcPts val="0"/>
              </a:spcAft>
            </a:pPr>
            <a:r>
              <a:rPr sz="2600" b="1" i="0">
                <a:solidFill>
                  <a:srgbClr val="1E2D44"/>
                </a:solidFill>
                <a:latin typeface="Karla"/>
              </a:rPr>
              <a:t>E_Flavour splits across the groups</a:t>
            </a:r>
          </a:p>
        </p:txBody>
      </p:sp>
      <p:sp>
        <p:nvSpPr>
          <p:cNvPr id="4" name="TextBox 3"/>
          <p:cNvSpPr txBox="1"/>
          <p:nvPr/>
        </p:nvSpPr>
        <p:spPr>
          <a:xfrm>
            <a:off x="502920" y="822960"/>
            <a:ext cx="7043927" cy="475488"/>
          </a:xfrm>
          <a:prstGeom prst="rect">
            <a:avLst/>
          </a:prstGeom>
          <a:noFill/>
        </p:spPr>
        <p:txBody>
          <a:bodyPr wrap="square" anchor="t" lIns="0" rIns="0" tIns="0" bIns="0"/>
          <a:lstStyle/>
          <a:p>
            <a:pPr algn="l">
              <a:spcBef>
                <a:spcPts val="0"/>
              </a:spcBef>
              <a:spcAft>
                <a:spcPts val="0"/>
              </a:spcAft>
            </a:pPr>
            <a:r>
              <a:rPr sz="1200" b="0" i="0">
                <a:solidFill>
                  <a:srgbClr val="617086"/>
                </a:solidFill>
                <a:latin typeface="Karla"/>
              </a:rPr>
              <a:t>No, and I am not interested favors E01 Tripple Chocolate Chip Top Centre Dark Text D2D3 Panel; No, but I am interested in trying them favors E02 Tripple Chocolate Chip Top Left Dark Text Panel; Yes, occasionally favors Vanilla Chocolate Top Left Dark Text Panel; Yes, regularly favors Vanilla Chocolate Top Left Dark Text Panel.</a:t>
            </a:r>
          </a:p>
        </p:txBody>
      </p:sp>
      <p:sp>
        <p:nvSpPr>
          <p:cNvPr id="5" name="Rectangle 4"/>
          <p:cNvSpPr/>
          <p:nvPr/>
        </p:nvSpPr>
        <p:spPr>
          <a:xfrm>
            <a:off x="502920" y="1335024"/>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E_FLAVOUR</a:t>
            </a:r>
          </a:p>
        </p:txBody>
      </p:sp>
      <p:sp>
        <p:nvSpPr>
          <p:cNvPr id="6" name="Rectangle 5"/>
          <p:cNvSpPr/>
          <p:nvPr/>
        </p:nvSpPr>
        <p:spPr>
          <a:xfrm>
            <a:off x="2167128"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74520"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-50</a:t>
            </a:r>
          </a:p>
        </p:txBody>
      </p:sp>
      <p:sp>
        <p:nvSpPr>
          <p:cNvPr id="8" name="TextBox 7"/>
          <p:cNvSpPr txBox="1"/>
          <p:nvPr/>
        </p:nvSpPr>
        <p:spPr>
          <a:xfrm>
            <a:off x="4299203"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9" name="Rectangle 8"/>
          <p:cNvSpPr/>
          <p:nvPr/>
        </p:nvSpPr>
        <p:spPr>
          <a:xfrm>
            <a:off x="7016495"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23887"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50</a:t>
            </a:r>
          </a:p>
        </p:txBody>
      </p:sp>
      <p:sp>
        <p:nvSpPr>
          <p:cNvPr id="11" name="Rectangle 10"/>
          <p:cNvSpPr/>
          <p:nvPr/>
        </p:nvSpPr>
        <p:spPr>
          <a:xfrm>
            <a:off x="4591811" y="1645920"/>
            <a:ext cx="10972" cy="2871215"/>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167128" y="4517136"/>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1778508"/>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Vanilla Chocolate</a:t>
            </a:r>
          </a:p>
          <a:p>
            <a:pPr algn="r">
              <a:spcBef>
                <a:spcPts val="0"/>
              </a:spcBef>
              <a:spcAft>
                <a:spcPts val="0"/>
              </a:spcAft>
            </a:pPr>
            <a:r>
              <a:rPr sz="1000" b="0" i="0">
                <a:solidFill>
                  <a:srgbClr val="1E2D44"/>
                </a:solidFill>
                <a:latin typeface="Karla"/>
              </a:rPr>
              <a:t>Top Left Dark Text…</a:t>
            </a:r>
          </a:p>
        </p:txBody>
      </p:sp>
      <p:sp>
        <p:nvSpPr>
          <p:cNvPr id="14" name="Rectangle 13"/>
          <p:cNvSpPr/>
          <p:nvPr/>
        </p:nvSpPr>
        <p:spPr>
          <a:xfrm>
            <a:off x="3718925" y="1778508"/>
            <a:ext cx="872886"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06861" y="1778508"/>
            <a:ext cx="457200" cy="82296"/>
          </a:xfrm>
          <a:prstGeom prst="rect">
            <a:avLst/>
          </a:prstGeom>
          <a:noFill/>
        </p:spPr>
        <p:txBody>
          <a:bodyPr wrap="none" anchor="ctr" lIns="0" rIns="0" tIns="0" bIns="0"/>
          <a:lstStyle/>
          <a:p>
            <a:pPr algn="r">
              <a:spcBef>
                <a:spcPts val="0"/>
              </a:spcBef>
              <a:spcAft>
                <a:spcPts val="0"/>
              </a:spcAft>
            </a:pPr>
            <a:r>
              <a:rPr sz="1000" b="1" i="0">
                <a:solidFill>
                  <a:srgbClr val="1A2332"/>
                </a:solidFill>
                <a:latin typeface="Karla"/>
              </a:rPr>
              <a:t>-18</a:t>
            </a:r>
          </a:p>
        </p:txBody>
      </p:sp>
      <p:sp>
        <p:nvSpPr>
          <p:cNvPr id="16" name="Rectangle 15"/>
          <p:cNvSpPr/>
          <p:nvPr/>
        </p:nvSpPr>
        <p:spPr>
          <a:xfrm>
            <a:off x="4591811" y="1901952"/>
            <a:ext cx="872886"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19562" y="1901952"/>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+18</a:t>
            </a:r>
          </a:p>
        </p:txBody>
      </p:sp>
      <p:sp>
        <p:nvSpPr>
          <p:cNvPr id="18" name="Rectangle 17"/>
          <p:cNvSpPr/>
          <p:nvPr/>
        </p:nvSpPr>
        <p:spPr>
          <a:xfrm>
            <a:off x="4591811" y="2025395"/>
            <a:ext cx="921379"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568055" y="2025395"/>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+19</a:t>
            </a:r>
          </a:p>
        </p:txBody>
      </p:sp>
      <p:sp>
        <p:nvSpPr>
          <p:cNvPr id="20" name="Rectangle 19"/>
          <p:cNvSpPr/>
          <p:nvPr/>
        </p:nvSpPr>
        <p:spPr>
          <a:xfrm>
            <a:off x="4591811" y="2148840"/>
            <a:ext cx="1503303"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49979" y="2148840"/>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+31</a:t>
            </a:r>
          </a:p>
        </p:txBody>
      </p:sp>
      <p:sp>
        <p:nvSpPr>
          <p:cNvPr id="22" name="TextBox 21"/>
          <p:cNvSpPr txBox="1"/>
          <p:nvPr/>
        </p:nvSpPr>
        <p:spPr>
          <a:xfrm>
            <a:off x="502920" y="2496312"/>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E05 Orange Chocolate</a:t>
            </a:r>
          </a:p>
          <a:p>
            <a:pPr algn="r">
              <a:spcBef>
                <a:spcPts val="0"/>
              </a:spcBef>
              <a:spcAft>
                <a:spcPts val="0"/>
              </a:spcAft>
            </a:pPr>
            <a:r>
              <a:rPr sz="1000" b="0" i="0">
                <a:solidFill>
                  <a:srgbClr val="1E2D44"/>
                </a:solidFill>
                <a:latin typeface="Karla"/>
              </a:rPr>
              <a:t>Top Left Dark Text…</a:t>
            </a:r>
          </a:p>
        </p:txBody>
      </p:sp>
      <p:sp>
        <p:nvSpPr>
          <p:cNvPr id="23" name="Rectangle 22"/>
          <p:cNvSpPr/>
          <p:nvPr/>
        </p:nvSpPr>
        <p:spPr>
          <a:xfrm>
            <a:off x="4591811" y="2496312"/>
            <a:ext cx="48493"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695169" y="2496312"/>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+1</a:t>
            </a:r>
          </a:p>
        </p:txBody>
      </p:sp>
      <p:sp>
        <p:nvSpPr>
          <p:cNvPr id="25" name="Rectangle 24"/>
          <p:cNvSpPr/>
          <p:nvPr/>
        </p:nvSpPr>
        <p:spPr>
          <a:xfrm>
            <a:off x="4591811" y="2619756"/>
            <a:ext cx="775898"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22574" y="2619756"/>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+16</a:t>
            </a:r>
          </a:p>
        </p:txBody>
      </p:sp>
      <p:sp>
        <p:nvSpPr>
          <p:cNvPr id="27" name="Rectangle 26"/>
          <p:cNvSpPr/>
          <p:nvPr/>
        </p:nvSpPr>
        <p:spPr>
          <a:xfrm>
            <a:off x="4591811" y="2743200"/>
            <a:ext cx="145481"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92156" y="2743200"/>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+3</a:t>
            </a:r>
          </a:p>
        </p:txBody>
      </p:sp>
      <p:sp>
        <p:nvSpPr>
          <p:cNvPr id="29" name="Rectangle 28"/>
          <p:cNvSpPr/>
          <p:nvPr/>
        </p:nvSpPr>
        <p:spPr>
          <a:xfrm>
            <a:off x="4591811" y="2866644"/>
            <a:ext cx="1454810"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101486" y="2866644"/>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+30</a:t>
            </a:r>
          </a:p>
        </p:txBody>
      </p:sp>
      <p:sp>
        <p:nvSpPr>
          <p:cNvPr id="31" name="TextBox 30"/>
          <p:cNvSpPr txBox="1"/>
          <p:nvPr/>
        </p:nvSpPr>
        <p:spPr>
          <a:xfrm>
            <a:off x="502920" y="3214116"/>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E08 Banana Chocolate</a:t>
            </a:r>
          </a:p>
          <a:p>
            <a:pPr algn="r">
              <a:spcBef>
                <a:spcPts val="0"/>
              </a:spcBef>
              <a:spcAft>
                <a:spcPts val="0"/>
              </a:spcAft>
            </a:pPr>
            <a:r>
              <a:rPr sz="1000" b="0" i="0">
                <a:solidFill>
                  <a:srgbClr val="1E2D44"/>
                </a:solidFill>
                <a:latin typeface="Karla"/>
              </a:rPr>
              <a:t>Top Left Dark Text…</a:t>
            </a:r>
          </a:p>
        </p:txBody>
      </p:sp>
      <p:sp>
        <p:nvSpPr>
          <p:cNvPr id="32" name="Rectangle 31"/>
          <p:cNvSpPr/>
          <p:nvPr/>
        </p:nvSpPr>
        <p:spPr>
          <a:xfrm>
            <a:off x="4591811" y="3214116"/>
            <a:ext cx="27432"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646675" y="3214116"/>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0</a:t>
            </a:r>
          </a:p>
        </p:txBody>
      </p:sp>
      <p:sp>
        <p:nvSpPr>
          <p:cNvPr id="34" name="Rectangle 33"/>
          <p:cNvSpPr/>
          <p:nvPr/>
        </p:nvSpPr>
        <p:spPr>
          <a:xfrm>
            <a:off x="4591811" y="3337560"/>
            <a:ext cx="727405"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374081" y="3337560"/>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+15</a:t>
            </a:r>
          </a:p>
        </p:txBody>
      </p:sp>
      <p:sp>
        <p:nvSpPr>
          <p:cNvPr id="36" name="Rectangle 35"/>
          <p:cNvSpPr/>
          <p:nvPr/>
        </p:nvSpPr>
        <p:spPr>
          <a:xfrm>
            <a:off x="4591811" y="3461004"/>
            <a:ext cx="872886"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519562" y="3461004"/>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+18</a:t>
            </a:r>
          </a:p>
        </p:txBody>
      </p:sp>
      <p:sp>
        <p:nvSpPr>
          <p:cNvPr id="38" name="Rectangle 37"/>
          <p:cNvSpPr/>
          <p:nvPr/>
        </p:nvSpPr>
        <p:spPr>
          <a:xfrm>
            <a:off x="4591811" y="3584448"/>
            <a:ext cx="1454810"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101486" y="3584448"/>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+30</a:t>
            </a:r>
          </a:p>
        </p:txBody>
      </p:sp>
      <p:sp>
        <p:nvSpPr>
          <p:cNvPr id="40" name="TextBox 39"/>
          <p:cNvSpPr txBox="1"/>
          <p:nvPr/>
        </p:nvSpPr>
        <p:spPr>
          <a:xfrm>
            <a:off x="502920" y="3931919"/>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E02 Tripple</a:t>
            </a:r>
          </a:p>
          <a:p>
            <a:pPr algn="r">
              <a:spcBef>
                <a:spcPts val="0"/>
              </a:spcBef>
              <a:spcAft>
                <a:spcPts val="0"/>
              </a:spcAft>
            </a:pPr>
            <a:r>
              <a:rPr sz="1000" b="0" i="0">
                <a:solidFill>
                  <a:srgbClr val="1E2D44"/>
                </a:solidFill>
                <a:latin typeface="Karla"/>
              </a:rPr>
              <a:t>Chocolate Chip Top…</a:t>
            </a:r>
          </a:p>
        </p:txBody>
      </p:sp>
      <p:sp>
        <p:nvSpPr>
          <p:cNvPr id="41" name="Rectangle 40"/>
          <p:cNvSpPr/>
          <p:nvPr/>
        </p:nvSpPr>
        <p:spPr>
          <a:xfrm>
            <a:off x="4591811" y="3931919"/>
            <a:ext cx="484936"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131612" y="3931919"/>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+10</a:t>
            </a:r>
          </a:p>
        </p:txBody>
      </p:sp>
      <p:sp>
        <p:nvSpPr>
          <p:cNvPr id="43" name="Rectangle 42"/>
          <p:cNvSpPr/>
          <p:nvPr/>
        </p:nvSpPr>
        <p:spPr>
          <a:xfrm>
            <a:off x="4591811" y="4055363"/>
            <a:ext cx="969873"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616549" y="4055363"/>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+20</a:t>
            </a:r>
          </a:p>
        </p:txBody>
      </p:sp>
      <p:sp>
        <p:nvSpPr>
          <p:cNvPr id="45" name="Rectangle 44"/>
          <p:cNvSpPr/>
          <p:nvPr/>
        </p:nvSpPr>
        <p:spPr>
          <a:xfrm>
            <a:off x="4591811" y="4178807"/>
            <a:ext cx="824392"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471068" y="4178807"/>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+17</a:t>
            </a:r>
          </a:p>
        </p:txBody>
      </p:sp>
      <p:sp>
        <p:nvSpPr>
          <p:cNvPr id="47" name="Rectangle 46"/>
          <p:cNvSpPr/>
          <p:nvPr/>
        </p:nvSpPr>
        <p:spPr>
          <a:xfrm>
            <a:off x="4591811" y="4302251"/>
            <a:ext cx="1357822"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004498" y="4302251"/>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+28</a:t>
            </a:r>
          </a:p>
        </p:txBody>
      </p:sp>
      <p:sp>
        <p:nvSpPr>
          <p:cNvPr id="49" name="Rectangle 48"/>
          <p:cNvSpPr/>
          <p:nvPr/>
        </p:nvSpPr>
        <p:spPr>
          <a:xfrm>
            <a:off x="3011423" y="4942332"/>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185159" y="4882896"/>
            <a:ext cx="298704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No, and I am not interested (basesize = 5)</a:t>
            </a:r>
          </a:p>
        </p:txBody>
      </p:sp>
      <p:sp>
        <p:nvSpPr>
          <p:cNvPr id="51" name="Rectangle 50"/>
          <p:cNvSpPr/>
          <p:nvPr/>
        </p:nvSpPr>
        <p:spPr>
          <a:xfrm>
            <a:off x="755903" y="5161788"/>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29639" y="5102352"/>
            <a:ext cx="384048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No, but I am interested in trying them (basesize = 15)</a:t>
            </a:r>
          </a:p>
        </p:txBody>
      </p:sp>
      <p:sp>
        <p:nvSpPr>
          <p:cNvPr id="53" name="Rectangle 52"/>
          <p:cNvSpPr/>
          <p:nvPr/>
        </p:nvSpPr>
        <p:spPr>
          <a:xfrm>
            <a:off x="5026151" y="5161788"/>
            <a:ext cx="100584" cy="10058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199887" y="5102352"/>
            <a:ext cx="234696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Yes, occasionally (basesize = 56)</a:t>
            </a:r>
          </a:p>
        </p:txBody>
      </p:sp>
      <p:sp>
        <p:nvSpPr>
          <p:cNvPr id="55" name="Rectangle 54"/>
          <p:cNvSpPr/>
          <p:nvPr/>
        </p:nvSpPr>
        <p:spPr>
          <a:xfrm>
            <a:off x="3438143" y="5381244"/>
            <a:ext cx="100584" cy="100584"/>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611879" y="5321808"/>
            <a:ext cx="213360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Yes, regularly (basesize = 74)</a:t>
            </a:r>
          </a:p>
        </p:txBody>
      </p:sp>
      <p:sp>
        <p:nvSpPr>
          <p:cNvPr id="57" name="Rounded Rectangle 56"/>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935467" y="618001"/>
            <a:ext cx="1709927" cy="132431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9" name="Picture 58" descr="E11.png"/>
          <p:cNvPicPr>
            <a:picLocks noChangeAspect="1"/>
          </p:cNvPicPr>
          <p:nvPr/>
        </p:nvPicPr>
        <p:blipFill>
          <a:blip r:embed="rId2"/>
          <a:stretch>
            <a:fillRect/>
          </a:stretch>
        </p:blipFill>
        <p:spPr>
          <a:xfrm>
            <a:off x="7949183" y="631717"/>
            <a:ext cx="1682495" cy="1296884"/>
          </a:xfrm>
          <a:prstGeom prst="rect">
            <a:avLst/>
          </a:prstGeom>
        </p:spPr>
      </p:pic>
      <p:sp>
        <p:nvSpPr>
          <p:cNvPr id="60" name="TextBox 59"/>
          <p:cNvSpPr txBox="1"/>
          <p:nvPr/>
        </p:nvSpPr>
        <p:spPr>
          <a:xfrm>
            <a:off x="7912607" y="1983466"/>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Vanilla Chocolate</a:t>
            </a:r>
          </a:p>
          <a:p>
            <a:pPr algn="ctr">
              <a:spcBef>
                <a:spcPts val="0"/>
              </a:spcBef>
              <a:spcAft>
                <a:spcPts val="0"/>
              </a:spcAft>
            </a:pPr>
            <a:r>
              <a:rPr sz="1200" b="0" i="0">
                <a:solidFill>
                  <a:srgbClr val="1E2D44"/>
                </a:solidFill>
                <a:latin typeface="Karla"/>
              </a:rPr>
              <a:t>Top Left Dark Text…</a:t>
            </a:r>
          </a:p>
        </p:txBody>
      </p:sp>
      <p:sp>
        <p:nvSpPr>
          <p:cNvPr id="61" name="TextBox 60"/>
          <p:cNvSpPr txBox="1"/>
          <p:nvPr/>
        </p:nvSpPr>
        <p:spPr>
          <a:xfrm>
            <a:off x="7912607" y="2349226"/>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+12*</a:t>
            </a:r>
          </a:p>
        </p:txBody>
      </p:sp>
      <p:sp>
        <p:nvSpPr>
          <p:cNvPr id="62" name="Rectangle 61"/>
          <p:cNvSpPr/>
          <p:nvPr/>
        </p:nvSpPr>
        <p:spPr>
          <a:xfrm>
            <a:off x="9855707" y="618001"/>
            <a:ext cx="1709927" cy="132431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3" name="Picture 62" descr="E5.png"/>
          <p:cNvPicPr>
            <a:picLocks noChangeAspect="1"/>
          </p:cNvPicPr>
          <p:nvPr/>
        </p:nvPicPr>
        <p:blipFill>
          <a:blip r:embed="rId3"/>
          <a:stretch>
            <a:fillRect/>
          </a:stretch>
        </p:blipFill>
        <p:spPr>
          <a:xfrm>
            <a:off x="9869423" y="631717"/>
            <a:ext cx="1682495" cy="1296884"/>
          </a:xfrm>
          <a:prstGeom prst="rect">
            <a:avLst/>
          </a:prstGeom>
        </p:spPr>
      </p:pic>
      <p:sp>
        <p:nvSpPr>
          <p:cNvPr id="64" name="TextBox 63"/>
          <p:cNvSpPr txBox="1"/>
          <p:nvPr/>
        </p:nvSpPr>
        <p:spPr>
          <a:xfrm>
            <a:off x="9832847" y="1983466"/>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E05 Orange</a:t>
            </a:r>
          </a:p>
          <a:p>
            <a:pPr algn="ctr">
              <a:spcBef>
                <a:spcPts val="0"/>
              </a:spcBef>
              <a:spcAft>
                <a:spcPts val="0"/>
              </a:spcAft>
            </a:pPr>
            <a:r>
              <a:rPr sz="1200" b="0" i="0">
                <a:solidFill>
                  <a:srgbClr val="1E2D44"/>
                </a:solidFill>
                <a:latin typeface="Karla"/>
              </a:rPr>
              <a:t>Chocolate Top Left…</a:t>
            </a:r>
          </a:p>
        </p:txBody>
      </p:sp>
      <p:sp>
        <p:nvSpPr>
          <p:cNvPr id="65" name="TextBox 64"/>
          <p:cNvSpPr txBox="1"/>
          <p:nvPr/>
        </p:nvSpPr>
        <p:spPr>
          <a:xfrm>
            <a:off x="9832847" y="2349226"/>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+12*</a:t>
            </a:r>
          </a:p>
        </p:txBody>
      </p:sp>
      <p:sp>
        <p:nvSpPr>
          <p:cNvPr id="66" name="Rectangle 65"/>
          <p:cNvSpPr/>
          <p:nvPr/>
        </p:nvSpPr>
        <p:spPr>
          <a:xfrm>
            <a:off x="7935467" y="3178321"/>
            <a:ext cx="1709927" cy="132431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7" name="Picture 66" descr="E8.png"/>
          <p:cNvPicPr>
            <a:picLocks noChangeAspect="1"/>
          </p:cNvPicPr>
          <p:nvPr/>
        </p:nvPicPr>
        <p:blipFill>
          <a:blip r:embed="rId4"/>
          <a:stretch>
            <a:fillRect/>
          </a:stretch>
        </p:blipFill>
        <p:spPr>
          <a:xfrm>
            <a:off x="7949183" y="3192037"/>
            <a:ext cx="1682495" cy="1296884"/>
          </a:xfrm>
          <a:prstGeom prst="rect">
            <a:avLst/>
          </a:prstGeom>
        </p:spPr>
      </p:pic>
      <p:sp>
        <p:nvSpPr>
          <p:cNvPr id="68" name="TextBox 67"/>
          <p:cNvSpPr txBox="1"/>
          <p:nvPr/>
        </p:nvSpPr>
        <p:spPr>
          <a:xfrm>
            <a:off x="7912607" y="4543786"/>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E08 Banana</a:t>
            </a:r>
          </a:p>
          <a:p>
            <a:pPr algn="ctr">
              <a:spcBef>
                <a:spcPts val="0"/>
              </a:spcBef>
              <a:spcAft>
                <a:spcPts val="0"/>
              </a:spcAft>
            </a:pPr>
            <a:r>
              <a:rPr sz="1200" b="0" i="0">
                <a:solidFill>
                  <a:srgbClr val="1E2D44"/>
                </a:solidFill>
                <a:latin typeface="Karla"/>
              </a:rPr>
              <a:t>Chocolate Top Left…</a:t>
            </a:r>
          </a:p>
        </p:txBody>
      </p:sp>
      <p:sp>
        <p:nvSpPr>
          <p:cNvPr id="69" name="TextBox 68"/>
          <p:cNvSpPr txBox="1"/>
          <p:nvPr/>
        </p:nvSpPr>
        <p:spPr>
          <a:xfrm>
            <a:off x="7912607" y="4909546"/>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+16*</a:t>
            </a:r>
          </a:p>
        </p:txBody>
      </p:sp>
      <p:sp>
        <p:nvSpPr>
          <p:cNvPr id="70" name="Rectangle 69"/>
          <p:cNvSpPr/>
          <p:nvPr/>
        </p:nvSpPr>
        <p:spPr>
          <a:xfrm>
            <a:off x="9855707" y="3178321"/>
            <a:ext cx="1709927" cy="132431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1" name="Picture 70" descr="E2.png"/>
          <p:cNvPicPr>
            <a:picLocks noChangeAspect="1"/>
          </p:cNvPicPr>
          <p:nvPr/>
        </p:nvPicPr>
        <p:blipFill>
          <a:blip r:embed="rId5"/>
          <a:stretch>
            <a:fillRect/>
          </a:stretch>
        </p:blipFill>
        <p:spPr>
          <a:xfrm>
            <a:off x="9869423" y="3192037"/>
            <a:ext cx="1682495" cy="1296884"/>
          </a:xfrm>
          <a:prstGeom prst="rect">
            <a:avLst/>
          </a:prstGeom>
        </p:spPr>
      </p:pic>
      <p:sp>
        <p:nvSpPr>
          <p:cNvPr id="72" name="TextBox 71"/>
          <p:cNvSpPr txBox="1"/>
          <p:nvPr/>
        </p:nvSpPr>
        <p:spPr>
          <a:xfrm>
            <a:off x="9832847" y="4543786"/>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E02 Tripple</a:t>
            </a:r>
          </a:p>
          <a:p>
            <a:pPr algn="ctr">
              <a:spcBef>
                <a:spcPts val="0"/>
              </a:spcBef>
              <a:spcAft>
                <a:spcPts val="0"/>
              </a:spcAft>
            </a:pPr>
            <a:r>
              <a:rPr sz="1200" b="0" i="0">
                <a:solidFill>
                  <a:srgbClr val="1E2D44"/>
                </a:solidFill>
                <a:latin typeface="Karla"/>
              </a:rPr>
              <a:t>Chocolate Chip Top…</a:t>
            </a:r>
          </a:p>
        </p:txBody>
      </p:sp>
      <p:sp>
        <p:nvSpPr>
          <p:cNvPr id="73" name="TextBox 72"/>
          <p:cNvSpPr txBox="1"/>
          <p:nvPr/>
        </p:nvSpPr>
        <p:spPr>
          <a:xfrm>
            <a:off x="9832847" y="4909546"/>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+19*</a:t>
            </a:r>
          </a:p>
        </p:txBody>
      </p:sp>
      <p:sp>
        <p:nvSpPr>
          <p:cNvPr id="74" name="Rounded Rectangle 73"/>
          <p:cNvSpPr/>
          <p:nvPr/>
        </p:nvSpPr>
        <p:spPr>
          <a:xfrm>
            <a:off x="502920" y="5632704"/>
            <a:ext cx="11268455" cy="676656"/>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200" b="0">
                <a:solidFill>
                  <a:srgbClr val="1E2D44"/>
                </a:solidFill>
                <a:latin typeface="Karla"/>
              </a:rPr>
              <a:t>No, and I am not interested favors E01 Tripple Chocolate Chip Top Centre Dark Text D2D3 Panel; No, but I am interested in trying them favors E02 Tripple Chocolate Chip Top Left Dark Text Panel; Yes, occasionally favors Vanilla Chocolate Top Left Dark Text Panel; Yes, regularly favors Vanilla Chocolate Top Left Dark Text Panel. The widest segment gap is Vanilla Chocolate Top Left Dark Text Panel: -18 no, and i am not interested / +18 no, but i am interested in trying them / +19 yes, occasionally / +31 yes, regularly.</a:t>
            </a:r>
          </a:p>
        </p:txBody>
      </p:sp>
      <p:sp>
        <p:nvSpPr>
          <p:cNvPr id="75" name="Rectangle 74"/>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Top-2 scores rounded to whole points. *Average of the groups in the legend.</a:t>
            </a:r>
          </a:p>
        </p:txBody>
      </p:sp>
      <p:sp>
        <p:nvSpPr>
          <p:cNvPr id="77" name="TextBox 76"/>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37744"/>
            <a:ext cx="7043927" cy="182880"/>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KEY FINDINGS: E_FLAVOUR  ·  Do you currently consume protein-enriched food products   ·   2 of 3</a:t>
            </a:r>
          </a:p>
        </p:txBody>
      </p:sp>
      <p:sp>
        <p:nvSpPr>
          <p:cNvPr id="3" name="TextBox 2"/>
          <p:cNvSpPr txBox="1"/>
          <p:nvPr/>
        </p:nvSpPr>
        <p:spPr>
          <a:xfrm>
            <a:off x="502920" y="438912"/>
            <a:ext cx="7043927" cy="365760"/>
          </a:xfrm>
          <a:prstGeom prst="rect">
            <a:avLst/>
          </a:prstGeom>
          <a:noFill/>
        </p:spPr>
        <p:txBody>
          <a:bodyPr wrap="square" anchor="t" lIns="0" rIns="0" tIns="0" bIns="0"/>
          <a:lstStyle/>
          <a:p>
            <a:pPr algn="l">
              <a:spcBef>
                <a:spcPts val="0"/>
              </a:spcBef>
              <a:spcAft>
                <a:spcPts val="0"/>
              </a:spcAft>
            </a:pPr>
            <a:r>
              <a:rPr sz="2600" b="1" i="0">
                <a:solidFill>
                  <a:srgbClr val="1E2D44"/>
                </a:solidFill>
                <a:latin typeface="Karla"/>
              </a:rPr>
              <a:t>E_Flavour splits across the groups</a:t>
            </a:r>
          </a:p>
        </p:txBody>
      </p:sp>
      <p:sp>
        <p:nvSpPr>
          <p:cNvPr id="4" name="TextBox 3"/>
          <p:cNvSpPr txBox="1"/>
          <p:nvPr/>
        </p:nvSpPr>
        <p:spPr>
          <a:xfrm>
            <a:off x="502920" y="822960"/>
            <a:ext cx="7043927" cy="475488"/>
          </a:xfrm>
          <a:prstGeom prst="rect">
            <a:avLst/>
          </a:prstGeom>
          <a:noFill/>
        </p:spPr>
        <p:txBody>
          <a:bodyPr wrap="square" anchor="t" lIns="0" rIns="0" tIns="0" bIns="0"/>
          <a:lstStyle/>
          <a:p>
            <a:pPr algn="l">
              <a:spcBef>
                <a:spcPts val="0"/>
              </a:spcBef>
              <a:spcAft>
                <a:spcPts val="0"/>
              </a:spcAft>
            </a:pPr>
            <a:r>
              <a:rPr sz="1200" b="0" i="0">
                <a:solidFill>
                  <a:srgbClr val="617086"/>
                </a:solidFill>
                <a:latin typeface="Karla"/>
              </a:rPr>
              <a:t>No, and I am not interested favors E01 Tripple Chocolate Chip Top Centre Dark Text D2D3 Panel; No, but I am interested in trying them favors E02 Tripple Chocolate Chip Top Left Dark Text Panel; Yes, occasionally favors Vanilla Chocolate Top Left Dark Text Panel; Yes, regularly favors Vanilla Chocolate Top Left Dark Text Panel.</a:t>
            </a:r>
          </a:p>
        </p:txBody>
      </p:sp>
      <p:sp>
        <p:nvSpPr>
          <p:cNvPr id="5" name="Rectangle 4"/>
          <p:cNvSpPr/>
          <p:nvPr/>
        </p:nvSpPr>
        <p:spPr>
          <a:xfrm>
            <a:off x="502920" y="1335024"/>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E_FLAVOUR</a:t>
            </a:r>
          </a:p>
        </p:txBody>
      </p:sp>
      <p:sp>
        <p:nvSpPr>
          <p:cNvPr id="6" name="Rectangle 5"/>
          <p:cNvSpPr/>
          <p:nvPr/>
        </p:nvSpPr>
        <p:spPr>
          <a:xfrm>
            <a:off x="2167128"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74520"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8" name="Rectangle 7"/>
          <p:cNvSpPr/>
          <p:nvPr/>
        </p:nvSpPr>
        <p:spPr>
          <a:xfrm>
            <a:off x="3379469"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086861"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10" name="TextBox 9"/>
          <p:cNvSpPr txBox="1"/>
          <p:nvPr/>
        </p:nvSpPr>
        <p:spPr>
          <a:xfrm>
            <a:off x="4299203"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11" name="Rectangle 10"/>
          <p:cNvSpPr/>
          <p:nvPr/>
        </p:nvSpPr>
        <p:spPr>
          <a:xfrm>
            <a:off x="5804153"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11545"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13" name="Rectangle 12"/>
          <p:cNvSpPr/>
          <p:nvPr/>
        </p:nvSpPr>
        <p:spPr>
          <a:xfrm>
            <a:off x="7016495"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23887"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5" name="Rectangle 14"/>
          <p:cNvSpPr/>
          <p:nvPr/>
        </p:nvSpPr>
        <p:spPr>
          <a:xfrm>
            <a:off x="4591811" y="1645920"/>
            <a:ext cx="10972" cy="2871215"/>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167128" y="4517136"/>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1778508"/>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Vanilla Chocolate</a:t>
            </a:r>
          </a:p>
          <a:p>
            <a:pPr algn="r">
              <a:spcBef>
                <a:spcPts val="0"/>
              </a:spcBef>
              <a:spcAft>
                <a:spcPts val="0"/>
              </a:spcAft>
            </a:pPr>
            <a:r>
              <a:rPr sz="1000" b="0" i="0">
                <a:solidFill>
                  <a:srgbClr val="1E2D44"/>
                </a:solidFill>
                <a:latin typeface="Karla"/>
              </a:rPr>
              <a:t>Top Left White Text…</a:t>
            </a:r>
          </a:p>
        </p:txBody>
      </p:sp>
      <p:sp>
        <p:nvSpPr>
          <p:cNvPr id="18" name="Rectangle 17"/>
          <p:cNvSpPr/>
          <p:nvPr/>
        </p:nvSpPr>
        <p:spPr>
          <a:xfrm>
            <a:off x="2773298" y="1778508"/>
            <a:ext cx="1818512"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261234" y="1778508"/>
            <a:ext cx="457200" cy="82296"/>
          </a:xfrm>
          <a:prstGeom prst="rect">
            <a:avLst/>
          </a:prstGeom>
          <a:noFill/>
        </p:spPr>
        <p:txBody>
          <a:bodyPr wrap="none" anchor="ctr" lIns="0" rIns="0" tIns="0" bIns="0"/>
          <a:lstStyle/>
          <a:p>
            <a:pPr algn="r">
              <a:spcBef>
                <a:spcPts val="0"/>
              </a:spcBef>
              <a:spcAft>
                <a:spcPts val="0"/>
              </a:spcAft>
            </a:pPr>
            <a:r>
              <a:rPr sz="1000" b="1" i="0">
                <a:solidFill>
                  <a:srgbClr val="1A2332"/>
                </a:solidFill>
                <a:latin typeface="Karla"/>
              </a:rPr>
              <a:t>-15</a:t>
            </a:r>
          </a:p>
        </p:txBody>
      </p:sp>
      <p:sp>
        <p:nvSpPr>
          <p:cNvPr id="20" name="Rectangle 19"/>
          <p:cNvSpPr/>
          <p:nvPr/>
        </p:nvSpPr>
        <p:spPr>
          <a:xfrm>
            <a:off x="4591811" y="1901952"/>
            <a:ext cx="2060981"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07657" y="1901952"/>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+17</a:t>
            </a:r>
          </a:p>
        </p:txBody>
      </p:sp>
      <p:sp>
        <p:nvSpPr>
          <p:cNvPr id="22" name="Rectangle 21"/>
          <p:cNvSpPr/>
          <p:nvPr/>
        </p:nvSpPr>
        <p:spPr>
          <a:xfrm>
            <a:off x="4591811" y="2025395"/>
            <a:ext cx="969873"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16549" y="2025395"/>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+8</a:t>
            </a:r>
          </a:p>
        </p:txBody>
      </p:sp>
      <p:sp>
        <p:nvSpPr>
          <p:cNvPr id="24" name="Rectangle 23"/>
          <p:cNvSpPr/>
          <p:nvPr/>
        </p:nvSpPr>
        <p:spPr>
          <a:xfrm>
            <a:off x="4591811" y="2148840"/>
            <a:ext cx="1697278"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43954" y="2148840"/>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+14</a:t>
            </a:r>
          </a:p>
        </p:txBody>
      </p:sp>
      <p:sp>
        <p:nvSpPr>
          <p:cNvPr id="26" name="TextBox 25"/>
          <p:cNvSpPr txBox="1"/>
          <p:nvPr/>
        </p:nvSpPr>
        <p:spPr>
          <a:xfrm>
            <a:off x="502920" y="2496312"/>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E06 Orange Chocolate</a:t>
            </a:r>
          </a:p>
          <a:p>
            <a:pPr algn="r">
              <a:spcBef>
                <a:spcPts val="0"/>
              </a:spcBef>
              <a:spcAft>
                <a:spcPts val="0"/>
              </a:spcAft>
            </a:pPr>
            <a:r>
              <a:rPr sz="1000" b="0" i="0">
                <a:solidFill>
                  <a:srgbClr val="1E2D44"/>
                </a:solidFill>
                <a:latin typeface="Karla"/>
              </a:rPr>
              <a:t>Top Left White Text…</a:t>
            </a:r>
          </a:p>
        </p:txBody>
      </p:sp>
      <p:sp>
        <p:nvSpPr>
          <p:cNvPr id="27" name="Rectangle 26"/>
          <p:cNvSpPr/>
          <p:nvPr/>
        </p:nvSpPr>
        <p:spPr>
          <a:xfrm>
            <a:off x="4591811" y="2496312"/>
            <a:ext cx="363702"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10378" y="2496312"/>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+3</a:t>
            </a:r>
          </a:p>
        </p:txBody>
      </p:sp>
      <p:sp>
        <p:nvSpPr>
          <p:cNvPr id="29" name="Rectangle 28"/>
          <p:cNvSpPr/>
          <p:nvPr/>
        </p:nvSpPr>
        <p:spPr>
          <a:xfrm>
            <a:off x="4591811" y="2619756"/>
            <a:ext cx="484936"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131612" y="2619756"/>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+4</a:t>
            </a:r>
          </a:p>
        </p:txBody>
      </p:sp>
      <p:sp>
        <p:nvSpPr>
          <p:cNvPr id="31" name="Rectangle 30"/>
          <p:cNvSpPr/>
          <p:nvPr/>
        </p:nvSpPr>
        <p:spPr>
          <a:xfrm>
            <a:off x="4591811" y="2743200"/>
            <a:ext cx="969873"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616549" y="2743200"/>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+8</a:t>
            </a:r>
          </a:p>
        </p:txBody>
      </p:sp>
      <p:sp>
        <p:nvSpPr>
          <p:cNvPr id="33" name="Rectangle 32"/>
          <p:cNvSpPr/>
          <p:nvPr/>
        </p:nvSpPr>
        <p:spPr>
          <a:xfrm>
            <a:off x="4591811" y="2866644"/>
            <a:ext cx="1939747"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6422" y="2866644"/>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+16</a:t>
            </a:r>
          </a:p>
        </p:txBody>
      </p:sp>
      <p:sp>
        <p:nvSpPr>
          <p:cNvPr id="35" name="TextBox 34"/>
          <p:cNvSpPr txBox="1"/>
          <p:nvPr/>
        </p:nvSpPr>
        <p:spPr>
          <a:xfrm>
            <a:off x="502920" y="3214116"/>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E09 Banana Chocolate</a:t>
            </a:r>
          </a:p>
          <a:p>
            <a:pPr algn="r">
              <a:spcBef>
                <a:spcPts val="0"/>
              </a:spcBef>
              <a:spcAft>
                <a:spcPts val="0"/>
              </a:spcAft>
            </a:pPr>
            <a:r>
              <a:rPr sz="1000" b="0" i="0">
                <a:solidFill>
                  <a:srgbClr val="1E2D44"/>
                </a:solidFill>
                <a:latin typeface="Karla"/>
              </a:rPr>
              <a:t>Top Left White Text…</a:t>
            </a:r>
          </a:p>
        </p:txBody>
      </p:sp>
      <p:sp>
        <p:nvSpPr>
          <p:cNvPr id="36" name="Rectangle 35"/>
          <p:cNvSpPr/>
          <p:nvPr/>
        </p:nvSpPr>
        <p:spPr>
          <a:xfrm>
            <a:off x="3743172" y="3214116"/>
            <a:ext cx="848639"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231108" y="3214116"/>
            <a:ext cx="457200" cy="82296"/>
          </a:xfrm>
          <a:prstGeom prst="rect">
            <a:avLst/>
          </a:prstGeom>
          <a:noFill/>
        </p:spPr>
        <p:txBody>
          <a:bodyPr wrap="none" anchor="ctr" lIns="0" rIns="0" tIns="0" bIns="0"/>
          <a:lstStyle/>
          <a:p>
            <a:pPr algn="r">
              <a:spcBef>
                <a:spcPts val="0"/>
              </a:spcBef>
              <a:spcAft>
                <a:spcPts val="0"/>
              </a:spcAft>
            </a:pPr>
            <a:r>
              <a:rPr sz="1000" b="1" i="0">
                <a:solidFill>
                  <a:srgbClr val="1A2332"/>
                </a:solidFill>
                <a:latin typeface="Karla"/>
              </a:rPr>
              <a:t>-7</a:t>
            </a:r>
          </a:p>
        </p:txBody>
      </p:sp>
      <p:sp>
        <p:nvSpPr>
          <p:cNvPr id="38" name="Rectangle 37"/>
          <p:cNvSpPr/>
          <p:nvPr/>
        </p:nvSpPr>
        <p:spPr>
          <a:xfrm>
            <a:off x="4591811" y="3337560"/>
            <a:ext cx="1212341"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859017" y="3337560"/>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+10</a:t>
            </a:r>
          </a:p>
        </p:txBody>
      </p:sp>
      <p:sp>
        <p:nvSpPr>
          <p:cNvPr id="40" name="Rectangle 39"/>
          <p:cNvSpPr/>
          <p:nvPr/>
        </p:nvSpPr>
        <p:spPr>
          <a:xfrm>
            <a:off x="4591811" y="3461004"/>
            <a:ext cx="1091107"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737783" y="3461004"/>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+9</a:t>
            </a:r>
          </a:p>
        </p:txBody>
      </p:sp>
      <p:sp>
        <p:nvSpPr>
          <p:cNvPr id="42" name="Rectangle 41"/>
          <p:cNvSpPr/>
          <p:nvPr/>
        </p:nvSpPr>
        <p:spPr>
          <a:xfrm>
            <a:off x="4591811" y="3584448"/>
            <a:ext cx="1939747"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586422" y="3584448"/>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+16</a:t>
            </a:r>
          </a:p>
        </p:txBody>
      </p:sp>
      <p:sp>
        <p:nvSpPr>
          <p:cNvPr id="44" name="TextBox 43"/>
          <p:cNvSpPr txBox="1"/>
          <p:nvPr/>
        </p:nvSpPr>
        <p:spPr>
          <a:xfrm>
            <a:off x="502920" y="3931919"/>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E03 Tripple</a:t>
            </a:r>
          </a:p>
          <a:p>
            <a:pPr algn="r">
              <a:spcBef>
                <a:spcPts val="0"/>
              </a:spcBef>
              <a:spcAft>
                <a:spcPts val="0"/>
              </a:spcAft>
            </a:pPr>
            <a:r>
              <a:rPr sz="1000" b="0" i="0">
                <a:solidFill>
                  <a:srgbClr val="1E2D44"/>
                </a:solidFill>
                <a:latin typeface="Karla"/>
              </a:rPr>
              <a:t>Chocolate Chip Top…</a:t>
            </a:r>
          </a:p>
        </p:txBody>
      </p:sp>
      <p:sp>
        <p:nvSpPr>
          <p:cNvPr id="45" name="Rectangle 44"/>
          <p:cNvSpPr/>
          <p:nvPr/>
        </p:nvSpPr>
        <p:spPr>
          <a:xfrm>
            <a:off x="3379469" y="3931919"/>
            <a:ext cx="1212341"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867405" y="3931919"/>
            <a:ext cx="457200" cy="82296"/>
          </a:xfrm>
          <a:prstGeom prst="rect">
            <a:avLst/>
          </a:prstGeom>
          <a:noFill/>
        </p:spPr>
        <p:txBody>
          <a:bodyPr wrap="none" anchor="ctr" lIns="0" rIns="0" tIns="0" bIns="0"/>
          <a:lstStyle/>
          <a:p>
            <a:pPr algn="r">
              <a:spcBef>
                <a:spcPts val="0"/>
              </a:spcBef>
              <a:spcAft>
                <a:spcPts val="0"/>
              </a:spcAft>
            </a:pPr>
            <a:r>
              <a:rPr sz="1000" b="1" i="0">
                <a:solidFill>
                  <a:srgbClr val="1A2332"/>
                </a:solidFill>
                <a:latin typeface="Karla"/>
              </a:rPr>
              <a:t>-10</a:t>
            </a:r>
          </a:p>
        </p:txBody>
      </p:sp>
      <p:sp>
        <p:nvSpPr>
          <p:cNvPr id="47" name="Rectangle 46"/>
          <p:cNvSpPr/>
          <p:nvPr/>
        </p:nvSpPr>
        <p:spPr>
          <a:xfrm>
            <a:off x="4591811" y="4055363"/>
            <a:ext cx="242468"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889144" y="4055363"/>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+2</a:t>
            </a:r>
          </a:p>
        </p:txBody>
      </p:sp>
      <p:sp>
        <p:nvSpPr>
          <p:cNvPr id="49" name="Rectangle 48"/>
          <p:cNvSpPr/>
          <p:nvPr/>
        </p:nvSpPr>
        <p:spPr>
          <a:xfrm>
            <a:off x="4591811" y="4178807"/>
            <a:ext cx="1333576"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980251" y="4178807"/>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+11</a:t>
            </a:r>
          </a:p>
        </p:txBody>
      </p:sp>
      <p:sp>
        <p:nvSpPr>
          <p:cNvPr id="51" name="Rectangle 50"/>
          <p:cNvSpPr/>
          <p:nvPr/>
        </p:nvSpPr>
        <p:spPr>
          <a:xfrm>
            <a:off x="4591811" y="4302251"/>
            <a:ext cx="1818512"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465188" y="4302251"/>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+15</a:t>
            </a:r>
          </a:p>
        </p:txBody>
      </p:sp>
      <p:sp>
        <p:nvSpPr>
          <p:cNvPr id="53" name="Rectangle 52"/>
          <p:cNvSpPr/>
          <p:nvPr/>
        </p:nvSpPr>
        <p:spPr>
          <a:xfrm>
            <a:off x="3011423" y="4942332"/>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185159" y="4882896"/>
            <a:ext cx="298704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No, and I am not interested (basesize = 5)</a:t>
            </a:r>
          </a:p>
        </p:txBody>
      </p:sp>
      <p:sp>
        <p:nvSpPr>
          <p:cNvPr id="55" name="Rectangle 54"/>
          <p:cNvSpPr/>
          <p:nvPr/>
        </p:nvSpPr>
        <p:spPr>
          <a:xfrm>
            <a:off x="755903" y="5161788"/>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29639" y="5102352"/>
            <a:ext cx="384048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No, but I am interested in trying them (basesize = 15)</a:t>
            </a:r>
          </a:p>
        </p:txBody>
      </p:sp>
      <p:sp>
        <p:nvSpPr>
          <p:cNvPr id="57" name="Rectangle 56"/>
          <p:cNvSpPr/>
          <p:nvPr/>
        </p:nvSpPr>
        <p:spPr>
          <a:xfrm>
            <a:off x="5026151" y="5161788"/>
            <a:ext cx="100584" cy="10058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199887" y="5102352"/>
            <a:ext cx="234696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Yes, occasionally (basesize = 56)</a:t>
            </a:r>
          </a:p>
        </p:txBody>
      </p:sp>
      <p:sp>
        <p:nvSpPr>
          <p:cNvPr id="59" name="Rectangle 58"/>
          <p:cNvSpPr/>
          <p:nvPr/>
        </p:nvSpPr>
        <p:spPr>
          <a:xfrm>
            <a:off x="3438143" y="5381244"/>
            <a:ext cx="100584" cy="100584"/>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611879" y="5321808"/>
            <a:ext cx="213360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Yes, regularly (basesize = 74)</a:t>
            </a:r>
          </a:p>
        </p:txBody>
      </p:sp>
      <p:sp>
        <p:nvSpPr>
          <p:cNvPr id="61" name="Rounded Rectangle 60"/>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7935467" y="618001"/>
            <a:ext cx="1709927" cy="132431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3" name="Picture 62" descr="E12.png"/>
          <p:cNvPicPr>
            <a:picLocks noChangeAspect="1"/>
          </p:cNvPicPr>
          <p:nvPr/>
        </p:nvPicPr>
        <p:blipFill>
          <a:blip r:embed="rId2"/>
          <a:stretch>
            <a:fillRect/>
          </a:stretch>
        </p:blipFill>
        <p:spPr>
          <a:xfrm>
            <a:off x="7949183" y="631717"/>
            <a:ext cx="1682495" cy="1296884"/>
          </a:xfrm>
          <a:prstGeom prst="rect">
            <a:avLst/>
          </a:prstGeom>
        </p:spPr>
      </p:pic>
      <p:sp>
        <p:nvSpPr>
          <p:cNvPr id="64" name="TextBox 63"/>
          <p:cNvSpPr txBox="1"/>
          <p:nvPr/>
        </p:nvSpPr>
        <p:spPr>
          <a:xfrm>
            <a:off x="7912607" y="1983466"/>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Vanilla Chocolate</a:t>
            </a:r>
          </a:p>
          <a:p>
            <a:pPr algn="ctr">
              <a:spcBef>
                <a:spcPts val="0"/>
              </a:spcBef>
              <a:spcAft>
                <a:spcPts val="0"/>
              </a:spcAft>
            </a:pPr>
            <a:r>
              <a:rPr sz="1200" b="0" i="0">
                <a:solidFill>
                  <a:srgbClr val="1E2D44"/>
                </a:solidFill>
                <a:latin typeface="Karla"/>
              </a:rPr>
              <a:t>Top Left White Text…</a:t>
            </a:r>
          </a:p>
        </p:txBody>
      </p:sp>
      <p:sp>
        <p:nvSpPr>
          <p:cNvPr id="65" name="TextBox 64"/>
          <p:cNvSpPr txBox="1"/>
          <p:nvPr/>
        </p:nvSpPr>
        <p:spPr>
          <a:xfrm>
            <a:off x="7912607" y="2349226"/>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+6*</a:t>
            </a:r>
          </a:p>
        </p:txBody>
      </p:sp>
      <p:sp>
        <p:nvSpPr>
          <p:cNvPr id="66" name="Rectangle 65"/>
          <p:cNvSpPr/>
          <p:nvPr/>
        </p:nvSpPr>
        <p:spPr>
          <a:xfrm>
            <a:off x="9855707" y="618001"/>
            <a:ext cx="1709927" cy="132431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7" name="Picture 66" descr="E6.png"/>
          <p:cNvPicPr>
            <a:picLocks noChangeAspect="1"/>
          </p:cNvPicPr>
          <p:nvPr/>
        </p:nvPicPr>
        <p:blipFill>
          <a:blip r:embed="rId3"/>
          <a:stretch>
            <a:fillRect/>
          </a:stretch>
        </p:blipFill>
        <p:spPr>
          <a:xfrm>
            <a:off x="9869423" y="631717"/>
            <a:ext cx="1682495" cy="1296884"/>
          </a:xfrm>
          <a:prstGeom prst="rect">
            <a:avLst/>
          </a:prstGeom>
        </p:spPr>
      </p:pic>
      <p:sp>
        <p:nvSpPr>
          <p:cNvPr id="68" name="TextBox 67"/>
          <p:cNvSpPr txBox="1"/>
          <p:nvPr/>
        </p:nvSpPr>
        <p:spPr>
          <a:xfrm>
            <a:off x="9832847" y="1983466"/>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E06 Orange</a:t>
            </a:r>
          </a:p>
          <a:p>
            <a:pPr algn="ctr">
              <a:spcBef>
                <a:spcPts val="0"/>
              </a:spcBef>
              <a:spcAft>
                <a:spcPts val="0"/>
              </a:spcAft>
            </a:pPr>
            <a:r>
              <a:rPr sz="1200" b="0" i="0">
                <a:solidFill>
                  <a:srgbClr val="1E2D44"/>
                </a:solidFill>
                <a:latin typeface="Karla"/>
              </a:rPr>
              <a:t>Chocolate Top Left…</a:t>
            </a:r>
          </a:p>
        </p:txBody>
      </p:sp>
      <p:sp>
        <p:nvSpPr>
          <p:cNvPr id="69" name="TextBox 68"/>
          <p:cNvSpPr txBox="1"/>
          <p:nvPr/>
        </p:nvSpPr>
        <p:spPr>
          <a:xfrm>
            <a:off x="9832847" y="2349226"/>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+8*</a:t>
            </a:r>
          </a:p>
        </p:txBody>
      </p:sp>
      <p:sp>
        <p:nvSpPr>
          <p:cNvPr id="70" name="Rectangle 69"/>
          <p:cNvSpPr/>
          <p:nvPr/>
        </p:nvSpPr>
        <p:spPr>
          <a:xfrm>
            <a:off x="7935467" y="3178321"/>
            <a:ext cx="1709927" cy="132431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1" name="Picture 70" descr="E9.png"/>
          <p:cNvPicPr>
            <a:picLocks noChangeAspect="1"/>
          </p:cNvPicPr>
          <p:nvPr/>
        </p:nvPicPr>
        <p:blipFill>
          <a:blip r:embed="rId4"/>
          <a:stretch>
            <a:fillRect/>
          </a:stretch>
        </p:blipFill>
        <p:spPr>
          <a:xfrm>
            <a:off x="7949183" y="3192037"/>
            <a:ext cx="1682495" cy="1296884"/>
          </a:xfrm>
          <a:prstGeom prst="rect">
            <a:avLst/>
          </a:prstGeom>
        </p:spPr>
      </p:pic>
      <p:sp>
        <p:nvSpPr>
          <p:cNvPr id="72" name="TextBox 71"/>
          <p:cNvSpPr txBox="1"/>
          <p:nvPr/>
        </p:nvSpPr>
        <p:spPr>
          <a:xfrm>
            <a:off x="7912607" y="4543786"/>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E09 Banana</a:t>
            </a:r>
          </a:p>
          <a:p>
            <a:pPr algn="ctr">
              <a:spcBef>
                <a:spcPts val="0"/>
              </a:spcBef>
              <a:spcAft>
                <a:spcPts val="0"/>
              </a:spcAft>
            </a:pPr>
            <a:r>
              <a:rPr sz="1200" b="0" i="0">
                <a:solidFill>
                  <a:srgbClr val="1E2D44"/>
                </a:solidFill>
                <a:latin typeface="Karla"/>
              </a:rPr>
              <a:t>Chocolate Top Left…</a:t>
            </a:r>
          </a:p>
        </p:txBody>
      </p:sp>
      <p:sp>
        <p:nvSpPr>
          <p:cNvPr id="73" name="TextBox 72"/>
          <p:cNvSpPr txBox="1"/>
          <p:nvPr/>
        </p:nvSpPr>
        <p:spPr>
          <a:xfrm>
            <a:off x="7912607" y="4909546"/>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+7*</a:t>
            </a:r>
          </a:p>
        </p:txBody>
      </p:sp>
      <p:sp>
        <p:nvSpPr>
          <p:cNvPr id="74" name="Rectangle 73"/>
          <p:cNvSpPr/>
          <p:nvPr/>
        </p:nvSpPr>
        <p:spPr>
          <a:xfrm>
            <a:off x="9855707" y="3178321"/>
            <a:ext cx="1709927" cy="132431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5" name="Picture 74" descr="E3.png"/>
          <p:cNvPicPr>
            <a:picLocks noChangeAspect="1"/>
          </p:cNvPicPr>
          <p:nvPr/>
        </p:nvPicPr>
        <p:blipFill>
          <a:blip r:embed="rId5"/>
          <a:stretch>
            <a:fillRect/>
          </a:stretch>
        </p:blipFill>
        <p:spPr>
          <a:xfrm>
            <a:off x="9869423" y="3192037"/>
            <a:ext cx="1682495" cy="1296884"/>
          </a:xfrm>
          <a:prstGeom prst="rect">
            <a:avLst/>
          </a:prstGeom>
        </p:spPr>
      </p:pic>
      <p:sp>
        <p:nvSpPr>
          <p:cNvPr id="76" name="TextBox 75"/>
          <p:cNvSpPr txBox="1"/>
          <p:nvPr/>
        </p:nvSpPr>
        <p:spPr>
          <a:xfrm>
            <a:off x="9832847" y="4543786"/>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E03 Tripple</a:t>
            </a:r>
          </a:p>
          <a:p>
            <a:pPr algn="ctr">
              <a:spcBef>
                <a:spcPts val="0"/>
              </a:spcBef>
              <a:spcAft>
                <a:spcPts val="0"/>
              </a:spcAft>
            </a:pPr>
            <a:r>
              <a:rPr sz="1200" b="0" i="0">
                <a:solidFill>
                  <a:srgbClr val="1E2D44"/>
                </a:solidFill>
                <a:latin typeface="Karla"/>
              </a:rPr>
              <a:t>Chocolate Chip Top…</a:t>
            </a:r>
          </a:p>
        </p:txBody>
      </p:sp>
      <p:sp>
        <p:nvSpPr>
          <p:cNvPr id="77" name="TextBox 76"/>
          <p:cNvSpPr txBox="1"/>
          <p:nvPr/>
        </p:nvSpPr>
        <p:spPr>
          <a:xfrm>
            <a:off x="9832847" y="4909546"/>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+4*</a:t>
            </a:r>
          </a:p>
        </p:txBody>
      </p:sp>
      <p:sp>
        <p:nvSpPr>
          <p:cNvPr id="78" name="Rounded Rectangle 77"/>
          <p:cNvSpPr/>
          <p:nvPr/>
        </p:nvSpPr>
        <p:spPr>
          <a:xfrm>
            <a:off x="502920" y="5632704"/>
            <a:ext cx="11268455" cy="676656"/>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200" b="0">
                <a:solidFill>
                  <a:srgbClr val="1E2D44"/>
                </a:solidFill>
                <a:latin typeface="Karla"/>
              </a:rPr>
              <a:t>No, and I am not interested favors E01 Tripple Chocolate Chip Top Centre Dark Text D2D3 Panel; No, but I am interested in trying them favors E02 Tripple Chocolate Chip Top Left Dark Text Panel; Yes, occasionally favors Vanilla Chocolate Top Left Dark Text Panel; Yes, regularly favors Vanilla Chocolate Top Left Dark Text Panel. The widest segment gap is Vanilla Chocolate Top Left Dark Text Panel: -18 no, and i am not interested / +18 no, but i am interested in trying them / +19 yes, occasionally / +31 yes, regularly.</a:t>
            </a:r>
          </a:p>
        </p:txBody>
      </p:sp>
      <p:sp>
        <p:nvSpPr>
          <p:cNvPr id="79" name="Rectangle 78"/>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Top-2 scores rounded to whole points. *Average of the groups in the legend.</a:t>
            </a:r>
          </a:p>
        </p:txBody>
      </p:sp>
      <p:sp>
        <p:nvSpPr>
          <p:cNvPr id="81" name="TextBox 80"/>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37744"/>
            <a:ext cx="7043927" cy="182880"/>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KEY FINDINGS: E_FLAVOUR  ·  Do you currently consume protein-enriched food products   ·   3 of 3</a:t>
            </a:r>
          </a:p>
        </p:txBody>
      </p:sp>
      <p:sp>
        <p:nvSpPr>
          <p:cNvPr id="3" name="TextBox 2"/>
          <p:cNvSpPr txBox="1"/>
          <p:nvPr/>
        </p:nvSpPr>
        <p:spPr>
          <a:xfrm>
            <a:off x="502920" y="438912"/>
            <a:ext cx="7043927" cy="365760"/>
          </a:xfrm>
          <a:prstGeom prst="rect">
            <a:avLst/>
          </a:prstGeom>
          <a:noFill/>
        </p:spPr>
        <p:txBody>
          <a:bodyPr wrap="square" anchor="t" lIns="0" rIns="0" tIns="0" bIns="0"/>
          <a:lstStyle/>
          <a:p>
            <a:pPr algn="l">
              <a:spcBef>
                <a:spcPts val="0"/>
              </a:spcBef>
              <a:spcAft>
                <a:spcPts val="0"/>
              </a:spcAft>
            </a:pPr>
            <a:r>
              <a:rPr sz="2600" b="1" i="0">
                <a:solidFill>
                  <a:srgbClr val="1E2D44"/>
                </a:solidFill>
                <a:latin typeface="Karla"/>
              </a:rPr>
              <a:t>E_Flavour splits across the groups</a:t>
            </a:r>
          </a:p>
        </p:txBody>
      </p:sp>
      <p:sp>
        <p:nvSpPr>
          <p:cNvPr id="4" name="TextBox 3"/>
          <p:cNvSpPr txBox="1"/>
          <p:nvPr/>
        </p:nvSpPr>
        <p:spPr>
          <a:xfrm>
            <a:off x="502920" y="822960"/>
            <a:ext cx="7043927" cy="475488"/>
          </a:xfrm>
          <a:prstGeom prst="rect">
            <a:avLst/>
          </a:prstGeom>
          <a:noFill/>
        </p:spPr>
        <p:txBody>
          <a:bodyPr wrap="square" anchor="t" lIns="0" rIns="0" tIns="0" bIns="0"/>
          <a:lstStyle/>
          <a:p>
            <a:pPr algn="l">
              <a:spcBef>
                <a:spcPts val="0"/>
              </a:spcBef>
              <a:spcAft>
                <a:spcPts val="0"/>
              </a:spcAft>
            </a:pPr>
            <a:r>
              <a:rPr sz="1200" b="0" i="0">
                <a:solidFill>
                  <a:srgbClr val="617086"/>
                </a:solidFill>
                <a:latin typeface="Karla"/>
              </a:rPr>
              <a:t>No, and I am not interested favors E01 Tripple Chocolate Chip Top Centre Dark Text D2D3 Panel; No, but I am interested in trying them favors E02 Tripple Chocolate Chip Top Left Dark Text Panel; Yes, occasionally favors Vanilla Chocolate Top Left Dark Text Panel; Yes, regularly favors Vanilla Chocolate Top Left Dark Text Panel.</a:t>
            </a:r>
          </a:p>
        </p:txBody>
      </p:sp>
      <p:sp>
        <p:nvSpPr>
          <p:cNvPr id="5" name="Rectangle 4"/>
          <p:cNvSpPr/>
          <p:nvPr/>
        </p:nvSpPr>
        <p:spPr>
          <a:xfrm>
            <a:off x="502920" y="1335024"/>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E_FLAVOUR</a:t>
            </a:r>
          </a:p>
        </p:txBody>
      </p:sp>
      <p:sp>
        <p:nvSpPr>
          <p:cNvPr id="6" name="TextBox 5"/>
          <p:cNvSpPr txBox="1"/>
          <p:nvPr/>
        </p:nvSpPr>
        <p:spPr>
          <a:xfrm>
            <a:off x="1874520"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7" name="Rectangle 6"/>
          <p:cNvSpPr/>
          <p:nvPr/>
        </p:nvSpPr>
        <p:spPr>
          <a:xfrm>
            <a:off x="3379469"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86861"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5</a:t>
            </a:r>
          </a:p>
        </p:txBody>
      </p:sp>
      <p:sp>
        <p:nvSpPr>
          <p:cNvPr id="9" name="Rectangle 8"/>
          <p:cNvSpPr/>
          <p:nvPr/>
        </p:nvSpPr>
        <p:spPr>
          <a:xfrm>
            <a:off x="4591811"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9203"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11" name="Rectangle 10"/>
          <p:cNvSpPr/>
          <p:nvPr/>
        </p:nvSpPr>
        <p:spPr>
          <a:xfrm>
            <a:off x="5804153"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11545"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15</a:t>
            </a:r>
          </a:p>
        </p:txBody>
      </p:sp>
      <p:sp>
        <p:nvSpPr>
          <p:cNvPr id="13" name="Rectangle 12"/>
          <p:cNvSpPr/>
          <p:nvPr/>
        </p:nvSpPr>
        <p:spPr>
          <a:xfrm>
            <a:off x="7016495"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23887"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5" name="Rectangle 14"/>
          <p:cNvSpPr/>
          <p:nvPr/>
        </p:nvSpPr>
        <p:spPr>
          <a:xfrm>
            <a:off x="2167128" y="1645920"/>
            <a:ext cx="10972" cy="2871215"/>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167128" y="4517136"/>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1778508"/>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Vanilla Chocolate</a:t>
            </a:r>
          </a:p>
          <a:p>
            <a:pPr algn="r">
              <a:spcBef>
                <a:spcPts val="0"/>
              </a:spcBef>
              <a:spcAft>
                <a:spcPts val="0"/>
              </a:spcAft>
            </a:pPr>
            <a:r>
              <a:rPr sz="1000" b="0" i="0">
                <a:solidFill>
                  <a:srgbClr val="1E2D44"/>
                </a:solidFill>
                <a:latin typeface="Karla"/>
              </a:rPr>
              <a:t>Top Centre Dark Text…</a:t>
            </a:r>
          </a:p>
        </p:txBody>
      </p:sp>
      <p:sp>
        <p:nvSpPr>
          <p:cNvPr id="18" name="Rectangle 17"/>
          <p:cNvSpPr/>
          <p:nvPr/>
        </p:nvSpPr>
        <p:spPr>
          <a:xfrm>
            <a:off x="2167128" y="1778508"/>
            <a:ext cx="1212341"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34333" y="1778508"/>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+5</a:t>
            </a:r>
          </a:p>
        </p:txBody>
      </p:sp>
      <p:sp>
        <p:nvSpPr>
          <p:cNvPr id="20" name="Rectangle 19"/>
          <p:cNvSpPr/>
          <p:nvPr/>
        </p:nvSpPr>
        <p:spPr>
          <a:xfrm>
            <a:off x="2167128" y="1901952"/>
            <a:ext cx="3637025"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859017" y="1901952"/>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+15</a:t>
            </a:r>
          </a:p>
        </p:txBody>
      </p:sp>
      <p:sp>
        <p:nvSpPr>
          <p:cNvPr id="22" name="Rectangle 21"/>
          <p:cNvSpPr/>
          <p:nvPr/>
        </p:nvSpPr>
        <p:spPr>
          <a:xfrm>
            <a:off x="2167128" y="2025395"/>
            <a:ext cx="2909620"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31612" y="2025395"/>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+12</a:t>
            </a:r>
          </a:p>
        </p:txBody>
      </p:sp>
      <p:sp>
        <p:nvSpPr>
          <p:cNvPr id="24" name="Rectangle 23"/>
          <p:cNvSpPr/>
          <p:nvPr/>
        </p:nvSpPr>
        <p:spPr>
          <a:xfrm>
            <a:off x="2167128" y="2148840"/>
            <a:ext cx="2909620"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131612" y="2148840"/>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+12</a:t>
            </a:r>
          </a:p>
        </p:txBody>
      </p:sp>
      <p:sp>
        <p:nvSpPr>
          <p:cNvPr id="26" name="TextBox 25"/>
          <p:cNvSpPr txBox="1"/>
          <p:nvPr/>
        </p:nvSpPr>
        <p:spPr>
          <a:xfrm>
            <a:off x="502920" y="2496312"/>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E01 Tripple</a:t>
            </a:r>
          </a:p>
          <a:p>
            <a:pPr algn="r">
              <a:spcBef>
                <a:spcPts val="0"/>
              </a:spcBef>
              <a:spcAft>
                <a:spcPts val="0"/>
              </a:spcAft>
            </a:pPr>
            <a:r>
              <a:rPr sz="1000" b="0" i="0">
                <a:solidFill>
                  <a:srgbClr val="1E2D44"/>
                </a:solidFill>
                <a:latin typeface="Karla"/>
              </a:rPr>
              <a:t>Chocolate Chip Top…</a:t>
            </a:r>
          </a:p>
        </p:txBody>
      </p:sp>
      <p:sp>
        <p:nvSpPr>
          <p:cNvPr id="27" name="Rectangle 26"/>
          <p:cNvSpPr/>
          <p:nvPr/>
        </p:nvSpPr>
        <p:spPr>
          <a:xfrm>
            <a:off x="2167128" y="2496312"/>
            <a:ext cx="2424683"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46675" y="2496312"/>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+10</a:t>
            </a:r>
          </a:p>
        </p:txBody>
      </p:sp>
      <p:sp>
        <p:nvSpPr>
          <p:cNvPr id="29" name="Rectangle 28"/>
          <p:cNvSpPr/>
          <p:nvPr/>
        </p:nvSpPr>
        <p:spPr>
          <a:xfrm>
            <a:off x="2167128" y="2619756"/>
            <a:ext cx="727405"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949397" y="2619756"/>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+3</a:t>
            </a:r>
          </a:p>
        </p:txBody>
      </p:sp>
      <p:sp>
        <p:nvSpPr>
          <p:cNvPr id="31" name="Rectangle 30"/>
          <p:cNvSpPr/>
          <p:nvPr/>
        </p:nvSpPr>
        <p:spPr>
          <a:xfrm>
            <a:off x="2167128" y="2743200"/>
            <a:ext cx="3152089"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374081" y="2743200"/>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+13</a:t>
            </a:r>
          </a:p>
        </p:txBody>
      </p:sp>
      <p:sp>
        <p:nvSpPr>
          <p:cNvPr id="33" name="Rectangle 32"/>
          <p:cNvSpPr/>
          <p:nvPr/>
        </p:nvSpPr>
        <p:spPr>
          <a:xfrm>
            <a:off x="2167128" y="2866644"/>
            <a:ext cx="2909620"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131612" y="2866644"/>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+12</a:t>
            </a:r>
          </a:p>
        </p:txBody>
      </p:sp>
      <p:sp>
        <p:nvSpPr>
          <p:cNvPr id="35" name="TextBox 34"/>
          <p:cNvSpPr txBox="1"/>
          <p:nvPr/>
        </p:nvSpPr>
        <p:spPr>
          <a:xfrm>
            <a:off x="502920" y="3214116"/>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E07 Banana Chocolate</a:t>
            </a:r>
          </a:p>
          <a:p>
            <a:pPr algn="r">
              <a:spcBef>
                <a:spcPts val="0"/>
              </a:spcBef>
              <a:spcAft>
                <a:spcPts val="0"/>
              </a:spcAft>
            </a:pPr>
            <a:r>
              <a:rPr sz="1000" b="0" i="0">
                <a:solidFill>
                  <a:srgbClr val="1E2D44"/>
                </a:solidFill>
                <a:latin typeface="Karla"/>
              </a:rPr>
              <a:t>Top Centre Dark Text…</a:t>
            </a:r>
          </a:p>
        </p:txBody>
      </p:sp>
      <p:sp>
        <p:nvSpPr>
          <p:cNvPr id="36" name="Rectangle 35"/>
          <p:cNvSpPr/>
          <p:nvPr/>
        </p:nvSpPr>
        <p:spPr>
          <a:xfrm>
            <a:off x="2167128" y="3214116"/>
            <a:ext cx="2182215"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404207" y="3214116"/>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+9</a:t>
            </a:r>
          </a:p>
        </p:txBody>
      </p:sp>
      <p:sp>
        <p:nvSpPr>
          <p:cNvPr id="38" name="Rectangle 37"/>
          <p:cNvSpPr/>
          <p:nvPr/>
        </p:nvSpPr>
        <p:spPr>
          <a:xfrm>
            <a:off x="2167128" y="3337560"/>
            <a:ext cx="2909620"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131612" y="3337560"/>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+12</a:t>
            </a:r>
          </a:p>
        </p:txBody>
      </p:sp>
      <p:sp>
        <p:nvSpPr>
          <p:cNvPr id="40" name="Rectangle 39"/>
          <p:cNvSpPr/>
          <p:nvPr/>
        </p:nvSpPr>
        <p:spPr>
          <a:xfrm>
            <a:off x="2167128" y="3461004"/>
            <a:ext cx="1212341"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434333" y="3461004"/>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+5</a:t>
            </a:r>
          </a:p>
        </p:txBody>
      </p:sp>
      <p:sp>
        <p:nvSpPr>
          <p:cNvPr id="42" name="Rectangle 41"/>
          <p:cNvSpPr/>
          <p:nvPr/>
        </p:nvSpPr>
        <p:spPr>
          <a:xfrm>
            <a:off x="2167128" y="3584448"/>
            <a:ext cx="2909620"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131612" y="3584448"/>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+12</a:t>
            </a:r>
          </a:p>
        </p:txBody>
      </p:sp>
      <p:sp>
        <p:nvSpPr>
          <p:cNvPr id="44" name="TextBox 43"/>
          <p:cNvSpPr txBox="1"/>
          <p:nvPr/>
        </p:nvSpPr>
        <p:spPr>
          <a:xfrm>
            <a:off x="502920" y="3931919"/>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E04 Orange Chocolate</a:t>
            </a:r>
          </a:p>
          <a:p>
            <a:pPr algn="r">
              <a:spcBef>
                <a:spcPts val="0"/>
              </a:spcBef>
              <a:spcAft>
                <a:spcPts val="0"/>
              </a:spcAft>
            </a:pPr>
            <a:r>
              <a:rPr sz="1000" b="0" i="0">
                <a:solidFill>
                  <a:srgbClr val="1E2D44"/>
                </a:solidFill>
                <a:latin typeface="Karla"/>
              </a:rPr>
              <a:t>Top Centre Dark Text…</a:t>
            </a:r>
          </a:p>
        </p:txBody>
      </p:sp>
      <p:sp>
        <p:nvSpPr>
          <p:cNvPr id="45" name="Rectangle 44"/>
          <p:cNvSpPr/>
          <p:nvPr/>
        </p:nvSpPr>
        <p:spPr>
          <a:xfrm>
            <a:off x="2167128" y="3931919"/>
            <a:ext cx="1454810"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76802" y="3931919"/>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+6</a:t>
            </a:r>
          </a:p>
        </p:txBody>
      </p:sp>
      <p:sp>
        <p:nvSpPr>
          <p:cNvPr id="47" name="Rectangle 46"/>
          <p:cNvSpPr/>
          <p:nvPr/>
        </p:nvSpPr>
        <p:spPr>
          <a:xfrm>
            <a:off x="2167128" y="4055363"/>
            <a:ext cx="1454810"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676802" y="4055363"/>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+6</a:t>
            </a:r>
          </a:p>
        </p:txBody>
      </p:sp>
      <p:sp>
        <p:nvSpPr>
          <p:cNvPr id="49" name="Rectangle 48"/>
          <p:cNvSpPr/>
          <p:nvPr/>
        </p:nvSpPr>
        <p:spPr>
          <a:xfrm>
            <a:off x="2167128" y="4178807"/>
            <a:ext cx="1212341"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434333" y="4178807"/>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+5</a:t>
            </a:r>
          </a:p>
        </p:txBody>
      </p:sp>
      <p:sp>
        <p:nvSpPr>
          <p:cNvPr id="51" name="Rectangle 50"/>
          <p:cNvSpPr/>
          <p:nvPr/>
        </p:nvSpPr>
        <p:spPr>
          <a:xfrm>
            <a:off x="2167128" y="4302251"/>
            <a:ext cx="2667152"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889144" y="4302251"/>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+11</a:t>
            </a:r>
          </a:p>
        </p:txBody>
      </p:sp>
      <p:sp>
        <p:nvSpPr>
          <p:cNvPr id="53" name="Rectangle 52"/>
          <p:cNvSpPr/>
          <p:nvPr/>
        </p:nvSpPr>
        <p:spPr>
          <a:xfrm>
            <a:off x="3011423" y="4942332"/>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185159" y="4882896"/>
            <a:ext cx="298704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No, and I am not interested (basesize = 5)</a:t>
            </a:r>
          </a:p>
        </p:txBody>
      </p:sp>
      <p:sp>
        <p:nvSpPr>
          <p:cNvPr id="55" name="Rectangle 54"/>
          <p:cNvSpPr/>
          <p:nvPr/>
        </p:nvSpPr>
        <p:spPr>
          <a:xfrm>
            <a:off x="755903" y="5161788"/>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29639" y="5102352"/>
            <a:ext cx="384048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No, but I am interested in trying them (basesize = 15)</a:t>
            </a:r>
          </a:p>
        </p:txBody>
      </p:sp>
      <p:sp>
        <p:nvSpPr>
          <p:cNvPr id="57" name="Rectangle 56"/>
          <p:cNvSpPr/>
          <p:nvPr/>
        </p:nvSpPr>
        <p:spPr>
          <a:xfrm>
            <a:off x="5026151" y="5161788"/>
            <a:ext cx="100584" cy="10058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199887" y="5102352"/>
            <a:ext cx="234696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Yes, occasionally (basesize = 56)</a:t>
            </a:r>
          </a:p>
        </p:txBody>
      </p:sp>
      <p:sp>
        <p:nvSpPr>
          <p:cNvPr id="59" name="Rectangle 58"/>
          <p:cNvSpPr/>
          <p:nvPr/>
        </p:nvSpPr>
        <p:spPr>
          <a:xfrm>
            <a:off x="3438143" y="5381244"/>
            <a:ext cx="100584" cy="100584"/>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611879" y="5321808"/>
            <a:ext cx="213360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Yes, regularly (basesize = 74)</a:t>
            </a:r>
          </a:p>
        </p:txBody>
      </p:sp>
      <p:sp>
        <p:nvSpPr>
          <p:cNvPr id="61" name="Rounded Rectangle 60"/>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7935467" y="618001"/>
            <a:ext cx="1709927" cy="132431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3" name="Picture 62" descr="E10.png"/>
          <p:cNvPicPr>
            <a:picLocks noChangeAspect="1"/>
          </p:cNvPicPr>
          <p:nvPr/>
        </p:nvPicPr>
        <p:blipFill>
          <a:blip r:embed="rId2"/>
          <a:stretch>
            <a:fillRect/>
          </a:stretch>
        </p:blipFill>
        <p:spPr>
          <a:xfrm>
            <a:off x="7949183" y="631717"/>
            <a:ext cx="1682495" cy="1296884"/>
          </a:xfrm>
          <a:prstGeom prst="rect">
            <a:avLst/>
          </a:prstGeom>
        </p:spPr>
      </p:pic>
      <p:sp>
        <p:nvSpPr>
          <p:cNvPr id="64" name="TextBox 63"/>
          <p:cNvSpPr txBox="1"/>
          <p:nvPr/>
        </p:nvSpPr>
        <p:spPr>
          <a:xfrm>
            <a:off x="7912607" y="1983466"/>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Vanilla Chocolate</a:t>
            </a:r>
          </a:p>
          <a:p>
            <a:pPr algn="ctr">
              <a:spcBef>
                <a:spcPts val="0"/>
              </a:spcBef>
              <a:spcAft>
                <a:spcPts val="0"/>
              </a:spcAft>
            </a:pPr>
            <a:r>
              <a:rPr sz="1200" b="0" i="0">
                <a:solidFill>
                  <a:srgbClr val="1E2D44"/>
                </a:solidFill>
                <a:latin typeface="Karla"/>
              </a:rPr>
              <a:t>Top Centre Dark…</a:t>
            </a:r>
          </a:p>
        </p:txBody>
      </p:sp>
      <p:sp>
        <p:nvSpPr>
          <p:cNvPr id="65" name="TextBox 64"/>
          <p:cNvSpPr txBox="1"/>
          <p:nvPr/>
        </p:nvSpPr>
        <p:spPr>
          <a:xfrm>
            <a:off x="7912607" y="2349226"/>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+11*</a:t>
            </a:r>
          </a:p>
        </p:txBody>
      </p:sp>
      <p:sp>
        <p:nvSpPr>
          <p:cNvPr id="66" name="Rectangle 65"/>
          <p:cNvSpPr/>
          <p:nvPr/>
        </p:nvSpPr>
        <p:spPr>
          <a:xfrm>
            <a:off x="9855707" y="618001"/>
            <a:ext cx="1709927" cy="132431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7" name="Picture 66" descr="E1.png"/>
          <p:cNvPicPr>
            <a:picLocks noChangeAspect="1"/>
          </p:cNvPicPr>
          <p:nvPr/>
        </p:nvPicPr>
        <p:blipFill>
          <a:blip r:embed="rId3"/>
          <a:stretch>
            <a:fillRect/>
          </a:stretch>
        </p:blipFill>
        <p:spPr>
          <a:xfrm>
            <a:off x="9869423" y="631717"/>
            <a:ext cx="1682495" cy="1296884"/>
          </a:xfrm>
          <a:prstGeom prst="rect">
            <a:avLst/>
          </a:prstGeom>
        </p:spPr>
      </p:pic>
      <p:sp>
        <p:nvSpPr>
          <p:cNvPr id="68" name="TextBox 67"/>
          <p:cNvSpPr txBox="1"/>
          <p:nvPr/>
        </p:nvSpPr>
        <p:spPr>
          <a:xfrm>
            <a:off x="9832847" y="1983466"/>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E01 Tripple</a:t>
            </a:r>
          </a:p>
          <a:p>
            <a:pPr algn="ctr">
              <a:spcBef>
                <a:spcPts val="0"/>
              </a:spcBef>
              <a:spcAft>
                <a:spcPts val="0"/>
              </a:spcAft>
            </a:pPr>
            <a:r>
              <a:rPr sz="1200" b="0" i="0">
                <a:solidFill>
                  <a:srgbClr val="1E2D44"/>
                </a:solidFill>
                <a:latin typeface="Karla"/>
              </a:rPr>
              <a:t>Chocolate Chip Top…</a:t>
            </a:r>
          </a:p>
        </p:txBody>
      </p:sp>
      <p:sp>
        <p:nvSpPr>
          <p:cNvPr id="69" name="TextBox 68"/>
          <p:cNvSpPr txBox="1"/>
          <p:nvPr/>
        </p:nvSpPr>
        <p:spPr>
          <a:xfrm>
            <a:off x="9832847" y="2349226"/>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+10*</a:t>
            </a:r>
          </a:p>
        </p:txBody>
      </p:sp>
      <p:sp>
        <p:nvSpPr>
          <p:cNvPr id="70" name="Rectangle 69"/>
          <p:cNvSpPr/>
          <p:nvPr/>
        </p:nvSpPr>
        <p:spPr>
          <a:xfrm>
            <a:off x="7935467" y="3178321"/>
            <a:ext cx="1709927" cy="132431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1" name="Picture 70" descr="E7.png"/>
          <p:cNvPicPr>
            <a:picLocks noChangeAspect="1"/>
          </p:cNvPicPr>
          <p:nvPr/>
        </p:nvPicPr>
        <p:blipFill>
          <a:blip r:embed="rId4"/>
          <a:stretch>
            <a:fillRect/>
          </a:stretch>
        </p:blipFill>
        <p:spPr>
          <a:xfrm>
            <a:off x="7949183" y="3192037"/>
            <a:ext cx="1682495" cy="1296884"/>
          </a:xfrm>
          <a:prstGeom prst="rect">
            <a:avLst/>
          </a:prstGeom>
        </p:spPr>
      </p:pic>
      <p:sp>
        <p:nvSpPr>
          <p:cNvPr id="72" name="TextBox 71"/>
          <p:cNvSpPr txBox="1"/>
          <p:nvPr/>
        </p:nvSpPr>
        <p:spPr>
          <a:xfrm>
            <a:off x="7912607" y="4543786"/>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E07 Banana</a:t>
            </a:r>
          </a:p>
          <a:p>
            <a:pPr algn="ctr">
              <a:spcBef>
                <a:spcPts val="0"/>
              </a:spcBef>
              <a:spcAft>
                <a:spcPts val="0"/>
              </a:spcAft>
            </a:pPr>
            <a:r>
              <a:rPr sz="1200" b="0" i="0">
                <a:solidFill>
                  <a:srgbClr val="1E2D44"/>
                </a:solidFill>
                <a:latin typeface="Karla"/>
              </a:rPr>
              <a:t>Chocolate Top…</a:t>
            </a:r>
          </a:p>
        </p:txBody>
      </p:sp>
      <p:sp>
        <p:nvSpPr>
          <p:cNvPr id="73" name="TextBox 72"/>
          <p:cNvSpPr txBox="1"/>
          <p:nvPr/>
        </p:nvSpPr>
        <p:spPr>
          <a:xfrm>
            <a:off x="7912607" y="4909546"/>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+10*</a:t>
            </a:r>
          </a:p>
        </p:txBody>
      </p:sp>
      <p:sp>
        <p:nvSpPr>
          <p:cNvPr id="74" name="Rectangle 73"/>
          <p:cNvSpPr/>
          <p:nvPr/>
        </p:nvSpPr>
        <p:spPr>
          <a:xfrm>
            <a:off x="9855707" y="3178321"/>
            <a:ext cx="1709927" cy="132431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5" name="Picture 74" descr="E4.png"/>
          <p:cNvPicPr>
            <a:picLocks noChangeAspect="1"/>
          </p:cNvPicPr>
          <p:nvPr/>
        </p:nvPicPr>
        <p:blipFill>
          <a:blip r:embed="rId5"/>
          <a:stretch>
            <a:fillRect/>
          </a:stretch>
        </p:blipFill>
        <p:spPr>
          <a:xfrm>
            <a:off x="9869423" y="3192037"/>
            <a:ext cx="1682495" cy="1296884"/>
          </a:xfrm>
          <a:prstGeom prst="rect">
            <a:avLst/>
          </a:prstGeom>
        </p:spPr>
      </p:pic>
      <p:sp>
        <p:nvSpPr>
          <p:cNvPr id="76" name="TextBox 75"/>
          <p:cNvSpPr txBox="1"/>
          <p:nvPr/>
        </p:nvSpPr>
        <p:spPr>
          <a:xfrm>
            <a:off x="9832847" y="4543786"/>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E04 Orange</a:t>
            </a:r>
          </a:p>
          <a:p>
            <a:pPr algn="ctr">
              <a:spcBef>
                <a:spcPts val="0"/>
              </a:spcBef>
              <a:spcAft>
                <a:spcPts val="0"/>
              </a:spcAft>
            </a:pPr>
            <a:r>
              <a:rPr sz="1200" b="0" i="0">
                <a:solidFill>
                  <a:srgbClr val="1E2D44"/>
                </a:solidFill>
                <a:latin typeface="Karla"/>
              </a:rPr>
              <a:t>Chocolate Top…</a:t>
            </a:r>
          </a:p>
        </p:txBody>
      </p:sp>
      <p:sp>
        <p:nvSpPr>
          <p:cNvPr id="77" name="TextBox 76"/>
          <p:cNvSpPr txBox="1"/>
          <p:nvPr/>
        </p:nvSpPr>
        <p:spPr>
          <a:xfrm>
            <a:off x="9832847" y="4909546"/>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+7*</a:t>
            </a:r>
          </a:p>
        </p:txBody>
      </p:sp>
      <p:sp>
        <p:nvSpPr>
          <p:cNvPr id="78" name="Rounded Rectangle 77"/>
          <p:cNvSpPr/>
          <p:nvPr/>
        </p:nvSpPr>
        <p:spPr>
          <a:xfrm>
            <a:off x="502920" y="5632704"/>
            <a:ext cx="11268455" cy="676656"/>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200" b="0">
                <a:solidFill>
                  <a:srgbClr val="1E2D44"/>
                </a:solidFill>
                <a:latin typeface="Karla"/>
              </a:rPr>
              <a:t>No, and I am not interested favors E01 Tripple Chocolate Chip Top Centre Dark Text D2D3 Panel; No, but I am interested in trying them favors E02 Tripple Chocolate Chip Top Left Dark Text Panel; Yes, occasionally favors Vanilla Chocolate Top Left Dark Text Panel; Yes, regularly favors Vanilla Chocolate Top Left Dark Text Panel. The widest segment gap is Vanilla Chocolate Top Left Dark Text Panel: -18 no, and i am not interested / +18 no, but i am interested in trying them / +19 yes, occasionally / +31 yes, regularly.</a:t>
            </a:r>
          </a:p>
        </p:txBody>
      </p:sp>
      <p:sp>
        <p:nvSpPr>
          <p:cNvPr id="79" name="Rectangle 78"/>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Top-2 scores rounded to whole points. *Average of the groups in the legend.</a:t>
            </a:r>
          </a:p>
        </p:txBody>
      </p:sp>
      <p:sp>
        <p:nvSpPr>
          <p:cNvPr id="81" name="TextBox 80"/>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37744"/>
            <a:ext cx="7043927" cy="182880"/>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KEY FINDINGS: E_FLAVOUR  ·  What would be your ideal way to consume protein-enriched products?   ·   1 of 3</a:t>
            </a:r>
          </a:p>
        </p:txBody>
      </p:sp>
      <p:sp>
        <p:nvSpPr>
          <p:cNvPr id="3" name="TextBox 2"/>
          <p:cNvSpPr txBox="1"/>
          <p:nvPr/>
        </p:nvSpPr>
        <p:spPr>
          <a:xfrm>
            <a:off x="502920" y="438912"/>
            <a:ext cx="7043927" cy="365760"/>
          </a:xfrm>
          <a:prstGeom prst="rect">
            <a:avLst/>
          </a:prstGeom>
          <a:noFill/>
        </p:spPr>
        <p:txBody>
          <a:bodyPr wrap="square" anchor="t" lIns="0" rIns="0" tIns="0" bIns="0"/>
          <a:lstStyle/>
          <a:p>
            <a:pPr algn="l">
              <a:spcBef>
                <a:spcPts val="0"/>
              </a:spcBef>
              <a:spcAft>
                <a:spcPts val="0"/>
              </a:spcAft>
            </a:pPr>
            <a:r>
              <a:rPr sz="2600" b="1" i="0">
                <a:solidFill>
                  <a:srgbClr val="1E2D44"/>
                </a:solidFill>
                <a:latin typeface="Karla"/>
              </a:rPr>
              <a:t>E_Flavour splits across the groups</a:t>
            </a:r>
          </a:p>
        </p:txBody>
      </p:sp>
      <p:sp>
        <p:nvSpPr>
          <p:cNvPr id="4" name="TextBox 3"/>
          <p:cNvSpPr txBox="1"/>
          <p:nvPr/>
        </p:nvSpPr>
        <p:spPr>
          <a:xfrm>
            <a:off x="502920" y="822960"/>
            <a:ext cx="7043927" cy="475488"/>
          </a:xfrm>
          <a:prstGeom prst="rect">
            <a:avLst/>
          </a:prstGeom>
          <a:noFill/>
        </p:spPr>
        <p:txBody>
          <a:bodyPr wrap="square" anchor="t" lIns="0" rIns="0" tIns="0" bIns="0"/>
          <a:lstStyle/>
          <a:p>
            <a:pPr algn="l">
              <a:spcBef>
                <a:spcPts val="0"/>
              </a:spcBef>
              <a:spcAft>
                <a:spcPts val="0"/>
              </a:spcAft>
            </a:pPr>
            <a:r>
              <a:rPr sz="1200" b="0" i="0">
                <a:solidFill>
                  <a:srgbClr val="617086"/>
                </a:solidFill>
                <a:latin typeface="Karla"/>
              </a:rPr>
              <a:t>Other favors E07 Banana Chocolate Top Centre Dark Text D2D3 Panel; Protein bars favor E08 Banana Chocolate Top Left Dark Text Panel; Protein cookies favor Vanilla Chocolate Top Left Dark Text Panel; Protein powder favors E02 Tripple Chocolate Chip Top Left Dark Text Panel.</a:t>
            </a:r>
          </a:p>
        </p:txBody>
      </p:sp>
      <p:sp>
        <p:nvSpPr>
          <p:cNvPr id="5" name="Rectangle 4"/>
          <p:cNvSpPr/>
          <p:nvPr/>
        </p:nvSpPr>
        <p:spPr>
          <a:xfrm>
            <a:off x="502920" y="1335024"/>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E_FLAVOUR</a:t>
            </a:r>
          </a:p>
        </p:txBody>
      </p:sp>
      <p:sp>
        <p:nvSpPr>
          <p:cNvPr id="6" name="TextBox 5"/>
          <p:cNvSpPr txBox="1"/>
          <p:nvPr/>
        </p:nvSpPr>
        <p:spPr>
          <a:xfrm>
            <a:off x="1874520"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7" name="Rectangle 6"/>
          <p:cNvSpPr/>
          <p:nvPr/>
        </p:nvSpPr>
        <p:spPr>
          <a:xfrm>
            <a:off x="3379469"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86861"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9" name="Rectangle 8"/>
          <p:cNvSpPr/>
          <p:nvPr/>
        </p:nvSpPr>
        <p:spPr>
          <a:xfrm>
            <a:off x="4591811"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9203"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1" name="Rectangle 10"/>
          <p:cNvSpPr/>
          <p:nvPr/>
        </p:nvSpPr>
        <p:spPr>
          <a:xfrm>
            <a:off x="5804153"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11545"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30</a:t>
            </a:r>
          </a:p>
        </p:txBody>
      </p:sp>
      <p:sp>
        <p:nvSpPr>
          <p:cNvPr id="13" name="Rectangle 12"/>
          <p:cNvSpPr/>
          <p:nvPr/>
        </p:nvSpPr>
        <p:spPr>
          <a:xfrm>
            <a:off x="7016495"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23887"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40</a:t>
            </a:r>
          </a:p>
        </p:txBody>
      </p:sp>
      <p:sp>
        <p:nvSpPr>
          <p:cNvPr id="15" name="Rectangle 14"/>
          <p:cNvSpPr/>
          <p:nvPr/>
        </p:nvSpPr>
        <p:spPr>
          <a:xfrm>
            <a:off x="2167128" y="1645920"/>
            <a:ext cx="10972" cy="30906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167128" y="4736592"/>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1805940"/>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E08 Banana Chocolate</a:t>
            </a:r>
          </a:p>
          <a:p>
            <a:pPr algn="r">
              <a:spcBef>
                <a:spcPts val="0"/>
              </a:spcBef>
              <a:spcAft>
                <a:spcPts val="0"/>
              </a:spcAft>
            </a:pPr>
            <a:r>
              <a:rPr sz="1000" b="0" i="0">
                <a:solidFill>
                  <a:srgbClr val="1E2D44"/>
                </a:solidFill>
                <a:latin typeface="Karla"/>
              </a:rPr>
              <a:t>Top Left Dark Text…</a:t>
            </a:r>
          </a:p>
        </p:txBody>
      </p:sp>
      <p:sp>
        <p:nvSpPr>
          <p:cNvPr id="18" name="Rectangle 17"/>
          <p:cNvSpPr/>
          <p:nvPr/>
        </p:nvSpPr>
        <p:spPr>
          <a:xfrm>
            <a:off x="2167128" y="1805940"/>
            <a:ext cx="1212341"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34333" y="1805940"/>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+10</a:t>
            </a:r>
          </a:p>
        </p:txBody>
      </p:sp>
      <p:sp>
        <p:nvSpPr>
          <p:cNvPr id="20" name="Rectangle 19"/>
          <p:cNvSpPr/>
          <p:nvPr/>
        </p:nvSpPr>
        <p:spPr>
          <a:xfrm>
            <a:off x="2167128" y="1929384"/>
            <a:ext cx="3394557"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16549" y="1929384"/>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+28</a:t>
            </a:r>
          </a:p>
        </p:txBody>
      </p:sp>
      <p:sp>
        <p:nvSpPr>
          <p:cNvPr id="22" name="Rectangle 21"/>
          <p:cNvSpPr/>
          <p:nvPr/>
        </p:nvSpPr>
        <p:spPr>
          <a:xfrm>
            <a:off x="2167128" y="2052828"/>
            <a:ext cx="2788386"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10378" y="2052828"/>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+23</a:t>
            </a:r>
          </a:p>
        </p:txBody>
      </p:sp>
      <p:sp>
        <p:nvSpPr>
          <p:cNvPr id="24" name="Rectangle 23"/>
          <p:cNvSpPr/>
          <p:nvPr/>
        </p:nvSpPr>
        <p:spPr>
          <a:xfrm>
            <a:off x="2167128" y="2176272"/>
            <a:ext cx="1576044"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798036" y="2176272"/>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+13</a:t>
            </a:r>
          </a:p>
        </p:txBody>
      </p:sp>
      <p:sp>
        <p:nvSpPr>
          <p:cNvPr id="26" name="TextBox 25"/>
          <p:cNvSpPr txBox="1"/>
          <p:nvPr/>
        </p:nvSpPr>
        <p:spPr>
          <a:xfrm>
            <a:off x="502920" y="2578608"/>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Vanilla Chocolate</a:t>
            </a:r>
          </a:p>
          <a:p>
            <a:pPr algn="r">
              <a:spcBef>
                <a:spcPts val="0"/>
              </a:spcBef>
              <a:spcAft>
                <a:spcPts val="0"/>
              </a:spcAft>
            </a:pPr>
            <a:r>
              <a:rPr sz="1000" b="0" i="0">
                <a:solidFill>
                  <a:srgbClr val="1E2D44"/>
                </a:solidFill>
                <a:latin typeface="Karla"/>
              </a:rPr>
              <a:t>Top Left Dark Text…</a:t>
            </a:r>
          </a:p>
        </p:txBody>
      </p:sp>
      <p:sp>
        <p:nvSpPr>
          <p:cNvPr id="27" name="Rectangle 26"/>
          <p:cNvSpPr/>
          <p:nvPr/>
        </p:nvSpPr>
        <p:spPr>
          <a:xfrm>
            <a:off x="2167128" y="2578608"/>
            <a:ext cx="121234"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343226" y="2578608"/>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+1</a:t>
            </a:r>
          </a:p>
        </p:txBody>
      </p:sp>
      <p:sp>
        <p:nvSpPr>
          <p:cNvPr id="29" name="Rectangle 28"/>
          <p:cNvSpPr/>
          <p:nvPr/>
        </p:nvSpPr>
        <p:spPr>
          <a:xfrm>
            <a:off x="2167128" y="2702052"/>
            <a:ext cx="2667152"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89144" y="2702052"/>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+22</a:t>
            </a:r>
          </a:p>
        </p:txBody>
      </p:sp>
      <p:sp>
        <p:nvSpPr>
          <p:cNvPr id="31" name="Rectangle 30"/>
          <p:cNvSpPr/>
          <p:nvPr/>
        </p:nvSpPr>
        <p:spPr>
          <a:xfrm>
            <a:off x="2167128" y="2825496"/>
            <a:ext cx="3394557"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616549" y="2825496"/>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+28</a:t>
            </a:r>
          </a:p>
        </p:txBody>
      </p:sp>
      <p:sp>
        <p:nvSpPr>
          <p:cNvPr id="33" name="Rectangle 32"/>
          <p:cNvSpPr/>
          <p:nvPr/>
        </p:nvSpPr>
        <p:spPr>
          <a:xfrm>
            <a:off x="2167128" y="2948939"/>
            <a:ext cx="1939747"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161739" y="2948939"/>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+16</a:t>
            </a:r>
          </a:p>
        </p:txBody>
      </p:sp>
      <p:sp>
        <p:nvSpPr>
          <p:cNvPr id="35" name="TextBox 34"/>
          <p:cNvSpPr txBox="1"/>
          <p:nvPr/>
        </p:nvSpPr>
        <p:spPr>
          <a:xfrm>
            <a:off x="502920" y="3351276"/>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E02 Tripple</a:t>
            </a:r>
          </a:p>
          <a:p>
            <a:pPr algn="r">
              <a:spcBef>
                <a:spcPts val="0"/>
              </a:spcBef>
              <a:spcAft>
                <a:spcPts val="0"/>
              </a:spcAft>
            </a:pPr>
            <a:r>
              <a:rPr sz="1000" b="0" i="0">
                <a:solidFill>
                  <a:srgbClr val="1E2D44"/>
                </a:solidFill>
                <a:latin typeface="Karla"/>
              </a:rPr>
              <a:t>Chocolate Chip Top…</a:t>
            </a:r>
          </a:p>
        </p:txBody>
      </p:sp>
      <p:sp>
        <p:nvSpPr>
          <p:cNvPr id="36" name="Rectangle 35"/>
          <p:cNvSpPr/>
          <p:nvPr/>
        </p:nvSpPr>
        <p:spPr>
          <a:xfrm>
            <a:off x="2167128" y="3351276"/>
            <a:ext cx="1333576"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555568" y="3351276"/>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+11</a:t>
            </a:r>
          </a:p>
        </p:txBody>
      </p:sp>
      <p:sp>
        <p:nvSpPr>
          <p:cNvPr id="38" name="Rectangle 37"/>
          <p:cNvSpPr/>
          <p:nvPr/>
        </p:nvSpPr>
        <p:spPr>
          <a:xfrm>
            <a:off x="2167128" y="3474720"/>
            <a:ext cx="3152089"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374081" y="3474720"/>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+26</a:t>
            </a:r>
          </a:p>
        </p:txBody>
      </p:sp>
      <p:sp>
        <p:nvSpPr>
          <p:cNvPr id="40" name="Rectangle 39"/>
          <p:cNvSpPr/>
          <p:nvPr/>
        </p:nvSpPr>
        <p:spPr>
          <a:xfrm>
            <a:off x="2167128" y="3598164"/>
            <a:ext cx="2667152"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889144" y="3598164"/>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+22</a:t>
            </a:r>
          </a:p>
        </p:txBody>
      </p:sp>
      <p:sp>
        <p:nvSpPr>
          <p:cNvPr id="42" name="Rectangle 41"/>
          <p:cNvSpPr/>
          <p:nvPr/>
        </p:nvSpPr>
        <p:spPr>
          <a:xfrm>
            <a:off x="2167128" y="3721608"/>
            <a:ext cx="2667152"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889144" y="3721608"/>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+22</a:t>
            </a:r>
          </a:p>
        </p:txBody>
      </p:sp>
      <p:sp>
        <p:nvSpPr>
          <p:cNvPr id="44" name="TextBox 43"/>
          <p:cNvSpPr txBox="1"/>
          <p:nvPr/>
        </p:nvSpPr>
        <p:spPr>
          <a:xfrm>
            <a:off x="502920" y="4123944"/>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E05 Orange Chocolate</a:t>
            </a:r>
          </a:p>
          <a:p>
            <a:pPr algn="r">
              <a:spcBef>
                <a:spcPts val="0"/>
              </a:spcBef>
              <a:spcAft>
                <a:spcPts val="0"/>
              </a:spcAft>
            </a:pPr>
            <a:r>
              <a:rPr sz="1000" b="0" i="0">
                <a:solidFill>
                  <a:srgbClr val="1E2D44"/>
                </a:solidFill>
                <a:latin typeface="Karla"/>
              </a:rPr>
              <a:t>Top Left Dark Text…</a:t>
            </a:r>
          </a:p>
        </p:txBody>
      </p:sp>
      <p:sp>
        <p:nvSpPr>
          <p:cNvPr id="45" name="Rectangle 44"/>
          <p:cNvSpPr/>
          <p:nvPr/>
        </p:nvSpPr>
        <p:spPr>
          <a:xfrm>
            <a:off x="2167128" y="4123944"/>
            <a:ext cx="363702"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585694" y="4123944"/>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+3</a:t>
            </a:r>
          </a:p>
        </p:txBody>
      </p:sp>
      <p:sp>
        <p:nvSpPr>
          <p:cNvPr id="47" name="Rectangle 46"/>
          <p:cNvSpPr/>
          <p:nvPr/>
        </p:nvSpPr>
        <p:spPr>
          <a:xfrm>
            <a:off x="2167128" y="4247388"/>
            <a:ext cx="2909620"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131612" y="4247388"/>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+24</a:t>
            </a:r>
          </a:p>
        </p:txBody>
      </p:sp>
      <p:sp>
        <p:nvSpPr>
          <p:cNvPr id="49" name="Rectangle 48"/>
          <p:cNvSpPr/>
          <p:nvPr/>
        </p:nvSpPr>
        <p:spPr>
          <a:xfrm>
            <a:off x="2167128" y="4370831"/>
            <a:ext cx="1818512"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040504" y="4370831"/>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+15</a:t>
            </a:r>
          </a:p>
        </p:txBody>
      </p:sp>
      <p:sp>
        <p:nvSpPr>
          <p:cNvPr id="51" name="Rectangle 50"/>
          <p:cNvSpPr/>
          <p:nvPr/>
        </p:nvSpPr>
        <p:spPr>
          <a:xfrm>
            <a:off x="2167128" y="4494276"/>
            <a:ext cx="2667152"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889144" y="4494276"/>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+22</a:t>
            </a:r>
          </a:p>
        </p:txBody>
      </p:sp>
      <p:sp>
        <p:nvSpPr>
          <p:cNvPr id="53" name="Rectangle 52"/>
          <p:cNvSpPr/>
          <p:nvPr/>
        </p:nvSpPr>
        <p:spPr>
          <a:xfrm>
            <a:off x="823975" y="5161788"/>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97711" y="5102352"/>
            <a:ext cx="149352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Other (basesize = 10)</a:t>
            </a:r>
          </a:p>
        </p:txBody>
      </p:sp>
      <p:sp>
        <p:nvSpPr>
          <p:cNvPr id="55" name="Rectangle 54"/>
          <p:cNvSpPr/>
          <p:nvPr/>
        </p:nvSpPr>
        <p:spPr>
          <a:xfrm>
            <a:off x="2747263" y="5161788"/>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920999" y="5102352"/>
            <a:ext cx="199136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Protein bars (basesize = 52)</a:t>
            </a:r>
          </a:p>
        </p:txBody>
      </p:sp>
      <p:sp>
        <p:nvSpPr>
          <p:cNvPr id="57" name="Rectangle 56"/>
          <p:cNvSpPr/>
          <p:nvPr/>
        </p:nvSpPr>
        <p:spPr>
          <a:xfrm>
            <a:off x="5168391" y="5161788"/>
            <a:ext cx="100584" cy="10058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342127" y="5102352"/>
            <a:ext cx="220472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Protein cookies (basesize = 80)</a:t>
            </a:r>
          </a:p>
        </p:txBody>
      </p:sp>
      <p:sp>
        <p:nvSpPr>
          <p:cNvPr id="59" name="Rectangle 58"/>
          <p:cNvSpPr/>
          <p:nvPr/>
        </p:nvSpPr>
        <p:spPr>
          <a:xfrm>
            <a:off x="3473703" y="5381244"/>
            <a:ext cx="100584" cy="100584"/>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647439" y="5321808"/>
            <a:ext cx="206248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Protein powder (basesize = 8)</a:t>
            </a:r>
          </a:p>
        </p:txBody>
      </p:sp>
      <p:sp>
        <p:nvSpPr>
          <p:cNvPr id="61" name="Rounded Rectangle 60"/>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7935467" y="618001"/>
            <a:ext cx="1709927" cy="132431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3" name="Picture 62" descr="E8.png"/>
          <p:cNvPicPr>
            <a:picLocks noChangeAspect="1"/>
          </p:cNvPicPr>
          <p:nvPr/>
        </p:nvPicPr>
        <p:blipFill>
          <a:blip r:embed="rId2"/>
          <a:stretch>
            <a:fillRect/>
          </a:stretch>
        </p:blipFill>
        <p:spPr>
          <a:xfrm>
            <a:off x="7949183" y="631717"/>
            <a:ext cx="1682495" cy="1296884"/>
          </a:xfrm>
          <a:prstGeom prst="rect">
            <a:avLst/>
          </a:prstGeom>
        </p:spPr>
      </p:pic>
      <p:sp>
        <p:nvSpPr>
          <p:cNvPr id="64" name="TextBox 63"/>
          <p:cNvSpPr txBox="1"/>
          <p:nvPr/>
        </p:nvSpPr>
        <p:spPr>
          <a:xfrm>
            <a:off x="7912607" y="1983466"/>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E08 Banana</a:t>
            </a:r>
          </a:p>
          <a:p>
            <a:pPr algn="ctr">
              <a:spcBef>
                <a:spcPts val="0"/>
              </a:spcBef>
              <a:spcAft>
                <a:spcPts val="0"/>
              </a:spcAft>
            </a:pPr>
            <a:r>
              <a:rPr sz="1200" b="0" i="0">
                <a:solidFill>
                  <a:srgbClr val="1E2D44"/>
                </a:solidFill>
                <a:latin typeface="Karla"/>
              </a:rPr>
              <a:t>Chocolate Top Left…</a:t>
            </a:r>
          </a:p>
        </p:txBody>
      </p:sp>
      <p:sp>
        <p:nvSpPr>
          <p:cNvPr id="65" name="TextBox 64"/>
          <p:cNvSpPr txBox="1"/>
          <p:nvPr/>
        </p:nvSpPr>
        <p:spPr>
          <a:xfrm>
            <a:off x="7912607" y="2349226"/>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+18*</a:t>
            </a:r>
          </a:p>
        </p:txBody>
      </p:sp>
      <p:sp>
        <p:nvSpPr>
          <p:cNvPr id="66" name="Rectangle 65"/>
          <p:cNvSpPr/>
          <p:nvPr/>
        </p:nvSpPr>
        <p:spPr>
          <a:xfrm>
            <a:off x="9855707" y="618001"/>
            <a:ext cx="1709927" cy="132431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7" name="Picture 66" descr="E11.png"/>
          <p:cNvPicPr>
            <a:picLocks noChangeAspect="1"/>
          </p:cNvPicPr>
          <p:nvPr/>
        </p:nvPicPr>
        <p:blipFill>
          <a:blip r:embed="rId3"/>
          <a:stretch>
            <a:fillRect/>
          </a:stretch>
        </p:blipFill>
        <p:spPr>
          <a:xfrm>
            <a:off x="9869423" y="631717"/>
            <a:ext cx="1682495" cy="1296884"/>
          </a:xfrm>
          <a:prstGeom prst="rect">
            <a:avLst/>
          </a:prstGeom>
        </p:spPr>
      </p:pic>
      <p:sp>
        <p:nvSpPr>
          <p:cNvPr id="68" name="TextBox 67"/>
          <p:cNvSpPr txBox="1"/>
          <p:nvPr/>
        </p:nvSpPr>
        <p:spPr>
          <a:xfrm>
            <a:off x="9832847" y="1983466"/>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Vanilla Chocolate</a:t>
            </a:r>
          </a:p>
          <a:p>
            <a:pPr algn="ctr">
              <a:spcBef>
                <a:spcPts val="0"/>
              </a:spcBef>
              <a:spcAft>
                <a:spcPts val="0"/>
              </a:spcAft>
            </a:pPr>
            <a:r>
              <a:rPr sz="1200" b="0" i="0">
                <a:solidFill>
                  <a:srgbClr val="1E2D44"/>
                </a:solidFill>
                <a:latin typeface="Karla"/>
              </a:rPr>
              <a:t>Top Left Dark Text…</a:t>
            </a:r>
          </a:p>
        </p:txBody>
      </p:sp>
      <p:sp>
        <p:nvSpPr>
          <p:cNvPr id="69" name="TextBox 68"/>
          <p:cNvSpPr txBox="1"/>
          <p:nvPr/>
        </p:nvSpPr>
        <p:spPr>
          <a:xfrm>
            <a:off x="9832847" y="2349226"/>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+17*</a:t>
            </a:r>
          </a:p>
        </p:txBody>
      </p:sp>
      <p:sp>
        <p:nvSpPr>
          <p:cNvPr id="70" name="Rectangle 69"/>
          <p:cNvSpPr/>
          <p:nvPr/>
        </p:nvSpPr>
        <p:spPr>
          <a:xfrm>
            <a:off x="7935467" y="3178321"/>
            <a:ext cx="1709927" cy="132431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1" name="Picture 70" descr="E2.png"/>
          <p:cNvPicPr>
            <a:picLocks noChangeAspect="1"/>
          </p:cNvPicPr>
          <p:nvPr/>
        </p:nvPicPr>
        <p:blipFill>
          <a:blip r:embed="rId4"/>
          <a:stretch>
            <a:fillRect/>
          </a:stretch>
        </p:blipFill>
        <p:spPr>
          <a:xfrm>
            <a:off x="7949183" y="3192037"/>
            <a:ext cx="1682495" cy="1296884"/>
          </a:xfrm>
          <a:prstGeom prst="rect">
            <a:avLst/>
          </a:prstGeom>
        </p:spPr>
      </p:pic>
      <p:sp>
        <p:nvSpPr>
          <p:cNvPr id="72" name="TextBox 71"/>
          <p:cNvSpPr txBox="1"/>
          <p:nvPr/>
        </p:nvSpPr>
        <p:spPr>
          <a:xfrm>
            <a:off x="7912607" y="4543786"/>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E02 Tripple</a:t>
            </a:r>
          </a:p>
          <a:p>
            <a:pPr algn="ctr">
              <a:spcBef>
                <a:spcPts val="0"/>
              </a:spcBef>
              <a:spcAft>
                <a:spcPts val="0"/>
              </a:spcAft>
            </a:pPr>
            <a:r>
              <a:rPr sz="1200" b="0" i="0">
                <a:solidFill>
                  <a:srgbClr val="1E2D44"/>
                </a:solidFill>
                <a:latin typeface="Karla"/>
              </a:rPr>
              <a:t>Chocolate Chip Top…</a:t>
            </a:r>
          </a:p>
        </p:txBody>
      </p:sp>
      <p:sp>
        <p:nvSpPr>
          <p:cNvPr id="73" name="TextBox 72"/>
          <p:cNvSpPr txBox="1"/>
          <p:nvPr/>
        </p:nvSpPr>
        <p:spPr>
          <a:xfrm>
            <a:off x="7912607" y="4909546"/>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+20*</a:t>
            </a:r>
          </a:p>
        </p:txBody>
      </p:sp>
      <p:sp>
        <p:nvSpPr>
          <p:cNvPr id="74" name="Rectangle 73"/>
          <p:cNvSpPr/>
          <p:nvPr/>
        </p:nvSpPr>
        <p:spPr>
          <a:xfrm>
            <a:off x="9855707" y="3178321"/>
            <a:ext cx="1709927" cy="132431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5" name="Picture 74" descr="E5.png"/>
          <p:cNvPicPr>
            <a:picLocks noChangeAspect="1"/>
          </p:cNvPicPr>
          <p:nvPr/>
        </p:nvPicPr>
        <p:blipFill>
          <a:blip r:embed="rId5"/>
          <a:stretch>
            <a:fillRect/>
          </a:stretch>
        </p:blipFill>
        <p:spPr>
          <a:xfrm>
            <a:off x="9869423" y="3192037"/>
            <a:ext cx="1682495" cy="1296884"/>
          </a:xfrm>
          <a:prstGeom prst="rect">
            <a:avLst/>
          </a:prstGeom>
        </p:spPr>
      </p:pic>
      <p:sp>
        <p:nvSpPr>
          <p:cNvPr id="76" name="TextBox 75"/>
          <p:cNvSpPr txBox="1"/>
          <p:nvPr/>
        </p:nvSpPr>
        <p:spPr>
          <a:xfrm>
            <a:off x="9832847" y="4543786"/>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E05 Orange</a:t>
            </a:r>
          </a:p>
          <a:p>
            <a:pPr algn="ctr">
              <a:spcBef>
                <a:spcPts val="0"/>
              </a:spcBef>
              <a:spcAft>
                <a:spcPts val="0"/>
              </a:spcAft>
            </a:pPr>
            <a:r>
              <a:rPr sz="1200" b="0" i="0">
                <a:solidFill>
                  <a:srgbClr val="1E2D44"/>
                </a:solidFill>
                <a:latin typeface="Karla"/>
              </a:rPr>
              <a:t>Chocolate Top Left…</a:t>
            </a:r>
          </a:p>
        </p:txBody>
      </p:sp>
      <p:sp>
        <p:nvSpPr>
          <p:cNvPr id="77" name="TextBox 76"/>
          <p:cNvSpPr txBox="1"/>
          <p:nvPr/>
        </p:nvSpPr>
        <p:spPr>
          <a:xfrm>
            <a:off x="9832847" y="4909546"/>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+16*</a:t>
            </a:r>
          </a:p>
        </p:txBody>
      </p:sp>
      <p:sp>
        <p:nvSpPr>
          <p:cNvPr id="78" name="Rounded Rectangle 77"/>
          <p:cNvSpPr/>
          <p:nvPr/>
        </p:nvSpPr>
        <p:spPr>
          <a:xfrm>
            <a:off x="502920" y="5632704"/>
            <a:ext cx="11268455" cy="676656"/>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200" b="0">
                <a:solidFill>
                  <a:srgbClr val="1E2D44"/>
                </a:solidFill>
                <a:latin typeface="Karla"/>
              </a:rPr>
              <a:t>Other favors E07 Banana Chocolate Top Centre Dark Text D2D3 Panel; Protein bars favor E08 Banana Chocolate Top Left Dark Text Panel; Protein cookies favor Vanilla Chocolate Top Left Dark Text Panel; Protein powder favors E02 Tripple Chocolate Chip Top Left Dark Text Panel. The widest segment gap is Vanilla Chocolate Top Left Dark Text Panel: +1 other / +22 protein bars / +28 protein cookies / +16 protein powder.</a:t>
            </a:r>
          </a:p>
        </p:txBody>
      </p:sp>
      <p:sp>
        <p:nvSpPr>
          <p:cNvPr id="79" name="Rectangle 78"/>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Top-2 scores rounded to whole points. *Average of the groups in the legend.</a:t>
            </a:r>
          </a:p>
        </p:txBody>
      </p:sp>
      <p:sp>
        <p:nvSpPr>
          <p:cNvPr id="81" name="TextBox 80"/>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37744"/>
            <a:ext cx="7043927" cy="182880"/>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KEY FINDINGS: E_FLAVOUR  ·  What would be your ideal way to consume protein-enriched products?   ·   2 of 3</a:t>
            </a:r>
          </a:p>
        </p:txBody>
      </p:sp>
      <p:sp>
        <p:nvSpPr>
          <p:cNvPr id="3" name="TextBox 2"/>
          <p:cNvSpPr txBox="1"/>
          <p:nvPr/>
        </p:nvSpPr>
        <p:spPr>
          <a:xfrm>
            <a:off x="502920" y="438912"/>
            <a:ext cx="7043927" cy="365760"/>
          </a:xfrm>
          <a:prstGeom prst="rect">
            <a:avLst/>
          </a:prstGeom>
          <a:noFill/>
        </p:spPr>
        <p:txBody>
          <a:bodyPr wrap="square" anchor="t" lIns="0" rIns="0" tIns="0" bIns="0"/>
          <a:lstStyle/>
          <a:p>
            <a:pPr algn="l">
              <a:spcBef>
                <a:spcPts val="0"/>
              </a:spcBef>
              <a:spcAft>
                <a:spcPts val="0"/>
              </a:spcAft>
            </a:pPr>
            <a:r>
              <a:rPr sz="2600" b="1" i="0">
                <a:solidFill>
                  <a:srgbClr val="1E2D44"/>
                </a:solidFill>
                <a:latin typeface="Karla"/>
              </a:rPr>
              <a:t>E_Flavour splits across the groups</a:t>
            </a:r>
          </a:p>
        </p:txBody>
      </p:sp>
      <p:sp>
        <p:nvSpPr>
          <p:cNvPr id="4" name="TextBox 3"/>
          <p:cNvSpPr txBox="1"/>
          <p:nvPr/>
        </p:nvSpPr>
        <p:spPr>
          <a:xfrm>
            <a:off x="502920" y="822960"/>
            <a:ext cx="7043927" cy="475488"/>
          </a:xfrm>
          <a:prstGeom prst="rect">
            <a:avLst/>
          </a:prstGeom>
          <a:noFill/>
        </p:spPr>
        <p:txBody>
          <a:bodyPr wrap="square" anchor="t" lIns="0" rIns="0" tIns="0" bIns="0"/>
          <a:lstStyle/>
          <a:p>
            <a:pPr algn="l">
              <a:spcBef>
                <a:spcPts val="0"/>
              </a:spcBef>
              <a:spcAft>
                <a:spcPts val="0"/>
              </a:spcAft>
            </a:pPr>
            <a:r>
              <a:rPr sz="1200" b="0" i="0">
                <a:solidFill>
                  <a:srgbClr val="617086"/>
                </a:solidFill>
                <a:latin typeface="Karla"/>
              </a:rPr>
              <a:t>Other favors E07 Banana Chocolate Top Centre Dark Text D2D3 Panel; Protein bars favor E08 Banana Chocolate Top Left Dark Text Panel; Protein cookies favor Vanilla Chocolate Top Left Dark Text Panel; Protein powder favors E02 Tripple Chocolate Chip Top Left Dark Text Panel.</a:t>
            </a:r>
          </a:p>
        </p:txBody>
      </p:sp>
      <p:sp>
        <p:nvSpPr>
          <p:cNvPr id="5" name="Rectangle 4"/>
          <p:cNvSpPr/>
          <p:nvPr/>
        </p:nvSpPr>
        <p:spPr>
          <a:xfrm>
            <a:off x="502920" y="1335024"/>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E_FLAVOUR</a:t>
            </a:r>
          </a:p>
        </p:txBody>
      </p:sp>
      <p:sp>
        <p:nvSpPr>
          <p:cNvPr id="6" name="Rectangle 5"/>
          <p:cNvSpPr/>
          <p:nvPr/>
        </p:nvSpPr>
        <p:spPr>
          <a:xfrm>
            <a:off x="2167128"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74520"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8" name="TextBox 7"/>
          <p:cNvSpPr txBox="1"/>
          <p:nvPr/>
        </p:nvSpPr>
        <p:spPr>
          <a:xfrm>
            <a:off x="3490975"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9" name="Rectangle 8"/>
          <p:cNvSpPr/>
          <p:nvPr/>
        </p:nvSpPr>
        <p:spPr>
          <a:xfrm>
            <a:off x="5400039"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7431"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11" name="Rectangle 10"/>
          <p:cNvSpPr/>
          <p:nvPr/>
        </p:nvSpPr>
        <p:spPr>
          <a:xfrm>
            <a:off x="7016495"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23887"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3" name="Rectangle 12"/>
          <p:cNvSpPr/>
          <p:nvPr/>
        </p:nvSpPr>
        <p:spPr>
          <a:xfrm>
            <a:off x="3783583" y="1645920"/>
            <a:ext cx="10972" cy="30906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167128" y="4736592"/>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1805940"/>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E06 Orange Chocolate</a:t>
            </a:r>
          </a:p>
          <a:p>
            <a:pPr algn="r">
              <a:spcBef>
                <a:spcPts val="0"/>
              </a:spcBef>
              <a:spcAft>
                <a:spcPts val="0"/>
              </a:spcAft>
            </a:pPr>
            <a:r>
              <a:rPr sz="1000" b="0" i="0">
                <a:solidFill>
                  <a:srgbClr val="1E2D44"/>
                </a:solidFill>
                <a:latin typeface="Karla"/>
              </a:rPr>
              <a:t>Top Left White Text…</a:t>
            </a:r>
          </a:p>
        </p:txBody>
      </p:sp>
      <p:sp>
        <p:nvSpPr>
          <p:cNvPr id="16" name="Rectangle 15"/>
          <p:cNvSpPr/>
          <p:nvPr/>
        </p:nvSpPr>
        <p:spPr>
          <a:xfrm>
            <a:off x="3783583" y="1805940"/>
            <a:ext cx="1293164"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31612" y="1805940"/>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+8</a:t>
            </a:r>
          </a:p>
        </p:txBody>
      </p:sp>
      <p:sp>
        <p:nvSpPr>
          <p:cNvPr id="18" name="Rectangle 17"/>
          <p:cNvSpPr/>
          <p:nvPr/>
        </p:nvSpPr>
        <p:spPr>
          <a:xfrm>
            <a:off x="3783583" y="1929384"/>
            <a:ext cx="2586329"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24777" y="1929384"/>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+16</a:t>
            </a:r>
          </a:p>
        </p:txBody>
      </p:sp>
      <p:sp>
        <p:nvSpPr>
          <p:cNvPr id="20" name="Rectangle 19"/>
          <p:cNvSpPr/>
          <p:nvPr/>
        </p:nvSpPr>
        <p:spPr>
          <a:xfrm>
            <a:off x="3783583" y="2052828"/>
            <a:ext cx="1454810"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93258" y="2052828"/>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+9</a:t>
            </a:r>
          </a:p>
        </p:txBody>
      </p:sp>
      <p:sp>
        <p:nvSpPr>
          <p:cNvPr id="22" name="Rectangle 21"/>
          <p:cNvSpPr/>
          <p:nvPr/>
        </p:nvSpPr>
        <p:spPr>
          <a:xfrm>
            <a:off x="3783583" y="2176272"/>
            <a:ext cx="1131519"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69967" y="2176272"/>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+7</a:t>
            </a:r>
          </a:p>
        </p:txBody>
      </p:sp>
      <p:sp>
        <p:nvSpPr>
          <p:cNvPr id="24" name="TextBox 23"/>
          <p:cNvSpPr txBox="1"/>
          <p:nvPr/>
        </p:nvSpPr>
        <p:spPr>
          <a:xfrm>
            <a:off x="502920" y="2578608"/>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E09 Banana Chocolate</a:t>
            </a:r>
          </a:p>
          <a:p>
            <a:pPr algn="r">
              <a:spcBef>
                <a:spcPts val="0"/>
              </a:spcBef>
              <a:spcAft>
                <a:spcPts val="0"/>
              </a:spcAft>
            </a:pPr>
            <a:r>
              <a:rPr sz="1000" b="0" i="0">
                <a:solidFill>
                  <a:srgbClr val="1E2D44"/>
                </a:solidFill>
                <a:latin typeface="Karla"/>
              </a:rPr>
              <a:t>Top Left White Text…</a:t>
            </a:r>
          </a:p>
        </p:txBody>
      </p:sp>
      <p:sp>
        <p:nvSpPr>
          <p:cNvPr id="25" name="Rectangle 24"/>
          <p:cNvSpPr/>
          <p:nvPr/>
        </p:nvSpPr>
        <p:spPr>
          <a:xfrm>
            <a:off x="3783583" y="2578608"/>
            <a:ext cx="969873"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08321" y="2578608"/>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+6</a:t>
            </a:r>
          </a:p>
        </p:txBody>
      </p:sp>
      <p:sp>
        <p:nvSpPr>
          <p:cNvPr id="27" name="Rectangle 26"/>
          <p:cNvSpPr/>
          <p:nvPr/>
        </p:nvSpPr>
        <p:spPr>
          <a:xfrm>
            <a:off x="3783583" y="2702052"/>
            <a:ext cx="2586329"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24777" y="2702052"/>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+16</a:t>
            </a:r>
          </a:p>
        </p:txBody>
      </p:sp>
      <p:sp>
        <p:nvSpPr>
          <p:cNvPr id="29" name="Rectangle 28"/>
          <p:cNvSpPr/>
          <p:nvPr/>
        </p:nvSpPr>
        <p:spPr>
          <a:xfrm>
            <a:off x="3783583" y="2825496"/>
            <a:ext cx="1616455"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454903" y="2825496"/>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+10</a:t>
            </a:r>
          </a:p>
        </p:txBody>
      </p:sp>
      <p:sp>
        <p:nvSpPr>
          <p:cNvPr id="31" name="Rectangle 30"/>
          <p:cNvSpPr/>
          <p:nvPr/>
        </p:nvSpPr>
        <p:spPr>
          <a:xfrm>
            <a:off x="3783583" y="2948939"/>
            <a:ext cx="969873"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08321" y="2948939"/>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+6</a:t>
            </a:r>
          </a:p>
        </p:txBody>
      </p:sp>
      <p:sp>
        <p:nvSpPr>
          <p:cNvPr id="33" name="TextBox 32"/>
          <p:cNvSpPr txBox="1"/>
          <p:nvPr/>
        </p:nvSpPr>
        <p:spPr>
          <a:xfrm>
            <a:off x="502920" y="3351276"/>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E03 Tripple</a:t>
            </a:r>
          </a:p>
          <a:p>
            <a:pPr algn="r">
              <a:spcBef>
                <a:spcPts val="0"/>
              </a:spcBef>
              <a:spcAft>
                <a:spcPts val="0"/>
              </a:spcAft>
            </a:pPr>
            <a:r>
              <a:rPr sz="1000" b="0" i="0">
                <a:solidFill>
                  <a:srgbClr val="1E2D44"/>
                </a:solidFill>
                <a:latin typeface="Karla"/>
              </a:rPr>
              <a:t>Chocolate Chip Top…</a:t>
            </a:r>
          </a:p>
        </p:txBody>
      </p:sp>
      <p:sp>
        <p:nvSpPr>
          <p:cNvPr id="34" name="Rectangle 33"/>
          <p:cNvSpPr/>
          <p:nvPr/>
        </p:nvSpPr>
        <p:spPr>
          <a:xfrm>
            <a:off x="2813710" y="3351276"/>
            <a:ext cx="969873"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301646" y="3351276"/>
            <a:ext cx="457200" cy="82296"/>
          </a:xfrm>
          <a:prstGeom prst="rect">
            <a:avLst/>
          </a:prstGeom>
          <a:noFill/>
        </p:spPr>
        <p:txBody>
          <a:bodyPr wrap="none" anchor="ctr" lIns="0" rIns="0" tIns="0" bIns="0"/>
          <a:lstStyle/>
          <a:p>
            <a:pPr algn="r">
              <a:spcBef>
                <a:spcPts val="0"/>
              </a:spcBef>
              <a:spcAft>
                <a:spcPts val="0"/>
              </a:spcAft>
            </a:pPr>
            <a:r>
              <a:rPr sz="1000" b="1" i="0">
                <a:solidFill>
                  <a:srgbClr val="1A2332"/>
                </a:solidFill>
                <a:latin typeface="Karla"/>
              </a:rPr>
              <a:t>-6</a:t>
            </a:r>
          </a:p>
        </p:txBody>
      </p:sp>
      <p:sp>
        <p:nvSpPr>
          <p:cNvPr id="36" name="Rectangle 35"/>
          <p:cNvSpPr/>
          <p:nvPr/>
        </p:nvSpPr>
        <p:spPr>
          <a:xfrm>
            <a:off x="3783583" y="3474720"/>
            <a:ext cx="2424683"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63131" y="3474720"/>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+15</a:t>
            </a:r>
          </a:p>
        </p:txBody>
      </p:sp>
      <p:sp>
        <p:nvSpPr>
          <p:cNvPr id="38" name="Rectangle 37"/>
          <p:cNvSpPr/>
          <p:nvPr/>
        </p:nvSpPr>
        <p:spPr>
          <a:xfrm>
            <a:off x="3783583" y="3598164"/>
            <a:ext cx="1939747"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778194" y="3598164"/>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+12</a:t>
            </a:r>
          </a:p>
        </p:txBody>
      </p:sp>
      <p:sp>
        <p:nvSpPr>
          <p:cNvPr id="40" name="Rectangle 39"/>
          <p:cNvSpPr/>
          <p:nvPr/>
        </p:nvSpPr>
        <p:spPr>
          <a:xfrm>
            <a:off x="3783583" y="3721608"/>
            <a:ext cx="969873"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808321" y="3721608"/>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+6</a:t>
            </a:r>
          </a:p>
        </p:txBody>
      </p:sp>
      <p:sp>
        <p:nvSpPr>
          <p:cNvPr id="42" name="TextBox 41"/>
          <p:cNvSpPr txBox="1"/>
          <p:nvPr/>
        </p:nvSpPr>
        <p:spPr>
          <a:xfrm>
            <a:off x="502920" y="4123944"/>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Vanilla Chocolate</a:t>
            </a:r>
          </a:p>
          <a:p>
            <a:pPr algn="r">
              <a:spcBef>
                <a:spcPts val="0"/>
              </a:spcBef>
              <a:spcAft>
                <a:spcPts val="0"/>
              </a:spcAft>
            </a:pPr>
            <a:r>
              <a:rPr sz="1000" b="0" i="0">
                <a:solidFill>
                  <a:srgbClr val="1E2D44"/>
                </a:solidFill>
                <a:latin typeface="Karla"/>
              </a:rPr>
              <a:t>Top Left White Text…</a:t>
            </a:r>
          </a:p>
        </p:txBody>
      </p:sp>
      <p:sp>
        <p:nvSpPr>
          <p:cNvPr id="43" name="Rectangle 42"/>
          <p:cNvSpPr/>
          <p:nvPr/>
        </p:nvSpPr>
        <p:spPr>
          <a:xfrm>
            <a:off x="3137001" y="4123944"/>
            <a:ext cx="646582"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624937" y="4123944"/>
            <a:ext cx="457200" cy="82296"/>
          </a:xfrm>
          <a:prstGeom prst="rect">
            <a:avLst/>
          </a:prstGeom>
          <a:noFill/>
        </p:spPr>
        <p:txBody>
          <a:bodyPr wrap="none" anchor="ctr" lIns="0" rIns="0" tIns="0" bIns="0"/>
          <a:lstStyle/>
          <a:p>
            <a:pPr algn="r">
              <a:spcBef>
                <a:spcPts val="0"/>
              </a:spcBef>
              <a:spcAft>
                <a:spcPts val="0"/>
              </a:spcAft>
            </a:pPr>
            <a:r>
              <a:rPr sz="1000" b="1" i="0">
                <a:solidFill>
                  <a:srgbClr val="1A2332"/>
                </a:solidFill>
                <a:latin typeface="Karla"/>
              </a:rPr>
              <a:t>-4</a:t>
            </a:r>
          </a:p>
        </p:txBody>
      </p:sp>
      <p:sp>
        <p:nvSpPr>
          <p:cNvPr id="45" name="Rectangle 44"/>
          <p:cNvSpPr/>
          <p:nvPr/>
        </p:nvSpPr>
        <p:spPr>
          <a:xfrm>
            <a:off x="3783583" y="4247388"/>
            <a:ext cx="2101392"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939840" y="4247388"/>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+13</a:t>
            </a:r>
          </a:p>
        </p:txBody>
      </p:sp>
      <p:sp>
        <p:nvSpPr>
          <p:cNvPr id="47" name="Rectangle 46"/>
          <p:cNvSpPr/>
          <p:nvPr/>
        </p:nvSpPr>
        <p:spPr>
          <a:xfrm>
            <a:off x="3783583" y="4370831"/>
            <a:ext cx="1778101"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616549" y="4370831"/>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+11</a:t>
            </a:r>
          </a:p>
        </p:txBody>
      </p:sp>
      <p:sp>
        <p:nvSpPr>
          <p:cNvPr id="49" name="Rectangle 48"/>
          <p:cNvSpPr/>
          <p:nvPr/>
        </p:nvSpPr>
        <p:spPr>
          <a:xfrm>
            <a:off x="3783583" y="4494276"/>
            <a:ext cx="2424683"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263131" y="4494276"/>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+15</a:t>
            </a:r>
          </a:p>
        </p:txBody>
      </p:sp>
      <p:sp>
        <p:nvSpPr>
          <p:cNvPr id="51" name="Rectangle 50"/>
          <p:cNvSpPr/>
          <p:nvPr/>
        </p:nvSpPr>
        <p:spPr>
          <a:xfrm>
            <a:off x="823975" y="5161788"/>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97711" y="5102352"/>
            <a:ext cx="149352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Other (basesize = 10)</a:t>
            </a:r>
          </a:p>
        </p:txBody>
      </p:sp>
      <p:sp>
        <p:nvSpPr>
          <p:cNvPr id="53" name="Rectangle 52"/>
          <p:cNvSpPr/>
          <p:nvPr/>
        </p:nvSpPr>
        <p:spPr>
          <a:xfrm>
            <a:off x="2747263" y="5161788"/>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2920999" y="5102352"/>
            <a:ext cx="199136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Protein bars (basesize = 52)</a:t>
            </a:r>
          </a:p>
        </p:txBody>
      </p:sp>
      <p:sp>
        <p:nvSpPr>
          <p:cNvPr id="55" name="Rectangle 54"/>
          <p:cNvSpPr/>
          <p:nvPr/>
        </p:nvSpPr>
        <p:spPr>
          <a:xfrm>
            <a:off x="5168391" y="5161788"/>
            <a:ext cx="100584" cy="10058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342127" y="5102352"/>
            <a:ext cx="220472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Protein cookies (basesize = 80)</a:t>
            </a:r>
          </a:p>
        </p:txBody>
      </p:sp>
      <p:sp>
        <p:nvSpPr>
          <p:cNvPr id="57" name="Rectangle 56"/>
          <p:cNvSpPr/>
          <p:nvPr/>
        </p:nvSpPr>
        <p:spPr>
          <a:xfrm>
            <a:off x="3473703" y="5381244"/>
            <a:ext cx="100584" cy="100584"/>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647439" y="5321808"/>
            <a:ext cx="206248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Protein powder (basesize = 8)</a:t>
            </a:r>
          </a:p>
        </p:txBody>
      </p:sp>
      <p:sp>
        <p:nvSpPr>
          <p:cNvPr id="59" name="Rounded Rectangle 58"/>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7935467" y="618001"/>
            <a:ext cx="1709927" cy="132431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1" name="Picture 60" descr="E6.png"/>
          <p:cNvPicPr>
            <a:picLocks noChangeAspect="1"/>
          </p:cNvPicPr>
          <p:nvPr/>
        </p:nvPicPr>
        <p:blipFill>
          <a:blip r:embed="rId2"/>
          <a:stretch>
            <a:fillRect/>
          </a:stretch>
        </p:blipFill>
        <p:spPr>
          <a:xfrm>
            <a:off x="7949183" y="631717"/>
            <a:ext cx="1682495" cy="1296884"/>
          </a:xfrm>
          <a:prstGeom prst="rect">
            <a:avLst/>
          </a:prstGeom>
        </p:spPr>
      </p:pic>
      <p:sp>
        <p:nvSpPr>
          <p:cNvPr id="62" name="TextBox 61"/>
          <p:cNvSpPr txBox="1"/>
          <p:nvPr/>
        </p:nvSpPr>
        <p:spPr>
          <a:xfrm>
            <a:off x="7912607" y="1983466"/>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E06 Orange</a:t>
            </a:r>
          </a:p>
          <a:p>
            <a:pPr algn="ctr">
              <a:spcBef>
                <a:spcPts val="0"/>
              </a:spcBef>
              <a:spcAft>
                <a:spcPts val="0"/>
              </a:spcAft>
            </a:pPr>
            <a:r>
              <a:rPr sz="1200" b="0" i="0">
                <a:solidFill>
                  <a:srgbClr val="1E2D44"/>
                </a:solidFill>
                <a:latin typeface="Karla"/>
              </a:rPr>
              <a:t>Chocolate Top Left…</a:t>
            </a:r>
          </a:p>
        </p:txBody>
      </p:sp>
      <p:sp>
        <p:nvSpPr>
          <p:cNvPr id="63" name="TextBox 62"/>
          <p:cNvSpPr txBox="1"/>
          <p:nvPr/>
        </p:nvSpPr>
        <p:spPr>
          <a:xfrm>
            <a:off x="7912607" y="2349226"/>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+10*</a:t>
            </a:r>
          </a:p>
        </p:txBody>
      </p:sp>
      <p:sp>
        <p:nvSpPr>
          <p:cNvPr id="64" name="Rectangle 63"/>
          <p:cNvSpPr/>
          <p:nvPr/>
        </p:nvSpPr>
        <p:spPr>
          <a:xfrm>
            <a:off x="9855707" y="618001"/>
            <a:ext cx="1709927" cy="132431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5" name="Picture 64" descr="E9.png"/>
          <p:cNvPicPr>
            <a:picLocks noChangeAspect="1"/>
          </p:cNvPicPr>
          <p:nvPr/>
        </p:nvPicPr>
        <p:blipFill>
          <a:blip r:embed="rId3"/>
          <a:stretch>
            <a:fillRect/>
          </a:stretch>
        </p:blipFill>
        <p:spPr>
          <a:xfrm>
            <a:off x="9869423" y="631717"/>
            <a:ext cx="1682495" cy="1296884"/>
          </a:xfrm>
          <a:prstGeom prst="rect">
            <a:avLst/>
          </a:prstGeom>
        </p:spPr>
      </p:pic>
      <p:sp>
        <p:nvSpPr>
          <p:cNvPr id="66" name="TextBox 65"/>
          <p:cNvSpPr txBox="1"/>
          <p:nvPr/>
        </p:nvSpPr>
        <p:spPr>
          <a:xfrm>
            <a:off x="9832847" y="1983466"/>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E09 Banana</a:t>
            </a:r>
          </a:p>
          <a:p>
            <a:pPr algn="ctr">
              <a:spcBef>
                <a:spcPts val="0"/>
              </a:spcBef>
              <a:spcAft>
                <a:spcPts val="0"/>
              </a:spcAft>
            </a:pPr>
            <a:r>
              <a:rPr sz="1200" b="0" i="0">
                <a:solidFill>
                  <a:srgbClr val="1E2D44"/>
                </a:solidFill>
                <a:latin typeface="Karla"/>
              </a:rPr>
              <a:t>Chocolate Top Left…</a:t>
            </a:r>
          </a:p>
        </p:txBody>
      </p:sp>
      <p:sp>
        <p:nvSpPr>
          <p:cNvPr id="67" name="TextBox 66"/>
          <p:cNvSpPr txBox="1"/>
          <p:nvPr/>
        </p:nvSpPr>
        <p:spPr>
          <a:xfrm>
            <a:off x="9832847" y="2349226"/>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+10*</a:t>
            </a:r>
          </a:p>
        </p:txBody>
      </p:sp>
      <p:sp>
        <p:nvSpPr>
          <p:cNvPr id="68" name="Rectangle 67"/>
          <p:cNvSpPr/>
          <p:nvPr/>
        </p:nvSpPr>
        <p:spPr>
          <a:xfrm>
            <a:off x="7935467" y="3178321"/>
            <a:ext cx="1709927" cy="132431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9" name="Picture 68" descr="E3.png"/>
          <p:cNvPicPr>
            <a:picLocks noChangeAspect="1"/>
          </p:cNvPicPr>
          <p:nvPr/>
        </p:nvPicPr>
        <p:blipFill>
          <a:blip r:embed="rId4"/>
          <a:stretch>
            <a:fillRect/>
          </a:stretch>
        </p:blipFill>
        <p:spPr>
          <a:xfrm>
            <a:off x="7949183" y="3192037"/>
            <a:ext cx="1682495" cy="1296884"/>
          </a:xfrm>
          <a:prstGeom prst="rect">
            <a:avLst/>
          </a:prstGeom>
        </p:spPr>
      </p:pic>
      <p:sp>
        <p:nvSpPr>
          <p:cNvPr id="70" name="TextBox 69"/>
          <p:cNvSpPr txBox="1"/>
          <p:nvPr/>
        </p:nvSpPr>
        <p:spPr>
          <a:xfrm>
            <a:off x="7912607" y="4543786"/>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E03 Tripple</a:t>
            </a:r>
          </a:p>
          <a:p>
            <a:pPr algn="ctr">
              <a:spcBef>
                <a:spcPts val="0"/>
              </a:spcBef>
              <a:spcAft>
                <a:spcPts val="0"/>
              </a:spcAft>
            </a:pPr>
            <a:r>
              <a:rPr sz="1200" b="0" i="0">
                <a:solidFill>
                  <a:srgbClr val="1E2D44"/>
                </a:solidFill>
                <a:latin typeface="Karla"/>
              </a:rPr>
              <a:t>Chocolate Chip Top…</a:t>
            </a:r>
          </a:p>
        </p:txBody>
      </p:sp>
      <p:sp>
        <p:nvSpPr>
          <p:cNvPr id="71" name="TextBox 70"/>
          <p:cNvSpPr txBox="1"/>
          <p:nvPr/>
        </p:nvSpPr>
        <p:spPr>
          <a:xfrm>
            <a:off x="7912607" y="4909546"/>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+7*</a:t>
            </a:r>
          </a:p>
        </p:txBody>
      </p:sp>
      <p:sp>
        <p:nvSpPr>
          <p:cNvPr id="72" name="Rectangle 71"/>
          <p:cNvSpPr/>
          <p:nvPr/>
        </p:nvSpPr>
        <p:spPr>
          <a:xfrm>
            <a:off x="9855707" y="3178321"/>
            <a:ext cx="1709927" cy="132431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3" name="Picture 72" descr="E12.png"/>
          <p:cNvPicPr>
            <a:picLocks noChangeAspect="1"/>
          </p:cNvPicPr>
          <p:nvPr/>
        </p:nvPicPr>
        <p:blipFill>
          <a:blip r:embed="rId5"/>
          <a:stretch>
            <a:fillRect/>
          </a:stretch>
        </p:blipFill>
        <p:spPr>
          <a:xfrm>
            <a:off x="9869423" y="3192037"/>
            <a:ext cx="1682495" cy="1296884"/>
          </a:xfrm>
          <a:prstGeom prst="rect">
            <a:avLst/>
          </a:prstGeom>
        </p:spPr>
      </p:pic>
      <p:sp>
        <p:nvSpPr>
          <p:cNvPr id="74" name="TextBox 73"/>
          <p:cNvSpPr txBox="1"/>
          <p:nvPr/>
        </p:nvSpPr>
        <p:spPr>
          <a:xfrm>
            <a:off x="9832847" y="4543786"/>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Vanilla Chocolate</a:t>
            </a:r>
          </a:p>
          <a:p>
            <a:pPr algn="ctr">
              <a:spcBef>
                <a:spcPts val="0"/>
              </a:spcBef>
              <a:spcAft>
                <a:spcPts val="0"/>
              </a:spcAft>
            </a:pPr>
            <a:r>
              <a:rPr sz="1200" b="0" i="0">
                <a:solidFill>
                  <a:srgbClr val="1E2D44"/>
                </a:solidFill>
                <a:latin typeface="Karla"/>
              </a:rPr>
              <a:t>Top Left White Text…</a:t>
            </a:r>
          </a:p>
        </p:txBody>
      </p:sp>
      <p:sp>
        <p:nvSpPr>
          <p:cNvPr id="75" name="TextBox 74"/>
          <p:cNvSpPr txBox="1"/>
          <p:nvPr/>
        </p:nvSpPr>
        <p:spPr>
          <a:xfrm>
            <a:off x="9832847" y="4909546"/>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+9*</a:t>
            </a:r>
          </a:p>
        </p:txBody>
      </p:sp>
      <p:sp>
        <p:nvSpPr>
          <p:cNvPr id="76" name="Rounded Rectangle 75"/>
          <p:cNvSpPr/>
          <p:nvPr/>
        </p:nvSpPr>
        <p:spPr>
          <a:xfrm>
            <a:off x="502920" y="5632704"/>
            <a:ext cx="11268455" cy="676656"/>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200" b="0">
                <a:solidFill>
                  <a:srgbClr val="1E2D44"/>
                </a:solidFill>
                <a:latin typeface="Karla"/>
              </a:rPr>
              <a:t>Other favors E07 Banana Chocolate Top Centre Dark Text D2D3 Panel; Protein bars favor E08 Banana Chocolate Top Left Dark Text Panel; Protein cookies favor Vanilla Chocolate Top Left Dark Text Panel; Protein powder favors E02 Tripple Chocolate Chip Top Left Dark Text Panel. The widest segment gap is Vanilla Chocolate Top Left Dark Text Panel: +1 other / +22 protein bars / +28 protein cookies / +16 protein powder.</a:t>
            </a:r>
          </a:p>
        </p:txBody>
      </p:sp>
      <p:sp>
        <p:nvSpPr>
          <p:cNvPr id="77" name="Rectangle 76"/>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Top-2 scores rounded to whole points. *Average of the groups in the legend.</a:t>
            </a:r>
          </a:p>
        </p:txBody>
      </p:sp>
      <p:sp>
        <p:nvSpPr>
          <p:cNvPr id="79" name="TextBox 78"/>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37744"/>
            <a:ext cx="7043927" cy="182880"/>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KEY FINDINGS: E_FLAVOUR  ·  What would be your ideal way to consume protein-enriched products?   ·   3 of 3</a:t>
            </a:r>
          </a:p>
        </p:txBody>
      </p:sp>
      <p:sp>
        <p:nvSpPr>
          <p:cNvPr id="3" name="TextBox 2"/>
          <p:cNvSpPr txBox="1"/>
          <p:nvPr/>
        </p:nvSpPr>
        <p:spPr>
          <a:xfrm>
            <a:off x="502920" y="438912"/>
            <a:ext cx="7043927" cy="365760"/>
          </a:xfrm>
          <a:prstGeom prst="rect">
            <a:avLst/>
          </a:prstGeom>
          <a:noFill/>
        </p:spPr>
        <p:txBody>
          <a:bodyPr wrap="square" anchor="t" lIns="0" rIns="0" tIns="0" bIns="0"/>
          <a:lstStyle/>
          <a:p>
            <a:pPr algn="l">
              <a:spcBef>
                <a:spcPts val="0"/>
              </a:spcBef>
              <a:spcAft>
                <a:spcPts val="0"/>
              </a:spcAft>
            </a:pPr>
            <a:r>
              <a:rPr sz="2600" b="1" i="0">
                <a:solidFill>
                  <a:srgbClr val="1E2D44"/>
                </a:solidFill>
                <a:latin typeface="Karla"/>
              </a:rPr>
              <a:t>E_Flavour splits across the groups</a:t>
            </a:r>
          </a:p>
        </p:txBody>
      </p:sp>
      <p:sp>
        <p:nvSpPr>
          <p:cNvPr id="4" name="TextBox 3"/>
          <p:cNvSpPr txBox="1"/>
          <p:nvPr/>
        </p:nvSpPr>
        <p:spPr>
          <a:xfrm>
            <a:off x="502920" y="822960"/>
            <a:ext cx="7043927" cy="475488"/>
          </a:xfrm>
          <a:prstGeom prst="rect">
            <a:avLst/>
          </a:prstGeom>
          <a:noFill/>
        </p:spPr>
        <p:txBody>
          <a:bodyPr wrap="square" anchor="t" lIns="0" rIns="0" tIns="0" bIns="0"/>
          <a:lstStyle/>
          <a:p>
            <a:pPr algn="l">
              <a:spcBef>
                <a:spcPts val="0"/>
              </a:spcBef>
              <a:spcAft>
                <a:spcPts val="0"/>
              </a:spcAft>
            </a:pPr>
            <a:r>
              <a:rPr sz="1200" b="0" i="0">
                <a:solidFill>
                  <a:srgbClr val="617086"/>
                </a:solidFill>
                <a:latin typeface="Karla"/>
              </a:rPr>
              <a:t>Other favors E07 Banana Chocolate Top Centre Dark Text D2D3 Panel; Protein bars favor E08 Banana Chocolate Top Left Dark Text Panel; Protein cookies favor Vanilla Chocolate Top Left Dark Text Panel; Protein powder favors E02 Tripple Chocolate Chip Top Left Dark Text Panel.</a:t>
            </a:r>
          </a:p>
        </p:txBody>
      </p:sp>
      <p:sp>
        <p:nvSpPr>
          <p:cNvPr id="5" name="Rectangle 4"/>
          <p:cNvSpPr/>
          <p:nvPr/>
        </p:nvSpPr>
        <p:spPr>
          <a:xfrm>
            <a:off x="502920" y="1335024"/>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E_FLAVOUR</a:t>
            </a:r>
          </a:p>
        </p:txBody>
      </p:sp>
      <p:sp>
        <p:nvSpPr>
          <p:cNvPr id="6" name="TextBox 5"/>
          <p:cNvSpPr txBox="1"/>
          <p:nvPr/>
        </p:nvSpPr>
        <p:spPr>
          <a:xfrm>
            <a:off x="1874520"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7" name="Rectangle 6"/>
          <p:cNvSpPr/>
          <p:nvPr/>
        </p:nvSpPr>
        <p:spPr>
          <a:xfrm>
            <a:off x="3379469"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86861"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5</a:t>
            </a:r>
          </a:p>
        </p:txBody>
      </p:sp>
      <p:sp>
        <p:nvSpPr>
          <p:cNvPr id="9" name="Rectangle 8"/>
          <p:cNvSpPr/>
          <p:nvPr/>
        </p:nvSpPr>
        <p:spPr>
          <a:xfrm>
            <a:off x="4591811"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9203"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11" name="Rectangle 10"/>
          <p:cNvSpPr/>
          <p:nvPr/>
        </p:nvSpPr>
        <p:spPr>
          <a:xfrm>
            <a:off x="5804153"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11545"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15</a:t>
            </a:r>
          </a:p>
        </p:txBody>
      </p:sp>
      <p:sp>
        <p:nvSpPr>
          <p:cNvPr id="13" name="Rectangle 12"/>
          <p:cNvSpPr/>
          <p:nvPr/>
        </p:nvSpPr>
        <p:spPr>
          <a:xfrm>
            <a:off x="7016495"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23887"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5" name="Rectangle 14"/>
          <p:cNvSpPr/>
          <p:nvPr/>
        </p:nvSpPr>
        <p:spPr>
          <a:xfrm>
            <a:off x="2167128" y="1645920"/>
            <a:ext cx="10972" cy="30906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167128" y="4736592"/>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1805940"/>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E07 Banana Chocolate</a:t>
            </a:r>
          </a:p>
          <a:p>
            <a:pPr algn="r">
              <a:spcBef>
                <a:spcPts val="0"/>
              </a:spcBef>
              <a:spcAft>
                <a:spcPts val="0"/>
              </a:spcAft>
            </a:pPr>
            <a:r>
              <a:rPr sz="1000" b="0" i="0">
                <a:solidFill>
                  <a:srgbClr val="1E2D44"/>
                </a:solidFill>
                <a:latin typeface="Karla"/>
              </a:rPr>
              <a:t>Top Centre Dark Text…</a:t>
            </a:r>
          </a:p>
        </p:txBody>
      </p:sp>
      <p:sp>
        <p:nvSpPr>
          <p:cNvPr id="18" name="Rectangle 17"/>
          <p:cNvSpPr/>
          <p:nvPr/>
        </p:nvSpPr>
        <p:spPr>
          <a:xfrm>
            <a:off x="2167128" y="1805940"/>
            <a:ext cx="2909620"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31612" y="1805940"/>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+12</a:t>
            </a:r>
          </a:p>
        </p:txBody>
      </p:sp>
      <p:sp>
        <p:nvSpPr>
          <p:cNvPr id="20" name="Rectangle 19"/>
          <p:cNvSpPr/>
          <p:nvPr/>
        </p:nvSpPr>
        <p:spPr>
          <a:xfrm>
            <a:off x="2167128" y="1929384"/>
            <a:ext cx="2667152"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89144" y="1929384"/>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+11</a:t>
            </a:r>
          </a:p>
        </p:txBody>
      </p:sp>
      <p:sp>
        <p:nvSpPr>
          <p:cNvPr id="22" name="Rectangle 21"/>
          <p:cNvSpPr/>
          <p:nvPr/>
        </p:nvSpPr>
        <p:spPr>
          <a:xfrm>
            <a:off x="2167128" y="2052828"/>
            <a:ext cx="1697278"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919270" y="2052828"/>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+7</a:t>
            </a:r>
          </a:p>
        </p:txBody>
      </p:sp>
      <p:sp>
        <p:nvSpPr>
          <p:cNvPr id="24" name="Rectangle 23"/>
          <p:cNvSpPr/>
          <p:nvPr/>
        </p:nvSpPr>
        <p:spPr>
          <a:xfrm>
            <a:off x="2167128" y="2176272"/>
            <a:ext cx="3394557"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16549" y="2176272"/>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+14</a:t>
            </a:r>
          </a:p>
        </p:txBody>
      </p:sp>
      <p:sp>
        <p:nvSpPr>
          <p:cNvPr id="26" name="TextBox 25"/>
          <p:cNvSpPr txBox="1"/>
          <p:nvPr/>
        </p:nvSpPr>
        <p:spPr>
          <a:xfrm>
            <a:off x="502920" y="2578608"/>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E01 Tripple</a:t>
            </a:r>
          </a:p>
          <a:p>
            <a:pPr algn="r">
              <a:spcBef>
                <a:spcPts val="0"/>
              </a:spcBef>
              <a:spcAft>
                <a:spcPts val="0"/>
              </a:spcAft>
            </a:pPr>
            <a:r>
              <a:rPr sz="1000" b="0" i="0">
                <a:solidFill>
                  <a:srgbClr val="1E2D44"/>
                </a:solidFill>
                <a:latin typeface="Karla"/>
              </a:rPr>
              <a:t>Chocolate Chip Top…</a:t>
            </a:r>
          </a:p>
        </p:txBody>
      </p:sp>
      <p:sp>
        <p:nvSpPr>
          <p:cNvPr id="27" name="Rectangle 26"/>
          <p:cNvSpPr/>
          <p:nvPr/>
        </p:nvSpPr>
        <p:spPr>
          <a:xfrm>
            <a:off x="2167128" y="2578608"/>
            <a:ext cx="2667152"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89144" y="2578608"/>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+11</a:t>
            </a:r>
          </a:p>
        </p:txBody>
      </p:sp>
      <p:sp>
        <p:nvSpPr>
          <p:cNvPr id="29" name="Rectangle 28"/>
          <p:cNvSpPr/>
          <p:nvPr/>
        </p:nvSpPr>
        <p:spPr>
          <a:xfrm>
            <a:off x="2167128" y="2702052"/>
            <a:ext cx="2424683"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46675" y="2702052"/>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+10</a:t>
            </a:r>
          </a:p>
        </p:txBody>
      </p:sp>
      <p:sp>
        <p:nvSpPr>
          <p:cNvPr id="31" name="Rectangle 30"/>
          <p:cNvSpPr/>
          <p:nvPr/>
        </p:nvSpPr>
        <p:spPr>
          <a:xfrm>
            <a:off x="2167128" y="2825496"/>
            <a:ext cx="3152089"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374081" y="2825496"/>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+13</a:t>
            </a:r>
          </a:p>
        </p:txBody>
      </p:sp>
      <p:sp>
        <p:nvSpPr>
          <p:cNvPr id="33" name="Rectangle 32"/>
          <p:cNvSpPr/>
          <p:nvPr/>
        </p:nvSpPr>
        <p:spPr>
          <a:xfrm>
            <a:off x="2167128" y="2948939"/>
            <a:ext cx="727405"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949397" y="2948939"/>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+3</a:t>
            </a:r>
          </a:p>
        </p:txBody>
      </p:sp>
      <p:sp>
        <p:nvSpPr>
          <p:cNvPr id="35" name="TextBox 34"/>
          <p:cNvSpPr txBox="1"/>
          <p:nvPr/>
        </p:nvSpPr>
        <p:spPr>
          <a:xfrm>
            <a:off x="502920" y="3351276"/>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Vanilla Chocolate</a:t>
            </a:r>
          </a:p>
          <a:p>
            <a:pPr algn="r">
              <a:spcBef>
                <a:spcPts val="0"/>
              </a:spcBef>
              <a:spcAft>
                <a:spcPts val="0"/>
              </a:spcAft>
            </a:pPr>
            <a:r>
              <a:rPr sz="1000" b="0" i="0">
                <a:solidFill>
                  <a:srgbClr val="1E2D44"/>
                </a:solidFill>
                <a:latin typeface="Karla"/>
              </a:rPr>
              <a:t>Top Centre Dark Text…</a:t>
            </a:r>
          </a:p>
        </p:txBody>
      </p:sp>
      <p:sp>
        <p:nvSpPr>
          <p:cNvPr id="36" name="Rectangle 35"/>
          <p:cNvSpPr/>
          <p:nvPr/>
        </p:nvSpPr>
        <p:spPr>
          <a:xfrm>
            <a:off x="2167128" y="3351276"/>
            <a:ext cx="969873"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191865" y="3351276"/>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+4</a:t>
            </a:r>
          </a:p>
        </p:txBody>
      </p:sp>
      <p:sp>
        <p:nvSpPr>
          <p:cNvPr id="38" name="Rectangle 37"/>
          <p:cNvSpPr/>
          <p:nvPr/>
        </p:nvSpPr>
        <p:spPr>
          <a:xfrm>
            <a:off x="2167128" y="3474720"/>
            <a:ext cx="2909620"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131612" y="3474720"/>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+12</a:t>
            </a:r>
          </a:p>
        </p:txBody>
      </p:sp>
      <p:sp>
        <p:nvSpPr>
          <p:cNvPr id="40" name="Rectangle 39"/>
          <p:cNvSpPr/>
          <p:nvPr/>
        </p:nvSpPr>
        <p:spPr>
          <a:xfrm>
            <a:off x="2167128" y="3598164"/>
            <a:ext cx="3152089"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374081" y="3598164"/>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+13</a:t>
            </a:r>
          </a:p>
        </p:txBody>
      </p:sp>
      <p:sp>
        <p:nvSpPr>
          <p:cNvPr id="42" name="Rectangle 41"/>
          <p:cNvSpPr/>
          <p:nvPr/>
        </p:nvSpPr>
        <p:spPr>
          <a:xfrm>
            <a:off x="2167128" y="3721608"/>
            <a:ext cx="1697278"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919270" y="3721608"/>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+7</a:t>
            </a:r>
          </a:p>
        </p:txBody>
      </p:sp>
      <p:sp>
        <p:nvSpPr>
          <p:cNvPr id="44" name="TextBox 43"/>
          <p:cNvSpPr txBox="1"/>
          <p:nvPr/>
        </p:nvSpPr>
        <p:spPr>
          <a:xfrm>
            <a:off x="502920" y="4123944"/>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E04 Orange Chocolate</a:t>
            </a:r>
          </a:p>
          <a:p>
            <a:pPr algn="r">
              <a:spcBef>
                <a:spcPts val="0"/>
              </a:spcBef>
              <a:spcAft>
                <a:spcPts val="0"/>
              </a:spcAft>
            </a:pPr>
            <a:r>
              <a:rPr sz="1000" b="0" i="0">
                <a:solidFill>
                  <a:srgbClr val="1E2D44"/>
                </a:solidFill>
                <a:latin typeface="Karla"/>
              </a:rPr>
              <a:t>Top Centre Dark Text…</a:t>
            </a:r>
          </a:p>
        </p:txBody>
      </p:sp>
      <p:sp>
        <p:nvSpPr>
          <p:cNvPr id="45" name="Rectangle 44"/>
          <p:cNvSpPr/>
          <p:nvPr/>
        </p:nvSpPr>
        <p:spPr>
          <a:xfrm>
            <a:off x="2167128" y="4123944"/>
            <a:ext cx="2424683"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646675" y="4123944"/>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+10</a:t>
            </a:r>
          </a:p>
        </p:txBody>
      </p:sp>
      <p:sp>
        <p:nvSpPr>
          <p:cNvPr id="47" name="Rectangle 46"/>
          <p:cNvSpPr/>
          <p:nvPr/>
        </p:nvSpPr>
        <p:spPr>
          <a:xfrm>
            <a:off x="2167128" y="4247388"/>
            <a:ext cx="2424683"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646675" y="4247388"/>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+10</a:t>
            </a:r>
          </a:p>
        </p:txBody>
      </p:sp>
      <p:sp>
        <p:nvSpPr>
          <p:cNvPr id="49" name="Rectangle 48"/>
          <p:cNvSpPr/>
          <p:nvPr/>
        </p:nvSpPr>
        <p:spPr>
          <a:xfrm>
            <a:off x="2167128" y="4370831"/>
            <a:ext cx="1697278"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919270" y="4370831"/>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+7</a:t>
            </a:r>
          </a:p>
        </p:txBody>
      </p:sp>
      <p:sp>
        <p:nvSpPr>
          <p:cNvPr id="51" name="Rectangle 50"/>
          <p:cNvSpPr/>
          <p:nvPr/>
        </p:nvSpPr>
        <p:spPr>
          <a:xfrm>
            <a:off x="2167128" y="4494276"/>
            <a:ext cx="969873"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191865" y="4494276"/>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+4</a:t>
            </a:r>
          </a:p>
        </p:txBody>
      </p:sp>
      <p:sp>
        <p:nvSpPr>
          <p:cNvPr id="53" name="Rectangle 52"/>
          <p:cNvSpPr/>
          <p:nvPr/>
        </p:nvSpPr>
        <p:spPr>
          <a:xfrm>
            <a:off x="823975" y="5161788"/>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97711" y="5102352"/>
            <a:ext cx="149352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Other (basesize = 10)</a:t>
            </a:r>
          </a:p>
        </p:txBody>
      </p:sp>
      <p:sp>
        <p:nvSpPr>
          <p:cNvPr id="55" name="Rectangle 54"/>
          <p:cNvSpPr/>
          <p:nvPr/>
        </p:nvSpPr>
        <p:spPr>
          <a:xfrm>
            <a:off x="2747263" y="5161788"/>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920999" y="5102352"/>
            <a:ext cx="199136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Protein bars (basesize = 52)</a:t>
            </a:r>
          </a:p>
        </p:txBody>
      </p:sp>
      <p:sp>
        <p:nvSpPr>
          <p:cNvPr id="57" name="Rectangle 56"/>
          <p:cNvSpPr/>
          <p:nvPr/>
        </p:nvSpPr>
        <p:spPr>
          <a:xfrm>
            <a:off x="5168391" y="5161788"/>
            <a:ext cx="100584" cy="10058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342127" y="5102352"/>
            <a:ext cx="220472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Protein cookies (basesize = 80)</a:t>
            </a:r>
          </a:p>
        </p:txBody>
      </p:sp>
      <p:sp>
        <p:nvSpPr>
          <p:cNvPr id="59" name="Rectangle 58"/>
          <p:cNvSpPr/>
          <p:nvPr/>
        </p:nvSpPr>
        <p:spPr>
          <a:xfrm>
            <a:off x="3473703" y="5381244"/>
            <a:ext cx="100584" cy="100584"/>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647439" y="5321808"/>
            <a:ext cx="206248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Protein powder (basesize = 8)</a:t>
            </a:r>
          </a:p>
        </p:txBody>
      </p:sp>
      <p:sp>
        <p:nvSpPr>
          <p:cNvPr id="61" name="Rounded Rectangle 60"/>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7935467" y="618001"/>
            <a:ext cx="1709927" cy="132431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3" name="Picture 62" descr="E7.png"/>
          <p:cNvPicPr>
            <a:picLocks noChangeAspect="1"/>
          </p:cNvPicPr>
          <p:nvPr/>
        </p:nvPicPr>
        <p:blipFill>
          <a:blip r:embed="rId2"/>
          <a:stretch>
            <a:fillRect/>
          </a:stretch>
        </p:blipFill>
        <p:spPr>
          <a:xfrm>
            <a:off x="7949183" y="631717"/>
            <a:ext cx="1682495" cy="1296884"/>
          </a:xfrm>
          <a:prstGeom prst="rect">
            <a:avLst/>
          </a:prstGeom>
        </p:spPr>
      </p:pic>
      <p:sp>
        <p:nvSpPr>
          <p:cNvPr id="64" name="TextBox 63"/>
          <p:cNvSpPr txBox="1"/>
          <p:nvPr/>
        </p:nvSpPr>
        <p:spPr>
          <a:xfrm>
            <a:off x="7912607" y="1983466"/>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E07 Banana</a:t>
            </a:r>
          </a:p>
          <a:p>
            <a:pPr algn="ctr">
              <a:spcBef>
                <a:spcPts val="0"/>
              </a:spcBef>
              <a:spcAft>
                <a:spcPts val="0"/>
              </a:spcAft>
            </a:pPr>
            <a:r>
              <a:rPr sz="1200" b="0" i="0">
                <a:solidFill>
                  <a:srgbClr val="1E2D44"/>
                </a:solidFill>
                <a:latin typeface="Karla"/>
              </a:rPr>
              <a:t>Chocolate Top…</a:t>
            </a:r>
          </a:p>
        </p:txBody>
      </p:sp>
      <p:sp>
        <p:nvSpPr>
          <p:cNvPr id="65" name="TextBox 64"/>
          <p:cNvSpPr txBox="1"/>
          <p:nvPr/>
        </p:nvSpPr>
        <p:spPr>
          <a:xfrm>
            <a:off x="7912607" y="2349226"/>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+11*</a:t>
            </a:r>
          </a:p>
        </p:txBody>
      </p:sp>
      <p:sp>
        <p:nvSpPr>
          <p:cNvPr id="66" name="Rectangle 65"/>
          <p:cNvSpPr/>
          <p:nvPr/>
        </p:nvSpPr>
        <p:spPr>
          <a:xfrm>
            <a:off x="9855707" y="618001"/>
            <a:ext cx="1709927" cy="132431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7" name="Picture 66" descr="E1.png"/>
          <p:cNvPicPr>
            <a:picLocks noChangeAspect="1"/>
          </p:cNvPicPr>
          <p:nvPr/>
        </p:nvPicPr>
        <p:blipFill>
          <a:blip r:embed="rId3"/>
          <a:stretch>
            <a:fillRect/>
          </a:stretch>
        </p:blipFill>
        <p:spPr>
          <a:xfrm>
            <a:off x="9869423" y="631717"/>
            <a:ext cx="1682495" cy="1296884"/>
          </a:xfrm>
          <a:prstGeom prst="rect">
            <a:avLst/>
          </a:prstGeom>
        </p:spPr>
      </p:pic>
      <p:sp>
        <p:nvSpPr>
          <p:cNvPr id="68" name="TextBox 67"/>
          <p:cNvSpPr txBox="1"/>
          <p:nvPr/>
        </p:nvSpPr>
        <p:spPr>
          <a:xfrm>
            <a:off x="9832847" y="1983466"/>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E01 Tripple</a:t>
            </a:r>
          </a:p>
          <a:p>
            <a:pPr algn="ctr">
              <a:spcBef>
                <a:spcPts val="0"/>
              </a:spcBef>
              <a:spcAft>
                <a:spcPts val="0"/>
              </a:spcAft>
            </a:pPr>
            <a:r>
              <a:rPr sz="1200" b="0" i="0">
                <a:solidFill>
                  <a:srgbClr val="1E2D44"/>
                </a:solidFill>
                <a:latin typeface="Karla"/>
              </a:rPr>
              <a:t>Chocolate Chip Top…</a:t>
            </a:r>
          </a:p>
        </p:txBody>
      </p:sp>
      <p:sp>
        <p:nvSpPr>
          <p:cNvPr id="69" name="TextBox 68"/>
          <p:cNvSpPr txBox="1"/>
          <p:nvPr/>
        </p:nvSpPr>
        <p:spPr>
          <a:xfrm>
            <a:off x="9832847" y="2349226"/>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+9*</a:t>
            </a:r>
          </a:p>
        </p:txBody>
      </p:sp>
      <p:sp>
        <p:nvSpPr>
          <p:cNvPr id="70" name="Rectangle 69"/>
          <p:cNvSpPr/>
          <p:nvPr/>
        </p:nvSpPr>
        <p:spPr>
          <a:xfrm>
            <a:off x="7935467" y="3178321"/>
            <a:ext cx="1709927" cy="132431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1" name="Picture 70" descr="E10.png"/>
          <p:cNvPicPr>
            <a:picLocks noChangeAspect="1"/>
          </p:cNvPicPr>
          <p:nvPr/>
        </p:nvPicPr>
        <p:blipFill>
          <a:blip r:embed="rId4"/>
          <a:stretch>
            <a:fillRect/>
          </a:stretch>
        </p:blipFill>
        <p:spPr>
          <a:xfrm>
            <a:off x="7949183" y="3192037"/>
            <a:ext cx="1682495" cy="1296884"/>
          </a:xfrm>
          <a:prstGeom prst="rect">
            <a:avLst/>
          </a:prstGeom>
        </p:spPr>
      </p:pic>
      <p:sp>
        <p:nvSpPr>
          <p:cNvPr id="72" name="TextBox 71"/>
          <p:cNvSpPr txBox="1"/>
          <p:nvPr/>
        </p:nvSpPr>
        <p:spPr>
          <a:xfrm>
            <a:off x="7912607" y="4543786"/>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Vanilla Chocolate</a:t>
            </a:r>
          </a:p>
          <a:p>
            <a:pPr algn="ctr">
              <a:spcBef>
                <a:spcPts val="0"/>
              </a:spcBef>
              <a:spcAft>
                <a:spcPts val="0"/>
              </a:spcAft>
            </a:pPr>
            <a:r>
              <a:rPr sz="1200" b="0" i="0">
                <a:solidFill>
                  <a:srgbClr val="1E2D44"/>
                </a:solidFill>
                <a:latin typeface="Karla"/>
              </a:rPr>
              <a:t>Top Centre Dark…</a:t>
            </a:r>
          </a:p>
        </p:txBody>
      </p:sp>
      <p:sp>
        <p:nvSpPr>
          <p:cNvPr id="73" name="TextBox 72"/>
          <p:cNvSpPr txBox="1"/>
          <p:nvPr/>
        </p:nvSpPr>
        <p:spPr>
          <a:xfrm>
            <a:off x="7912607" y="4909546"/>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+9*</a:t>
            </a:r>
          </a:p>
        </p:txBody>
      </p:sp>
      <p:sp>
        <p:nvSpPr>
          <p:cNvPr id="74" name="Rectangle 73"/>
          <p:cNvSpPr/>
          <p:nvPr/>
        </p:nvSpPr>
        <p:spPr>
          <a:xfrm>
            <a:off x="9855707" y="3178321"/>
            <a:ext cx="1709927" cy="132431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5" name="Picture 74" descr="E4.png"/>
          <p:cNvPicPr>
            <a:picLocks noChangeAspect="1"/>
          </p:cNvPicPr>
          <p:nvPr/>
        </p:nvPicPr>
        <p:blipFill>
          <a:blip r:embed="rId5"/>
          <a:stretch>
            <a:fillRect/>
          </a:stretch>
        </p:blipFill>
        <p:spPr>
          <a:xfrm>
            <a:off x="9869423" y="3192037"/>
            <a:ext cx="1682495" cy="1296884"/>
          </a:xfrm>
          <a:prstGeom prst="rect">
            <a:avLst/>
          </a:prstGeom>
        </p:spPr>
      </p:pic>
      <p:sp>
        <p:nvSpPr>
          <p:cNvPr id="76" name="TextBox 75"/>
          <p:cNvSpPr txBox="1"/>
          <p:nvPr/>
        </p:nvSpPr>
        <p:spPr>
          <a:xfrm>
            <a:off x="9832847" y="4543786"/>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E04 Orange</a:t>
            </a:r>
          </a:p>
          <a:p>
            <a:pPr algn="ctr">
              <a:spcBef>
                <a:spcPts val="0"/>
              </a:spcBef>
              <a:spcAft>
                <a:spcPts val="0"/>
              </a:spcAft>
            </a:pPr>
            <a:r>
              <a:rPr sz="1200" b="0" i="0">
                <a:solidFill>
                  <a:srgbClr val="1E2D44"/>
                </a:solidFill>
                <a:latin typeface="Karla"/>
              </a:rPr>
              <a:t>Chocolate Top…</a:t>
            </a:r>
          </a:p>
        </p:txBody>
      </p:sp>
      <p:sp>
        <p:nvSpPr>
          <p:cNvPr id="77" name="TextBox 76"/>
          <p:cNvSpPr txBox="1"/>
          <p:nvPr/>
        </p:nvSpPr>
        <p:spPr>
          <a:xfrm>
            <a:off x="9832847" y="4909546"/>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+8*</a:t>
            </a:r>
          </a:p>
        </p:txBody>
      </p:sp>
      <p:sp>
        <p:nvSpPr>
          <p:cNvPr id="78" name="Rounded Rectangle 77"/>
          <p:cNvSpPr/>
          <p:nvPr/>
        </p:nvSpPr>
        <p:spPr>
          <a:xfrm>
            <a:off x="502920" y="5632704"/>
            <a:ext cx="11268455" cy="676656"/>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200" b="0">
                <a:solidFill>
                  <a:srgbClr val="1E2D44"/>
                </a:solidFill>
                <a:latin typeface="Karla"/>
              </a:rPr>
              <a:t>Other favors E07 Banana Chocolate Top Centre Dark Text D2D3 Panel; Protein bars favor E08 Banana Chocolate Top Left Dark Text Panel; Protein cookies favor Vanilla Chocolate Top Left Dark Text Panel; Protein powder favors E02 Tripple Chocolate Chip Top Left Dark Text Panel. The widest segment gap is Vanilla Chocolate Top Left Dark Text Panel: +1 other / +22 protein bars / +28 protein cookies / +16 protein powder.</a:t>
            </a:r>
          </a:p>
        </p:txBody>
      </p:sp>
      <p:sp>
        <p:nvSpPr>
          <p:cNvPr id="79" name="Rectangle 78"/>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Top-2 scores rounded to whole points. *Average of the groups in the legend.</a:t>
            </a:r>
          </a:p>
        </p:txBody>
      </p:sp>
      <p:sp>
        <p:nvSpPr>
          <p:cNvPr id="81" name="TextBox 80"/>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71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37744"/>
            <a:ext cx="7043927" cy="182880"/>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KEY FINDINGS: E_FLAVOUR  ·  How familiar are you with the Fitspo brand?   ·   1 of 3</a:t>
            </a:r>
          </a:p>
        </p:txBody>
      </p:sp>
      <p:sp>
        <p:nvSpPr>
          <p:cNvPr id="3" name="TextBox 2"/>
          <p:cNvSpPr txBox="1"/>
          <p:nvPr/>
        </p:nvSpPr>
        <p:spPr>
          <a:xfrm>
            <a:off x="502920" y="438912"/>
            <a:ext cx="7043927" cy="365760"/>
          </a:xfrm>
          <a:prstGeom prst="rect">
            <a:avLst/>
          </a:prstGeom>
          <a:noFill/>
        </p:spPr>
        <p:txBody>
          <a:bodyPr wrap="square" anchor="t" lIns="0" rIns="0" tIns="0" bIns="0"/>
          <a:lstStyle/>
          <a:p>
            <a:pPr algn="l">
              <a:spcBef>
                <a:spcPts val="0"/>
              </a:spcBef>
              <a:spcAft>
                <a:spcPts val="0"/>
              </a:spcAft>
            </a:pPr>
            <a:r>
              <a:rPr sz="2600" b="1" i="0">
                <a:solidFill>
                  <a:srgbClr val="1E2D44"/>
                </a:solidFill>
                <a:latin typeface="Karla"/>
              </a:rPr>
              <a:t>E_Flavour splits across the groups</a:t>
            </a:r>
          </a:p>
        </p:txBody>
      </p:sp>
      <p:sp>
        <p:nvSpPr>
          <p:cNvPr id="4" name="TextBox 3"/>
          <p:cNvSpPr txBox="1"/>
          <p:nvPr/>
        </p:nvSpPr>
        <p:spPr>
          <a:xfrm>
            <a:off x="502920" y="822960"/>
            <a:ext cx="7043927" cy="475488"/>
          </a:xfrm>
          <a:prstGeom prst="rect">
            <a:avLst/>
          </a:prstGeom>
          <a:noFill/>
        </p:spPr>
        <p:txBody>
          <a:bodyPr wrap="square" anchor="t" lIns="0" rIns="0" tIns="0" bIns="0"/>
          <a:lstStyle/>
          <a:p>
            <a:pPr algn="l">
              <a:spcBef>
                <a:spcPts val="0"/>
              </a:spcBef>
              <a:spcAft>
                <a:spcPts val="0"/>
              </a:spcAft>
            </a:pPr>
            <a:r>
              <a:rPr sz="1200" b="0" i="0">
                <a:solidFill>
                  <a:srgbClr val="617086"/>
                </a:solidFill>
                <a:latin typeface="Karla"/>
              </a:rPr>
              <a:t>Heard of it, but know little about it favors Vanilla Chocolate Top Left Dark Text Panel; Not familiar at all favors E08 Banana Chocolate Top Left Dark Text Panel; Somewhat familiar favors E08 Banana Chocolate Top Left Dark Text Panel; Very familiar favors E02 Tripple Chocolate Chip Top Left Dark Text Panel.</a:t>
            </a:r>
          </a:p>
        </p:txBody>
      </p:sp>
      <p:sp>
        <p:nvSpPr>
          <p:cNvPr id="5" name="Rectangle 4"/>
          <p:cNvSpPr/>
          <p:nvPr/>
        </p:nvSpPr>
        <p:spPr>
          <a:xfrm>
            <a:off x="502920" y="1335024"/>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E_FLAVOUR</a:t>
            </a:r>
          </a:p>
        </p:txBody>
      </p:sp>
      <p:sp>
        <p:nvSpPr>
          <p:cNvPr id="6" name="TextBox 5"/>
          <p:cNvSpPr txBox="1"/>
          <p:nvPr/>
        </p:nvSpPr>
        <p:spPr>
          <a:xfrm>
            <a:off x="1874520"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7" name="Rectangle 6"/>
          <p:cNvSpPr/>
          <p:nvPr/>
        </p:nvSpPr>
        <p:spPr>
          <a:xfrm>
            <a:off x="3379469"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86861"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9" name="Rectangle 8"/>
          <p:cNvSpPr/>
          <p:nvPr/>
        </p:nvSpPr>
        <p:spPr>
          <a:xfrm>
            <a:off x="4591811"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9203"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1" name="Rectangle 10"/>
          <p:cNvSpPr/>
          <p:nvPr/>
        </p:nvSpPr>
        <p:spPr>
          <a:xfrm>
            <a:off x="5804153"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11545"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30</a:t>
            </a:r>
          </a:p>
        </p:txBody>
      </p:sp>
      <p:sp>
        <p:nvSpPr>
          <p:cNvPr id="13" name="Rectangle 12"/>
          <p:cNvSpPr/>
          <p:nvPr/>
        </p:nvSpPr>
        <p:spPr>
          <a:xfrm>
            <a:off x="7016495"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23887"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40</a:t>
            </a:r>
          </a:p>
        </p:txBody>
      </p:sp>
      <p:sp>
        <p:nvSpPr>
          <p:cNvPr id="15" name="Rectangle 14"/>
          <p:cNvSpPr/>
          <p:nvPr/>
        </p:nvSpPr>
        <p:spPr>
          <a:xfrm>
            <a:off x="2167128" y="1645920"/>
            <a:ext cx="10972" cy="30906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167128" y="4736592"/>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1805940"/>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E08 Banana Chocolate</a:t>
            </a:r>
          </a:p>
          <a:p>
            <a:pPr algn="r">
              <a:spcBef>
                <a:spcPts val="0"/>
              </a:spcBef>
              <a:spcAft>
                <a:spcPts val="0"/>
              </a:spcAft>
            </a:pPr>
            <a:r>
              <a:rPr sz="1000" b="0" i="0">
                <a:solidFill>
                  <a:srgbClr val="1E2D44"/>
                </a:solidFill>
                <a:latin typeface="Karla"/>
              </a:rPr>
              <a:t>Top Left Dark Text…</a:t>
            </a:r>
          </a:p>
        </p:txBody>
      </p:sp>
      <p:sp>
        <p:nvSpPr>
          <p:cNvPr id="18" name="Rectangle 17"/>
          <p:cNvSpPr/>
          <p:nvPr/>
        </p:nvSpPr>
        <p:spPr>
          <a:xfrm>
            <a:off x="2167128" y="1805940"/>
            <a:ext cx="121234"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343226" y="1805940"/>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+1</a:t>
            </a:r>
          </a:p>
        </p:txBody>
      </p:sp>
      <p:sp>
        <p:nvSpPr>
          <p:cNvPr id="20" name="Rectangle 19"/>
          <p:cNvSpPr/>
          <p:nvPr/>
        </p:nvSpPr>
        <p:spPr>
          <a:xfrm>
            <a:off x="2167128" y="1929384"/>
            <a:ext cx="2182215"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04207" y="1929384"/>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+18</a:t>
            </a:r>
          </a:p>
        </p:txBody>
      </p:sp>
      <p:sp>
        <p:nvSpPr>
          <p:cNvPr id="22" name="Rectangle 21"/>
          <p:cNvSpPr/>
          <p:nvPr/>
        </p:nvSpPr>
        <p:spPr>
          <a:xfrm>
            <a:off x="2167128" y="2052828"/>
            <a:ext cx="3758259"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80251" y="2052828"/>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+31</a:t>
            </a:r>
          </a:p>
        </p:txBody>
      </p:sp>
      <p:sp>
        <p:nvSpPr>
          <p:cNvPr id="24" name="Rectangle 23"/>
          <p:cNvSpPr/>
          <p:nvPr/>
        </p:nvSpPr>
        <p:spPr>
          <a:xfrm>
            <a:off x="2167128" y="2176272"/>
            <a:ext cx="3273323"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95315" y="2176272"/>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+27</a:t>
            </a:r>
          </a:p>
        </p:txBody>
      </p:sp>
      <p:sp>
        <p:nvSpPr>
          <p:cNvPr id="26" name="TextBox 25"/>
          <p:cNvSpPr txBox="1"/>
          <p:nvPr/>
        </p:nvSpPr>
        <p:spPr>
          <a:xfrm>
            <a:off x="502920" y="2578608"/>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Vanilla Chocolate</a:t>
            </a:r>
          </a:p>
          <a:p>
            <a:pPr algn="r">
              <a:spcBef>
                <a:spcPts val="0"/>
              </a:spcBef>
              <a:spcAft>
                <a:spcPts val="0"/>
              </a:spcAft>
            </a:pPr>
            <a:r>
              <a:rPr sz="1000" b="0" i="0">
                <a:solidFill>
                  <a:srgbClr val="1E2D44"/>
                </a:solidFill>
                <a:latin typeface="Karla"/>
              </a:rPr>
              <a:t>Top Left Dark Text…</a:t>
            </a:r>
          </a:p>
        </p:txBody>
      </p:sp>
      <p:sp>
        <p:nvSpPr>
          <p:cNvPr id="27" name="Rectangle 26"/>
          <p:cNvSpPr/>
          <p:nvPr/>
        </p:nvSpPr>
        <p:spPr>
          <a:xfrm>
            <a:off x="2167128" y="2578608"/>
            <a:ext cx="1818512"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040504" y="2578608"/>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+15</a:t>
            </a:r>
          </a:p>
        </p:txBody>
      </p:sp>
      <p:sp>
        <p:nvSpPr>
          <p:cNvPr id="29" name="Rectangle 28"/>
          <p:cNvSpPr/>
          <p:nvPr/>
        </p:nvSpPr>
        <p:spPr>
          <a:xfrm>
            <a:off x="2167128" y="2702052"/>
            <a:ext cx="1333576"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555568" y="2702052"/>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+11</a:t>
            </a:r>
          </a:p>
        </p:txBody>
      </p:sp>
      <p:sp>
        <p:nvSpPr>
          <p:cNvPr id="31" name="Rectangle 30"/>
          <p:cNvSpPr/>
          <p:nvPr/>
        </p:nvSpPr>
        <p:spPr>
          <a:xfrm>
            <a:off x="2167128" y="2825496"/>
            <a:ext cx="3515791"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737783" y="2825496"/>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+29</a:t>
            </a:r>
          </a:p>
        </p:txBody>
      </p:sp>
      <p:sp>
        <p:nvSpPr>
          <p:cNvPr id="33" name="Rectangle 32"/>
          <p:cNvSpPr/>
          <p:nvPr/>
        </p:nvSpPr>
        <p:spPr>
          <a:xfrm>
            <a:off x="2167128" y="2948939"/>
            <a:ext cx="3273323"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495315" y="2948939"/>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+27</a:t>
            </a:r>
          </a:p>
        </p:txBody>
      </p:sp>
      <p:sp>
        <p:nvSpPr>
          <p:cNvPr id="35" name="TextBox 34"/>
          <p:cNvSpPr txBox="1"/>
          <p:nvPr/>
        </p:nvSpPr>
        <p:spPr>
          <a:xfrm>
            <a:off x="502920" y="3351276"/>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E02 Tripple</a:t>
            </a:r>
          </a:p>
          <a:p>
            <a:pPr algn="r">
              <a:spcBef>
                <a:spcPts val="0"/>
              </a:spcBef>
              <a:spcAft>
                <a:spcPts val="0"/>
              </a:spcAft>
            </a:pPr>
            <a:r>
              <a:rPr sz="1000" b="0" i="0">
                <a:solidFill>
                  <a:srgbClr val="1E2D44"/>
                </a:solidFill>
                <a:latin typeface="Karla"/>
              </a:rPr>
              <a:t>Chocolate Chip Top…</a:t>
            </a:r>
          </a:p>
        </p:txBody>
      </p:sp>
      <p:sp>
        <p:nvSpPr>
          <p:cNvPr id="36" name="Rectangle 35"/>
          <p:cNvSpPr/>
          <p:nvPr/>
        </p:nvSpPr>
        <p:spPr>
          <a:xfrm>
            <a:off x="2167128" y="3351276"/>
            <a:ext cx="1212341"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434333" y="3351276"/>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+10</a:t>
            </a:r>
          </a:p>
        </p:txBody>
      </p:sp>
      <p:sp>
        <p:nvSpPr>
          <p:cNvPr id="38" name="Rectangle 37"/>
          <p:cNvSpPr/>
          <p:nvPr/>
        </p:nvSpPr>
        <p:spPr>
          <a:xfrm>
            <a:off x="2167128" y="3474720"/>
            <a:ext cx="1576044"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798036" y="3474720"/>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+13</a:t>
            </a:r>
          </a:p>
        </p:txBody>
      </p:sp>
      <p:sp>
        <p:nvSpPr>
          <p:cNvPr id="40" name="Rectangle 39"/>
          <p:cNvSpPr/>
          <p:nvPr/>
        </p:nvSpPr>
        <p:spPr>
          <a:xfrm>
            <a:off x="2167128" y="3598164"/>
            <a:ext cx="3394557"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616549" y="3598164"/>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+28</a:t>
            </a:r>
          </a:p>
        </p:txBody>
      </p:sp>
      <p:sp>
        <p:nvSpPr>
          <p:cNvPr id="42" name="Rectangle 41"/>
          <p:cNvSpPr/>
          <p:nvPr/>
        </p:nvSpPr>
        <p:spPr>
          <a:xfrm>
            <a:off x="2167128" y="3721608"/>
            <a:ext cx="3273323"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495315" y="3721608"/>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+27</a:t>
            </a:r>
          </a:p>
        </p:txBody>
      </p:sp>
      <p:sp>
        <p:nvSpPr>
          <p:cNvPr id="44" name="TextBox 43"/>
          <p:cNvSpPr txBox="1"/>
          <p:nvPr/>
        </p:nvSpPr>
        <p:spPr>
          <a:xfrm>
            <a:off x="502920" y="4123944"/>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E05 Orange Chocolate</a:t>
            </a:r>
          </a:p>
          <a:p>
            <a:pPr algn="r">
              <a:spcBef>
                <a:spcPts val="0"/>
              </a:spcBef>
              <a:spcAft>
                <a:spcPts val="0"/>
              </a:spcAft>
            </a:pPr>
            <a:r>
              <a:rPr sz="1000" b="0" i="0">
                <a:solidFill>
                  <a:srgbClr val="1E2D44"/>
                </a:solidFill>
                <a:latin typeface="Karla"/>
              </a:rPr>
              <a:t>Top Left Dark Text…</a:t>
            </a:r>
          </a:p>
        </p:txBody>
      </p:sp>
      <p:sp>
        <p:nvSpPr>
          <p:cNvPr id="45" name="Rectangle 44"/>
          <p:cNvSpPr/>
          <p:nvPr/>
        </p:nvSpPr>
        <p:spPr>
          <a:xfrm>
            <a:off x="2167128" y="4123944"/>
            <a:ext cx="484936"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706928" y="4123944"/>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+4</a:t>
            </a:r>
          </a:p>
        </p:txBody>
      </p:sp>
      <p:sp>
        <p:nvSpPr>
          <p:cNvPr id="47" name="Rectangle 46"/>
          <p:cNvSpPr/>
          <p:nvPr/>
        </p:nvSpPr>
        <p:spPr>
          <a:xfrm>
            <a:off x="2167128" y="4247388"/>
            <a:ext cx="1091107"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313099" y="4247388"/>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+9</a:t>
            </a:r>
          </a:p>
        </p:txBody>
      </p:sp>
      <p:sp>
        <p:nvSpPr>
          <p:cNvPr id="49" name="Rectangle 48"/>
          <p:cNvSpPr/>
          <p:nvPr/>
        </p:nvSpPr>
        <p:spPr>
          <a:xfrm>
            <a:off x="2167128" y="4370831"/>
            <a:ext cx="2909620"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131612" y="4370831"/>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+24</a:t>
            </a:r>
          </a:p>
        </p:txBody>
      </p:sp>
      <p:sp>
        <p:nvSpPr>
          <p:cNvPr id="51" name="Rectangle 50"/>
          <p:cNvSpPr/>
          <p:nvPr/>
        </p:nvSpPr>
        <p:spPr>
          <a:xfrm>
            <a:off x="2167128" y="4494276"/>
            <a:ext cx="2545918"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767910" y="4494276"/>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+21</a:t>
            </a:r>
          </a:p>
        </p:txBody>
      </p:sp>
      <p:sp>
        <p:nvSpPr>
          <p:cNvPr id="53" name="Rectangle 52"/>
          <p:cNvSpPr/>
          <p:nvPr/>
        </p:nvSpPr>
        <p:spPr>
          <a:xfrm>
            <a:off x="684783" y="5161788"/>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58519" y="5102352"/>
            <a:ext cx="376936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Heard of it, but know little about it (basesize = 22)</a:t>
            </a:r>
          </a:p>
        </p:txBody>
      </p:sp>
      <p:sp>
        <p:nvSpPr>
          <p:cNvPr id="55" name="Rectangle 54"/>
          <p:cNvSpPr/>
          <p:nvPr/>
        </p:nvSpPr>
        <p:spPr>
          <a:xfrm>
            <a:off x="4883911" y="5161788"/>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057647" y="5102352"/>
            <a:ext cx="248920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Not familiar at all (basesize = 25)</a:t>
            </a:r>
          </a:p>
        </p:txBody>
      </p:sp>
      <p:sp>
        <p:nvSpPr>
          <p:cNvPr id="57" name="Rectangle 56"/>
          <p:cNvSpPr/>
          <p:nvPr/>
        </p:nvSpPr>
        <p:spPr>
          <a:xfrm>
            <a:off x="2085339" y="5381244"/>
            <a:ext cx="100584" cy="10058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259075" y="5321808"/>
            <a:ext cx="234696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Somewhat familiar (basesize = 49)</a:t>
            </a:r>
          </a:p>
        </p:txBody>
      </p:sp>
      <p:sp>
        <p:nvSpPr>
          <p:cNvPr id="59" name="Rectangle 58"/>
          <p:cNvSpPr/>
          <p:nvPr/>
        </p:nvSpPr>
        <p:spPr>
          <a:xfrm>
            <a:off x="4862067" y="5381244"/>
            <a:ext cx="100584" cy="100584"/>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035803" y="5321808"/>
            <a:ext cx="206248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Very familiar (basesize = 54)</a:t>
            </a:r>
          </a:p>
        </p:txBody>
      </p:sp>
      <p:sp>
        <p:nvSpPr>
          <p:cNvPr id="61" name="Rounded Rectangle 60"/>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7935467" y="618001"/>
            <a:ext cx="1709927" cy="132431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3" name="Picture 62" descr="E8.png"/>
          <p:cNvPicPr>
            <a:picLocks noChangeAspect="1"/>
          </p:cNvPicPr>
          <p:nvPr/>
        </p:nvPicPr>
        <p:blipFill>
          <a:blip r:embed="rId2"/>
          <a:stretch>
            <a:fillRect/>
          </a:stretch>
        </p:blipFill>
        <p:spPr>
          <a:xfrm>
            <a:off x="7949183" y="631717"/>
            <a:ext cx="1682495" cy="1296884"/>
          </a:xfrm>
          <a:prstGeom prst="rect">
            <a:avLst/>
          </a:prstGeom>
        </p:spPr>
      </p:pic>
      <p:sp>
        <p:nvSpPr>
          <p:cNvPr id="64" name="TextBox 63"/>
          <p:cNvSpPr txBox="1"/>
          <p:nvPr/>
        </p:nvSpPr>
        <p:spPr>
          <a:xfrm>
            <a:off x="7912607" y="1983466"/>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E08 Banana</a:t>
            </a:r>
          </a:p>
          <a:p>
            <a:pPr algn="ctr">
              <a:spcBef>
                <a:spcPts val="0"/>
              </a:spcBef>
              <a:spcAft>
                <a:spcPts val="0"/>
              </a:spcAft>
            </a:pPr>
            <a:r>
              <a:rPr sz="1200" b="0" i="0">
                <a:solidFill>
                  <a:srgbClr val="1E2D44"/>
                </a:solidFill>
                <a:latin typeface="Karla"/>
              </a:rPr>
              <a:t>Chocolate Top Left…</a:t>
            </a:r>
          </a:p>
        </p:txBody>
      </p:sp>
      <p:sp>
        <p:nvSpPr>
          <p:cNvPr id="65" name="TextBox 64"/>
          <p:cNvSpPr txBox="1"/>
          <p:nvPr/>
        </p:nvSpPr>
        <p:spPr>
          <a:xfrm>
            <a:off x="7912607" y="2349226"/>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+19*</a:t>
            </a:r>
          </a:p>
        </p:txBody>
      </p:sp>
      <p:sp>
        <p:nvSpPr>
          <p:cNvPr id="66" name="Rectangle 65"/>
          <p:cNvSpPr/>
          <p:nvPr/>
        </p:nvSpPr>
        <p:spPr>
          <a:xfrm>
            <a:off x="9855707" y="618001"/>
            <a:ext cx="1709927" cy="132431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7" name="Picture 66" descr="E11.png"/>
          <p:cNvPicPr>
            <a:picLocks noChangeAspect="1"/>
          </p:cNvPicPr>
          <p:nvPr/>
        </p:nvPicPr>
        <p:blipFill>
          <a:blip r:embed="rId3"/>
          <a:stretch>
            <a:fillRect/>
          </a:stretch>
        </p:blipFill>
        <p:spPr>
          <a:xfrm>
            <a:off x="9869423" y="631717"/>
            <a:ext cx="1682495" cy="1296884"/>
          </a:xfrm>
          <a:prstGeom prst="rect">
            <a:avLst/>
          </a:prstGeom>
        </p:spPr>
      </p:pic>
      <p:sp>
        <p:nvSpPr>
          <p:cNvPr id="68" name="TextBox 67"/>
          <p:cNvSpPr txBox="1"/>
          <p:nvPr/>
        </p:nvSpPr>
        <p:spPr>
          <a:xfrm>
            <a:off x="9832847" y="1983466"/>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Vanilla Chocolate</a:t>
            </a:r>
          </a:p>
          <a:p>
            <a:pPr algn="ctr">
              <a:spcBef>
                <a:spcPts val="0"/>
              </a:spcBef>
              <a:spcAft>
                <a:spcPts val="0"/>
              </a:spcAft>
            </a:pPr>
            <a:r>
              <a:rPr sz="1200" b="0" i="0">
                <a:solidFill>
                  <a:srgbClr val="1E2D44"/>
                </a:solidFill>
                <a:latin typeface="Karla"/>
              </a:rPr>
              <a:t>Top Left Dark Text…</a:t>
            </a:r>
          </a:p>
        </p:txBody>
      </p:sp>
      <p:sp>
        <p:nvSpPr>
          <p:cNvPr id="69" name="TextBox 68"/>
          <p:cNvSpPr txBox="1"/>
          <p:nvPr/>
        </p:nvSpPr>
        <p:spPr>
          <a:xfrm>
            <a:off x="9832847" y="2349226"/>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+20*</a:t>
            </a:r>
          </a:p>
        </p:txBody>
      </p:sp>
      <p:sp>
        <p:nvSpPr>
          <p:cNvPr id="70" name="Rectangle 69"/>
          <p:cNvSpPr/>
          <p:nvPr/>
        </p:nvSpPr>
        <p:spPr>
          <a:xfrm>
            <a:off x="7935467" y="3178321"/>
            <a:ext cx="1709927" cy="132431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1" name="Picture 70" descr="E2.png"/>
          <p:cNvPicPr>
            <a:picLocks noChangeAspect="1"/>
          </p:cNvPicPr>
          <p:nvPr/>
        </p:nvPicPr>
        <p:blipFill>
          <a:blip r:embed="rId4"/>
          <a:stretch>
            <a:fillRect/>
          </a:stretch>
        </p:blipFill>
        <p:spPr>
          <a:xfrm>
            <a:off x="7949183" y="3192037"/>
            <a:ext cx="1682495" cy="1296884"/>
          </a:xfrm>
          <a:prstGeom prst="rect">
            <a:avLst/>
          </a:prstGeom>
        </p:spPr>
      </p:pic>
      <p:sp>
        <p:nvSpPr>
          <p:cNvPr id="72" name="TextBox 71"/>
          <p:cNvSpPr txBox="1"/>
          <p:nvPr/>
        </p:nvSpPr>
        <p:spPr>
          <a:xfrm>
            <a:off x="7912607" y="4543786"/>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E02 Tripple</a:t>
            </a:r>
          </a:p>
          <a:p>
            <a:pPr algn="ctr">
              <a:spcBef>
                <a:spcPts val="0"/>
              </a:spcBef>
              <a:spcAft>
                <a:spcPts val="0"/>
              </a:spcAft>
            </a:pPr>
            <a:r>
              <a:rPr sz="1200" b="0" i="0">
                <a:solidFill>
                  <a:srgbClr val="1E2D44"/>
                </a:solidFill>
                <a:latin typeface="Karla"/>
              </a:rPr>
              <a:t>Chocolate Chip Top…</a:t>
            </a:r>
          </a:p>
        </p:txBody>
      </p:sp>
      <p:sp>
        <p:nvSpPr>
          <p:cNvPr id="73" name="TextBox 72"/>
          <p:cNvSpPr txBox="1"/>
          <p:nvPr/>
        </p:nvSpPr>
        <p:spPr>
          <a:xfrm>
            <a:off x="7912607" y="4909546"/>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+20*</a:t>
            </a:r>
          </a:p>
        </p:txBody>
      </p:sp>
      <p:sp>
        <p:nvSpPr>
          <p:cNvPr id="74" name="Rectangle 73"/>
          <p:cNvSpPr/>
          <p:nvPr/>
        </p:nvSpPr>
        <p:spPr>
          <a:xfrm>
            <a:off x="9855707" y="3178321"/>
            <a:ext cx="1709927" cy="132431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5" name="Picture 74" descr="E5.png"/>
          <p:cNvPicPr>
            <a:picLocks noChangeAspect="1"/>
          </p:cNvPicPr>
          <p:nvPr/>
        </p:nvPicPr>
        <p:blipFill>
          <a:blip r:embed="rId5"/>
          <a:stretch>
            <a:fillRect/>
          </a:stretch>
        </p:blipFill>
        <p:spPr>
          <a:xfrm>
            <a:off x="9869423" y="3192037"/>
            <a:ext cx="1682495" cy="1296884"/>
          </a:xfrm>
          <a:prstGeom prst="rect">
            <a:avLst/>
          </a:prstGeom>
        </p:spPr>
      </p:pic>
      <p:sp>
        <p:nvSpPr>
          <p:cNvPr id="76" name="TextBox 75"/>
          <p:cNvSpPr txBox="1"/>
          <p:nvPr/>
        </p:nvSpPr>
        <p:spPr>
          <a:xfrm>
            <a:off x="9832847" y="4543786"/>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E05 Orange</a:t>
            </a:r>
          </a:p>
          <a:p>
            <a:pPr algn="ctr">
              <a:spcBef>
                <a:spcPts val="0"/>
              </a:spcBef>
              <a:spcAft>
                <a:spcPts val="0"/>
              </a:spcAft>
            </a:pPr>
            <a:r>
              <a:rPr sz="1200" b="0" i="0">
                <a:solidFill>
                  <a:srgbClr val="1E2D44"/>
                </a:solidFill>
                <a:latin typeface="Karla"/>
              </a:rPr>
              <a:t>Chocolate Top Left…</a:t>
            </a:r>
          </a:p>
        </p:txBody>
      </p:sp>
      <p:sp>
        <p:nvSpPr>
          <p:cNvPr id="77" name="TextBox 76"/>
          <p:cNvSpPr txBox="1"/>
          <p:nvPr/>
        </p:nvSpPr>
        <p:spPr>
          <a:xfrm>
            <a:off x="9832847" y="4909546"/>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+14*</a:t>
            </a:r>
          </a:p>
        </p:txBody>
      </p:sp>
      <p:sp>
        <p:nvSpPr>
          <p:cNvPr id="78" name="Rounded Rectangle 77"/>
          <p:cNvSpPr/>
          <p:nvPr/>
        </p:nvSpPr>
        <p:spPr>
          <a:xfrm>
            <a:off x="502920" y="5632704"/>
            <a:ext cx="11268455" cy="676656"/>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200" b="0">
                <a:solidFill>
                  <a:srgbClr val="1E2D44"/>
                </a:solidFill>
                <a:latin typeface="Karla"/>
              </a:rPr>
              <a:t>Heard of it, but know little about it favors Vanilla Chocolate Top Left Dark Text Panel; Not familiar at all favors E08 Banana Chocolate Top Left Dark Text Panel; Somewhat familiar favors E08 Banana Chocolate Top Left Dark Text Panel; Very familiar favors E02 Tripple Chocolate Chip Top Left Dark Text Panel. The widest segment gap is E08 Banana Chocolate Top Left Dark Text Panel: +1 heard of it, but know little about it / +18 not familiar at all / +31 somewhat familiar / +27 very familiar.</a:t>
            </a:r>
          </a:p>
        </p:txBody>
      </p:sp>
      <p:sp>
        <p:nvSpPr>
          <p:cNvPr id="79" name="Rectangle 78"/>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Top-2 scores rounded to whole points. *Average of the groups in the legend.</a:t>
            </a:r>
          </a:p>
        </p:txBody>
      </p:sp>
      <p:sp>
        <p:nvSpPr>
          <p:cNvPr id="81" name="TextBox 80"/>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72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37744"/>
            <a:ext cx="7043927" cy="182880"/>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KEY FINDINGS: E_FLAVOUR  ·  How familiar are you with the Fitspo brand?   ·   2 of 3</a:t>
            </a:r>
          </a:p>
        </p:txBody>
      </p:sp>
      <p:sp>
        <p:nvSpPr>
          <p:cNvPr id="3" name="TextBox 2"/>
          <p:cNvSpPr txBox="1"/>
          <p:nvPr/>
        </p:nvSpPr>
        <p:spPr>
          <a:xfrm>
            <a:off x="502920" y="438912"/>
            <a:ext cx="7043927" cy="365760"/>
          </a:xfrm>
          <a:prstGeom prst="rect">
            <a:avLst/>
          </a:prstGeom>
          <a:noFill/>
        </p:spPr>
        <p:txBody>
          <a:bodyPr wrap="square" anchor="t" lIns="0" rIns="0" tIns="0" bIns="0"/>
          <a:lstStyle/>
          <a:p>
            <a:pPr algn="l">
              <a:spcBef>
                <a:spcPts val="0"/>
              </a:spcBef>
              <a:spcAft>
                <a:spcPts val="0"/>
              </a:spcAft>
            </a:pPr>
            <a:r>
              <a:rPr sz="2600" b="1" i="0">
                <a:solidFill>
                  <a:srgbClr val="1E2D44"/>
                </a:solidFill>
                <a:latin typeface="Karla"/>
              </a:rPr>
              <a:t>E_Flavour splits across the groups</a:t>
            </a:r>
          </a:p>
        </p:txBody>
      </p:sp>
      <p:sp>
        <p:nvSpPr>
          <p:cNvPr id="4" name="TextBox 3"/>
          <p:cNvSpPr txBox="1"/>
          <p:nvPr/>
        </p:nvSpPr>
        <p:spPr>
          <a:xfrm>
            <a:off x="502920" y="822960"/>
            <a:ext cx="7043927" cy="475488"/>
          </a:xfrm>
          <a:prstGeom prst="rect">
            <a:avLst/>
          </a:prstGeom>
          <a:noFill/>
        </p:spPr>
        <p:txBody>
          <a:bodyPr wrap="square" anchor="t" lIns="0" rIns="0" tIns="0" bIns="0"/>
          <a:lstStyle/>
          <a:p>
            <a:pPr algn="l">
              <a:spcBef>
                <a:spcPts val="0"/>
              </a:spcBef>
              <a:spcAft>
                <a:spcPts val="0"/>
              </a:spcAft>
            </a:pPr>
            <a:r>
              <a:rPr sz="1200" b="0" i="0">
                <a:solidFill>
                  <a:srgbClr val="617086"/>
                </a:solidFill>
                <a:latin typeface="Karla"/>
              </a:rPr>
              <a:t>Heard of it, but know little about it favors Vanilla Chocolate Top Left Dark Text Panel; Not familiar at all favors E08 Banana Chocolate Top Left Dark Text Panel; Somewhat familiar favors E08 Banana Chocolate Top Left Dark Text Panel; Very familiar favors E02 Tripple Chocolate Chip Top Left Dark Text Panel.</a:t>
            </a:r>
          </a:p>
        </p:txBody>
      </p:sp>
      <p:sp>
        <p:nvSpPr>
          <p:cNvPr id="5" name="Rectangle 4"/>
          <p:cNvSpPr/>
          <p:nvPr/>
        </p:nvSpPr>
        <p:spPr>
          <a:xfrm>
            <a:off x="502920" y="1335024"/>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E_FLAVOUR</a:t>
            </a:r>
          </a:p>
        </p:txBody>
      </p:sp>
      <p:sp>
        <p:nvSpPr>
          <p:cNvPr id="6" name="Rectangle 5"/>
          <p:cNvSpPr/>
          <p:nvPr/>
        </p:nvSpPr>
        <p:spPr>
          <a:xfrm>
            <a:off x="2167128"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74520"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8" name="TextBox 7"/>
          <p:cNvSpPr txBox="1"/>
          <p:nvPr/>
        </p:nvSpPr>
        <p:spPr>
          <a:xfrm>
            <a:off x="3490975"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9" name="Rectangle 8"/>
          <p:cNvSpPr/>
          <p:nvPr/>
        </p:nvSpPr>
        <p:spPr>
          <a:xfrm>
            <a:off x="5400039"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7431"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11" name="Rectangle 10"/>
          <p:cNvSpPr/>
          <p:nvPr/>
        </p:nvSpPr>
        <p:spPr>
          <a:xfrm>
            <a:off x="7016495"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23887"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3" name="Rectangle 12"/>
          <p:cNvSpPr/>
          <p:nvPr/>
        </p:nvSpPr>
        <p:spPr>
          <a:xfrm>
            <a:off x="3783583" y="1645920"/>
            <a:ext cx="10972" cy="30906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167128" y="4736592"/>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1805940"/>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E06 Orange Chocolate</a:t>
            </a:r>
          </a:p>
          <a:p>
            <a:pPr algn="r">
              <a:spcBef>
                <a:spcPts val="0"/>
              </a:spcBef>
              <a:spcAft>
                <a:spcPts val="0"/>
              </a:spcAft>
            </a:pPr>
            <a:r>
              <a:rPr sz="1000" b="0" i="0">
                <a:solidFill>
                  <a:srgbClr val="1E2D44"/>
                </a:solidFill>
                <a:latin typeface="Karla"/>
              </a:rPr>
              <a:t>Top Left White Text…</a:t>
            </a:r>
          </a:p>
        </p:txBody>
      </p:sp>
      <p:sp>
        <p:nvSpPr>
          <p:cNvPr id="16" name="Rectangle 15"/>
          <p:cNvSpPr/>
          <p:nvPr/>
        </p:nvSpPr>
        <p:spPr>
          <a:xfrm>
            <a:off x="3137001" y="1805940"/>
            <a:ext cx="646582"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624937" y="1805940"/>
            <a:ext cx="457200" cy="82296"/>
          </a:xfrm>
          <a:prstGeom prst="rect">
            <a:avLst/>
          </a:prstGeom>
          <a:noFill/>
        </p:spPr>
        <p:txBody>
          <a:bodyPr wrap="none" anchor="ctr" lIns="0" rIns="0" tIns="0" bIns="0"/>
          <a:lstStyle/>
          <a:p>
            <a:pPr algn="r">
              <a:spcBef>
                <a:spcPts val="0"/>
              </a:spcBef>
              <a:spcAft>
                <a:spcPts val="0"/>
              </a:spcAft>
            </a:pPr>
            <a:r>
              <a:rPr sz="1000" b="1" i="0">
                <a:solidFill>
                  <a:srgbClr val="1A2332"/>
                </a:solidFill>
                <a:latin typeface="Karla"/>
              </a:rPr>
              <a:t>-4</a:t>
            </a:r>
          </a:p>
        </p:txBody>
      </p:sp>
      <p:sp>
        <p:nvSpPr>
          <p:cNvPr id="18" name="Rectangle 17"/>
          <p:cNvSpPr/>
          <p:nvPr/>
        </p:nvSpPr>
        <p:spPr>
          <a:xfrm>
            <a:off x="3783583" y="1929384"/>
            <a:ext cx="484936"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23384" y="1929384"/>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+3</a:t>
            </a:r>
          </a:p>
        </p:txBody>
      </p:sp>
      <p:sp>
        <p:nvSpPr>
          <p:cNvPr id="20" name="Rectangle 19"/>
          <p:cNvSpPr/>
          <p:nvPr/>
        </p:nvSpPr>
        <p:spPr>
          <a:xfrm>
            <a:off x="3783583" y="2052828"/>
            <a:ext cx="3232911"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71359" y="2052828"/>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+20</a:t>
            </a:r>
          </a:p>
        </p:txBody>
      </p:sp>
      <p:sp>
        <p:nvSpPr>
          <p:cNvPr id="22" name="Rectangle 21"/>
          <p:cNvSpPr/>
          <p:nvPr/>
        </p:nvSpPr>
        <p:spPr>
          <a:xfrm>
            <a:off x="3783583" y="2176272"/>
            <a:ext cx="2263038"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01486" y="2176272"/>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+14</a:t>
            </a:r>
          </a:p>
        </p:txBody>
      </p:sp>
      <p:sp>
        <p:nvSpPr>
          <p:cNvPr id="24" name="TextBox 23"/>
          <p:cNvSpPr txBox="1"/>
          <p:nvPr/>
        </p:nvSpPr>
        <p:spPr>
          <a:xfrm>
            <a:off x="502920" y="2578608"/>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Vanilla Chocolate</a:t>
            </a:r>
          </a:p>
          <a:p>
            <a:pPr algn="r">
              <a:spcBef>
                <a:spcPts val="0"/>
              </a:spcBef>
              <a:spcAft>
                <a:spcPts val="0"/>
              </a:spcAft>
            </a:pPr>
            <a:r>
              <a:rPr sz="1000" b="0" i="0">
                <a:solidFill>
                  <a:srgbClr val="1E2D44"/>
                </a:solidFill>
                <a:latin typeface="Karla"/>
              </a:rPr>
              <a:t>Top Centre Dark Text…</a:t>
            </a:r>
          </a:p>
        </p:txBody>
      </p:sp>
      <p:sp>
        <p:nvSpPr>
          <p:cNvPr id="25" name="Rectangle 24"/>
          <p:cNvSpPr/>
          <p:nvPr/>
        </p:nvSpPr>
        <p:spPr>
          <a:xfrm>
            <a:off x="3783583" y="2578608"/>
            <a:ext cx="323291"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61739" y="2578608"/>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+2</a:t>
            </a:r>
          </a:p>
        </p:txBody>
      </p:sp>
      <p:sp>
        <p:nvSpPr>
          <p:cNvPr id="27" name="Rectangle 26"/>
          <p:cNvSpPr/>
          <p:nvPr/>
        </p:nvSpPr>
        <p:spPr>
          <a:xfrm>
            <a:off x="3783583" y="2702052"/>
            <a:ext cx="2747975"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6422" y="2702052"/>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+17</a:t>
            </a:r>
          </a:p>
        </p:txBody>
      </p:sp>
      <p:sp>
        <p:nvSpPr>
          <p:cNvPr id="29" name="Rectangle 28"/>
          <p:cNvSpPr/>
          <p:nvPr/>
        </p:nvSpPr>
        <p:spPr>
          <a:xfrm>
            <a:off x="3783583" y="2825496"/>
            <a:ext cx="2263038"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101486" y="2825496"/>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+14</a:t>
            </a:r>
          </a:p>
        </p:txBody>
      </p:sp>
      <p:sp>
        <p:nvSpPr>
          <p:cNvPr id="31" name="Rectangle 30"/>
          <p:cNvSpPr/>
          <p:nvPr/>
        </p:nvSpPr>
        <p:spPr>
          <a:xfrm>
            <a:off x="3783583" y="2948939"/>
            <a:ext cx="1778101"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616549" y="2948939"/>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+11</a:t>
            </a:r>
          </a:p>
        </p:txBody>
      </p:sp>
      <p:sp>
        <p:nvSpPr>
          <p:cNvPr id="33" name="TextBox 32"/>
          <p:cNvSpPr txBox="1"/>
          <p:nvPr/>
        </p:nvSpPr>
        <p:spPr>
          <a:xfrm>
            <a:off x="502920" y="3351276"/>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E09 Banana Chocolate</a:t>
            </a:r>
          </a:p>
          <a:p>
            <a:pPr algn="r">
              <a:spcBef>
                <a:spcPts val="0"/>
              </a:spcBef>
              <a:spcAft>
                <a:spcPts val="0"/>
              </a:spcAft>
            </a:pPr>
            <a:r>
              <a:rPr sz="1000" b="0" i="0">
                <a:solidFill>
                  <a:srgbClr val="1E2D44"/>
                </a:solidFill>
                <a:latin typeface="Karla"/>
              </a:rPr>
              <a:t>Top Left White Text…</a:t>
            </a:r>
          </a:p>
        </p:txBody>
      </p:sp>
      <p:sp>
        <p:nvSpPr>
          <p:cNvPr id="34" name="Rectangle 33"/>
          <p:cNvSpPr/>
          <p:nvPr/>
        </p:nvSpPr>
        <p:spPr>
          <a:xfrm>
            <a:off x="3783583" y="3351276"/>
            <a:ext cx="1293164"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131612" y="3351276"/>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+8</a:t>
            </a:r>
          </a:p>
        </p:txBody>
      </p:sp>
      <p:sp>
        <p:nvSpPr>
          <p:cNvPr id="36" name="Rectangle 35"/>
          <p:cNvSpPr/>
          <p:nvPr/>
        </p:nvSpPr>
        <p:spPr>
          <a:xfrm>
            <a:off x="3783583" y="3474720"/>
            <a:ext cx="1131519"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969967" y="3474720"/>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+7</a:t>
            </a:r>
          </a:p>
        </p:txBody>
      </p:sp>
      <p:sp>
        <p:nvSpPr>
          <p:cNvPr id="38" name="Rectangle 37"/>
          <p:cNvSpPr/>
          <p:nvPr/>
        </p:nvSpPr>
        <p:spPr>
          <a:xfrm>
            <a:off x="3783583" y="3598164"/>
            <a:ext cx="1778101"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616549" y="3598164"/>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+11</a:t>
            </a:r>
          </a:p>
        </p:txBody>
      </p:sp>
      <p:sp>
        <p:nvSpPr>
          <p:cNvPr id="40" name="Rectangle 39"/>
          <p:cNvSpPr/>
          <p:nvPr/>
        </p:nvSpPr>
        <p:spPr>
          <a:xfrm>
            <a:off x="3783583" y="3721608"/>
            <a:ext cx="2586329"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24777" y="3721608"/>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+16</a:t>
            </a:r>
          </a:p>
        </p:txBody>
      </p:sp>
      <p:sp>
        <p:nvSpPr>
          <p:cNvPr id="42" name="TextBox 41"/>
          <p:cNvSpPr txBox="1"/>
          <p:nvPr/>
        </p:nvSpPr>
        <p:spPr>
          <a:xfrm>
            <a:off x="502920" y="4123944"/>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Vanilla Chocolate</a:t>
            </a:r>
          </a:p>
          <a:p>
            <a:pPr algn="r">
              <a:spcBef>
                <a:spcPts val="0"/>
              </a:spcBef>
              <a:spcAft>
                <a:spcPts val="0"/>
              </a:spcAft>
            </a:pPr>
            <a:r>
              <a:rPr sz="1000" b="0" i="0">
                <a:solidFill>
                  <a:srgbClr val="1E2D44"/>
                </a:solidFill>
                <a:latin typeface="Karla"/>
              </a:rPr>
              <a:t>Top Left White Text…</a:t>
            </a:r>
          </a:p>
        </p:txBody>
      </p:sp>
      <p:sp>
        <p:nvSpPr>
          <p:cNvPr id="43" name="Rectangle 42"/>
          <p:cNvSpPr/>
          <p:nvPr/>
        </p:nvSpPr>
        <p:spPr>
          <a:xfrm>
            <a:off x="3783583" y="4123944"/>
            <a:ext cx="1131519"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969967" y="4123944"/>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+7</a:t>
            </a:r>
          </a:p>
        </p:txBody>
      </p:sp>
      <p:sp>
        <p:nvSpPr>
          <p:cNvPr id="45" name="Rectangle 44"/>
          <p:cNvSpPr/>
          <p:nvPr/>
        </p:nvSpPr>
        <p:spPr>
          <a:xfrm>
            <a:off x="3783583" y="4247388"/>
            <a:ext cx="1616455"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454903" y="4247388"/>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+10</a:t>
            </a:r>
          </a:p>
        </p:txBody>
      </p:sp>
      <p:sp>
        <p:nvSpPr>
          <p:cNvPr id="47" name="Rectangle 46"/>
          <p:cNvSpPr/>
          <p:nvPr/>
        </p:nvSpPr>
        <p:spPr>
          <a:xfrm>
            <a:off x="3783583" y="4370831"/>
            <a:ext cx="1454810"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293258" y="4370831"/>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+9</a:t>
            </a:r>
          </a:p>
        </p:txBody>
      </p:sp>
      <p:sp>
        <p:nvSpPr>
          <p:cNvPr id="49" name="Rectangle 48"/>
          <p:cNvSpPr/>
          <p:nvPr/>
        </p:nvSpPr>
        <p:spPr>
          <a:xfrm>
            <a:off x="3783583" y="4494276"/>
            <a:ext cx="2586329"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424777" y="4494276"/>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+16</a:t>
            </a:r>
          </a:p>
        </p:txBody>
      </p:sp>
      <p:sp>
        <p:nvSpPr>
          <p:cNvPr id="51" name="Rectangle 50"/>
          <p:cNvSpPr/>
          <p:nvPr/>
        </p:nvSpPr>
        <p:spPr>
          <a:xfrm>
            <a:off x="684783" y="5161788"/>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58519" y="5102352"/>
            <a:ext cx="376936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Heard of it, but know little about it (basesize = 22)</a:t>
            </a:r>
          </a:p>
        </p:txBody>
      </p:sp>
      <p:sp>
        <p:nvSpPr>
          <p:cNvPr id="53" name="Rectangle 52"/>
          <p:cNvSpPr/>
          <p:nvPr/>
        </p:nvSpPr>
        <p:spPr>
          <a:xfrm>
            <a:off x="4883911" y="5161788"/>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057647" y="5102352"/>
            <a:ext cx="248920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Not familiar at all (basesize = 25)</a:t>
            </a:r>
          </a:p>
        </p:txBody>
      </p:sp>
      <p:sp>
        <p:nvSpPr>
          <p:cNvPr id="55" name="Rectangle 54"/>
          <p:cNvSpPr/>
          <p:nvPr/>
        </p:nvSpPr>
        <p:spPr>
          <a:xfrm>
            <a:off x="2085339" y="5381244"/>
            <a:ext cx="100584" cy="10058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259075" y="5321808"/>
            <a:ext cx="234696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Somewhat familiar (basesize = 49)</a:t>
            </a:r>
          </a:p>
        </p:txBody>
      </p:sp>
      <p:sp>
        <p:nvSpPr>
          <p:cNvPr id="57" name="Rectangle 56"/>
          <p:cNvSpPr/>
          <p:nvPr/>
        </p:nvSpPr>
        <p:spPr>
          <a:xfrm>
            <a:off x="4862067" y="5381244"/>
            <a:ext cx="100584" cy="100584"/>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035803" y="5321808"/>
            <a:ext cx="206248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Very familiar (basesize = 54)</a:t>
            </a:r>
          </a:p>
        </p:txBody>
      </p:sp>
      <p:sp>
        <p:nvSpPr>
          <p:cNvPr id="59" name="Rounded Rectangle 58"/>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7935467" y="618001"/>
            <a:ext cx="1709927" cy="132431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1" name="Picture 60" descr="E6.png"/>
          <p:cNvPicPr>
            <a:picLocks noChangeAspect="1"/>
          </p:cNvPicPr>
          <p:nvPr/>
        </p:nvPicPr>
        <p:blipFill>
          <a:blip r:embed="rId2"/>
          <a:stretch>
            <a:fillRect/>
          </a:stretch>
        </p:blipFill>
        <p:spPr>
          <a:xfrm>
            <a:off x="7949183" y="631717"/>
            <a:ext cx="1682495" cy="1296884"/>
          </a:xfrm>
          <a:prstGeom prst="rect">
            <a:avLst/>
          </a:prstGeom>
        </p:spPr>
      </p:pic>
      <p:sp>
        <p:nvSpPr>
          <p:cNvPr id="62" name="TextBox 61"/>
          <p:cNvSpPr txBox="1"/>
          <p:nvPr/>
        </p:nvSpPr>
        <p:spPr>
          <a:xfrm>
            <a:off x="7912607" y="1983466"/>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E06 Orange</a:t>
            </a:r>
          </a:p>
          <a:p>
            <a:pPr algn="ctr">
              <a:spcBef>
                <a:spcPts val="0"/>
              </a:spcBef>
              <a:spcAft>
                <a:spcPts val="0"/>
              </a:spcAft>
            </a:pPr>
            <a:r>
              <a:rPr sz="1200" b="0" i="0">
                <a:solidFill>
                  <a:srgbClr val="1E2D44"/>
                </a:solidFill>
                <a:latin typeface="Karla"/>
              </a:rPr>
              <a:t>Chocolate Top Left…</a:t>
            </a:r>
          </a:p>
        </p:txBody>
      </p:sp>
      <p:sp>
        <p:nvSpPr>
          <p:cNvPr id="63" name="TextBox 62"/>
          <p:cNvSpPr txBox="1"/>
          <p:nvPr/>
        </p:nvSpPr>
        <p:spPr>
          <a:xfrm>
            <a:off x="7912607" y="2349226"/>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+8*</a:t>
            </a:r>
          </a:p>
        </p:txBody>
      </p:sp>
      <p:sp>
        <p:nvSpPr>
          <p:cNvPr id="64" name="Rectangle 63"/>
          <p:cNvSpPr/>
          <p:nvPr/>
        </p:nvSpPr>
        <p:spPr>
          <a:xfrm>
            <a:off x="9855707" y="618001"/>
            <a:ext cx="1709927" cy="132431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5" name="Picture 64" descr="E10.png"/>
          <p:cNvPicPr>
            <a:picLocks noChangeAspect="1"/>
          </p:cNvPicPr>
          <p:nvPr/>
        </p:nvPicPr>
        <p:blipFill>
          <a:blip r:embed="rId3"/>
          <a:stretch>
            <a:fillRect/>
          </a:stretch>
        </p:blipFill>
        <p:spPr>
          <a:xfrm>
            <a:off x="9869423" y="631717"/>
            <a:ext cx="1682495" cy="1296884"/>
          </a:xfrm>
          <a:prstGeom prst="rect">
            <a:avLst/>
          </a:prstGeom>
        </p:spPr>
      </p:pic>
      <p:sp>
        <p:nvSpPr>
          <p:cNvPr id="66" name="TextBox 65"/>
          <p:cNvSpPr txBox="1"/>
          <p:nvPr/>
        </p:nvSpPr>
        <p:spPr>
          <a:xfrm>
            <a:off x="9832847" y="1983466"/>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Vanilla Chocolate</a:t>
            </a:r>
          </a:p>
          <a:p>
            <a:pPr algn="ctr">
              <a:spcBef>
                <a:spcPts val="0"/>
              </a:spcBef>
              <a:spcAft>
                <a:spcPts val="0"/>
              </a:spcAft>
            </a:pPr>
            <a:r>
              <a:rPr sz="1200" b="0" i="0">
                <a:solidFill>
                  <a:srgbClr val="1E2D44"/>
                </a:solidFill>
                <a:latin typeface="Karla"/>
              </a:rPr>
              <a:t>Top Centre Dark…</a:t>
            </a:r>
          </a:p>
        </p:txBody>
      </p:sp>
      <p:sp>
        <p:nvSpPr>
          <p:cNvPr id="67" name="TextBox 66"/>
          <p:cNvSpPr txBox="1"/>
          <p:nvPr/>
        </p:nvSpPr>
        <p:spPr>
          <a:xfrm>
            <a:off x="9832847" y="2349226"/>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+11*</a:t>
            </a:r>
          </a:p>
        </p:txBody>
      </p:sp>
      <p:sp>
        <p:nvSpPr>
          <p:cNvPr id="68" name="Rectangle 67"/>
          <p:cNvSpPr/>
          <p:nvPr/>
        </p:nvSpPr>
        <p:spPr>
          <a:xfrm>
            <a:off x="7935467" y="3178321"/>
            <a:ext cx="1709927" cy="132431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9" name="Picture 68" descr="E9.png"/>
          <p:cNvPicPr>
            <a:picLocks noChangeAspect="1"/>
          </p:cNvPicPr>
          <p:nvPr/>
        </p:nvPicPr>
        <p:blipFill>
          <a:blip r:embed="rId4"/>
          <a:stretch>
            <a:fillRect/>
          </a:stretch>
        </p:blipFill>
        <p:spPr>
          <a:xfrm>
            <a:off x="7949183" y="3192037"/>
            <a:ext cx="1682495" cy="1296884"/>
          </a:xfrm>
          <a:prstGeom prst="rect">
            <a:avLst/>
          </a:prstGeom>
        </p:spPr>
      </p:pic>
      <p:sp>
        <p:nvSpPr>
          <p:cNvPr id="70" name="TextBox 69"/>
          <p:cNvSpPr txBox="1"/>
          <p:nvPr/>
        </p:nvSpPr>
        <p:spPr>
          <a:xfrm>
            <a:off x="7912607" y="4543786"/>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E09 Banana</a:t>
            </a:r>
          </a:p>
          <a:p>
            <a:pPr algn="ctr">
              <a:spcBef>
                <a:spcPts val="0"/>
              </a:spcBef>
              <a:spcAft>
                <a:spcPts val="0"/>
              </a:spcAft>
            </a:pPr>
            <a:r>
              <a:rPr sz="1200" b="0" i="0">
                <a:solidFill>
                  <a:srgbClr val="1E2D44"/>
                </a:solidFill>
                <a:latin typeface="Karla"/>
              </a:rPr>
              <a:t>Chocolate Top Left…</a:t>
            </a:r>
          </a:p>
        </p:txBody>
      </p:sp>
      <p:sp>
        <p:nvSpPr>
          <p:cNvPr id="71" name="TextBox 70"/>
          <p:cNvSpPr txBox="1"/>
          <p:nvPr/>
        </p:nvSpPr>
        <p:spPr>
          <a:xfrm>
            <a:off x="7912607" y="4909546"/>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+10*</a:t>
            </a:r>
          </a:p>
        </p:txBody>
      </p:sp>
      <p:sp>
        <p:nvSpPr>
          <p:cNvPr id="72" name="Rectangle 71"/>
          <p:cNvSpPr/>
          <p:nvPr/>
        </p:nvSpPr>
        <p:spPr>
          <a:xfrm>
            <a:off x="9855707" y="3178321"/>
            <a:ext cx="1709927" cy="132431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3" name="Picture 72" descr="E12.png"/>
          <p:cNvPicPr>
            <a:picLocks noChangeAspect="1"/>
          </p:cNvPicPr>
          <p:nvPr/>
        </p:nvPicPr>
        <p:blipFill>
          <a:blip r:embed="rId5"/>
          <a:stretch>
            <a:fillRect/>
          </a:stretch>
        </p:blipFill>
        <p:spPr>
          <a:xfrm>
            <a:off x="9869423" y="3192037"/>
            <a:ext cx="1682495" cy="1296884"/>
          </a:xfrm>
          <a:prstGeom prst="rect">
            <a:avLst/>
          </a:prstGeom>
        </p:spPr>
      </p:pic>
      <p:sp>
        <p:nvSpPr>
          <p:cNvPr id="74" name="TextBox 73"/>
          <p:cNvSpPr txBox="1"/>
          <p:nvPr/>
        </p:nvSpPr>
        <p:spPr>
          <a:xfrm>
            <a:off x="9832847" y="4543786"/>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Vanilla Chocolate</a:t>
            </a:r>
          </a:p>
          <a:p>
            <a:pPr algn="ctr">
              <a:spcBef>
                <a:spcPts val="0"/>
              </a:spcBef>
              <a:spcAft>
                <a:spcPts val="0"/>
              </a:spcAft>
            </a:pPr>
            <a:r>
              <a:rPr sz="1200" b="0" i="0">
                <a:solidFill>
                  <a:srgbClr val="1E2D44"/>
                </a:solidFill>
                <a:latin typeface="Karla"/>
              </a:rPr>
              <a:t>Top Left White Text…</a:t>
            </a:r>
          </a:p>
        </p:txBody>
      </p:sp>
      <p:sp>
        <p:nvSpPr>
          <p:cNvPr id="75" name="TextBox 74"/>
          <p:cNvSpPr txBox="1"/>
          <p:nvPr/>
        </p:nvSpPr>
        <p:spPr>
          <a:xfrm>
            <a:off x="9832847" y="4909546"/>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+10*</a:t>
            </a:r>
          </a:p>
        </p:txBody>
      </p:sp>
      <p:sp>
        <p:nvSpPr>
          <p:cNvPr id="76" name="Rounded Rectangle 75"/>
          <p:cNvSpPr/>
          <p:nvPr/>
        </p:nvSpPr>
        <p:spPr>
          <a:xfrm>
            <a:off x="502920" y="5632704"/>
            <a:ext cx="11268455" cy="676656"/>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200" b="0">
                <a:solidFill>
                  <a:srgbClr val="1E2D44"/>
                </a:solidFill>
                <a:latin typeface="Karla"/>
              </a:rPr>
              <a:t>Heard of it, but know little about it favors Vanilla Chocolate Top Left Dark Text Panel; Not familiar at all favors E08 Banana Chocolate Top Left Dark Text Panel; Somewhat familiar favors E08 Banana Chocolate Top Left Dark Text Panel; Very familiar favors E02 Tripple Chocolate Chip Top Left Dark Text Panel. The widest segment gap is E08 Banana Chocolate Top Left Dark Text Panel: +1 heard of it, but know little about it / +18 not familiar at all / +31 somewhat familiar / +27 very familiar.</a:t>
            </a:r>
          </a:p>
        </p:txBody>
      </p:sp>
      <p:sp>
        <p:nvSpPr>
          <p:cNvPr id="77" name="Rectangle 76"/>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Top-2 scores rounded to whole points. *Average of the groups in the legend.</a:t>
            </a:r>
          </a:p>
        </p:txBody>
      </p:sp>
      <p:sp>
        <p:nvSpPr>
          <p:cNvPr id="79" name="TextBox 78"/>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73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37744"/>
            <a:ext cx="7043927" cy="182880"/>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KEY FINDINGS: E_FLAVOUR  ·  How familiar are you with the Fitspo brand?   ·   3 of 3</a:t>
            </a:r>
          </a:p>
        </p:txBody>
      </p:sp>
      <p:sp>
        <p:nvSpPr>
          <p:cNvPr id="3" name="TextBox 2"/>
          <p:cNvSpPr txBox="1"/>
          <p:nvPr/>
        </p:nvSpPr>
        <p:spPr>
          <a:xfrm>
            <a:off x="502920" y="438912"/>
            <a:ext cx="7043927" cy="365760"/>
          </a:xfrm>
          <a:prstGeom prst="rect">
            <a:avLst/>
          </a:prstGeom>
          <a:noFill/>
        </p:spPr>
        <p:txBody>
          <a:bodyPr wrap="square" anchor="t" lIns="0" rIns="0" tIns="0" bIns="0"/>
          <a:lstStyle/>
          <a:p>
            <a:pPr algn="l">
              <a:spcBef>
                <a:spcPts val="0"/>
              </a:spcBef>
              <a:spcAft>
                <a:spcPts val="0"/>
              </a:spcAft>
            </a:pPr>
            <a:r>
              <a:rPr sz="2600" b="1" i="0">
                <a:solidFill>
                  <a:srgbClr val="1E2D44"/>
                </a:solidFill>
                <a:latin typeface="Karla"/>
              </a:rPr>
              <a:t>E_Flavour splits across the groups</a:t>
            </a:r>
          </a:p>
        </p:txBody>
      </p:sp>
      <p:sp>
        <p:nvSpPr>
          <p:cNvPr id="4" name="TextBox 3"/>
          <p:cNvSpPr txBox="1"/>
          <p:nvPr/>
        </p:nvSpPr>
        <p:spPr>
          <a:xfrm>
            <a:off x="502920" y="822960"/>
            <a:ext cx="7043927" cy="475488"/>
          </a:xfrm>
          <a:prstGeom prst="rect">
            <a:avLst/>
          </a:prstGeom>
          <a:noFill/>
        </p:spPr>
        <p:txBody>
          <a:bodyPr wrap="square" anchor="t" lIns="0" rIns="0" tIns="0" bIns="0"/>
          <a:lstStyle/>
          <a:p>
            <a:pPr algn="l">
              <a:spcBef>
                <a:spcPts val="0"/>
              </a:spcBef>
              <a:spcAft>
                <a:spcPts val="0"/>
              </a:spcAft>
            </a:pPr>
            <a:r>
              <a:rPr sz="1200" b="0" i="0">
                <a:solidFill>
                  <a:srgbClr val="617086"/>
                </a:solidFill>
                <a:latin typeface="Karla"/>
              </a:rPr>
              <a:t>Heard of it, but know little about it favors Vanilla Chocolate Top Left Dark Text Panel; Not familiar at all favors E08 Banana Chocolate Top Left Dark Text Panel; Somewhat familiar favors E08 Banana Chocolate Top Left Dark Text Panel; Very familiar favors E02 Tripple Chocolate Chip Top Left Dark Text Panel.</a:t>
            </a:r>
          </a:p>
        </p:txBody>
      </p:sp>
      <p:sp>
        <p:nvSpPr>
          <p:cNvPr id="5" name="Rectangle 4"/>
          <p:cNvSpPr/>
          <p:nvPr/>
        </p:nvSpPr>
        <p:spPr>
          <a:xfrm>
            <a:off x="502920" y="1335024"/>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E_FLAVOUR</a:t>
            </a:r>
          </a:p>
        </p:txBody>
      </p:sp>
      <p:sp>
        <p:nvSpPr>
          <p:cNvPr id="6" name="Rectangle 5"/>
          <p:cNvSpPr/>
          <p:nvPr/>
        </p:nvSpPr>
        <p:spPr>
          <a:xfrm>
            <a:off x="2167128"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74520"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8" name="TextBox 7"/>
          <p:cNvSpPr txBox="1"/>
          <p:nvPr/>
        </p:nvSpPr>
        <p:spPr>
          <a:xfrm>
            <a:off x="3490975"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9" name="Rectangle 8"/>
          <p:cNvSpPr/>
          <p:nvPr/>
        </p:nvSpPr>
        <p:spPr>
          <a:xfrm>
            <a:off x="5400039"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7431"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11" name="Rectangle 10"/>
          <p:cNvSpPr/>
          <p:nvPr/>
        </p:nvSpPr>
        <p:spPr>
          <a:xfrm>
            <a:off x="7016495"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23887"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3" name="Rectangle 12"/>
          <p:cNvSpPr/>
          <p:nvPr/>
        </p:nvSpPr>
        <p:spPr>
          <a:xfrm>
            <a:off x="3783583" y="1645920"/>
            <a:ext cx="10972" cy="30906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167128" y="4736592"/>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1805940"/>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E03 Tripple</a:t>
            </a:r>
          </a:p>
          <a:p>
            <a:pPr algn="r">
              <a:spcBef>
                <a:spcPts val="0"/>
              </a:spcBef>
              <a:spcAft>
                <a:spcPts val="0"/>
              </a:spcAft>
            </a:pPr>
            <a:r>
              <a:rPr sz="1000" b="0" i="0">
                <a:solidFill>
                  <a:srgbClr val="1E2D44"/>
                </a:solidFill>
                <a:latin typeface="Karla"/>
              </a:rPr>
              <a:t>Chocolate Chip Top…</a:t>
            </a:r>
          </a:p>
        </p:txBody>
      </p:sp>
      <p:sp>
        <p:nvSpPr>
          <p:cNvPr id="16" name="Rectangle 15"/>
          <p:cNvSpPr/>
          <p:nvPr/>
        </p:nvSpPr>
        <p:spPr>
          <a:xfrm>
            <a:off x="3783583" y="1805940"/>
            <a:ext cx="1131519"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969967" y="1805940"/>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+7</a:t>
            </a:r>
          </a:p>
        </p:txBody>
      </p:sp>
      <p:sp>
        <p:nvSpPr>
          <p:cNvPr id="18" name="Rectangle 17"/>
          <p:cNvSpPr/>
          <p:nvPr/>
        </p:nvSpPr>
        <p:spPr>
          <a:xfrm>
            <a:off x="3783583" y="1929384"/>
            <a:ext cx="1293164"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31612" y="1929384"/>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+8</a:t>
            </a:r>
          </a:p>
        </p:txBody>
      </p:sp>
      <p:sp>
        <p:nvSpPr>
          <p:cNvPr id="20" name="Rectangle 19"/>
          <p:cNvSpPr/>
          <p:nvPr/>
        </p:nvSpPr>
        <p:spPr>
          <a:xfrm>
            <a:off x="3783583" y="2052828"/>
            <a:ext cx="1939747"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78194" y="2052828"/>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+12</a:t>
            </a:r>
          </a:p>
        </p:txBody>
      </p:sp>
      <p:sp>
        <p:nvSpPr>
          <p:cNvPr id="22" name="Rectangle 21"/>
          <p:cNvSpPr/>
          <p:nvPr/>
        </p:nvSpPr>
        <p:spPr>
          <a:xfrm>
            <a:off x="3783583" y="2176272"/>
            <a:ext cx="2424683"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63131" y="2176272"/>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+15</a:t>
            </a:r>
          </a:p>
        </p:txBody>
      </p:sp>
      <p:sp>
        <p:nvSpPr>
          <p:cNvPr id="24" name="TextBox 23"/>
          <p:cNvSpPr txBox="1"/>
          <p:nvPr/>
        </p:nvSpPr>
        <p:spPr>
          <a:xfrm>
            <a:off x="502920" y="2578608"/>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E01 Tripple</a:t>
            </a:r>
          </a:p>
          <a:p>
            <a:pPr algn="r">
              <a:spcBef>
                <a:spcPts val="0"/>
              </a:spcBef>
              <a:spcAft>
                <a:spcPts val="0"/>
              </a:spcAft>
            </a:pPr>
            <a:r>
              <a:rPr sz="1000" b="0" i="0">
                <a:solidFill>
                  <a:srgbClr val="1E2D44"/>
                </a:solidFill>
                <a:latin typeface="Karla"/>
              </a:rPr>
              <a:t>Chocolate Chip Top…</a:t>
            </a:r>
          </a:p>
        </p:txBody>
      </p:sp>
      <p:sp>
        <p:nvSpPr>
          <p:cNvPr id="25" name="Rectangle 24"/>
          <p:cNvSpPr/>
          <p:nvPr/>
        </p:nvSpPr>
        <p:spPr>
          <a:xfrm>
            <a:off x="3783583" y="2578608"/>
            <a:ext cx="969873"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08321" y="2578608"/>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+6</a:t>
            </a:r>
          </a:p>
        </p:txBody>
      </p:sp>
      <p:sp>
        <p:nvSpPr>
          <p:cNvPr id="27" name="Rectangle 26"/>
          <p:cNvSpPr/>
          <p:nvPr/>
        </p:nvSpPr>
        <p:spPr>
          <a:xfrm>
            <a:off x="3783583" y="2702052"/>
            <a:ext cx="1293164"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131612" y="2702052"/>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+8</a:t>
            </a:r>
          </a:p>
        </p:txBody>
      </p:sp>
      <p:sp>
        <p:nvSpPr>
          <p:cNvPr id="29" name="Rectangle 28"/>
          <p:cNvSpPr/>
          <p:nvPr/>
        </p:nvSpPr>
        <p:spPr>
          <a:xfrm>
            <a:off x="3783583" y="2825496"/>
            <a:ext cx="2101392"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39840" y="2825496"/>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+13</a:t>
            </a:r>
          </a:p>
        </p:txBody>
      </p:sp>
      <p:sp>
        <p:nvSpPr>
          <p:cNvPr id="31" name="Rectangle 30"/>
          <p:cNvSpPr/>
          <p:nvPr/>
        </p:nvSpPr>
        <p:spPr>
          <a:xfrm>
            <a:off x="3783583" y="2948939"/>
            <a:ext cx="2263038"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101486" y="2948939"/>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+14</a:t>
            </a:r>
          </a:p>
        </p:txBody>
      </p:sp>
      <p:sp>
        <p:nvSpPr>
          <p:cNvPr id="33" name="TextBox 32"/>
          <p:cNvSpPr txBox="1"/>
          <p:nvPr/>
        </p:nvSpPr>
        <p:spPr>
          <a:xfrm>
            <a:off x="502920" y="3351276"/>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E07 Banana Chocolate</a:t>
            </a:r>
          </a:p>
          <a:p>
            <a:pPr algn="r">
              <a:spcBef>
                <a:spcPts val="0"/>
              </a:spcBef>
              <a:spcAft>
                <a:spcPts val="0"/>
              </a:spcAft>
            </a:pPr>
            <a:r>
              <a:rPr sz="1000" b="0" i="0">
                <a:solidFill>
                  <a:srgbClr val="1E2D44"/>
                </a:solidFill>
                <a:latin typeface="Karla"/>
              </a:rPr>
              <a:t>Top Centre Dark Text…</a:t>
            </a:r>
          </a:p>
        </p:txBody>
      </p:sp>
      <p:sp>
        <p:nvSpPr>
          <p:cNvPr id="34" name="Rectangle 33"/>
          <p:cNvSpPr/>
          <p:nvPr/>
        </p:nvSpPr>
        <p:spPr>
          <a:xfrm>
            <a:off x="3783583" y="3351276"/>
            <a:ext cx="646582"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485030" y="3351276"/>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+4</a:t>
            </a:r>
          </a:p>
        </p:txBody>
      </p:sp>
      <p:sp>
        <p:nvSpPr>
          <p:cNvPr id="36" name="Rectangle 35"/>
          <p:cNvSpPr/>
          <p:nvPr/>
        </p:nvSpPr>
        <p:spPr>
          <a:xfrm>
            <a:off x="3783583" y="3474720"/>
            <a:ext cx="646582"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485030" y="3474720"/>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+4</a:t>
            </a:r>
          </a:p>
        </p:txBody>
      </p:sp>
      <p:sp>
        <p:nvSpPr>
          <p:cNvPr id="38" name="Rectangle 37"/>
          <p:cNvSpPr/>
          <p:nvPr/>
        </p:nvSpPr>
        <p:spPr>
          <a:xfrm>
            <a:off x="3783583" y="3598164"/>
            <a:ext cx="1939747"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778194" y="3598164"/>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+12</a:t>
            </a:r>
          </a:p>
        </p:txBody>
      </p:sp>
      <p:sp>
        <p:nvSpPr>
          <p:cNvPr id="40" name="Rectangle 39"/>
          <p:cNvSpPr/>
          <p:nvPr/>
        </p:nvSpPr>
        <p:spPr>
          <a:xfrm>
            <a:off x="3783583" y="3721608"/>
            <a:ext cx="1778101"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616549" y="3721608"/>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+11</a:t>
            </a:r>
          </a:p>
        </p:txBody>
      </p:sp>
      <p:sp>
        <p:nvSpPr>
          <p:cNvPr id="42" name="TextBox 41"/>
          <p:cNvSpPr txBox="1"/>
          <p:nvPr/>
        </p:nvSpPr>
        <p:spPr>
          <a:xfrm>
            <a:off x="502920" y="4123944"/>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E04 Orange Chocolate</a:t>
            </a:r>
          </a:p>
          <a:p>
            <a:pPr algn="r">
              <a:spcBef>
                <a:spcPts val="0"/>
              </a:spcBef>
              <a:spcAft>
                <a:spcPts val="0"/>
              </a:spcAft>
            </a:pPr>
            <a:r>
              <a:rPr sz="1000" b="0" i="0">
                <a:solidFill>
                  <a:srgbClr val="1E2D44"/>
                </a:solidFill>
                <a:latin typeface="Karla"/>
              </a:rPr>
              <a:t>Top Centre Dark Text…</a:t>
            </a:r>
          </a:p>
        </p:txBody>
      </p:sp>
      <p:sp>
        <p:nvSpPr>
          <p:cNvPr id="43" name="Rectangle 42"/>
          <p:cNvSpPr/>
          <p:nvPr/>
        </p:nvSpPr>
        <p:spPr>
          <a:xfrm>
            <a:off x="3621938" y="4123944"/>
            <a:ext cx="161645"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109874" y="4123944"/>
            <a:ext cx="457200" cy="82296"/>
          </a:xfrm>
          <a:prstGeom prst="rect">
            <a:avLst/>
          </a:prstGeom>
          <a:noFill/>
        </p:spPr>
        <p:txBody>
          <a:bodyPr wrap="none" anchor="ctr" lIns="0" rIns="0" tIns="0" bIns="0"/>
          <a:lstStyle/>
          <a:p>
            <a:pPr algn="r">
              <a:spcBef>
                <a:spcPts val="0"/>
              </a:spcBef>
              <a:spcAft>
                <a:spcPts val="0"/>
              </a:spcAft>
            </a:pPr>
            <a:r>
              <a:rPr sz="1000" b="1" i="0">
                <a:solidFill>
                  <a:srgbClr val="1A2332"/>
                </a:solidFill>
                <a:latin typeface="Karla"/>
              </a:rPr>
              <a:t>-1</a:t>
            </a:r>
          </a:p>
        </p:txBody>
      </p:sp>
      <p:sp>
        <p:nvSpPr>
          <p:cNvPr id="45" name="Rectangle 44"/>
          <p:cNvSpPr/>
          <p:nvPr/>
        </p:nvSpPr>
        <p:spPr>
          <a:xfrm>
            <a:off x="3783583" y="4247388"/>
            <a:ext cx="1131519"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969967" y="4247388"/>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+7</a:t>
            </a:r>
          </a:p>
        </p:txBody>
      </p:sp>
      <p:sp>
        <p:nvSpPr>
          <p:cNvPr id="47" name="Rectangle 46"/>
          <p:cNvSpPr/>
          <p:nvPr/>
        </p:nvSpPr>
        <p:spPr>
          <a:xfrm>
            <a:off x="3783583" y="4370831"/>
            <a:ext cx="1616455"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454903" y="4370831"/>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+10</a:t>
            </a:r>
          </a:p>
        </p:txBody>
      </p:sp>
      <p:sp>
        <p:nvSpPr>
          <p:cNvPr id="49" name="Rectangle 48"/>
          <p:cNvSpPr/>
          <p:nvPr/>
        </p:nvSpPr>
        <p:spPr>
          <a:xfrm>
            <a:off x="3783583" y="4494276"/>
            <a:ext cx="1616455"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454903" y="4494276"/>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+10</a:t>
            </a:r>
          </a:p>
        </p:txBody>
      </p:sp>
      <p:sp>
        <p:nvSpPr>
          <p:cNvPr id="51" name="Rectangle 50"/>
          <p:cNvSpPr/>
          <p:nvPr/>
        </p:nvSpPr>
        <p:spPr>
          <a:xfrm>
            <a:off x="684783" y="5161788"/>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58519" y="5102352"/>
            <a:ext cx="376936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Heard of it, but know little about it (basesize = 22)</a:t>
            </a:r>
          </a:p>
        </p:txBody>
      </p:sp>
      <p:sp>
        <p:nvSpPr>
          <p:cNvPr id="53" name="Rectangle 52"/>
          <p:cNvSpPr/>
          <p:nvPr/>
        </p:nvSpPr>
        <p:spPr>
          <a:xfrm>
            <a:off x="4883911" y="5161788"/>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057647" y="5102352"/>
            <a:ext cx="248920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Not familiar at all (basesize = 25)</a:t>
            </a:r>
          </a:p>
        </p:txBody>
      </p:sp>
      <p:sp>
        <p:nvSpPr>
          <p:cNvPr id="55" name="Rectangle 54"/>
          <p:cNvSpPr/>
          <p:nvPr/>
        </p:nvSpPr>
        <p:spPr>
          <a:xfrm>
            <a:off x="2085339" y="5381244"/>
            <a:ext cx="100584" cy="10058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259075" y="5321808"/>
            <a:ext cx="234696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Somewhat familiar (basesize = 49)</a:t>
            </a:r>
          </a:p>
        </p:txBody>
      </p:sp>
      <p:sp>
        <p:nvSpPr>
          <p:cNvPr id="57" name="Rectangle 56"/>
          <p:cNvSpPr/>
          <p:nvPr/>
        </p:nvSpPr>
        <p:spPr>
          <a:xfrm>
            <a:off x="4862067" y="5381244"/>
            <a:ext cx="100584" cy="100584"/>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035803" y="5321808"/>
            <a:ext cx="206248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Very familiar (basesize = 54)</a:t>
            </a:r>
          </a:p>
        </p:txBody>
      </p:sp>
      <p:sp>
        <p:nvSpPr>
          <p:cNvPr id="59" name="Rounded Rectangle 58"/>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7935467" y="618001"/>
            <a:ext cx="1709927" cy="132431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1" name="Picture 60" descr="E3.png"/>
          <p:cNvPicPr>
            <a:picLocks noChangeAspect="1"/>
          </p:cNvPicPr>
          <p:nvPr/>
        </p:nvPicPr>
        <p:blipFill>
          <a:blip r:embed="rId2"/>
          <a:stretch>
            <a:fillRect/>
          </a:stretch>
        </p:blipFill>
        <p:spPr>
          <a:xfrm>
            <a:off x="7949183" y="631717"/>
            <a:ext cx="1682495" cy="1296884"/>
          </a:xfrm>
          <a:prstGeom prst="rect">
            <a:avLst/>
          </a:prstGeom>
        </p:spPr>
      </p:pic>
      <p:sp>
        <p:nvSpPr>
          <p:cNvPr id="62" name="TextBox 61"/>
          <p:cNvSpPr txBox="1"/>
          <p:nvPr/>
        </p:nvSpPr>
        <p:spPr>
          <a:xfrm>
            <a:off x="7912607" y="1983466"/>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E03 Tripple</a:t>
            </a:r>
          </a:p>
          <a:p>
            <a:pPr algn="ctr">
              <a:spcBef>
                <a:spcPts val="0"/>
              </a:spcBef>
              <a:spcAft>
                <a:spcPts val="0"/>
              </a:spcAft>
            </a:pPr>
            <a:r>
              <a:rPr sz="1200" b="0" i="0">
                <a:solidFill>
                  <a:srgbClr val="1E2D44"/>
                </a:solidFill>
                <a:latin typeface="Karla"/>
              </a:rPr>
              <a:t>Chocolate Chip Top…</a:t>
            </a:r>
          </a:p>
        </p:txBody>
      </p:sp>
      <p:sp>
        <p:nvSpPr>
          <p:cNvPr id="63" name="TextBox 62"/>
          <p:cNvSpPr txBox="1"/>
          <p:nvPr/>
        </p:nvSpPr>
        <p:spPr>
          <a:xfrm>
            <a:off x="7912607" y="2349226"/>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+10*</a:t>
            </a:r>
          </a:p>
        </p:txBody>
      </p:sp>
      <p:sp>
        <p:nvSpPr>
          <p:cNvPr id="64" name="Rectangle 63"/>
          <p:cNvSpPr/>
          <p:nvPr/>
        </p:nvSpPr>
        <p:spPr>
          <a:xfrm>
            <a:off x="9855707" y="618001"/>
            <a:ext cx="1709927" cy="132431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5" name="Picture 64" descr="E1.png"/>
          <p:cNvPicPr>
            <a:picLocks noChangeAspect="1"/>
          </p:cNvPicPr>
          <p:nvPr/>
        </p:nvPicPr>
        <p:blipFill>
          <a:blip r:embed="rId3"/>
          <a:stretch>
            <a:fillRect/>
          </a:stretch>
        </p:blipFill>
        <p:spPr>
          <a:xfrm>
            <a:off x="9869423" y="631717"/>
            <a:ext cx="1682495" cy="1296884"/>
          </a:xfrm>
          <a:prstGeom prst="rect">
            <a:avLst/>
          </a:prstGeom>
        </p:spPr>
      </p:pic>
      <p:sp>
        <p:nvSpPr>
          <p:cNvPr id="66" name="TextBox 65"/>
          <p:cNvSpPr txBox="1"/>
          <p:nvPr/>
        </p:nvSpPr>
        <p:spPr>
          <a:xfrm>
            <a:off x="9832847" y="1983466"/>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E01 Tripple</a:t>
            </a:r>
          </a:p>
          <a:p>
            <a:pPr algn="ctr">
              <a:spcBef>
                <a:spcPts val="0"/>
              </a:spcBef>
              <a:spcAft>
                <a:spcPts val="0"/>
              </a:spcAft>
            </a:pPr>
            <a:r>
              <a:rPr sz="1200" b="0" i="0">
                <a:solidFill>
                  <a:srgbClr val="1E2D44"/>
                </a:solidFill>
                <a:latin typeface="Karla"/>
              </a:rPr>
              <a:t>Chocolate Chip Top…</a:t>
            </a:r>
          </a:p>
        </p:txBody>
      </p:sp>
      <p:sp>
        <p:nvSpPr>
          <p:cNvPr id="67" name="TextBox 66"/>
          <p:cNvSpPr txBox="1"/>
          <p:nvPr/>
        </p:nvSpPr>
        <p:spPr>
          <a:xfrm>
            <a:off x="9832847" y="2349226"/>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+10*</a:t>
            </a:r>
          </a:p>
        </p:txBody>
      </p:sp>
      <p:sp>
        <p:nvSpPr>
          <p:cNvPr id="68" name="Rectangle 67"/>
          <p:cNvSpPr/>
          <p:nvPr/>
        </p:nvSpPr>
        <p:spPr>
          <a:xfrm>
            <a:off x="7935467" y="3178321"/>
            <a:ext cx="1709927" cy="132431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9" name="Picture 68" descr="E7.png"/>
          <p:cNvPicPr>
            <a:picLocks noChangeAspect="1"/>
          </p:cNvPicPr>
          <p:nvPr/>
        </p:nvPicPr>
        <p:blipFill>
          <a:blip r:embed="rId4"/>
          <a:stretch>
            <a:fillRect/>
          </a:stretch>
        </p:blipFill>
        <p:spPr>
          <a:xfrm>
            <a:off x="7949183" y="3192037"/>
            <a:ext cx="1682495" cy="1296884"/>
          </a:xfrm>
          <a:prstGeom prst="rect">
            <a:avLst/>
          </a:prstGeom>
        </p:spPr>
      </p:pic>
      <p:sp>
        <p:nvSpPr>
          <p:cNvPr id="70" name="TextBox 69"/>
          <p:cNvSpPr txBox="1"/>
          <p:nvPr/>
        </p:nvSpPr>
        <p:spPr>
          <a:xfrm>
            <a:off x="7912607" y="4543786"/>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E07 Banana</a:t>
            </a:r>
          </a:p>
          <a:p>
            <a:pPr algn="ctr">
              <a:spcBef>
                <a:spcPts val="0"/>
              </a:spcBef>
              <a:spcAft>
                <a:spcPts val="0"/>
              </a:spcAft>
            </a:pPr>
            <a:r>
              <a:rPr sz="1200" b="0" i="0">
                <a:solidFill>
                  <a:srgbClr val="1E2D44"/>
                </a:solidFill>
                <a:latin typeface="Karla"/>
              </a:rPr>
              <a:t>Chocolate Top…</a:t>
            </a:r>
          </a:p>
        </p:txBody>
      </p:sp>
      <p:sp>
        <p:nvSpPr>
          <p:cNvPr id="71" name="TextBox 70"/>
          <p:cNvSpPr txBox="1"/>
          <p:nvPr/>
        </p:nvSpPr>
        <p:spPr>
          <a:xfrm>
            <a:off x="7912607" y="4909546"/>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+8*</a:t>
            </a:r>
          </a:p>
        </p:txBody>
      </p:sp>
      <p:sp>
        <p:nvSpPr>
          <p:cNvPr id="72" name="Rectangle 71"/>
          <p:cNvSpPr/>
          <p:nvPr/>
        </p:nvSpPr>
        <p:spPr>
          <a:xfrm>
            <a:off x="9855707" y="3178321"/>
            <a:ext cx="1709927" cy="132431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3" name="Picture 72" descr="E4.png"/>
          <p:cNvPicPr>
            <a:picLocks noChangeAspect="1"/>
          </p:cNvPicPr>
          <p:nvPr/>
        </p:nvPicPr>
        <p:blipFill>
          <a:blip r:embed="rId5"/>
          <a:stretch>
            <a:fillRect/>
          </a:stretch>
        </p:blipFill>
        <p:spPr>
          <a:xfrm>
            <a:off x="9869423" y="3192037"/>
            <a:ext cx="1682495" cy="1296884"/>
          </a:xfrm>
          <a:prstGeom prst="rect">
            <a:avLst/>
          </a:prstGeom>
        </p:spPr>
      </p:pic>
      <p:sp>
        <p:nvSpPr>
          <p:cNvPr id="74" name="TextBox 73"/>
          <p:cNvSpPr txBox="1"/>
          <p:nvPr/>
        </p:nvSpPr>
        <p:spPr>
          <a:xfrm>
            <a:off x="9832847" y="4543786"/>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E04 Orange</a:t>
            </a:r>
          </a:p>
          <a:p>
            <a:pPr algn="ctr">
              <a:spcBef>
                <a:spcPts val="0"/>
              </a:spcBef>
              <a:spcAft>
                <a:spcPts val="0"/>
              </a:spcAft>
            </a:pPr>
            <a:r>
              <a:rPr sz="1200" b="0" i="0">
                <a:solidFill>
                  <a:srgbClr val="1E2D44"/>
                </a:solidFill>
                <a:latin typeface="Karla"/>
              </a:rPr>
              <a:t>Chocolate Top…</a:t>
            </a:r>
          </a:p>
        </p:txBody>
      </p:sp>
      <p:sp>
        <p:nvSpPr>
          <p:cNvPr id="75" name="TextBox 74"/>
          <p:cNvSpPr txBox="1"/>
          <p:nvPr/>
        </p:nvSpPr>
        <p:spPr>
          <a:xfrm>
            <a:off x="9832847" y="4909546"/>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+6*</a:t>
            </a:r>
          </a:p>
        </p:txBody>
      </p:sp>
      <p:sp>
        <p:nvSpPr>
          <p:cNvPr id="76" name="Rounded Rectangle 75"/>
          <p:cNvSpPr/>
          <p:nvPr/>
        </p:nvSpPr>
        <p:spPr>
          <a:xfrm>
            <a:off x="502920" y="5632704"/>
            <a:ext cx="11268455" cy="676656"/>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200" b="0">
                <a:solidFill>
                  <a:srgbClr val="1E2D44"/>
                </a:solidFill>
                <a:latin typeface="Karla"/>
              </a:rPr>
              <a:t>Heard of it, but know little about it favors Vanilla Chocolate Top Left Dark Text Panel; Not familiar at all favors E08 Banana Chocolate Top Left Dark Text Panel; Somewhat familiar favors E08 Banana Chocolate Top Left Dark Text Panel; Very familiar favors E02 Tripple Chocolate Chip Top Left Dark Text Panel. The widest segment gap is E08 Banana Chocolate Top Left Dark Text Panel: +1 heard of it, but know little about it / +18 not familiar at all / +31 somewhat familiar / +27 very familiar.</a:t>
            </a:r>
          </a:p>
        </p:txBody>
      </p:sp>
      <p:sp>
        <p:nvSpPr>
          <p:cNvPr id="77" name="Rectangle 76"/>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Top-2 scores rounded to whole points. *Average of the groups in the legend.</a:t>
            </a:r>
          </a:p>
        </p:txBody>
      </p:sp>
      <p:sp>
        <p:nvSpPr>
          <p:cNvPr id="79" name="TextBox 78"/>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37744"/>
            <a:ext cx="7043927" cy="182880"/>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KEY FINDINGS: E_FLAVOUR  ·  How often do you purchase Fitspo products?   ·   1 of 3</a:t>
            </a:r>
          </a:p>
        </p:txBody>
      </p:sp>
      <p:sp>
        <p:nvSpPr>
          <p:cNvPr id="3" name="TextBox 2"/>
          <p:cNvSpPr txBox="1"/>
          <p:nvPr/>
        </p:nvSpPr>
        <p:spPr>
          <a:xfrm>
            <a:off x="502920" y="438912"/>
            <a:ext cx="7043927" cy="365760"/>
          </a:xfrm>
          <a:prstGeom prst="rect">
            <a:avLst/>
          </a:prstGeom>
          <a:noFill/>
        </p:spPr>
        <p:txBody>
          <a:bodyPr wrap="square" anchor="t" lIns="0" rIns="0" tIns="0" bIns="0"/>
          <a:lstStyle/>
          <a:p>
            <a:pPr algn="l">
              <a:spcBef>
                <a:spcPts val="0"/>
              </a:spcBef>
              <a:spcAft>
                <a:spcPts val="0"/>
              </a:spcAft>
            </a:pPr>
            <a:r>
              <a:rPr sz="2600" b="1" i="0">
                <a:solidFill>
                  <a:srgbClr val="1E2D44"/>
                </a:solidFill>
                <a:latin typeface="Karla"/>
              </a:rPr>
              <a:t>E_Flavour splits across the groups</a:t>
            </a:r>
          </a:p>
        </p:txBody>
      </p:sp>
      <p:sp>
        <p:nvSpPr>
          <p:cNvPr id="4" name="TextBox 3"/>
          <p:cNvSpPr txBox="1"/>
          <p:nvPr/>
        </p:nvSpPr>
        <p:spPr>
          <a:xfrm>
            <a:off x="502920" y="822960"/>
            <a:ext cx="7043927" cy="475488"/>
          </a:xfrm>
          <a:prstGeom prst="rect">
            <a:avLst/>
          </a:prstGeom>
          <a:noFill/>
        </p:spPr>
        <p:txBody>
          <a:bodyPr wrap="square" anchor="t" lIns="0" rIns="0" tIns="0" bIns="0"/>
          <a:lstStyle/>
          <a:p>
            <a:pPr algn="l">
              <a:spcBef>
                <a:spcPts val="0"/>
              </a:spcBef>
              <a:spcAft>
                <a:spcPts val="0"/>
              </a:spcAft>
            </a:pPr>
            <a:r>
              <a:rPr sz="1200" b="0" i="0">
                <a:solidFill>
                  <a:srgbClr val="617086"/>
                </a:solidFill>
                <a:latin typeface="Karla"/>
              </a:rPr>
              <a:t>Have never purchased Fitspo products favor E02 Tripple Chocolate Chip Top Left Dark Text Panel; Have purchased in the past, but not currently favors E08 Banana Chocolate Top Left Dark Text Panel; Occasionally favors E08 Banana Chocolate Top Left Dark Text Panel; Regularly favors Vanilla Chocolate Top Left Dark Text Panel.</a:t>
            </a:r>
          </a:p>
        </p:txBody>
      </p:sp>
      <p:sp>
        <p:nvSpPr>
          <p:cNvPr id="5" name="Rectangle 4"/>
          <p:cNvSpPr/>
          <p:nvPr/>
        </p:nvSpPr>
        <p:spPr>
          <a:xfrm>
            <a:off x="502920" y="1335024"/>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E_FLAVOUR</a:t>
            </a:r>
          </a:p>
        </p:txBody>
      </p:sp>
      <p:sp>
        <p:nvSpPr>
          <p:cNvPr id="6" name="TextBox 5"/>
          <p:cNvSpPr txBox="1"/>
          <p:nvPr/>
        </p:nvSpPr>
        <p:spPr>
          <a:xfrm>
            <a:off x="1874520"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7" name="Rectangle 6"/>
          <p:cNvSpPr/>
          <p:nvPr/>
        </p:nvSpPr>
        <p:spPr>
          <a:xfrm>
            <a:off x="3379469"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86861"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9" name="Rectangle 8"/>
          <p:cNvSpPr/>
          <p:nvPr/>
        </p:nvSpPr>
        <p:spPr>
          <a:xfrm>
            <a:off x="4591811"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9203"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1" name="Rectangle 10"/>
          <p:cNvSpPr/>
          <p:nvPr/>
        </p:nvSpPr>
        <p:spPr>
          <a:xfrm>
            <a:off x="5804153"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11545"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30</a:t>
            </a:r>
          </a:p>
        </p:txBody>
      </p:sp>
      <p:sp>
        <p:nvSpPr>
          <p:cNvPr id="13" name="Rectangle 12"/>
          <p:cNvSpPr/>
          <p:nvPr/>
        </p:nvSpPr>
        <p:spPr>
          <a:xfrm>
            <a:off x="7016495"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23887"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40</a:t>
            </a:r>
          </a:p>
        </p:txBody>
      </p:sp>
      <p:sp>
        <p:nvSpPr>
          <p:cNvPr id="15" name="Rectangle 14"/>
          <p:cNvSpPr/>
          <p:nvPr/>
        </p:nvSpPr>
        <p:spPr>
          <a:xfrm>
            <a:off x="2167128" y="1645920"/>
            <a:ext cx="10972" cy="2871215"/>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167128" y="4517136"/>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1778508"/>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E08 Banana Chocolate</a:t>
            </a:r>
          </a:p>
          <a:p>
            <a:pPr algn="r">
              <a:spcBef>
                <a:spcPts val="0"/>
              </a:spcBef>
              <a:spcAft>
                <a:spcPts val="0"/>
              </a:spcAft>
            </a:pPr>
            <a:r>
              <a:rPr sz="1000" b="0" i="0">
                <a:solidFill>
                  <a:srgbClr val="1E2D44"/>
                </a:solidFill>
                <a:latin typeface="Karla"/>
              </a:rPr>
              <a:t>Top Left Dark Text…</a:t>
            </a:r>
          </a:p>
        </p:txBody>
      </p:sp>
      <p:sp>
        <p:nvSpPr>
          <p:cNvPr id="18" name="Rectangle 17"/>
          <p:cNvSpPr/>
          <p:nvPr/>
        </p:nvSpPr>
        <p:spPr>
          <a:xfrm>
            <a:off x="2167128" y="1778508"/>
            <a:ext cx="1454810"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76802" y="1778508"/>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+12</a:t>
            </a:r>
          </a:p>
        </p:txBody>
      </p:sp>
      <p:sp>
        <p:nvSpPr>
          <p:cNvPr id="20" name="Rectangle 19"/>
          <p:cNvSpPr/>
          <p:nvPr/>
        </p:nvSpPr>
        <p:spPr>
          <a:xfrm>
            <a:off x="2167128" y="1901952"/>
            <a:ext cx="4485665"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07657" y="1901952"/>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+37</a:t>
            </a:r>
          </a:p>
        </p:txBody>
      </p:sp>
      <p:sp>
        <p:nvSpPr>
          <p:cNvPr id="22" name="Rectangle 21"/>
          <p:cNvSpPr/>
          <p:nvPr/>
        </p:nvSpPr>
        <p:spPr>
          <a:xfrm>
            <a:off x="2167128" y="2025395"/>
            <a:ext cx="3030854"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52846" y="2025395"/>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+25</a:t>
            </a:r>
          </a:p>
        </p:txBody>
      </p:sp>
      <p:sp>
        <p:nvSpPr>
          <p:cNvPr id="24" name="Rectangle 23"/>
          <p:cNvSpPr/>
          <p:nvPr/>
        </p:nvSpPr>
        <p:spPr>
          <a:xfrm>
            <a:off x="2167128" y="2148840"/>
            <a:ext cx="3152089"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374081" y="2148840"/>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+26</a:t>
            </a:r>
          </a:p>
        </p:txBody>
      </p:sp>
      <p:sp>
        <p:nvSpPr>
          <p:cNvPr id="26" name="TextBox 25"/>
          <p:cNvSpPr txBox="1"/>
          <p:nvPr/>
        </p:nvSpPr>
        <p:spPr>
          <a:xfrm>
            <a:off x="502920" y="2496312"/>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E02 Tripple</a:t>
            </a:r>
          </a:p>
          <a:p>
            <a:pPr algn="r">
              <a:spcBef>
                <a:spcPts val="0"/>
              </a:spcBef>
              <a:spcAft>
                <a:spcPts val="0"/>
              </a:spcAft>
            </a:pPr>
            <a:r>
              <a:rPr sz="1000" b="0" i="0">
                <a:solidFill>
                  <a:srgbClr val="1E2D44"/>
                </a:solidFill>
                <a:latin typeface="Karla"/>
              </a:rPr>
              <a:t>Chocolate Chip Top…</a:t>
            </a:r>
          </a:p>
        </p:txBody>
      </p:sp>
      <p:sp>
        <p:nvSpPr>
          <p:cNvPr id="27" name="Rectangle 26"/>
          <p:cNvSpPr/>
          <p:nvPr/>
        </p:nvSpPr>
        <p:spPr>
          <a:xfrm>
            <a:off x="2167128" y="2496312"/>
            <a:ext cx="1939747"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161739" y="2496312"/>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+16</a:t>
            </a:r>
          </a:p>
        </p:txBody>
      </p:sp>
      <p:sp>
        <p:nvSpPr>
          <p:cNvPr id="29" name="Rectangle 28"/>
          <p:cNvSpPr/>
          <p:nvPr/>
        </p:nvSpPr>
        <p:spPr>
          <a:xfrm>
            <a:off x="2167128" y="2619756"/>
            <a:ext cx="4121962"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43954" y="2619756"/>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+34</a:t>
            </a:r>
          </a:p>
        </p:txBody>
      </p:sp>
      <p:sp>
        <p:nvSpPr>
          <p:cNvPr id="31" name="Rectangle 30"/>
          <p:cNvSpPr/>
          <p:nvPr/>
        </p:nvSpPr>
        <p:spPr>
          <a:xfrm>
            <a:off x="2167128" y="2743200"/>
            <a:ext cx="2788386"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10378" y="2743200"/>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+23</a:t>
            </a:r>
          </a:p>
        </p:txBody>
      </p:sp>
      <p:sp>
        <p:nvSpPr>
          <p:cNvPr id="33" name="Rectangle 32"/>
          <p:cNvSpPr/>
          <p:nvPr/>
        </p:nvSpPr>
        <p:spPr>
          <a:xfrm>
            <a:off x="2167128" y="2866644"/>
            <a:ext cx="2788386"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10378" y="2866644"/>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+23</a:t>
            </a:r>
          </a:p>
        </p:txBody>
      </p:sp>
      <p:sp>
        <p:nvSpPr>
          <p:cNvPr id="35" name="TextBox 34"/>
          <p:cNvSpPr txBox="1"/>
          <p:nvPr/>
        </p:nvSpPr>
        <p:spPr>
          <a:xfrm>
            <a:off x="502920" y="3214116"/>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Vanilla Chocolate</a:t>
            </a:r>
          </a:p>
          <a:p>
            <a:pPr algn="r">
              <a:spcBef>
                <a:spcPts val="0"/>
              </a:spcBef>
              <a:spcAft>
                <a:spcPts val="0"/>
              </a:spcAft>
            </a:pPr>
            <a:r>
              <a:rPr sz="1000" b="0" i="0">
                <a:solidFill>
                  <a:srgbClr val="1E2D44"/>
                </a:solidFill>
                <a:latin typeface="Karla"/>
              </a:rPr>
              <a:t>Top Left Dark Text…</a:t>
            </a:r>
          </a:p>
        </p:txBody>
      </p:sp>
      <p:sp>
        <p:nvSpPr>
          <p:cNvPr id="36" name="Rectangle 35"/>
          <p:cNvSpPr/>
          <p:nvPr/>
        </p:nvSpPr>
        <p:spPr>
          <a:xfrm>
            <a:off x="2167128" y="3214116"/>
            <a:ext cx="1454810"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676802" y="3214116"/>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+12</a:t>
            </a:r>
          </a:p>
        </p:txBody>
      </p:sp>
      <p:sp>
        <p:nvSpPr>
          <p:cNvPr id="38" name="Rectangle 37"/>
          <p:cNvSpPr/>
          <p:nvPr/>
        </p:nvSpPr>
        <p:spPr>
          <a:xfrm>
            <a:off x="2167128" y="3337560"/>
            <a:ext cx="3758259"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980251" y="3337560"/>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+31</a:t>
            </a:r>
          </a:p>
        </p:txBody>
      </p:sp>
      <p:sp>
        <p:nvSpPr>
          <p:cNvPr id="40" name="Rectangle 39"/>
          <p:cNvSpPr/>
          <p:nvPr/>
        </p:nvSpPr>
        <p:spPr>
          <a:xfrm>
            <a:off x="2167128" y="3461004"/>
            <a:ext cx="2909620"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131612" y="3461004"/>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+24</a:t>
            </a:r>
          </a:p>
        </p:txBody>
      </p:sp>
      <p:sp>
        <p:nvSpPr>
          <p:cNvPr id="42" name="Rectangle 41"/>
          <p:cNvSpPr/>
          <p:nvPr/>
        </p:nvSpPr>
        <p:spPr>
          <a:xfrm>
            <a:off x="2167128" y="3584448"/>
            <a:ext cx="3515791"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737783" y="3584448"/>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+29</a:t>
            </a:r>
          </a:p>
        </p:txBody>
      </p:sp>
      <p:sp>
        <p:nvSpPr>
          <p:cNvPr id="44" name="TextBox 43"/>
          <p:cNvSpPr txBox="1"/>
          <p:nvPr/>
        </p:nvSpPr>
        <p:spPr>
          <a:xfrm>
            <a:off x="502920" y="3931919"/>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E05 Orange Chocolate</a:t>
            </a:r>
          </a:p>
          <a:p>
            <a:pPr algn="r">
              <a:spcBef>
                <a:spcPts val="0"/>
              </a:spcBef>
              <a:spcAft>
                <a:spcPts val="0"/>
              </a:spcAft>
            </a:pPr>
            <a:r>
              <a:rPr sz="1000" b="0" i="0">
                <a:solidFill>
                  <a:srgbClr val="1E2D44"/>
                </a:solidFill>
                <a:latin typeface="Karla"/>
              </a:rPr>
              <a:t>Top Left Dark Text…</a:t>
            </a:r>
          </a:p>
        </p:txBody>
      </p:sp>
      <p:sp>
        <p:nvSpPr>
          <p:cNvPr id="45" name="Rectangle 44"/>
          <p:cNvSpPr/>
          <p:nvPr/>
        </p:nvSpPr>
        <p:spPr>
          <a:xfrm>
            <a:off x="2167128" y="3931919"/>
            <a:ext cx="848639"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070631" y="3931919"/>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+7</a:t>
            </a:r>
          </a:p>
        </p:txBody>
      </p:sp>
      <p:sp>
        <p:nvSpPr>
          <p:cNvPr id="47" name="Rectangle 46"/>
          <p:cNvSpPr/>
          <p:nvPr/>
        </p:nvSpPr>
        <p:spPr>
          <a:xfrm>
            <a:off x="2167128" y="4055363"/>
            <a:ext cx="2909620"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131612" y="4055363"/>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+24</a:t>
            </a:r>
          </a:p>
        </p:txBody>
      </p:sp>
      <p:sp>
        <p:nvSpPr>
          <p:cNvPr id="49" name="Rectangle 48"/>
          <p:cNvSpPr/>
          <p:nvPr/>
        </p:nvSpPr>
        <p:spPr>
          <a:xfrm>
            <a:off x="2167128" y="4178807"/>
            <a:ext cx="1818512"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040504" y="4178807"/>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+15</a:t>
            </a:r>
          </a:p>
        </p:txBody>
      </p:sp>
      <p:sp>
        <p:nvSpPr>
          <p:cNvPr id="51" name="Rectangle 50"/>
          <p:cNvSpPr/>
          <p:nvPr/>
        </p:nvSpPr>
        <p:spPr>
          <a:xfrm>
            <a:off x="2167128" y="4302251"/>
            <a:ext cx="3273323"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495315" y="4302251"/>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+27</a:t>
            </a:r>
          </a:p>
        </p:txBody>
      </p:sp>
      <p:sp>
        <p:nvSpPr>
          <p:cNvPr id="53" name="Rectangle 52"/>
          <p:cNvSpPr/>
          <p:nvPr/>
        </p:nvSpPr>
        <p:spPr>
          <a:xfrm>
            <a:off x="2655823" y="4942332"/>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2829559" y="4882896"/>
            <a:ext cx="369824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Have never purchased Fitspo products (basesize = 37)</a:t>
            </a:r>
          </a:p>
        </p:txBody>
      </p:sp>
      <p:sp>
        <p:nvSpPr>
          <p:cNvPr id="55" name="Rectangle 54"/>
          <p:cNvSpPr/>
          <p:nvPr/>
        </p:nvSpPr>
        <p:spPr>
          <a:xfrm>
            <a:off x="613663" y="5161788"/>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87399" y="5102352"/>
            <a:ext cx="433832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Have purchased in the past, but not currently (basesize = 12)</a:t>
            </a:r>
          </a:p>
        </p:txBody>
      </p:sp>
      <p:sp>
        <p:nvSpPr>
          <p:cNvPr id="57" name="Rectangle 56"/>
          <p:cNvSpPr/>
          <p:nvPr/>
        </p:nvSpPr>
        <p:spPr>
          <a:xfrm>
            <a:off x="5381751" y="5161788"/>
            <a:ext cx="100584" cy="10058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555487" y="5102352"/>
            <a:ext cx="199136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Occasionally (basesize = 56)</a:t>
            </a:r>
          </a:p>
        </p:txBody>
      </p:sp>
      <p:sp>
        <p:nvSpPr>
          <p:cNvPr id="59" name="Rectangle 58"/>
          <p:cNvSpPr/>
          <p:nvPr/>
        </p:nvSpPr>
        <p:spPr>
          <a:xfrm>
            <a:off x="3615943" y="5381244"/>
            <a:ext cx="100584" cy="100584"/>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789679" y="5321808"/>
            <a:ext cx="177800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Regularly (basesize = 45)</a:t>
            </a:r>
          </a:p>
        </p:txBody>
      </p:sp>
      <p:sp>
        <p:nvSpPr>
          <p:cNvPr id="61" name="Rounded Rectangle 60"/>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7935467" y="618001"/>
            <a:ext cx="1709927" cy="132431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3" name="Picture 62" descr="E8.png"/>
          <p:cNvPicPr>
            <a:picLocks noChangeAspect="1"/>
          </p:cNvPicPr>
          <p:nvPr/>
        </p:nvPicPr>
        <p:blipFill>
          <a:blip r:embed="rId2"/>
          <a:stretch>
            <a:fillRect/>
          </a:stretch>
        </p:blipFill>
        <p:spPr>
          <a:xfrm>
            <a:off x="7949183" y="631717"/>
            <a:ext cx="1682495" cy="1296884"/>
          </a:xfrm>
          <a:prstGeom prst="rect">
            <a:avLst/>
          </a:prstGeom>
        </p:spPr>
      </p:pic>
      <p:sp>
        <p:nvSpPr>
          <p:cNvPr id="64" name="TextBox 63"/>
          <p:cNvSpPr txBox="1"/>
          <p:nvPr/>
        </p:nvSpPr>
        <p:spPr>
          <a:xfrm>
            <a:off x="7912607" y="1983466"/>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E08 Banana</a:t>
            </a:r>
          </a:p>
          <a:p>
            <a:pPr algn="ctr">
              <a:spcBef>
                <a:spcPts val="0"/>
              </a:spcBef>
              <a:spcAft>
                <a:spcPts val="0"/>
              </a:spcAft>
            </a:pPr>
            <a:r>
              <a:rPr sz="1200" b="0" i="0">
                <a:solidFill>
                  <a:srgbClr val="1E2D44"/>
                </a:solidFill>
                <a:latin typeface="Karla"/>
              </a:rPr>
              <a:t>Chocolate Top Left…</a:t>
            </a:r>
          </a:p>
        </p:txBody>
      </p:sp>
      <p:sp>
        <p:nvSpPr>
          <p:cNvPr id="65" name="TextBox 64"/>
          <p:cNvSpPr txBox="1"/>
          <p:nvPr/>
        </p:nvSpPr>
        <p:spPr>
          <a:xfrm>
            <a:off x="7912607" y="2349226"/>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+25*</a:t>
            </a:r>
          </a:p>
        </p:txBody>
      </p:sp>
      <p:sp>
        <p:nvSpPr>
          <p:cNvPr id="66" name="Rectangle 65"/>
          <p:cNvSpPr/>
          <p:nvPr/>
        </p:nvSpPr>
        <p:spPr>
          <a:xfrm>
            <a:off x="9855707" y="618001"/>
            <a:ext cx="1709927" cy="132431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7" name="Picture 66" descr="E2.png"/>
          <p:cNvPicPr>
            <a:picLocks noChangeAspect="1"/>
          </p:cNvPicPr>
          <p:nvPr/>
        </p:nvPicPr>
        <p:blipFill>
          <a:blip r:embed="rId3"/>
          <a:stretch>
            <a:fillRect/>
          </a:stretch>
        </p:blipFill>
        <p:spPr>
          <a:xfrm>
            <a:off x="9869423" y="631717"/>
            <a:ext cx="1682495" cy="1296884"/>
          </a:xfrm>
          <a:prstGeom prst="rect">
            <a:avLst/>
          </a:prstGeom>
        </p:spPr>
      </p:pic>
      <p:sp>
        <p:nvSpPr>
          <p:cNvPr id="68" name="TextBox 67"/>
          <p:cNvSpPr txBox="1"/>
          <p:nvPr/>
        </p:nvSpPr>
        <p:spPr>
          <a:xfrm>
            <a:off x="9832847" y="1983466"/>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E02 Tripple</a:t>
            </a:r>
          </a:p>
          <a:p>
            <a:pPr algn="ctr">
              <a:spcBef>
                <a:spcPts val="0"/>
              </a:spcBef>
              <a:spcAft>
                <a:spcPts val="0"/>
              </a:spcAft>
            </a:pPr>
            <a:r>
              <a:rPr sz="1200" b="0" i="0">
                <a:solidFill>
                  <a:srgbClr val="1E2D44"/>
                </a:solidFill>
                <a:latin typeface="Karla"/>
              </a:rPr>
              <a:t>Chocolate Chip Top…</a:t>
            </a:r>
          </a:p>
        </p:txBody>
      </p:sp>
      <p:sp>
        <p:nvSpPr>
          <p:cNvPr id="69" name="TextBox 68"/>
          <p:cNvSpPr txBox="1"/>
          <p:nvPr/>
        </p:nvSpPr>
        <p:spPr>
          <a:xfrm>
            <a:off x="9832847" y="2349226"/>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+24*</a:t>
            </a:r>
          </a:p>
        </p:txBody>
      </p:sp>
      <p:sp>
        <p:nvSpPr>
          <p:cNvPr id="70" name="Rectangle 69"/>
          <p:cNvSpPr/>
          <p:nvPr/>
        </p:nvSpPr>
        <p:spPr>
          <a:xfrm>
            <a:off x="7935467" y="3178321"/>
            <a:ext cx="1709927" cy="132431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1" name="Picture 70" descr="E11.png"/>
          <p:cNvPicPr>
            <a:picLocks noChangeAspect="1"/>
          </p:cNvPicPr>
          <p:nvPr/>
        </p:nvPicPr>
        <p:blipFill>
          <a:blip r:embed="rId4"/>
          <a:stretch>
            <a:fillRect/>
          </a:stretch>
        </p:blipFill>
        <p:spPr>
          <a:xfrm>
            <a:off x="7949183" y="3192037"/>
            <a:ext cx="1682495" cy="1296884"/>
          </a:xfrm>
          <a:prstGeom prst="rect">
            <a:avLst/>
          </a:prstGeom>
        </p:spPr>
      </p:pic>
      <p:sp>
        <p:nvSpPr>
          <p:cNvPr id="72" name="TextBox 71"/>
          <p:cNvSpPr txBox="1"/>
          <p:nvPr/>
        </p:nvSpPr>
        <p:spPr>
          <a:xfrm>
            <a:off x="7912607" y="4543786"/>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Vanilla Chocolate</a:t>
            </a:r>
          </a:p>
          <a:p>
            <a:pPr algn="ctr">
              <a:spcBef>
                <a:spcPts val="0"/>
              </a:spcBef>
              <a:spcAft>
                <a:spcPts val="0"/>
              </a:spcAft>
            </a:pPr>
            <a:r>
              <a:rPr sz="1200" b="0" i="0">
                <a:solidFill>
                  <a:srgbClr val="1E2D44"/>
                </a:solidFill>
                <a:latin typeface="Karla"/>
              </a:rPr>
              <a:t>Top Left Dark Text…</a:t>
            </a:r>
          </a:p>
        </p:txBody>
      </p:sp>
      <p:sp>
        <p:nvSpPr>
          <p:cNvPr id="73" name="TextBox 72"/>
          <p:cNvSpPr txBox="1"/>
          <p:nvPr/>
        </p:nvSpPr>
        <p:spPr>
          <a:xfrm>
            <a:off x="7912607" y="4909546"/>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+24*</a:t>
            </a:r>
          </a:p>
        </p:txBody>
      </p:sp>
      <p:sp>
        <p:nvSpPr>
          <p:cNvPr id="74" name="Rectangle 73"/>
          <p:cNvSpPr/>
          <p:nvPr/>
        </p:nvSpPr>
        <p:spPr>
          <a:xfrm>
            <a:off x="9855707" y="3178321"/>
            <a:ext cx="1709927" cy="132431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5" name="Picture 74" descr="E5.png"/>
          <p:cNvPicPr>
            <a:picLocks noChangeAspect="1"/>
          </p:cNvPicPr>
          <p:nvPr/>
        </p:nvPicPr>
        <p:blipFill>
          <a:blip r:embed="rId5"/>
          <a:stretch>
            <a:fillRect/>
          </a:stretch>
        </p:blipFill>
        <p:spPr>
          <a:xfrm>
            <a:off x="9869423" y="3192037"/>
            <a:ext cx="1682495" cy="1296884"/>
          </a:xfrm>
          <a:prstGeom prst="rect">
            <a:avLst/>
          </a:prstGeom>
        </p:spPr>
      </p:pic>
      <p:sp>
        <p:nvSpPr>
          <p:cNvPr id="76" name="TextBox 75"/>
          <p:cNvSpPr txBox="1"/>
          <p:nvPr/>
        </p:nvSpPr>
        <p:spPr>
          <a:xfrm>
            <a:off x="9832847" y="4543786"/>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E05 Orange</a:t>
            </a:r>
          </a:p>
          <a:p>
            <a:pPr algn="ctr">
              <a:spcBef>
                <a:spcPts val="0"/>
              </a:spcBef>
              <a:spcAft>
                <a:spcPts val="0"/>
              </a:spcAft>
            </a:pPr>
            <a:r>
              <a:rPr sz="1200" b="0" i="0">
                <a:solidFill>
                  <a:srgbClr val="1E2D44"/>
                </a:solidFill>
                <a:latin typeface="Karla"/>
              </a:rPr>
              <a:t>Chocolate Top Left…</a:t>
            </a:r>
          </a:p>
        </p:txBody>
      </p:sp>
      <p:sp>
        <p:nvSpPr>
          <p:cNvPr id="77" name="TextBox 76"/>
          <p:cNvSpPr txBox="1"/>
          <p:nvPr/>
        </p:nvSpPr>
        <p:spPr>
          <a:xfrm>
            <a:off x="9832847" y="4909546"/>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+18*</a:t>
            </a:r>
          </a:p>
        </p:txBody>
      </p:sp>
      <p:sp>
        <p:nvSpPr>
          <p:cNvPr id="78" name="Rounded Rectangle 77"/>
          <p:cNvSpPr/>
          <p:nvPr/>
        </p:nvSpPr>
        <p:spPr>
          <a:xfrm>
            <a:off x="502920" y="5632704"/>
            <a:ext cx="11268455" cy="676656"/>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200" b="0">
                <a:solidFill>
                  <a:srgbClr val="1E2D44"/>
                </a:solidFill>
                <a:latin typeface="Karla"/>
              </a:rPr>
              <a:t>Have never purchased Fitspo products favor E02 Tripple Chocolate Chip Top Left Dark Text Panel; Have purchased in the past, but not currently favors E08 Banana Chocolate Top Left Dark Text Panel; Occasionally favors E08 Banana Chocolate Top Left Dark Text Panel; Regularly favors Vanilla Chocolate Top Left Dark Text Panel. The widest segment gap is E08 Banana Chocolate Top Left Dark Text Panel: +12 have never purchased fitspo products / +37 have purchased in the past, but not currently / +25 occasionally / +26 regularly.</a:t>
            </a:r>
          </a:p>
        </p:txBody>
      </p:sp>
      <p:sp>
        <p:nvSpPr>
          <p:cNvPr id="79" name="Rectangle 78"/>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Top-2 scores rounded to whole points. *Average of the groups in the legend.</a:t>
            </a:r>
          </a:p>
        </p:txBody>
      </p:sp>
      <p:sp>
        <p:nvSpPr>
          <p:cNvPr id="81" name="TextBox 80"/>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37744"/>
            <a:ext cx="7043927" cy="182880"/>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KEY FINDINGS: E_FLAVOUR  ·  How often do you purchase Fitspo products?   ·   2 of 3</a:t>
            </a:r>
          </a:p>
        </p:txBody>
      </p:sp>
      <p:sp>
        <p:nvSpPr>
          <p:cNvPr id="3" name="TextBox 2"/>
          <p:cNvSpPr txBox="1"/>
          <p:nvPr/>
        </p:nvSpPr>
        <p:spPr>
          <a:xfrm>
            <a:off x="502920" y="438912"/>
            <a:ext cx="7043927" cy="365760"/>
          </a:xfrm>
          <a:prstGeom prst="rect">
            <a:avLst/>
          </a:prstGeom>
          <a:noFill/>
        </p:spPr>
        <p:txBody>
          <a:bodyPr wrap="square" anchor="t" lIns="0" rIns="0" tIns="0" bIns="0"/>
          <a:lstStyle/>
          <a:p>
            <a:pPr algn="l">
              <a:spcBef>
                <a:spcPts val="0"/>
              </a:spcBef>
              <a:spcAft>
                <a:spcPts val="0"/>
              </a:spcAft>
            </a:pPr>
            <a:r>
              <a:rPr sz="2600" b="1" i="0">
                <a:solidFill>
                  <a:srgbClr val="1E2D44"/>
                </a:solidFill>
                <a:latin typeface="Karla"/>
              </a:rPr>
              <a:t>E_Flavour splits across the groups</a:t>
            </a:r>
          </a:p>
        </p:txBody>
      </p:sp>
      <p:sp>
        <p:nvSpPr>
          <p:cNvPr id="4" name="TextBox 3"/>
          <p:cNvSpPr txBox="1"/>
          <p:nvPr/>
        </p:nvSpPr>
        <p:spPr>
          <a:xfrm>
            <a:off x="502920" y="822960"/>
            <a:ext cx="7043927" cy="475488"/>
          </a:xfrm>
          <a:prstGeom prst="rect">
            <a:avLst/>
          </a:prstGeom>
          <a:noFill/>
        </p:spPr>
        <p:txBody>
          <a:bodyPr wrap="square" anchor="t" lIns="0" rIns="0" tIns="0" bIns="0"/>
          <a:lstStyle/>
          <a:p>
            <a:pPr algn="l">
              <a:spcBef>
                <a:spcPts val="0"/>
              </a:spcBef>
              <a:spcAft>
                <a:spcPts val="0"/>
              </a:spcAft>
            </a:pPr>
            <a:r>
              <a:rPr sz="1200" b="0" i="0">
                <a:solidFill>
                  <a:srgbClr val="617086"/>
                </a:solidFill>
                <a:latin typeface="Karla"/>
              </a:rPr>
              <a:t>Have never purchased Fitspo products favor E02 Tripple Chocolate Chip Top Left Dark Text Panel; Have purchased in the past, but not currently favors E08 Banana Chocolate Top Left Dark Text Panel; Occasionally favors E08 Banana Chocolate Top Left Dark Text Panel; Regularly favors Vanilla Chocolate Top Left Dark Text Panel.</a:t>
            </a:r>
          </a:p>
        </p:txBody>
      </p:sp>
      <p:sp>
        <p:nvSpPr>
          <p:cNvPr id="5" name="Rectangle 4"/>
          <p:cNvSpPr/>
          <p:nvPr/>
        </p:nvSpPr>
        <p:spPr>
          <a:xfrm>
            <a:off x="502920" y="1335024"/>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E_FLAVOUR</a:t>
            </a:r>
          </a:p>
        </p:txBody>
      </p:sp>
      <p:sp>
        <p:nvSpPr>
          <p:cNvPr id="6" name="TextBox 5"/>
          <p:cNvSpPr txBox="1"/>
          <p:nvPr/>
        </p:nvSpPr>
        <p:spPr>
          <a:xfrm>
            <a:off x="1874520"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7" name="Rectangle 6"/>
          <p:cNvSpPr/>
          <p:nvPr/>
        </p:nvSpPr>
        <p:spPr>
          <a:xfrm>
            <a:off x="3379469"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86861"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5</a:t>
            </a:r>
          </a:p>
        </p:txBody>
      </p:sp>
      <p:sp>
        <p:nvSpPr>
          <p:cNvPr id="9" name="Rectangle 8"/>
          <p:cNvSpPr/>
          <p:nvPr/>
        </p:nvSpPr>
        <p:spPr>
          <a:xfrm>
            <a:off x="4591811"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9203"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11" name="Rectangle 10"/>
          <p:cNvSpPr/>
          <p:nvPr/>
        </p:nvSpPr>
        <p:spPr>
          <a:xfrm>
            <a:off x="5804153"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11545"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15</a:t>
            </a:r>
          </a:p>
        </p:txBody>
      </p:sp>
      <p:sp>
        <p:nvSpPr>
          <p:cNvPr id="13" name="Rectangle 12"/>
          <p:cNvSpPr/>
          <p:nvPr/>
        </p:nvSpPr>
        <p:spPr>
          <a:xfrm>
            <a:off x="7016495"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23887"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5" name="Rectangle 14"/>
          <p:cNvSpPr/>
          <p:nvPr/>
        </p:nvSpPr>
        <p:spPr>
          <a:xfrm>
            <a:off x="2167128" y="1645920"/>
            <a:ext cx="10972" cy="2871215"/>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167128" y="4517136"/>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1778508"/>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E06 Orange Chocolate</a:t>
            </a:r>
          </a:p>
          <a:p>
            <a:pPr algn="r">
              <a:spcBef>
                <a:spcPts val="0"/>
              </a:spcBef>
              <a:spcAft>
                <a:spcPts val="0"/>
              </a:spcAft>
            </a:pPr>
            <a:r>
              <a:rPr sz="1000" b="0" i="0">
                <a:solidFill>
                  <a:srgbClr val="1E2D44"/>
                </a:solidFill>
                <a:latin typeface="Karla"/>
              </a:rPr>
              <a:t>Top Left White Text…</a:t>
            </a:r>
          </a:p>
        </p:txBody>
      </p:sp>
      <p:sp>
        <p:nvSpPr>
          <p:cNvPr id="18" name="Rectangle 17"/>
          <p:cNvSpPr/>
          <p:nvPr/>
        </p:nvSpPr>
        <p:spPr>
          <a:xfrm>
            <a:off x="2167128" y="1778508"/>
            <a:ext cx="242468"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464460" y="1778508"/>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+1</a:t>
            </a:r>
          </a:p>
        </p:txBody>
      </p:sp>
      <p:sp>
        <p:nvSpPr>
          <p:cNvPr id="20" name="Rectangle 19"/>
          <p:cNvSpPr/>
          <p:nvPr/>
        </p:nvSpPr>
        <p:spPr>
          <a:xfrm>
            <a:off x="2167128" y="1901952"/>
            <a:ext cx="4849367"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71359" y="1901952"/>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+20</a:t>
            </a:r>
          </a:p>
        </p:txBody>
      </p:sp>
      <p:sp>
        <p:nvSpPr>
          <p:cNvPr id="22" name="Rectangle 21"/>
          <p:cNvSpPr/>
          <p:nvPr/>
        </p:nvSpPr>
        <p:spPr>
          <a:xfrm>
            <a:off x="2167128" y="2025395"/>
            <a:ext cx="2909620"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31612" y="2025395"/>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+12</a:t>
            </a:r>
          </a:p>
        </p:txBody>
      </p:sp>
      <p:sp>
        <p:nvSpPr>
          <p:cNvPr id="24" name="Rectangle 23"/>
          <p:cNvSpPr/>
          <p:nvPr/>
        </p:nvSpPr>
        <p:spPr>
          <a:xfrm>
            <a:off x="2167128" y="2148840"/>
            <a:ext cx="3879494"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01486" y="2148840"/>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+16</a:t>
            </a:r>
          </a:p>
        </p:txBody>
      </p:sp>
      <p:sp>
        <p:nvSpPr>
          <p:cNvPr id="26" name="TextBox 25"/>
          <p:cNvSpPr txBox="1"/>
          <p:nvPr/>
        </p:nvSpPr>
        <p:spPr>
          <a:xfrm>
            <a:off x="502920" y="2496312"/>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E03 Tripple</a:t>
            </a:r>
          </a:p>
          <a:p>
            <a:pPr algn="r">
              <a:spcBef>
                <a:spcPts val="0"/>
              </a:spcBef>
              <a:spcAft>
                <a:spcPts val="0"/>
              </a:spcAft>
            </a:pPr>
            <a:r>
              <a:rPr sz="1000" b="0" i="0">
                <a:solidFill>
                  <a:srgbClr val="1E2D44"/>
                </a:solidFill>
                <a:latin typeface="Karla"/>
              </a:rPr>
              <a:t>Chocolate Chip Top…</a:t>
            </a:r>
          </a:p>
        </p:txBody>
      </p:sp>
      <p:sp>
        <p:nvSpPr>
          <p:cNvPr id="27" name="Rectangle 26"/>
          <p:cNvSpPr/>
          <p:nvPr/>
        </p:nvSpPr>
        <p:spPr>
          <a:xfrm>
            <a:off x="2167128" y="2496312"/>
            <a:ext cx="2424683"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46675" y="2496312"/>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+10</a:t>
            </a:r>
          </a:p>
        </p:txBody>
      </p:sp>
      <p:sp>
        <p:nvSpPr>
          <p:cNvPr id="29" name="Rectangle 28"/>
          <p:cNvSpPr/>
          <p:nvPr/>
        </p:nvSpPr>
        <p:spPr>
          <a:xfrm>
            <a:off x="2167128" y="2619756"/>
            <a:ext cx="1939747"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161739" y="2619756"/>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+8</a:t>
            </a:r>
          </a:p>
        </p:txBody>
      </p:sp>
      <p:sp>
        <p:nvSpPr>
          <p:cNvPr id="31" name="Rectangle 30"/>
          <p:cNvSpPr/>
          <p:nvPr/>
        </p:nvSpPr>
        <p:spPr>
          <a:xfrm>
            <a:off x="2167128" y="2743200"/>
            <a:ext cx="2182215"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404207" y="2743200"/>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+9</a:t>
            </a:r>
          </a:p>
        </p:txBody>
      </p:sp>
      <p:sp>
        <p:nvSpPr>
          <p:cNvPr id="33" name="Rectangle 32"/>
          <p:cNvSpPr/>
          <p:nvPr/>
        </p:nvSpPr>
        <p:spPr>
          <a:xfrm>
            <a:off x="2167128" y="2866644"/>
            <a:ext cx="3879494"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101486" y="2866644"/>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+16</a:t>
            </a:r>
          </a:p>
        </p:txBody>
      </p:sp>
      <p:sp>
        <p:nvSpPr>
          <p:cNvPr id="35" name="TextBox 34"/>
          <p:cNvSpPr txBox="1"/>
          <p:nvPr/>
        </p:nvSpPr>
        <p:spPr>
          <a:xfrm>
            <a:off x="502920" y="3214116"/>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E09 Banana Chocolate</a:t>
            </a:r>
          </a:p>
          <a:p>
            <a:pPr algn="r">
              <a:spcBef>
                <a:spcPts val="0"/>
              </a:spcBef>
              <a:spcAft>
                <a:spcPts val="0"/>
              </a:spcAft>
            </a:pPr>
            <a:r>
              <a:rPr sz="1000" b="0" i="0">
                <a:solidFill>
                  <a:srgbClr val="1E2D44"/>
                </a:solidFill>
                <a:latin typeface="Karla"/>
              </a:rPr>
              <a:t>Top Left White Text…</a:t>
            </a:r>
          </a:p>
        </p:txBody>
      </p:sp>
      <p:sp>
        <p:nvSpPr>
          <p:cNvPr id="36" name="Rectangle 35"/>
          <p:cNvSpPr/>
          <p:nvPr/>
        </p:nvSpPr>
        <p:spPr>
          <a:xfrm>
            <a:off x="2167128" y="3214116"/>
            <a:ext cx="2182215"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404207" y="3214116"/>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+9</a:t>
            </a:r>
          </a:p>
        </p:txBody>
      </p:sp>
      <p:sp>
        <p:nvSpPr>
          <p:cNvPr id="38" name="Rectangle 37"/>
          <p:cNvSpPr/>
          <p:nvPr/>
        </p:nvSpPr>
        <p:spPr>
          <a:xfrm>
            <a:off x="2167128" y="3337560"/>
            <a:ext cx="2667152"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889144" y="3337560"/>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+11</a:t>
            </a:r>
          </a:p>
        </p:txBody>
      </p:sp>
      <p:sp>
        <p:nvSpPr>
          <p:cNvPr id="40" name="Rectangle 39"/>
          <p:cNvSpPr/>
          <p:nvPr/>
        </p:nvSpPr>
        <p:spPr>
          <a:xfrm>
            <a:off x="2167128" y="3461004"/>
            <a:ext cx="2667152"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889144" y="3461004"/>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+11</a:t>
            </a:r>
          </a:p>
        </p:txBody>
      </p:sp>
      <p:sp>
        <p:nvSpPr>
          <p:cNvPr id="42" name="Rectangle 41"/>
          <p:cNvSpPr/>
          <p:nvPr/>
        </p:nvSpPr>
        <p:spPr>
          <a:xfrm>
            <a:off x="2167128" y="3584448"/>
            <a:ext cx="3879494"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101486" y="3584448"/>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+16</a:t>
            </a:r>
          </a:p>
        </p:txBody>
      </p:sp>
      <p:sp>
        <p:nvSpPr>
          <p:cNvPr id="44" name="TextBox 43"/>
          <p:cNvSpPr txBox="1"/>
          <p:nvPr/>
        </p:nvSpPr>
        <p:spPr>
          <a:xfrm>
            <a:off x="502920" y="3931919"/>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E01 Tripple</a:t>
            </a:r>
          </a:p>
          <a:p>
            <a:pPr algn="r">
              <a:spcBef>
                <a:spcPts val="0"/>
              </a:spcBef>
              <a:spcAft>
                <a:spcPts val="0"/>
              </a:spcAft>
            </a:pPr>
            <a:r>
              <a:rPr sz="1000" b="0" i="0">
                <a:solidFill>
                  <a:srgbClr val="1E2D44"/>
                </a:solidFill>
                <a:latin typeface="Karla"/>
              </a:rPr>
              <a:t>Chocolate Chip Top…</a:t>
            </a:r>
          </a:p>
        </p:txBody>
      </p:sp>
      <p:sp>
        <p:nvSpPr>
          <p:cNvPr id="45" name="Rectangle 44"/>
          <p:cNvSpPr/>
          <p:nvPr/>
        </p:nvSpPr>
        <p:spPr>
          <a:xfrm>
            <a:off x="2167128" y="3931919"/>
            <a:ext cx="2182215"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404207" y="3931919"/>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+9</a:t>
            </a:r>
          </a:p>
        </p:txBody>
      </p:sp>
      <p:sp>
        <p:nvSpPr>
          <p:cNvPr id="47" name="Rectangle 46"/>
          <p:cNvSpPr/>
          <p:nvPr/>
        </p:nvSpPr>
        <p:spPr>
          <a:xfrm>
            <a:off x="2167128" y="4055363"/>
            <a:ext cx="27432"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221992" y="4055363"/>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0</a:t>
            </a:r>
          </a:p>
        </p:txBody>
      </p:sp>
      <p:sp>
        <p:nvSpPr>
          <p:cNvPr id="49" name="Rectangle 48"/>
          <p:cNvSpPr/>
          <p:nvPr/>
        </p:nvSpPr>
        <p:spPr>
          <a:xfrm>
            <a:off x="2167128" y="4178807"/>
            <a:ext cx="3152089"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374081" y="4178807"/>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+13</a:t>
            </a:r>
          </a:p>
        </p:txBody>
      </p:sp>
      <p:sp>
        <p:nvSpPr>
          <p:cNvPr id="51" name="Rectangle 50"/>
          <p:cNvSpPr/>
          <p:nvPr/>
        </p:nvSpPr>
        <p:spPr>
          <a:xfrm>
            <a:off x="2167128" y="4302251"/>
            <a:ext cx="3637025"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859017" y="4302251"/>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+15</a:t>
            </a:r>
          </a:p>
        </p:txBody>
      </p:sp>
      <p:sp>
        <p:nvSpPr>
          <p:cNvPr id="53" name="Rectangle 52"/>
          <p:cNvSpPr/>
          <p:nvPr/>
        </p:nvSpPr>
        <p:spPr>
          <a:xfrm>
            <a:off x="2655823" y="4942332"/>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2829559" y="4882896"/>
            <a:ext cx="369824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Have never purchased Fitspo products (basesize = 37)</a:t>
            </a:r>
          </a:p>
        </p:txBody>
      </p:sp>
      <p:sp>
        <p:nvSpPr>
          <p:cNvPr id="55" name="Rectangle 54"/>
          <p:cNvSpPr/>
          <p:nvPr/>
        </p:nvSpPr>
        <p:spPr>
          <a:xfrm>
            <a:off x="613663" y="5161788"/>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87399" y="5102352"/>
            <a:ext cx="433832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Have purchased in the past, but not currently (basesize = 12)</a:t>
            </a:r>
          </a:p>
        </p:txBody>
      </p:sp>
      <p:sp>
        <p:nvSpPr>
          <p:cNvPr id="57" name="Rectangle 56"/>
          <p:cNvSpPr/>
          <p:nvPr/>
        </p:nvSpPr>
        <p:spPr>
          <a:xfrm>
            <a:off x="5381751" y="5161788"/>
            <a:ext cx="100584" cy="10058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555487" y="5102352"/>
            <a:ext cx="199136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Occasionally (basesize = 56)</a:t>
            </a:r>
          </a:p>
        </p:txBody>
      </p:sp>
      <p:sp>
        <p:nvSpPr>
          <p:cNvPr id="59" name="Rectangle 58"/>
          <p:cNvSpPr/>
          <p:nvPr/>
        </p:nvSpPr>
        <p:spPr>
          <a:xfrm>
            <a:off x="3615943" y="5381244"/>
            <a:ext cx="100584" cy="100584"/>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789679" y="5321808"/>
            <a:ext cx="177800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Regularly (basesize = 45)</a:t>
            </a:r>
          </a:p>
        </p:txBody>
      </p:sp>
      <p:sp>
        <p:nvSpPr>
          <p:cNvPr id="61" name="Rounded Rectangle 60"/>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7935467" y="618001"/>
            <a:ext cx="1709927" cy="132431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3" name="Picture 62" descr="E6.png"/>
          <p:cNvPicPr>
            <a:picLocks noChangeAspect="1"/>
          </p:cNvPicPr>
          <p:nvPr/>
        </p:nvPicPr>
        <p:blipFill>
          <a:blip r:embed="rId2"/>
          <a:stretch>
            <a:fillRect/>
          </a:stretch>
        </p:blipFill>
        <p:spPr>
          <a:xfrm>
            <a:off x="7949183" y="631717"/>
            <a:ext cx="1682495" cy="1296884"/>
          </a:xfrm>
          <a:prstGeom prst="rect">
            <a:avLst/>
          </a:prstGeom>
        </p:spPr>
      </p:pic>
      <p:sp>
        <p:nvSpPr>
          <p:cNvPr id="64" name="TextBox 63"/>
          <p:cNvSpPr txBox="1"/>
          <p:nvPr/>
        </p:nvSpPr>
        <p:spPr>
          <a:xfrm>
            <a:off x="7912607" y="1983466"/>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E06 Orange</a:t>
            </a:r>
          </a:p>
          <a:p>
            <a:pPr algn="ctr">
              <a:spcBef>
                <a:spcPts val="0"/>
              </a:spcBef>
              <a:spcAft>
                <a:spcPts val="0"/>
              </a:spcAft>
            </a:pPr>
            <a:r>
              <a:rPr sz="1200" b="0" i="0">
                <a:solidFill>
                  <a:srgbClr val="1E2D44"/>
                </a:solidFill>
                <a:latin typeface="Karla"/>
              </a:rPr>
              <a:t>Chocolate Top Left…</a:t>
            </a:r>
          </a:p>
        </p:txBody>
      </p:sp>
      <p:sp>
        <p:nvSpPr>
          <p:cNvPr id="65" name="TextBox 64"/>
          <p:cNvSpPr txBox="1"/>
          <p:nvPr/>
        </p:nvSpPr>
        <p:spPr>
          <a:xfrm>
            <a:off x="7912607" y="2349226"/>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+12*</a:t>
            </a:r>
          </a:p>
        </p:txBody>
      </p:sp>
      <p:sp>
        <p:nvSpPr>
          <p:cNvPr id="66" name="Rectangle 65"/>
          <p:cNvSpPr/>
          <p:nvPr/>
        </p:nvSpPr>
        <p:spPr>
          <a:xfrm>
            <a:off x="9855707" y="618001"/>
            <a:ext cx="1709927" cy="132431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7" name="Picture 66" descr="E3.png"/>
          <p:cNvPicPr>
            <a:picLocks noChangeAspect="1"/>
          </p:cNvPicPr>
          <p:nvPr/>
        </p:nvPicPr>
        <p:blipFill>
          <a:blip r:embed="rId3"/>
          <a:stretch>
            <a:fillRect/>
          </a:stretch>
        </p:blipFill>
        <p:spPr>
          <a:xfrm>
            <a:off x="9869423" y="631717"/>
            <a:ext cx="1682495" cy="1296884"/>
          </a:xfrm>
          <a:prstGeom prst="rect">
            <a:avLst/>
          </a:prstGeom>
        </p:spPr>
      </p:pic>
      <p:sp>
        <p:nvSpPr>
          <p:cNvPr id="68" name="TextBox 67"/>
          <p:cNvSpPr txBox="1"/>
          <p:nvPr/>
        </p:nvSpPr>
        <p:spPr>
          <a:xfrm>
            <a:off x="9832847" y="1983466"/>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E03 Tripple</a:t>
            </a:r>
          </a:p>
          <a:p>
            <a:pPr algn="ctr">
              <a:spcBef>
                <a:spcPts val="0"/>
              </a:spcBef>
              <a:spcAft>
                <a:spcPts val="0"/>
              </a:spcAft>
            </a:pPr>
            <a:r>
              <a:rPr sz="1200" b="0" i="0">
                <a:solidFill>
                  <a:srgbClr val="1E2D44"/>
                </a:solidFill>
                <a:latin typeface="Karla"/>
              </a:rPr>
              <a:t>Chocolate Chip Top…</a:t>
            </a:r>
          </a:p>
        </p:txBody>
      </p:sp>
      <p:sp>
        <p:nvSpPr>
          <p:cNvPr id="69" name="TextBox 68"/>
          <p:cNvSpPr txBox="1"/>
          <p:nvPr/>
        </p:nvSpPr>
        <p:spPr>
          <a:xfrm>
            <a:off x="9832847" y="2349226"/>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+11*</a:t>
            </a:r>
          </a:p>
        </p:txBody>
      </p:sp>
      <p:sp>
        <p:nvSpPr>
          <p:cNvPr id="70" name="Rectangle 69"/>
          <p:cNvSpPr/>
          <p:nvPr/>
        </p:nvSpPr>
        <p:spPr>
          <a:xfrm>
            <a:off x="7935467" y="3178321"/>
            <a:ext cx="1709927" cy="132431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1" name="Picture 70" descr="E9.png"/>
          <p:cNvPicPr>
            <a:picLocks noChangeAspect="1"/>
          </p:cNvPicPr>
          <p:nvPr/>
        </p:nvPicPr>
        <p:blipFill>
          <a:blip r:embed="rId4"/>
          <a:stretch>
            <a:fillRect/>
          </a:stretch>
        </p:blipFill>
        <p:spPr>
          <a:xfrm>
            <a:off x="7949183" y="3192037"/>
            <a:ext cx="1682495" cy="1296884"/>
          </a:xfrm>
          <a:prstGeom prst="rect">
            <a:avLst/>
          </a:prstGeom>
        </p:spPr>
      </p:pic>
      <p:sp>
        <p:nvSpPr>
          <p:cNvPr id="72" name="TextBox 71"/>
          <p:cNvSpPr txBox="1"/>
          <p:nvPr/>
        </p:nvSpPr>
        <p:spPr>
          <a:xfrm>
            <a:off x="7912607" y="4543786"/>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E09 Banana</a:t>
            </a:r>
          </a:p>
          <a:p>
            <a:pPr algn="ctr">
              <a:spcBef>
                <a:spcPts val="0"/>
              </a:spcBef>
              <a:spcAft>
                <a:spcPts val="0"/>
              </a:spcAft>
            </a:pPr>
            <a:r>
              <a:rPr sz="1200" b="0" i="0">
                <a:solidFill>
                  <a:srgbClr val="1E2D44"/>
                </a:solidFill>
                <a:latin typeface="Karla"/>
              </a:rPr>
              <a:t>Chocolate Top Left…</a:t>
            </a:r>
          </a:p>
        </p:txBody>
      </p:sp>
      <p:sp>
        <p:nvSpPr>
          <p:cNvPr id="73" name="TextBox 72"/>
          <p:cNvSpPr txBox="1"/>
          <p:nvPr/>
        </p:nvSpPr>
        <p:spPr>
          <a:xfrm>
            <a:off x="7912607" y="4909546"/>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+12*</a:t>
            </a:r>
          </a:p>
        </p:txBody>
      </p:sp>
      <p:sp>
        <p:nvSpPr>
          <p:cNvPr id="74" name="Rectangle 73"/>
          <p:cNvSpPr/>
          <p:nvPr/>
        </p:nvSpPr>
        <p:spPr>
          <a:xfrm>
            <a:off x="9855707" y="3178321"/>
            <a:ext cx="1709927" cy="132431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5" name="Picture 74" descr="E1.png"/>
          <p:cNvPicPr>
            <a:picLocks noChangeAspect="1"/>
          </p:cNvPicPr>
          <p:nvPr/>
        </p:nvPicPr>
        <p:blipFill>
          <a:blip r:embed="rId5"/>
          <a:stretch>
            <a:fillRect/>
          </a:stretch>
        </p:blipFill>
        <p:spPr>
          <a:xfrm>
            <a:off x="9869423" y="3192037"/>
            <a:ext cx="1682495" cy="1296884"/>
          </a:xfrm>
          <a:prstGeom prst="rect">
            <a:avLst/>
          </a:prstGeom>
        </p:spPr>
      </p:pic>
      <p:sp>
        <p:nvSpPr>
          <p:cNvPr id="76" name="TextBox 75"/>
          <p:cNvSpPr txBox="1"/>
          <p:nvPr/>
        </p:nvSpPr>
        <p:spPr>
          <a:xfrm>
            <a:off x="9832847" y="4543786"/>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E01 Tripple</a:t>
            </a:r>
          </a:p>
          <a:p>
            <a:pPr algn="ctr">
              <a:spcBef>
                <a:spcPts val="0"/>
              </a:spcBef>
              <a:spcAft>
                <a:spcPts val="0"/>
              </a:spcAft>
            </a:pPr>
            <a:r>
              <a:rPr sz="1200" b="0" i="0">
                <a:solidFill>
                  <a:srgbClr val="1E2D44"/>
                </a:solidFill>
                <a:latin typeface="Karla"/>
              </a:rPr>
              <a:t>Chocolate Chip Top…</a:t>
            </a:r>
          </a:p>
        </p:txBody>
      </p:sp>
      <p:sp>
        <p:nvSpPr>
          <p:cNvPr id="77" name="TextBox 76"/>
          <p:cNvSpPr txBox="1"/>
          <p:nvPr/>
        </p:nvSpPr>
        <p:spPr>
          <a:xfrm>
            <a:off x="9832847" y="4909546"/>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+9*</a:t>
            </a:r>
          </a:p>
        </p:txBody>
      </p:sp>
      <p:sp>
        <p:nvSpPr>
          <p:cNvPr id="78" name="Rounded Rectangle 77"/>
          <p:cNvSpPr/>
          <p:nvPr/>
        </p:nvSpPr>
        <p:spPr>
          <a:xfrm>
            <a:off x="502920" y="5632704"/>
            <a:ext cx="11268455" cy="676656"/>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200" b="0">
                <a:solidFill>
                  <a:srgbClr val="1E2D44"/>
                </a:solidFill>
                <a:latin typeface="Karla"/>
              </a:rPr>
              <a:t>Have never purchased Fitspo products favor E02 Tripple Chocolate Chip Top Left Dark Text Panel; Have purchased in the past, but not currently favors E08 Banana Chocolate Top Left Dark Text Panel; Occasionally favors E08 Banana Chocolate Top Left Dark Text Panel; Regularly favors Vanilla Chocolate Top Left Dark Text Panel. The widest segment gap is E08 Banana Chocolate Top Left Dark Text Panel: +12 have never purchased fitspo products / +37 have purchased in the past, but not currently / +25 occasionally / +26 regularly.</a:t>
            </a:r>
          </a:p>
        </p:txBody>
      </p:sp>
      <p:sp>
        <p:nvSpPr>
          <p:cNvPr id="79" name="Rectangle 78"/>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Top-2 scores rounded to whole points. *Average of the groups in the legend.</a:t>
            </a:r>
          </a:p>
        </p:txBody>
      </p:sp>
      <p:sp>
        <p:nvSpPr>
          <p:cNvPr id="81" name="TextBox 80"/>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76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37744"/>
            <a:ext cx="7043927" cy="182880"/>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KEY FINDINGS: E_FLAVOUR  ·  How often do you purchase Fitspo products?   ·   3 of 3</a:t>
            </a:r>
          </a:p>
        </p:txBody>
      </p:sp>
      <p:sp>
        <p:nvSpPr>
          <p:cNvPr id="3" name="TextBox 2"/>
          <p:cNvSpPr txBox="1"/>
          <p:nvPr/>
        </p:nvSpPr>
        <p:spPr>
          <a:xfrm>
            <a:off x="502920" y="438912"/>
            <a:ext cx="7043927" cy="365760"/>
          </a:xfrm>
          <a:prstGeom prst="rect">
            <a:avLst/>
          </a:prstGeom>
          <a:noFill/>
        </p:spPr>
        <p:txBody>
          <a:bodyPr wrap="square" anchor="t" lIns="0" rIns="0" tIns="0" bIns="0"/>
          <a:lstStyle/>
          <a:p>
            <a:pPr algn="l">
              <a:spcBef>
                <a:spcPts val="0"/>
              </a:spcBef>
              <a:spcAft>
                <a:spcPts val="0"/>
              </a:spcAft>
            </a:pPr>
            <a:r>
              <a:rPr sz="2600" b="1" i="0">
                <a:solidFill>
                  <a:srgbClr val="1E2D44"/>
                </a:solidFill>
                <a:latin typeface="Karla"/>
              </a:rPr>
              <a:t>E_Flavour splits across the groups</a:t>
            </a:r>
          </a:p>
        </p:txBody>
      </p:sp>
      <p:sp>
        <p:nvSpPr>
          <p:cNvPr id="4" name="TextBox 3"/>
          <p:cNvSpPr txBox="1"/>
          <p:nvPr/>
        </p:nvSpPr>
        <p:spPr>
          <a:xfrm>
            <a:off x="502920" y="822960"/>
            <a:ext cx="7043927" cy="475488"/>
          </a:xfrm>
          <a:prstGeom prst="rect">
            <a:avLst/>
          </a:prstGeom>
          <a:noFill/>
        </p:spPr>
        <p:txBody>
          <a:bodyPr wrap="square" anchor="t" lIns="0" rIns="0" tIns="0" bIns="0"/>
          <a:lstStyle/>
          <a:p>
            <a:pPr algn="l">
              <a:spcBef>
                <a:spcPts val="0"/>
              </a:spcBef>
              <a:spcAft>
                <a:spcPts val="0"/>
              </a:spcAft>
            </a:pPr>
            <a:r>
              <a:rPr sz="1200" b="0" i="0">
                <a:solidFill>
                  <a:srgbClr val="617086"/>
                </a:solidFill>
                <a:latin typeface="Karla"/>
              </a:rPr>
              <a:t>Have never purchased Fitspo products favor E02 Tripple Chocolate Chip Top Left Dark Text Panel; Have purchased in the past, but not currently favors E08 Banana Chocolate Top Left Dark Text Panel; Occasionally favors E08 Banana Chocolate Top Left Dark Text Panel; Regularly favors Vanilla Chocolate Top Left Dark Text Panel.</a:t>
            </a:r>
          </a:p>
        </p:txBody>
      </p:sp>
      <p:sp>
        <p:nvSpPr>
          <p:cNvPr id="5" name="Rectangle 4"/>
          <p:cNvSpPr/>
          <p:nvPr/>
        </p:nvSpPr>
        <p:spPr>
          <a:xfrm>
            <a:off x="502920" y="1335024"/>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E_FLAVOUR</a:t>
            </a:r>
          </a:p>
        </p:txBody>
      </p:sp>
      <p:sp>
        <p:nvSpPr>
          <p:cNvPr id="6" name="TextBox 5"/>
          <p:cNvSpPr txBox="1"/>
          <p:nvPr/>
        </p:nvSpPr>
        <p:spPr>
          <a:xfrm>
            <a:off x="1874520"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7" name="Rectangle 6"/>
          <p:cNvSpPr/>
          <p:nvPr/>
        </p:nvSpPr>
        <p:spPr>
          <a:xfrm>
            <a:off x="3379469"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86861"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5</a:t>
            </a:r>
          </a:p>
        </p:txBody>
      </p:sp>
      <p:sp>
        <p:nvSpPr>
          <p:cNvPr id="9" name="Rectangle 8"/>
          <p:cNvSpPr/>
          <p:nvPr/>
        </p:nvSpPr>
        <p:spPr>
          <a:xfrm>
            <a:off x="4591811"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9203"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11" name="Rectangle 10"/>
          <p:cNvSpPr/>
          <p:nvPr/>
        </p:nvSpPr>
        <p:spPr>
          <a:xfrm>
            <a:off x="5804153"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11545"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15</a:t>
            </a:r>
          </a:p>
        </p:txBody>
      </p:sp>
      <p:sp>
        <p:nvSpPr>
          <p:cNvPr id="13" name="Rectangle 12"/>
          <p:cNvSpPr/>
          <p:nvPr/>
        </p:nvSpPr>
        <p:spPr>
          <a:xfrm>
            <a:off x="7016495"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23887"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5" name="Rectangle 14"/>
          <p:cNvSpPr/>
          <p:nvPr/>
        </p:nvSpPr>
        <p:spPr>
          <a:xfrm>
            <a:off x="2167128" y="1645920"/>
            <a:ext cx="10972" cy="2871215"/>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167128" y="4517136"/>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1778508"/>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E04 Orange Chocolate</a:t>
            </a:r>
          </a:p>
          <a:p>
            <a:pPr algn="r">
              <a:spcBef>
                <a:spcPts val="0"/>
              </a:spcBef>
              <a:spcAft>
                <a:spcPts val="0"/>
              </a:spcAft>
            </a:pPr>
            <a:r>
              <a:rPr sz="1000" b="0" i="0">
                <a:solidFill>
                  <a:srgbClr val="1E2D44"/>
                </a:solidFill>
                <a:latin typeface="Karla"/>
              </a:rPr>
              <a:t>Top Centre Dark Text…</a:t>
            </a:r>
          </a:p>
        </p:txBody>
      </p:sp>
      <p:sp>
        <p:nvSpPr>
          <p:cNvPr id="18" name="Rectangle 17"/>
          <p:cNvSpPr/>
          <p:nvPr/>
        </p:nvSpPr>
        <p:spPr>
          <a:xfrm>
            <a:off x="2167128" y="1778508"/>
            <a:ext cx="484936"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06928" y="1778508"/>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+2</a:t>
            </a:r>
          </a:p>
        </p:txBody>
      </p:sp>
      <p:sp>
        <p:nvSpPr>
          <p:cNvPr id="20" name="Rectangle 19"/>
          <p:cNvSpPr/>
          <p:nvPr/>
        </p:nvSpPr>
        <p:spPr>
          <a:xfrm>
            <a:off x="2167128" y="1901952"/>
            <a:ext cx="2424683"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46675" y="1901952"/>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+10</a:t>
            </a:r>
          </a:p>
        </p:txBody>
      </p:sp>
      <p:sp>
        <p:nvSpPr>
          <p:cNvPr id="22" name="Rectangle 21"/>
          <p:cNvSpPr/>
          <p:nvPr/>
        </p:nvSpPr>
        <p:spPr>
          <a:xfrm>
            <a:off x="2167128" y="2025395"/>
            <a:ext cx="1697278"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919270" y="2025395"/>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+7</a:t>
            </a:r>
          </a:p>
        </p:txBody>
      </p:sp>
      <p:sp>
        <p:nvSpPr>
          <p:cNvPr id="24" name="Rectangle 23"/>
          <p:cNvSpPr/>
          <p:nvPr/>
        </p:nvSpPr>
        <p:spPr>
          <a:xfrm>
            <a:off x="2167128" y="2148840"/>
            <a:ext cx="3394557"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16549" y="2148840"/>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+14</a:t>
            </a:r>
          </a:p>
        </p:txBody>
      </p:sp>
      <p:sp>
        <p:nvSpPr>
          <p:cNvPr id="26" name="TextBox 25"/>
          <p:cNvSpPr txBox="1"/>
          <p:nvPr/>
        </p:nvSpPr>
        <p:spPr>
          <a:xfrm>
            <a:off x="502920" y="2496312"/>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Vanilla Chocolate</a:t>
            </a:r>
          </a:p>
          <a:p>
            <a:pPr algn="r">
              <a:spcBef>
                <a:spcPts val="0"/>
              </a:spcBef>
              <a:spcAft>
                <a:spcPts val="0"/>
              </a:spcAft>
            </a:pPr>
            <a:r>
              <a:rPr sz="1000" b="0" i="0">
                <a:solidFill>
                  <a:srgbClr val="1E2D44"/>
                </a:solidFill>
                <a:latin typeface="Karla"/>
              </a:rPr>
              <a:t>Top Left White Text…</a:t>
            </a:r>
          </a:p>
        </p:txBody>
      </p:sp>
      <p:sp>
        <p:nvSpPr>
          <p:cNvPr id="27" name="Rectangle 26"/>
          <p:cNvSpPr/>
          <p:nvPr/>
        </p:nvSpPr>
        <p:spPr>
          <a:xfrm>
            <a:off x="2167128" y="2496312"/>
            <a:ext cx="2909620"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131612" y="2496312"/>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+12</a:t>
            </a:r>
          </a:p>
        </p:txBody>
      </p:sp>
      <p:sp>
        <p:nvSpPr>
          <p:cNvPr id="29" name="Rectangle 28"/>
          <p:cNvSpPr/>
          <p:nvPr/>
        </p:nvSpPr>
        <p:spPr>
          <a:xfrm>
            <a:off x="2167128" y="2619756"/>
            <a:ext cx="2424683"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46675" y="2619756"/>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+10</a:t>
            </a:r>
          </a:p>
        </p:txBody>
      </p:sp>
      <p:sp>
        <p:nvSpPr>
          <p:cNvPr id="31" name="Rectangle 30"/>
          <p:cNvSpPr/>
          <p:nvPr/>
        </p:nvSpPr>
        <p:spPr>
          <a:xfrm>
            <a:off x="2167128" y="2743200"/>
            <a:ext cx="2182215"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404207" y="2743200"/>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+9</a:t>
            </a:r>
          </a:p>
        </p:txBody>
      </p:sp>
      <p:sp>
        <p:nvSpPr>
          <p:cNvPr id="33" name="Rectangle 32"/>
          <p:cNvSpPr/>
          <p:nvPr/>
        </p:nvSpPr>
        <p:spPr>
          <a:xfrm>
            <a:off x="2167128" y="2866644"/>
            <a:ext cx="3394557"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616549" y="2866644"/>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+14</a:t>
            </a:r>
          </a:p>
        </p:txBody>
      </p:sp>
      <p:sp>
        <p:nvSpPr>
          <p:cNvPr id="35" name="TextBox 34"/>
          <p:cNvSpPr txBox="1"/>
          <p:nvPr/>
        </p:nvSpPr>
        <p:spPr>
          <a:xfrm>
            <a:off x="502920" y="3214116"/>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E07 Banana Chocolate</a:t>
            </a:r>
          </a:p>
          <a:p>
            <a:pPr algn="r">
              <a:spcBef>
                <a:spcPts val="0"/>
              </a:spcBef>
              <a:spcAft>
                <a:spcPts val="0"/>
              </a:spcAft>
            </a:pPr>
            <a:r>
              <a:rPr sz="1000" b="0" i="0">
                <a:solidFill>
                  <a:srgbClr val="1E2D44"/>
                </a:solidFill>
                <a:latin typeface="Karla"/>
              </a:rPr>
              <a:t>Top Centre Dark Text…</a:t>
            </a:r>
          </a:p>
        </p:txBody>
      </p:sp>
      <p:sp>
        <p:nvSpPr>
          <p:cNvPr id="36" name="Rectangle 35"/>
          <p:cNvSpPr/>
          <p:nvPr/>
        </p:nvSpPr>
        <p:spPr>
          <a:xfrm>
            <a:off x="2167128" y="3214116"/>
            <a:ext cx="1454810"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676802" y="3214116"/>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+6</a:t>
            </a:r>
          </a:p>
        </p:txBody>
      </p:sp>
      <p:sp>
        <p:nvSpPr>
          <p:cNvPr id="38" name="Rectangle 37"/>
          <p:cNvSpPr/>
          <p:nvPr/>
        </p:nvSpPr>
        <p:spPr>
          <a:xfrm>
            <a:off x="2167128" y="3337560"/>
            <a:ext cx="1454810"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676802" y="3337560"/>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+6</a:t>
            </a:r>
          </a:p>
        </p:txBody>
      </p:sp>
      <p:sp>
        <p:nvSpPr>
          <p:cNvPr id="40" name="Rectangle 39"/>
          <p:cNvSpPr/>
          <p:nvPr/>
        </p:nvSpPr>
        <p:spPr>
          <a:xfrm>
            <a:off x="2167128" y="3461004"/>
            <a:ext cx="2182215"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404207" y="3461004"/>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+9</a:t>
            </a:r>
          </a:p>
        </p:txBody>
      </p:sp>
      <p:sp>
        <p:nvSpPr>
          <p:cNvPr id="42" name="Rectangle 41"/>
          <p:cNvSpPr/>
          <p:nvPr/>
        </p:nvSpPr>
        <p:spPr>
          <a:xfrm>
            <a:off x="2167128" y="3584448"/>
            <a:ext cx="3152089"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374081" y="3584448"/>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+13</a:t>
            </a:r>
          </a:p>
        </p:txBody>
      </p:sp>
      <p:sp>
        <p:nvSpPr>
          <p:cNvPr id="44" name="TextBox 43"/>
          <p:cNvSpPr txBox="1"/>
          <p:nvPr/>
        </p:nvSpPr>
        <p:spPr>
          <a:xfrm>
            <a:off x="502920" y="3931919"/>
            <a:ext cx="1554480" cy="452628"/>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Vanilla Chocolate</a:t>
            </a:r>
          </a:p>
          <a:p>
            <a:pPr algn="r">
              <a:spcBef>
                <a:spcPts val="0"/>
              </a:spcBef>
              <a:spcAft>
                <a:spcPts val="0"/>
              </a:spcAft>
            </a:pPr>
            <a:r>
              <a:rPr sz="1000" b="0" i="0">
                <a:solidFill>
                  <a:srgbClr val="1E2D44"/>
                </a:solidFill>
                <a:latin typeface="Karla"/>
              </a:rPr>
              <a:t>Top Centre Dark Text…</a:t>
            </a:r>
          </a:p>
        </p:txBody>
      </p:sp>
      <p:sp>
        <p:nvSpPr>
          <p:cNvPr id="45" name="Rectangle 44"/>
          <p:cNvSpPr/>
          <p:nvPr/>
        </p:nvSpPr>
        <p:spPr>
          <a:xfrm>
            <a:off x="2167128" y="3931919"/>
            <a:ext cx="3152089" cy="82296"/>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374081" y="3931919"/>
            <a:ext cx="457200" cy="82296"/>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+13</a:t>
            </a:r>
          </a:p>
        </p:txBody>
      </p:sp>
      <p:sp>
        <p:nvSpPr>
          <p:cNvPr id="47" name="Rectangle 46"/>
          <p:cNvSpPr/>
          <p:nvPr/>
        </p:nvSpPr>
        <p:spPr>
          <a:xfrm>
            <a:off x="2167128" y="4055363"/>
            <a:ext cx="2424683" cy="8229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646675" y="4055363"/>
            <a:ext cx="457200" cy="82296"/>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+10</a:t>
            </a:r>
          </a:p>
        </p:txBody>
      </p:sp>
      <p:sp>
        <p:nvSpPr>
          <p:cNvPr id="49" name="Rectangle 48"/>
          <p:cNvSpPr/>
          <p:nvPr/>
        </p:nvSpPr>
        <p:spPr>
          <a:xfrm>
            <a:off x="2167128" y="4178807"/>
            <a:ext cx="2667152" cy="82296"/>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889144" y="4178807"/>
            <a:ext cx="457200" cy="82296"/>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+11</a:t>
            </a:r>
          </a:p>
        </p:txBody>
      </p:sp>
      <p:sp>
        <p:nvSpPr>
          <p:cNvPr id="51" name="Rectangle 50"/>
          <p:cNvSpPr/>
          <p:nvPr/>
        </p:nvSpPr>
        <p:spPr>
          <a:xfrm>
            <a:off x="2167128" y="4302251"/>
            <a:ext cx="2909620" cy="82296"/>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131612" y="4302251"/>
            <a:ext cx="457200" cy="82296"/>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+12</a:t>
            </a:r>
          </a:p>
        </p:txBody>
      </p:sp>
      <p:sp>
        <p:nvSpPr>
          <p:cNvPr id="53" name="Rectangle 52"/>
          <p:cNvSpPr/>
          <p:nvPr/>
        </p:nvSpPr>
        <p:spPr>
          <a:xfrm>
            <a:off x="2655823" y="4942332"/>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2829559" y="4882896"/>
            <a:ext cx="369824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Have never purchased Fitspo products (basesize = 37)</a:t>
            </a:r>
          </a:p>
        </p:txBody>
      </p:sp>
      <p:sp>
        <p:nvSpPr>
          <p:cNvPr id="55" name="Rectangle 54"/>
          <p:cNvSpPr/>
          <p:nvPr/>
        </p:nvSpPr>
        <p:spPr>
          <a:xfrm>
            <a:off x="613663" y="5161788"/>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87399" y="5102352"/>
            <a:ext cx="433832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Have purchased in the past, but not currently (basesize = 12)</a:t>
            </a:r>
          </a:p>
        </p:txBody>
      </p:sp>
      <p:sp>
        <p:nvSpPr>
          <p:cNvPr id="57" name="Rectangle 56"/>
          <p:cNvSpPr/>
          <p:nvPr/>
        </p:nvSpPr>
        <p:spPr>
          <a:xfrm>
            <a:off x="5381751" y="5161788"/>
            <a:ext cx="100584" cy="10058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555487" y="5102352"/>
            <a:ext cx="199136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Occasionally (basesize = 56)</a:t>
            </a:r>
          </a:p>
        </p:txBody>
      </p:sp>
      <p:sp>
        <p:nvSpPr>
          <p:cNvPr id="59" name="Rectangle 58"/>
          <p:cNvSpPr/>
          <p:nvPr/>
        </p:nvSpPr>
        <p:spPr>
          <a:xfrm>
            <a:off x="3615943" y="5381244"/>
            <a:ext cx="100584" cy="100584"/>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789679" y="5321808"/>
            <a:ext cx="177800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Regularly (basesize = 45)</a:t>
            </a:r>
          </a:p>
        </p:txBody>
      </p:sp>
      <p:sp>
        <p:nvSpPr>
          <p:cNvPr id="61" name="Rounded Rectangle 60"/>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7935467" y="618001"/>
            <a:ext cx="1709927" cy="132431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3" name="Picture 62" descr="E4.png"/>
          <p:cNvPicPr>
            <a:picLocks noChangeAspect="1"/>
          </p:cNvPicPr>
          <p:nvPr/>
        </p:nvPicPr>
        <p:blipFill>
          <a:blip r:embed="rId2"/>
          <a:stretch>
            <a:fillRect/>
          </a:stretch>
        </p:blipFill>
        <p:spPr>
          <a:xfrm>
            <a:off x="7949183" y="631717"/>
            <a:ext cx="1682495" cy="1296884"/>
          </a:xfrm>
          <a:prstGeom prst="rect">
            <a:avLst/>
          </a:prstGeom>
        </p:spPr>
      </p:pic>
      <p:sp>
        <p:nvSpPr>
          <p:cNvPr id="64" name="TextBox 63"/>
          <p:cNvSpPr txBox="1"/>
          <p:nvPr/>
        </p:nvSpPr>
        <p:spPr>
          <a:xfrm>
            <a:off x="7912607" y="1983466"/>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E04 Orange</a:t>
            </a:r>
          </a:p>
          <a:p>
            <a:pPr algn="ctr">
              <a:spcBef>
                <a:spcPts val="0"/>
              </a:spcBef>
              <a:spcAft>
                <a:spcPts val="0"/>
              </a:spcAft>
            </a:pPr>
            <a:r>
              <a:rPr sz="1200" b="0" i="0">
                <a:solidFill>
                  <a:srgbClr val="1E2D44"/>
                </a:solidFill>
                <a:latin typeface="Karla"/>
              </a:rPr>
              <a:t>Chocolate Top…</a:t>
            </a:r>
          </a:p>
        </p:txBody>
      </p:sp>
      <p:sp>
        <p:nvSpPr>
          <p:cNvPr id="65" name="TextBox 64"/>
          <p:cNvSpPr txBox="1"/>
          <p:nvPr/>
        </p:nvSpPr>
        <p:spPr>
          <a:xfrm>
            <a:off x="7912607" y="2349226"/>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+8*</a:t>
            </a:r>
          </a:p>
        </p:txBody>
      </p:sp>
      <p:sp>
        <p:nvSpPr>
          <p:cNvPr id="66" name="Rectangle 65"/>
          <p:cNvSpPr/>
          <p:nvPr/>
        </p:nvSpPr>
        <p:spPr>
          <a:xfrm>
            <a:off x="9855707" y="618001"/>
            <a:ext cx="1709927" cy="132431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7" name="Picture 66" descr="E12.png"/>
          <p:cNvPicPr>
            <a:picLocks noChangeAspect="1"/>
          </p:cNvPicPr>
          <p:nvPr/>
        </p:nvPicPr>
        <p:blipFill>
          <a:blip r:embed="rId3"/>
          <a:stretch>
            <a:fillRect/>
          </a:stretch>
        </p:blipFill>
        <p:spPr>
          <a:xfrm>
            <a:off x="9869423" y="631717"/>
            <a:ext cx="1682495" cy="1296884"/>
          </a:xfrm>
          <a:prstGeom prst="rect">
            <a:avLst/>
          </a:prstGeom>
        </p:spPr>
      </p:pic>
      <p:sp>
        <p:nvSpPr>
          <p:cNvPr id="68" name="TextBox 67"/>
          <p:cNvSpPr txBox="1"/>
          <p:nvPr/>
        </p:nvSpPr>
        <p:spPr>
          <a:xfrm>
            <a:off x="9832847" y="1983466"/>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Vanilla Chocolate</a:t>
            </a:r>
          </a:p>
          <a:p>
            <a:pPr algn="ctr">
              <a:spcBef>
                <a:spcPts val="0"/>
              </a:spcBef>
              <a:spcAft>
                <a:spcPts val="0"/>
              </a:spcAft>
            </a:pPr>
            <a:r>
              <a:rPr sz="1200" b="0" i="0">
                <a:solidFill>
                  <a:srgbClr val="1E2D44"/>
                </a:solidFill>
                <a:latin typeface="Karla"/>
              </a:rPr>
              <a:t>Top Left White Text…</a:t>
            </a:r>
          </a:p>
        </p:txBody>
      </p:sp>
      <p:sp>
        <p:nvSpPr>
          <p:cNvPr id="69" name="TextBox 68"/>
          <p:cNvSpPr txBox="1"/>
          <p:nvPr/>
        </p:nvSpPr>
        <p:spPr>
          <a:xfrm>
            <a:off x="9832847" y="2349226"/>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+11*</a:t>
            </a:r>
          </a:p>
        </p:txBody>
      </p:sp>
      <p:sp>
        <p:nvSpPr>
          <p:cNvPr id="70" name="Rectangle 69"/>
          <p:cNvSpPr/>
          <p:nvPr/>
        </p:nvSpPr>
        <p:spPr>
          <a:xfrm>
            <a:off x="7935467" y="3178321"/>
            <a:ext cx="1709927" cy="132431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1" name="Picture 70" descr="E7.png"/>
          <p:cNvPicPr>
            <a:picLocks noChangeAspect="1"/>
          </p:cNvPicPr>
          <p:nvPr/>
        </p:nvPicPr>
        <p:blipFill>
          <a:blip r:embed="rId4"/>
          <a:stretch>
            <a:fillRect/>
          </a:stretch>
        </p:blipFill>
        <p:spPr>
          <a:xfrm>
            <a:off x="7949183" y="3192037"/>
            <a:ext cx="1682495" cy="1296884"/>
          </a:xfrm>
          <a:prstGeom prst="rect">
            <a:avLst/>
          </a:prstGeom>
        </p:spPr>
      </p:pic>
      <p:sp>
        <p:nvSpPr>
          <p:cNvPr id="72" name="TextBox 71"/>
          <p:cNvSpPr txBox="1"/>
          <p:nvPr/>
        </p:nvSpPr>
        <p:spPr>
          <a:xfrm>
            <a:off x="7912607" y="4543786"/>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E07 Banana</a:t>
            </a:r>
          </a:p>
          <a:p>
            <a:pPr algn="ctr">
              <a:spcBef>
                <a:spcPts val="0"/>
              </a:spcBef>
              <a:spcAft>
                <a:spcPts val="0"/>
              </a:spcAft>
            </a:pPr>
            <a:r>
              <a:rPr sz="1200" b="0" i="0">
                <a:solidFill>
                  <a:srgbClr val="1E2D44"/>
                </a:solidFill>
                <a:latin typeface="Karla"/>
              </a:rPr>
              <a:t>Chocolate Top…</a:t>
            </a:r>
          </a:p>
        </p:txBody>
      </p:sp>
      <p:sp>
        <p:nvSpPr>
          <p:cNvPr id="73" name="TextBox 72"/>
          <p:cNvSpPr txBox="1"/>
          <p:nvPr/>
        </p:nvSpPr>
        <p:spPr>
          <a:xfrm>
            <a:off x="7912607" y="4909546"/>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+8*</a:t>
            </a:r>
          </a:p>
        </p:txBody>
      </p:sp>
      <p:sp>
        <p:nvSpPr>
          <p:cNvPr id="74" name="Rectangle 73"/>
          <p:cNvSpPr/>
          <p:nvPr/>
        </p:nvSpPr>
        <p:spPr>
          <a:xfrm>
            <a:off x="9855707" y="3178321"/>
            <a:ext cx="1709927" cy="132431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5" name="Picture 74" descr="E10.png"/>
          <p:cNvPicPr>
            <a:picLocks noChangeAspect="1"/>
          </p:cNvPicPr>
          <p:nvPr/>
        </p:nvPicPr>
        <p:blipFill>
          <a:blip r:embed="rId5"/>
          <a:stretch>
            <a:fillRect/>
          </a:stretch>
        </p:blipFill>
        <p:spPr>
          <a:xfrm>
            <a:off x="9869423" y="3192037"/>
            <a:ext cx="1682495" cy="1296884"/>
          </a:xfrm>
          <a:prstGeom prst="rect">
            <a:avLst/>
          </a:prstGeom>
        </p:spPr>
      </p:pic>
      <p:sp>
        <p:nvSpPr>
          <p:cNvPr id="76" name="TextBox 75"/>
          <p:cNvSpPr txBox="1"/>
          <p:nvPr/>
        </p:nvSpPr>
        <p:spPr>
          <a:xfrm>
            <a:off x="9832847" y="4543786"/>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Vanilla Chocolate</a:t>
            </a:r>
          </a:p>
          <a:p>
            <a:pPr algn="ctr">
              <a:spcBef>
                <a:spcPts val="0"/>
              </a:spcBef>
              <a:spcAft>
                <a:spcPts val="0"/>
              </a:spcAft>
            </a:pPr>
            <a:r>
              <a:rPr sz="1200" b="0" i="0">
                <a:solidFill>
                  <a:srgbClr val="1E2D44"/>
                </a:solidFill>
                <a:latin typeface="Karla"/>
              </a:rPr>
              <a:t>Top Centre Dark…</a:t>
            </a:r>
          </a:p>
        </p:txBody>
      </p:sp>
      <p:sp>
        <p:nvSpPr>
          <p:cNvPr id="77" name="TextBox 76"/>
          <p:cNvSpPr txBox="1"/>
          <p:nvPr/>
        </p:nvSpPr>
        <p:spPr>
          <a:xfrm>
            <a:off x="9832847" y="4909546"/>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+12*</a:t>
            </a:r>
          </a:p>
        </p:txBody>
      </p:sp>
      <p:sp>
        <p:nvSpPr>
          <p:cNvPr id="78" name="Rounded Rectangle 77"/>
          <p:cNvSpPr/>
          <p:nvPr/>
        </p:nvSpPr>
        <p:spPr>
          <a:xfrm>
            <a:off x="502920" y="5632704"/>
            <a:ext cx="11268455" cy="676656"/>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200" b="0">
                <a:solidFill>
                  <a:srgbClr val="1E2D44"/>
                </a:solidFill>
                <a:latin typeface="Karla"/>
              </a:rPr>
              <a:t>Have never purchased Fitspo products favor E02 Tripple Chocolate Chip Top Left Dark Text Panel; Have purchased in the past, but not currently favors E08 Banana Chocolate Top Left Dark Text Panel; Occasionally favors E08 Banana Chocolate Top Left Dark Text Panel; Regularly favors Vanilla Chocolate Top Left Dark Text Panel. The widest segment gap is E08 Banana Chocolate Top Left Dark Text Panel: +12 have never purchased fitspo products / +37 have purchased in the past, but not currently / +25 occasionally / +26 regularly.</a:t>
            </a:r>
          </a:p>
        </p:txBody>
      </p:sp>
      <p:sp>
        <p:nvSpPr>
          <p:cNvPr id="79" name="Rectangle 78"/>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Top-2 scores rounded to whole points. *Average of the groups in the legend.</a:t>
            </a:r>
          </a:p>
        </p:txBody>
      </p:sp>
      <p:sp>
        <p:nvSpPr>
          <p:cNvPr id="81" name="TextBox 80"/>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77</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37744"/>
            <a:ext cx="7043927" cy="182880"/>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KEY FINDINGS: F_GLUTEN-FREE  ·  Can you read english?   ·   1 of 2</a:t>
            </a:r>
          </a:p>
        </p:txBody>
      </p:sp>
      <p:sp>
        <p:nvSpPr>
          <p:cNvPr id="3" name="TextBox 2"/>
          <p:cNvSpPr txBox="1"/>
          <p:nvPr/>
        </p:nvSpPr>
        <p:spPr>
          <a:xfrm>
            <a:off x="502920" y="438912"/>
            <a:ext cx="7043927" cy="365760"/>
          </a:xfrm>
          <a:prstGeom prst="rect">
            <a:avLst/>
          </a:prstGeom>
          <a:noFill/>
        </p:spPr>
        <p:txBody>
          <a:bodyPr wrap="square" anchor="t" lIns="0" rIns="0" tIns="0" bIns="0"/>
          <a:lstStyle/>
          <a:p>
            <a:pPr algn="l">
              <a:spcBef>
                <a:spcPts val="0"/>
              </a:spcBef>
              <a:spcAft>
                <a:spcPts val="0"/>
              </a:spcAft>
            </a:pPr>
            <a:r>
              <a:rPr sz="2600" b="1" i="0">
                <a:solidFill>
                  <a:srgbClr val="1E2D44"/>
                </a:solidFill>
                <a:latin typeface="Karla"/>
              </a:rPr>
              <a:t>F_Gluten-free splits across the groups</a:t>
            </a:r>
          </a:p>
        </p:txBody>
      </p:sp>
      <p:sp>
        <p:nvSpPr>
          <p:cNvPr id="4" name="TextBox 3"/>
          <p:cNvSpPr txBox="1"/>
          <p:nvPr/>
        </p:nvSpPr>
        <p:spPr>
          <a:xfrm>
            <a:off x="502920" y="822960"/>
            <a:ext cx="7043927" cy="274320"/>
          </a:xfrm>
          <a:prstGeom prst="rect">
            <a:avLst/>
          </a:prstGeom>
          <a:noFill/>
        </p:spPr>
        <p:txBody>
          <a:bodyPr wrap="square" anchor="t" lIns="0" rIns="0" tIns="0" bIns="0"/>
          <a:lstStyle/>
          <a:p>
            <a:pPr algn="l">
              <a:spcBef>
                <a:spcPts val="0"/>
              </a:spcBef>
              <a:spcAft>
                <a:spcPts val="0"/>
              </a:spcAft>
            </a:pPr>
            <a:r>
              <a:rPr sz="1300" b="0" i="0">
                <a:solidFill>
                  <a:srgbClr val="617086"/>
                </a:solidFill>
                <a:latin typeface="Karla"/>
              </a:rPr>
              <a:t>No favors F03 Gluten Green Top Right; Yes favor F02 Gluten Free Badge White Top Right D1 Foil.</a:t>
            </a:r>
          </a:p>
        </p:txBody>
      </p:sp>
      <p:sp>
        <p:nvSpPr>
          <p:cNvPr id="5" name="Rectangle 4"/>
          <p:cNvSpPr/>
          <p:nvPr/>
        </p:nvSpPr>
        <p:spPr>
          <a:xfrm>
            <a:off x="502920" y="1133856"/>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F_GLUTEN-FREE</a:t>
            </a:r>
          </a:p>
        </p:txBody>
      </p:sp>
      <p:sp>
        <p:nvSpPr>
          <p:cNvPr id="6" name="Rectangle 5"/>
          <p:cNvSpPr/>
          <p:nvPr/>
        </p:nvSpPr>
        <p:spPr>
          <a:xfrm>
            <a:off x="2167128" y="1444752"/>
            <a:ext cx="9144" cy="351129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74520"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-40</a:t>
            </a:r>
          </a:p>
        </p:txBody>
      </p:sp>
      <p:sp>
        <p:nvSpPr>
          <p:cNvPr id="8" name="Rectangle 7"/>
          <p:cNvSpPr/>
          <p:nvPr/>
        </p:nvSpPr>
        <p:spPr>
          <a:xfrm>
            <a:off x="3783583" y="1444752"/>
            <a:ext cx="9144" cy="351129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90975"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0" name="TextBox 9"/>
          <p:cNvSpPr txBox="1"/>
          <p:nvPr/>
        </p:nvSpPr>
        <p:spPr>
          <a:xfrm>
            <a:off x="5107431"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11" name="Rectangle 10"/>
          <p:cNvSpPr/>
          <p:nvPr/>
        </p:nvSpPr>
        <p:spPr>
          <a:xfrm>
            <a:off x="7016495" y="1444752"/>
            <a:ext cx="9144" cy="351129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23887"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3" name="Rectangle 12"/>
          <p:cNvSpPr/>
          <p:nvPr/>
        </p:nvSpPr>
        <p:spPr>
          <a:xfrm>
            <a:off x="5400039" y="1444752"/>
            <a:ext cx="10972" cy="3511295"/>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167128" y="4956047"/>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1853945"/>
            <a:ext cx="1554480" cy="352044"/>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F02 Gluten Free</a:t>
            </a:r>
          </a:p>
          <a:p>
            <a:pPr algn="r">
              <a:spcBef>
                <a:spcPts val="0"/>
              </a:spcBef>
              <a:spcAft>
                <a:spcPts val="0"/>
              </a:spcAft>
            </a:pPr>
            <a:r>
              <a:rPr sz="1000" b="0" i="0">
                <a:solidFill>
                  <a:srgbClr val="1E2D44"/>
                </a:solidFill>
                <a:latin typeface="Karla"/>
              </a:rPr>
              <a:t>Badge White Top…</a:t>
            </a:r>
          </a:p>
        </p:txBody>
      </p:sp>
      <p:sp>
        <p:nvSpPr>
          <p:cNvPr id="16" name="Rectangle 15"/>
          <p:cNvSpPr/>
          <p:nvPr/>
        </p:nvSpPr>
        <p:spPr>
          <a:xfrm>
            <a:off x="3541115" y="1853945"/>
            <a:ext cx="1858924"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29051" y="1853945"/>
            <a:ext cx="457200" cy="155448"/>
          </a:xfrm>
          <a:prstGeom prst="rect">
            <a:avLst/>
          </a:prstGeom>
          <a:noFill/>
        </p:spPr>
        <p:txBody>
          <a:bodyPr wrap="none" anchor="ctr" lIns="0" rIns="0" tIns="0" bIns="0"/>
          <a:lstStyle/>
          <a:p>
            <a:pPr algn="r">
              <a:spcBef>
                <a:spcPts val="0"/>
              </a:spcBef>
              <a:spcAft>
                <a:spcPts val="0"/>
              </a:spcAft>
            </a:pPr>
            <a:r>
              <a:rPr sz="1200" b="1" i="0">
                <a:solidFill>
                  <a:srgbClr val="1A2332"/>
                </a:solidFill>
                <a:latin typeface="Karla"/>
              </a:rPr>
              <a:t>-23</a:t>
            </a:r>
          </a:p>
        </p:txBody>
      </p:sp>
      <p:sp>
        <p:nvSpPr>
          <p:cNvPr id="18" name="Rectangle 17"/>
          <p:cNvSpPr/>
          <p:nvPr/>
        </p:nvSpPr>
        <p:spPr>
          <a:xfrm>
            <a:off x="5400039" y="2050541"/>
            <a:ext cx="565759"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20663" y="2050541"/>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+7</a:t>
            </a:r>
          </a:p>
        </p:txBody>
      </p:sp>
      <p:sp>
        <p:nvSpPr>
          <p:cNvPr id="20" name="TextBox 19"/>
          <p:cNvSpPr txBox="1"/>
          <p:nvPr/>
        </p:nvSpPr>
        <p:spPr>
          <a:xfrm>
            <a:off x="502920" y="3024377"/>
            <a:ext cx="1554480" cy="352044"/>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F04 Gluten Free</a:t>
            </a:r>
          </a:p>
          <a:p>
            <a:pPr algn="r">
              <a:spcBef>
                <a:spcPts val="0"/>
              </a:spcBef>
              <a:spcAft>
                <a:spcPts val="0"/>
              </a:spcAft>
            </a:pPr>
            <a:r>
              <a:rPr sz="1100" b="0" i="0">
                <a:solidFill>
                  <a:srgbClr val="1E2D44"/>
                </a:solidFill>
                <a:latin typeface="Karla"/>
              </a:rPr>
              <a:t>Blank</a:t>
            </a:r>
          </a:p>
        </p:txBody>
      </p:sp>
      <p:sp>
        <p:nvSpPr>
          <p:cNvPr id="21" name="Rectangle 20"/>
          <p:cNvSpPr/>
          <p:nvPr/>
        </p:nvSpPr>
        <p:spPr>
          <a:xfrm>
            <a:off x="2409596" y="3024377"/>
            <a:ext cx="2990443"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167128" y="3024377"/>
            <a:ext cx="457200" cy="155448"/>
          </a:xfrm>
          <a:prstGeom prst="rect">
            <a:avLst/>
          </a:prstGeom>
          <a:noFill/>
        </p:spPr>
        <p:txBody>
          <a:bodyPr wrap="none" anchor="ctr" lIns="0" rIns="0" tIns="0" bIns="0"/>
          <a:lstStyle/>
          <a:p>
            <a:pPr algn="r">
              <a:spcBef>
                <a:spcPts val="0"/>
              </a:spcBef>
              <a:spcAft>
                <a:spcPts val="0"/>
              </a:spcAft>
            </a:pPr>
            <a:r>
              <a:rPr sz="1200" b="1" i="0">
                <a:solidFill>
                  <a:srgbClr val="1A2332"/>
                </a:solidFill>
                <a:latin typeface="Karla"/>
              </a:rPr>
              <a:t>-37</a:t>
            </a:r>
          </a:p>
        </p:txBody>
      </p:sp>
      <p:sp>
        <p:nvSpPr>
          <p:cNvPr id="23" name="Rectangle 22"/>
          <p:cNvSpPr/>
          <p:nvPr/>
        </p:nvSpPr>
        <p:spPr>
          <a:xfrm>
            <a:off x="5400039" y="3220973"/>
            <a:ext cx="484936"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39840" y="3220973"/>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+6</a:t>
            </a:r>
          </a:p>
        </p:txBody>
      </p:sp>
      <p:sp>
        <p:nvSpPr>
          <p:cNvPr id="25" name="TextBox 24"/>
          <p:cNvSpPr txBox="1"/>
          <p:nvPr/>
        </p:nvSpPr>
        <p:spPr>
          <a:xfrm>
            <a:off x="502920" y="4194809"/>
            <a:ext cx="1554480" cy="352044"/>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F01 Gluten Free</a:t>
            </a:r>
          </a:p>
          <a:p>
            <a:pPr algn="r">
              <a:spcBef>
                <a:spcPts val="0"/>
              </a:spcBef>
              <a:spcAft>
                <a:spcPts val="0"/>
              </a:spcAft>
            </a:pPr>
            <a:r>
              <a:rPr sz="1000" b="0" i="0">
                <a:solidFill>
                  <a:srgbClr val="1E2D44"/>
                </a:solidFill>
                <a:latin typeface="Karla"/>
              </a:rPr>
              <a:t>Badge Dark Bottom…</a:t>
            </a:r>
          </a:p>
        </p:txBody>
      </p:sp>
      <p:sp>
        <p:nvSpPr>
          <p:cNvPr id="26" name="Rectangle 25"/>
          <p:cNvSpPr/>
          <p:nvPr/>
        </p:nvSpPr>
        <p:spPr>
          <a:xfrm>
            <a:off x="3864406" y="4194809"/>
            <a:ext cx="1535633"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352342" y="4194809"/>
            <a:ext cx="457200" cy="155448"/>
          </a:xfrm>
          <a:prstGeom prst="rect">
            <a:avLst/>
          </a:prstGeom>
          <a:noFill/>
        </p:spPr>
        <p:txBody>
          <a:bodyPr wrap="none" anchor="ctr" lIns="0" rIns="0" tIns="0" bIns="0"/>
          <a:lstStyle/>
          <a:p>
            <a:pPr algn="r">
              <a:spcBef>
                <a:spcPts val="0"/>
              </a:spcBef>
              <a:spcAft>
                <a:spcPts val="0"/>
              </a:spcAft>
            </a:pPr>
            <a:r>
              <a:rPr sz="1200" b="1" i="0">
                <a:solidFill>
                  <a:srgbClr val="1A2332"/>
                </a:solidFill>
                <a:latin typeface="Karla"/>
              </a:rPr>
              <a:t>-19</a:t>
            </a:r>
          </a:p>
        </p:txBody>
      </p:sp>
      <p:sp>
        <p:nvSpPr>
          <p:cNvPr id="28" name="Rectangle 27"/>
          <p:cNvSpPr/>
          <p:nvPr/>
        </p:nvSpPr>
        <p:spPr>
          <a:xfrm>
            <a:off x="5400039" y="4391405"/>
            <a:ext cx="404113"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859017" y="4391405"/>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+5</a:t>
            </a:r>
          </a:p>
        </p:txBody>
      </p:sp>
      <p:sp>
        <p:nvSpPr>
          <p:cNvPr id="30" name="Rectangle 29"/>
          <p:cNvSpPr/>
          <p:nvPr/>
        </p:nvSpPr>
        <p:spPr>
          <a:xfrm>
            <a:off x="2797047" y="5381244"/>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970783" y="5321807"/>
            <a:ext cx="1329944" cy="219456"/>
          </a:xfrm>
          <a:prstGeom prst="rect">
            <a:avLst/>
          </a:prstGeom>
          <a:noFill/>
        </p:spPr>
        <p:txBody>
          <a:bodyPr wrap="none" anchor="ctr" lIns="0" rIns="0" tIns="0" bIns="0"/>
          <a:lstStyle/>
          <a:p>
            <a:pPr algn="l">
              <a:spcBef>
                <a:spcPts val="0"/>
              </a:spcBef>
              <a:spcAft>
                <a:spcPts val="0"/>
              </a:spcAft>
            </a:pPr>
            <a:r>
              <a:rPr sz="1100" b="0" i="0">
                <a:solidFill>
                  <a:srgbClr val="2C3A4A"/>
                </a:solidFill>
                <a:latin typeface="Karla"/>
              </a:rPr>
              <a:t>No (basesize = 1)</a:t>
            </a:r>
          </a:p>
        </p:txBody>
      </p:sp>
      <p:sp>
        <p:nvSpPr>
          <p:cNvPr id="32" name="Rectangle 31"/>
          <p:cNvSpPr/>
          <p:nvPr/>
        </p:nvSpPr>
        <p:spPr>
          <a:xfrm>
            <a:off x="4648199" y="5381244"/>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821935" y="5321807"/>
            <a:ext cx="1564640" cy="219456"/>
          </a:xfrm>
          <a:prstGeom prst="rect">
            <a:avLst/>
          </a:prstGeom>
          <a:noFill/>
        </p:spPr>
        <p:txBody>
          <a:bodyPr wrap="none" anchor="ctr" lIns="0" rIns="0" tIns="0" bIns="0"/>
          <a:lstStyle/>
          <a:p>
            <a:pPr algn="l">
              <a:spcBef>
                <a:spcPts val="0"/>
              </a:spcBef>
              <a:spcAft>
                <a:spcPts val="0"/>
              </a:spcAft>
            </a:pPr>
            <a:r>
              <a:rPr sz="1100" b="0" i="0">
                <a:solidFill>
                  <a:srgbClr val="2C3A4A"/>
                </a:solidFill>
                <a:latin typeface="Karla"/>
              </a:rPr>
              <a:t>Yes (basesize = 149)</a:t>
            </a:r>
          </a:p>
        </p:txBody>
      </p:sp>
      <p:sp>
        <p:nvSpPr>
          <p:cNvPr id="34" name="Rounded Rectangle 33"/>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361253" y="425195"/>
            <a:ext cx="778596" cy="856487"/>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F2.png"/>
          <p:cNvPicPr>
            <a:picLocks noChangeAspect="1"/>
          </p:cNvPicPr>
          <p:nvPr/>
        </p:nvPicPr>
        <p:blipFill>
          <a:blip r:embed="rId2"/>
          <a:stretch>
            <a:fillRect/>
          </a:stretch>
        </p:blipFill>
        <p:spPr>
          <a:xfrm>
            <a:off x="9374969" y="438911"/>
            <a:ext cx="751164" cy="829055"/>
          </a:xfrm>
          <a:prstGeom prst="rect">
            <a:avLst/>
          </a:prstGeom>
        </p:spPr>
      </p:pic>
      <p:sp>
        <p:nvSpPr>
          <p:cNvPr id="37" name="TextBox 36"/>
          <p:cNvSpPr txBox="1"/>
          <p:nvPr/>
        </p:nvSpPr>
        <p:spPr>
          <a:xfrm>
            <a:off x="7912607" y="1322831"/>
            <a:ext cx="3675887" cy="365760"/>
          </a:xfrm>
          <a:prstGeom prst="rect">
            <a:avLst/>
          </a:prstGeom>
          <a:noFill/>
        </p:spPr>
        <p:txBody>
          <a:bodyPr wrap="square" anchor="ctr" lIns="0" rIns="0" tIns="0" bIns="0"/>
          <a:lstStyle/>
          <a:p>
            <a:pPr algn="ctr">
              <a:spcBef>
                <a:spcPts val="0"/>
              </a:spcBef>
              <a:spcAft>
                <a:spcPts val="0"/>
              </a:spcAft>
            </a:pPr>
            <a:r>
              <a:rPr sz="1300" b="0" i="0">
                <a:solidFill>
                  <a:srgbClr val="1E2D44"/>
                </a:solidFill>
                <a:latin typeface="Karla"/>
              </a:rPr>
              <a:t>F02 Gluten Free Badge White Top Right</a:t>
            </a:r>
          </a:p>
          <a:p>
            <a:pPr algn="ctr">
              <a:spcBef>
                <a:spcPts val="0"/>
              </a:spcBef>
              <a:spcAft>
                <a:spcPts val="0"/>
              </a:spcAft>
            </a:pPr>
            <a:r>
              <a:rPr sz="1300" b="0" i="0">
                <a:solidFill>
                  <a:srgbClr val="1E2D44"/>
                </a:solidFill>
                <a:latin typeface="Karla"/>
              </a:rPr>
              <a:t>D1 Foil</a:t>
            </a:r>
          </a:p>
        </p:txBody>
      </p:sp>
      <p:sp>
        <p:nvSpPr>
          <p:cNvPr id="38" name="TextBox 37"/>
          <p:cNvSpPr txBox="1"/>
          <p:nvPr/>
        </p:nvSpPr>
        <p:spPr>
          <a:xfrm>
            <a:off x="7912607" y="1688591"/>
            <a:ext cx="3675887" cy="237744"/>
          </a:xfrm>
          <a:prstGeom prst="rect">
            <a:avLst/>
          </a:prstGeom>
          <a:noFill/>
        </p:spPr>
        <p:txBody>
          <a:bodyPr wrap="square" anchor="t" lIns="0" rIns="0" tIns="0" bIns="0"/>
          <a:lstStyle/>
          <a:p>
            <a:pPr algn="ctr">
              <a:spcBef>
                <a:spcPts val="0"/>
              </a:spcBef>
              <a:spcAft>
                <a:spcPts val="0"/>
              </a:spcAft>
            </a:pPr>
            <a:r>
              <a:rPr sz="1500" b="1" i="0">
                <a:solidFill>
                  <a:srgbClr val="DD0000"/>
                </a:solidFill>
                <a:latin typeface="Karla"/>
              </a:rPr>
              <a:t>-8*</a:t>
            </a:r>
          </a:p>
        </p:txBody>
      </p:sp>
      <p:sp>
        <p:nvSpPr>
          <p:cNvPr id="39" name="Rectangle 38"/>
          <p:cNvSpPr/>
          <p:nvPr/>
        </p:nvSpPr>
        <p:spPr>
          <a:xfrm>
            <a:off x="9361253" y="2132075"/>
            <a:ext cx="778596" cy="856487"/>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0" name="Picture 39" descr="F5.png"/>
          <p:cNvPicPr>
            <a:picLocks noChangeAspect="1"/>
          </p:cNvPicPr>
          <p:nvPr/>
        </p:nvPicPr>
        <p:blipFill>
          <a:blip r:embed="rId3"/>
          <a:stretch>
            <a:fillRect/>
          </a:stretch>
        </p:blipFill>
        <p:spPr>
          <a:xfrm>
            <a:off x="9374969" y="2145791"/>
            <a:ext cx="751164" cy="829055"/>
          </a:xfrm>
          <a:prstGeom prst="rect">
            <a:avLst/>
          </a:prstGeom>
        </p:spPr>
      </p:pic>
      <p:sp>
        <p:nvSpPr>
          <p:cNvPr id="41" name="TextBox 40"/>
          <p:cNvSpPr txBox="1"/>
          <p:nvPr/>
        </p:nvSpPr>
        <p:spPr>
          <a:xfrm>
            <a:off x="7912607" y="3029711"/>
            <a:ext cx="3675887" cy="365760"/>
          </a:xfrm>
          <a:prstGeom prst="rect">
            <a:avLst/>
          </a:prstGeom>
          <a:noFill/>
        </p:spPr>
        <p:txBody>
          <a:bodyPr wrap="square" anchor="ctr" lIns="0" rIns="0" tIns="0" bIns="0"/>
          <a:lstStyle/>
          <a:p>
            <a:pPr algn="ctr">
              <a:spcBef>
                <a:spcPts val="0"/>
              </a:spcBef>
              <a:spcAft>
                <a:spcPts val="0"/>
              </a:spcAft>
            </a:pPr>
            <a:r>
              <a:rPr sz="1300" b="0" i="0">
                <a:solidFill>
                  <a:srgbClr val="1E2D44"/>
                </a:solidFill>
                <a:latin typeface="Karla"/>
              </a:rPr>
              <a:t>F04 Gluten Free Blank</a:t>
            </a:r>
          </a:p>
        </p:txBody>
      </p:sp>
      <p:sp>
        <p:nvSpPr>
          <p:cNvPr id="42" name="TextBox 41"/>
          <p:cNvSpPr txBox="1"/>
          <p:nvPr/>
        </p:nvSpPr>
        <p:spPr>
          <a:xfrm>
            <a:off x="7912607" y="3395471"/>
            <a:ext cx="3675887" cy="237744"/>
          </a:xfrm>
          <a:prstGeom prst="rect">
            <a:avLst/>
          </a:prstGeom>
          <a:noFill/>
        </p:spPr>
        <p:txBody>
          <a:bodyPr wrap="square" anchor="t" lIns="0" rIns="0" tIns="0" bIns="0"/>
          <a:lstStyle/>
          <a:p>
            <a:pPr algn="ctr">
              <a:spcBef>
                <a:spcPts val="0"/>
              </a:spcBef>
              <a:spcAft>
                <a:spcPts val="0"/>
              </a:spcAft>
            </a:pPr>
            <a:r>
              <a:rPr sz="1500" b="1" i="0">
                <a:solidFill>
                  <a:srgbClr val="DD0000"/>
                </a:solidFill>
                <a:latin typeface="Karla"/>
              </a:rPr>
              <a:t>-16*</a:t>
            </a:r>
          </a:p>
        </p:txBody>
      </p:sp>
      <p:sp>
        <p:nvSpPr>
          <p:cNvPr id="43" name="Rectangle 42"/>
          <p:cNvSpPr/>
          <p:nvPr/>
        </p:nvSpPr>
        <p:spPr>
          <a:xfrm>
            <a:off x="9361253" y="3838956"/>
            <a:ext cx="778596" cy="856487"/>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4" name="Picture 43" descr="F1.png"/>
          <p:cNvPicPr>
            <a:picLocks noChangeAspect="1"/>
          </p:cNvPicPr>
          <p:nvPr/>
        </p:nvPicPr>
        <p:blipFill>
          <a:blip r:embed="rId4"/>
          <a:stretch>
            <a:fillRect/>
          </a:stretch>
        </p:blipFill>
        <p:spPr>
          <a:xfrm>
            <a:off x="9374969" y="3852671"/>
            <a:ext cx="751164" cy="829055"/>
          </a:xfrm>
          <a:prstGeom prst="rect">
            <a:avLst/>
          </a:prstGeom>
        </p:spPr>
      </p:pic>
      <p:sp>
        <p:nvSpPr>
          <p:cNvPr id="45" name="TextBox 44"/>
          <p:cNvSpPr txBox="1"/>
          <p:nvPr/>
        </p:nvSpPr>
        <p:spPr>
          <a:xfrm>
            <a:off x="7912607" y="4736591"/>
            <a:ext cx="3675887" cy="365760"/>
          </a:xfrm>
          <a:prstGeom prst="rect">
            <a:avLst/>
          </a:prstGeom>
          <a:noFill/>
        </p:spPr>
        <p:txBody>
          <a:bodyPr wrap="square" anchor="ctr" lIns="0" rIns="0" tIns="0" bIns="0"/>
          <a:lstStyle/>
          <a:p>
            <a:pPr algn="ctr">
              <a:spcBef>
                <a:spcPts val="0"/>
              </a:spcBef>
              <a:spcAft>
                <a:spcPts val="0"/>
              </a:spcAft>
            </a:pPr>
            <a:r>
              <a:rPr sz="1300" b="0" i="0">
                <a:solidFill>
                  <a:srgbClr val="1E2D44"/>
                </a:solidFill>
                <a:latin typeface="Karla"/>
              </a:rPr>
              <a:t>F01 Gluten Free Badge Dark Bottom</a:t>
            </a:r>
          </a:p>
          <a:p>
            <a:pPr algn="ctr">
              <a:spcBef>
                <a:spcPts val="0"/>
              </a:spcBef>
              <a:spcAft>
                <a:spcPts val="0"/>
              </a:spcAft>
            </a:pPr>
            <a:r>
              <a:rPr sz="1300" b="0" i="0">
                <a:solidFill>
                  <a:srgbClr val="1E2D44"/>
                </a:solidFill>
                <a:latin typeface="Karla"/>
              </a:rPr>
              <a:t>Right D2D3</a:t>
            </a:r>
          </a:p>
        </p:txBody>
      </p:sp>
      <p:sp>
        <p:nvSpPr>
          <p:cNvPr id="46" name="TextBox 45"/>
          <p:cNvSpPr txBox="1"/>
          <p:nvPr/>
        </p:nvSpPr>
        <p:spPr>
          <a:xfrm>
            <a:off x="7912607" y="5102351"/>
            <a:ext cx="3675887" cy="237744"/>
          </a:xfrm>
          <a:prstGeom prst="rect">
            <a:avLst/>
          </a:prstGeom>
          <a:noFill/>
        </p:spPr>
        <p:txBody>
          <a:bodyPr wrap="square" anchor="t" lIns="0" rIns="0" tIns="0" bIns="0"/>
          <a:lstStyle/>
          <a:p>
            <a:pPr algn="ctr">
              <a:spcBef>
                <a:spcPts val="0"/>
              </a:spcBef>
              <a:spcAft>
                <a:spcPts val="0"/>
              </a:spcAft>
            </a:pPr>
            <a:r>
              <a:rPr sz="1500" b="1" i="0">
                <a:solidFill>
                  <a:srgbClr val="DD0000"/>
                </a:solidFill>
                <a:latin typeface="Karla"/>
              </a:rPr>
              <a:t>-7*</a:t>
            </a:r>
          </a:p>
        </p:txBody>
      </p:sp>
      <p:sp>
        <p:nvSpPr>
          <p:cNvPr id="47" name="Rounded Rectangle 46"/>
          <p:cNvSpPr/>
          <p:nvPr/>
        </p:nvSpPr>
        <p:spPr>
          <a:xfrm>
            <a:off x="502920" y="5632704"/>
            <a:ext cx="11268455" cy="530352"/>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300" b="0">
                <a:solidFill>
                  <a:srgbClr val="1E2D44"/>
                </a:solidFill>
                <a:latin typeface="Karla"/>
              </a:rPr>
              <a:t>No favors F03 Gluten Green Top Right; Yes favor F02 Gluten Free Badge White Top Right D1 Foil. The widest segment gap is F04 Gluten Free Blank: -37 no / +6 yes.</a:t>
            </a:r>
          </a:p>
        </p:txBody>
      </p:sp>
      <p:sp>
        <p:nvSpPr>
          <p:cNvPr id="48" name="Rectangle 47"/>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No basesize = 1; Yes basesize = 149. Top-2 scores rounded to whole points. *Average of the groups in the legend.</a:t>
            </a:r>
          </a:p>
        </p:txBody>
      </p:sp>
      <p:sp>
        <p:nvSpPr>
          <p:cNvPr id="50" name="TextBox 49"/>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78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37744"/>
            <a:ext cx="7043927" cy="182880"/>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KEY FINDINGS: F_GLUTEN-FREE  ·  Can you read english?   ·   2 of 2</a:t>
            </a:r>
          </a:p>
        </p:txBody>
      </p:sp>
      <p:sp>
        <p:nvSpPr>
          <p:cNvPr id="3" name="TextBox 2"/>
          <p:cNvSpPr txBox="1"/>
          <p:nvPr/>
        </p:nvSpPr>
        <p:spPr>
          <a:xfrm>
            <a:off x="502920" y="438912"/>
            <a:ext cx="7043927" cy="365760"/>
          </a:xfrm>
          <a:prstGeom prst="rect">
            <a:avLst/>
          </a:prstGeom>
          <a:noFill/>
        </p:spPr>
        <p:txBody>
          <a:bodyPr wrap="square" anchor="t" lIns="0" rIns="0" tIns="0" bIns="0"/>
          <a:lstStyle/>
          <a:p>
            <a:pPr algn="l">
              <a:spcBef>
                <a:spcPts val="0"/>
              </a:spcBef>
              <a:spcAft>
                <a:spcPts val="0"/>
              </a:spcAft>
            </a:pPr>
            <a:r>
              <a:rPr sz="2600" b="1" i="0">
                <a:solidFill>
                  <a:srgbClr val="1E2D44"/>
                </a:solidFill>
                <a:latin typeface="Karla"/>
              </a:rPr>
              <a:t>F_Gluten-free splits across the groups</a:t>
            </a:r>
          </a:p>
        </p:txBody>
      </p:sp>
      <p:sp>
        <p:nvSpPr>
          <p:cNvPr id="4" name="TextBox 3"/>
          <p:cNvSpPr txBox="1"/>
          <p:nvPr/>
        </p:nvSpPr>
        <p:spPr>
          <a:xfrm>
            <a:off x="502920" y="822960"/>
            <a:ext cx="7043927" cy="274320"/>
          </a:xfrm>
          <a:prstGeom prst="rect">
            <a:avLst/>
          </a:prstGeom>
          <a:noFill/>
        </p:spPr>
        <p:txBody>
          <a:bodyPr wrap="square" anchor="t" lIns="0" rIns="0" tIns="0" bIns="0"/>
          <a:lstStyle/>
          <a:p>
            <a:pPr algn="l">
              <a:spcBef>
                <a:spcPts val="0"/>
              </a:spcBef>
              <a:spcAft>
                <a:spcPts val="0"/>
              </a:spcAft>
            </a:pPr>
            <a:r>
              <a:rPr sz="1300" b="0" i="0">
                <a:solidFill>
                  <a:srgbClr val="617086"/>
                </a:solidFill>
                <a:latin typeface="Karla"/>
              </a:rPr>
              <a:t>No favors F03 Gluten Green Top Right; Yes favor F02 Gluten Free Badge White Top Right D1 Foil.</a:t>
            </a:r>
          </a:p>
        </p:txBody>
      </p:sp>
      <p:sp>
        <p:nvSpPr>
          <p:cNvPr id="5" name="Rectangle 4"/>
          <p:cNvSpPr/>
          <p:nvPr/>
        </p:nvSpPr>
        <p:spPr>
          <a:xfrm>
            <a:off x="502920" y="1133856"/>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F_GLUTEN-FREE</a:t>
            </a:r>
          </a:p>
        </p:txBody>
      </p:sp>
      <p:sp>
        <p:nvSpPr>
          <p:cNvPr id="6" name="Rectangle 5"/>
          <p:cNvSpPr/>
          <p:nvPr/>
        </p:nvSpPr>
        <p:spPr>
          <a:xfrm>
            <a:off x="2167128" y="1444752"/>
            <a:ext cx="9144" cy="351129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74520"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8" name="Rectangle 7"/>
          <p:cNvSpPr/>
          <p:nvPr/>
        </p:nvSpPr>
        <p:spPr>
          <a:xfrm>
            <a:off x="3379469" y="1444752"/>
            <a:ext cx="9144" cy="351129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086861"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10" name="TextBox 9"/>
          <p:cNvSpPr txBox="1"/>
          <p:nvPr/>
        </p:nvSpPr>
        <p:spPr>
          <a:xfrm>
            <a:off x="4299203"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11" name="Rectangle 10"/>
          <p:cNvSpPr/>
          <p:nvPr/>
        </p:nvSpPr>
        <p:spPr>
          <a:xfrm>
            <a:off x="5804153" y="1444752"/>
            <a:ext cx="9144" cy="351129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11545"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13" name="Rectangle 12"/>
          <p:cNvSpPr/>
          <p:nvPr/>
        </p:nvSpPr>
        <p:spPr>
          <a:xfrm>
            <a:off x="7016495" y="1444752"/>
            <a:ext cx="9144" cy="351129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23887"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5" name="Rectangle 14"/>
          <p:cNvSpPr/>
          <p:nvPr/>
        </p:nvSpPr>
        <p:spPr>
          <a:xfrm>
            <a:off x="4591811" y="1444752"/>
            <a:ext cx="10972" cy="3511295"/>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167128" y="4956047"/>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2146553"/>
            <a:ext cx="1554480" cy="352044"/>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F04 Gluten Green</a:t>
            </a:r>
          </a:p>
          <a:p>
            <a:pPr algn="r">
              <a:spcBef>
                <a:spcPts val="0"/>
              </a:spcBef>
              <a:spcAft>
                <a:spcPts val="0"/>
              </a:spcAft>
            </a:pPr>
            <a:r>
              <a:rPr sz="1100" b="0" i="0">
                <a:solidFill>
                  <a:srgbClr val="1E2D44"/>
                </a:solidFill>
                <a:latin typeface="Karla"/>
              </a:rPr>
              <a:t>Bottom Right</a:t>
            </a:r>
          </a:p>
        </p:txBody>
      </p:sp>
      <p:sp>
        <p:nvSpPr>
          <p:cNvPr id="18" name="Rectangle 17"/>
          <p:cNvSpPr/>
          <p:nvPr/>
        </p:nvSpPr>
        <p:spPr>
          <a:xfrm>
            <a:off x="2167128" y="2146553"/>
            <a:ext cx="2424683"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167128" y="2146553"/>
            <a:ext cx="457200" cy="155448"/>
          </a:xfrm>
          <a:prstGeom prst="rect">
            <a:avLst/>
          </a:prstGeom>
          <a:noFill/>
        </p:spPr>
        <p:txBody>
          <a:bodyPr wrap="none" anchor="ctr" lIns="0" rIns="0" tIns="0" bIns="0"/>
          <a:lstStyle/>
          <a:p>
            <a:pPr algn="r">
              <a:spcBef>
                <a:spcPts val="0"/>
              </a:spcBef>
              <a:spcAft>
                <a:spcPts val="0"/>
              </a:spcAft>
            </a:pPr>
            <a:r>
              <a:rPr sz="1200" b="1" i="0">
                <a:solidFill>
                  <a:srgbClr val="1A2332"/>
                </a:solidFill>
                <a:latin typeface="Karla"/>
              </a:rPr>
              <a:t>-20</a:t>
            </a:r>
          </a:p>
        </p:txBody>
      </p:sp>
      <p:sp>
        <p:nvSpPr>
          <p:cNvPr id="20" name="Rectangle 19"/>
          <p:cNvSpPr/>
          <p:nvPr/>
        </p:nvSpPr>
        <p:spPr>
          <a:xfrm>
            <a:off x="4591811" y="2343149"/>
            <a:ext cx="606170"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52846" y="2343149"/>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+5</a:t>
            </a:r>
          </a:p>
        </p:txBody>
      </p:sp>
      <p:sp>
        <p:nvSpPr>
          <p:cNvPr id="22" name="TextBox 21"/>
          <p:cNvSpPr txBox="1"/>
          <p:nvPr/>
        </p:nvSpPr>
        <p:spPr>
          <a:xfrm>
            <a:off x="502920" y="3902201"/>
            <a:ext cx="1554480" cy="352044"/>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F03 Gluten Green</a:t>
            </a:r>
          </a:p>
          <a:p>
            <a:pPr algn="r">
              <a:spcBef>
                <a:spcPts val="0"/>
              </a:spcBef>
              <a:spcAft>
                <a:spcPts val="0"/>
              </a:spcAft>
            </a:pPr>
            <a:r>
              <a:rPr sz="1100" b="0" i="0">
                <a:solidFill>
                  <a:srgbClr val="1E2D44"/>
                </a:solidFill>
                <a:latin typeface="Karla"/>
              </a:rPr>
              <a:t>Top Right</a:t>
            </a:r>
          </a:p>
        </p:txBody>
      </p:sp>
      <p:sp>
        <p:nvSpPr>
          <p:cNvPr id="23" name="Rectangle 22"/>
          <p:cNvSpPr/>
          <p:nvPr/>
        </p:nvSpPr>
        <p:spPr>
          <a:xfrm>
            <a:off x="4349343" y="3902201"/>
            <a:ext cx="242468"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837279" y="3902201"/>
            <a:ext cx="457200" cy="155448"/>
          </a:xfrm>
          <a:prstGeom prst="rect">
            <a:avLst/>
          </a:prstGeom>
          <a:noFill/>
        </p:spPr>
        <p:txBody>
          <a:bodyPr wrap="none" anchor="ctr" lIns="0" rIns="0" tIns="0" bIns="0"/>
          <a:lstStyle/>
          <a:p>
            <a:pPr algn="r">
              <a:spcBef>
                <a:spcPts val="0"/>
              </a:spcBef>
              <a:spcAft>
                <a:spcPts val="0"/>
              </a:spcAft>
            </a:pPr>
            <a:r>
              <a:rPr sz="1200" b="1" i="0">
                <a:solidFill>
                  <a:srgbClr val="1A2332"/>
                </a:solidFill>
                <a:latin typeface="Karla"/>
              </a:rPr>
              <a:t>-2</a:t>
            </a:r>
          </a:p>
        </p:txBody>
      </p:sp>
      <p:sp>
        <p:nvSpPr>
          <p:cNvPr id="25" name="Rectangle 24"/>
          <p:cNvSpPr/>
          <p:nvPr/>
        </p:nvSpPr>
        <p:spPr>
          <a:xfrm>
            <a:off x="4591811" y="4098797"/>
            <a:ext cx="484936"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131612" y="4098797"/>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+4</a:t>
            </a:r>
          </a:p>
        </p:txBody>
      </p:sp>
      <p:sp>
        <p:nvSpPr>
          <p:cNvPr id="27" name="Rectangle 26"/>
          <p:cNvSpPr/>
          <p:nvPr/>
        </p:nvSpPr>
        <p:spPr>
          <a:xfrm>
            <a:off x="2797047" y="5381244"/>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970783" y="5321807"/>
            <a:ext cx="1329944" cy="219456"/>
          </a:xfrm>
          <a:prstGeom prst="rect">
            <a:avLst/>
          </a:prstGeom>
          <a:noFill/>
        </p:spPr>
        <p:txBody>
          <a:bodyPr wrap="none" anchor="ctr" lIns="0" rIns="0" tIns="0" bIns="0"/>
          <a:lstStyle/>
          <a:p>
            <a:pPr algn="l">
              <a:spcBef>
                <a:spcPts val="0"/>
              </a:spcBef>
              <a:spcAft>
                <a:spcPts val="0"/>
              </a:spcAft>
            </a:pPr>
            <a:r>
              <a:rPr sz="1100" b="0" i="0">
                <a:solidFill>
                  <a:srgbClr val="2C3A4A"/>
                </a:solidFill>
                <a:latin typeface="Karla"/>
              </a:rPr>
              <a:t>No (basesize = 1)</a:t>
            </a:r>
          </a:p>
        </p:txBody>
      </p:sp>
      <p:sp>
        <p:nvSpPr>
          <p:cNvPr id="29" name="Rectangle 28"/>
          <p:cNvSpPr/>
          <p:nvPr/>
        </p:nvSpPr>
        <p:spPr>
          <a:xfrm>
            <a:off x="4648199" y="5381244"/>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21935" y="5321807"/>
            <a:ext cx="1564640" cy="219456"/>
          </a:xfrm>
          <a:prstGeom prst="rect">
            <a:avLst/>
          </a:prstGeom>
          <a:noFill/>
        </p:spPr>
        <p:txBody>
          <a:bodyPr wrap="none" anchor="ctr" lIns="0" rIns="0" tIns="0" bIns="0"/>
          <a:lstStyle/>
          <a:p>
            <a:pPr algn="l">
              <a:spcBef>
                <a:spcPts val="0"/>
              </a:spcBef>
              <a:spcAft>
                <a:spcPts val="0"/>
              </a:spcAft>
            </a:pPr>
            <a:r>
              <a:rPr sz="1100" b="0" i="0">
                <a:solidFill>
                  <a:srgbClr val="2C3A4A"/>
                </a:solidFill>
                <a:latin typeface="Karla"/>
              </a:rPr>
              <a:t>Yes (basesize = 149)</a:t>
            </a:r>
          </a:p>
        </p:txBody>
      </p:sp>
      <p:sp>
        <p:nvSpPr>
          <p:cNvPr id="31" name="Rounded Rectangle 30"/>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35467" y="1618122"/>
            <a:ext cx="1709927" cy="1884394"/>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F4.png"/>
          <p:cNvPicPr>
            <a:picLocks noChangeAspect="1"/>
          </p:cNvPicPr>
          <p:nvPr/>
        </p:nvPicPr>
        <p:blipFill>
          <a:blip r:embed="rId2"/>
          <a:stretch>
            <a:fillRect/>
          </a:stretch>
        </p:blipFill>
        <p:spPr>
          <a:xfrm>
            <a:off x="7949183" y="1631838"/>
            <a:ext cx="1682495" cy="1856962"/>
          </a:xfrm>
          <a:prstGeom prst="rect">
            <a:avLst/>
          </a:prstGeom>
        </p:spPr>
      </p:pic>
      <p:sp>
        <p:nvSpPr>
          <p:cNvPr id="34" name="TextBox 33"/>
          <p:cNvSpPr txBox="1"/>
          <p:nvPr/>
        </p:nvSpPr>
        <p:spPr>
          <a:xfrm>
            <a:off x="7912607" y="3543665"/>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F04 Gluten Green</a:t>
            </a:r>
          </a:p>
          <a:p>
            <a:pPr algn="ctr">
              <a:spcBef>
                <a:spcPts val="0"/>
              </a:spcBef>
              <a:spcAft>
                <a:spcPts val="0"/>
              </a:spcAft>
            </a:pPr>
            <a:r>
              <a:rPr sz="1200" b="0" i="0">
                <a:solidFill>
                  <a:srgbClr val="1E2D44"/>
                </a:solidFill>
                <a:latin typeface="Karla"/>
              </a:rPr>
              <a:t>Bottom Right</a:t>
            </a:r>
          </a:p>
        </p:txBody>
      </p:sp>
      <p:sp>
        <p:nvSpPr>
          <p:cNvPr id="35" name="TextBox 34"/>
          <p:cNvSpPr txBox="1"/>
          <p:nvPr/>
        </p:nvSpPr>
        <p:spPr>
          <a:xfrm>
            <a:off x="7912607" y="3909425"/>
            <a:ext cx="1755647" cy="237744"/>
          </a:xfrm>
          <a:prstGeom prst="rect">
            <a:avLst/>
          </a:prstGeom>
          <a:noFill/>
        </p:spPr>
        <p:txBody>
          <a:bodyPr wrap="square" anchor="t" lIns="0" rIns="0" tIns="0" bIns="0"/>
          <a:lstStyle/>
          <a:p>
            <a:pPr algn="ctr">
              <a:spcBef>
                <a:spcPts val="0"/>
              </a:spcBef>
              <a:spcAft>
                <a:spcPts val="0"/>
              </a:spcAft>
            </a:pPr>
            <a:r>
              <a:rPr sz="1500" b="1" i="0">
                <a:solidFill>
                  <a:srgbClr val="DD0000"/>
                </a:solidFill>
                <a:latin typeface="Karla"/>
              </a:rPr>
              <a:t>-8*</a:t>
            </a:r>
          </a:p>
        </p:txBody>
      </p:sp>
      <p:sp>
        <p:nvSpPr>
          <p:cNvPr id="36" name="Rectangle 35"/>
          <p:cNvSpPr/>
          <p:nvPr/>
        </p:nvSpPr>
        <p:spPr>
          <a:xfrm>
            <a:off x="9855707" y="1618122"/>
            <a:ext cx="1709927" cy="1884394"/>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F3.png"/>
          <p:cNvPicPr>
            <a:picLocks noChangeAspect="1"/>
          </p:cNvPicPr>
          <p:nvPr/>
        </p:nvPicPr>
        <p:blipFill>
          <a:blip r:embed="rId3"/>
          <a:stretch>
            <a:fillRect/>
          </a:stretch>
        </p:blipFill>
        <p:spPr>
          <a:xfrm>
            <a:off x="9869423" y="1631838"/>
            <a:ext cx="1682495" cy="1856962"/>
          </a:xfrm>
          <a:prstGeom prst="rect">
            <a:avLst/>
          </a:prstGeom>
        </p:spPr>
      </p:pic>
      <p:sp>
        <p:nvSpPr>
          <p:cNvPr id="38" name="TextBox 37"/>
          <p:cNvSpPr txBox="1"/>
          <p:nvPr/>
        </p:nvSpPr>
        <p:spPr>
          <a:xfrm>
            <a:off x="9832847" y="3543665"/>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F03 Gluten Green</a:t>
            </a:r>
          </a:p>
          <a:p>
            <a:pPr algn="ctr">
              <a:spcBef>
                <a:spcPts val="0"/>
              </a:spcBef>
              <a:spcAft>
                <a:spcPts val="0"/>
              </a:spcAft>
            </a:pPr>
            <a:r>
              <a:rPr sz="1200" b="0" i="0">
                <a:solidFill>
                  <a:srgbClr val="1E2D44"/>
                </a:solidFill>
                <a:latin typeface="Karla"/>
              </a:rPr>
              <a:t>Top Right</a:t>
            </a:r>
          </a:p>
        </p:txBody>
      </p:sp>
      <p:sp>
        <p:nvSpPr>
          <p:cNvPr id="39" name="TextBox 38"/>
          <p:cNvSpPr txBox="1"/>
          <p:nvPr/>
        </p:nvSpPr>
        <p:spPr>
          <a:xfrm>
            <a:off x="9832847" y="3909425"/>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a:t>
            </a:r>
          </a:p>
        </p:txBody>
      </p:sp>
      <p:sp>
        <p:nvSpPr>
          <p:cNvPr id="40" name="Rounded Rectangle 39"/>
          <p:cNvSpPr/>
          <p:nvPr/>
        </p:nvSpPr>
        <p:spPr>
          <a:xfrm>
            <a:off x="502920" y="5632704"/>
            <a:ext cx="11268455" cy="530352"/>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300" b="0">
                <a:solidFill>
                  <a:srgbClr val="1E2D44"/>
                </a:solidFill>
                <a:latin typeface="Karla"/>
              </a:rPr>
              <a:t>No favors F03 Gluten Green Top Right; Yes favor F02 Gluten Free Badge White Top Right D1 Foil. The widest segment gap is F04 Gluten Free Blank: -37 no / +6 yes.</a:t>
            </a:r>
          </a:p>
        </p:txBody>
      </p:sp>
      <p:sp>
        <p:nvSpPr>
          <p:cNvPr id="41" name="Rectangle 40"/>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No basesize = 1; Yes basesize = 149. Top-2 scores rounded to whole points. *Average of the groups in the legend.</a:t>
            </a:r>
          </a:p>
        </p:txBody>
      </p:sp>
      <p:sp>
        <p:nvSpPr>
          <p:cNvPr id="43" name="TextBox 42"/>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79</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37744"/>
            <a:ext cx="7043927" cy="182880"/>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KEY FINDINGS: F_GLUTEN-FREE  ·  Which of these countries do you live in?   ·   1 of 2</a:t>
            </a:r>
          </a:p>
        </p:txBody>
      </p:sp>
      <p:sp>
        <p:nvSpPr>
          <p:cNvPr id="3" name="TextBox 2"/>
          <p:cNvSpPr txBox="1"/>
          <p:nvPr/>
        </p:nvSpPr>
        <p:spPr>
          <a:xfrm>
            <a:off x="502920" y="438912"/>
            <a:ext cx="7043927" cy="365760"/>
          </a:xfrm>
          <a:prstGeom prst="rect">
            <a:avLst/>
          </a:prstGeom>
          <a:noFill/>
        </p:spPr>
        <p:txBody>
          <a:bodyPr wrap="square" anchor="t" lIns="0" rIns="0" tIns="0" bIns="0"/>
          <a:lstStyle/>
          <a:p>
            <a:pPr algn="l">
              <a:spcBef>
                <a:spcPts val="0"/>
              </a:spcBef>
              <a:spcAft>
                <a:spcPts val="0"/>
              </a:spcAft>
            </a:pPr>
            <a:r>
              <a:rPr sz="2600" b="1" i="0">
                <a:solidFill>
                  <a:srgbClr val="1E2D44"/>
                </a:solidFill>
                <a:latin typeface="Karla"/>
              </a:rPr>
              <a:t>F02 Gluten Free Badge White Top Right D1 Foil leads in every group</a:t>
            </a:r>
          </a:p>
        </p:txBody>
      </p:sp>
      <p:sp>
        <p:nvSpPr>
          <p:cNvPr id="4" name="TextBox 3"/>
          <p:cNvSpPr txBox="1"/>
          <p:nvPr/>
        </p:nvSpPr>
        <p:spPr>
          <a:xfrm>
            <a:off x="502920" y="822960"/>
            <a:ext cx="7043927" cy="475488"/>
          </a:xfrm>
          <a:prstGeom prst="rect">
            <a:avLst/>
          </a:prstGeom>
          <a:noFill/>
        </p:spPr>
        <p:txBody>
          <a:bodyPr wrap="square" anchor="t" lIns="0" rIns="0" tIns="0" bIns="0"/>
          <a:lstStyle/>
          <a:p>
            <a:pPr algn="l">
              <a:spcBef>
                <a:spcPts val="0"/>
              </a:spcBef>
              <a:spcAft>
                <a:spcPts val="0"/>
              </a:spcAft>
            </a:pPr>
            <a:r>
              <a:rPr sz="1200" b="0" i="0">
                <a:solidFill>
                  <a:srgbClr val="617086"/>
                </a:solidFill>
                <a:latin typeface="Karla"/>
              </a:rPr>
              <a:t>F02 Gluten Free Badge White Top Right D1 Foil leads every group; F01 Gluten Free Badge Dark Bottom Right D2D3 ranks last.</a:t>
            </a:r>
          </a:p>
        </p:txBody>
      </p:sp>
      <p:sp>
        <p:nvSpPr>
          <p:cNvPr id="5" name="Rectangle 4"/>
          <p:cNvSpPr/>
          <p:nvPr/>
        </p:nvSpPr>
        <p:spPr>
          <a:xfrm>
            <a:off x="502920" y="1335024"/>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F_GLUTEN-FREE</a:t>
            </a:r>
          </a:p>
        </p:txBody>
      </p:sp>
      <p:sp>
        <p:nvSpPr>
          <p:cNvPr id="6" name="TextBox 5"/>
          <p:cNvSpPr txBox="1"/>
          <p:nvPr/>
        </p:nvSpPr>
        <p:spPr>
          <a:xfrm>
            <a:off x="1874520"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7" name="Rectangle 6"/>
          <p:cNvSpPr/>
          <p:nvPr/>
        </p:nvSpPr>
        <p:spPr>
          <a:xfrm>
            <a:off x="4591811" y="1645920"/>
            <a:ext cx="9144" cy="3310128"/>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99203"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5</a:t>
            </a:r>
          </a:p>
        </p:txBody>
      </p:sp>
      <p:sp>
        <p:nvSpPr>
          <p:cNvPr id="9" name="Rectangle 8"/>
          <p:cNvSpPr/>
          <p:nvPr/>
        </p:nvSpPr>
        <p:spPr>
          <a:xfrm>
            <a:off x="7016495" y="1645920"/>
            <a:ext cx="9144" cy="3310128"/>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23887"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11" name="Rectangle 10"/>
          <p:cNvSpPr/>
          <p:nvPr/>
        </p:nvSpPr>
        <p:spPr>
          <a:xfrm>
            <a:off x="2167128" y="1645920"/>
            <a:ext cx="10972" cy="3310128"/>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167128" y="4956048"/>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1923288"/>
            <a:ext cx="1554480" cy="548640"/>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F02 Gluten Free</a:t>
            </a:r>
          </a:p>
          <a:p>
            <a:pPr algn="r">
              <a:spcBef>
                <a:spcPts val="0"/>
              </a:spcBef>
              <a:spcAft>
                <a:spcPts val="0"/>
              </a:spcAft>
            </a:pPr>
            <a:r>
              <a:rPr sz="1000" b="0" i="0">
                <a:solidFill>
                  <a:srgbClr val="1E2D44"/>
                </a:solidFill>
                <a:latin typeface="Karla"/>
              </a:rPr>
              <a:t>Badge White Top…</a:t>
            </a:r>
          </a:p>
        </p:txBody>
      </p:sp>
      <p:sp>
        <p:nvSpPr>
          <p:cNvPr id="14" name="Rectangle 13"/>
          <p:cNvSpPr/>
          <p:nvPr/>
        </p:nvSpPr>
        <p:spPr>
          <a:xfrm>
            <a:off x="2167128" y="1923288"/>
            <a:ext cx="3394557"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16549" y="1923288"/>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+7</a:t>
            </a:r>
          </a:p>
        </p:txBody>
      </p:sp>
      <p:sp>
        <p:nvSpPr>
          <p:cNvPr id="16" name="Rectangle 15"/>
          <p:cNvSpPr/>
          <p:nvPr/>
        </p:nvSpPr>
        <p:spPr>
          <a:xfrm>
            <a:off x="2167128" y="2119884"/>
            <a:ext cx="3394557"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16549" y="2119884"/>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+7</a:t>
            </a:r>
          </a:p>
        </p:txBody>
      </p:sp>
      <p:sp>
        <p:nvSpPr>
          <p:cNvPr id="18" name="Rectangle 17"/>
          <p:cNvSpPr/>
          <p:nvPr/>
        </p:nvSpPr>
        <p:spPr>
          <a:xfrm>
            <a:off x="2167128" y="2316480"/>
            <a:ext cx="2909620" cy="155448"/>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31612" y="2316480"/>
            <a:ext cx="457200" cy="155448"/>
          </a:xfrm>
          <a:prstGeom prst="rect">
            <a:avLst/>
          </a:prstGeom>
          <a:noFill/>
        </p:spPr>
        <p:txBody>
          <a:bodyPr wrap="none" anchor="ctr" lIns="0" rIns="0" tIns="0" bIns="0"/>
          <a:lstStyle/>
          <a:p>
            <a:pPr algn="l">
              <a:spcBef>
                <a:spcPts val="0"/>
              </a:spcBef>
              <a:spcAft>
                <a:spcPts val="0"/>
              </a:spcAft>
            </a:pPr>
            <a:r>
              <a:rPr sz="1200" b="1" i="0">
                <a:solidFill>
                  <a:srgbClr val="C45C26"/>
                </a:solidFill>
                <a:latin typeface="Karla"/>
              </a:rPr>
              <a:t>+6</a:t>
            </a:r>
          </a:p>
        </p:txBody>
      </p:sp>
      <p:sp>
        <p:nvSpPr>
          <p:cNvPr id="20" name="TextBox 19"/>
          <p:cNvSpPr txBox="1"/>
          <p:nvPr/>
        </p:nvSpPr>
        <p:spPr>
          <a:xfrm>
            <a:off x="502920" y="3026664"/>
            <a:ext cx="1554480" cy="548640"/>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F04 Gluten Green</a:t>
            </a:r>
          </a:p>
          <a:p>
            <a:pPr algn="r">
              <a:spcBef>
                <a:spcPts val="0"/>
              </a:spcBef>
              <a:spcAft>
                <a:spcPts val="0"/>
              </a:spcAft>
            </a:pPr>
            <a:r>
              <a:rPr sz="1100" b="0" i="0">
                <a:solidFill>
                  <a:srgbClr val="1E2D44"/>
                </a:solidFill>
                <a:latin typeface="Karla"/>
              </a:rPr>
              <a:t>Bottom Right</a:t>
            </a:r>
          </a:p>
        </p:txBody>
      </p:sp>
      <p:sp>
        <p:nvSpPr>
          <p:cNvPr id="21" name="Rectangle 20"/>
          <p:cNvSpPr/>
          <p:nvPr/>
        </p:nvSpPr>
        <p:spPr>
          <a:xfrm>
            <a:off x="2167128" y="3026664"/>
            <a:ext cx="3394557"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16549" y="3026664"/>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+7</a:t>
            </a:r>
          </a:p>
        </p:txBody>
      </p:sp>
      <p:sp>
        <p:nvSpPr>
          <p:cNvPr id="23" name="Rectangle 22"/>
          <p:cNvSpPr/>
          <p:nvPr/>
        </p:nvSpPr>
        <p:spPr>
          <a:xfrm>
            <a:off x="2167128" y="3223260"/>
            <a:ext cx="3394557"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616549" y="3223260"/>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+7</a:t>
            </a:r>
          </a:p>
        </p:txBody>
      </p:sp>
      <p:sp>
        <p:nvSpPr>
          <p:cNvPr id="25" name="Rectangle 24"/>
          <p:cNvSpPr/>
          <p:nvPr/>
        </p:nvSpPr>
        <p:spPr>
          <a:xfrm>
            <a:off x="2167128" y="3419856"/>
            <a:ext cx="484936" cy="155448"/>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706928" y="3419856"/>
            <a:ext cx="457200" cy="155448"/>
          </a:xfrm>
          <a:prstGeom prst="rect">
            <a:avLst/>
          </a:prstGeom>
          <a:noFill/>
        </p:spPr>
        <p:txBody>
          <a:bodyPr wrap="none" anchor="ctr" lIns="0" rIns="0" tIns="0" bIns="0"/>
          <a:lstStyle/>
          <a:p>
            <a:pPr algn="l">
              <a:spcBef>
                <a:spcPts val="0"/>
              </a:spcBef>
              <a:spcAft>
                <a:spcPts val="0"/>
              </a:spcAft>
            </a:pPr>
            <a:r>
              <a:rPr sz="1200" b="1" i="0">
                <a:solidFill>
                  <a:srgbClr val="C45C26"/>
                </a:solidFill>
                <a:latin typeface="Karla"/>
              </a:rPr>
              <a:t>+1</a:t>
            </a:r>
          </a:p>
        </p:txBody>
      </p:sp>
      <p:sp>
        <p:nvSpPr>
          <p:cNvPr id="27" name="TextBox 26"/>
          <p:cNvSpPr txBox="1"/>
          <p:nvPr/>
        </p:nvSpPr>
        <p:spPr>
          <a:xfrm>
            <a:off x="502920" y="4130040"/>
            <a:ext cx="1554480" cy="548640"/>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F04 Gluten Free</a:t>
            </a:r>
          </a:p>
          <a:p>
            <a:pPr algn="r">
              <a:spcBef>
                <a:spcPts val="0"/>
              </a:spcBef>
              <a:spcAft>
                <a:spcPts val="0"/>
              </a:spcAft>
            </a:pPr>
            <a:r>
              <a:rPr sz="1100" b="0" i="0">
                <a:solidFill>
                  <a:srgbClr val="1E2D44"/>
                </a:solidFill>
                <a:latin typeface="Karla"/>
              </a:rPr>
              <a:t>Blank</a:t>
            </a:r>
          </a:p>
        </p:txBody>
      </p:sp>
      <p:sp>
        <p:nvSpPr>
          <p:cNvPr id="28" name="Rectangle 27"/>
          <p:cNvSpPr/>
          <p:nvPr/>
        </p:nvSpPr>
        <p:spPr>
          <a:xfrm>
            <a:off x="2167128" y="4130040"/>
            <a:ext cx="2909620"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131612" y="4130040"/>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+6</a:t>
            </a:r>
          </a:p>
        </p:txBody>
      </p:sp>
      <p:sp>
        <p:nvSpPr>
          <p:cNvPr id="30" name="Rectangle 29"/>
          <p:cNvSpPr/>
          <p:nvPr/>
        </p:nvSpPr>
        <p:spPr>
          <a:xfrm>
            <a:off x="2167128" y="4326636"/>
            <a:ext cx="3394557"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16549" y="4326636"/>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+7</a:t>
            </a:r>
          </a:p>
        </p:txBody>
      </p:sp>
      <p:sp>
        <p:nvSpPr>
          <p:cNvPr id="32" name="Rectangle 31"/>
          <p:cNvSpPr/>
          <p:nvPr/>
        </p:nvSpPr>
        <p:spPr>
          <a:xfrm>
            <a:off x="2167128" y="4523232"/>
            <a:ext cx="2424683" cy="155448"/>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646675" y="4523232"/>
            <a:ext cx="457200" cy="155448"/>
          </a:xfrm>
          <a:prstGeom prst="rect">
            <a:avLst/>
          </a:prstGeom>
          <a:noFill/>
        </p:spPr>
        <p:txBody>
          <a:bodyPr wrap="none" anchor="ctr" lIns="0" rIns="0" tIns="0" bIns="0"/>
          <a:lstStyle/>
          <a:p>
            <a:pPr algn="l">
              <a:spcBef>
                <a:spcPts val="0"/>
              </a:spcBef>
              <a:spcAft>
                <a:spcPts val="0"/>
              </a:spcAft>
            </a:pPr>
            <a:r>
              <a:rPr sz="1200" b="1" i="0">
                <a:solidFill>
                  <a:srgbClr val="C45C26"/>
                </a:solidFill>
                <a:latin typeface="Karla"/>
              </a:rPr>
              <a:t>+5</a:t>
            </a:r>
          </a:p>
        </p:txBody>
      </p:sp>
      <p:sp>
        <p:nvSpPr>
          <p:cNvPr id="34" name="Rectangle 33"/>
          <p:cNvSpPr/>
          <p:nvPr/>
        </p:nvSpPr>
        <p:spPr>
          <a:xfrm>
            <a:off x="1250695" y="5381244"/>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424431" y="5321807"/>
            <a:ext cx="170688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Bulgaria (basesize = 50)</a:t>
            </a:r>
          </a:p>
        </p:txBody>
      </p:sp>
      <p:sp>
        <p:nvSpPr>
          <p:cNvPr id="36" name="Rectangle 35"/>
          <p:cNvSpPr/>
          <p:nvPr/>
        </p:nvSpPr>
        <p:spPr>
          <a:xfrm>
            <a:off x="3387343" y="5381244"/>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561079" y="5321807"/>
            <a:ext cx="156464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Greece (basesize = 49)</a:t>
            </a:r>
          </a:p>
        </p:txBody>
      </p:sp>
      <p:sp>
        <p:nvSpPr>
          <p:cNvPr id="38" name="Rectangle 37"/>
          <p:cNvSpPr/>
          <p:nvPr/>
        </p:nvSpPr>
        <p:spPr>
          <a:xfrm>
            <a:off x="5381751" y="5381244"/>
            <a:ext cx="100584" cy="10058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555487" y="5321807"/>
            <a:ext cx="199136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Saudi Arabia (basesize = 51)</a:t>
            </a:r>
          </a:p>
        </p:txBody>
      </p:sp>
      <p:sp>
        <p:nvSpPr>
          <p:cNvPr id="40" name="Rounded Rectangle 39"/>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361253" y="425195"/>
            <a:ext cx="778596" cy="856487"/>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F2.png"/>
          <p:cNvPicPr>
            <a:picLocks noChangeAspect="1"/>
          </p:cNvPicPr>
          <p:nvPr/>
        </p:nvPicPr>
        <p:blipFill>
          <a:blip r:embed="rId2"/>
          <a:stretch>
            <a:fillRect/>
          </a:stretch>
        </p:blipFill>
        <p:spPr>
          <a:xfrm>
            <a:off x="9374969" y="438911"/>
            <a:ext cx="751164" cy="829055"/>
          </a:xfrm>
          <a:prstGeom prst="rect">
            <a:avLst/>
          </a:prstGeom>
        </p:spPr>
      </p:pic>
      <p:sp>
        <p:nvSpPr>
          <p:cNvPr id="43" name="TextBox 42"/>
          <p:cNvSpPr txBox="1"/>
          <p:nvPr/>
        </p:nvSpPr>
        <p:spPr>
          <a:xfrm>
            <a:off x="7912607" y="1322831"/>
            <a:ext cx="3675887" cy="365760"/>
          </a:xfrm>
          <a:prstGeom prst="rect">
            <a:avLst/>
          </a:prstGeom>
          <a:noFill/>
        </p:spPr>
        <p:txBody>
          <a:bodyPr wrap="square" anchor="ctr" lIns="0" rIns="0" tIns="0" bIns="0"/>
          <a:lstStyle/>
          <a:p>
            <a:pPr algn="ctr">
              <a:spcBef>
                <a:spcPts val="0"/>
              </a:spcBef>
              <a:spcAft>
                <a:spcPts val="0"/>
              </a:spcAft>
            </a:pPr>
            <a:r>
              <a:rPr sz="1300" b="0" i="0">
                <a:solidFill>
                  <a:srgbClr val="1E2D44"/>
                </a:solidFill>
                <a:latin typeface="Karla"/>
              </a:rPr>
              <a:t>F02 Gluten Free Badge White Top Right</a:t>
            </a:r>
          </a:p>
          <a:p>
            <a:pPr algn="ctr">
              <a:spcBef>
                <a:spcPts val="0"/>
              </a:spcBef>
              <a:spcAft>
                <a:spcPts val="0"/>
              </a:spcAft>
            </a:pPr>
            <a:r>
              <a:rPr sz="1300" b="0" i="0">
                <a:solidFill>
                  <a:srgbClr val="1E2D44"/>
                </a:solidFill>
                <a:latin typeface="Karla"/>
              </a:rPr>
              <a:t>D1 Foil</a:t>
            </a:r>
          </a:p>
        </p:txBody>
      </p:sp>
      <p:sp>
        <p:nvSpPr>
          <p:cNvPr id="44" name="TextBox 43"/>
          <p:cNvSpPr txBox="1"/>
          <p:nvPr/>
        </p:nvSpPr>
        <p:spPr>
          <a:xfrm>
            <a:off x="7912607" y="1688591"/>
            <a:ext cx="367588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+7*</a:t>
            </a:r>
          </a:p>
        </p:txBody>
      </p:sp>
      <p:sp>
        <p:nvSpPr>
          <p:cNvPr id="45" name="Rectangle 44"/>
          <p:cNvSpPr/>
          <p:nvPr/>
        </p:nvSpPr>
        <p:spPr>
          <a:xfrm>
            <a:off x="9361253" y="2132075"/>
            <a:ext cx="778596" cy="856487"/>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6" name="Picture 45" descr="F4.png"/>
          <p:cNvPicPr>
            <a:picLocks noChangeAspect="1"/>
          </p:cNvPicPr>
          <p:nvPr/>
        </p:nvPicPr>
        <p:blipFill>
          <a:blip r:embed="rId3"/>
          <a:stretch>
            <a:fillRect/>
          </a:stretch>
        </p:blipFill>
        <p:spPr>
          <a:xfrm>
            <a:off x="9374969" y="2145791"/>
            <a:ext cx="751164" cy="829055"/>
          </a:xfrm>
          <a:prstGeom prst="rect">
            <a:avLst/>
          </a:prstGeom>
        </p:spPr>
      </p:pic>
      <p:sp>
        <p:nvSpPr>
          <p:cNvPr id="47" name="TextBox 46"/>
          <p:cNvSpPr txBox="1"/>
          <p:nvPr/>
        </p:nvSpPr>
        <p:spPr>
          <a:xfrm>
            <a:off x="7912607" y="3029711"/>
            <a:ext cx="3675887" cy="365760"/>
          </a:xfrm>
          <a:prstGeom prst="rect">
            <a:avLst/>
          </a:prstGeom>
          <a:noFill/>
        </p:spPr>
        <p:txBody>
          <a:bodyPr wrap="square" anchor="ctr" lIns="0" rIns="0" tIns="0" bIns="0"/>
          <a:lstStyle/>
          <a:p>
            <a:pPr algn="ctr">
              <a:spcBef>
                <a:spcPts val="0"/>
              </a:spcBef>
              <a:spcAft>
                <a:spcPts val="0"/>
              </a:spcAft>
            </a:pPr>
            <a:r>
              <a:rPr sz="1300" b="0" i="0">
                <a:solidFill>
                  <a:srgbClr val="1E2D44"/>
                </a:solidFill>
                <a:latin typeface="Karla"/>
              </a:rPr>
              <a:t>F04 Gluten Green Bottom Right</a:t>
            </a:r>
          </a:p>
        </p:txBody>
      </p:sp>
      <p:sp>
        <p:nvSpPr>
          <p:cNvPr id="48" name="TextBox 47"/>
          <p:cNvSpPr txBox="1"/>
          <p:nvPr/>
        </p:nvSpPr>
        <p:spPr>
          <a:xfrm>
            <a:off x="7912607" y="3395471"/>
            <a:ext cx="367588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+5*</a:t>
            </a:r>
          </a:p>
        </p:txBody>
      </p:sp>
      <p:sp>
        <p:nvSpPr>
          <p:cNvPr id="49" name="Rectangle 48"/>
          <p:cNvSpPr/>
          <p:nvPr/>
        </p:nvSpPr>
        <p:spPr>
          <a:xfrm>
            <a:off x="9361253" y="3838956"/>
            <a:ext cx="778596" cy="856487"/>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0" name="Picture 49" descr="F5.png"/>
          <p:cNvPicPr>
            <a:picLocks noChangeAspect="1"/>
          </p:cNvPicPr>
          <p:nvPr/>
        </p:nvPicPr>
        <p:blipFill>
          <a:blip r:embed="rId4"/>
          <a:stretch>
            <a:fillRect/>
          </a:stretch>
        </p:blipFill>
        <p:spPr>
          <a:xfrm>
            <a:off x="9374969" y="3852671"/>
            <a:ext cx="751164" cy="829055"/>
          </a:xfrm>
          <a:prstGeom prst="rect">
            <a:avLst/>
          </a:prstGeom>
        </p:spPr>
      </p:pic>
      <p:sp>
        <p:nvSpPr>
          <p:cNvPr id="51" name="TextBox 50"/>
          <p:cNvSpPr txBox="1"/>
          <p:nvPr/>
        </p:nvSpPr>
        <p:spPr>
          <a:xfrm>
            <a:off x="7912607" y="4736591"/>
            <a:ext cx="3675887" cy="365760"/>
          </a:xfrm>
          <a:prstGeom prst="rect">
            <a:avLst/>
          </a:prstGeom>
          <a:noFill/>
        </p:spPr>
        <p:txBody>
          <a:bodyPr wrap="square" anchor="ctr" lIns="0" rIns="0" tIns="0" bIns="0"/>
          <a:lstStyle/>
          <a:p>
            <a:pPr algn="ctr">
              <a:spcBef>
                <a:spcPts val="0"/>
              </a:spcBef>
              <a:spcAft>
                <a:spcPts val="0"/>
              </a:spcAft>
            </a:pPr>
            <a:r>
              <a:rPr sz="1300" b="0" i="0">
                <a:solidFill>
                  <a:srgbClr val="1E2D44"/>
                </a:solidFill>
                <a:latin typeface="Karla"/>
              </a:rPr>
              <a:t>F04 Gluten Free Blank</a:t>
            </a:r>
          </a:p>
        </p:txBody>
      </p:sp>
      <p:sp>
        <p:nvSpPr>
          <p:cNvPr id="52" name="TextBox 51"/>
          <p:cNvSpPr txBox="1"/>
          <p:nvPr/>
        </p:nvSpPr>
        <p:spPr>
          <a:xfrm>
            <a:off x="7912607" y="5102351"/>
            <a:ext cx="367588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+6*</a:t>
            </a:r>
          </a:p>
        </p:txBody>
      </p:sp>
      <p:sp>
        <p:nvSpPr>
          <p:cNvPr id="53" name="Rounded Rectangle 52"/>
          <p:cNvSpPr/>
          <p:nvPr/>
        </p:nvSpPr>
        <p:spPr>
          <a:xfrm>
            <a:off x="502920" y="5632704"/>
            <a:ext cx="11268455" cy="530352"/>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300" b="0">
                <a:solidFill>
                  <a:srgbClr val="1E2D44"/>
                </a:solidFill>
                <a:latin typeface="Karla"/>
              </a:rPr>
              <a:t>Every group ranks F02 Gluten Free Badge White Top Right D1 Foil first. The widest segment gap is F04 Gluten Green Bottom Right: +7 bulgaria / +7 greece / +1 saudi arabia.</a:t>
            </a:r>
          </a:p>
        </p:txBody>
      </p:sp>
      <p:sp>
        <p:nvSpPr>
          <p:cNvPr id="54" name="Rectangle 53"/>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Bulgaria basesize = 50; Greece basesize = 49; Saudi Arabia basesize = 51. Top-2 scores rounded to whole points. *Average of the groups in the legend.</a:t>
            </a:r>
          </a:p>
        </p:txBody>
      </p:sp>
      <p:sp>
        <p:nvSpPr>
          <p:cNvPr id="56" name="TextBox 55"/>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80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37744"/>
            <a:ext cx="7043927" cy="182880"/>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KEY FINDINGS: F_GLUTEN-FREE  ·  Which of these countries do you live in?   ·   2 of 2</a:t>
            </a:r>
          </a:p>
        </p:txBody>
      </p:sp>
      <p:sp>
        <p:nvSpPr>
          <p:cNvPr id="3" name="TextBox 2"/>
          <p:cNvSpPr txBox="1"/>
          <p:nvPr/>
        </p:nvSpPr>
        <p:spPr>
          <a:xfrm>
            <a:off x="502920" y="438912"/>
            <a:ext cx="7043927" cy="365760"/>
          </a:xfrm>
          <a:prstGeom prst="rect">
            <a:avLst/>
          </a:prstGeom>
          <a:noFill/>
        </p:spPr>
        <p:txBody>
          <a:bodyPr wrap="square" anchor="t" lIns="0" rIns="0" tIns="0" bIns="0"/>
          <a:lstStyle/>
          <a:p>
            <a:pPr algn="l">
              <a:spcBef>
                <a:spcPts val="0"/>
              </a:spcBef>
              <a:spcAft>
                <a:spcPts val="0"/>
              </a:spcAft>
            </a:pPr>
            <a:r>
              <a:rPr sz="2600" b="1" i="0">
                <a:solidFill>
                  <a:srgbClr val="1E2D44"/>
                </a:solidFill>
                <a:latin typeface="Karla"/>
              </a:rPr>
              <a:t>F02 Gluten Free Badge White Top Right D1 Foil leads in every group</a:t>
            </a:r>
          </a:p>
        </p:txBody>
      </p:sp>
      <p:sp>
        <p:nvSpPr>
          <p:cNvPr id="4" name="TextBox 3"/>
          <p:cNvSpPr txBox="1"/>
          <p:nvPr/>
        </p:nvSpPr>
        <p:spPr>
          <a:xfrm>
            <a:off x="502920" y="822960"/>
            <a:ext cx="7043927" cy="475488"/>
          </a:xfrm>
          <a:prstGeom prst="rect">
            <a:avLst/>
          </a:prstGeom>
          <a:noFill/>
        </p:spPr>
        <p:txBody>
          <a:bodyPr wrap="square" anchor="t" lIns="0" rIns="0" tIns="0" bIns="0"/>
          <a:lstStyle/>
          <a:p>
            <a:pPr algn="l">
              <a:spcBef>
                <a:spcPts val="0"/>
              </a:spcBef>
              <a:spcAft>
                <a:spcPts val="0"/>
              </a:spcAft>
            </a:pPr>
            <a:r>
              <a:rPr sz="1200" b="0" i="0">
                <a:solidFill>
                  <a:srgbClr val="617086"/>
                </a:solidFill>
                <a:latin typeface="Karla"/>
              </a:rPr>
              <a:t>F02 Gluten Free Badge White Top Right D1 Foil leads every group; F01 Gluten Free Badge Dark Bottom Right D2D3 ranks last.</a:t>
            </a:r>
          </a:p>
        </p:txBody>
      </p:sp>
      <p:sp>
        <p:nvSpPr>
          <p:cNvPr id="5" name="Rectangle 4"/>
          <p:cNvSpPr/>
          <p:nvPr/>
        </p:nvSpPr>
        <p:spPr>
          <a:xfrm>
            <a:off x="502920" y="1335024"/>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F_GLUTEN-FREE</a:t>
            </a:r>
          </a:p>
        </p:txBody>
      </p:sp>
      <p:sp>
        <p:nvSpPr>
          <p:cNvPr id="6" name="TextBox 5"/>
          <p:cNvSpPr txBox="1"/>
          <p:nvPr/>
        </p:nvSpPr>
        <p:spPr>
          <a:xfrm>
            <a:off x="1874520"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7" name="Rectangle 6"/>
          <p:cNvSpPr/>
          <p:nvPr/>
        </p:nvSpPr>
        <p:spPr>
          <a:xfrm>
            <a:off x="4591811" y="1645920"/>
            <a:ext cx="9144" cy="3310128"/>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99203"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5</a:t>
            </a:r>
          </a:p>
        </p:txBody>
      </p:sp>
      <p:sp>
        <p:nvSpPr>
          <p:cNvPr id="9" name="Rectangle 8"/>
          <p:cNvSpPr/>
          <p:nvPr/>
        </p:nvSpPr>
        <p:spPr>
          <a:xfrm>
            <a:off x="7016495" y="1645920"/>
            <a:ext cx="9144" cy="3310128"/>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23887"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11" name="Rectangle 10"/>
          <p:cNvSpPr/>
          <p:nvPr/>
        </p:nvSpPr>
        <p:spPr>
          <a:xfrm>
            <a:off x="2167128" y="1645920"/>
            <a:ext cx="10972" cy="3310128"/>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167128" y="4956048"/>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2199132"/>
            <a:ext cx="1554480" cy="548640"/>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F01 Gluten Free</a:t>
            </a:r>
          </a:p>
          <a:p>
            <a:pPr algn="r">
              <a:spcBef>
                <a:spcPts val="0"/>
              </a:spcBef>
              <a:spcAft>
                <a:spcPts val="0"/>
              </a:spcAft>
            </a:pPr>
            <a:r>
              <a:rPr sz="1000" b="0" i="0">
                <a:solidFill>
                  <a:srgbClr val="1E2D44"/>
                </a:solidFill>
                <a:latin typeface="Karla"/>
              </a:rPr>
              <a:t>Badge Dark Bottom…</a:t>
            </a:r>
          </a:p>
        </p:txBody>
      </p:sp>
      <p:sp>
        <p:nvSpPr>
          <p:cNvPr id="14" name="Rectangle 13"/>
          <p:cNvSpPr/>
          <p:nvPr/>
        </p:nvSpPr>
        <p:spPr>
          <a:xfrm>
            <a:off x="2167128" y="2199132"/>
            <a:ext cx="2909620"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31612" y="2199132"/>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+6</a:t>
            </a:r>
          </a:p>
        </p:txBody>
      </p:sp>
      <p:sp>
        <p:nvSpPr>
          <p:cNvPr id="16" name="Rectangle 15"/>
          <p:cNvSpPr/>
          <p:nvPr/>
        </p:nvSpPr>
        <p:spPr>
          <a:xfrm>
            <a:off x="2167128" y="2395728"/>
            <a:ext cx="1939747"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61739" y="2395728"/>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+4</a:t>
            </a:r>
          </a:p>
        </p:txBody>
      </p:sp>
      <p:sp>
        <p:nvSpPr>
          <p:cNvPr id="18" name="Rectangle 17"/>
          <p:cNvSpPr/>
          <p:nvPr/>
        </p:nvSpPr>
        <p:spPr>
          <a:xfrm>
            <a:off x="2167128" y="2592324"/>
            <a:ext cx="2424683" cy="155448"/>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46675" y="2592324"/>
            <a:ext cx="457200" cy="155448"/>
          </a:xfrm>
          <a:prstGeom prst="rect">
            <a:avLst/>
          </a:prstGeom>
          <a:noFill/>
        </p:spPr>
        <p:txBody>
          <a:bodyPr wrap="none" anchor="ctr" lIns="0" rIns="0" tIns="0" bIns="0"/>
          <a:lstStyle/>
          <a:p>
            <a:pPr algn="l">
              <a:spcBef>
                <a:spcPts val="0"/>
              </a:spcBef>
              <a:spcAft>
                <a:spcPts val="0"/>
              </a:spcAft>
            </a:pPr>
            <a:r>
              <a:rPr sz="1200" b="1" i="0">
                <a:solidFill>
                  <a:srgbClr val="C45C26"/>
                </a:solidFill>
                <a:latin typeface="Karla"/>
              </a:rPr>
              <a:t>+5</a:t>
            </a:r>
          </a:p>
        </p:txBody>
      </p:sp>
      <p:sp>
        <p:nvSpPr>
          <p:cNvPr id="20" name="TextBox 19"/>
          <p:cNvSpPr txBox="1"/>
          <p:nvPr/>
        </p:nvSpPr>
        <p:spPr>
          <a:xfrm>
            <a:off x="502920" y="3854196"/>
            <a:ext cx="1554480" cy="548640"/>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F03 Gluten Green</a:t>
            </a:r>
          </a:p>
          <a:p>
            <a:pPr algn="r">
              <a:spcBef>
                <a:spcPts val="0"/>
              </a:spcBef>
              <a:spcAft>
                <a:spcPts val="0"/>
              </a:spcAft>
            </a:pPr>
            <a:r>
              <a:rPr sz="1100" b="0" i="0">
                <a:solidFill>
                  <a:srgbClr val="1E2D44"/>
                </a:solidFill>
                <a:latin typeface="Karla"/>
              </a:rPr>
              <a:t>Top Right</a:t>
            </a:r>
          </a:p>
        </p:txBody>
      </p:sp>
      <p:sp>
        <p:nvSpPr>
          <p:cNvPr id="21" name="Rectangle 20"/>
          <p:cNvSpPr/>
          <p:nvPr/>
        </p:nvSpPr>
        <p:spPr>
          <a:xfrm>
            <a:off x="2167128" y="3854196"/>
            <a:ext cx="2909620"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131612" y="3854196"/>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+6</a:t>
            </a:r>
          </a:p>
        </p:txBody>
      </p:sp>
      <p:sp>
        <p:nvSpPr>
          <p:cNvPr id="23" name="Rectangle 22"/>
          <p:cNvSpPr/>
          <p:nvPr/>
        </p:nvSpPr>
        <p:spPr>
          <a:xfrm>
            <a:off x="2167128" y="4050791"/>
            <a:ext cx="2424683"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646675" y="4050791"/>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+5</a:t>
            </a:r>
          </a:p>
        </p:txBody>
      </p:sp>
      <p:sp>
        <p:nvSpPr>
          <p:cNvPr id="25" name="Rectangle 24"/>
          <p:cNvSpPr/>
          <p:nvPr/>
        </p:nvSpPr>
        <p:spPr>
          <a:xfrm>
            <a:off x="2167128" y="4247388"/>
            <a:ext cx="484936" cy="155448"/>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706928" y="4247388"/>
            <a:ext cx="457200" cy="155448"/>
          </a:xfrm>
          <a:prstGeom prst="rect">
            <a:avLst/>
          </a:prstGeom>
          <a:noFill/>
        </p:spPr>
        <p:txBody>
          <a:bodyPr wrap="none" anchor="ctr" lIns="0" rIns="0" tIns="0" bIns="0"/>
          <a:lstStyle/>
          <a:p>
            <a:pPr algn="l">
              <a:spcBef>
                <a:spcPts val="0"/>
              </a:spcBef>
              <a:spcAft>
                <a:spcPts val="0"/>
              </a:spcAft>
            </a:pPr>
            <a:r>
              <a:rPr sz="1200" b="1" i="0">
                <a:solidFill>
                  <a:srgbClr val="C45C26"/>
                </a:solidFill>
                <a:latin typeface="Karla"/>
              </a:rPr>
              <a:t>+1</a:t>
            </a:r>
          </a:p>
        </p:txBody>
      </p:sp>
      <p:sp>
        <p:nvSpPr>
          <p:cNvPr id="27" name="Rectangle 26"/>
          <p:cNvSpPr/>
          <p:nvPr/>
        </p:nvSpPr>
        <p:spPr>
          <a:xfrm>
            <a:off x="1250695" y="5381244"/>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424431" y="5321807"/>
            <a:ext cx="170688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Bulgaria (basesize = 50)</a:t>
            </a:r>
          </a:p>
        </p:txBody>
      </p:sp>
      <p:sp>
        <p:nvSpPr>
          <p:cNvPr id="29" name="Rectangle 28"/>
          <p:cNvSpPr/>
          <p:nvPr/>
        </p:nvSpPr>
        <p:spPr>
          <a:xfrm>
            <a:off x="3387343" y="5381244"/>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561079" y="5321807"/>
            <a:ext cx="156464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Greece (basesize = 49)</a:t>
            </a:r>
          </a:p>
        </p:txBody>
      </p:sp>
      <p:sp>
        <p:nvSpPr>
          <p:cNvPr id="31" name="Rectangle 30"/>
          <p:cNvSpPr/>
          <p:nvPr/>
        </p:nvSpPr>
        <p:spPr>
          <a:xfrm>
            <a:off x="5381751" y="5381244"/>
            <a:ext cx="100584" cy="10058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555487" y="5321807"/>
            <a:ext cx="199136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Saudi Arabia (basesize = 51)</a:t>
            </a:r>
          </a:p>
        </p:txBody>
      </p:sp>
      <p:sp>
        <p:nvSpPr>
          <p:cNvPr id="33" name="Rounded Rectangle 32"/>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935467" y="1618122"/>
            <a:ext cx="1709927" cy="1884394"/>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F1.png"/>
          <p:cNvPicPr>
            <a:picLocks noChangeAspect="1"/>
          </p:cNvPicPr>
          <p:nvPr/>
        </p:nvPicPr>
        <p:blipFill>
          <a:blip r:embed="rId2"/>
          <a:stretch>
            <a:fillRect/>
          </a:stretch>
        </p:blipFill>
        <p:spPr>
          <a:xfrm>
            <a:off x="7949183" y="1631838"/>
            <a:ext cx="1682495" cy="1856962"/>
          </a:xfrm>
          <a:prstGeom prst="rect">
            <a:avLst/>
          </a:prstGeom>
        </p:spPr>
      </p:pic>
      <p:sp>
        <p:nvSpPr>
          <p:cNvPr id="36" name="TextBox 35"/>
          <p:cNvSpPr txBox="1"/>
          <p:nvPr/>
        </p:nvSpPr>
        <p:spPr>
          <a:xfrm>
            <a:off x="7912607" y="3543665"/>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F01 Gluten Free</a:t>
            </a:r>
          </a:p>
          <a:p>
            <a:pPr algn="ctr">
              <a:spcBef>
                <a:spcPts val="0"/>
              </a:spcBef>
              <a:spcAft>
                <a:spcPts val="0"/>
              </a:spcAft>
            </a:pPr>
            <a:r>
              <a:rPr sz="1200" b="0" i="0">
                <a:solidFill>
                  <a:srgbClr val="1E2D44"/>
                </a:solidFill>
                <a:latin typeface="Karla"/>
              </a:rPr>
              <a:t>Badge Dark Bottom…</a:t>
            </a:r>
          </a:p>
        </p:txBody>
      </p:sp>
      <p:sp>
        <p:nvSpPr>
          <p:cNvPr id="37" name="TextBox 36"/>
          <p:cNvSpPr txBox="1"/>
          <p:nvPr/>
        </p:nvSpPr>
        <p:spPr>
          <a:xfrm>
            <a:off x="7912607" y="3909425"/>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+5*</a:t>
            </a:r>
          </a:p>
        </p:txBody>
      </p:sp>
      <p:sp>
        <p:nvSpPr>
          <p:cNvPr id="38" name="Rectangle 37"/>
          <p:cNvSpPr/>
          <p:nvPr/>
        </p:nvSpPr>
        <p:spPr>
          <a:xfrm>
            <a:off x="9855707" y="1618122"/>
            <a:ext cx="1709927" cy="1884394"/>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38" descr="F3.png"/>
          <p:cNvPicPr>
            <a:picLocks noChangeAspect="1"/>
          </p:cNvPicPr>
          <p:nvPr/>
        </p:nvPicPr>
        <p:blipFill>
          <a:blip r:embed="rId3"/>
          <a:stretch>
            <a:fillRect/>
          </a:stretch>
        </p:blipFill>
        <p:spPr>
          <a:xfrm>
            <a:off x="9869423" y="1631838"/>
            <a:ext cx="1682495" cy="1856962"/>
          </a:xfrm>
          <a:prstGeom prst="rect">
            <a:avLst/>
          </a:prstGeom>
        </p:spPr>
      </p:pic>
      <p:sp>
        <p:nvSpPr>
          <p:cNvPr id="40" name="TextBox 39"/>
          <p:cNvSpPr txBox="1"/>
          <p:nvPr/>
        </p:nvSpPr>
        <p:spPr>
          <a:xfrm>
            <a:off x="9832847" y="3543665"/>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F03 Gluten Green</a:t>
            </a:r>
          </a:p>
          <a:p>
            <a:pPr algn="ctr">
              <a:spcBef>
                <a:spcPts val="0"/>
              </a:spcBef>
              <a:spcAft>
                <a:spcPts val="0"/>
              </a:spcAft>
            </a:pPr>
            <a:r>
              <a:rPr sz="1200" b="0" i="0">
                <a:solidFill>
                  <a:srgbClr val="1E2D44"/>
                </a:solidFill>
                <a:latin typeface="Karla"/>
              </a:rPr>
              <a:t>Top Right</a:t>
            </a:r>
          </a:p>
        </p:txBody>
      </p:sp>
      <p:sp>
        <p:nvSpPr>
          <p:cNvPr id="41" name="TextBox 40"/>
          <p:cNvSpPr txBox="1"/>
          <p:nvPr/>
        </p:nvSpPr>
        <p:spPr>
          <a:xfrm>
            <a:off x="9832847" y="3909425"/>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+4*</a:t>
            </a:r>
          </a:p>
        </p:txBody>
      </p:sp>
      <p:sp>
        <p:nvSpPr>
          <p:cNvPr id="42" name="Rounded Rectangle 41"/>
          <p:cNvSpPr/>
          <p:nvPr/>
        </p:nvSpPr>
        <p:spPr>
          <a:xfrm>
            <a:off x="502920" y="5632704"/>
            <a:ext cx="11268455" cy="530352"/>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300" b="0">
                <a:solidFill>
                  <a:srgbClr val="1E2D44"/>
                </a:solidFill>
                <a:latin typeface="Karla"/>
              </a:rPr>
              <a:t>Every group ranks F02 Gluten Free Badge White Top Right D1 Foil first. The widest segment gap is F04 Gluten Green Bottom Right: +7 bulgaria / +7 greece / +1 saudi arabia.</a:t>
            </a:r>
          </a:p>
        </p:txBody>
      </p:sp>
      <p:sp>
        <p:nvSpPr>
          <p:cNvPr id="43" name="Rectangle 42"/>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Bulgaria basesize = 50; Greece basesize = 49; Saudi Arabia basesize = 51. Top-2 scores rounded to whole points. *Average of the groups in the legend.</a:t>
            </a:r>
          </a:p>
        </p:txBody>
      </p:sp>
      <p:sp>
        <p:nvSpPr>
          <p:cNvPr id="45" name="TextBox 44"/>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81</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37744"/>
            <a:ext cx="7043927" cy="182880"/>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KEY FINDINGS: F_GLUTEN-FREE  ·  Do you currently consume protein-enriched food products   ·   1 of 2</a:t>
            </a:r>
          </a:p>
        </p:txBody>
      </p:sp>
      <p:sp>
        <p:nvSpPr>
          <p:cNvPr id="3" name="TextBox 2"/>
          <p:cNvSpPr txBox="1"/>
          <p:nvPr/>
        </p:nvSpPr>
        <p:spPr>
          <a:xfrm>
            <a:off x="502920" y="438912"/>
            <a:ext cx="7043927" cy="365760"/>
          </a:xfrm>
          <a:prstGeom prst="rect">
            <a:avLst/>
          </a:prstGeom>
          <a:noFill/>
        </p:spPr>
        <p:txBody>
          <a:bodyPr wrap="square" anchor="t" lIns="0" rIns="0" tIns="0" bIns="0"/>
          <a:lstStyle/>
          <a:p>
            <a:pPr algn="l">
              <a:spcBef>
                <a:spcPts val="0"/>
              </a:spcBef>
              <a:spcAft>
                <a:spcPts val="0"/>
              </a:spcAft>
            </a:pPr>
            <a:r>
              <a:rPr sz="2600" b="1" i="0">
                <a:solidFill>
                  <a:srgbClr val="1E2D44"/>
                </a:solidFill>
                <a:latin typeface="Karla"/>
              </a:rPr>
              <a:t>F_Gluten-free splits across the groups</a:t>
            </a:r>
          </a:p>
        </p:txBody>
      </p:sp>
      <p:sp>
        <p:nvSpPr>
          <p:cNvPr id="4" name="TextBox 3"/>
          <p:cNvSpPr txBox="1"/>
          <p:nvPr/>
        </p:nvSpPr>
        <p:spPr>
          <a:xfrm>
            <a:off x="502920" y="822960"/>
            <a:ext cx="7043927" cy="475488"/>
          </a:xfrm>
          <a:prstGeom prst="rect">
            <a:avLst/>
          </a:prstGeom>
          <a:noFill/>
        </p:spPr>
        <p:txBody>
          <a:bodyPr wrap="square" anchor="t" lIns="0" rIns="0" tIns="0" bIns="0"/>
          <a:lstStyle/>
          <a:p>
            <a:pPr algn="l">
              <a:spcBef>
                <a:spcPts val="0"/>
              </a:spcBef>
              <a:spcAft>
                <a:spcPts val="0"/>
              </a:spcAft>
            </a:pPr>
            <a:r>
              <a:rPr sz="1200" b="0" i="0">
                <a:solidFill>
                  <a:srgbClr val="617086"/>
                </a:solidFill>
                <a:latin typeface="Karla"/>
              </a:rPr>
              <a:t>No, and I am not interested favors F04 Gluten Green Bottom Right; No, but I am interested in trying them favors F04 Gluten Green Bottom Right; Yes, occasionally favors F02 Gluten Free Badge White Top Right D1 Foil; Yes, regularly favors F02 Gluten Free Badge White Top Right D1 Foil.</a:t>
            </a:r>
          </a:p>
        </p:txBody>
      </p:sp>
      <p:sp>
        <p:nvSpPr>
          <p:cNvPr id="5" name="Rectangle 4"/>
          <p:cNvSpPr/>
          <p:nvPr/>
        </p:nvSpPr>
        <p:spPr>
          <a:xfrm>
            <a:off x="502920" y="1335024"/>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F_GLUTEN-FREE</a:t>
            </a:r>
          </a:p>
        </p:txBody>
      </p:sp>
      <p:sp>
        <p:nvSpPr>
          <p:cNvPr id="6" name="Rectangle 5"/>
          <p:cNvSpPr/>
          <p:nvPr/>
        </p:nvSpPr>
        <p:spPr>
          <a:xfrm>
            <a:off x="2167128"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74520"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8" name="TextBox 7"/>
          <p:cNvSpPr txBox="1"/>
          <p:nvPr/>
        </p:nvSpPr>
        <p:spPr>
          <a:xfrm>
            <a:off x="3490975"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9" name="Rectangle 8"/>
          <p:cNvSpPr/>
          <p:nvPr/>
        </p:nvSpPr>
        <p:spPr>
          <a:xfrm>
            <a:off x="5400039"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7431"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11" name="Rectangle 10"/>
          <p:cNvSpPr/>
          <p:nvPr/>
        </p:nvSpPr>
        <p:spPr>
          <a:xfrm>
            <a:off x="7016495"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23887"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3" name="Rectangle 12"/>
          <p:cNvSpPr/>
          <p:nvPr/>
        </p:nvSpPr>
        <p:spPr>
          <a:xfrm>
            <a:off x="3783583" y="1645920"/>
            <a:ext cx="10972" cy="2871215"/>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167128" y="4517136"/>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1856475"/>
            <a:ext cx="1554480" cy="535960"/>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F04 Gluten Green</a:t>
            </a:r>
          </a:p>
          <a:p>
            <a:pPr algn="r">
              <a:spcBef>
                <a:spcPts val="0"/>
              </a:spcBef>
              <a:spcAft>
                <a:spcPts val="0"/>
              </a:spcAft>
            </a:pPr>
            <a:r>
              <a:rPr sz="1100" b="0" i="0">
                <a:solidFill>
                  <a:srgbClr val="1E2D44"/>
                </a:solidFill>
                <a:latin typeface="Karla"/>
              </a:rPr>
              <a:t>Bottom Right</a:t>
            </a:r>
          </a:p>
        </p:txBody>
      </p:sp>
      <p:sp>
        <p:nvSpPr>
          <p:cNvPr id="16" name="Rectangle 15"/>
          <p:cNvSpPr/>
          <p:nvPr/>
        </p:nvSpPr>
        <p:spPr>
          <a:xfrm>
            <a:off x="3783583" y="1856475"/>
            <a:ext cx="3071266" cy="103129"/>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09714" y="1856475"/>
            <a:ext cx="457200" cy="103129"/>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+19</a:t>
            </a:r>
          </a:p>
        </p:txBody>
      </p:sp>
      <p:sp>
        <p:nvSpPr>
          <p:cNvPr id="18" name="Rectangle 17"/>
          <p:cNvSpPr/>
          <p:nvPr/>
        </p:nvSpPr>
        <p:spPr>
          <a:xfrm>
            <a:off x="3783583" y="2000752"/>
            <a:ext cx="323291" cy="103129"/>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61739" y="2000752"/>
            <a:ext cx="457200" cy="103129"/>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+2</a:t>
            </a:r>
          </a:p>
        </p:txBody>
      </p:sp>
      <p:sp>
        <p:nvSpPr>
          <p:cNvPr id="20" name="Rectangle 19"/>
          <p:cNvSpPr/>
          <p:nvPr/>
        </p:nvSpPr>
        <p:spPr>
          <a:xfrm>
            <a:off x="3783583" y="2145030"/>
            <a:ext cx="484936" cy="103129"/>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23384" y="2145030"/>
            <a:ext cx="457200" cy="103129"/>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+3</a:t>
            </a:r>
          </a:p>
        </p:txBody>
      </p:sp>
      <p:sp>
        <p:nvSpPr>
          <p:cNvPr id="22" name="Rectangle 21"/>
          <p:cNvSpPr/>
          <p:nvPr/>
        </p:nvSpPr>
        <p:spPr>
          <a:xfrm>
            <a:off x="3783583" y="2289307"/>
            <a:ext cx="969873" cy="103129"/>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08321" y="2289307"/>
            <a:ext cx="457200" cy="103129"/>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+6</a:t>
            </a:r>
          </a:p>
        </p:txBody>
      </p:sp>
      <p:sp>
        <p:nvSpPr>
          <p:cNvPr id="24" name="TextBox 23"/>
          <p:cNvSpPr txBox="1"/>
          <p:nvPr/>
        </p:nvSpPr>
        <p:spPr>
          <a:xfrm>
            <a:off x="502920" y="2813547"/>
            <a:ext cx="1554480" cy="535960"/>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F02 Gluten Free</a:t>
            </a:r>
          </a:p>
          <a:p>
            <a:pPr algn="r">
              <a:spcBef>
                <a:spcPts val="0"/>
              </a:spcBef>
              <a:spcAft>
                <a:spcPts val="0"/>
              </a:spcAft>
            </a:pPr>
            <a:r>
              <a:rPr sz="1000" b="0" i="0">
                <a:solidFill>
                  <a:srgbClr val="1E2D44"/>
                </a:solidFill>
                <a:latin typeface="Karla"/>
              </a:rPr>
              <a:t>Badge White Top…</a:t>
            </a:r>
          </a:p>
        </p:txBody>
      </p:sp>
      <p:sp>
        <p:nvSpPr>
          <p:cNvPr id="25" name="Rectangle 24"/>
          <p:cNvSpPr/>
          <p:nvPr/>
        </p:nvSpPr>
        <p:spPr>
          <a:xfrm>
            <a:off x="3783583" y="2813547"/>
            <a:ext cx="161645" cy="103129"/>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000093" y="2813547"/>
            <a:ext cx="457200" cy="103129"/>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+1</a:t>
            </a:r>
          </a:p>
        </p:txBody>
      </p:sp>
      <p:sp>
        <p:nvSpPr>
          <p:cNvPr id="27" name="Rectangle 26"/>
          <p:cNvSpPr/>
          <p:nvPr/>
        </p:nvSpPr>
        <p:spPr>
          <a:xfrm>
            <a:off x="3298647" y="2957824"/>
            <a:ext cx="484936" cy="103129"/>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786583" y="2957824"/>
            <a:ext cx="457200" cy="103129"/>
          </a:xfrm>
          <a:prstGeom prst="rect">
            <a:avLst/>
          </a:prstGeom>
          <a:noFill/>
        </p:spPr>
        <p:txBody>
          <a:bodyPr wrap="none" anchor="ctr" lIns="0" rIns="0" tIns="0" bIns="0"/>
          <a:lstStyle/>
          <a:p>
            <a:pPr algn="r">
              <a:spcBef>
                <a:spcPts val="0"/>
              </a:spcBef>
              <a:spcAft>
                <a:spcPts val="0"/>
              </a:spcAft>
            </a:pPr>
            <a:r>
              <a:rPr sz="1000" b="1" i="0">
                <a:solidFill>
                  <a:srgbClr val="04746E"/>
                </a:solidFill>
                <a:latin typeface="Karla"/>
              </a:rPr>
              <a:t>-3</a:t>
            </a:r>
          </a:p>
        </p:txBody>
      </p:sp>
      <p:sp>
        <p:nvSpPr>
          <p:cNvPr id="29" name="Rectangle 28"/>
          <p:cNvSpPr/>
          <p:nvPr/>
        </p:nvSpPr>
        <p:spPr>
          <a:xfrm>
            <a:off x="3783583" y="3102102"/>
            <a:ext cx="646582" cy="103129"/>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485030" y="3102102"/>
            <a:ext cx="457200" cy="103129"/>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+4</a:t>
            </a:r>
          </a:p>
        </p:txBody>
      </p:sp>
      <p:sp>
        <p:nvSpPr>
          <p:cNvPr id="31" name="Rectangle 30"/>
          <p:cNvSpPr/>
          <p:nvPr/>
        </p:nvSpPr>
        <p:spPr>
          <a:xfrm>
            <a:off x="3783583" y="3246379"/>
            <a:ext cx="1778101" cy="103129"/>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616549" y="3246379"/>
            <a:ext cx="457200" cy="103129"/>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+11</a:t>
            </a:r>
          </a:p>
        </p:txBody>
      </p:sp>
      <p:sp>
        <p:nvSpPr>
          <p:cNvPr id="33" name="TextBox 32"/>
          <p:cNvSpPr txBox="1"/>
          <p:nvPr/>
        </p:nvSpPr>
        <p:spPr>
          <a:xfrm>
            <a:off x="502920" y="3770619"/>
            <a:ext cx="1554480" cy="535960"/>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F03 Gluten Green</a:t>
            </a:r>
          </a:p>
          <a:p>
            <a:pPr algn="r">
              <a:spcBef>
                <a:spcPts val="0"/>
              </a:spcBef>
              <a:spcAft>
                <a:spcPts val="0"/>
              </a:spcAft>
            </a:pPr>
            <a:r>
              <a:rPr sz="1100" b="0" i="0">
                <a:solidFill>
                  <a:srgbClr val="1E2D44"/>
                </a:solidFill>
                <a:latin typeface="Karla"/>
              </a:rPr>
              <a:t>Top Right</a:t>
            </a:r>
          </a:p>
        </p:txBody>
      </p:sp>
      <p:sp>
        <p:nvSpPr>
          <p:cNvPr id="34" name="Rectangle 33"/>
          <p:cNvSpPr/>
          <p:nvPr/>
        </p:nvSpPr>
        <p:spPr>
          <a:xfrm>
            <a:off x="3783583" y="3770619"/>
            <a:ext cx="1778101" cy="103129"/>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16549" y="3770619"/>
            <a:ext cx="457200" cy="103129"/>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+11</a:t>
            </a:r>
          </a:p>
        </p:txBody>
      </p:sp>
      <p:sp>
        <p:nvSpPr>
          <p:cNvPr id="36" name="Rectangle 35"/>
          <p:cNvSpPr/>
          <p:nvPr/>
        </p:nvSpPr>
        <p:spPr>
          <a:xfrm>
            <a:off x="3298647" y="3914896"/>
            <a:ext cx="484936" cy="103129"/>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786583" y="3914896"/>
            <a:ext cx="457200" cy="103129"/>
          </a:xfrm>
          <a:prstGeom prst="rect">
            <a:avLst/>
          </a:prstGeom>
          <a:noFill/>
        </p:spPr>
        <p:txBody>
          <a:bodyPr wrap="none" anchor="ctr" lIns="0" rIns="0" tIns="0" bIns="0"/>
          <a:lstStyle/>
          <a:p>
            <a:pPr algn="r">
              <a:spcBef>
                <a:spcPts val="0"/>
              </a:spcBef>
              <a:spcAft>
                <a:spcPts val="0"/>
              </a:spcAft>
            </a:pPr>
            <a:r>
              <a:rPr sz="1000" b="1" i="0">
                <a:solidFill>
                  <a:srgbClr val="04746E"/>
                </a:solidFill>
                <a:latin typeface="Karla"/>
              </a:rPr>
              <a:t>-3</a:t>
            </a:r>
          </a:p>
        </p:txBody>
      </p:sp>
      <p:sp>
        <p:nvSpPr>
          <p:cNvPr id="38" name="Rectangle 37"/>
          <p:cNvSpPr/>
          <p:nvPr/>
        </p:nvSpPr>
        <p:spPr>
          <a:xfrm>
            <a:off x="3783583" y="4059173"/>
            <a:ext cx="323291" cy="103129"/>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161739" y="4059173"/>
            <a:ext cx="457200" cy="103129"/>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+2</a:t>
            </a:r>
          </a:p>
        </p:txBody>
      </p:sp>
      <p:sp>
        <p:nvSpPr>
          <p:cNvPr id="40" name="Rectangle 39"/>
          <p:cNvSpPr/>
          <p:nvPr/>
        </p:nvSpPr>
        <p:spPr>
          <a:xfrm>
            <a:off x="3783583" y="4203451"/>
            <a:ext cx="969873" cy="103129"/>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808321" y="4203451"/>
            <a:ext cx="457200" cy="103129"/>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+6</a:t>
            </a:r>
          </a:p>
        </p:txBody>
      </p:sp>
      <p:sp>
        <p:nvSpPr>
          <p:cNvPr id="42" name="Rectangle 41"/>
          <p:cNvSpPr/>
          <p:nvPr/>
        </p:nvSpPr>
        <p:spPr>
          <a:xfrm>
            <a:off x="3011423" y="4942332"/>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185159" y="4882896"/>
            <a:ext cx="298704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No, and I am not interested (basesize = 5)</a:t>
            </a:r>
          </a:p>
        </p:txBody>
      </p:sp>
      <p:sp>
        <p:nvSpPr>
          <p:cNvPr id="44" name="Rectangle 43"/>
          <p:cNvSpPr/>
          <p:nvPr/>
        </p:nvSpPr>
        <p:spPr>
          <a:xfrm>
            <a:off x="755903" y="5161788"/>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29639" y="5102352"/>
            <a:ext cx="384048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No, but I am interested in trying them (basesize = 15)</a:t>
            </a:r>
          </a:p>
        </p:txBody>
      </p:sp>
      <p:sp>
        <p:nvSpPr>
          <p:cNvPr id="46" name="Rectangle 45"/>
          <p:cNvSpPr/>
          <p:nvPr/>
        </p:nvSpPr>
        <p:spPr>
          <a:xfrm>
            <a:off x="5026151" y="5161788"/>
            <a:ext cx="100584" cy="10058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199887" y="5102352"/>
            <a:ext cx="234696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Yes, occasionally (basesize = 56)</a:t>
            </a:r>
          </a:p>
        </p:txBody>
      </p:sp>
      <p:sp>
        <p:nvSpPr>
          <p:cNvPr id="48" name="Rectangle 47"/>
          <p:cNvSpPr/>
          <p:nvPr/>
        </p:nvSpPr>
        <p:spPr>
          <a:xfrm>
            <a:off x="3438143" y="5381244"/>
            <a:ext cx="100584" cy="100584"/>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611879" y="5321808"/>
            <a:ext cx="213360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Yes, regularly (basesize = 74)</a:t>
            </a:r>
          </a:p>
        </p:txBody>
      </p:sp>
      <p:sp>
        <p:nvSpPr>
          <p:cNvPr id="50" name="Rounded Rectangle 49"/>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9361253" y="425195"/>
            <a:ext cx="778596" cy="856487"/>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2" name="Picture 51" descr="F4.png"/>
          <p:cNvPicPr>
            <a:picLocks noChangeAspect="1"/>
          </p:cNvPicPr>
          <p:nvPr/>
        </p:nvPicPr>
        <p:blipFill>
          <a:blip r:embed="rId2"/>
          <a:stretch>
            <a:fillRect/>
          </a:stretch>
        </p:blipFill>
        <p:spPr>
          <a:xfrm>
            <a:off x="9374969" y="438911"/>
            <a:ext cx="751164" cy="829055"/>
          </a:xfrm>
          <a:prstGeom prst="rect">
            <a:avLst/>
          </a:prstGeom>
        </p:spPr>
      </p:pic>
      <p:sp>
        <p:nvSpPr>
          <p:cNvPr id="53" name="TextBox 52"/>
          <p:cNvSpPr txBox="1"/>
          <p:nvPr/>
        </p:nvSpPr>
        <p:spPr>
          <a:xfrm>
            <a:off x="7912607" y="1322831"/>
            <a:ext cx="3675887" cy="365760"/>
          </a:xfrm>
          <a:prstGeom prst="rect">
            <a:avLst/>
          </a:prstGeom>
          <a:noFill/>
        </p:spPr>
        <p:txBody>
          <a:bodyPr wrap="square" anchor="ctr" lIns="0" rIns="0" tIns="0" bIns="0"/>
          <a:lstStyle/>
          <a:p>
            <a:pPr algn="ctr">
              <a:spcBef>
                <a:spcPts val="0"/>
              </a:spcBef>
              <a:spcAft>
                <a:spcPts val="0"/>
              </a:spcAft>
            </a:pPr>
            <a:r>
              <a:rPr sz="1300" b="0" i="0">
                <a:solidFill>
                  <a:srgbClr val="1E2D44"/>
                </a:solidFill>
                <a:latin typeface="Karla"/>
              </a:rPr>
              <a:t>F04 Gluten Green Bottom Right</a:t>
            </a:r>
          </a:p>
        </p:txBody>
      </p:sp>
      <p:sp>
        <p:nvSpPr>
          <p:cNvPr id="54" name="TextBox 53"/>
          <p:cNvSpPr txBox="1"/>
          <p:nvPr/>
        </p:nvSpPr>
        <p:spPr>
          <a:xfrm>
            <a:off x="7912607" y="1688591"/>
            <a:ext cx="367588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+8*</a:t>
            </a:r>
          </a:p>
        </p:txBody>
      </p:sp>
      <p:sp>
        <p:nvSpPr>
          <p:cNvPr id="55" name="Rectangle 54"/>
          <p:cNvSpPr/>
          <p:nvPr/>
        </p:nvSpPr>
        <p:spPr>
          <a:xfrm>
            <a:off x="9361253" y="2132075"/>
            <a:ext cx="778596" cy="856487"/>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6" name="Picture 55" descr="F2.png"/>
          <p:cNvPicPr>
            <a:picLocks noChangeAspect="1"/>
          </p:cNvPicPr>
          <p:nvPr/>
        </p:nvPicPr>
        <p:blipFill>
          <a:blip r:embed="rId3"/>
          <a:stretch>
            <a:fillRect/>
          </a:stretch>
        </p:blipFill>
        <p:spPr>
          <a:xfrm>
            <a:off x="9374969" y="2145791"/>
            <a:ext cx="751164" cy="829055"/>
          </a:xfrm>
          <a:prstGeom prst="rect">
            <a:avLst/>
          </a:prstGeom>
        </p:spPr>
      </p:pic>
      <p:sp>
        <p:nvSpPr>
          <p:cNvPr id="57" name="TextBox 56"/>
          <p:cNvSpPr txBox="1"/>
          <p:nvPr/>
        </p:nvSpPr>
        <p:spPr>
          <a:xfrm>
            <a:off x="7912607" y="3029711"/>
            <a:ext cx="3675887" cy="365760"/>
          </a:xfrm>
          <a:prstGeom prst="rect">
            <a:avLst/>
          </a:prstGeom>
          <a:noFill/>
        </p:spPr>
        <p:txBody>
          <a:bodyPr wrap="square" anchor="ctr" lIns="0" rIns="0" tIns="0" bIns="0"/>
          <a:lstStyle/>
          <a:p>
            <a:pPr algn="ctr">
              <a:spcBef>
                <a:spcPts val="0"/>
              </a:spcBef>
              <a:spcAft>
                <a:spcPts val="0"/>
              </a:spcAft>
            </a:pPr>
            <a:r>
              <a:rPr sz="1300" b="0" i="0">
                <a:solidFill>
                  <a:srgbClr val="1E2D44"/>
                </a:solidFill>
                <a:latin typeface="Karla"/>
              </a:rPr>
              <a:t>F02 Gluten Free Badge White Top Right</a:t>
            </a:r>
          </a:p>
          <a:p>
            <a:pPr algn="ctr">
              <a:spcBef>
                <a:spcPts val="0"/>
              </a:spcBef>
              <a:spcAft>
                <a:spcPts val="0"/>
              </a:spcAft>
            </a:pPr>
            <a:r>
              <a:rPr sz="1300" b="0" i="0">
                <a:solidFill>
                  <a:srgbClr val="1E2D44"/>
                </a:solidFill>
                <a:latin typeface="Karla"/>
              </a:rPr>
              <a:t>D1 Foil</a:t>
            </a:r>
          </a:p>
        </p:txBody>
      </p:sp>
      <p:sp>
        <p:nvSpPr>
          <p:cNvPr id="58" name="TextBox 57"/>
          <p:cNvSpPr txBox="1"/>
          <p:nvPr/>
        </p:nvSpPr>
        <p:spPr>
          <a:xfrm>
            <a:off x="7912607" y="3395471"/>
            <a:ext cx="367588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+3*</a:t>
            </a:r>
          </a:p>
        </p:txBody>
      </p:sp>
      <p:sp>
        <p:nvSpPr>
          <p:cNvPr id="59" name="Rectangle 58"/>
          <p:cNvSpPr/>
          <p:nvPr/>
        </p:nvSpPr>
        <p:spPr>
          <a:xfrm>
            <a:off x="9361253" y="3838956"/>
            <a:ext cx="778596" cy="856487"/>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0" name="Picture 59" descr="F3.png"/>
          <p:cNvPicPr>
            <a:picLocks noChangeAspect="1"/>
          </p:cNvPicPr>
          <p:nvPr/>
        </p:nvPicPr>
        <p:blipFill>
          <a:blip r:embed="rId4"/>
          <a:stretch>
            <a:fillRect/>
          </a:stretch>
        </p:blipFill>
        <p:spPr>
          <a:xfrm>
            <a:off x="9374969" y="3852671"/>
            <a:ext cx="751164" cy="829055"/>
          </a:xfrm>
          <a:prstGeom prst="rect">
            <a:avLst/>
          </a:prstGeom>
        </p:spPr>
      </p:pic>
      <p:sp>
        <p:nvSpPr>
          <p:cNvPr id="61" name="TextBox 60"/>
          <p:cNvSpPr txBox="1"/>
          <p:nvPr/>
        </p:nvSpPr>
        <p:spPr>
          <a:xfrm>
            <a:off x="7912607" y="4736591"/>
            <a:ext cx="3675887" cy="365760"/>
          </a:xfrm>
          <a:prstGeom prst="rect">
            <a:avLst/>
          </a:prstGeom>
          <a:noFill/>
        </p:spPr>
        <p:txBody>
          <a:bodyPr wrap="square" anchor="ctr" lIns="0" rIns="0" tIns="0" bIns="0"/>
          <a:lstStyle/>
          <a:p>
            <a:pPr algn="ctr">
              <a:spcBef>
                <a:spcPts val="0"/>
              </a:spcBef>
              <a:spcAft>
                <a:spcPts val="0"/>
              </a:spcAft>
            </a:pPr>
            <a:r>
              <a:rPr sz="1300" b="0" i="0">
                <a:solidFill>
                  <a:srgbClr val="1E2D44"/>
                </a:solidFill>
                <a:latin typeface="Karla"/>
              </a:rPr>
              <a:t>F03 Gluten Green Top Right</a:t>
            </a:r>
          </a:p>
        </p:txBody>
      </p:sp>
      <p:sp>
        <p:nvSpPr>
          <p:cNvPr id="62" name="TextBox 61"/>
          <p:cNvSpPr txBox="1"/>
          <p:nvPr/>
        </p:nvSpPr>
        <p:spPr>
          <a:xfrm>
            <a:off x="7912607" y="5102351"/>
            <a:ext cx="367588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+4*</a:t>
            </a:r>
          </a:p>
        </p:txBody>
      </p:sp>
      <p:sp>
        <p:nvSpPr>
          <p:cNvPr id="63" name="Rounded Rectangle 62"/>
          <p:cNvSpPr/>
          <p:nvPr/>
        </p:nvSpPr>
        <p:spPr>
          <a:xfrm>
            <a:off x="502920" y="5632704"/>
            <a:ext cx="11268455" cy="676656"/>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200" b="0">
                <a:solidFill>
                  <a:srgbClr val="1E2D44"/>
                </a:solidFill>
                <a:latin typeface="Karla"/>
              </a:rPr>
              <a:t>No, and I am not interested favors F04 Gluten Green Bottom Right; No, but I am interested in trying them favors F04 Gluten Green Bottom Right; Yes, occasionally favors F02 Gluten Free Badge White Top Right D1 Foil; Yes, regularly favors F02 Gluten Free Badge White Top Right D1 Foil. The widest segment gap is F04 Gluten Green Bottom Right: +19 no, and i am not interested / +2 no, but i am interested in trying them / +3 yes, occasionally / +6 yes, regularly.</a:t>
            </a:r>
          </a:p>
        </p:txBody>
      </p:sp>
      <p:sp>
        <p:nvSpPr>
          <p:cNvPr id="64" name="Rectangle 63"/>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Top-2 scores rounded to whole points. *Average of the groups in the legend.</a:t>
            </a:r>
          </a:p>
        </p:txBody>
      </p:sp>
      <p:sp>
        <p:nvSpPr>
          <p:cNvPr id="66" name="TextBox 65"/>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82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37744"/>
            <a:ext cx="7043927" cy="182880"/>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KEY FINDINGS: F_GLUTEN-FREE  ·  Do you currently consume protein-enriched food products   ·   2 of 2</a:t>
            </a:r>
          </a:p>
        </p:txBody>
      </p:sp>
      <p:sp>
        <p:nvSpPr>
          <p:cNvPr id="3" name="TextBox 2"/>
          <p:cNvSpPr txBox="1"/>
          <p:nvPr/>
        </p:nvSpPr>
        <p:spPr>
          <a:xfrm>
            <a:off x="502920" y="438912"/>
            <a:ext cx="7043927" cy="365760"/>
          </a:xfrm>
          <a:prstGeom prst="rect">
            <a:avLst/>
          </a:prstGeom>
          <a:noFill/>
        </p:spPr>
        <p:txBody>
          <a:bodyPr wrap="square" anchor="t" lIns="0" rIns="0" tIns="0" bIns="0"/>
          <a:lstStyle/>
          <a:p>
            <a:pPr algn="l">
              <a:spcBef>
                <a:spcPts val="0"/>
              </a:spcBef>
              <a:spcAft>
                <a:spcPts val="0"/>
              </a:spcAft>
            </a:pPr>
            <a:r>
              <a:rPr sz="2600" b="1" i="0">
                <a:solidFill>
                  <a:srgbClr val="1E2D44"/>
                </a:solidFill>
                <a:latin typeface="Karla"/>
              </a:rPr>
              <a:t>F_Gluten-free splits across the groups</a:t>
            </a:r>
          </a:p>
        </p:txBody>
      </p:sp>
      <p:sp>
        <p:nvSpPr>
          <p:cNvPr id="4" name="TextBox 3"/>
          <p:cNvSpPr txBox="1"/>
          <p:nvPr/>
        </p:nvSpPr>
        <p:spPr>
          <a:xfrm>
            <a:off x="502920" y="822960"/>
            <a:ext cx="7043927" cy="475488"/>
          </a:xfrm>
          <a:prstGeom prst="rect">
            <a:avLst/>
          </a:prstGeom>
          <a:noFill/>
        </p:spPr>
        <p:txBody>
          <a:bodyPr wrap="square" anchor="t" lIns="0" rIns="0" tIns="0" bIns="0"/>
          <a:lstStyle/>
          <a:p>
            <a:pPr algn="l">
              <a:spcBef>
                <a:spcPts val="0"/>
              </a:spcBef>
              <a:spcAft>
                <a:spcPts val="0"/>
              </a:spcAft>
            </a:pPr>
            <a:r>
              <a:rPr sz="1200" b="0" i="0">
                <a:solidFill>
                  <a:srgbClr val="617086"/>
                </a:solidFill>
                <a:latin typeface="Karla"/>
              </a:rPr>
              <a:t>No, and I am not interested favors F04 Gluten Green Bottom Right; No, but I am interested in trying them favors F04 Gluten Green Bottom Right; Yes, occasionally favors F02 Gluten Free Badge White Top Right D1 Foil; Yes, regularly favors F02 Gluten Free Badge White Top Right D1 Foil.</a:t>
            </a:r>
          </a:p>
        </p:txBody>
      </p:sp>
      <p:sp>
        <p:nvSpPr>
          <p:cNvPr id="5" name="Rectangle 4"/>
          <p:cNvSpPr/>
          <p:nvPr/>
        </p:nvSpPr>
        <p:spPr>
          <a:xfrm>
            <a:off x="502920" y="1335024"/>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F_GLUTEN-FREE</a:t>
            </a:r>
          </a:p>
        </p:txBody>
      </p:sp>
      <p:sp>
        <p:nvSpPr>
          <p:cNvPr id="6" name="Rectangle 5"/>
          <p:cNvSpPr/>
          <p:nvPr/>
        </p:nvSpPr>
        <p:spPr>
          <a:xfrm>
            <a:off x="2167128"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74520"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8" name="Rectangle 7"/>
          <p:cNvSpPr/>
          <p:nvPr/>
        </p:nvSpPr>
        <p:spPr>
          <a:xfrm>
            <a:off x="3379469"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086861"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-5</a:t>
            </a:r>
          </a:p>
        </p:txBody>
      </p:sp>
      <p:sp>
        <p:nvSpPr>
          <p:cNvPr id="10" name="TextBox 9"/>
          <p:cNvSpPr txBox="1"/>
          <p:nvPr/>
        </p:nvSpPr>
        <p:spPr>
          <a:xfrm>
            <a:off x="4299203"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11" name="Rectangle 10"/>
          <p:cNvSpPr/>
          <p:nvPr/>
        </p:nvSpPr>
        <p:spPr>
          <a:xfrm>
            <a:off x="5804153"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11545"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5</a:t>
            </a:r>
          </a:p>
        </p:txBody>
      </p:sp>
      <p:sp>
        <p:nvSpPr>
          <p:cNvPr id="13" name="Rectangle 12"/>
          <p:cNvSpPr/>
          <p:nvPr/>
        </p:nvSpPr>
        <p:spPr>
          <a:xfrm>
            <a:off x="7016495"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23887"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15" name="Rectangle 14"/>
          <p:cNvSpPr/>
          <p:nvPr/>
        </p:nvSpPr>
        <p:spPr>
          <a:xfrm>
            <a:off x="4591811" y="1645920"/>
            <a:ext cx="10972" cy="2871215"/>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167128" y="4517136"/>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1991105"/>
            <a:ext cx="1554480" cy="745236"/>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F01 Gluten Free</a:t>
            </a:r>
          </a:p>
          <a:p>
            <a:pPr algn="r">
              <a:spcBef>
                <a:spcPts val="0"/>
              </a:spcBef>
              <a:spcAft>
                <a:spcPts val="0"/>
              </a:spcAft>
            </a:pPr>
            <a:r>
              <a:rPr sz="1000" b="0" i="0">
                <a:solidFill>
                  <a:srgbClr val="1E2D44"/>
                </a:solidFill>
                <a:latin typeface="Karla"/>
              </a:rPr>
              <a:t>Badge Dark Bottom…</a:t>
            </a:r>
          </a:p>
        </p:txBody>
      </p:sp>
      <p:sp>
        <p:nvSpPr>
          <p:cNvPr id="18" name="Rectangle 17"/>
          <p:cNvSpPr/>
          <p:nvPr/>
        </p:nvSpPr>
        <p:spPr>
          <a:xfrm>
            <a:off x="4591811" y="1991105"/>
            <a:ext cx="1212341"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859017" y="1991105"/>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+5</a:t>
            </a:r>
          </a:p>
        </p:txBody>
      </p:sp>
      <p:sp>
        <p:nvSpPr>
          <p:cNvPr id="20" name="Rectangle 19"/>
          <p:cNvSpPr/>
          <p:nvPr/>
        </p:nvSpPr>
        <p:spPr>
          <a:xfrm>
            <a:off x="3621938" y="2187701"/>
            <a:ext cx="969873"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109874" y="2187701"/>
            <a:ext cx="457200" cy="155448"/>
          </a:xfrm>
          <a:prstGeom prst="rect">
            <a:avLst/>
          </a:prstGeom>
          <a:noFill/>
        </p:spPr>
        <p:txBody>
          <a:bodyPr wrap="none" anchor="ctr" lIns="0" rIns="0" tIns="0" bIns="0"/>
          <a:lstStyle/>
          <a:p>
            <a:pPr algn="r">
              <a:spcBef>
                <a:spcPts val="0"/>
              </a:spcBef>
              <a:spcAft>
                <a:spcPts val="0"/>
              </a:spcAft>
            </a:pPr>
            <a:r>
              <a:rPr sz="1200" b="1" i="0">
                <a:solidFill>
                  <a:srgbClr val="04746E"/>
                </a:solidFill>
                <a:latin typeface="Karla"/>
              </a:rPr>
              <a:t>-4</a:t>
            </a:r>
          </a:p>
        </p:txBody>
      </p:sp>
      <p:sp>
        <p:nvSpPr>
          <p:cNvPr id="22" name="Rectangle 21"/>
          <p:cNvSpPr/>
          <p:nvPr/>
        </p:nvSpPr>
        <p:spPr>
          <a:xfrm>
            <a:off x="4591811" y="2384298"/>
            <a:ext cx="727405" cy="155448"/>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74081" y="2384298"/>
            <a:ext cx="457200" cy="155448"/>
          </a:xfrm>
          <a:prstGeom prst="rect">
            <a:avLst/>
          </a:prstGeom>
          <a:noFill/>
        </p:spPr>
        <p:txBody>
          <a:bodyPr wrap="none" anchor="ctr" lIns="0" rIns="0" tIns="0" bIns="0"/>
          <a:lstStyle/>
          <a:p>
            <a:pPr algn="l">
              <a:spcBef>
                <a:spcPts val="0"/>
              </a:spcBef>
              <a:spcAft>
                <a:spcPts val="0"/>
              </a:spcAft>
            </a:pPr>
            <a:r>
              <a:rPr sz="1200" b="1" i="0">
                <a:solidFill>
                  <a:srgbClr val="C45C26"/>
                </a:solidFill>
                <a:latin typeface="Karla"/>
              </a:rPr>
              <a:t>+3</a:t>
            </a:r>
          </a:p>
        </p:txBody>
      </p:sp>
      <p:sp>
        <p:nvSpPr>
          <p:cNvPr id="24" name="Rectangle 23"/>
          <p:cNvSpPr/>
          <p:nvPr/>
        </p:nvSpPr>
        <p:spPr>
          <a:xfrm>
            <a:off x="4591811" y="2580894"/>
            <a:ext cx="2182215" cy="155448"/>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28891" y="2580894"/>
            <a:ext cx="457200" cy="155448"/>
          </a:xfrm>
          <a:prstGeom prst="rect">
            <a:avLst/>
          </a:prstGeom>
          <a:noFill/>
        </p:spPr>
        <p:txBody>
          <a:bodyPr wrap="none" anchor="ctr" lIns="0" rIns="0" tIns="0" bIns="0"/>
          <a:lstStyle/>
          <a:p>
            <a:pPr algn="l">
              <a:spcBef>
                <a:spcPts val="0"/>
              </a:spcBef>
              <a:spcAft>
                <a:spcPts val="0"/>
              </a:spcAft>
            </a:pPr>
            <a:r>
              <a:rPr sz="1200" b="1" i="0">
                <a:solidFill>
                  <a:srgbClr val="1D4E89"/>
                </a:solidFill>
                <a:latin typeface="Karla"/>
              </a:rPr>
              <a:t>+9</a:t>
            </a:r>
          </a:p>
        </p:txBody>
      </p:sp>
      <p:sp>
        <p:nvSpPr>
          <p:cNvPr id="26" name="TextBox 25"/>
          <p:cNvSpPr txBox="1"/>
          <p:nvPr/>
        </p:nvSpPr>
        <p:spPr>
          <a:xfrm>
            <a:off x="502920" y="3426714"/>
            <a:ext cx="1554480" cy="745236"/>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F04 Gluten Free</a:t>
            </a:r>
          </a:p>
          <a:p>
            <a:pPr algn="r">
              <a:spcBef>
                <a:spcPts val="0"/>
              </a:spcBef>
              <a:spcAft>
                <a:spcPts val="0"/>
              </a:spcAft>
            </a:pPr>
            <a:r>
              <a:rPr sz="1100" b="0" i="0">
                <a:solidFill>
                  <a:srgbClr val="1E2D44"/>
                </a:solidFill>
                <a:latin typeface="Karla"/>
              </a:rPr>
              <a:t>Blank</a:t>
            </a:r>
          </a:p>
        </p:txBody>
      </p:sp>
      <p:sp>
        <p:nvSpPr>
          <p:cNvPr id="27" name="Rectangle 26"/>
          <p:cNvSpPr/>
          <p:nvPr/>
        </p:nvSpPr>
        <p:spPr>
          <a:xfrm>
            <a:off x="4591811" y="3426714"/>
            <a:ext cx="2182215"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28891" y="3426714"/>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+9</a:t>
            </a:r>
          </a:p>
        </p:txBody>
      </p:sp>
      <p:sp>
        <p:nvSpPr>
          <p:cNvPr id="29" name="Rectangle 28"/>
          <p:cNvSpPr/>
          <p:nvPr/>
        </p:nvSpPr>
        <p:spPr>
          <a:xfrm>
            <a:off x="3864406" y="3623310"/>
            <a:ext cx="727405"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352342" y="3623310"/>
            <a:ext cx="457200" cy="155448"/>
          </a:xfrm>
          <a:prstGeom prst="rect">
            <a:avLst/>
          </a:prstGeom>
          <a:noFill/>
        </p:spPr>
        <p:txBody>
          <a:bodyPr wrap="none" anchor="ctr" lIns="0" rIns="0" tIns="0" bIns="0"/>
          <a:lstStyle/>
          <a:p>
            <a:pPr algn="r">
              <a:spcBef>
                <a:spcPts val="0"/>
              </a:spcBef>
              <a:spcAft>
                <a:spcPts val="0"/>
              </a:spcAft>
            </a:pPr>
            <a:r>
              <a:rPr sz="1200" b="1" i="0">
                <a:solidFill>
                  <a:srgbClr val="04746E"/>
                </a:solidFill>
                <a:latin typeface="Karla"/>
              </a:rPr>
              <a:t>-3</a:t>
            </a:r>
          </a:p>
        </p:txBody>
      </p:sp>
      <p:sp>
        <p:nvSpPr>
          <p:cNvPr id="31" name="Rectangle 30"/>
          <p:cNvSpPr/>
          <p:nvPr/>
        </p:nvSpPr>
        <p:spPr>
          <a:xfrm>
            <a:off x="4591811" y="3819906"/>
            <a:ext cx="969873" cy="155448"/>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616549" y="3819906"/>
            <a:ext cx="457200" cy="155448"/>
          </a:xfrm>
          <a:prstGeom prst="rect">
            <a:avLst/>
          </a:prstGeom>
          <a:noFill/>
        </p:spPr>
        <p:txBody>
          <a:bodyPr wrap="none" anchor="ctr" lIns="0" rIns="0" tIns="0" bIns="0"/>
          <a:lstStyle/>
          <a:p>
            <a:pPr algn="l">
              <a:spcBef>
                <a:spcPts val="0"/>
              </a:spcBef>
              <a:spcAft>
                <a:spcPts val="0"/>
              </a:spcAft>
            </a:pPr>
            <a:r>
              <a:rPr sz="1200" b="1" i="0">
                <a:solidFill>
                  <a:srgbClr val="C45C26"/>
                </a:solidFill>
                <a:latin typeface="Karla"/>
              </a:rPr>
              <a:t>+4</a:t>
            </a:r>
          </a:p>
        </p:txBody>
      </p:sp>
      <p:sp>
        <p:nvSpPr>
          <p:cNvPr id="33" name="Rectangle 32"/>
          <p:cNvSpPr/>
          <p:nvPr/>
        </p:nvSpPr>
        <p:spPr>
          <a:xfrm>
            <a:off x="4591811" y="4016502"/>
            <a:ext cx="1939747" cy="155448"/>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6422" y="4016502"/>
            <a:ext cx="457200" cy="155448"/>
          </a:xfrm>
          <a:prstGeom prst="rect">
            <a:avLst/>
          </a:prstGeom>
          <a:noFill/>
        </p:spPr>
        <p:txBody>
          <a:bodyPr wrap="none" anchor="ctr" lIns="0" rIns="0" tIns="0" bIns="0"/>
          <a:lstStyle/>
          <a:p>
            <a:pPr algn="l">
              <a:spcBef>
                <a:spcPts val="0"/>
              </a:spcBef>
              <a:spcAft>
                <a:spcPts val="0"/>
              </a:spcAft>
            </a:pPr>
            <a:r>
              <a:rPr sz="1200" b="1" i="0">
                <a:solidFill>
                  <a:srgbClr val="1D4E89"/>
                </a:solidFill>
                <a:latin typeface="Karla"/>
              </a:rPr>
              <a:t>+8</a:t>
            </a:r>
          </a:p>
        </p:txBody>
      </p:sp>
      <p:sp>
        <p:nvSpPr>
          <p:cNvPr id="35" name="Rectangle 34"/>
          <p:cNvSpPr/>
          <p:nvPr/>
        </p:nvSpPr>
        <p:spPr>
          <a:xfrm>
            <a:off x="3011423" y="4942332"/>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185159" y="4882896"/>
            <a:ext cx="298704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No, and I am not interested (basesize = 5)</a:t>
            </a:r>
          </a:p>
        </p:txBody>
      </p:sp>
      <p:sp>
        <p:nvSpPr>
          <p:cNvPr id="37" name="Rectangle 36"/>
          <p:cNvSpPr/>
          <p:nvPr/>
        </p:nvSpPr>
        <p:spPr>
          <a:xfrm>
            <a:off x="755903" y="5161788"/>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9639" y="5102352"/>
            <a:ext cx="384048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No, but I am interested in trying them (basesize = 15)</a:t>
            </a:r>
          </a:p>
        </p:txBody>
      </p:sp>
      <p:sp>
        <p:nvSpPr>
          <p:cNvPr id="39" name="Rectangle 38"/>
          <p:cNvSpPr/>
          <p:nvPr/>
        </p:nvSpPr>
        <p:spPr>
          <a:xfrm>
            <a:off x="5026151" y="5161788"/>
            <a:ext cx="100584" cy="10058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199887" y="5102352"/>
            <a:ext cx="234696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Yes, occasionally (basesize = 56)</a:t>
            </a:r>
          </a:p>
        </p:txBody>
      </p:sp>
      <p:sp>
        <p:nvSpPr>
          <p:cNvPr id="41" name="Rectangle 40"/>
          <p:cNvSpPr/>
          <p:nvPr/>
        </p:nvSpPr>
        <p:spPr>
          <a:xfrm>
            <a:off x="3438143" y="5381244"/>
            <a:ext cx="100584" cy="100584"/>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11879" y="5321808"/>
            <a:ext cx="213360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Yes, regularly (basesize = 74)</a:t>
            </a:r>
          </a:p>
        </p:txBody>
      </p:sp>
      <p:sp>
        <p:nvSpPr>
          <p:cNvPr id="43" name="Rounded Rectangle 42"/>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935467" y="1618122"/>
            <a:ext cx="1709927" cy="1884394"/>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5" name="Picture 44" descr="F1.png"/>
          <p:cNvPicPr>
            <a:picLocks noChangeAspect="1"/>
          </p:cNvPicPr>
          <p:nvPr/>
        </p:nvPicPr>
        <p:blipFill>
          <a:blip r:embed="rId2"/>
          <a:stretch>
            <a:fillRect/>
          </a:stretch>
        </p:blipFill>
        <p:spPr>
          <a:xfrm>
            <a:off x="7949183" y="1631838"/>
            <a:ext cx="1682495" cy="1856962"/>
          </a:xfrm>
          <a:prstGeom prst="rect">
            <a:avLst/>
          </a:prstGeom>
        </p:spPr>
      </p:pic>
      <p:sp>
        <p:nvSpPr>
          <p:cNvPr id="46" name="TextBox 45"/>
          <p:cNvSpPr txBox="1"/>
          <p:nvPr/>
        </p:nvSpPr>
        <p:spPr>
          <a:xfrm>
            <a:off x="7912607" y="3543665"/>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F01 Gluten Free</a:t>
            </a:r>
          </a:p>
          <a:p>
            <a:pPr algn="ctr">
              <a:spcBef>
                <a:spcPts val="0"/>
              </a:spcBef>
              <a:spcAft>
                <a:spcPts val="0"/>
              </a:spcAft>
            </a:pPr>
            <a:r>
              <a:rPr sz="1200" b="0" i="0">
                <a:solidFill>
                  <a:srgbClr val="1E2D44"/>
                </a:solidFill>
                <a:latin typeface="Karla"/>
              </a:rPr>
              <a:t>Badge Dark Bottom…</a:t>
            </a:r>
          </a:p>
        </p:txBody>
      </p:sp>
      <p:sp>
        <p:nvSpPr>
          <p:cNvPr id="47" name="TextBox 46"/>
          <p:cNvSpPr txBox="1"/>
          <p:nvPr/>
        </p:nvSpPr>
        <p:spPr>
          <a:xfrm>
            <a:off x="7912607" y="3909425"/>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+3*</a:t>
            </a:r>
          </a:p>
        </p:txBody>
      </p:sp>
      <p:sp>
        <p:nvSpPr>
          <p:cNvPr id="48" name="Rectangle 47"/>
          <p:cNvSpPr/>
          <p:nvPr/>
        </p:nvSpPr>
        <p:spPr>
          <a:xfrm>
            <a:off x="9855707" y="1618122"/>
            <a:ext cx="1709927" cy="1884394"/>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9" name="Picture 48" descr="F5.png"/>
          <p:cNvPicPr>
            <a:picLocks noChangeAspect="1"/>
          </p:cNvPicPr>
          <p:nvPr/>
        </p:nvPicPr>
        <p:blipFill>
          <a:blip r:embed="rId3"/>
          <a:stretch>
            <a:fillRect/>
          </a:stretch>
        </p:blipFill>
        <p:spPr>
          <a:xfrm>
            <a:off x="9869423" y="1631838"/>
            <a:ext cx="1682495" cy="1856962"/>
          </a:xfrm>
          <a:prstGeom prst="rect">
            <a:avLst/>
          </a:prstGeom>
        </p:spPr>
      </p:pic>
      <p:sp>
        <p:nvSpPr>
          <p:cNvPr id="50" name="TextBox 49"/>
          <p:cNvSpPr txBox="1"/>
          <p:nvPr/>
        </p:nvSpPr>
        <p:spPr>
          <a:xfrm>
            <a:off x="9832847" y="3543665"/>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F04 Gluten Free</a:t>
            </a:r>
          </a:p>
          <a:p>
            <a:pPr algn="ctr">
              <a:spcBef>
                <a:spcPts val="0"/>
              </a:spcBef>
              <a:spcAft>
                <a:spcPts val="0"/>
              </a:spcAft>
            </a:pPr>
            <a:r>
              <a:rPr sz="1200" b="0" i="0">
                <a:solidFill>
                  <a:srgbClr val="1E2D44"/>
                </a:solidFill>
                <a:latin typeface="Karla"/>
              </a:rPr>
              <a:t>Blank</a:t>
            </a:r>
          </a:p>
        </p:txBody>
      </p:sp>
      <p:sp>
        <p:nvSpPr>
          <p:cNvPr id="51" name="TextBox 50"/>
          <p:cNvSpPr txBox="1"/>
          <p:nvPr/>
        </p:nvSpPr>
        <p:spPr>
          <a:xfrm>
            <a:off x="9832847" y="3909425"/>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+4*</a:t>
            </a:r>
          </a:p>
        </p:txBody>
      </p:sp>
      <p:sp>
        <p:nvSpPr>
          <p:cNvPr id="52" name="Rounded Rectangle 51"/>
          <p:cNvSpPr/>
          <p:nvPr/>
        </p:nvSpPr>
        <p:spPr>
          <a:xfrm>
            <a:off x="502920" y="5632704"/>
            <a:ext cx="11268455" cy="676656"/>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200" b="0">
                <a:solidFill>
                  <a:srgbClr val="1E2D44"/>
                </a:solidFill>
                <a:latin typeface="Karla"/>
              </a:rPr>
              <a:t>No, and I am not interested favors F04 Gluten Green Bottom Right; No, but I am interested in trying them favors F04 Gluten Green Bottom Right; Yes, occasionally favors F02 Gluten Free Badge White Top Right D1 Foil; Yes, regularly favors F02 Gluten Free Badge White Top Right D1 Foil. The widest segment gap is F04 Gluten Green Bottom Right: +19 no, and i am not interested / +2 no, but i am interested in trying them / +3 yes, occasionally / +6 yes, regularly.</a:t>
            </a:r>
          </a:p>
        </p:txBody>
      </p:sp>
      <p:sp>
        <p:nvSpPr>
          <p:cNvPr id="53" name="Rectangle 52"/>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Top-2 scores rounded to whole points. *Average of the groups in the legend.</a:t>
            </a:r>
          </a:p>
        </p:txBody>
      </p:sp>
      <p:sp>
        <p:nvSpPr>
          <p:cNvPr id="55" name="TextBox 54"/>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83</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37744"/>
            <a:ext cx="7043927" cy="182880"/>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KEY FINDINGS: F_GLUTEN-FREE  ·  What would be your ideal way to consume protein-enriched products?   ·   1 of 2</a:t>
            </a:r>
          </a:p>
        </p:txBody>
      </p:sp>
      <p:sp>
        <p:nvSpPr>
          <p:cNvPr id="3" name="TextBox 2"/>
          <p:cNvSpPr txBox="1"/>
          <p:nvPr/>
        </p:nvSpPr>
        <p:spPr>
          <a:xfrm>
            <a:off x="502920" y="438912"/>
            <a:ext cx="7043927" cy="365760"/>
          </a:xfrm>
          <a:prstGeom prst="rect">
            <a:avLst/>
          </a:prstGeom>
          <a:noFill/>
        </p:spPr>
        <p:txBody>
          <a:bodyPr wrap="square" anchor="t" lIns="0" rIns="0" tIns="0" bIns="0"/>
          <a:lstStyle/>
          <a:p>
            <a:pPr algn="l">
              <a:spcBef>
                <a:spcPts val="0"/>
              </a:spcBef>
              <a:spcAft>
                <a:spcPts val="0"/>
              </a:spcAft>
            </a:pPr>
            <a:r>
              <a:rPr sz="2600" b="1" i="0">
                <a:solidFill>
                  <a:srgbClr val="1E2D44"/>
                </a:solidFill>
                <a:latin typeface="Karla"/>
              </a:rPr>
              <a:t>F_Gluten-free splits across the groups</a:t>
            </a:r>
          </a:p>
        </p:txBody>
      </p:sp>
      <p:sp>
        <p:nvSpPr>
          <p:cNvPr id="4" name="TextBox 3"/>
          <p:cNvSpPr txBox="1"/>
          <p:nvPr/>
        </p:nvSpPr>
        <p:spPr>
          <a:xfrm>
            <a:off x="502920" y="822960"/>
            <a:ext cx="7043927" cy="475488"/>
          </a:xfrm>
          <a:prstGeom prst="rect">
            <a:avLst/>
          </a:prstGeom>
          <a:noFill/>
        </p:spPr>
        <p:txBody>
          <a:bodyPr wrap="square" anchor="t" lIns="0" rIns="0" tIns="0" bIns="0"/>
          <a:lstStyle/>
          <a:p>
            <a:pPr algn="l">
              <a:spcBef>
                <a:spcPts val="0"/>
              </a:spcBef>
              <a:spcAft>
                <a:spcPts val="0"/>
              </a:spcAft>
            </a:pPr>
            <a:r>
              <a:rPr sz="1200" b="0" i="0">
                <a:solidFill>
                  <a:srgbClr val="617086"/>
                </a:solidFill>
                <a:latin typeface="Karla"/>
              </a:rPr>
              <a:t>Other favors F03 Gluten Green Top Right; Protein bars favor F02 Gluten Free Badge White Top Right D1 Foil; Protein cookies favor F02 Gluten Free Badge White Top Right D1 Foil; Protein powder favors F03 Gluten Green Top Right.</a:t>
            </a:r>
          </a:p>
        </p:txBody>
      </p:sp>
      <p:sp>
        <p:nvSpPr>
          <p:cNvPr id="5" name="Rectangle 4"/>
          <p:cNvSpPr/>
          <p:nvPr/>
        </p:nvSpPr>
        <p:spPr>
          <a:xfrm>
            <a:off x="502920" y="1335024"/>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F_GLUTEN-FREE</a:t>
            </a:r>
          </a:p>
        </p:txBody>
      </p:sp>
      <p:sp>
        <p:nvSpPr>
          <p:cNvPr id="6" name="TextBox 5"/>
          <p:cNvSpPr txBox="1"/>
          <p:nvPr/>
        </p:nvSpPr>
        <p:spPr>
          <a:xfrm>
            <a:off x="1874520"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7" name="Rectangle 6"/>
          <p:cNvSpPr/>
          <p:nvPr/>
        </p:nvSpPr>
        <p:spPr>
          <a:xfrm>
            <a:off x="3783583"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90975"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5</a:t>
            </a:r>
          </a:p>
        </p:txBody>
      </p:sp>
      <p:sp>
        <p:nvSpPr>
          <p:cNvPr id="9" name="Rectangle 8"/>
          <p:cNvSpPr/>
          <p:nvPr/>
        </p:nvSpPr>
        <p:spPr>
          <a:xfrm>
            <a:off x="5400039"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7431"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11" name="Rectangle 10"/>
          <p:cNvSpPr/>
          <p:nvPr/>
        </p:nvSpPr>
        <p:spPr>
          <a:xfrm>
            <a:off x="7016495"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23887"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15</a:t>
            </a:r>
          </a:p>
        </p:txBody>
      </p:sp>
      <p:sp>
        <p:nvSpPr>
          <p:cNvPr id="13" name="Rectangle 12"/>
          <p:cNvSpPr/>
          <p:nvPr/>
        </p:nvSpPr>
        <p:spPr>
          <a:xfrm>
            <a:off x="2167128" y="1645920"/>
            <a:ext cx="10972" cy="30906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167128" y="4736592"/>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1872569"/>
            <a:ext cx="1554480" cy="576925"/>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F02 Gluten Free</a:t>
            </a:r>
          </a:p>
          <a:p>
            <a:pPr algn="r">
              <a:spcBef>
                <a:spcPts val="0"/>
              </a:spcBef>
              <a:spcAft>
                <a:spcPts val="0"/>
              </a:spcAft>
            </a:pPr>
            <a:r>
              <a:rPr sz="1000" b="0" i="0">
                <a:solidFill>
                  <a:srgbClr val="1E2D44"/>
                </a:solidFill>
                <a:latin typeface="Karla"/>
              </a:rPr>
              <a:t>Badge White Top…</a:t>
            </a:r>
          </a:p>
        </p:txBody>
      </p:sp>
      <p:sp>
        <p:nvSpPr>
          <p:cNvPr id="16" name="Rectangle 15"/>
          <p:cNvSpPr/>
          <p:nvPr/>
        </p:nvSpPr>
        <p:spPr>
          <a:xfrm>
            <a:off x="2167128" y="1872569"/>
            <a:ext cx="323291" cy="113370"/>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545283" y="1872569"/>
            <a:ext cx="457200" cy="113370"/>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+1</a:t>
            </a:r>
          </a:p>
        </p:txBody>
      </p:sp>
      <p:sp>
        <p:nvSpPr>
          <p:cNvPr id="18" name="Rectangle 17"/>
          <p:cNvSpPr/>
          <p:nvPr/>
        </p:nvSpPr>
        <p:spPr>
          <a:xfrm>
            <a:off x="2167128" y="2027087"/>
            <a:ext cx="3556202" cy="113370"/>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778194" y="2027087"/>
            <a:ext cx="457200" cy="113370"/>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+11</a:t>
            </a:r>
          </a:p>
        </p:txBody>
      </p:sp>
      <p:sp>
        <p:nvSpPr>
          <p:cNvPr id="20" name="Rectangle 19"/>
          <p:cNvSpPr/>
          <p:nvPr/>
        </p:nvSpPr>
        <p:spPr>
          <a:xfrm>
            <a:off x="2167128" y="2181606"/>
            <a:ext cx="1616455" cy="11337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838447" y="2181606"/>
            <a:ext cx="457200" cy="113370"/>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+5</a:t>
            </a:r>
          </a:p>
        </p:txBody>
      </p:sp>
      <p:sp>
        <p:nvSpPr>
          <p:cNvPr id="22" name="Rectangle 21"/>
          <p:cNvSpPr/>
          <p:nvPr/>
        </p:nvSpPr>
        <p:spPr>
          <a:xfrm>
            <a:off x="2167128" y="2336124"/>
            <a:ext cx="1939747" cy="113370"/>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61739" y="2336124"/>
            <a:ext cx="457200" cy="113370"/>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+6</a:t>
            </a:r>
          </a:p>
        </p:txBody>
      </p:sp>
      <p:sp>
        <p:nvSpPr>
          <p:cNvPr id="24" name="TextBox 23"/>
          <p:cNvSpPr txBox="1"/>
          <p:nvPr/>
        </p:nvSpPr>
        <p:spPr>
          <a:xfrm>
            <a:off x="502920" y="2902793"/>
            <a:ext cx="1554480" cy="576925"/>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F03 Gluten Green</a:t>
            </a:r>
          </a:p>
          <a:p>
            <a:pPr algn="r">
              <a:spcBef>
                <a:spcPts val="0"/>
              </a:spcBef>
              <a:spcAft>
                <a:spcPts val="0"/>
              </a:spcAft>
            </a:pPr>
            <a:r>
              <a:rPr sz="1100" b="0" i="0">
                <a:solidFill>
                  <a:srgbClr val="1E2D44"/>
                </a:solidFill>
                <a:latin typeface="Karla"/>
              </a:rPr>
              <a:t>Top Right</a:t>
            </a:r>
          </a:p>
        </p:txBody>
      </p:sp>
      <p:sp>
        <p:nvSpPr>
          <p:cNvPr id="25" name="Rectangle 24"/>
          <p:cNvSpPr/>
          <p:nvPr/>
        </p:nvSpPr>
        <p:spPr>
          <a:xfrm>
            <a:off x="2167128" y="2902793"/>
            <a:ext cx="1939747" cy="113370"/>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61739" y="2902793"/>
            <a:ext cx="457200" cy="113370"/>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+6</a:t>
            </a:r>
          </a:p>
        </p:txBody>
      </p:sp>
      <p:sp>
        <p:nvSpPr>
          <p:cNvPr id="27" name="Rectangle 26"/>
          <p:cNvSpPr/>
          <p:nvPr/>
        </p:nvSpPr>
        <p:spPr>
          <a:xfrm>
            <a:off x="2167128" y="3057311"/>
            <a:ext cx="2263038" cy="113370"/>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85030" y="3057311"/>
            <a:ext cx="457200" cy="113370"/>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+7</a:t>
            </a:r>
          </a:p>
        </p:txBody>
      </p:sp>
      <p:sp>
        <p:nvSpPr>
          <p:cNvPr id="29" name="Rectangle 28"/>
          <p:cNvSpPr/>
          <p:nvPr/>
        </p:nvSpPr>
        <p:spPr>
          <a:xfrm>
            <a:off x="2167128" y="3211830"/>
            <a:ext cx="323291" cy="11337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545283" y="3211830"/>
            <a:ext cx="457200" cy="113370"/>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+1</a:t>
            </a:r>
          </a:p>
        </p:txBody>
      </p:sp>
      <p:sp>
        <p:nvSpPr>
          <p:cNvPr id="31" name="Rectangle 30"/>
          <p:cNvSpPr/>
          <p:nvPr/>
        </p:nvSpPr>
        <p:spPr>
          <a:xfrm>
            <a:off x="2167128" y="3366348"/>
            <a:ext cx="3556202" cy="113370"/>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778194" y="3366348"/>
            <a:ext cx="457200" cy="113370"/>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+11</a:t>
            </a:r>
          </a:p>
        </p:txBody>
      </p:sp>
      <p:sp>
        <p:nvSpPr>
          <p:cNvPr id="33" name="TextBox 32"/>
          <p:cNvSpPr txBox="1"/>
          <p:nvPr/>
        </p:nvSpPr>
        <p:spPr>
          <a:xfrm>
            <a:off x="502920" y="3933017"/>
            <a:ext cx="1554480" cy="576925"/>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F01 Gluten Free</a:t>
            </a:r>
          </a:p>
          <a:p>
            <a:pPr algn="r">
              <a:spcBef>
                <a:spcPts val="0"/>
              </a:spcBef>
              <a:spcAft>
                <a:spcPts val="0"/>
              </a:spcAft>
            </a:pPr>
            <a:r>
              <a:rPr sz="1000" b="0" i="0">
                <a:solidFill>
                  <a:srgbClr val="1E2D44"/>
                </a:solidFill>
                <a:latin typeface="Karla"/>
              </a:rPr>
              <a:t>Badge Dark Bottom…</a:t>
            </a:r>
          </a:p>
        </p:txBody>
      </p:sp>
      <p:sp>
        <p:nvSpPr>
          <p:cNvPr id="34" name="Rectangle 33"/>
          <p:cNvSpPr/>
          <p:nvPr/>
        </p:nvSpPr>
        <p:spPr>
          <a:xfrm>
            <a:off x="2167128" y="3933017"/>
            <a:ext cx="1293164" cy="113370"/>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515156" y="3933017"/>
            <a:ext cx="457200" cy="113370"/>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+4</a:t>
            </a:r>
          </a:p>
        </p:txBody>
      </p:sp>
      <p:sp>
        <p:nvSpPr>
          <p:cNvPr id="36" name="Rectangle 35"/>
          <p:cNvSpPr/>
          <p:nvPr/>
        </p:nvSpPr>
        <p:spPr>
          <a:xfrm>
            <a:off x="2167128" y="4087535"/>
            <a:ext cx="2909620" cy="113370"/>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131612" y="4087535"/>
            <a:ext cx="457200" cy="113370"/>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+9</a:t>
            </a:r>
          </a:p>
        </p:txBody>
      </p:sp>
      <p:sp>
        <p:nvSpPr>
          <p:cNvPr id="38" name="Rectangle 37"/>
          <p:cNvSpPr/>
          <p:nvPr/>
        </p:nvSpPr>
        <p:spPr>
          <a:xfrm>
            <a:off x="2167128" y="4242054"/>
            <a:ext cx="969873" cy="11337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191865" y="4242054"/>
            <a:ext cx="457200" cy="113370"/>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+3</a:t>
            </a:r>
          </a:p>
        </p:txBody>
      </p:sp>
      <p:sp>
        <p:nvSpPr>
          <p:cNvPr id="40" name="Rectangle 39"/>
          <p:cNvSpPr/>
          <p:nvPr/>
        </p:nvSpPr>
        <p:spPr>
          <a:xfrm>
            <a:off x="2167128" y="4396572"/>
            <a:ext cx="1616455" cy="113370"/>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838447" y="4396572"/>
            <a:ext cx="457200" cy="113370"/>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+5</a:t>
            </a:r>
          </a:p>
        </p:txBody>
      </p:sp>
      <p:sp>
        <p:nvSpPr>
          <p:cNvPr id="42" name="Rectangle 41"/>
          <p:cNvSpPr/>
          <p:nvPr/>
        </p:nvSpPr>
        <p:spPr>
          <a:xfrm>
            <a:off x="823975" y="5161788"/>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97711" y="5102352"/>
            <a:ext cx="149352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Other (basesize = 10)</a:t>
            </a:r>
          </a:p>
        </p:txBody>
      </p:sp>
      <p:sp>
        <p:nvSpPr>
          <p:cNvPr id="44" name="Rectangle 43"/>
          <p:cNvSpPr/>
          <p:nvPr/>
        </p:nvSpPr>
        <p:spPr>
          <a:xfrm>
            <a:off x="2747263" y="5161788"/>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920999" y="5102352"/>
            <a:ext cx="199136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Protein bars (basesize = 52)</a:t>
            </a:r>
          </a:p>
        </p:txBody>
      </p:sp>
      <p:sp>
        <p:nvSpPr>
          <p:cNvPr id="46" name="Rectangle 45"/>
          <p:cNvSpPr/>
          <p:nvPr/>
        </p:nvSpPr>
        <p:spPr>
          <a:xfrm>
            <a:off x="5168391" y="5161788"/>
            <a:ext cx="100584" cy="10058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342127" y="5102352"/>
            <a:ext cx="220472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Protein cookies (basesize = 80)</a:t>
            </a:r>
          </a:p>
        </p:txBody>
      </p:sp>
      <p:sp>
        <p:nvSpPr>
          <p:cNvPr id="48" name="Rectangle 47"/>
          <p:cNvSpPr/>
          <p:nvPr/>
        </p:nvSpPr>
        <p:spPr>
          <a:xfrm>
            <a:off x="3473703" y="5381244"/>
            <a:ext cx="100584" cy="100584"/>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647439" y="5321808"/>
            <a:ext cx="206248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Protein powder (basesize = 8)</a:t>
            </a:r>
          </a:p>
        </p:txBody>
      </p:sp>
      <p:sp>
        <p:nvSpPr>
          <p:cNvPr id="50" name="Rounded Rectangle 49"/>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9361253" y="425195"/>
            <a:ext cx="778596" cy="856487"/>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2" name="Picture 51" descr="F2.png"/>
          <p:cNvPicPr>
            <a:picLocks noChangeAspect="1"/>
          </p:cNvPicPr>
          <p:nvPr/>
        </p:nvPicPr>
        <p:blipFill>
          <a:blip r:embed="rId2"/>
          <a:stretch>
            <a:fillRect/>
          </a:stretch>
        </p:blipFill>
        <p:spPr>
          <a:xfrm>
            <a:off x="9374969" y="438911"/>
            <a:ext cx="751164" cy="829055"/>
          </a:xfrm>
          <a:prstGeom prst="rect">
            <a:avLst/>
          </a:prstGeom>
        </p:spPr>
      </p:pic>
      <p:sp>
        <p:nvSpPr>
          <p:cNvPr id="53" name="TextBox 52"/>
          <p:cNvSpPr txBox="1"/>
          <p:nvPr/>
        </p:nvSpPr>
        <p:spPr>
          <a:xfrm>
            <a:off x="7912607" y="1322831"/>
            <a:ext cx="3675887" cy="365760"/>
          </a:xfrm>
          <a:prstGeom prst="rect">
            <a:avLst/>
          </a:prstGeom>
          <a:noFill/>
        </p:spPr>
        <p:txBody>
          <a:bodyPr wrap="square" anchor="ctr" lIns="0" rIns="0" tIns="0" bIns="0"/>
          <a:lstStyle/>
          <a:p>
            <a:pPr algn="ctr">
              <a:spcBef>
                <a:spcPts val="0"/>
              </a:spcBef>
              <a:spcAft>
                <a:spcPts val="0"/>
              </a:spcAft>
            </a:pPr>
            <a:r>
              <a:rPr sz="1300" b="0" i="0">
                <a:solidFill>
                  <a:srgbClr val="1E2D44"/>
                </a:solidFill>
                <a:latin typeface="Karla"/>
              </a:rPr>
              <a:t>F02 Gluten Free Badge White Top Right</a:t>
            </a:r>
          </a:p>
          <a:p>
            <a:pPr algn="ctr">
              <a:spcBef>
                <a:spcPts val="0"/>
              </a:spcBef>
              <a:spcAft>
                <a:spcPts val="0"/>
              </a:spcAft>
            </a:pPr>
            <a:r>
              <a:rPr sz="1300" b="0" i="0">
                <a:solidFill>
                  <a:srgbClr val="1E2D44"/>
                </a:solidFill>
                <a:latin typeface="Karla"/>
              </a:rPr>
              <a:t>D1 Foil</a:t>
            </a:r>
          </a:p>
        </p:txBody>
      </p:sp>
      <p:sp>
        <p:nvSpPr>
          <p:cNvPr id="54" name="TextBox 53"/>
          <p:cNvSpPr txBox="1"/>
          <p:nvPr/>
        </p:nvSpPr>
        <p:spPr>
          <a:xfrm>
            <a:off x="7912607" y="1688591"/>
            <a:ext cx="367588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+6*</a:t>
            </a:r>
          </a:p>
        </p:txBody>
      </p:sp>
      <p:sp>
        <p:nvSpPr>
          <p:cNvPr id="55" name="Rectangle 54"/>
          <p:cNvSpPr/>
          <p:nvPr/>
        </p:nvSpPr>
        <p:spPr>
          <a:xfrm>
            <a:off x="9361253" y="2132075"/>
            <a:ext cx="778596" cy="856487"/>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6" name="Picture 55" descr="F3.png"/>
          <p:cNvPicPr>
            <a:picLocks noChangeAspect="1"/>
          </p:cNvPicPr>
          <p:nvPr/>
        </p:nvPicPr>
        <p:blipFill>
          <a:blip r:embed="rId3"/>
          <a:stretch>
            <a:fillRect/>
          </a:stretch>
        </p:blipFill>
        <p:spPr>
          <a:xfrm>
            <a:off x="9374969" y="2145791"/>
            <a:ext cx="751164" cy="829055"/>
          </a:xfrm>
          <a:prstGeom prst="rect">
            <a:avLst/>
          </a:prstGeom>
        </p:spPr>
      </p:pic>
      <p:sp>
        <p:nvSpPr>
          <p:cNvPr id="57" name="TextBox 56"/>
          <p:cNvSpPr txBox="1"/>
          <p:nvPr/>
        </p:nvSpPr>
        <p:spPr>
          <a:xfrm>
            <a:off x="7912607" y="3029711"/>
            <a:ext cx="3675887" cy="365760"/>
          </a:xfrm>
          <a:prstGeom prst="rect">
            <a:avLst/>
          </a:prstGeom>
          <a:noFill/>
        </p:spPr>
        <p:txBody>
          <a:bodyPr wrap="square" anchor="ctr" lIns="0" rIns="0" tIns="0" bIns="0"/>
          <a:lstStyle/>
          <a:p>
            <a:pPr algn="ctr">
              <a:spcBef>
                <a:spcPts val="0"/>
              </a:spcBef>
              <a:spcAft>
                <a:spcPts val="0"/>
              </a:spcAft>
            </a:pPr>
            <a:r>
              <a:rPr sz="1300" b="0" i="0">
                <a:solidFill>
                  <a:srgbClr val="1E2D44"/>
                </a:solidFill>
                <a:latin typeface="Karla"/>
              </a:rPr>
              <a:t>F03 Gluten Green Top Right</a:t>
            </a:r>
          </a:p>
        </p:txBody>
      </p:sp>
      <p:sp>
        <p:nvSpPr>
          <p:cNvPr id="58" name="TextBox 57"/>
          <p:cNvSpPr txBox="1"/>
          <p:nvPr/>
        </p:nvSpPr>
        <p:spPr>
          <a:xfrm>
            <a:off x="7912607" y="3395471"/>
            <a:ext cx="367588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+6*</a:t>
            </a:r>
          </a:p>
        </p:txBody>
      </p:sp>
      <p:sp>
        <p:nvSpPr>
          <p:cNvPr id="59" name="Rectangle 58"/>
          <p:cNvSpPr/>
          <p:nvPr/>
        </p:nvSpPr>
        <p:spPr>
          <a:xfrm>
            <a:off x="9361253" y="3838956"/>
            <a:ext cx="778596" cy="856487"/>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0" name="Picture 59" descr="F1.png"/>
          <p:cNvPicPr>
            <a:picLocks noChangeAspect="1"/>
          </p:cNvPicPr>
          <p:nvPr/>
        </p:nvPicPr>
        <p:blipFill>
          <a:blip r:embed="rId4"/>
          <a:stretch>
            <a:fillRect/>
          </a:stretch>
        </p:blipFill>
        <p:spPr>
          <a:xfrm>
            <a:off x="9374969" y="3852671"/>
            <a:ext cx="751164" cy="829055"/>
          </a:xfrm>
          <a:prstGeom prst="rect">
            <a:avLst/>
          </a:prstGeom>
        </p:spPr>
      </p:pic>
      <p:sp>
        <p:nvSpPr>
          <p:cNvPr id="61" name="TextBox 60"/>
          <p:cNvSpPr txBox="1"/>
          <p:nvPr/>
        </p:nvSpPr>
        <p:spPr>
          <a:xfrm>
            <a:off x="7912607" y="4736591"/>
            <a:ext cx="3675887" cy="365760"/>
          </a:xfrm>
          <a:prstGeom prst="rect">
            <a:avLst/>
          </a:prstGeom>
          <a:noFill/>
        </p:spPr>
        <p:txBody>
          <a:bodyPr wrap="square" anchor="ctr" lIns="0" rIns="0" tIns="0" bIns="0"/>
          <a:lstStyle/>
          <a:p>
            <a:pPr algn="ctr">
              <a:spcBef>
                <a:spcPts val="0"/>
              </a:spcBef>
              <a:spcAft>
                <a:spcPts val="0"/>
              </a:spcAft>
            </a:pPr>
            <a:r>
              <a:rPr sz="1300" b="0" i="0">
                <a:solidFill>
                  <a:srgbClr val="1E2D44"/>
                </a:solidFill>
                <a:latin typeface="Karla"/>
              </a:rPr>
              <a:t>F01 Gluten Free Badge Dark Bottom</a:t>
            </a:r>
          </a:p>
          <a:p>
            <a:pPr algn="ctr">
              <a:spcBef>
                <a:spcPts val="0"/>
              </a:spcBef>
              <a:spcAft>
                <a:spcPts val="0"/>
              </a:spcAft>
            </a:pPr>
            <a:r>
              <a:rPr sz="1300" b="0" i="0">
                <a:solidFill>
                  <a:srgbClr val="1E2D44"/>
                </a:solidFill>
                <a:latin typeface="Karla"/>
              </a:rPr>
              <a:t>Right D2D3</a:t>
            </a:r>
          </a:p>
        </p:txBody>
      </p:sp>
      <p:sp>
        <p:nvSpPr>
          <p:cNvPr id="62" name="TextBox 61"/>
          <p:cNvSpPr txBox="1"/>
          <p:nvPr/>
        </p:nvSpPr>
        <p:spPr>
          <a:xfrm>
            <a:off x="7912607" y="5102351"/>
            <a:ext cx="367588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+5*</a:t>
            </a:r>
          </a:p>
        </p:txBody>
      </p:sp>
      <p:sp>
        <p:nvSpPr>
          <p:cNvPr id="63" name="Rounded Rectangle 62"/>
          <p:cNvSpPr/>
          <p:nvPr/>
        </p:nvSpPr>
        <p:spPr>
          <a:xfrm>
            <a:off x="502920" y="5632704"/>
            <a:ext cx="11268455" cy="676656"/>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200" b="0">
                <a:solidFill>
                  <a:srgbClr val="1E2D44"/>
                </a:solidFill>
                <a:latin typeface="Karla"/>
              </a:rPr>
              <a:t>Other favors F03 Gluten Green Top Right; Protein bars favor F02 Gluten Free Badge White Top Right D1 Foil; Protein cookies favor F02 Gluten Free Badge White Top Right D1 Foil; Protein powder favors F03 Gluten Green Top Right. The widest segment gap is F02 Gluten Free Badge White Top Right D1 Foil: +1 other / +11 protein bars / +5 protein cookies / +6 protein powder.</a:t>
            </a:r>
          </a:p>
        </p:txBody>
      </p:sp>
      <p:sp>
        <p:nvSpPr>
          <p:cNvPr id="64" name="Rectangle 63"/>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Top-2 scores rounded to whole points. *Average of the groups in the legend.</a:t>
            </a:r>
          </a:p>
        </p:txBody>
      </p:sp>
      <p:sp>
        <p:nvSpPr>
          <p:cNvPr id="66" name="TextBox 65"/>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84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37744"/>
            <a:ext cx="7043927" cy="182880"/>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KEY FINDINGS: F_GLUTEN-FREE  ·  What would be your ideal way to consume protein-enriched products?   ·   2 of 2</a:t>
            </a:r>
          </a:p>
        </p:txBody>
      </p:sp>
      <p:sp>
        <p:nvSpPr>
          <p:cNvPr id="3" name="TextBox 2"/>
          <p:cNvSpPr txBox="1"/>
          <p:nvPr/>
        </p:nvSpPr>
        <p:spPr>
          <a:xfrm>
            <a:off x="502920" y="438912"/>
            <a:ext cx="7043927" cy="365760"/>
          </a:xfrm>
          <a:prstGeom prst="rect">
            <a:avLst/>
          </a:prstGeom>
          <a:noFill/>
        </p:spPr>
        <p:txBody>
          <a:bodyPr wrap="square" anchor="t" lIns="0" rIns="0" tIns="0" bIns="0"/>
          <a:lstStyle/>
          <a:p>
            <a:pPr algn="l">
              <a:spcBef>
                <a:spcPts val="0"/>
              </a:spcBef>
              <a:spcAft>
                <a:spcPts val="0"/>
              </a:spcAft>
            </a:pPr>
            <a:r>
              <a:rPr sz="2600" b="1" i="0">
                <a:solidFill>
                  <a:srgbClr val="1E2D44"/>
                </a:solidFill>
                <a:latin typeface="Karla"/>
              </a:rPr>
              <a:t>F_Gluten-free splits across the groups</a:t>
            </a:r>
          </a:p>
        </p:txBody>
      </p:sp>
      <p:sp>
        <p:nvSpPr>
          <p:cNvPr id="4" name="TextBox 3"/>
          <p:cNvSpPr txBox="1"/>
          <p:nvPr/>
        </p:nvSpPr>
        <p:spPr>
          <a:xfrm>
            <a:off x="502920" y="822960"/>
            <a:ext cx="7043927" cy="475488"/>
          </a:xfrm>
          <a:prstGeom prst="rect">
            <a:avLst/>
          </a:prstGeom>
          <a:noFill/>
        </p:spPr>
        <p:txBody>
          <a:bodyPr wrap="square" anchor="t" lIns="0" rIns="0" tIns="0" bIns="0"/>
          <a:lstStyle/>
          <a:p>
            <a:pPr algn="l">
              <a:spcBef>
                <a:spcPts val="0"/>
              </a:spcBef>
              <a:spcAft>
                <a:spcPts val="0"/>
              </a:spcAft>
            </a:pPr>
            <a:r>
              <a:rPr sz="1200" b="0" i="0">
                <a:solidFill>
                  <a:srgbClr val="617086"/>
                </a:solidFill>
                <a:latin typeface="Karla"/>
              </a:rPr>
              <a:t>Other favors F03 Gluten Green Top Right; Protein bars favor F02 Gluten Free Badge White Top Right D1 Foil; Protein cookies favor F02 Gluten Free Badge White Top Right D1 Foil; Protein powder favors F03 Gluten Green Top Right.</a:t>
            </a:r>
          </a:p>
        </p:txBody>
      </p:sp>
      <p:sp>
        <p:nvSpPr>
          <p:cNvPr id="5" name="Rectangle 4"/>
          <p:cNvSpPr/>
          <p:nvPr/>
        </p:nvSpPr>
        <p:spPr>
          <a:xfrm>
            <a:off x="502920" y="1335024"/>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F_GLUTEN-FREE</a:t>
            </a:r>
          </a:p>
        </p:txBody>
      </p:sp>
      <p:sp>
        <p:nvSpPr>
          <p:cNvPr id="6" name="TextBox 5"/>
          <p:cNvSpPr txBox="1"/>
          <p:nvPr/>
        </p:nvSpPr>
        <p:spPr>
          <a:xfrm>
            <a:off x="1874520"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7" name="Rectangle 6"/>
          <p:cNvSpPr/>
          <p:nvPr/>
        </p:nvSpPr>
        <p:spPr>
          <a:xfrm>
            <a:off x="4591811"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99203"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5</a:t>
            </a:r>
          </a:p>
        </p:txBody>
      </p:sp>
      <p:sp>
        <p:nvSpPr>
          <p:cNvPr id="9" name="Rectangle 8"/>
          <p:cNvSpPr/>
          <p:nvPr/>
        </p:nvSpPr>
        <p:spPr>
          <a:xfrm>
            <a:off x="7016495"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23887"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11" name="Rectangle 10"/>
          <p:cNvSpPr/>
          <p:nvPr/>
        </p:nvSpPr>
        <p:spPr>
          <a:xfrm>
            <a:off x="2167128" y="1645920"/>
            <a:ext cx="10972" cy="30906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167128" y="4736592"/>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2045969"/>
            <a:ext cx="1554480" cy="745236"/>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F04 Gluten Free</a:t>
            </a:r>
          </a:p>
          <a:p>
            <a:pPr algn="r">
              <a:spcBef>
                <a:spcPts val="0"/>
              </a:spcBef>
              <a:spcAft>
                <a:spcPts val="0"/>
              </a:spcAft>
            </a:pPr>
            <a:r>
              <a:rPr sz="1100" b="0" i="0">
                <a:solidFill>
                  <a:srgbClr val="1E2D44"/>
                </a:solidFill>
                <a:latin typeface="Karla"/>
              </a:rPr>
              <a:t>Blank</a:t>
            </a:r>
          </a:p>
        </p:txBody>
      </p:sp>
      <p:sp>
        <p:nvSpPr>
          <p:cNvPr id="14" name="Rectangle 13"/>
          <p:cNvSpPr/>
          <p:nvPr/>
        </p:nvSpPr>
        <p:spPr>
          <a:xfrm>
            <a:off x="2167128" y="2045969"/>
            <a:ext cx="2424683"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46675" y="2045969"/>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+5</a:t>
            </a:r>
          </a:p>
        </p:txBody>
      </p:sp>
      <p:sp>
        <p:nvSpPr>
          <p:cNvPr id="16" name="Rectangle 15"/>
          <p:cNvSpPr/>
          <p:nvPr/>
        </p:nvSpPr>
        <p:spPr>
          <a:xfrm>
            <a:off x="2167128" y="2242565"/>
            <a:ext cx="3394557"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16549" y="2242565"/>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+7</a:t>
            </a:r>
          </a:p>
        </p:txBody>
      </p:sp>
      <p:sp>
        <p:nvSpPr>
          <p:cNvPr id="18" name="Rectangle 17"/>
          <p:cNvSpPr/>
          <p:nvPr/>
        </p:nvSpPr>
        <p:spPr>
          <a:xfrm>
            <a:off x="2167128" y="2439162"/>
            <a:ext cx="2424683" cy="155448"/>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46675" y="2439162"/>
            <a:ext cx="457200" cy="155448"/>
          </a:xfrm>
          <a:prstGeom prst="rect">
            <a:avLst/>
          </a:prstGeom>
          <a:noFill/>
        </p:spPr>
        <p:txBody>
          <a:bodyPr wrap="none" anchor="ctr" lIns="0" rIns="0" tIns="0" bIns="0"/>
          <a:lstStyle/>
          <a:p>
            <a:pPr algn="l">
              <a:spcBef>
                <a:spcPts val="0"/>
              </a:spcBef>
              <a:spcAft>
                <a:spcPts val="0"/>
              </a:spcAft>
            </a:pPr>
            <a:r>
              <a:rPr sz="1200" b="1" i="0">
                <a:solidFill>
                  <a:srgbClr val="C45C26"/>
                </a:solidFill>
                <a:latin typeface="Karla"/>
              </a:rPr>
              <a:t>+5</a:t>
            </a:r>
          </a:p>
        </p:txBody>
      </p:sp>
      <p:sp>
        <p:nvSpPr>
          <p:cNvPr id="20" name="Rectangle 19"/>
          <p:cNvSpPr/>
          <p:nvPr/>
        </p:nvSpPr>
        <p:spPr>
          <a:xfrm>
            <a:off x="2167128" y="2635758"/>
            <a:ext cx="4364430" cy="155448"/>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6422" y="2635758"/>
            <a:ext cx="457200" cy="155448"/>
          </a:xfrm>
          <a:prstGeom prst="rect">
            <a:avLst/>
          </a:prstGeom>
          <a:noFill/>
        </p:spPr>
        <p:txBody>
          <a:bodyPr wrap="none" anchor="ctr" lIns="0" rIns="0" tIns="0" bIns="0"/>
          <a:lstStyle/>
          <a:p>
            <a:pPr algn="l">
              <a:spcBef>
                <a:spcPts val="0"/>
              </a:spcBef>
              <a:spcAft>
                <a:spcPts val="0"/>
              </a:spcAft>
            </a:pPr>
            <a:r>
              <a:rPr sz="1200" b="1" i="0">
                <a:solidFill>
                  <a:srgbClr val="1D4E89"/>
                </a:solidFill>
                <a:latin typeface="Karla"/>
              </a:rPr>
              <a:t>+9</a:t>
            </a:r>
          </a:p>
        </p:txBody>
      </p:sp>
      <p:sp>
        <p:nvSpPr>
          <p:cNvPr id="22" name="TextBox 21"/>
          <p:cNvSpPr txBox="1"/>
          <p:nvPr/>
        </p:nvSpPr>
        <p:spPr>
          <a:xfrm>
            <a:off x="502920" y="3591306"/>
            <a:ext cx="1554480" cy="745236"/>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F04 Gluten Green</a:t>
            </a:r>
          </a:p>
          <a:p>
            <a:pPr algn="r">
              <a:spcBef>
                <a:spcPts val="0"/>
              </a:spcBef>
              <a:spcAft>
                <a:spcPts val="0"/>
              </a:spcAft>
            </a:pPr>
            <a:r>
              <a:rPr sz="1100" b="0" i="0">
                <a:solidFill>
                  <a:srgbClr val="1E2D44"/>
                </a:solidFill>
                <a:latin typeface="Karla"/>
              </a:rPr>
              <a:t>Bottom Right</a:t>
            </a:r>
          </a:p>
        </p:txBody>
      </p:sp>
      <p:sp>
        <p:nvSpPr>
          <p:cNvPr id="23" name="Rectangle 22"/>
          <p:cNvSpPr/>
          <p:nvPr/>
        </p:nvSpPr>
        <p:spPr>
          <a:xfrm>
            <a:off x="2167128" y="3591306"/>
            <a:ext cx="2909620"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31612" y="3591306"/>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+6</a:t>
            </a:r>
          </a:p>
        </p:txBody>
      </p:sp>
      <p:sp>
        <p:nvSpPr>
          <p:cNvPr id="25" name="Rectangle 24"/>
          <p:cNvSpPr/>
          <p:nvPr/>
        </p:nvSpPr>
        <p:spPr>
          <a:xfrm>
            <a:off x="2167128" y="3787902"/>
            <a:ext cx="2909620"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131612" y="3787902"/>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+6</a:t>
            </a:r>
          </a:p>
        </p:txBody>
      </p:sp>
      <p:sp>
        <p:nvSpPr>
          <p:cNvPr id="27" name="Rectangle 26"/>
          <p:cNvSpPr/>
          <p:nvPr/>
        </p:nvSpPr>
        <p:spPr>
          <a:xfrm>
            <a:off x="2167128" y="3984498"/>
            <a:ext cx="1939747" cy="155448"/>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161739" y="3984498"/>
            <a:ext cx="457200" cy="155448"/>
          </a:xfrm>
          <a:prstGeom prst="rect">
            <a:avLst/>
          </a:prstGeom>
          <a:noFill/>
        </p:spPr>
        <p:txBody>
          <a:bodyPr wrap="none" anchor="ctr" lIns="0" rIns="0" tIns="0" bIns="0"/>
          <a:lstStyle/>
          <a:p>
            <a:pPr algn="l">
              <a:spcBef>
                <a:spcPts val="0"/>
              </a:spcBef>
              <a:spcAft>
                <a:spcPts val="0"/>
              </a:spcAft>
            </a:pPr>
            <a:r>
              <a:rPr sz="1200" b="1" i="0">
                <a:solidFill>
                  <a:srgbClr val="C45C26"/>
                </a:solidFill>
                <a:latin typeface="Karla"/>
              </a:rPr>
              <a:t>+4</a:t>
            </a:r>
          </a:p>
        </p:txBody>
      </p:sp>
      <p:sp>
        <p:nvSpPr>
          <p:cNvPr id="29" name="Rectangle 28"/>
          <p:cNvSpPr/>
          <p:nvPr/>
        </p:nvSpPr>
        <p:spPr>
          <a:xfrm>
            <a:off x="2167128" y="4181094"/>
            <a:ext cx="2909620" cy="155448"/>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131612" y="4181094"/>
            <a:ext cx="457200" cy="155448"/>
          </a:xfrm>
          <a:prstGeom prst="rect">
            <a:avLst/>
          </a:prstGeom>
          <a:noFill/>
        </p:spPr>
        <p:txBody>
          <a:bodyPr wrap="none" anchor="ctr" lIns="0" rIns="0" tIns="0" bIns="0"/>
          <a:lstStyle/>
          <a:p>
            <a:pPr algn="l">
              <a:spcBef>
                <a:spcPts val="0"/>
              </a:spcBef>
              <a:spcAft>
                <a:spcPts val="0"/>
              </a:spcAft>
            </a:pPr>
            <a:r>
              <a:rPr sz="1200" b="1" i="0">
                <a:solidFill>
                  <a:srgbClr val="1D4E89"/>
                </a:solidFill>
                <a:latin typeface="Karla"/>
              </a:rPr>
              <a:t>+6</a:t>
            </a:r>
          </a:p>
        </p:txBody>
      </p:sp>
      <p:sp>
        <p:nvSpPr>
          <p:cNvPr id="31" name="Rectangle 30"/>
          <p:cNvSpPr/>
          <p:nvPr/>
        </p:nvSpPr>
        <p:spPr>
          <a:xfrm>
            <a:off x="823975" y="5161788"/>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97711" y="5102352"/>
            <a:ext cx="149352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Other (basesize = 10)</a:t>
            </a:r>
          </a:p>
        </p:txBody>
      </p:sp>
      <p:sp>
        <p:nvSpPr>
          <p:cNvPr id="33" name="Rectangle 32"/>
          <p:cNvSpPr/>
          <p:nvPr/>
        </p:nvSpPr>
        <p:spPr>
          <a:xfrm>
            <a:off x="2747263" y="5161788"/>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920999" y="5102352"/>
            <a:ext cx="199136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Protein bars (basesize = 52)</a:t>
            </a:r>
          </a:p>
        </p:txBody>
      </p:sp>
      <p:sp>
        <p:nvSpPr>
          <p:cNvPr id="35" name="Rectangle 34"/>
          <p:cNvSpPr/>
          <p:nvPr/>
        </p:nvSpPr>
        <p:spPr>
          <a:xfrm>
            <a:off x="5168391" y="5161788"/>
            <a:ext cx="100584" cy="10058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342127" y="5102352"/>
            <a:ext cx="220472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Protein cookies (basesize = 80)</a:t>
            </a:r>
          </a:p>
        </p:txBody>
      </p:sp>
      <p:sp>
        <p:nvSpPr>
          <p:cNvPr id="37" name="Rectangle 36"/>
          <p:cNvSpPr/>
          <p:nvPr/>
        </p:nvSpPr>
        <p:spPr>
          <a:xfrm>
            <a:off x="3473703" y="5381244"/>
            <a:ext cx="100584" cy="100584"/>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647439" y="5321808"/>
            <a:ext cx="206248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Protein powder (basesize = 8)</a:t>
            </a:r>
          </a:p>
        </p:txBody>
      </p:sp>
      <p:sp>
        <p:nvSpPr>
          <p:cNvPr id="39" name="Rounded Rectangle 38"/>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935467" y="1618122"/>
            <a:ext cx="1709927" cy="1884394"/>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F5.png"/>
          <p:cNvPicPr>
            <a:picLocks noChangeAspect="1"/>
          </p:cNvPicPr>
          <p:nvPr/>
        </p:nvPicPr>
        <p:blipFill>
          <a:blip r:embed="rId2"/>
          <a:stretch>
            <a:fillRect/>
          </a:stretch>
        </p:blipFill>
        <p:spPr>
          <a:xfrm>
            <a:off x="7949183" y="1631838"/>
            <a:ext cx="1682495" cy="1856962"/>
          </a:xfrm>
          <a:prstGeom prst="rect">
            <a:avLst/>
          </a:prstGeom>
        </p:spPr>
      </p:pic>
      <p:sp>
        <p:nvSpPr>
          <p:cNvPr id="42" name="TextBox 41"/>
          <p:cNvSpPr txBox="1"/>
          <p:nvPr/>
        </p:nvSpPr>
        <p:spPr>
          <a:xfrm>
            <a:off x="7912607" y="3543665"/>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F04 Gluten Free</a:t>
            </a:r>
          </a:p>
          <a:p>
            <a:pPr algn="ctr">
              <a:spcBef>
                <a:spcPts val="0"/>
              </a:spcBef>
              <a:spcAft>
                <a:spcPts val="0"/>
              </a:spcAft>
            </a:pPr>
            <a:r>
              <a:rPr sz="1200" b="0" i="0">
                <a:solidFill>
                  <a:srgbClr val="1E2D44"/>
                </a:solidFill>
                <a:latin typeface="Karla"/>
              </a:rPr>
              <a:t>Blank</a:t>
            </a:r>
          </a:p>
        </p:txBody>
      </p:sp>
      <p:sp>
        <p:nvSpPr>
          <p:cNvPr id="43" name="TextBox 42"/>
          <p:cNvSpPr txBox="1"/>
          <p:nvPr/>
        </p:nvSpPr>
        <p:spPr>
          <a:xfrm>
            <a:off x="7912607" y="3909425"/>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+6*</a:t>
            </a:r>
          </a:p>
        </p:txBody>
      </p:sp>
      <p:sp>
        <p:nvSpPr>
          <p:cNvPr id="44" name="Rectangle 43"/>
          <p:cNvSpPr/>
          <p:nvPr/>
        </p:nvSpPr>
        <p:spPr>
          <a:xfrm>
            <a:off x="9855707" y="1618122"/>
            <a:ext cx="1709927" cy="1884394"/>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5" name="Picture 44" descr="F4.png"/>
          <p:cNvPicPr>
            <a:picLocks noChangeAspect="1"/>
          </p:cNvPicPr>
          <p:nvPr/>
        </p:nvPicPr>
        <p:blipFill>
          <a:blip r:embed="rId3"/>
          <a:stretch>
            <a:fillRect/>
          </a:stretch>
        </p:blipFill>
        <p:spPr>
          <a:xfrm>
            <a:off x="9869423" y="1631838"/>
            <a:ext cx="1682495" cy="1856962"/>
          </a:xfrm>
          <a:prstGeom prst="rect">
            <a:avLst/>
          </a:prstGeom>
        </p:spPr>
      </p:pic>
      <p:sp>
        <p:nvSpPr>
          <p:cNvPr id="46" name="TextBox 45"/>
          <p:cNvSpPr txBox="1"/>
          <p:nvPr/>
        </p:nvSpPr>
        <p:spPr>
          <a:xfrm>
            <a:off x="9832847" y="3543665"/>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F04 Gluten Green</a:t>
            </a:r>
          </a:p>
          <a:p>
            <a:pPr algn="ctr">
              <a:spcBef>
                <a:spcPts val="0"/>
              </a:spcBef>
              <a:spcAft>
                <a:spcPts val="0"/>
              </a:spcAft>
            </a:pPr>
            <a:r>
              <a:rPr sz="1200" b="0" i="0">
                <a:solidFill>
                  <a:srgbClr val="1E2D44"/>
                </a:solidFill>
                <a:latin typeface="Karla"/>
              </a:rPr>
              <a:t>Bottom Right</a:t>
            </a:r>
          </a:p>
        </p:txBody>
      </p:sp>
      <p:sp>
        <p:nvSpPr>
          <p:cNvPr id="47" name="TextBox 46"/>
          <p:cNvSpPr txBox="1"/>
          <p:nvPr/>
        </p:nvSpPr>
        <p:spPr>
          <a:xfrm>
            <a:off x="9832847" y="3909425"/>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+6*</a:t>
            </a:r>
          </a:p>
        </p:txBody>
      </p:sp>
      <p:sp>
        <p:nvSpPr>
          <p:cNvPr id="48" name="Rounded Rectangle 47"/>
          <p:cNvSpPr/>
          <p:nvPr/>
        </p:nvSpPr>
        <p:spPr>
          <a:xfrm>
            <a:off x="502920" y="5632704"/>
            <a:ext cx="11268455" cy="676656"/>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200" b="0">
                <a:solidFill>
                  <a:srgbClr val="1E2D44"/>
                </a:solidFill>
                <a:latin typeface="Karla"/>
              </a:rPr>
              <a:t>Other favors F03 Gluten Green Top Right; Protein bars favor F02 Gluten Free Badge White Top Right D1 Foil; Protein cookies favor F02 Gluten Free Badge White Top Right D1 Foil; Protein powder favors F03 Gluten Green Top Right. The widest segment gap is F02 Gluten Free Badge White Top Right D1 Foil: +1 other / +11 protein bars / +5 protein cookies / +6 protein powder.</a:t>
            </a:r>
          </a:p>
        </p:txBody>
      </p:sp>
      <p:sp>
        <p:nvSpPr>
          <p:cNvPr id="49" name="Rectangle 48"/>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Top-2 scores rounded to whole points. *Average of the groups in the legend.</a:t>
            </a:r>
          </a:p>
        </p:txBody>
      </p:sp>
      <p:sp>
        <p:nvSpPr>
          <p:cNvPr id="51" name="TextBox 50"/>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85</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37744"/>
            <a:ext cx="7043927" cy="182880"/>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KEY FINDINGS: F_GLUTEN-FREE  ·  How familiar are you with the Fitspo brand?   ·   1 of 2</a:t>
            </a:r>
          </a:p>
        </p:txBody>
      </p:sp>
      <p:sp>
        <p:nvSpPr>
          <p:cNvPr id="3" name="TextBox 2"/>
          <p:cNvSpPr txBox="1"/>
          <p:nvPr/>
        </p:nvSpPr>
        <p:spPr>
          <a:xfrm>
            <a:off x="502920" y="438912"/>
            <a:ext cx="7043927" cy="365760"/>
          </a:xfrm>
          <a:prstGeom prst="rect">
            <a:avLst/>
          </a:prstGeom>
          <a:noFill/>
        </p:spPr>
        <p:txBody>
          <a:bodyPr wrap="square" anchor="t" lIns="0" rIns="0" tIns="0" bIns="0"/>
          <a:lstStyle/>
          <a:p>
            <a:pPr algn="l">
              <a:spcBef>
                <a:spcPts val="0"/>
              </a:spcBef>
              <a:spcAft>
                <a:spcPts val="0"/>
              </a:spcAft>
            </a:pPr>
            <a:r>
              <a:rPr sz="2600" b="1" i="0">
                <a:solidFill>
                  <a:srgbClr val="1E2D44"/>
                </a:solidFill>
                <a:latin typeface="Karla"/>
              </a:rPr>
              <a:t>F_Gluten-free splits across the groups</a:t>
            </a:r>
          </a:p>
        </p:txBody>
      </p:sp>
      <p:sp>
        <p:nvSpPr>
          <p:cNvPr id="4" name="TextBox 3"/>
          <p:cNvSpPr txBox="1"/>
          <p:nvPr/>
        </p:nvSpPr>
        <p:spPr>
          <a:xfrm>
            <a:off x="502920" y="822960"/>
            <a:ext cx="7043927" cy="475488"/>
          </a:xfrm>
          <a:prstGeom prst="rect">
            <a:avLst/>
          </a:prstGeom>
          <a:noFill/>
        </p:spPr>
        <p:txBody>
          <a:bodyPr wrap="square" anchor="t" lIns="0" rIns="0" tIns="0" bIns="0"/>
          <a:lstStyle/>
          <a:p>
            <a:pPr algn="l">
              <a:spcBef>
                <a:spcPts val="0"/>
              </a:spcBef>
              <a:spcAft>
                <a:spcPts val="0"/>
              </a:spcAft>
            </a:pPr>
            <a:r>
              <a:rPr sz="1200" b="0" i="0">
                <a:solidFill>
                  <a:srgbClr val="617086"/>
                </a:solidFill>
                <a:latin typeface="Karla"/>
              </a:rPr>
              <a:t>Heard of it, but know little about it favors F02 Gluten Free Badge White Top Right D1 Foil; Not familiar at all favors F01 Gluten Free Badge Dark Bottom Right D2D3; Somewhat familiar favors F04 Gluten Free Blank; Very familiar favors F01 Gluten Free Badge Dark Bottom Right D2D3.</a:t>
            </a:r>
          </a:p>
        </p:txBody>
      </p:sp>
      <p:sp>
        <p:nvSpPr>
          <p:cNvPr id="5" name="Rectangle 4"/>
          <p:cNvSpPr/>
          <p:nvPr/>
        </p:nvSpPr>
        <p:spPr>
          <a:xfrm>
            <a:off x="502920" y="1335024"/>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F_GLUTEN-FREE</a:t>
            </a:r>
          </a:p>
        </p:txBody>
      </p:sp>
      <p:sp>
        <p:nvSpPr>
          <p:cNvPr id="6" name="Rectangle 5"/>
          <p:cNvSpPr/>
          <p:nvPr/>
        </p:nvSpPr>
        <p:spPr>
          <a:xfrm>
            <a:off x="2167128"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74520"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8" name="TextBox 7"/>
          <p:cNvSpPr txBox="1"/>
          <p:nvPr/>
        </p:nvSpPr>
        <p:spPr>
          <a:xfrm>
            <a:off x="3490975"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9" name="Rectangle 8"/>
          <p:cNvSpPr/>
          <p:nvPr/>
        </p:nvSpPr>
        <p:spPr>
          <a:xfrm>
            <a:off x="5400039"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7431"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11" name="Rectangle 10"/>
          <p:cNvSpPr/>
          <p:nvPr/>
        </p:nvSpPr>
        <p:spPr>
          <a:xfrm>
            <a:off x="7016495"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23887"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3" name="Rectangle 12"/>
          <p:cNvSpPr/>
          <p:nvPr/>
        </p:nvSpPr>
        <p:spPr>
          <a:xfrm>
            <a:off x="3783583" y="1645920"/>
            <a:ext cx="10972" cy="30906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167128" y="4736592"/>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1872569"/>
            <a:ext cx="1554480" cy="576925"/>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F01 Gluten Free</a:t>
            </a:r>
          </a:p>
          <a:p>
            <a:pPr algn="r">
              <a:spcBef>
                <a:spcPts val="0"/>
              </a:spcBef>
              <a:spcAft>
                <a:spcPts val="0"/>
              </a:spcAft>
            </a:pPr>
            <a:r>
              <a:rPr sz="1000" b="0" i="0">
                <a:solidFill>
                  <a:srgbClr val="1E2D44"/>
                </a:solidFill>
                <a:latin typeface="Karla"/>
              </a:rPr>
              <a:t>Badge Dark Bottom…</a:t>
            </a:r>
          </a:p>
        </p:txBody>
      </p:sp>
      <p:sp>
        <p:nvSpPr>
          <p:cNvPr id="16" name="Rectangle 15"/>
          <p:cNvSpPr/>
          <p:nvPr/>
        </p:nvSpPr>
        <p:spPr>
          <a:xfrm>
            <a:off x="3783583" y="1872569"/>
            <a:ext cx="27432" cy="113370"/>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838447" y="1872569"/>
            <a:ext cx="457200" cy="113370"/>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0</a:t>
            </a:r>
          </a:p>
        </p:txBody>
      </p:sp>
      <p:sp>
        <p:nvSpPr>
          <p:cNvPr id="18" name="Rectangle 17"/>
          <p:cNvSpPr/>
          <p:nvPr/>
        </p:nvSpPr>
        <p:spPr>
          <a:xfrm>
            <a:off x="3783583" y="2027087"/>
            <a:ext cx="161645" cy="113370"/>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000093" y="2027087"/>
            <a:ext cx="457200" cy="113370"/>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a:t>
            </a:r>
          </a:p>
        </p:txBody>
      </p:sp>
      <p:sp>
        <p:nvSpPr>
          <p:cNvPr id="20" name="Rectangle 19"/>
          <p:cNvSpPr/>
          <p:nvPr/>
        </p:nvSpPr>
        <p:spPr>
          <a:xfrm>
            <a:off x="3783583" y="2181606"/>
            <a:ext cx="323291" cy="11337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61739" y="2181606"/>
            <a:ext cx="457200" cy="113370"/>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+2</a:t>
            </a:r>
          </a:p>
        </p:txBody>
      </p:sp>
      <p:sp>
        <p:nvSpPr>
          <p:cNvPr id="22" name="Rectangle 21"/>
          <p:cNvSpPr/>
          <p:nvPr/>
        </p:nvSpPr>
        <p:spPr>
          <a:xfrm>
            <a:off x="3783583" y="2336124"/>
            <a:ext cx="1939747" cy="113370"/>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78194" y="2336124"/>
            <a:ext cx="457200" cy="113370"/>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+12</a:t>
            </a:r>
          </a:p>
        </p:txBody>
      </p:sp>
      <p:sp>
        <p:nvSpPr>
          <p:cNvPr id="24" name="TextBox 23"/>
          <p:cNvSpPr txBox="1"/>
          <p:nvPr/>
        </p:nvSpPr>
        <p:spPr>
          <a:xfrm>
            <a:off x="502920" y="2902793"/>
            <a:ext cx="1554480" cy="576925"/>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F02 Gluten Free</a:t>
            </a:r>
          </a:p>
          <a:p>
            <a:pPr algn="r">
              <a:spcBef>
                <a:spcPts val="0"/>
              </a:spcBef>
              <a:spcAft>
                <a:spcPts val="0"/>
              </a:spcAft>
            </a:pPr>
            <a:r>
              <a:rPr sz="1000" b="0" i="0">
                <a:solidFill>
                  <a:srgbClr val="1E2D44"/>
                </a:solidFill>
                <a:latin typeface="Karla"/>
              </a:rPr>
              <a:t>Badge White Top…</a:t>
            </a:r>
          </a:p>
        </p:txBody>
      </p:sp>
      <p:sp>
        <p:nvSpPr>
          <p:cNvPr id="25" name="Rectangle 24"/>
          <p:cNvSpPr/>
          <p:nvPr/>
        </p:nvSpPr>
        <p:spPr>
          <a:xfrm>
            <a:off x="3783583" y="2902793"/>
            <a:ext cx="323291" cy="113370"/>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61739" y="2902793"/>
            <a:ext cx="457200" cy="113370"/>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+2</a:t>
            </a:r>
          </a:p>
        </p:txBody>
      </p:sp>
      <p:sp>
        <p:nvSpPr>
          <p:cNvPr id="27" name="Rectangle 26"/>
          <p:cNvSpPr/>
          <p:nvPr/>
        </p:nvSpPr>
        <p:spPr>
          <a:xfrm>
            <a:off x="3621938" y="3057311"/>
            <a:ext cx="161645" cy="113370"/>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109874" y="3057311"/>
            <a:ext cx="457200" cy="113370"/>
          </a:xfrm>
          <a:prstGeom prst="rect">
            <a:avLst/>
          </a:prstGeom>
          <a:noFill/>
        </p:spPr>
        <p:txBody>
          <a:bodyPr wrap="none" anchor="ctr" lIns="0" rIns="0" tIns="0" bIns="0"/>
          <a:lstStyle/>
          <a:p>
            <a:pPr algn="r">
              <a:spcBef>
                <a:spcPts val="0"/>
              </a:spcBef>
              <a:spcAft>
                <a:spcPts val="0"/>
              </a:spcAft>
            </a:pPr>
            <a:r>
              <a:rPr sz="1000" b="1" i="0">
                <a:solidFill>
                  <a:srgbClr val="04746E"/>
                </a:solidFill>
                <a:latin typeface="Karla"/>
              </a:rPr>
              <a:t>-1</a:t>
            </a:r>
          </a:p>
        </p:txBody>
      </p:sp>
      <p:sp>
        <p:nvSpPr>
          <p:cNvPr id="29" name="Rectangle 28"/>
          <p:cNvSpPr/>
          <p:nvPr/>
        </p:nvSpPr>
        <p:spPr>
          <a:xfrm>
            <a:off x="3783583" y="3211830"/>
            <a:ext cx="1131519" cy="11337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969967" y="3211830"/>
            <a:ext cx="457200" cy="113370"/>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+7</a:t>
            </a:r>
          </a:p>
        </p:txBody>
      </p:sp>
      <p:sp>
        <p:nvSpPr>
          <p:cNvPr id="31" name="Rectangle 30"/>
          <p:cNvSpPr/>
          <p:nvPr/>
        </p:nvSpPr>
        <p:spPr>
          <a:xfrm>
            <a:off x="3783583" y="3366348"/>
            <a:ext cx="1939747" cy="113370"/>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778194" y="3366348"/>
            <a:ext cx="457200" cy="113370"/>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+12</a:t>
            </a:r>
          </a:p>
        </p:txBody>
      </p:sp>
      <p:sp>
        <p:nvSpPr>
          <p:cNvPr id="33" name="TextBox 32"/>
          <p:cNvSpPr txBox="1"/>
          <p:nvPr/>
        </p:nvSpPr>
        <p:spPr>
          <a:xfrm>
            <a:off x="502920" y="3933017"/>
            <a:ext cx="1554480" cy="576925"/>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F04 Gluten Free</a:t>
            </a:r>
          </a:p>
          <a:p>
            <a:pPr algn="r">
              <a:spcBef>
                <a:spcPts val="0"/>
              </a:spcBef>
              <a:spcAft>
                <a:spcPts val="0"/>
              </a:spcAft>
            </a:pPr>
            <a:r>
              <a:rPr sz="1100" b="0" i="0">
                <a:solidFill>
                  <a:srgbClr val="1E2D44"/>
                </a:solidFill>
                <a:latin typeface="Karla"/>
              </a:rPr>
              <a:t>Blank</a:t>
            </a:r>
          </a:p>
        </p:txBody>
      </p:sp>
      <p:sp>
        <p:nvSpPr>
          <p:cNvPr id="34" name="Rectangle 33"/>
          <p:cNvSpPr/>
          <p:nvPr/>
        </p:nvSpPr>
        <p:spPr>
          <a:xfrm>
            <a:off x="3460292" y="3933017"/>
            <a:ext cx="323291" cy="113370"/>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948228" y="3933017"/>
            <a:ext cx="457200" cy="113370"/>
          </a:xfrm>
          <a:prstGeom prst="rect">
            <a:avLst/>
          </a:prstGeom>
          <a:noFill/>
        </p:spPr>
        <p:txBody>
          <a:bodyPr wrap="none" anchor="ctr" lIns="0" rIns="0" tIns="0" bIns="0"/>
          <a:lstStyle/>
          <a:p>
            <a:pPr algn="r">
              <a:spcBef>
                <a:spcPts val="0"/>
              </a:spcBef>
              <a:spcAft>
                <a:spcPts val="0"/>
              </a:spcAft>
            </a:pPr>
            <a:r>
              <a:rPr sz="1000" b="1" i="0">
                <a:solidFill>
                  <a:srgbClr val="1A2332"/>
                </a:solidFill>
                <a:latin typeface="Karla"/>
              </a:rPr>
              <a:t>-2</a:t>
            </a:r>
          </a:p>
        </p:txBody>
      </p:sp>
      <p:sp>
        <p:nvSpPr>
          <p:cNvPr id="36" name="Rectangle 35"/>
          <p:cNvSpPr/>
          <p:nvPr/>
        </p:nvSpPr>
        <p:spPr>
          <a:xfrm>
            <a:off x="3783583" y="4087535"/>
            <a:ext cx="161645" cy="113370"/>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000093" y="4087535"/>
            <a:ext cx="457200" cy="113370"/>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+1</a:t>
            </a:r>
          </a:p>
        </p:txBody>
      </p:sp>
      <p:sp>
        <p:nvSpPr>
          <p:cNvPr id="38" name="Rectangle 37"/>
          <p:cNvSpPr/>
          <p:nvPr/>
        </p:nvSpPr>
        <p:spPr>
          <a:xfrm>
            <a:off x="3783583" y="4242054"/>
            <a:ext cx="1293164" cy="11337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131612" y="4242054"/>
            <a:ext cx="457200" cy="113370"/>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+8</a:t>
            </a:r>
          </a:p>
        </p:txBody>
      </p:sp>
      <p:sp>
        <p:nvSpPr>
          <p:cNvPr id="40" name="Rectangle 39"/>
          <p:cNvSpPr/>
          <p:nvPr/>
        </p:nvSpPr>
        <p:spPr>
          <a:xfrm>
            <a:off x="3783583" y="4396572"/>
            <a:ext cx="1454810" cy="113370"/>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293258" y="4396572"/>
            <a:ext cx="457200" cy="113370"/>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+9</a:t>
            </a:r>
          </a:p>
        </p:txBody>
      </p:sp>
      <p:sp>
        <p:nvSpPr>
          <p:cNvPr id="42" name="Rectangle 41"/>
          <p:cNvSpPr/>
          <p:nvPr/>
        </p:nvSpPr>
        <p:spPr>
          <a:xfrm>
            <a:off x="684783" y="5161788"/>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58519" y="5102352"/>
            <a:ext cx="376936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Heard of it, but know little about it (basesize = 22)</a:t>
            </a:r>
          </a:p>
        </p:txBody>
      </p:sp>
      <p:sp>
        <p:nvSpPr>
          <p:cNvPr id="44" name="Rectangle 43"/>
          <p:cNvSpPr/>
          <p:nvPr/>
        </p:nvSpPr>
        <p:spPr>
          <a:xfrm>
            <a:off x="4883911" y="5161788"/>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057647" y="5102352"/>
            <a:ext cx="248920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Not familiar at all (basesize = 25)</a:t>
            </a:r>
          </a:p>
        </p:txBody>
      </p:sp>
      <p:sp>
        <p:nvSpPr>
          <p:cNvPr id="46" name="Rectangle 45"/>
          <p:cNvSpPr/>
          <p:nvPr/>
        </p:nvSpPr>
        <p:spPr>
          <a:xfrm>
            <a:off x="2085339" y="5381244"/>
            <a:ext cx="100584" cy="10058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259075" y="5321808"/>
            <a:ext cx="234696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Somewhat familiar (basesize = 49)</a:t>
            </a:r>
          </a:p>
        </p:txBody>
      </p:sp>
      <p:sp>
        <p:nvSpPr>
          <p:cNvPr id="48" name="Rectangle 47"/>
          <p:cNvSpPr/>
          <p:nvPr/>
        </p:nvSpPr>
        <p:spPr>
          <a:xfrm>
            <a:off x="4862067" y="5381244"/>
            <a:ext cx="100584" cy="100584"/>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035803" y="5321808"/>
            <a:ext cx="206248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Very familiar (basesize = 54)</a:t>
            </a:r>
          </a:p>
        </p:txBody>
      </p:sp>
      <p:sp>
        <p:nvSpPr>
          <p:cNvPr id="50" name="Rounded Rectangle 49"/>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9361253" y="425195"/>
            <a:ext cx="778596" cy="856487"/>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2" name="Picture 51" descr="F1.png"/>
          <p:cNvPicPr>
            <a:picLocks noChangeAspect="1"/>
          </p:cNvPicPr>
          <p:nvPr/>
        </p:nvPicPr>
        <p:blipFill>
          <a:blip r:embed="rId2"/>
          <a:stretch>
            <a:fillRect/>
          </a:stretch>
        </p:blipFill>
        <p:spPr>
          <a:xfrm>
            <a:off x="9374969" y="438911"/>
            <a:ext cx="751164" cy="829055"/>
          </a:xfrm>
          <a:prstGeom prst="rect">
            <a:avLst/>
          </a:prstGeom>
        </p:spPr>
      </p:pic>
      <p:sp>
        <p:nvSpPr>
          <p:cNvPr id="53" name="TextBox 52"/>
          <p:cNvSpPr txBox="1"/>
          <p:nvPr/>
        </p:nvSpPr>
        <p:spPr>
          <a:xfrm>
            <a:off x="7912607" y="1322831"/>
            <a:ext cx="3675887" cy="365760"/>
          </a:xfrm>
          <a:prstGeom prst="rect">
            <a:avLst/>
          </a:prstGeom>
          <a:noFill/>
        </p:spPr>
        <p:txBody>
          <a:bodyPr wrap="square" anchor="ctr" lIns="0" rIns="0" tIns="0" bIns="0"/>
          <a:lstStyle/>
          <a:p>
            <a:pPr algn="ctr">
              <a:spcBef>
                <a:spcPts val="0"/>
              </a:spcBef>
              <a:spcAft>
                <a:spcPts val="0"/>
              </a:spcAft>
            </a:pPr>
            <a:r>
              <a:rPr sz="1300" b="0" i="0">
                <a:solidFill>
                  <a:srgbClr val="1E2D44"/>
                </a:solidFill>
                <a:latin typeface="Karla"/>
              </a:rPr>
              <a:t>F01 Gluten Free Badge Dark Bottom</a:t>
            </a:r>
          </a:p>
          <a:p>
            <a:pPr algn="ctr">
              <a:spcBef>
                <a:spcPts val="0"/>
              </a:spcBef>
              <a:spcAft>
                <a:spcPts val="0"/>
              </a:spcAft>
            </a:pPr>
            <a:r>
              <a:rPr sz="1300" b="0" i="0">
                <a:solidFill>
                  <a:srgbClr val="1E2D44"/>
                </a:solidFill>
                <a:latin typeface="Karla"/>
              </a:rPr>
              <a:t>Right D2D3</a:t>
            </a:r>
          </a:p>
        </p:txBody>
      </p:sp>
      <p:sp>
        <p:nvSpPr>
          <p:cNvPr id="54" name="TextBox 53"/>
          <p:cNvSpPr txBox="1"/>
          <p:nvPr/>
        </p:nvSpPr>
        <p:spPr>
          <a:xfrm>
            <a:off x="7912607" y="1688591"/>
            <a:ext cx="367588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+4*</a:t>
            </a:r>
          </a:p>
        </p:txBody>
      </p:sp>
      <p:sp>
        <p:nvSpPr>
          <p:cNvPr id="55" name="Rectangle 54"/>
          <p:cNvSpPr/>
          <p:nvPr/>
        </p:nvSpPr>
        <p:spPr>
          <a:xfrm>
            <a:off x="9361253" y="2132075"/>
            <a:ext cx="778596" cy="856487"/>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6" name="Picture 55" descr="F2.png"/>
          <p:cNvPicPr>
            <a:picLocks noChangeAspect="1"/>
          </p:cNvPicPr>
          <p:nvPr/>
        </p:nvPicPr>
        <p:blipFill>
          <a:blip r:embed="rId3"/>
          <a:stretch>
            <a:fillRect/>
          </a:stretch>
        </p:blipFill>
        <p:spPr>
          <a:xfrm>
            <a:off x="9374969" y="2145791"/>
            <a:ext cx="751164" cy="829055"/>
          </a:xfrm>
          <a:prstGeom prst="rect">
            <a:avLst/>
          </a:prstGeom>
        </p:spPr>
      </p:pic>
      <p:sp>
        <p:nvSpPr>
          <p:cNvPr id="57" name="TextBox 56"/>
          <p:cNvSpPr txBox="1"/>
          <p:nvPr/>
        </p:nvSpPr>
        <p:spPr>
          <a:xfrm>
            <a:off x="7912607" y="3029711"/>
            <a:ext cx="3675887" cy="365760"/>
          </a:xfrm>
          <a:prstGeom prst="rect">
            <a:avLst/>
          </a:prstGeom>
          <a:noFill/>
        </p:spPr>
        <p:txBody>
          <a:bodyPr wrap="square" anchor="ctr" lIns="0" rIns="0" tIns="0" bIns="0"/>
          <a:lstStyle/>
          <a:p>
            <a:pPr algn="ctr">
              <a:spcBef>
                <a:spcPts val="0"/>
              </a:spcBef>
              <a:spcAft>
                <a:spcPts val="0"/>
              </a:spcAft>
            </a:pPr>
            <a:r>
              <a:rPr sz="1300" b="0" i="0">
                <a:solidFill>
                  <a:srgbClr val="1E2D44"/>
                </a:solidFill>
                <a:latin typeface="Karla"/>
              </a:rPr>
              <a:t>F02 Gluten Free Badge White Top Right</a:t>
            </a:r>
          </a:p>
          <a:p>
            <a:pPr algn="ctr">
              <a:spcBef>
                <a:spcPts val="0"/>
              </a:spcBef>
              <a:spcAft>
                <a:spcPts val="0"/>
              </a:spcAft>
            </a:pPr>
            <a:r>
              <a:rPr sz="1300" b="0" i="0">
                <a:solidFill>
                  <a:srgbClr val="1E2D44"/>
                </a:solidFill>
                <a:latin typeface="Karla"/>
              </a:rPr>
              <a:t>D1 Foil</a:t>
            </a:r>
          </a:p>
        </p:txBody>
      </p:sp>
      <p:sp>
        <p:nvSpPr>
          <p:cNvPr id="58" name="TextBox 57"/>
          <p:cNvSpPr txBox="1"/>
          <p:nvPr/>
        </p:nvSpPr>
        <p:spPr>
          <a:xfrm>
            <a:off x="7912607" y="3395471"/>
            <a:ext cx="367588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+5*</a:t>
            </a:r>
          </a:p>
        </p:txBody>
      </p:sp>
      <p:sp>
        <p:nvSpPr>
          <p:cNvPr id="59" name="Rectangle 58"/>
          <p:cNvSpPr/>
          <p:nvPr/>
        </p:nvSpPr>
        <p:spPr>
          <a:xfrm>
            <a:off x="9361253" y="3838956"/>
            <a:ext cx="778596" cy="856487"/>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0" name="Picture 59" descr="F5.png"/>
          <p:cNvPicPr>
            <a:picLocks noChangeAspect="1"/>
          </p:cNvPicPr>
          <p:nvPr/>
        </p:nvPicPr>
        <p:blipFill>
          <a:blip r:embed="rId4"/>
          <a:stretch>
            <a:fillRect/>
          </a:stretch>
        </p:blipFill>
        <p:spPr>
          <a:xfrm>
            <a:off x="9374969" y="3852671"/>
            <a:ext cx="751164" cy="829055"/>
          </a:xfrm>
          <a:prstGeom prst="rect">
            <a:avLst/>
          </a:prstGeom>
        </p:spPr>
      </p:pic>
      <p:sp>
        <p:nvSpPr>
          <p:cNvPr id="61" name="TextBox 60"/>
          <p:cNvSpPr txBox="1"/>
          <p:nvPr/>
        </p:nvSpPr>
        <p:spPr>
          <a:xfrm>
            <a:off x="7912607" y="4736591"/>
            <a:ext cx="3675887" cy="365760"/>
          </a:xfrm>
          <a:prstGeom prst="rect">
            <a:avLst/>
          </a:prstGeom>
          <a:noFill/>
        </p:spPr>
        <p:txBody>
          <a:bodyPr wrap="square" anchor="ctr" lIns="0" rIns="0" tIns="0" bIns="0"/>
          <a:lstStyle/>
          <a:p>
            <a:pPr algn="ctr">
              <a:spcBef>
                <a:spcPts val="0"/>
              </a:spcBef>
              <a:spcAft>
                <a:spcPts val="0"/>
              </a:spcAft>
            </a:pPr>
            <a:r>
              <a:rPr sz="1300" b="0" i="0">
                <a:solidFill>
                  <a:srgbClr val="1E2D44"/>
                </a:solidFill>
                <a:latin typeface="Karla"/>
              </a:rPr>
              <a:t>F04 Gluten Free Blank</a:t>
            </a:r>
          </a:p>
        </p:txBody>
      </p:sp>
      <p:sp>
        <p:nvSpPr>
          <p:cNvPr id="62" name="TextBox 61"/>
          <p:cNvSpPr txBox="1"/>
          <p:nvPr/>
        </p:nvSpPr>
        <p:spPr>
          <a:xfrm>
            <a:off x="7912607" y="5102351"/>
            <a:ext cx="367588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+4*</a:t>
            </a:r>
          </a:p>
        </p:txBody>
      </p:sp>
      <p:sp>
        <p:nvSpPr>
          <p:cNvPr id="63" name="Rounded Rectangle 62"/>
          <p:cNvSpPr/>
          <p:nvPr/>
        </p:nvSpPr>
        <p:spPr>
          <a:xfrm>
            <a:off x="502920" y="5632704"/>
            <a:ext cx="11268455" cy="676656"/>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200" b="0">
                <a:solidFill>
                  <a:srgbClr val="1E2D44"/>
                </a:solidFill>
                <a:latin typeface="Karla"/>
              </a:rPr>
              <a:t>Heard of it, but know little about it favors F02 Gluten Free Badge White Top Right D1 Foil; Not familiar at all favors F01 Gluten Free Badge Dark Bottom Right D2D3; Somewhat familiar favors F04 Gluten Free Blank; Very familiar favors F01 Gluten Free Badge Dark Bottom Right D2D3. The widest segment gap is F02 Gluten Free Badge White Top Right D1 Foil: +2 heard of it, but know little about it / -1 not familiar at all / +7 somewhat familiar / +12 very familiar.</a:t>
            </a:r>
          </a:p>
        </p:txBody>
      </p:sp>
      <p:sp>
        <p:nvSpPr>
          <p:cNvPr id="64" name="Rectangle 63"/>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Top-2 scores rounded to whole points. *Average of the groups in the legend.</a:t>
            </a:r>
          </a:p>
        </p:txBody>
      </p:sp>
      <p:sp>
        <p:nvSpPr>
          <p:cNvPr id="66" name="TextBox 65"/>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86</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37744"/>
            <a:ext cx="7043927" cy="182880"/>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KEY FINDINGS: F_GLUTEN-FREE  ·  How familiar are you with the Fitspo brand?   ·   2 of 2</a:t>
            </a:r>
          </a:p>
        </p:txBody>
      </p:sp>
      <p:sp>
        <p:nvSpPr>
          <p:cNvPr id="3" name="TextBox 2"/>
          <p:cNvSpPr txBox="1"/>
          <p:nvPr/>
        </p:nvSpPr>
        <p:spPr>
          <a:xfrm>
            <a:off x="502920" y="438912"/>
            <a:ext cx="7043927" cy="365760"/>
          </a:xfrm>
          <a:prstGeom prst="rect">
            <a:avLst/>
          </a:prstGeom>
          <a:noFill/>
        </p:spPr>
        <p:txBody>
          <a:bodyPr wrap="square" anchor="t" lIns="0" rIns="0" tIns="0" bIns="0"/>
          <a:lstStyle/>
          <a:p>
            <a:pPr algn="l">
              <a:spcBef>
                <a:spcPts val="0"/>
              </a:spcBef>
              <a:spcAft>
                <a:spcPts val="0"/>
              </a:spcAft>
            </a:pPr>
            <a:r>
              <a:rPr sz="2600" b="1" i="0">
                <a:solidFill>
                  <a:srgbClr val="1E2D44"/>
                </a:solidFill>
                <a:latin typeface="Karla"/>
              </a:rPr>
              <a:t>F_Gluten-free splits across the groups</a:t>
            </a:r>
          </a:p>
        </p:txBody>
      </p:sp>
      <p:sp>
        <p:nvSpPr>
          <p:cNvPr id="4" name="TextBox 3"/>
          <p:cNvSpPr txBox="1"/>
          <p:nvPr/>
        </p:nvSpPr>
        <p:spPr>
          <a:xfrm>
            <a:off x="502920" y="822960"/>
            <a:ext cx="7043927" cy="475488"/>
          </a:xfrm>
          <a:prstGeom prst="rect">
            <a:avLst/>
          </a:prstGeom>
          <a:noFill/>
        </p:spPr>
        <p:txBody>
          <a:bodyPr wrap="square" anchor="t" lIns="0" rIns="0" tIns="0" bIns="0"/>
          <a:lstStyle/>
          <a:p>
            <a:pPr algn="l">
              <a:spcBef>
                <a:spcPts val="0"/>
              </a:spcBef>
              <a:spcAft>
                <a:spcPts val="0"/>
              </a:spcAft>
            </a:pPr>
            <a:r>
              <a:rPr sz="1200" b="0" i="0">
                <a:solidFill>
                  <a:srgbClr val="617086"/>
                </a:solidFill>
                <a:latin typeface="Karla"/>
              </a:rPr>
              <a:t>Heard of it, but know little about it favors F02 Gluten Free Badge White Top Right D1 Foil; Not familiar at all favors F01 Gluten Free Badge Dark Bottom Right D2D3; Somewhat familiar favors F04 Gluten Free Blank; Very familiar favors F01 Gluten Free Badge Dark Bottom Right D2D3.</a:t>
            </a:r>
          </a:p>
        </p:txBody>
      </p:sp>
      <p:sp>
        <p:nvSpPr>
          <p:cNvPr id="5" name="Rectangle 4"/>
          <p:cNvSpPr/>
          <p:nvPr/>
        </p:nvSpPr>
        <p:spPr>
          <a:xfrm>
            <a:off x="502920" y="1335024"/>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F_GLUTEN-FREE</a:t>
            </a:r>
          </a:p>
        </p:txBody>
      </p:sp>
      <p:sp>
        <p:nvSpPr>
          <p:cNvPr id="6" name="TextBox 5"/>
          <p:cNvSpPr txBox="1"/>
          <p:nvPr/>
        </p:nvSpPr>
        <p:spPr>
          <a:xfrm>
            <a:off x="1874520"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7" name="Rectangle 6"/>
          <p:cNvSpPr/>
          <p:nvPr/>
        </p:nvSpPr>
        <p:spPr>
          <a:xfrm>
            <a:off x="4591811"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99203"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5</a:t>
            </a:r>
          </a:p>
        </p:txBody>
      </p:sp>
      <p:sp>
        <p:nvSpPr>
          <p:cNvPr id="9" name="Rectangle 8"/>
          <p:cNvSpPr/>
          <p:nvPr/>
        </p:nvSpPr>
        <p:spPr>
          <a:xfrm>
            <a:off x="7016495" y="1645920"/>
            <a:ext cx="9144" cy="3090672"/>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23887" y="4754879"/>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11" name="Rectangle 10"/>
          <p:cNvSpPr/>
          <p:nvPr/>
        </p:nvSpPr>
        <p:spPr>
          <a:xfrm>
            <a:off x="2167128" y="1645920"/>
            <a:ext cx="10972" cy="30906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167128" y="4736592"/>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2045969"/>
            <a:ext cx="1554480" cy="745236"/>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F03 Gluten Green</a:t>
            </a:r>
          </a:p>
          <a:p>
            <a:pPr algn="r">
              <a:spcBef>
                <a:spcPts val="0"/>
              </a:spcBef>
              <a:spcAft>
                <a:spcPts val="0"/>
              </a:spcAft>
            </a:pPr>
            <a:r>
              <a:rPr sz="1100" b="0" i="0">
                <a:solidFill>
                  <a:srgbClr val="1E2D44"/>
                </a:solidFill>
                <a:latin typeface="Karla"/>
              </a:rPr>
              <a:t>Top Right</a:t>
            </a:r>
          </a:p>
        </p:txBody>
      </p:sp>
      <p:sp>
        <p:nvSpPr>
          <p:cNvPr id="14" name="Rectangle 13"/>
          <p:cNvSpPr/>
          <p:nvPr/>
        </p:nvSpPr>
        <p:spPr>
          <a:xfrm>
            <a:off x="2167128" y="2045969"/>
            <a:ext cx="969873"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191865" y="2045969"/>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+2</a:t>
            </a:r>
          </a:p>
        </p:txBody>
      </p:sp>
      <p:sp>
        <p:nvSpPr>
          <p:cNvPr id="16" name="Rectangle 15"/>
          <p:cNvSpPr/>
          <p:nvPr/>
        </p:nvSpPr>
        <p:spPr>
          <a:xfrm>
            <a:off x="2167128" y="2242565"/>
            <a:ext cx="484936"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06928" y="2242565"/>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+1</a:t>
            </a:r>
          </a:p>
        </p:txBody>
      </p:sp>
      <p:sp>
        <p:nvSpPr>
          <p:cNvPr id="18" name="Rectangle 17"/>
          <p:cNvSpPr/>
          <p:nvPr/>
        </p:nvSpPr>
        <p:spPr>
          <a:xfrm>
            <a:off x="2167128" y="2439162"/>
            <a:ext cx="969873" cy="155448"/>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191865" y="2439162"/>
            <a:ext cx="457200" cy="155448"/>
          </a:xfrm>
          <a:prstGeom prst="rect">
            <a:avLst/>
          </a:prstGeom>
          <a:noFill/>
        </p:spPr>
        <p:txBody>
          <a:bodyPr wrap="none" anchor="ctr" lIns="0" rIns="0" tIns="0" bIns="0"/>
          <a:lstStyle/>
          <a:p>
            <a:pPr algn="l">
              <a:spcBef>
                <a:spcPts val="0"/>
              </a:spcBef>
              <a:spcAft>
                <a:spcPts val="0"/>
              </a:spcAft>
            </a:pPr>
            <a:r>
              <a:rPr sz="1200" b="1" i="0">
                <a:solidFill>
                  <a:srgbClr val="C45C26"/>
                </a:solidFill>
                <a:latin typeface="Karla"/>
              </a:rPr>
              <a:t>+2</a:t>
            </a:r>
          </a:p>
        </p:txBody>
      </p:sp>
      <p:sp>
        <p:nvSpPr>
          <p:cNvPr id="20" name="Rectangle 19"/>
          <p:cNvSpPr/>
          <p:nvPr/>
        </p:nvSpPr>
        <p:spPr>
          <a:xfrm>
            <a:off x="2167128" y="2635758"/>
            <a:ext cx="3879494" cy="155448"/>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01486" y="2635758"/>
            <a:ext cx="457200" cy="155448"/>
          </a:xfrm>
          <a:prstGeom prst="rect">
            <a:avLst/>
          </a:prstGeom>
          <a:noFill/>
        </p:spPr>
        <p:txBody>
          <a:bodyPr wrap="none" anchor="ctr" lIns="0" rIns="0" tIns="0" bIns="0"/>
          <a:lstStyle/>
          <a:p>
            <a:pPr algn="l">
              <a:spcBef>
                <a:spcPts val="0"/>
              </a:spcBef>
              <a:spcAft>
                <a:spcPts val="0"/>
              </a:spcAft>
            </a:pPr>
            <a:r>
              <a:rPr sz="1200" b="1" i="0">
                <a:solidFill>
                  <a:srgbClr val="1D4E89"/>
                </a:solidFill>
                <a:latin typeface="Karla"/>
              </a:rPr>
              <a:t>+8</a:t>
            </a:r>
          </a:p>
        </p:txBody>
      </p:sp>
      <p:sp>
        <p:nvSpPr>
          <p:cNvPr id="22" name="TextBox 21"/>
          <p:cNvSpPr txBox="1"/>
          <p:nvPr/>
        </p:nvSpPr>
        <p:spPr>
          <a:xfrm>
            <a:off x="502920" y="3591306"/>
            <a:ext cx="1554480" cy="745236"/>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F04 Gluten Green</a:t>
            </a:r>
          </a:p>
          <a:p>
            <a:pPr algn="r">
              <a:spcBef>
                <a:spcPts val="0"/>
              </a:spcBef>
              <a:spcAft>
                <a:spcPts val="0"/>
              </a:spcAft>
            </a:pPr>
            <a:r>
              <a:rPr sz="1100" b="0" i="0">
                <a:solidFill>
                  <a:srgbClr val="1E2D44"/>
                </a:solidFill>
                <a:latin typeface="Karla"/>
              </a:rPr>
              <a:t>Bottom Right</a:t>
            </a:r>
          </a:p>
        </p:txBody>
      </p:sp>
      <p:sp>
        <p:nvSpPr>
          <p:cNvPr id="23" name="Rectangle 22"/>
          <p:cNvSpPr/>
          <p:nvPr/>
        </p:nvSpPr>
        <p:spPr>
          <a:xfrm>
            <a:off x="2167128" y="3591306"/>
            <a:ext cx="27432"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221992" y="3591306"/>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0</a:t>
            </a:r>
          </a:p>
        </p:txBody>
      </p:sp>
      <p:sp>
        <p:nvSpPr>
          <p:cNvPr id="25" name="Rectangle 24"/>
          <p:cNvSpPr/>
          <p:nvPr/>
        </p:nvSpPr>
        <p:spPr>
          <a:xfrm>
            <a:off x="2167128" y="3787902"/>
            <a:ext cx="484936"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706928" y="3787902"/>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+1</a:t>
            </a:r>
          </a:p>
        </p:txBody>
      </p:sp>
      <p:sp>
        <p:nvSpPr>
          <p:cNvPr id="27" name="Rectangle 26"/>
          <p:cNvSpPr/>
          <p:nvPr/>
        </p:nvSpPr>
        <p:spPr>
          <a:xfrm>
            <a:off x="2167128" y="3984498"/>
            <a:ext cx="3394557" cy="155448"/>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16549" y="3984498"/>
            <a:ext cx="457200" cy="155448"/>
          </a:xfrm>
          <a:prstGeom prst="rect">
            <a:avLst/>
          </a:prstGeom>
          <a:noFill/>
        </p:spPr>
        <p:txBody>
          <a:bodyPr wrap="none" anchor="ctr" lIns="0" rIns="0" tIns="0" bIns="0"/>
          <a:lstStyle/>
          <a:p>
            <a:pPr algn="l">
              <a:spcBef>
                <a:spcPts val="0"/>
              </a:spcBef>
              <a:spcAft>
                <a:spcPts val="0"/>
              </a:spcAft>
            </a:pPr>
            <a:r>
              <a:rPr sz="1200" b="1" i="0">
                <a:solidFill>
                  <a:srgbClr val="C45C26"/>
                </a:solidFill>
                <a:latin typeface="Karla"/>
              </a:rPr>
              <a:t>+7</a:t>
            </a:r>
          </a:p>
        </p:txBody>
      </p:sp>
      <p:sp>
        <p:nvSpPr>
          <p:cNvPr id="29" name="Rectangle 28"/>
          <p:cNvSpPr/>
          <p:nvPr/>
        </p:nvSpPr>
        <p:spPr>
          <a:xfrm>
            <a:off x="2167128" y="4181094"/>
            <a:ext cx="3394557" cy="155448"/>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616549" y="4181094"/>
            <a:ext cx="457200" cy="155448"/>
          </a:xfrm>
          <a:prstGeom prst="rect">
            <a:avLst/>
          </a:prstGeom>
          <a:noFill/>
        </p:spPr>
        <p:txBody>
          <a:bodyPr wrap="none" anchor="ctr" lIns="0" rIns="0" tIns="0" bIns="0"/>
          <a:lstStyle/>
          <a:p>
            <a:pPr algn="l">
              <a:spcBef>
                <a:spcPts val="0"/>
              </a:spcBef>
              <a:spcAft>
                <a:spcPts val="0"/>
              </a:spcAft>
            </a:pPr>
            <a:r>
              <a:rPr sz="1200" b="1" i="0">
                <a:solidFill>
                  <a:srgbClr val="1D4E89"/>
                </a:solidFill>
                <a:latin typeface="Karla"/>
              </a:rPr>
              <a:t>+7</a:t>
            </a:r>
          </a:p>
        </p:txBody>
      </p:sp>
      <p:sp>
        <p:nvSpPr>
          <p:cNvPr id="31" name="Rectangle 30"/>
          <p:cNvSpPr/>
          <p:nvPr/>
        </p:nvSpPr>
        <p:spPr>
          <a:xfrm>
            <a:off x="684783" y="5161788"/>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8519" y="5102352"/>
            <a:ext cx="376936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Heard of it, but know little about it (basesize = 22)</a:t>
            </a:r>
          </a:p>
        </p:txBody>
      </p:sp>
      <p:sp>
        <p:nvSpPr>
          <p:cNvPr id="33" name="Rectangle 32"/>
          <p:cNvSpPr/>
          <p:nvPr/>
        </p:nvSpPr>
        <p:spPr>
          <a:xfrm>
            <a:off x="4883911" y="5161788"/>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57647" y="5102352"/>
            <a:ext cx="248920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Not familiar at all (basesize = 25)</a:t>
            </a:r>
          </a:p>
        </p:txBody>
      </p:sp>
      <p:sp>
        <p:nvSpPr>
          <p:cNvPr id="35" name="Rectangle 34"/>
          <p:cNvSpPr/>
          <p:nvPr/>
        </p:nvSpPr>
        <p:spPr>
          <a:xfrm>
            <a:off x="2085339" y="5381244"/>
            <a:ext cx="100584" cy="10058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259075" y="5321808"/>
            <a:ext cx="234696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Somewhat familiar (basesize = 49)</a:t>
            </a:r>
          </a:p>
        </p:txBody>
      </p:sp>
      <p:sp>
        <p:nvSpPr>
          <p:cNvPr id="37" name="Rectangle 36"/>
          <p:cNvSpPr/>
          <p:nvPr/>
        </p:nvSpPr>
        <p:spPr>
          <a:xfrm>
            <a:off x="4862067" y="5381244"/>
            <a:ext cx="100584" cy="100584"/>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035803" y="5321808"/>
            <a:ext cx="206248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Very familiar (basesize = 54)</a:t>
            </a:r>
          </a:p>
        </p:txBody>
      </p:sp>
      <p:sp>
        <p:nvSpPr>
          <p:cNvPr id="39" name="Rounded Rectangle 38"/>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935467" y="1618122"/>
            <a:ext cx="1709927" cy="1884394"/>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F3.png"/>
          <p:cNvPicPr>
            <a:picLocks noChangeAspect="1"/>
          </p:cNvPicPr>
          <p:nvPr/>
        </p:nvPicPr>
        <p:blipFill>
          <a:blip r:embed="rId2"/>
          <a:stretch>
            <a:fillRect/>
          </a:stretch>
        </p:blipFill>
        <p:spPr>
          <a:xfrm>
            <a:off x="7949183" y="1631838"/>
            <a:ext cx="1682495" cy="1856962"/>
          </a:xfrm>
          <a:prstGeom prst="rect">
            <a:avLst/>
          </a:prstGeom>
        </p:spPr>
      </p:pic>
      <p:sp>
        <p:nvSpPr>
          <p:cNvPr id="42" name="TextBox 41"/>
          <p:cNvSpPr txBox="1"/>
          <p:nvPr/>
        </p:nvSpPr>
        <p:spPr>
          <a:xfrm>
            <a:off x="7912607" y="3543665"/>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F03 Gluten Green</a:t>
            </a:r>
          </a:p>
          <a:p>
            <a:pPr algn="ctr">
              <a:spcBef>
                <a:spcPts val="0"/>
              </a:spcBef>
              <a:spcAft>
                <a:spcPts val="0"/>
              </a:spcAft>
            </a:pPr>
            <a:r>
              <a:rPr sz="1200" b="0" i="0">
                <a:solidFill>
                  <a:srgbClr val="1E2D44"/>
                </a:solidFill>
                <a:latin typeface="Karla"/>
              </a:rPr>
              <a:t>Top Right</a:t>
            </a:r>
          </a:p>
        </p:txBody>
      </p:sp>
      <p:sp>
        <p:nvSpPr>
          <p:cNvPr id="43" name="TextBox 42"/>
          <p:cNvSpPr txBox="1"/>
          <p:nvPr/>
        </p:nvSpPr>
        <p:spPr>
          <a:xfrm>
            <a:off x="7912607" y="3909425"/>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+3*</a:t>
            </a:r>
          </a:p>
        </p:txBody>
      </p:sp>
      <p:sp>
        <p:nvSpPr>
          <p:cNvPr id="44" name="Rectangle 43"/>
          <p:cNvSpPr/>
          <p:nvPr/>
        </p:nvSpPr>
        <p:spPr>
          <a:xfrm>
            <a:off x="9855707" y="1618122"/>
            <a:ext cx="1709927" cy="1884394"/>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5" name="Picture 44" descr="F4.png"/>
          <p:cNvPicPr>
            <a:picLocks noChangeAspect="1"/>
          </p:cNvPicPr>
          <p:nvPr/>
        </p:nvPicPr>
        <p:blipFill>
          <a:blip r:embed="rId3"/>
          <a:stretch>
            <a:fillRect/>
          </a:stretch>
        </p:blipFill>
        <p:spPr>
          <a:xfrm>
            <a:off x="9869423" y="1631838"/>
            <a:ext cx="1682495" cy="1856962"/>
          </a:xfrm>
          <a:prstGeom prst="rect">
            <a:avLst/>
          </a:prstGeom>
        </p:spPr>
      </p:pic>
      <p:sp>
        <p:nvSpPr>
          <p:cNvPr id="46" name="TextBox 45"/>
          <p:cNvSpPr txBox="1"/>
          <p:nvPr/>
        </p:nvSpPr>
        <p:spPr>
          <a:xfrm>
            <a:off x="9832847" y="3543665"/>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F04 Gluten Green</a:t>
            </a:r>
          </a:p>
          <a:p>
            <a:pPr algn="ctr">
              <a:spcBef>
                <a:spcPts val="0"/>
              </a:spcBef>
              <a:spcAft>
                <a:spcPts val="0"/>
              </a:spcAft>
            </a:pPr>
            <a:r>
              <a:rPr sz="1200" b="0" i="0">
                <a:solidFill>
                  <a:srgbClr val="1E2D44"/>
                </a:solidFill>
                <a:latin typeface="Karla"/>
              </a:rPr>
              <a:t>Bottom Right</a:t>
            </a:r>
          </a:p>
        </p:txBody>
      </p:sp>
      <p:sp>
        <p:nvSpPr>
          <p:cNvPr id="47" name="TextBox 46"/>
          <p:cNvSpPr txBox="1"/>
          <p:nvPr/>
        </p:nvSpPr>
        <p:spPr>
          <a:xfrm>
            <a:off x="9832847" y="3909425"/>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+4*</a:t>
            </a:r>
          </a:p>
        </p:txBody>
      </p:sp>
      <p:sp>
        <p:nvSpPr>
          <p:cNvPr id="48" name="Rounded Rectangle 47"/>
          <p:cNvSpPr/>
          <p:nvPr/>
        </p:nvSpPr>
        <p:spPr>
          <a:xfrm>
            <a:off x="502920" y="5632704"/>
            <a:ext cx="11268455" cy="676656"/>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200" b="0">
                <a:solidFill>
                  <a:srgbClr val="1E2D44"/>
                </a:solidFill>
                <a:latin typeface="Karla"/>
              </a:rPr>
              <a:t>Heard of it, but know little about it favors F02 Gluten Free Badge White Top Right D1 Foil; Not familiar at all favors F01 Gluten Free Badge Dark Bottom Right D2D3; Somewhat familiar favors F04 Gluten Free Blank; Very familiar favors F01 Gluten Free Badge Dark Bottom Right D2D3. The widest segment gap is F02 Gluten Free Badge White Top Right D1 Foil: +2 heard of it, but know little about it / -1 not familiar at all / +7 somewhat familiar / +12 very familiar.</a:t>
            </a:r>
          </a:p>
        </p:txBody>
      </p:sp>
      <p:sp>
        <p:nvSpPr>
          <p:cNvPr id="49" name="Rectangle 48"/>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Top-2 scores rounded to whole points. *Average of the groups in the legend.</a:t>
            </a:r>
          </a:p>
        </p:txBody>
      </p:sp>
      <p:sp>
        <p:nvSpPr>
          <p:cNvPr id="51" name="TextBox 50"/>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87</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37744"/>
            <a:ext cx="7043927" cy="182880"/>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KEY FINDINGS: F_GLUTEN-FREE  ·  How often do you purchase Fitspo products?   ·   1 of 2</a:t>
            </a:r>
          </a:p>
        </p:txBody>
      </p:sp>
      <p:sp>
        <p:nvSpPr>
          <p:cNvPr id="3" name="TextBox 2"/>
          <p:cNvSpPr txBox="1"/>
          <p:nvPr/>
        </p:nvSpPr>
        <p:spPr>
          <a:xfrm>
            <a:off x="502920" y="438912"/>
            <a:ext cx="7043927" cy="365760"/>
          </a:xfrm>
          <a:prstGeom prst="rect">
            <a:avLst/>
          </a:prstGeom>
          <a:noFill/>
        </p:spPr>
        <p:txBody>
          <a:bodyPr wrap="square" anchor="t" lIns="0" rIns="0" tIns="0" bIns="0"/>
          <a:lstStyle/>
          <a:p>
            <a:pPr algn="l">
              <a:spcBef>
                <a:spcPts val="0"/>
              </a:spcBef>
              <a:spcAft>
                <a:spcPts val="0"/>
              </a:spcAft>
            </a:pPr>
            <a:r>
              <a:rPr sz="2600" b="1" i="0">
                <a:solidFill>
                  <a:srgbClr val="1E2D44"/>
                </a:solidFill>
                <a:latin typeface="Karla"/>
              </a:rPr>
              <a:t>F_Gluten-free splits across the groups</a:t>
            </a:r>
          </a:p>
        </p:txBody>
      </p:sp>
      <p:sp>
        <p:nvSpPr>
          <p:cNvPr id="4" name="TextBox 3"/>
          <p:cNvSpPr txBox="1"/>
          <p:nvPr/>
        </p:nvSpPr>
        <p:spPr>
          <a:xfrm>
            <a:off x="502920" y="822960"/>
            <a:ext cx="7043927" cy="475488"/>
          </a:xfrm>
          <a:prstGeom prst="rect">
            <a:avLst/>
          </a:prstGeom>
          <a:noFill/>
        </p:spPr>
        <p:txBody>
          <a:bodyPr wrap="square" anchor="t" lIns="0" rIns="0" tIns="0" bIns="0"/>
          <a:lstStyle/>
          <a:p>
            <a:pPr algn="l">
              <a:spcBef>
                <a:spcPts val="0"/>
              </a:spcBef>
              <a:spcAft>
                <a:spcPts val="0"/>
              </a:spcAft>
            </a:pPr>
            <a:r>
              <a:rPr sz="1200" b="0" i="0">
                <a:solidFill>
                  <a:srgbClr val="617086"/>
                </a:solidFill>
                <a:latin typeface="Karla"/>
              </a:rPr>
              <a:t>Have never purchased Fitspo products favor F01 Gluten Free Badge Dark Bottom Right D2D3; Have purchased in the past, but not currently favors F04 Gluten Green Bottom Right; Occasionally favors F02 Gluten Free Badge White Top Right D1 Foil; Regularly favors F01 Gluten Free Badge Dark Bottom Right D2D3.</a:t>
            </a:r>
          </a:p>
        </p:txBody>
      </p:sp>
      <p:sp>
        <p:nvSpPr>
          <p:cNvPr id="5" name="Rectangle 4"/>
          <p:cNvSpPr/>
          <p:nvPr/>
        </p:nvSpPr>
        <p:spPr>
          <a:xfrm>
            <a:off x="502920" y="1335024"/>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F_GLUTEN-FREE</a:t>
            </a:r>
          </a:p>
        </p:txBody>
      </p:sp>
      <p:sp>
        <p:nvSpPr>
          <p:cNvPr id="6" name="Rectangle 5"/>
          <p:cNvSpPr/>
          <p:nvPr/>
        </p:nvSpPr>
        <p:spPr>
          <a:xfrm>
            <a:off x="2167128"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74520"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-5</a:t>
            </a:r>
          </a:p>
        </p:txBody>
      </p:sp>
      <p:sp>
        <p:nvSpPr>
          <p:cNvPr id="8" name="TextBox 7"/>
          <p:cNvSpPr txBox="1"/>
          <p:nvPr/>
        </p:nvSpPr>
        <p:spPr>
          <a:xfrm>
            <a:off x="3490975"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9" name="Rectangle 8"/>
          <p:cNvSpPr/>
          <p:nvPr/>
        </p:nvSpPr>
        <p:spPr>
          <a:xfrm>
            <a:off x="5400039"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7431"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5</a:t>
            </a:r>
          </a:p>
        </p:txBody>
      </p:sp>
      <p:sp>
        <p:nvSpPr>
          <p:cNvPr id="11" name="Rectangle 10"/>
          <p:cNvSpPr/>
          <p:nvPr/>
        </p:nvSpPr>
        <p:spPr>
          <a:xfrm>
            <a:off x="7016495"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23887"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13" name="Rectangle 12"/>
          <p:cNvSpPr/>
          <p:nvPr/>
        </p:nvSpPr>
        <p:spPr>
          <a:xfrm>
            <a:off x="3783583" y="1645920"/>
            <a:ext cx="10972" cy="2871215"/>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167128" y="4517136"/>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1856475"/>
            <a:ext cx="1554480" cy="535960"/>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F01 Gluten Free</a:t>
            </a:r>
          </a:p>
          <a:p>
            <a:pPr algn="r">
              <a:spcBef>
                <a:spcPts val="0"/>
              </a:spcBef>
              <a:spcAft>
                <a:spcPts val="0"/>
              </a:spcAft>
            </a:pPr>
            <a:r>
              <a:rPr sz="1000" b="0" i="0">
                <a:solidFill>
                  <a:srgbClr val="1E2D44"/>
                </a:solidFill>
                <a:latin typeface="Karla"/>
              </a:rPr>
              <a:t>Badge Dark Bottom…</a:t>
            </a:r>
          </a:p>
        </p:txBody>
      </p:sp>
      <p:sp>
        <p:nvSpPr>
          <p:cNvPr id="16" name="Rectangle 15"/>
          <p:cNvSpPr/>
          <p:nvPr/>
        </p:nvSpPr>
        <p:spPr>
          <a:xfrm>
            <a:off x="3783583" y="1856475"/>
            <a:ext cx="646582" cy="103129"/>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85030" y="1856475"/>
            <a:ext cx="457200" cy="103129"/>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+2</a:t>
            </a:r>
          </a:p>
        </p:txBody>
      </p:sp>
      <p:sp>
        <p:nvSpPr>
          <p:cNvPr id="18" name="Rectangle 17"/>
          <p:cNvSpPr/>
          <p:nvPr/>
        </p:nvSpPr>
        <p:spPr>
          <a:xfrm>
            <a:off x="3460292" y="2000752"/>
            <a:ext cx="323291" cy="103129"/>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48228" y="2000752"/>
            <a:ext cx="457200" cy="103129"/>
          </a:xfrm>
          <a:prstGeom prst="rect">
            <a:avLst/>
          </a:prstGeom>
          <a:noFill/>
        </p:spPr>
        <p:txBody>
          <a:bodyPr wrap="none" anchor="ctr" lIns="0" rIns="0" tIns="0" bIns="0"/>
          <a:lstStyle/>
          <a:p>
            <a:pPr algn="r">
              <a:spcBef>
                <a:spcPts val="0"/>
              </a:spcBef>
              <a:spcAft>
                <a:spcPts val="0"/>
              </a:spcAft>
            </a:pPr>
            <a:r>
              <a:rPr sz="1000" b="1" i="0">
                <a:solidFill>
                  <a:srgbClr val="04746E"/>
                </a:solidFill>
                <a:latin typeface="Karla"/>
              </a:rPr>
              <a:t>-1</a:t>
            </a:r>
          </a:p>
        </p:txBody>
      </p:sp>
      <p:sp>
        <p:nvSpPr>
          <p:cNvPr id="20" name="Rectangle 19"/>
          <p:cNvSpPr/>
          <p:nvPr/>
        </p:nvSpPr>
        <p:spPr>
          <a:xfrm>
            <a:off x="3783583" y="2145030"/>
            <a:ext cx="1616455" cy="103129"/>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54903" y="2145030"/>
            <a:ext cx="457200" cy="103129"/>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+5</a:t>
            </a:r>
          </a:p>
        </p:txBody>
      </p:sp>
      <p:sp>
        <p:nvSpPr>
          <p:cNvPr id="22" name="Rectangle 21"/>
          <p:cNvSpPr/>
          <p:nvPr/>
        </p:nvSpPr>
        <p:spPr>
          <a:xfrm>
            <a:off x="3783583" y="2289307"/>
            <a:ext cx="3232911" cy="103129"/>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71359" y="2289307"/>
            <a:ext cx="457200" cy="103129"/>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+10</a:t>
            </a:r>
          </a:p>
        </p:txBody>
      </p:sp>
      <p:sp>
        <p:nvSpPr>
          <p:cNvPr id="24" name="TextBox 23"/>
          <p:cNvSpPr txBox="1"/>
          <p:nvPr/>
        </p:nvSpPr>
        <p:spPr>
          <a:xfrm>
            <a:off x="502920" y="2813547"/>
            <a:ext cx="1554480" cy="535960"/>
          </a:xfrm>
          <a:prstGeom prst="rect">
            <a:avLst/>
          </a:prstGeom>
          <a:noFill/>
        </p:spPr>
        <p:txBody>
          <a:bodyPr wrap="none" anchor="ctr" lIns="0" rIns="0" tIns="0" bIns="0"/>
          <a:lstStyle/>
          <a:p>
            <a:pPr algn="r">
              <a:spcBef>
                <a:spcPts val="0"/>
              </a:spcBef>
              <a:spcAft>
                <a:spcPts val="0"/>
              </a:spcAft>
            </a:pPr>
            <a:r>
              <a:rPr sz="1000" b="0" i="0">
                <a:solidFill>
                  <a:srgbClr val="1E2D44"/>
                </a:solidFill>
                <a:latin typeface="Karla"/>
              </a:rPr>
              <a:t>F02 Gluten Free</a:t>
            </a:r>
          </a:p>
          <a:p>
            <a:pPr algn="r">
              <a:spcBef>
                <a:spcPts val="0"/>
              </a:spcBef>
              <a:spcAft>
                <a:spcPts val="0"/>
              </a:spcAft>
            </a:pPr>
            <a:r>
              <a:rPr sz="1000" b="0" i="0">
                <a:solidFill>
                  <a:srgbClr val="1E2D44"/>
                </a:solidFill>
                <a:latin typeface="Karla"/>
              </a:rPr>
              <a:t>Badge White Top…</a:t>
            </a:r>
          </a:p>
        </p:txBody>
      </p:sp>
      <p:sp>
        <p:nvSpPr>
          <p:cNvPr id="25" name="Rectangle 24"/>
          <p:cNvSpPr/>
          <p:nvPr/>
        </p:nvSpPr>
        <p:spPr>
          <a:xfrm>
            <a:off x="3460292" y="2813547"/>
            <a:ext cx="323291" cy="103129"/>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948228" y="2813547"/>
            <a:ext cx="457200" cy="103129"/>
          </a:xfrm>
          <a:prstGeom prst="rect">
            <a:avLst/>
          </a:prstGeom>
          <a:noFill/>
        </p:spPr>
        <p:txBody>
          <a:bodyPr wrap="none" anchor="ctr" lIns="0" rIns="0" tIns="0" bIns="0"/>
          <a:lstStyle/>
          <a:p>
            <a:pPr algn="r">
              <a:spcBef>
                <a:spcPts val="0"/>
              </a:spcBef>
              <a:spcAft>
                <a:spcPts val="0"/>
              </a:spcAft>
            </a:pPr>
            <a:r>
              <a:rPr sz="1000" b="1" i="0">
                <a:solidFill>
                  <a:srgbClr val="1A2332"/>
                </a:solidFill>
                <a:latin typeface="Karla"/>
              </a:rPr>
              <a:t>-1</a:t>
            </a:r>
          </a:p>
        </p:txBody>
      </p:sp>
      <p:sp>
        <p:nvSpPr>
          <p:cNvPr id="27" name="Rectangle 26"/>
          <p:cNvSpPr/>
          <p:nvPr/>
        </p:nvSpPr>
        <p:spPr>
          <a:xfrm>
            <a:off x="3783583" y="2957824"/>
            <a:ext cx="2263038" cy="103129"/>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101486" y="2957824"/>
            <a:ext cx="457200" cy="103129"/>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+7</a:t>
            </a:r>
          </a:p>
        </p:txBody>
      </p:sp>
      <p:sp>
        <p:nvSpPr>
          <p:cNvPr id="29" name="Rectangle 28"/>
          <p:cNvSpPr/>
          <p:nvPr/>
        </p:nvSpPr>
        <p:spPr>
          <a:xfrm>
            <a:off x="3783583" y="3102102"/>
            <a:ext cx="2909620" cy="103129"/>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48068" y="3102102"/>
            <a:ext cx="457200" cy="103129"/>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+9</a:t>
            </a:r>
          </a:p>
        </p:txBody>
      </p:sp>
      <p:sp>
        <p:nvSpPr>
          <p:cNvPr id="31" name="Rectangle 30"/>
          <p:cNvSpPr/>
          <p:nvPr/>
        </p:nvSpPr>
        <p:spPr>
          <a:xfrm>
            <a:off x="3783583" y="3246379"/>
            <a:ext cx="2909620" cy="103129"/>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48068" y="3246379"/>
            <a:ext cx="457200" cy="103129"/>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+9</a:t>
            </a:r>
          </a:p>
        </p:txBody>
      </p:sp>
      <p:sp>
        <p:nvSpPr>
          <p:cNvPr id="33" name="TextBox 32"/>
          <p:cNvSpPr txBox="1"/>
          <p:nvPr/>
        </p:nvSpPr>
        <p:spPr>
          <a:xfrm>
            <a:off x="502920" y="3770619"/>
            <a:ext cx="1554480" cy="535960"/>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F04 Gluten Free</a:t>
            </a:r>
          </a:p>
          <a:p>
            <a:pPr algn="r">
              <a:spcBef>
                <a:spcPts val="0"/>
              </a:spcBef>
              <a:spcAft>
                <a:spcPts val="0"/>
              </a:spcAft>
            </a:pPr>
            <a:r>
              <a:rPr sz="1100" b="0" i="0">
                <a:solidFill>
                  <a:srgbClr val="1E2D44"/>
                </a:solidFill>
                <a:latin typeface="Karla"/>
              </a:rPr>
              <a:t>Blank</a:t>
            </a:r>
          </a:p>
        </p:txBody>
      </p:sp>
      <p:sp>
        <p:nvSpPr>
          <p:cNvPr id="34" name="Rectangle 33"/>
          <p:cNvSpPr/>
          <p:nvPr/>
        </p:nvSpPr>
        <p:spPr>
          <a:xfrm>
            <a:off x="3783583" y="3770619"/>
            <a:ext cx="646582" cy="103129"/>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485030" y="3770619"/>
            <a:ext cx="457200" cy="103129"/>
          </a:xfrm>
          <a:prstGeom prst="rect">
            <a:avLst/>
          </a:prstGeom>
          <a:noFill/>
        </p:spPr>
        <p:txBody>
          <a:bodyPr wrap="none" anchor="ctr" lIns="0" rIns="0" tIns="0" bIns="0"/>
          <a:lstStyle/>
          <a:p>
            <a:pPr algn="l">
              <a:spcBef>
                <a:spcPts val="0"/>
              </a:spcBef>
              <a:spcAft>
                <a:spcPts val="0"/>
              </a:spcAft>
            </a:pPr>
            <a:r>
              <a:rPr sz="1000" b="1" i="0">
                <a:solidFill>
                  <a:srgbClr val="1A2332"/>
                </a:solidFill>
                <a:latin typeface="Karla"/>
              </a:rPr>
              <a:t>+2</a:t>
            </a:r>
          </a:p>
        </p:txBody>
      </p:sp>
      <p:sp>
        <p:nvSpPr>
          <p:cNvPr id="36" name="Rectangle 35"/>
          <p:cNvSpPr/>
          <p:nvPr/>
        </p:nvSpPr>
        <p:spPr>
          <a:xfrm>
            <a:off x="3783583" y="3914896"/>
            <a:ext cx="1293164" cy="103129"/>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131612" y="3914896"/>
            <a:ext cx="457200" cy="103129"/>
          </a:xfrm>
          <a:prstGeom prst="rect">
            <a:avLst/>
          </a:prstGeom>
          <a:noFill/>
        </p:spPr>
        <p:txBody>
          <a:bodyPr wrap="none" anchor="ctr" lIns="0" rIns="0" tIns="0" bIns="0"/>
          <a:lstStyle/>
          <a:p>
            <a:pPr algn="l">
              <a:spcBef>
                <a:spcPts val="0"/>
              </a:spcBef>
              <a:spcAft>
                <a:spcPts val="0"/>
              </a:spcAft>
            </a:pPr>
            <a:r>
              <a:rPr sz="1000" b="1" i="0">
                <a:solidFill>
                  <a:srgbClr val="04746E"/>
                </a:solidFill>
                <a:latin typeface="Karla"/>
              </a:rPr>
              <a:t>+4</a:t>
            </a:r>
          </a:p>
        </p:txBody>
      </p:sp>
      <p:sp>
        <p:nvSpPr>
          <p:cNvPr id="38" name="Rectangle 37"/>
          <p:cNvSpPr/>
          <p:nvPr/>
        </p:nvSpPr>
        <p:spPr>
          <a:xfrm>
            <a:off x="3783583" y="4059173"/>
            <a:ext cx="1939747" cy="103129"/>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778194" y="4059173"/>
            <a:ext cx="457200" cy="103129"/>
          </a:xfrm>
          <a:prstGeom prst="rect">
            <a:avLst/>
          </a:prstGeom>
          <a:noFill/>
        </p:spPr>
        <p:txBody>
          <a:bodyPr wrap="none" anchor="ctr" lIns="0" rIns="0" tIns="0" bIns="0"/>
          <a:lstStyle/>
          <a:p>
            <a:pPr algn="l">
              <a:spcBef>
                <a:spcPts val="0"/>
              </a:spcBef>
              <a:spcAft>
                <a:spcPts val="0"/>
              </a:spcAft>
            </a:pPr>
            <a:r>
              <a:rPr sz="1000" b="1" i="0">
                <a:solidFill>
                  <a:srgbClr val="C45C26"/>
                </a:solidFill>
                <a:latin typeface="Karla"/>
              </a:rPr>
              <a:t>+6</a:t>
            </a:r>
          </a:p>
        </p:txBody>
      </p:sp>
      <p:sp>
        <p:nvSpPr>
          <p:cNvPr id="40" name="Rectangle 39"/>
          <p:cNvSpPr/>
          <p:nvPr/>
        </p:nvSpPr>
        <p:spPr>
          <a:xfrm>
            <a:off x="3783583" y="4203451"/>
            <a:ext cx="2909620" cy="103129"/>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748068" y="4203451"/>
            <a:ext cx="457200" cy="103129"/>
          </a:xfrm>
          <a:prstGeom prst="rect">
            <a:avLst/>
          </a:prstGeom>
          <a:noFill/>
        </p:spPr>
        <p:txBody>
          <a:bodyPr wrap="none" anchor="ctr" lIns="0" rIns="0" tIns="0" bIns="0"/>
          <a:lstStyle/>
          <a:p>
            <a:pPr algn="l">
              <a:spcBef>
                <a:spcPts val="0"/>
              </a:spcBef>
              <a:spcAft>
                <a:spcPts val="0"/>
              </a:spcAft>
            </a:pPr>
            <a:r>
              <a:rPr sz="1000" b="1" i="0">
                <a:solidFill>
                  <a:srgbClr val="1D4E89"/>
                </a:solidFill>
                <a:latin typeface="Karla"/>
              </a:rPr>
              <a:t>+9</a:t>
            </a:r>
          </a:p>
        </p:txBody>
      </p:sp>
      <p:sp>
        <p:nvSpPr>
          <p:cNvPr id="42" name="Rectangle 41"/>
          <p:cNvSpPr/>
          <p:nvPr/>
        </p:nvSpPr>
        <p:spPr>
          <a:xfrm>
            <a:off x="2655823" y="4942332"/>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829559" y="4882896"/>
            <a:ext cx="369824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Have never purchased Fitspo products (basesize = 37)</a:t>
            </a:r>
          </a:p>
        </p:txBody>
      </p:sp>
      <p:sp>
        <p:nvSpPr>
          <p:cNvPr id="44" name="Rectangle 43"/>
          <p:cNvSpPr/>
          <p:nvPr/>
        </p:nvSpPr>
        <p:spPr>
          <a:xfrm>
            <a:off x="613663" y="5161788"/>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87399" y="5102352"/>
            <a:ext cx="433832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Have purchased in the past, but not currently (basesize = 12)</a:t>
            </a:r>
          </a:p>
        </p:txBody>
      </p:sp>
      <p:sp>
        <p:nvSpPr>
          <p:cNvPr id="46" name="Rectangle 45"/>
          <p:cNvSpPr/>
          <p:nvPr/>
        </p:nvSpPr>
        <p:spPr>
          <a:xfrm>
            <a:off x="5381751" y="5161788"/>
            <a:ext cx="100584" cy="10058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555487" y="5102352"/>
            <a:ext cx="199136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Occasionally (basesize = 56)</a:t>
            </a:r>
          </a:p>
        </p:txBody>
      </p:sp>
      <p:sp>
        <p:nvSpPr>
          <p:cNvPr id="48" name="Rectangle 47"/>
          <p:cNvSpPr/>
          <p:nvPr/>
        </p:nvSpPr>
        <p:spPr>
          <a:xfrm>
            <a:off x="3615943" y="5381244"/>
            <a:ext cx="100584" cy="100584"/>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789679" y="5321808"/>
            <a:ext cx="177800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Regularly (basesize = 45)</a:t>
            </a:r>
          </a:p>
        </p:txBody>
      </p:sp>
      <p:sp>
        <p:nvSpPr>
          <p:cNvPr id="50" name="Rounded Rectangle 49"/>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9361253" y="425195"/>
            <a:ext cx="778596" cy="856487"/>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2" name="Picture 51" descr="F1.png"/>
          <p:cNvPicPr>
            <a:picLocks noChangeAspect="1"/>
          </p:cNvPicPr>
          <p:nvPr/>
        </p:nvPicPr>
        <p:blipFill>
          <a:blip r:embed="rId2"/>
          <a:stretch>
            <a:fillRect/>
          </a:stretch>
        </p:blipFill>
        <p:spPr>
          <a:xfrm>
            <a:off x="9374969" y="438911"/>
            <a:ext cx="751164" cy="829055"/>
          </a:xfrm>
          <a:prstGeom prst="rect">
            <a:avLst/>
          </a:prstGeom>
        </p:spPr>
      </p:pic>
      <p:sp>
        <p:nvSpPr>
          <p:cNvPr id="53" name="TextBox 52"/>
          <p:cNvSpPr txBox="1"/>
          <p:nvPr/>
        </p:nvSpPr>
        <p:spPr>
          <a:xfrm>
            <a:off x="7912607" y="1322831"/>
            <a:ext cx="3675887" cy="365760"/>
          </a:xfrm>
          <a:prstGeom prst="rect">
            <a:avLst/>
          </a:prstGeom>
          <a:noFill/>
        </p:spPr>
        <p:txBody>
          <a:bodyPr wrap="square" anchor="ctr" lIns="0" rIns="0" tIns="0" bIns="0"/>
          <a:lstStyle/>
          <a:p>
            <a:pPr algn="ctr">
              <a:spcBef>
                <a:spcPts val="0"/>
              </a:spcBef>
              <a:spcAft>
                <a:spcPts val="0"/>
              </a:spcAft>
            </a:pPr>
            <a:r>
              <a:rPr sz="1300" b="0" i="0">
                <a:solidFill>
                  <a:srgbClr val="1E2D44"/>
                </a:solidFill>
                <a:latin typeface="Karla"/>
              </a:rPr>
              <a:t>F01 Gluten Free Badge Dark Bottom</a:t>
            </a:r>
          </a:p>
          <a:p>
            <a:pPr algn="ctr">
              <a:spcBef>
                <a:spcPts val="0"/>
              </a:spcBef>
              <a:spcAft>
                <a:spcPts val="0"/>
              </a:spcAft>
            </a:pPr>
            <a:r>
              <a:rPr sz="1300" b="0" i="0">
                <a:solidFill>
                  <a:srgbClr val="1E2D44"/>
                </a:solidFill>
                <a:latin typeface="Karla"/>
              </a:rPr>
              <a:t>Right D2D3</a:t>
            </a:r>
          </a:p>
        </p:txBody>
      </p:sp>
      <p:sp>
        <p:nvSpPr>
          <p:cNvPr id="54" name="TextBox 53"/>
          <p:cNvSpPr txBox="1"/>
          <p:nvPr/>
        </p:nvSpPr>
        <p:spPr>
          <a:xfrm>
            <a:off x="7912607" y="1688591"/>
            <a:ext cx="367588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+4*</a:t>
            </a:r>
          </a:p>
        </p:txBody>
      </p:sp>
      <p:sp>
        <p:nvSpPr>
          <p:cNvPr id="55" name="Rectangle 54"/>
          <p:cNvSpPr/>
          <p:nvPr/>
        </p:nvSpPr>
        <p:spPr>
          <a:xfrm>
            <a:off x="9361253" y="2132075"/>
            <a:ext cx="778596" cy="856487"/>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6" name="Picture 55" descr="F2.png"/>
          <p:cNvPicPr>
            <a:picLocks noChangeAspect="1"/>
          </p:cNvPicPr>
          <p:nvPr/>
        </p:nvPicPr>
        <p:blipFill>
          <a:blip r:embed="rId3"/>
          <a:stretch>
            <a:fillRect/>
          </a:stretch>
        </p:blipFill>
        <p:spPr>
          <a:xfrm>
            <a:off x="9374969" y="2145791"/>
            <a:ext cx="751164" cy="829055"/>
          </a:xfrm>
          <a:prstGeom prst="rect">
            <a:avLst/>
          </a:prstGeom>
        </p:spPr>
      </p:pic>
      <p:sp>
        <p:nvSpPr>
          <p:cNvPr id="57" name="TextBox 56"/>
          <p:cNvSpPr txBox="1"/>
          <p:nvPr/>
        </p:nvSpPr>
        <p:spPr>
          <a:xfrm>
            <a:off x="7912607" y="3029711"/>
            <a:ext cx="3675887" cy="365760"/>
          </a:xfrm>
          <a:prstGeom prst="rect">
            <a:avLst/>
          </a:prstGeom>
          <a:noFill/>
        </p:spPr>
        <p:txBody>
          <a:bodyPr wrap="square" anchor="ctr" lIns="0" rIns="0" tIns="0" bIns="0"/>
          <a:lstStyle/>
          <a:p>
            <a:pPr algn="ctr">
              <a:spcBef>
                <a:spcPts val="0"/>
              </a:spcBef>
              <a:spcAft>
                <a:spcPts val="0"/>
              </a:spcAft>
            </a:pPr>
            <a:r>
              <a:rPr sz="1300" b="0" i="0">
                <a:solidFill>
                  <a:srgbClr val="1E2D44"/>
                </a:solidFill>
                <a:latin typeface="Karla"/>
              </a:rPr>
              <a:t>F02 Gluten Free Badge White Top Right</a:t>
            </a:r>
          </a:p>
          <a:p>
            <a:pPr algn="ctr">
              <a:spcBef>
                <a:spcPts val="0"/>
              </a:spcBef>
              <a:spcAft>
                <a:spcPts val="0"/>
              </a:spcAft>
            </a:pPr>
            <a:r>
              <a:rPr sz="1300" b="0" i="0">
                <a:solidFill>
                  <a:srgbClr val="1E2D44"/>
                </a:solidFill>
                <a:latin typeface="Karla"/>
              </a:rPr>
              <a:t>D1 Foil</a:t>
            </a:r>
          </a:p>
        </p:txBody>
      </p:sp>
      <p:sp>
        <p:nvSpPr>
          <p:cNvPr id="58" name="TextBox 57"/>
          <p:cNvSpPr txBox="1"/>
          <p:nvPr/>
        </p:nvSpPr>
        <p:spPr>
          <a:xfrm>
            <a:off x="7912607" y="3395471"/>
            <a:ext cx="367588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+6*</a:t>
            </a:r>
          </a:p>
        </p:txBody>
      </p:sp>
      <p:sp>
        <p:nvSpPr>
          <p:cNvPr id="59" name="Rectangle 58"/>
          <p:cNvSpPr/>
          <p:nvPr/>
        </p:nvSpPr>
        <p:spPr>
          <a:xfrm>
            <a:off x="9361253" y="3838956"/>
            <a:ext cx="778596" cy="856487"/>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0" name="Picture 59" descr="F5.png"/>
          <p:cNvPicPr>
            <a:picLocks noChangeAspect="1"/>
          </p:cNvPicPr>
          <p:nvPr/>
        </p:nvPicPr>
        <p:blipFill>
          <a:blip r:embed="rId4"/>
          <a:stretch>
            <a:fillRect/>
          </a:stretch>
        </p:blipFill>
        <p:spPr>
          <a:xfrm>
            <a:off x="9374969" y="3852671"/>
            <a:ext cx="751164" cy="829055"/>
          </a:xfrm>
          <a:prstGeom prst="rect">
            <a:avLst/>
          </a:prstGeom>
        </p:spPr>
      </p:pic>
      <p:sp>
        <p:nvSpPr>
          <p:cNvPr id="61" name="TextBox 60"/>
          <p:cNvSpPr txBox="1"/>
          <p:nvPr/>
        </p:nvSpPr>
        <p:spPr>
          <a:xfrm>
            <a:off x="7912607" y="4736591"/>
            <a:ext cx="3675887" cy="365760"/>
          </a:xfrm>
          <a:prstGeom prst="rect">
            <a:avLst/>
          </a:prstGeom>
          <a:noFill/>
        </p:spPr>
        <p:txBody>
          <a:bodyPr wrap="square" anchor="ctr" lIns="0" rIns="0" tIns="0" bIns="0"/>
          <a:lstStyle/>
          <a:p>
            <a:pPr algn="ctr">
              <a:spcBef>
                <a:spcPts val="0"/>
              </a:spcBef>
              <a:spcAft>
                <a:spcPts val="0"/>
              </a:spcAft>
            </a:pPr>
            <a:r>
              <a:rPr sz="1300" b="0" i="0">
                <a:solidFill>
                  <a:srgbClr val="1E2D44"/>
                </a:solidFill>
                <a:latin typeface="Karla"/>
              </a:rPr>
              <a:t>F04 Gluten Free Blank</a:t>
            </a:r>
          </a:p>
        </p:txBody>
      </p:sp>
      <p:sp>
        <p:nvSpPr>
          <p:cNvPr id="62" name="TextBox 61"/>
          <p:cNvSpPr txBox="1"/>
          <p:nvPr/>
        </p:nvSpPr>
        <p:spPr>
          <a:xfrm>
            <a:off x="7912607" y="5102351"/>
            <a:ext cx="367588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+5*</a:t>
            </a:r>
          </a:p>
        </p:txBody>
      </p:sp>
      <p:sp>
        <p:nvSpPr>
          <p:cNvPr id="63" name="Rounded Rectangle 62"/>
          <p:cNvSpPr/>
          <p:nvPr/>
        </p:nvSpPr>
        <p:spPr>
          <a:xfrm>
            <a:off x="502920" y="5632704"/>
            <a:ext cx="11268455" cy="676656"/>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200" b="0">
                <a:solidFill>
                  <a:srgbClr val="1E2D44"/>
                </a:solidFill>
                <a:latin typeface="Karla"/>
              </a:rPr>
              <a:t>Have never purchased Fitspo products favor F01 Gluten Free Badge Dark Bottom Right D2D3; Have purchased in the past, but not currently favors F04 Gluten Green Bottom Right; Occasionally favors F02 Gluten Free Badge White Top Right D1 Foil; Regularly favors F01 Gluten Free Badge Dark Bottom Right D2D3. The widest segment gap is F01 Gluten Free Badge Dark Bottom Right D2D3: +2 have never purchased fitspo products / -1 have purchased in the past, but not currently / +5 occasionally / +10 regularly.</a:t>
            </a:r>
          </a:p>
        </p:txBody>
      </p:sp>
      <p:sp>
        <p:nvSpPr>
          <p:cNvPr id="64" name="Rectangle 63"/>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Top-2 scores rounded to whole points. *Average of the groups in the legend.</a:t>
            </a:r>
          </a:p>
        </p:txBody>
      </p:sp>
      <p:sp>
        <p:nvSpPr>
          <p:cNvPr id="66" name="TextBox 65"/>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88</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37744"/>
            <a:ext cx="7043927" cy="182880"/>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KEY FINDINGS: F_GLUTEN-FREE  ·  How often do you purchase Fitspo products?   ·   2 of 2</a:t>
            </a:r>
          </a:p>
        </p:txBody>
      </p:sp>
      <p:sp>
        <p:nvSpPr>
          <p:cNvPr id="3" name="TextBox 2"/>
          <p:cNvSpPr txBox="1"/>
          <p:nvPr/>
        </p:nvSpPr>
        <p:spPr>
          <a:xfrm>
            <a:off x="502920" y="438912"/>
            <a:ext cx="7043927" cy="365760"/>
          </a:xfrm>
          <a:prstGeom prst="rect">
            <a:avLst/>
          </a:prstGeom>
          <a:noFill/>
        </p:spPr>
        <p:txBody>
          <a:bodyPr wrap="square" anchor="t" lIns="0" rIns="0" tIns="0" bIns="0"/>
          <a:lstStyle/>
          <a:p>
            <a:pPr algn="l">
              <a:spcBef>
                <a:spcPts val="0"/>
              </a:spcBef>
              <a:spcAft>
                <a:spcPts val="0"/>
              </a:spcAft>
            </a:pPr>
            <a:r>
              <a:rPr sz="2600" b="1" i="0">
                <a:solidFill>
                  <a:srgbClr val="1E2D44"/>
                </a:solidFill>
                <a:latin typeface="Karla"/>
              </a:rPr>
              <a:t>F_Gluten-free splits across the groups</a:t>
            </a:r>
          </a:p>
        </p:txBody>
      </p:sp>
      <p:sp>
        <p:nvSpPr>
          <p:cNvPr id="4" name="TextBox 3"/>
          <p:cNvSpPr txBox="1"/>
          <p:nvPr/>
        </p:nvSpPr>
        <p:spPr>
          <a:xfrm>
            <a:off x="502920" y="822960"/>
            <a:ext cx="7043927" cy="475488"/>
          </a:xfrm>
          <a:prstGeom prst="rect">
            <a:avLst/>
          </a:prstGeom>
          <a:noFill/>
        </p:spPr>
        <p:txBody>
          <a:bodyPr wrap="square" anchor="t" lIns="0" rIns="0" tIns="0" bIns="0"/>
          <a:lstStyle/>
          <a:p>
            <a:pPr algn="l">
              <a:spcBef>
                <a:spcPts val="0"/>
              </a:spcBef>
              <a:spcAft>
                <a:spcPts val="0"/>
              </a:spcAft>
            </a:pPr>
            <a:r>
              <a:rPr sz="1200" b="0" i="0">
                <a:solidFill>
                  <a:srgbClr val="617086"/>
                </a:solidFill>
                <a:latin typeface="Karla"/>
              </a:rPr>
              <a:t>Have never purchased Fitspo products favor F01 Gluten Free Badge Dark Bottom Right D2D3; Have purchased in the past, but not currently favors F04 Gluten Green Bottom Right; Occasionally favors F02 Gluten Free Badge White Top Right D1 Foil; Regularly favors F01 Gluten Free Badge Dark Bottom Right D2D3.</a:t>
            </a:r>
          </a:p>
        </p:txBody>
      </p:sp>
      <p:sp>
        <p:nvSpPr>
          <p:cNvPr id="5" name="Rectangle 4"/>
          <p:cNvSpPr/>
          <p:nvPr/>
        </p:nvSpPr>
        <p:spPr>
          <a:xfrm>
            <a:off x="502920" y="1335024"/>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F_GLUTEN-FREE</a:t>
            </a:r>
          </a:p>
        </p:txBody>
      </p:sp>
      <p:sp>
        <p:nvSpPr>
          <p:cNvPr id="6" name="Rectangle 5"/>
          <p:cNvSpPr/>
          <p:nvPr/>
        </p:nvSpPr>
        <p:spPr>
          <a:xfrm>
            <a:off x="2167128"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74520"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-5</a:t>
            </a:r>
          </a:p>
        </p:txBody>
      </p:sp>
      <p:sp>
        <p:nvSpPr>
          <p:cNvPr id="8" name="TextBox 7"/>
          <p:cNvSpPr txBox="1"/>
          <p:nvPr/>
        </p:nvSpPr>
        <p:spPr>
          <a:xfrm>
            <a:off x="3490975"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9" name="Rectangle 8"/>
          <p:cNvSpPr/>
          <p:nvPr/>
        </p:nvSpPr>
        <p:spPr>
          <a:xfrm>
            <a:off x="5400039"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7431"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5</a:t>
            </a:r>
          </a:p>
        </p:txBody>
      </p:sp>
      <p:sp>
        <p:nvSpPr>
          <p:cNvPr id="11" name="Rectangle 10"/>
          <p:cNvSpPr/>
          <p:nvPr/>
        </p:nvSpPr>
        <p:spPr>
          <a:xfrm>
            <a:off x="7016495" y="1645920"/>
            <a:ext cx="9144" cy="2871215"/>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23887" y="4535423"/>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13" name="Rectangle 12"/>
          <p:cNvSpPr/>
          <p:nvPr/>
        </p:nvSpPr>
        <p:spPr>
          <a:xfrm>
            <a:off x="3783583" y="1645920"/>
            <a:ext cx="10972" cy="2871215"/>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167128" y="4517136"/>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1991105"/>
            <a:ext cx="1554480" cy="745236"/>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F04 Gluten Green</a:t>
            </a:r>
          </a:p>
          <a:p>
            <a:pPr algn="r">
              <a:spcBef>
                <a:spcPts val="0"/>
              </a:spcBef>
              <a:spcAft>
                <a:spcPts val="0"/>
              </a:spcAft>
            </a:pPr>
            <a:r>
              <a:rPr sz="1100" b="0" i="0">
                <a:solidFill>
                  <a:srgbClr val="1E2D44"/>
                </a:solidFill>
                <a:latin typeface="Karla"/>
              </a:rPr>
              <a:t>Bottom Right</a:t>
            </a:r>
          </a:p>
        </p:txBody>
      </p:sp>
      <p:sp>
        <p:nvSpPr>
          <p:cNvPr id="16" name="Rectangle 15"/>
          <p:cNvSpPr/>
          <p:nvPr/>
        </p:nvSpPr>
        <p:spPr>
          <a:xfrm>
            <a:off x="3460292" y="1991105"/>
            <a:ext cx="323291"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948228" y="1991105"/>
            <a:ext cx="457200" cy="155448"/>
          </a:xfrm>
          <a:prstGeom prst="rect">
            <a:avLst/>
          </a:prstGeom>
          <a:noFill/>
        </p:spPr>
        <p:txBody>
          <a:bodyPr wrap="none" anchor="ctr" lIns="0" rIns="0" tIns="0" bIns="0"/>
          <a:lstStyle/>
          <a:p>
            <a:pPr algn="r">
              <a:spcBef>
                <a:spcPts val="0"/>
              </a:spcBef>
              <a:spcAft>
                <a:spcPts val="0"/>
              </a:spcAft>
            </a:pPr>
            <a:r>
              <a:rPr sz="1200" b="1" i="0">
                <a:solidFill>
                  <a:srgbClr val="1A2332"/>
                </a:solidFill>
                <a:latin typeface="Karla"/>
              </a:rPr>
              <a:t>-1</a:t>
            </a:r>
          </a:p>
        </p:txBody>
      </p:sp>
      <p:sp>
        <p:nvSpPr>
          <p:cNvPr id="18" name="Rectangle 17"/>
          <p:cNvSpPr/>
          <p:nvPr/>
        </p:nvSpPr>
        <p:spPr>
          <a:xfrm>
            <a:off x="3783583" y="2187701"/>
            <a:ext cx="2586329"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24777" y="2187701"/>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+8</a:t>
            </a:r>
          </a:p>
        </p:txBody>
      </p:sp>
      <p:sp>
        <p:nvSpPr>
          <p:cNvPr id="20" name="Rectangle 19"/>
          <p:cNvSpPr/>
          <p:nvPr/>
        </p:nvSpPr>
        <p:spPr>
          <a:xfrm>
            <a:off x="3783583" y="2384298"/>
            <a:ext cx="2586329" cy="155448"/>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4777" y="2384298"/>
            <a:ext cx="457200" cy="155448"/>
          </a:xfrm>
          <a:prstGeom prst="rect">
            <a:avLst/>
          </a:prstGeom>
          <a:noFill/>
        </p:spPr>
        <p:txBody>
          <a:bodyPr wrap="none" anchor="ctr" lIns="0" rIns="0" tIns="0" bIns="0"/>
          <a:lstStyle/>
          <a:p>
            <a:pPr algn="l">
              <a:spcBef>
                <a:spcPts val="0"/>
              </a:spcBef>
              <a:spcAft>
                <a:spcPts val="0"/>
              </a:spcAft>
            </a:pPr>
            <a:r>
              <a:rPr sz="1200" b="1" i="0">
                <a:solidFill>
                  <a:srgbClr val="C45C26"/>
                </a:solidFill>
                <a:latin typeface="Karla"/>
              </a:rPr>
              <a:t>+8</a:t>
            </a:r>
          </a:p>
        </p:txBody>
      </p:sp>
      <p:sp>
        <p:nvSpPr>
          <p:cNvPr id="22" name="Rectangle 21"/>
          <p:cNvSpPr/>
          <p:nvPr/>
        </p:nvSpPr>
        <p:spPr>
          <a:xfrm>
            <a:off x="3783583" y="2580894"/>
            <a:ext cx="1616455" cy="155448"/>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54903" y="2580894"/>
            <a:ext cx="457200" cy="155448"/>
          </a:xfrm>
          <a:prstGeom prst="rect">
            <a:avLst/>
          </a:prstGeom>
          <a:noFill/>
        </p:spPr>
        <p:txBody>
          <a:bodyPr wrap="none" anchor="ctr" lIns="0" rIns="0" tIns="0" bIns="0"/>
          <a:lstStyle/>
          <a:p>
            <a:pPr algn="l">
              <a:spcBef>
                <a:spcPts val="0"/>
              </a:spcBef>
              <a:spcAft>
                <a:spcPts val="0"/>
              </a:spcAft>
            </a:pPr>
            <a:r>
              <a:rPr sz="1200" b="1" i="0">
                <a:solidFill>
                  <a:srgbClr val="1D4E89"/>
                </a:solidFill>
                <a:latin typeface="Karla"/>
              </a:rPr>
              <a:t>+5</a:t>
            </a:r>
          </a:p>
        </p:txBody>
      </p:sp>
      <p:sp>
        <p:nvSpPr>
          <p:cNvPr id="24" name="TextBox 23"/>
          <p:cNvSpPr txBox="1"/>
          <p:nvPr/>
        </p:nvSpPr>
        <p:spPr>
          <a:xfrm>
            <a:off x="502920" y="3426714"/>
            <a:ext cx="1554480" cy="745236"/>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F03 Gluten Green</a:t>
            </a:r>
          </a:p>
          <a:p>
            <a:pPr algn="r">
              <a:spcBef>
                <a:spcPts val="0"/>
              </a:spcBef>
              <a:spcAft>
                <a:spcPts val="0"/>
              </a:spcAft>
            </a:pPr>
            <a:r>
              <a:rPr sz="1100" b="0" i="0">
                <a:solidFill>
                  <a:srgbClr val="1E2D44"/>
                </a:solidFill>
                <a:latin typeface="Karla"/>
              </a:rPr>
              <a:t>Top Right</a:t>
            </a:r>
          </a:p>
        </p:txBody>
      </p:sp>
      <p:sp>
        <p:nvSpPr>
          <p:cNvPr id="25" name="Rectangle 24"/>
          <p:cNvSpPr/>
          <p:nvPr/>
        </p:nvSpPr>
        <p:spPr>
          <a:xfrm>
            <a:off x="3783583" y="3426714"/>
            <a:ext cx="323291"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61739" y="3426714"/>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+1</a:t>
            </a:r>
          </a:p>
        </p:txBody>
      </p:sp>
      <p:sp>
        <p:nvSpPr>
          <p:cNvPr id="27" name="Rectangle 26"/>
          <p:cNvSpPr/>
          <p:nvPr/>
        </p:nvSpPr>
        <p:spPr>
          <a:xfrm>
            <a:off x="2490419" y="3623310"/>
            <a:ext cx="1293164"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167128" y="3623310"/>
            <a:ext cx="457200" cy="155448"/>
          </a:xfrm>
          <a:prstGeom prst="rect">
            <a:avLst/>
          </a:prstGeom>
          <a:noFill/>
        </p:spPr>
        <p:txBody>
          <a:bodyPr wrap="none" anchor="ctr" lIns="0" rIns="0" tIns="0" bIns="0"/>
          <a:lstStyle/>
          <a:p>
            <a:pPr algn="r">
              <a:spcBef>
                <a:spcPts val="0"/>
              </a:spcBef>
              <a:spcAft>
                <a:spcPts val="0"/>
              </a:spcAft>
            </a:pPr>
            <a:r>
              <a:rPr sz="1200" b="1" i="0">
                <a:solidFill>
                  <a:srgbClr val="04746E"/>
                </a:solidFill>
                <a:latin typeface="Karla"/>
              </a:rPr>
              <a:t>-4</a:t>
            </a:r>
          </a:p>
        </p:txBody>
      </p:sp>
      <p:sp>
        <p:nvSpPr>
          <p:cNvPr id="29" name="Rectangle 28"/>
          <p:cNvSpPr/>
          <p:nvPr/>
        </p:nvSpPr>
        <p:spPr>
          <a:xfrm>
            <a:off x="3783583" y="3819906"/>
            <a:ext cx="1616455" cy="155448"/>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454903" y="3819906"/>
            <a:ext cx="457200" cy="155448"/>
          </a:xfrm>
          <a:prstGeom prst="rect">
            <a:avLst/>
          </a:prstGeom>
          <a:noFill/>
        </p:spPr>
        <p:txBody>
          <a:bodyPr wrap="none" anchor="ctr" lIns="0" rIns="0" tIns="0" bIns="0"/>
          <a:lstStyle/>
          <a:p>
            <a:pPr algn="l">
              <a:spcBef>
                <a:spcPts val="0"/>
              </a:spcBef>
              <a:spcAft>
                <a:spcPts val="0"/>
              </a:spcAft>
            </a:pPr>
            <a:r>
              <a:rPr sz="1200" b="1" i="0">
                <a:solidFill>
                  <a:srgbClr val="C45C26"/>
                </a:solidFill>
                <a:latin typeface="Karla"/>
              </a:rPr>
              <a:t>+5</a:t>
            </a:r>
          </a:p>
        </p:txBody>
      </p:sp>
      <p:sp>
        <p:nvSpPr>
          <p:cNvPr id="31" name="Rectangle 30"/>
          <p:cNvSpPr/>
          <p:nvPr/>
        </p:nvSpPr>
        <p:spPr>
          <a:xfrm>
            <a:off x="3783583" y="4016502"/>
            <a:ext cx="2263038" cy="155448"/>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101486" y="4016502"/>
            <a:ext cx="457200" cy="155448"/>
          </a:xfrm>
          <a:prstGeom prst="rect">
            <a:avLst/>
          </a:prstGeom>
          <a:noFill/>
        </p:spPr>
        <p:txBody>
          <a:bodyPr wrap="none" anchor="ctr" lIns="0" rIns="0" tIns="0" bIns="0"/>
          <a:lstStyle/>
          <a:p>
            <a:pPr algn="l">
              <a:spcBef>
                <a:spcPts val="0"/>
              </a:spcBef>
              <a:spcAft>
                <a:spcPts val="0"/>
              </a:spcAft>
            </a:pPr>
            <a:r>
              <a:rPr sz="1200" b="1" i="0">
                <a:solidFill>
                  <a:srgbClr val="1D4E89"/>
                </a:solidFill>
                <a:latin typeface="Karla"/>
              </a:rPr>
              <a:t>+7</a:t>
            </a:r>
          </a:p>
        </p:txBody>
      </p:sp>
      <p:sp>
        <p:nvSpPr>
          <p:cNvPr id="33" name="Rectangle 32"/>
          <p:cNvSpPr/>
          <p:nvPr/>
        </p:nvSpPr>
        <p:spPr>
          <a:xfrm>
            <a:off x="2655823" y="4942332"/>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829559" y="4882896"/>
            <a:ext cx="369824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Have never purchased Fitspo products (basesize = 37)</a:t>
            </a:r>
          </a:p>
        </p:txBody>
      </p:sp>
      <p:sp>
        <p:nvSpPr>
          <p:cNvPr id="35" name="Rectangle 34"/>
          <p:cNvSpPr/>
          <p:nvPr/>
        </p:nvSpPr>
        <p:spPr>
          <a:xfrm>
            <a:off x="613663" y="5161788"/>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87399" y="5102352"/>
            <a:ext cx="433832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Have purchased in the past, but not currently (basesize = 12)</a:t>
            </a:r>
          </a:p>
        </p:txBody>
      </p:sp>
      <p:sp>
        <p:nvSpPr>
          <p:cNvPr id="37" name="Rectangle 36"/>
          <p:cNvSpPr/>
          <p:nvPr/>
        </p:nvSpPr>
        <p:spPr>
          <a:xfrm>
            <a:off x="5381751" y="5161788"/>
            <a:ext cx="100584" cy="10058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555487" y="5102352"/>
            <a:ext cx="199136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Occasionally (basesize = 56)</a:t>
            </a:r>
          </a:p>
        </p:txBody>
      </p:sp>
      <p:sp>
        <p:nvSpPr>
          <p:cNvPr id="39" name="Rectangle 38"/>
          <p:cNvSpPr/>
          <p:nvPr/>
        </p:nvSpPr>
        <p:spPr>
          <a:xfrm>
            <a:off x="3615943" y="5381244"/>
            <a:ext cx="100584" cy="100584"/>
          </a:xfrm>
          <a:prstGeom prst="rect">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789679" y="5321808"/>
            <a:ext cx="1778000" cy="219456"/>
          </a:xfrm>
          <a:prstGeom prst="rect">
            <a:avLst/>
          </a:prstGeom>
          <a:noFill/>
        </p:spPr>
        <p:txBody>
          <a:bodyPr wrap="none" anchor="ctr" lIns="0" rIns="0" tIns="0" bIns="0"/>
          <a:lstStyle/>
          <a:p>
            <a:pPr algn="l">
              <a:spcBef>
                <a:spcPts val="0"/>
              </a:spcBef>
              <a:spcAft>
                <a:spcPts val="0"/>
              </a:spcAft>
            </a:pPr>
            <a:r>
              <a:rPr sz="1000" b="0" i="0">
                <a:solidFill>
                  <a:srgbClr val="2C3A4A"/>
                </a:solidFill>
                <a:latin typeface="Karla"/>
              </a:rPr>
              <a:t>Regularly (basesize = 45)</a:t>
            </a:r>
          </a:p>
        </p:txBody>
      </p:sp>
      <p:sp>
        <p:nvSpPr>
          <p:cNvPr id="41" name="Rounded Rectangle 40"/>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935467" y="1618122"/>
            <a:ext cx="1709927" cy="1884394"/>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3" name="Picture 42" descr="F4.png"/>
          <p:cNvPicPr>
            <a:picLocks noChangeAspect="1"/>
          </p:cNvPicPr>
          <p:nvPr/>
        </p:nvPicPr>
        <p:blipFill>
          <a:blip r:embed="rId2"/>
          <a:stretch>
            <a:fillRect/>
          </a:stretch>
        </p:blipFill>
        <p:spPr>
          <a:xfrm>
            <a:off x="7949183" y="1631838"/>
            <a:ext cx="1682495" cy="1856962"/>
          </a:xfrm>
          <a:prstGeom prst="rect">
            <a:avLst/>
          </a:prstGeom>
        </p:spPr>
      </p:pic>
      <p:sp>
        <p:nvSpPr>
          <p:cNvPr id="44" name="TextBox 43"/>
          <p:cNvSpPr txBox="1"/>
          <p:nvPr/>
        </p:nvSpPr>
        <p:spPr>
          <a:xfrm>
            <a:off x="7912607" y="3543665"/>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F04 Gluten Green</a:t>
            </a:r>
          </a:p>
          <a:p>
            <a:pPr algn="ctr">
              <a:spcBef>
                <a:spcPts val="0"/>
              </a:spcBef>
              <a:spcAft>
                <a:spcPts val="0"/>
              </a:spcAft>
            </a:pPr>
            <a:r>
              <a:rPr sz="1200" b="0" i="0">
                <a:solidFill>
                  <a:srgbClr val="1E2D44"/>
                </a:solidFill>
                <a:latin typeface="Karla"/>
              </a:rPr>
              <a:t>Bottom Right</a:t>
            </a:r>
          </a:p>
        </p:txBody>
      </p:sp>
      <p:sp>
        <p:nvSpPr>
          <p:cNvPr id="45" name="TextBox 44"/>
          <p:cNvSpPr txBox="1"/>
          <p:nvPr/>
        </p:nvSpPr>
        <p:spPr>
          <a:xfrm>
            <a:off x="7912607" y="3909425"/>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+5*</a:t>
            </a:r>
          </a:p>
        </p:txBody>
      </p:sp>
      <p:sp>
        <p:nvSpPr>
          <p:cNvPr id="46" name="Rectangle 45"/>
          <p:cNvSpPr/>
          <p:nvPr/>
        </p:nvSpPr>
        <p:spPr>
          <a:xfrm>
            <a:off x="9855707" y="1618122"/>
            <a:ext cx="1709927" cy="1884394"/>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7" name="Picture 46" descr="F3.png"/>
          <p:cNvPicPr>
            <a:picLocks noChangeAspect="1"/>
          </p:cNvPicPr>
          <p:nvPr/>
        </p:nvPicPr>
        <p:blipFill>
          <a:blip r:embed="rId3"/>
          <a:stretch>
            <a:fillRect/>
          </a:stretch>
        </p:blipFill>
        <p:spPr>
          <a:xfrm>
            <a:off x="9869423" y="1631838"/>
            <a:ext cx="1682495" cy="1856962"/>
          </a:xfrm>
          <a:prstGeom prst="rect">
            <a:avLst/>
          </a:prstGeom>
        </p:spPr>
      </p:pic>
      <p:sp>
        <p:nvSpPr>
          <p:cNvPr id="48" name="TextBox 47"/>
          <p:cNvSpPr txBox="1"/>
          <p:nvPr/>
        </p:nvSpPr>
        <p:spPr>
          <a:xfrm>
            <a:off x="9832847" y="3543665"/>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F03 Gluten Green</a:t>
            </a:r>
          </a:p>
          <a:p>
            <a:pPr algn="ctr">
              <a:spcBef>
                <a:spcPts val="0"/>
              </a:spcBef>
              <a:spcAft>
                <a:spcPts val="0"/>
              </a:spcAft>
            </a:pPr>
            <a:r>
              <a:rPr sz="1200" b="0" i="0">
                <a:solidFill>
                  <a:srgbClr val="1E2D44"/>
                </a:solidFill>
                <a:latin typeface="Karla"/>
              </a:rPr>
              <a:t>Top Right</a:t>
            </a:r>
          </a:p>
        </p:txBody>
      </p:sp>
      <p:sp>
        <p:nvSpPr>
          <p:cNvPr id="49" name="TextBox 48"/>
          <p:cNvSpPr txBox="1"/>
          <p:nvPr/>
        </p:nvSpPr>
        <p:spPr>
          <a:xfrm>
            <a:off x="9832847" y="3909425"/>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+2*</a:t>
            </a:r>
          </a:p>
        </p:txBody>
      </p:sp>
      <p:sp>
        <p:nvSpPr>
          <p:cNvPr id="50" name="Rounded Rectangle 49"/>
          <p:cNvSpPr/>
          <p:nvPr/>
        </p:nvSpPr>
        <p:spPr>
          <a:xfrm>
            <a:off x="502920" y="5632704"/>
            <a:ext cx="11268455" cy="676656"/>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200" b="0">
                <a:solidFill>
                  <a:srgbClr val="1E2D44"/>
                </a:solidFill>
                <a:latin typeface="Karla"/>
              </a:rPr>
              <a:t>Have never purchased Fitspo products favor F01 Gluten Free Badge Dark Bottom Right D2D3; Have purchased in the past, but not currently favors F04 Gluten Green Bottom Right; Occasionally favors F02 Gluten Free Badge White Top Right D1 Foil; Regularly favors F01 Gluten Free Badge Dark Bottom Right D2D3. The widest segment gap is F01 Gluten Free Badge Dark Bottom Right D2D3: +2 have never purchased fitspo products / -1 have purchased in the past, but not currently / +5 occasionally / +10 regularly.</a:t>
            </a:r>
          </a:p>
        </p:txBody>
      </p:sp>
      <p:sp>
        <p:nvSpPr>
          <p:cNvPr id="51" name="Rectangle 50"/>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Top-2 scores rounded to whole points. *Average of the groups in the legend.</a:t>
            </a:r>
          </a:p>
        </p:txBody>
      </p:sp>
      <p:sp>
        <p:nvSpPr>
          <p:cNvPr id="53" name="TextBox 52"/>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89</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56032"/>
            <a:ext cx="10972800" cy="256032"/>
          </a:xfrm>
          <a:prstGeom prst="rect">
            <a:avLst/>
          </a:prstGeom>
          <a:noFill/>
        </p:spPr>
        <p:txBody>
          <a:bodyPr wrap="square" anchor="t"/>
          <a:lstStyle/>
          <a:p>
            <a:pPr algn="l">
              <a:spcAft>
                <a:spcPts val="400"/>
              </a:spcAft>
            </a:pPr>
            <a:r>
              <a:rPr sz="1200" b="1" i="0">
                <a:solidFill>
                  <a:srgbClr val="04746E"/>
                </a:solidFill>
                <a:latin typeface="Karla"/>
              </a:rPr>
              <a:t>KEY FINDINGS: COMBINED PACK</a:t>
            </a:r>
          </a:p>
        </p:txBody>
      </p:sp>
      <p:sp>
        <p:nvSpPr>
          <p:cNvPr id="3" name="TextBox 2"/>
          <p:cNvSpPr txBox="1"/>
          <p:nvPr/>
        </p:nvSpPr>
        <p:spPr>
          <a:xfrm>
            <a:off x="502920" y="502920"/>
            <a:ext cx="11155680" cy="365760"/>
          </a:xfrm>
          <a:prstGeom prst="rect">
            <a:avLst/>
          </a:prstGeom>
          <a:noFill/>
        </p:spPr>
        <p:txBody>
          <a:bodyPr wrap="square" anchor="t"/>
          <a:lstStyle/>
          <a:p>
            <a:pPr algn="l">
              <a:spcAft>
                <a:spcPts val="400"/>
              </a:spcAft>
            </a:pPr>
            <a:r>
              <a:rPr sz="2400" b="1" i="0">
                <a:solidFill>
                  <a:srgbClr val="1E2D44"/>
                </a:solidFill>
                <a:latin typeface="Karla"/>
              </a:rPr>
              <a:t>Highest-lift layers, stacked into one pack</a:t>
            </a:r>
          </a:p>
        </p:txBody>
      </p:sp>
      <p:sp>
        <p:nvSpPr>
          <p:cNvPr id="4" name="TextBox 3"/>
          <p:cNvSpPr txBox="1"/>
          <p:nvPr/>
        </p:nvSpPr>
        <p:spPr>
          <a:xfrm>
            <a:off x="502920" y="914400"/>
            <a:ext cx="11155680" cy="329184"/>
          </a:xfrm>
          <a:prstGeom prst="rect">
            <a:avLst/>
          </a:prstGeom>
          <a:noFill/>
        </p:spPr>
        <p:txBody>
          <a:bodyPr wrap="square" anchor="t"/>
          <a:lstStyle/>
          <a:p>
            <a:pPr algn="l">
              <a:spcAft>
                <a:spcPts val="400"/>
              </a:spcAft>
            </a:pPr>
            <a:r>
              <a:rPr sz="1400" b="0" i="0">
                <a:solidFill>
                  <a:srgbClr val="617086"/>
                </a:solidFill>
                <a:latin typeface="Karla"/>
              </a:rPr>
              <a:t>The strongest element in each silo. Where two elements cannot share a pack, the higher coefficient stays and the lower one is replaced or left off.</a:t>
            </a:r>
          </a:p>
        </p:txBody>
      </p:sp>
      <p:pic>
        <p:nvPicPr>
          <p:cNvPr id="5" name="Picture 4" descr="B1-C5-E8-F5.png"/>
          <p:cNvPicPr>
            <a:picLocks noChangeAspect="1"/>
          </p:cNvPicPr>
          <p:nvPr/>
        </p:nvPicPr>
        <p:blipFill>
          <a:blip r:embed="rId2"/>
          <a:stretch>
            <a:fillRect/>
          </a:stretch>
        </p:blipFill>
        <p:spPr>
          <a:xfrm>
            <a:off x="457200" y="1898395"/>
            <a:ext cx="4023360" cy="3106928"/>
          </a:xfrm>
          <a:prstGeom prst="rect">
            <a:avLst/>
          </a:prstGeom>
        </p:spPr>
      </p:pic>
      <p:sp>
        <p:nvSpPr>
          <p:cNvPr id="6" name="TextBox 5"/>
          <p:cNvSpPr txBox="1"/>
          <p:nvPr/>
        </p:nvSpPr>
        <p:spPr>
          <a:xfrm>
            <a:off x="4681728" y="1371600"/>
            <a:ext cx="347472" cy="1074420"/>
          </a:xfrm>
          <a:prstGeom prst="rect">
            <a:avLst/>
          </a:prstGeom>
          <a:noFill/>
        </p:spPr>
        <p:txBody>
          <a:bodyPr wrap="square" anchor="ctr"/>
          <a:lstStyle/>
          <a:p>
            <a:pPr algn="l">
              <a:spcAft>
                <a:spcPts val="400"/>
              </a:spcAft>
            </a:pPr>
            <a:r>
              <a:rPr sz="1000" b="1" i="0">
                <a:solidFill>
                  <a:srgbClr val="04746E"/>
                </a:solidFill>
                <a:latin typeface="Karla"/>
              </a:rPr>
              <a:t>01</a:t>
            </a:r>
          </a:p>
        </p:txBody>
      </p:sp>
      <p:pic>
        <p:nvPicPr>
          <p:cNvPr id="7" name="Picture 6" descr="B1.png"/>
          <p:cNvPicPr>
            <a:picLocks noChangeAspect="1"/>
          </p:cNvPicPr>
          <p:nvPr/>
        </p:nvPicPr>
        <p:blipFill>
          <a:blip r:embed="rId3"/>
          <a:stretch>
            <a:fillRect/>
          </a:stretch>
        </p:blipFill>
        <p:spPr>
          <a:xfrm>
            <a:off x="5029200" y="1814212"/>
            <a:ext cx="271504" cy="189195"/>
          </a:xfrm>
          <a:prstGeom prst="rect">
            <a:avLst/>
          </a:prstGeom>
        </p:spPr>
      </p:pic>
      <p:sp>
        <p:nvSpPr>
          <p:cNvPr id="8" name="TextBox 7"/>
          <p:cNvSpPr txBox="1"/>
          <p:nvPr/>
        </p:nvSpPr>
        <p:spPr>
          <a:xfrm>
            <a:off x="5428720" y="1371600"/>
            <a:ext cx="5105167" cy="1074420"/>
          </a:xfrm>
          <a:prstGeom prst="rect">
            <a:avLst/>
          </a:prstGeom>
          <a:noFill/>
        </p:spPr>
        <p:txBody>
          <a:bodyPr wrap="square" anchor="ctr"/>
          <a:lstStyle/>
          <a:p>
            <a:pPr algn="l">
              <a:spcAft>
                <a:spcPts val="400"/>
              </a:spcAft>
            </a:pPr>
            <a:r>
              <a:rPr sz="1200" b="0" i="0">
                <a:solidFill>
                  <a:srgbClr val="1E2D44"/>
                </a:solidFill>
                <a:latin typeface="Karla"/>
              </a:rPr>
              <a:t>B_Cookie   ·   B01 Cookie Chocolate Filling Right Upper D2D3</a:t>
            </a:r>
          </a:p>
        </p:txBody>
      </p:sp>
      <p:sp>
        <p:nvSpPr>
          <p:cNvPr id="9" name="TextBox 8"/>
          <p:cNvSpPr txBox="1"/>
          <p:nvPr/>
        </p:nvSpPr>
        <p:spPr>
          <a:xfrm>
            <a:off x="10835640" y="1371600"/>
            <a:ext cx="731520" cy="1074420"/>
          </a:xfrm>
          <a:prstGeom prst="rect">
            <a:avLst/>
          </a:prstGeom>
          <a:noFill/>
        </p:spPr>
        <p:txBody>
          <a:bodyPr wrap="square" anchor="ctr"/>
          <a:lstStyle/>
          <a:p>
            <a:pPr algn="r">
              <a:spcAft>
                <a:spcPts val="400"/>
              </a:spcAft>
            </a:pPr>
            <a:r>
              <a:rPr sz="1200" b="1" i="0">
                <a:solidFill>
                  <a:srgbClr val="008935"/>
                </a:solidFill>
                <a:latin typeface="Karla"/>
              </a:rPr>
              <a:t>+26</a:t>
            </a:r>
          </a:p>
        </p:txBody>
      </p:sp>
      <p:sp>
        <p:nvSpPr>
          <p:cNvPr id="10" name="TextBox 9"/>
          <p:cNvSpPr txBox="1"/>
          <p:nvPr/>
        </p:nvSpPr>
        <p:spPr>
          <a:xfrm>
            <a:off x="4681728" y="2446020"/>
            <a:ext cx="347472" cy="1074420"/>
          </a:xfrm>
          <a:prstGeom prst="rect">
            <a:avLst/>
          </a:prstGeom>
          <a:noFill/>
        </p:spPr>
        <p:txBody>
          <a:bodyPr wrap="square" anchor="ctr"/>
          <a:lstStyle/>
          <a:p>
            <a:pPr algn="l">
              <a:spcAft>
                <a:spcPts val="400"/>
              </a:spcAft>
            </a:pPr>
            <a:r>
              <a:rPr sz="1000" b="1" i="0">
                <a:solidFill>
                  <a:srgbClr val="04746E"/>
                </a:solidFill>
                <a:latin typeface="Karla"/>
              </a:rPr>
              <a:t>02</a:t>
            </a:r>
          </a:p>
        </p:txBody>
      </p:sp>
      <p:pic>
        <p:nvPicPr>
          <p:cNvPr id="11" name="Picture 10" descr="C5.png"/>
          <p:cNvPicPr>
            <a:picLocks noChangeAspect="1"/>
          </p:cNvPicPr>
          <p:nvPr/>
        </p:nvPicPr>
        <p:blipFill>
          <a:blip r:embed="rId4"/>
          <a:stretch>
            <a:fillRect/>
          </a:stretch>
        </p:blipFill>
        <p:spPr>
          <a:xfrm>
            <a:off x="5029200" y="2905298"/>
            <a:ext cx="271504" cy="155863"/>
          </a:xfrm>
          <a:prstGeom prst="rect">
            <a:avLst/>
          </a:prstGeom>
        </p:spPr>
      </p:pic>
      <p:sp>
        <p:nvSpPr>
          <p:cNvPr id="12" name="TextBox 11"/>
          <p:cNvSpPr txBox="1"/>
          <p:nvPr/>
        </p:nvSpPr>
        <p:spPr>
          <a:xfrm>
            <a:off x="5428720" y="2446020"/>
            <a:ext cx="5105167" cy="1074420"/>
          </a:xfrm>
          <a:prstGeom prst="rect">
            <a:avLst/>
          </a:prstGeom>
          <a:noFill/>
        </p:spPr>
        <p:txBody>
          <a:bodyPr wrap="square" anchor="ctr"/>
          <a:lstStyle/>
          <a:p>
            <a:pPr algn="l">
              <a:spcAft>
                <a:spcPts val="400"/>
              </a:spcAft>
            </a:pPr>
            <a:r>
              <a:rPr sz="1200" b="0" i="0">
                <a:solidFill>
                  <a:srgbClr val="1E2D44"/>
                </a:solidFill>
                <a:latin typeface="Karla"/>
              </a:rPr>
              <a:t>C_Claim   ·   C05 Claim 33 Protein 20g High Protein No Sugar Added Mid Left D1</a:t>
            </a:r>
          </a:p>
        </p:txBody>
      </p:sp>
      <p:sp>
        <p:nvSpPr>
          <p:cNvPr id="13" name="TextBox 12"/>
          <p:cNvSpPr txBox="1"/>
          <p:nvPr/>
        </p:nvSpPr>
        <p:spPr>
          <a:xfrm>
            <a:off x="10835640" y="2446020"/>
            <a:ext cx="731520" cy="1074420"/>
          </a:xfrm>
          <a:prstGeom prst="rect">
            <a:avLst/>
          </a:prstGeom>
          <a:noFill/>
        </p:spPr>
        <p:txBody>
          <a:bodyPr wrap="square" anchor="ctr"/>
          <a:lstStyle/>
          <a:p>
            <a:pPr algn="r">
              <a:spcAft>
                <a:spcPts val="400"/>
              </a:spcAft>
            </a:pPr>
            <a:r>
              <a:rPr sz="1200" b="1" i="0">
                <a:solidFill>
                  <a:srgbClr val="008935"/>
                </a:solidFill>
                <a:latin typeface="Karla"/>
              </a:rPr>
              <a:t>+21</a:t>
            </a:r>
          </a:p>
        </p:txBody>
      </p:sp>
      <p:sp>
        <p:nvSpPr>
          <p:cNvPr id="14" name="TextBox 13"/>
          <p:cNvSpPr txBox="1"/>
          <p:nvPr/>
        </p:nvSpPr>
        <p:spPr>
          <a:xfrm>
            <a:off x="4681728" y="3520440"/>
            <a:ext cx="347472" cy="1074420"/>
          </a:xfrm>
          <a:prstGeom prst="rect">
            <a:avLst/>
          </a:prstGeom>
          <a:noFill/>
        </p:spPr>
        <p:txBody>
          <a:bodyPr wrap="square" anchor="ctr"/>
          <a:lstStyle/>
          <a:p>
            <a:pPr algn="l">
              <a:spcAft>
                <a:spcPts val="400"/>
              </a:spcAft>
            </a:pPr>
            <a:r>
              <a:rPr sz="1000" b="1" i="0">
                <a:solidFill>
                  <a:srgbClr val="04746E"/>
                </a:solidFill>
                <a:latin typeface="Karla"/>
              </a:rPr>
              <a:t>03</a:t>
            </a:r>
          </a:p>
        </p:txBody>
      </p:sp>
      <p:pic>
        <p:nvPicPr>
          <p:cNvPr id="15" name="Picture 14" descr="E8.png"/>
          <p:cNvPicPr>
            <a:picLocks noChangeAspect="1"/>
          </p:cNvPicPr>
          <p:nvPr/>
        </p:nvPicPr>
        <p:blipFill>
          <a:blip r:embed="rId5"/>
          <a:stretch>
            <a:fillRect/>
          </a:stretch>
        </p:blipFill>
        <p:spPr>
          <a:xfrm>
            <a:off x="5029200" y="3984889"/>
            <a:ext cx="271504" cy="145521"/>
          </a:xfrm>
          <a:prstGeom prst="rect">
            <a:avLst/>
          </a:prstGeom>
        </p:spPr>
      </p:pic>
      <p:sp>
        <p:nvSpPr>
          <p:cNvPr id="16" name="TextBox 15"/>
          <p:cNvSpPr txBox="1"/>
          <p:nvPr/>
        </p:nvSpPr>
        <p:spPr>
          <a:xfrm>
            <a:off x="5428720" y="3520440"/>
            <a:ext cx="5105167" cy="1074420"/>
          </a:xfrm>
          <a:prstGeom prst="rect">
            <a:avLst/>
          </a:prstGeom>
          <a:noFill/>
        </p:spPr>
        <p:txBody>
          <a:bodyPr wrap="square" anchor="ctr"/>
          <a:lstStyle/>
          <a:p>
            <a:pPr algn="l">
              <a:spcAft>
                <a:spcPts val="400"/>
              </a:spcAft>
            </a:pPr>
            <a:r>
              <a:rPr sz="1200" b="0" i="0">
                <a:solidFill>
                  <a:srgbClr val="1E2D44"/>
                </a:solidFill>
                <a:latin typeface="Karla"/>
              </a:rPr>
              <a:t>E_Flavour   ·   E08 Banana Chocolate Top Left Dark Text Panel</a:t>
            </a:r>
          </a:p>
        </p:txBody>
      </p:sp>
      <p:sp>
        <p:nvSpPr>
          <p:cNvPr id="17" name="TextBox 16"/>
          <p:cNvSpPr txBox="1"/>
          <p:nvPr/>
        </p:nvSpPr>
        <p:spPr>
          <a:xfrm>
            <a:off x="10835640" y="3520440"/>
            <a:ext cx="731520" cy="1074420"/>
          </a:xfrm>
          <a:prstGeom prst="rect">
            <a:avLst/>
          </a:prstGeom>
          <a:noFill/>
        </p:spPr>
        <p:txBody>
          <a:bodyPr wrap="square" anchor="ctr"/>
          <a:lstStyle/>
          <a:p>
            <a:pPr algn="r">
              <a:spcAft>
                <a:spcPts val="400"/>
              </a:spcAft>
            </a:pPr>
            <a:r>
              <a:rPr sz="1200" b="1" i="0">
                <a:solidFill>
                  <a:srgbClr val="008935"/>
                </a:solidFill>
                <a:latin typeface="Karla"/>
              </a:rPr>
              <a:t>+23</a:t>
            </a:r>
          </a:p>
        </p:txBody>
      </p:sp>
      <p:sp>
        <p:nvSpPr>
          <p:cNvPr id="18" name="TextBox 17"/>
          <p:cNvSpPr txBox="1"/>
          <p:nvPr/>
        </p:nvSpPr>
        <p:spPr>
          <a:xfrm>
            <a:off x="4681728" y="4594860"/>
            <a:ext cx="347472" cy="1074420"/>
          </a:xfrm>
          <a:prstGeom prst="rect">
            <a:avLst/>
          </a:prstGeom>
          <a:noFill/>
        </p:spPr>
        <p:txBody>
          <a:bodyPr wrap="square" anchor="ctr"/>
          <a:lstStyle/>
          <a:p>
            <a:pPr algn="l">
              <a:spcAft>
                <a:spcPts val="400"/>
              </a:spcAft>
            </a:pPr>
            <a:r>
              <a:rPr sz="1000" b="1" i="0">
                <a:solidFill>
                  <a:srgbClr val="04746E"/>
                </a:solidFill>
                <a:latin typeface="Karla"/>
              </a:rPr>
              <a:t>04</a:t>
            </a:r>
          </a:p>
        </p:txBody>
      </p:sp>
      <p:pic>
        <p:nvPicPr>
          <p:cNvPr id="19" name="Picture 18" descr="F5.png"/>
          <p:cNvPicPr>
            <a:picLocks noChangeAspect="1"/>
          </p:cNvPicPr>
          <p:nvPr/>
        </p:nvPicPr>
        <p:blipFill>
          <a:blip r:embed="rId6"/>
          <a:stretch>
            <a:fillRect/>
          </a:stretch>
        </p:blipFill>
        <p:spPr>
          <a:xfrm>
            <a:off x="5029200" y="5027269"/>
            <a:ext cx="271504" cy="209601"/>
          </a:xfrm>
          <a:prstGeom prst="rect">
            <a:avLst/>
          </a:prstGeom>
        </p:spPr>
      </p:pic>
      <p:sp>
        <p:nvSpPr>
          <p:cNvPr id="20" name="TextBox 19"/>
          <p:cNvSpPr txBox="1"/>
          <p:nvPr/>
        </p:nvSpPr>
        <p:spPr>
          <a:xfrm>
            <a:off x="5428720" y="4594860"/>
            <a:ext cx="5105167" cy="1074420"/>
          </a:xfrm>
          <a:prstGeom prst="rect">
            <a:avLst/>
          </a:prstGeom>
          <a:noFill/>
        </p:spPr>
        <p:txBody>
          <a:bodyPr wrap="square" anchor="ctr"/>
          <a:lstStyle/>
          <a:p>
            <a:pPr algn="l">
              <a:spcAft>
                <a:spcPts val="400"/>
              </a:spcAft>
            </a:pPr>
            <a:r>
              <a:rPr sz="1200" b="0" i="0">
                <a:solidFill>
                  <a:srgbClr val="1E2D44"/>
                </a:solidFill>
                <a:latin typeface="Karla"/>
              </a:rPr>
              <a:t>F_Gluten-free   ·   F04 Gluten Free Blank</a:t>
            </a:r>
          </a:p>
        </p:txBody>
      </p:sp>
      <p:sp>
        <p:nvSpPr>
          <p:cNvPr id="21" name="TextBox 20"/>
          <p:cNvSpPr txBox="1"/>
          <p:nvPr/>
        </p:nvSpPr>
        <p:spPr>
          <a:xfrm>
            <a:off x="10835640" y="4594860"/>
            <a:ext cx="731520" cy="1074420"/>
          </a:xfrm>
          <a:prstGeom prst="rect">
            <a:avLst/>
          </a:prstGeom>
          <a:noFill/>
        </p:spPr>
        <p:txBody>
          <a:bodyPr wrap="square" anchor="ctr"/>
          <a:lstStyle/>
          <a:p>
            <a:pPr algn="r">
              <a:spcAft>
                <a:spcPts val="400"/>
              </a:spcAft>
            </a:pPr>
            <a:r>
              <a:rPr sz="1200" b="1" i="0">
                <a:solidFill>
                  <a:srgbClr val="008935"/>
                </a:solidFill>
                <a:latin typeface="Karla"/>
              </a:rPr>
              <a:t>+6</a:t>
            </a:r>
          </a:p>
        </p:txBody>
      </p:sp>
      <p:sp>
        <p:nvSpPr>
          <p:cNvPr id="22" name="TextBox 21"/>
          <p:cNvSpPr txBox="1"/>
          <p:nvPr/>
        </p:nvSpPr>
        <p:spPr>
          <a:xfrm>
            <a:off x="502920" y="5742432"/>
            <a:ext cx="11155680" cy="365760"/>
          </a:xfrm>
          <a:prstGeom prst="rect">
            <a:avLst/>
          </a:prstGeom>
          <a:noFill/>
        </p:spPr>
        <p:txBody>
          <a:bodyPr wrap="square" anchor="t"/>
          <a:lstStyle/>
          <a:p>
            <a:pPr algn="l">
              <a:spcAft>
                <a:spcPts val="400"/>
              </a:spcAft>
            </a:pPr>
            <a:r>
              <a:rPr sz="1400" b="1" i="0">
                <a:solidFill>
                  <a:srgbClr val="1E2D44"/>
                </a:solidFill>
                <a:latin typeface="Karla"/>
              </a:rPr>
              <a:t>Layer lift +76</a:t>
            </a:r>
          </a:p>
        </p:txBody>
      </p:sp>
      <p:sp>
        <p:nvSpPr>
          <p:cNvPr id="23" name="Rectangle 22"/>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n=150 respondents.  Top-2 Box model (ratings 4–5): element lifts show movement above or below the model baseline.</a:t>
            </a:r>
          </a:p>
        </p:txBody>
      </p:sp>
      <p:sp>
        <p:nvSpPr>
          <p:cNvPr id="25" name="TextBox 24"/>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90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56032"/>
            <a:ext cx="10972800" cy="256032"/>
          </a:xfrm>
          <a:prstGeom prst="rect">
            <a:avLst/>
          </a:prstGeom>
          <a:noFill/>
        </p:spPr>
        <p:txBody>
          <a:bodyPr wrap="square" anchor="t"/>
          <a:lstStyle/>
          <a:p>
            <a:pPr algn="l">
              <a:spcAft>
                <a:spcPts val="400"/>
              </a:spcAft>
            </a:pPr>
            <a:r>
              <a:rPr sz="1200" b="1" i="0">
                <a:solidFill>
                  <a:srgbClr val="04746E"/>
                </a:solidFill>
                <a:latin typeface="Karla"/>
              </a:rPr>
              <a:t>KEY FINDINGS: COMBINED PACK</a:t>
            </a:r>
          </a:p>
        </p:txBody>
      </p:sp>
      <p:sp>
        <p:nvSpPr>
          <p:cNvPr id="3" name="TextBox 2"/>
          <p:cNvSpPr txBox="1"/>
          <p:nvPr/>
        </p:nvSpPr>
        <p:spPr>
          <a:xfrm>
            <a:off x="502920" y="502920"/>
            <a:ext cx="11155680" cy="365760"/>
          </a:xfrm>
          <a:prstGeom prst="rect">
            <a:avLst/>
          </a:prstGeom>
          <a:noFill/>
        </p:spPr>
        <p:txBody>
          <a:bodyPr wrap="square" anchor="t"/>
          <a:lstStyle/>
          <a:p>
            <a:pPr algn="l">
              <a:spcAft>
                <a:spcPts val="400"/>
              </a:spcAft>
            </a:pPr>
            <a:r>
              <a:rPr sz="2400" b="1" i="0">
                <a:solidFill>
                  <a:srgbClr val="1E2D44"/>
                </a:solidFill>
                <a:latin typeface="Karla"/>
              </a:rPr>
              <a:t>Lowest-lift layers, stacked into one pack</a:t>
            </a:r>
          </a:p>
        </p:txBody>
      </p:sp>
      <p:sp>
        <p:nvSpPr>
          <p:cNvPr id="4" name="TextBox 3"/>
          <p:cNvSpPr txBox="1"/>
          <p:nvPr/>
        </p:nvSpPr>
        <p:spPr>
          <a:xfrm>
            <a:off x="502920" y="914400"/>
            <a:ext cx="11155680" cy="329184"/>
          </a:xfrm>
          <a:prstGeom prst="rect">
            <a:avLst/>
          </a:prstGeom>
          <a:noFill/>
        </p:spPr>
        <p:txBody>
          <a:bodyPr wrap="square" anchor="t"/>
          <a:lstStyle/>
          <a:p>
            <a:pPr algn="l">
              <a:spcAft>
                <a:spcPts val="400"/>
              </a:spcAft>
            </a:pPr>
            <a:r>
              <a:rPr sz="1400" b="0" i="0">
                <a:solidFill>
                  <a:srgbClr val="617086"/>
                </a:solidFill>
                <a:latin typeface="Karla"/>
              </a:rPr>
              <a:t>The weakest element in each silo. Where two elements cannot share a pack, the lower coefficient stays and the higher one is replaced or left off.</a:t>
            </a:r>
          </a:p>
        </p:txBody>
      </p:sp>
      <p:pic>
        <p:nvPicPr>
          <p:cNvPr id="5" name="Picture 4" descr="A11-B3-C3-D1-E4-F3.png"/>
          <p:cNvPicPr>
            <a:picLocks noChangeAspect="1"/>
          </p:cNvPicPr>
          <p:nvPr/>
        </p:nvPicPr>
        <p:blipFill>
          <a:blip r:embed="rId2"/>
          <a:stretch>
            <a:fillRect/>
          </a:stretch>
        </p:blipFill>
        <p:spPr>
          <a:xfrm>
            <a:off x="457200" y="1898395"/>
            <a:ext cx="4023360" cy="3106928"/>
          </a:xfrm>
          <a:prstGeom prst="rect">
            <a:avLst/>
          </a:prstGeom>
        </p:spPr>
      </p:pic>
      <p:sp>
        <p:nvSpPr>
          <p:cNvPr id="6" name="TextBox 5"/>
          <p:cNvSpPr txBox="1"/>
          <p:nvPr/>
        </p:nvSpPr>
        <p:spPr>
          <a:xfrm>
            <a:off x="4681728" y="1371600"/>
            <a:ext cx="347472" cy="716280"/>
          </a:xfrm>
          <a:prstGeom prst="rect">
            <a:avLst/>
          </a:prstGeom>
          <a:noFill/>
        </p:spPr>
        <p:txBody>
          <a:bodyPr wrap="square" anchor="ctr"/>
          <a:lstStyle/>
          <a:p>
            <a:pPr algn="l">
              <a:spcAft>
                <a:spcPts val="400"/>
              </a:spcAft>
            </a:pPr>
            <a:r>
              <a:rPr sz="1000" b="1" i="0">
                <a:solidFill>
                  <a:srgbClr val="04746E"/>
                </a:solidFill>
                <a:latin typeface="Karla"/>
              </a:rPr>
              <a:t>01</a:t>
            </a:r>
          </a:p>
        </p:txBody>
      </p:sp>
      <p:pic>
        <p:nvPicPr>
          <p:cNvPr id="7" name="Picture 6" descr="A11.png"/>
          <p:cNvPicPr>
            <a:picLocks noChangeAspect="1"/>
          </p:cNvPicPr>
          <p:nvPr/>
        </p:nvPicPr>
        <p:blipFill>
          <a:blip r:embed="rId3"/>
          <a:stretch>
            <a:fillRect/>
          </a:stretch>
        </p:blipFill>
        <p:spPr>
          <a:xfrm>
            <a:off x="5029200" y="1624939"/>
            <a:ext cx="271504" cy="209601"/>
          </a:xfrm>
          <a:prstGeom prst="rect">
            <a:avLst/>
          </a:prstGeom>
        </p:spPr>
      </p:pic>
      <p:sp>
        <p:nvSpPr>
          <p:cNvPr id="8" name="TextBox 7"/>
          <p:cNvSpPr txBox="1"/>
          <p:nvPr/>
        </p:nvSpPr>
        <p:spPr>
          <a:xfrm>
            <a:off x="5428720" y="1371600"/>
            <a:ext cx="5105167" cy="716280"/>
          </a:xfrm>
          <a:prstGeom prst="rect">
            <a:avLst/>
          </a:prstGeom>
          <a:noFill/>
        </p:spPr>
        <p:txBody>
          <a:bodyPr wrap="square" anchor="ctr"/>
          <a:lstStyle/>
          <a:p>
            <a:pPr algn="l">
              <a:spcAft>
                <a:spcPts val="400"/>
              </a:spcAft>
            </a:pPr>
            <a:r>
              <a:rPr sz="1200" b="0" i="0">
                <a:solidFill>
                  <a:srgbClr val="1E2D44"/>
                </a:solidFill>
                <a:latin typeface="Karla"/>
              </a:rPr>
              <a:t>A_Background   ·   D3 Yellow Wrapper</a:t>
            </a:r>
          </a:p>
        </p:txBody>
      </p:sp>
      <p:sp>
        <p:nvSpPr>
          <p:cNvPr id="9" name="TextBox 8"/>
          <p:cNvSpPr txBox="1"/>
          <p:nvPr/>
        </p:nvSpPr>
        <p:spPr>
          <a:xfrm>
            <a:off x="10835640" y="1371600"/>
            <a:ext cx="731520" cy="716280"/>
          </a:xfrm>
          <a:prstGeom prst="rect">
            <a:avLst/>
          </a:prstGeom>
          <a:noFill/>
        </p:spPr>
        <p:txBody>
          <a:bodyPr wrap="square" anchor="ctr"/>
          <a:lstStyle/>
          <a:p>
            <a:pPr algn="r">
              <a:spcAft>
                <a:spcPts val="400"/>
              </a:spcAft>
            </a:pPr>
            <a:r>
              <a:rPr sz="1200" b="1" i="0">
                <a:solidFill>
                  <a:srgbClr val="008935"/>
                </a:solidFill>
                <a:latin typeface="Karla"/>
              </a:rPr>
              <a:t>+13</a:t>
            </a:r>
          </a:p>
        </p:txBody>
      </p:sp>
      <p:sp>
        <p:nvSpPr>
          <p:cNvPr id="10" name="TextBox 9"/>
          <p:cNvSpPr txBox="1"/>
          <p:nvPr/>
        </p:nvSpPr>
        <p:spPr>
          <a:xfrm>
            <a:off x="4681728" y="2087880"/>
            <a:ext cx="347472" cy="716280"/>
          </a:xfrm>
          <a:prstGeom prst="rect">
            <a:avLst/>
          </a:prstGeom>
          <a:noFill/>
        </p:spPr>
        <p:txBody>
          <a:bodyPr wrap="square" anchor="ctr"/>
          <a:lstStyle/>
          <a:p>
            <a:pPr algn="l">
              <a:spcAft>
                <a:spcPts val="400"/>
              </a:spcAft>
            </a:pPr>
            <a:r>
              <a:rPr sz="1000" b="1" i="0">
                <a:solidFill>
                  <a:srgbClr val="04746E"/>
                </a:solidFill>
                <a:latin typeface="Karla"/>
              </a:rPr>
              <a:t>02</a:t>
            </a:r>
          </a:p>
        </p:txBody>
      </p:sp>
      <p:pic>
        <p:nvPicPr>
          <p:cNvPr id="11" name="Picture 10" descr="B3.png"/>
          <p:cNvPicPr>
            <a:picLocks noChangeAspect="1"/>
          </p:cNvPicPr>
          <p:nvPr/>
        </p:nvPicPr>
        <p:blipFill>
          <a:blip r:embed="rId4"/>
          <a:stretch>
            <a:fillRect/>
          </a:stretch>
        </p:blipFill>
        <p:spPr>
          <a:xfrm>
            <a:off x="5029200" y="2350252"/>
            <a:ext cx="271504" cy="191535"/>
          </a:xfrm>
          <a:prstGeom prst="rect">
            <a:avLst/>
          </a:prstGeom>
        </p:spPr>
      </p:pic>
      <p:sp>
        <p:nvSpPr>
          <p:cNvPr id="12" name="TextBox 11"/>
          <p:cNvSpPr txBox="1"/>
          <p:nvPr/>
        </p:nvSpPr>
        <p:spPr>
          <a:xfrm>
            <a:off x="5428720" y="2087880"/>
            <a:ext cx="5105167" cy="716280"/>
          </a:xfrm>
          <a:prstGeom prst="rect">
            <a:avLst/>
          </a:prstGeom>
          <a:noFill/>
        </p:spPr>
        <p:txBody>
          <a:bodyPr wrap="square" anchor="ctr"/>
          <a:lstStyle/>
          <a:p>
            <a:pPr algn="l">
              <a:spcAft>
                <a:spcPts val="400"/>
              </a:spcAft>
            </a:pPr>
            <a:r>
              <a:rPr sz="1200" b="0" i="0">
                <a:solidFill>
                  <a:srgbClr val="1E2D44"/>
                </a:solidFill>
                <a:latin typeface="Karla"/>
              </a:rPr>
              <a:t>B_Cookie   ·   B03 Cookie Banana Filling Right Upper D2D3</a:t>
            </a:r>
          </a:p>
        </p:txBody>
      </p:sp>
      <p:sp>
        <p:nvSpPr>
          <p:cNvPr id="13" name="TextBox 12"/>
          <p:cNvSpPr txBox="1"/>
          <p:nvPr/>
        </p:nvSpPr>
        <p:spPr>
          <a:xfrm>
            <a:off x="10835640" y="2087880"/>
            <a:ext cx="731520" cy="716280"/>
          </a:xfrm>
          <a:prstGeom prst="rect">
            <a:avLst/>
          </a:prstGeom>
          <a:noFill/>
        </p:spPr>
        <p:txBody>
          <a:bodyPr wrap="square" anchor="ctr"/>
          <a:lstStyle/>
          <a:p>
            <a:pPr algn="r">
              <a:spcAft>
                <a:spcPts val="400"/>
              </a:spcAft>
            </a:pPr>
            <a:r>
              <a:rPr sz="1200" b="1" i="0">
                <a:solidFill>
                  <a:srgbClr val="008935"/>
                </a:solidFill>
                <a:latin typeface="Karla"/>
              </a:rPr>
              <a:t>+21</a:t>
            </a:r>
          </a:p>
        </p:txBody>
      </p:sp>
      <p:sp>
        <p:nvSpPr>
          <p:cNvPr id="14" name="TextBox 13"/>
          <p:cNvSpPr txBox="1"/>
          <p:nvPr/>
        </p:nvSpPr>
        <p:spPr>
          <a:xfrm>
            <a:off x="4681728" y="2804160"/>
            <a:ext cx="347472" cy="716280"/>
          </a:xfrm>
          <a:prstGeom prst="rect">
            <a:avLst/>
          </a:prstGeom>
          <a:noFill/>
        </p:spPr>
        <p:txBody>
          <a:bodyPr wrap="square" anchor="ctr"/>
          <a:lstStyle/>
          <a:p>
            <a:pPr algn="l">
              <a:spcAft>
                <a:spcPts val="400"/>
              </a:spcAft>
            </a:pPr>
            <a:r>
              <a:rPr sz="1000" b="1" i="0">
                <a:solidFill>
                  <a:srgbClr val="04746E"/>
                </a:solidFill>
                <a:latin typeface="Karla"/>
              </a:rPr>
              <a:t>03</a:t>
            </a:r>
          </a:p>
        </p:txBody>
      </p:sp>
      <p:pic>
        <p:nvPicPr>
          <p:cNvPr id="15" name="Picture 14" descr="C3.png"/>
          <p:cNvPicPr>
            <a:picLocks noChangeAspect="1"/>
          </p:cNvPicPr>
          <p:nvPr/>
        </p:nvPicPr>
        <p:blipFill>
          <a:blip r:embed="rId5"/>
          <a:stretch>
            <a:fillRect/>
          </a:stretch>
        </p:blipFill>
        <p:spPr>
          <a:xfrm>
            <a:off x="5029200" y="3092650"/>
            <a:ext cx="271504" cy="139299"/>
          </a:xfrm>
          <a:prstGeom prst="rect">
            <a:avLst/>
          </a:prstGeom>
        </p:spPr>
      </p:pic>
      <p:sp>
        <p:nvSpPr>
          <p:cNvPr id="16" name="TextBox 15"/>
          <p:cNvSpPr txBox="1"/>
          <p:nvPr/>
        </p:nvSpPr>
        <p:spPr>
          <a:xfrm>
            <a:off x="5428720" y="2804160"/>
            <a:ext cx="5105167" cy="716280"/>
          </a:xfrm>
          <a:prstGeom prst="rect">
            <a:avLst/>
          </a:prstGeom>
          <a:noFill/>
        </p:spPr>
        <p:txBody>
          <a:bodyPr wrap="square" anchor="ctr"/>
          <a:lstStyle/>
          <a:p>
            <a:pPr algn="l">
              <a:spcAft>
                <a:spcPts val="400"/>
              </a:spcAft>
            </a:pPr>
            <a:r>
              <a:rPr sz="1200" b="0" i="0">
                <a:solidFill>
                  <a:srgbClr val="1E2D44"/>
                </a:solidFill>
                <a:latin typeface="Karla"/>
              </a:rPr>
              <a:t>C_Claim   ·   C03 Claim 33 Protein Only Bottom Centre D2D3</a:t>
            </a:r>
          </a:p>
        </p:txBody>
      </p:sp>
      <p:sp>
        <p:nvSpPr>
          <p:cNvPr id="17" name="TextBox 16"/>
          <p:cNvSpPr txBox="1"/>
          <p:nvPr/>
        </p:nvSpPr>
        <p:spPr>
          <a:xfrm>
            <a:off x="10835640" y="2804160"/>
            <a:ext cx="731520" cy="716280"/>
          </a:xfrm>
          <a:prstGeom prst="rect">
            <a:avLst/>
          </a:prstGeom>
          <a:noFill/>
        </p:spPr>
        <p:txBody>
          <a:bodyPr wrap="square" anchor="ctr"/>
          <a:lstStyle/>
          <a:p>
            <a:pPr algn="r">
              <a:spcAft>
                <a:spcPts val="400"/>
              </a:spcAft>
            </a:pPr>
            <a:r>
              <a:rPr sz="1200" b="1" i="0">
                <a:solidFill>
                  <a:srgbClr val="008935"/>
                </a:solidFill>
                <a:latin typeface="Karla"/>
              </a:rPr>
              <a:t>+12</a:t>
            </a:r>
          </a:p>
        </p:txBody>
      </p:sp>
      <p:sp>
        <p:nvSpPr>
          <p:cNvPr id="18" name="TextBox 17"/>
          <p:cNvSpPr txBox="1"/>
          <p:nvPr/>
        </p:nvSpPr>
        <p:spPr>
          <a:xfrm>
            <a:off x="4681728" y="3520440"/>
            <a:ext cx="347472" cy="716280"/>
          </a:xfrm>
          <a:prstGeom prst="rect">
            <a:avLst/>
          </a:prstGeom>
          <a:noFill/>
        </p:spPr>
        <p:txBody>
          <a:bodyPr wrap="square" anchor="ctr"/>
          <a:lstStyle/>
          <a:p>
            <a:pPr algn="l">
              <a:spcAft>
                <a:spcPts val="400"/>
              </a:spcAft>
            </a:pPr>
            <a:r>
              <a:rPr sz="1000" b="1" i="0">
                <a:solidFill>
                  <a:srgbClr val="04746E"/>
                </a:solidFill>
                <a:latin typeface="Karla"/>
              </a:rPr>
              <a:t>04</a:t>
            </a:r>
          </a:p>
        </p:txBody>
      </p:sp>
      <p:pic>
        <p:nvPicPr>
          <p:cNvPr id="19" name="Picture 18" descr="D1.png"/>
          <p:cNvPicPr>
            <a:picLocks noChangeAspect="1"/>
          </p:cNvPicPr>
          <p:nvPr/>
        </p:nvPicPr>
        <p:blipFill>
          <a:blip r:embed="rId6"/>
          <a:stretch>
            <a:fillRect/>
          </a:stretch>
        </p:blipFill>
        <p:spPr>
          <a:xfrm>
            <a:off x="5029200" y="3773193"/>
            <a:ext cx="271504" cy="210773"/>
          </a:xfrm>
          <a:prstGeom prst="rect">
            <a:avLst/>
          </a:prstGeom>
        </p:spPr>
      </p:pic>
      <p:sp>
        <p:nvSpPr>
          <p:cNvPr id="20" name="TextBox 19"/>
          <p:cNvSpPr txBox="1"/>
          <p:nvPr/>
        </p:nvSpPr>
        <p:spPr>
          <a:xfrm>
            <a:off x="5428720" y="3520440"/>
            <a:ext cx="5105167" cy="716280"/>
          </a:xfrm>
          <a:prstGeom prst="rect">
            <a:avLst/>
          </a:prstGeom>
          <a:noFill/>
        </p:spPr>
        <p:txBody>
          <a:bodyPr wrap="square" anchor="ctr"/>
          <a:lstStyle/>
          <a:p>
            <a:pPr algn="l">
              <a:spcAft>
                <a:spcPts val="400"/>
              </a:spcAft>
            </a:pPr>
            <a:r>
              <a:rPr sz="1200" b="0" i="0">
                <a:solidFill>
                  <a:srgbClr val="1E2D44"/>
                </a:solidFill>
                <a:latin typeface="Karla"/>
              </a:rPr>
              <a:t>D_Logo   ·   D01 Logo Small Top Left D2</a:t>
            </a:r>
          </a:p>
        </p:txBody>
      </p:sp>
      <p:sp>
        <p:nvSpPr>
          <p:cNvPr id="21" name="TextBox 20"/>
          <p:cNvSpPr txBox="1"/>
          <p:nvPr/>
        </p:nvSpPr>
        <p:spPr>
          <a:xfrm>
            <a:off x="10835640" y="3520440"/>
            <a:ext cx="731520" cy="716280"/>
          </a:xfrm>
          <a:prstGeom prst="rect">
            <a:avLst/>
          </a:prstGeom>
          <a:noFill/>
        </p:spPr>
        <p:txBody>
          <a:bodyPr wrap="square" anchor="ctr"/>
          <a:lstStyle/>
          <a:p>
            <a:pPr algn="r">
              <a:spcAft>
                <a:spcPts val="400"/>
              </a:spcAft>
            </a:pPr>
            <a:r>
              <a:rPr sz="1200" b="1" i="0">
                <a:solidFill>
                  <a:srgbClr val="008935"/>
                </a:solidFill>
                <a:latin typeface="Karla"/>
              </a:rPr>
              <a:t>+3</a:t>
            </a:r>
          </a:p>
        </p:txBody>
      </p:sp>
      <p:sp>
        <p:nvSpPr>
          <p:cNvPr id="22" name="TextBox 21"/>
          <p:cNvSpPr txBox="1"/>
          <p:nvPr/>
        </p:nvSpPr>
        <p:spPr>
          <a:xfrm>
            <a:off x="4681728" y="4236720"/>
            <a:ext cx="347472" cy="716280"/>
          </a:xfrm>
          <a:prstGeom prst="rect">
            <a:avLst/>
          </a:prstGeom>
          <a:noFill/>
        </p:spPr>
        <p:txBody>
          <a:bodyPr wrap="square" anchor="ctr"/>
          <a:lstStyle/>
          <a:p>
            <a:pPr algn="l">
              <a:spcAft>
                <a:spcPts val="400"/>
              </a:spcAft>
            </a:pPr>
            <a:r>
              <a:rPr sz="1000" b="1" i="0">
                <a:solidFill>
                  <a:srgbClr val="04746E"/>
                </a:solidFill>
                <a:latin typeface="Karla"/>
              </a:rPr>
              <a:t>05</a:t>
            </a:r>
          </a:p>
        </p:txBody>
      </p:sp>
      <p:pic>
        <p:nvPicPr>
          <p:cNvPr id="23" name="Picture 22" descr="E4.png"/>
          <p:cNvPicPr>
            <a:picLocks noChangeAspect="1"/>
          </p:cNvPicPr>
          <p:nvPr/>
        </p:nvPicPr>
        <p:blipFill>
          <a:blip r:embed="rId7"/>
          <a:stretch>
            <a:fillRect/>
          </a:stretch>
        </p:blipFill>
        <p:spPr>
          <a:xfrm>
            <a:off x="5029200" y="4524542"/>
            <a:ext cx="271504" cy="140635"/>
          </a:xfrm>
          <a:prstGeom prst="rect">
            <a:avLst/>
          </a:prstGeom>
        </p:spPr>
      </p:pic>
      <p:sp>
        <p:nvSpPr>
          <p:cNvPr id="24" name="TextBox 23"/>
          <p:cNvSpPr txBox="1"/>
          <p:nvPr/>
        </p:nvSpPr>
        <p:spPr>
          <a:xfrm>
            <a:off x="5428720" y="4236720"/>
            <a:ext cx="5105167" cy="716280"/>
          </a:xfrm>
          <a:prstGeom prst="rect">
            <a:avLst/>
          </a:prstGeom>
          <a:noFill/>
        </p:spPr>
        <p:txBody>
          <a:bodyPr wrap="square" anchor="ctr"/>
          <a:lstStyle/>
          <a:p>
            <a:pPr algn="l">
              <a:spcAft>
                <a:spcPts val="400"/>
              </a:spcAft>
            </a:pPr>
            <a:r>
              <a:rPr sz="1200" b="0" i="0">
                <a:solidFill>
                  <a:srgbClr val="1E2D44"/>
                </a:solidFill>
                <a:latin typeface="Karla"/>
              </a:rPr>
              <a:t>E_Flavour   ·   E04 Orange Chocolate Top Centre Dark Text D2D3 Panel</a:t>
            </a:r>
          </a:p>
        </p:txBody>
      </p:sp>
      <p:sp>
        <p:nvSpPr>
          <p:cNvPr id="25" name="TextBox 24"/>
          <p:cNvSpPr txBox="1"/>
          <p:nvPr/>
        </p:nvSpPr>
        <p:spPr>
          <a:xfrm>
            <a:off x="10835640" y="4236720"/>
            <a:ext cx="731520" cy="716280"/>
          </a:xfrm>
          <a:prstGeom prst="rect">
            <a:avLst/>
          </a:prstGeom>
          <a:noFill/>
        </p:spPr>
        <p:txBody>
          <a:bodyPr wrap="square" anchor="ctr"/>
          <a:lstStyle/>
          <a:p>
            <a:pPr algn="r">
              <a:spcAft>
                <a:spcPts val="400"/>
              </a:spcAft>
            </a:pPr>
            <a:r>
              <a:rPr sz="1200" b="1" i="0">
                <a:solidFill>
                  <a:srgbClr val="008935"/>
                </a:solidFill>
                <a:latin typeface="Karla"/>
              </a:rPr>
              <a:t>+8</a:t>
            </a:r>
          </a:p>
        </p:txBody>
      </p:sp>
      <p:sp>
        <p:nvSpPr>
          <p:cNvPr id="26" name="TextBox 25"/>
          <p:cNvSpPr txBox="1"/>
          <p:nvPr/>
        </p:nvSpPr>
        <p:spPr>
          <a:xfrm>
            <a:off x="4681728" y="4952999"/>
            <a:ext cx="347472" cy="716280"/>
          </a:xfrm>
          <a:prstGeom prst="rect">
            <a:avLst/>
          </a:prstGeom>
          <a:noFill/>
        </p:spPr>
        <p:txBody>
          <a:bodyPr wrap="square" anchor="ctr"/>
          <a:lstStyle/>
          <a:p>
            <a:pPr algn="l">
              <a:spcAft>
                <a:spcPts val="400"/>
              </a:spcAft>
            </a:pPr>
            <a:r>
              <a:rPr sz="1000" b="1" i="0">
                <a:solidFill>
                  <a:srgbClr val="04746E"/>
                </a:solidFill>
                <a:latin typeface="Karla"/>
              </a:rPr>
              <a:t>06</a:t>
            </a:r>
          </a:p>
        </p:txBody>
      </p:sp>
      <p:pic>
        <p:nvPicPr>
          <p:cNvPr id="27" name="Picture 26" descr="F3.png"/>
          <p:cNvPicPr>
            <a:picLocks noChangeAspect="1"/>
          </p:cNvPicPr>
          <p:nvPr/>
        </p:nvPicPr>
        <p:blipFill>
          <a:blip r:embed="rId8"/>
          <a:stretch>
            <a:fillRect/>
          </a:stretch>
        </p:blipFill>
        <p:spPr>
          <a:xfrm>
            <a:off x="5029200" y="5233975"/>
            <a:ext cx="271504" cy="154329"/>
          </a:xfrm>
          <a:prstGeom prst="rect">
            <a:avLst/>
          </a:prstGeom>
        </p:spPr>
      </p:pic>
      <p:sp>
        <p:nvSpPr>
          <p:cNvPr id="28" name="TextBox 27"/>
          <p:cNvSpPr txBox="1"/>
          <p:nvPr/>
        </p:nvSpPr>
        <p:spPr>
          <a:xfrm>
            <a:off x="5428720" y="4952999"/>
            <a:ext cx="5105167" cy="716280"/>
          </a:xfrm>
          <a:prstGeom prst="rect">
            <a:avLst/>
          </a:prstGeom>
          <a:noFill/>
        </p:spPr>
        <p:txBody>
          <a:bodyPr wrap="square" anchor="ctr"/>
          <a:lstStyle/>
          <a:p>
            <a:pPr algn="l">
              <a:spcAft>
                <a:spcPts val="400"/>
              </a:spcAft>
            </a:pPr>
            <a:r>
              <a:rPr sz="1200" b="0" i="0">
                <a:solidFill>
                  <a:srgbClr val="1E2D44"/>
                </a:solidFill>
                <a:latin typeface="Karla"/>
              </a:rPr>
              <a:t>F_Gluten-free   ·   F03 Gluten Green Top Right</a:t>
            </a:r>
          </a:p>
        </p:txBody>
      </p:sp>
      <p:sp>
        <p:nvSpPr>
          <p:cNvPr id="29" name="TextBox 28"/>
          <p:cNvSpPr txBox="1"/>
          <p:nvPr/>
        </p:nvSpPr>
        <p:spPr>
          <a:xfrm>
            <a:off x="10835640" y="4952999"/>
            <a:ext cx="731520" cy="716280"/>
          </a:xfrm>
          <a:prstGeom prst="rect">
            <a:avLst/>
          </a:prstGeom>
          <a:noFill/>
        </p:spPr>
        <p:txBody>
          <a:bodyPr wrap="square" anchor="ctr"/>
          <a:lstStyle/>
          <a:p>
            <a:pPr algn="r">
              <a:spcAft>
                <a:spcPts val="400"/>
              </a:spcAft>
            </a:pPr>
            <a:r>
              <a:rPr sz="1200" b="1" i="0">
                <a:solidFill>
                  <a:srgbClr val="008935"/>
                </a:solidFill>
                <a:latin typeface="Karla"/>
              </a:rPr>
              <a:t>+4</a:t>
            </a:r>
          </a:p>
        </p:txBody>
      </p:sp>
      <p:sp>
        <p:nvSpPr>
          <p:cNvPr id="30" name="TextBox 29"/>
          <p:cNvSpPr txBox="1"/>
          <p:nvPr/>
        </p:nvSpPr>
        <p:spPr>
          <a:xfrm>
            <a:off x="502920" y="5742432"/>
            <a:ext cx="11155680" cy="365760"/>
          </a:xfrm>
          <a:prstGeom prst="rect">
            <a:avLst/>
          </a:prstGeom>
          <a:noFill/>
        </p:spPr>
        <p:txBody>
          <a:bodyPr wrap="square" anchor="t"/>
          <a:lstStyle/>
          <a:p>
            <a:pPr algn="l">
              <a:spcAft>
                <a:spcPts val="400"/>
              </a:spcAft>
            </a:pPr>
            <a:r>
              <a:rPr sz="1400" b="1" i="0">
                <a:solidFill>
                  <a:srgbClr val="1E2D44"/>
                </a:solidFill>
                <a:latin typeface="Karla"/>
              </a:rPr>
              <a:t>Layer lift +61</a:t>
            </a:r>
          </a:p>
        </p:txBody>
      </p:sp>
      <p:sp>
        <p:nvSpPr>
          <p:cNvPr id="31" name="Rectangle 30"/>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n=150 respondents.  Top-2 Box model (ratings 4–5): element lifts show movement above or below the model baseline.</a:t>
            </a:r>
          </a:p>
        </p:txBody>
      </p:sp>
      <p:sp>
        <p:nvSpPr>
          <p:cNvPr id="33" name="TextBox 32"/>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91</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56032"/>
            <a:ext cx="10972800" cy="256032"/>
          </a:xfrm>
          <a:prstGeom prst="rect">
            <a:avLst/>
          </a:prstGeom>
          <a:noFill/>
        </p:spPr>
        <p:txBody>
          <a:bodyPr wrap="square" anchor="t"/>
          <a:lstStyle/>
          <a:p>
            <a:pPr algn="l">
              <a:spcAft>
                <a:spcPts val="400"/>
              </a:spcAft>
            </a:pPr>
            <a:r>
              <a:rPr sz="1200" b="1" i="0">
                <a:solidFill>
                  <a:srgbClr val="04746E"/>
                </a:solidFill>
                <a:latin typeface="Karla"/>
              </a:rPr>
              <a:t>KEY FINDINGS: BUILD COMPARISON</a:t>
            </a:r>
          </a:p>
        </p:txBody>
      </p:sp>
      <p:sp>
        <p:nvSpPr>
          <p:cNvPr id="3" name="TextBox 2"/>
          <p:cNvSpPr txBox="1"/>
          <p:nvPr/>
        </p:nvSpPr>
        <p:spPr>
          <a:xfrm>
            <a:off x="438912" y="365760"/>
            <a:ext cx="11247120" cy="329184"/>
          </a:xfrm>
          <a:prstGeom prst="rect">
            <a:avLst/>
          </a:prstGeom>
          <a:noFill/>
        </p:spPr>
        <p:txBody>
          <a:bodyPr wrap="square" anchor="t"/>
          <a:lstStyle/>
          <a:p>
            <a:pPr algn="l">
              <a:spcAft>
                <a:spcPts val="400"/>
              </a:spcAft>
            </a:pPr>
            <a:r>
              <a:rPr sz="2400" b="1" i="0">
                <a:solidFill>
                  <a:srgbClr val="1E2D44"/>
                </a:solidFill>
                <a:latin typeface="Karla"/>
              </a:rPr>
              <a:t>The higher-lift build against the lower-lift build</a:t>
            </a:r>
          </a:p>
        </p:txBody>
      </p:sp>
      <p:sp>
        <p:nvSpPr>
          <p:cNvPr id="4" name="Rounded Rectangle 3"/>
          <p:cNvSpPr/>
          <p:nvPr/>
        </p:nvSpPr>
        <p:spPr>
          <a:xfrm>
            <a:off x="384048" y="1115568"/>
            <a:ext cx="5623560" cy="4315968"/>
          </a:xfrm>
          <a:prstGeom prst="roundRect">
            <a:avLst>
              <a:gd name="adj" fmla="val 3000"/>
            </a:avLst>
          </a:prstGeom>
          <a:solidFill>
            <a:srgbClr val="FFFFFF"/>
          </a:solidFill>
          <a:ln w="12700">
            <a:solidFill>
              <a:srgbClr val="E4E9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02336" y="1188720"/>
            <a:ext cx="5586984" cy="1170432"/>
          </a:xfrm>
          <a:prstGeom prst="rect">
            <a:avLst/>
          </a:prstGeom>
          <a:solidFill>
            <a:srgbClr val="F3F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84048" y="1115568"/>
            <a:ext cx="5623560" cy="50292"/>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1225295"/>
            <a:ext cx="5330952" cy="201168"/>
          </a:xfrm>
          <a:prstGeom prst="rect">
            <a:avLst/>
          </a:prstGeom>
          <a:noFill/>
        </p:spPr>
        <p:txBody>
          <a:bodyPr wrap="square" anchor="t" lIns="0" rIns="0" tIns="0" bIns="0"/>
          <a:lstStyle/>
          <a:p>
            <a:pPr algn="l">
              <a:spcBef>
                <a:spcPts val="0"/>
              </a:spcBef>
              <a:spcAft>
                <a:spcPts val="0"/>
              </a:spcAft>
            </a:pPr>
            <a:r>
              <a:rPr sz="1100" b="1" i="0">
                <a:solidFill>
                  <a:srgbClr val="04746E"/>
                </a:solidFill>
                <a:latin typeface="Karla"/>
              </a:rPr>
              <a:t>HIGHER-LIFT BUILD</a:t>
            </a:r>
          </a:p>
        </p:txBody>
      </p:sp>
      <p:pic>
        <p:nvPicPr>
          <p:cNvPr id="8" name="Picture 7" descr="B1-C5-E8-F5.png"/>
          <p:cNvPicPr>
            <a:picLocks noChangeAspect="1"/>
          </p:cNvPicPr>
          <p:nvPr/>
        </p:nvPicPr>
        <p:blipFill>
          <a:blip r:embed="rId2"/>
          <a:stretch>
            <a:fillRect/>
          </a:stretch>
        </p:blipFill>
        <p:spPr>
          <a:xfrm>
            <a:off x="530352" y="1463040"/>
            <a:ext cx="1051560" cy="812037"/>
          </a:xfrm>
          <a:prstGeom prst="rect">
            <a:avLst/>
          </a:prstGeom>
        </p:spPr>
      </p:pic>
      <p:sp>
        <p:nvSpPr>
          <p:cNvPr id="9" name="TextBox 8"/>
          <p:cNvSpPr txBox="1"/>
          <p:nvPr/>
        </p:nvSpPr>
        <p:spPr>
          <a:xfrm>
            <a:off x="1783080" y="1499616"/>
            <a:ext cx="4078224" cy="438912"/>
          </a:xfrm>
          <a:prstGeom prst="rect">
            <a:avLst/>
          </a:prstGeom>
          <a:noFill/>
        </p:spPr>
        <p:txBody>
          <a:bodyPr wrap="square" anchor="t" lIns="0" rIns="0" tIns="0" bIns="0"/>
          <a:lstStyle/>
          <a:p>
            <a:pPr algn="l">
              <a:spcBef>
                <a:spcPts val="0"/>
              </a:spcBef>
              <a:spcAft>
                <a:spcPts val="0"/>
              </a:spcAft>
            </a:pPr>
            <a:r>
              <a:rPr sz="2800" b="1" i="0">
                <a:solidFill>
                  <a:srgbClr val="008935"/>
                </a:solidFill>
                <a:latin typeface="Karla"/>
              </a:rPr>
              <a:t>+76</a:t>
            </a:r>
          </a:p>
        </p:txBody>
      </p:sp>
      <p:sp>
        <p:nvSpPr>
          <p:cNvPr id="10" name="TextBox 9"/>
          <p:cNvSpPr txBox="1"/>
          <p:nvPr/>
        </p:nvSpPr>
        <p:spPr>
          <a:xfrm>
            <a:off x="1783080" y="1938528"/>
            <a:ext cx="4078224" cy="237744"/>
          </a:xfrm>
          <a:prstGeom prst="rect">
            <a:avLst/>
          </a:prstGeom>
          <a:noFill/>
        </p:spPr>
        <p:txBody>
          <a:bodyPr wrap="square" anchor="t" lIns="0" rIns="0" tIns="0" bIns="0"/>
          <a:lstStyle/>
          <a:p>
            <a:pPr algn="l">
              <a:spcBef>
                <a:spcPts val="0"/>
              </a:spcBef>
              <a:spcAft>
                <a:spcPts val="0"/>
              </a:spcAft>
            </a:pPr>
            <a:r>
              <a:rPr sz="1300" b="0" i="0">
                <a:solidFill>
                  <a:srgbClr val="617086"/>
                </a:solidFill>
                <a:latin typeface="Karla"/>
              </a:rPr>
              <a:t>Lift only, no separate base</a:t>
            </a:r>
          </a:p>
        </p:txBody>
      </p:sp>
      <p:sp>
        <p:nvSpPr>
          <p:cNvPr id="11" name="TextBox 10"/>
          <p:cNvSpPr txBox="1"/>
          <p:nvPr/>
        </p:nvSpPr>
        <p:spPr>
          <a:xfrm>
            <a:off x="530352" y="2414016"/>
            <a:ext cx="1097280" cy="736091"/>
          </a:xfrm>
          <a:prstGeom prst="rect">
            <a:avLst/>
          </a:prstGeom>
          <a:noFill/>
        </p:spPr>
        <p:txBody>
          <a:bodyPr wrap="square" anchor="ctr" lIns="0" rIns="0" tIns="0" bIns="0"/>
          <a:lstStyle/>
          <a:p>
            <a:pPr algn="l">
              <a:spcBef>
                <a:spcPts val="0"/>
              </a:spcBef>
              <a:spcAft>
                <a:spcPts val="0"/>
              </a:spcAft>
            </a:pPr>
            <a:r>
              <a:rPr sz="1100" b="0" i="0">
                <a:solidFill>
                  <a:srgbClr val="617086"/>
                </a:solidFill>
                <a:latin typeface="Karla"/>
              </a:rPr>
              <a:t>B_Cookie</a:t>
            </a:r>
          </a:p>
        </p:txBody>
      </p:sp>
      <p:sp>
        <p:nvSpPr>
          <p:cNvPr id="12" name="TextBox 11"/>
          <p:cNvSpPr txBox="1"/>
          <p:nvPr/>
        </p:nvSpPr>
        <p:spPr>
          <a:xfrm>
            <a:off x="1700784" y="2414016"/>
            <a:ext cx="3502152" cy="736091"/>
          </a:xfrm>
          <a:prstGeom prst="rect">
            <a:avLst/>
          </a:prstGeom>
          <a:noFill/>
        </p:spPr>
        <p:txBody>
          <a:bodyPr wrap="square" anchor="ctr" lIns="0" rIns="0" tIns="0" bIns="0"/>
          <a:lstStyle/>
          <a:p>
            <a:pPr algn="l">
              <a:spcBef>
                <a:spcPts val="0"/>
              </a:spcBef>
              <a:spcAft>
                <a:spcPts val="0"/>
              </a:spcAft>
            </a:pPr>
            <a:r>
              <a:rPr sz="1300" b="0" i="0">
                <a:solidFill>
                  <a:srgbClr val="1E2D44"/>
                </a:solidFill>
                <a:latin typeface="Karla"/>
              </a:rPr>
              <a:t>B01 Cookie Chocolate Filling Right Upper D2D3</a:t>
            </a:r>
          </a:p>
        </p:txBody>
      </p:sp>
      <p:sp>
        <p:nvSpPr>
          <p:cNvPr id="13" name="TextBox 12"/>
          <p:cNvSpPr txBox="1"/>
          <p:nvPr/>
        </p:nvSpPr>
        <p:spPr>
          <a:xfrm>
            <a:off x="5239512" y="2414016"/>
            <a:ext cx="658368" cy="736091"/>
          </a:xfrm>
          <a:prstGeom prst="rect">
            <a:avLst/>
          </a:prstGeom>
          <a:noFill/>
        </p:spPr>
        <p:txBody>
          <a:bodyPr wrap="square" anchor="ctr" lIns="0" rIns="0" tIns="0" bIns="0"/>
          <a:lstStyle/>
          <a:p>
            <a:pPr algn="r">
              <a:spcBef>
                <a:spcPts val="0"/>
              </a:spcBef>
              <a:spcAft>
                <a:spcPts val="0"/>
              </a:spcAft>
            </a:pPr>
            <a:r>
              <a:rPr sz="1400" b="1" i="0">
                <a:solidFill>
                  <a:srgbClr val="008935"/>
                </a:solidFill>
                <a:latin typeface="Karla"/>
              </a:rPr>
              <a:t>+26</a:t>
            </a:r>
          </a:p>
        </p:txBody>
      </p:sp>
      <p:sp>
        <p:nvSpPr>
          <p:cNvPr id="14" name="Rectangle 13"/>
          <p:cNvSpPr/>
          <p:nvPr/>
        </p:nvSpPr>
        <p:spPr>
          <a:xfrm>
            <a:off x="512064" y="3150108"/>
            <a:ext cx="5367528" cy="9144"/>
          </a:xfrm>
          <a:prstGeom prst="rect">
            <a:avLst/>
          </a:prstGeom>
          <a:solidFill>
            <a:srgbClr val="F0E6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0352" y="3150108"/>
            <a:ext cx="1097280" cy="736091"/>
          </a:xfrm>
          <a:prstGeom prst="rect">
            <a:avLst/>
          </a:prstGeom>
          <a:noFill/>
        </p:spPr>
        <p:txBody>
          <a:bodyPr wrap="square" anchor="ctr" lIns="0" rIns="0" tIns="0" bIns="0"/>
          <a:lstStyle/>
          <a:p>
            <a:pPr algn="l">
              <a:spcBef>
                <a:spcPts val="0"/>
              </a:spcBef>
              <a:spcAft>
                <a:spcPts val="0"/>
              </a:spcAft>
            </a:pPr>
            <a:r>
              <a:rPr sz="1100" b="0" i="0">
                <a:solidFill>
                  <a:srgbClr val="617086"/>
                </a:solidFill>
                <a:latin typeface="Karla"/>
              </a:rPr>
              <a:t>C_Claim</a:t>
            </a:r>
          </a:p>
        </p:txBody>
      </p:sp>
      <p:sp>
        <p:nvSpPr>
          <p:cNvPr id="16" name="TextBox 15"/>
          <p:cNvSpPr txBox="1"/>
          <p:nvPr/>
        </p:nvSpPr>
        <p:spPr>
          <a:xfrm>
            <a:off x="1700784" y="3150108"/>
            <a:ext cx="3502152" cy="736091"/>
          </a:xfrm>
          <a:prstGeom prst="rect">
            <a:avLst/>
          </a:prstGeom>
          <a:noFill/>
        </p:spPr>
        <p:txBody>
          <a:bodyPr wrap="square" anchor="ctr" lIns="0" rIns="0" tIns="0" bIns="0"/>
          <a:lstStyle/>
          <a:p>
            <a:pPr algn="l">
              <a:spcBef>
                <a:spcPts val="0"/>
              </a:spcBef>
              <a:spcAft>
                <a:spcPts val="0"/>
              </a:spcAft>
            </a:pPr>
            <a:r>
              <a:rPr sz="1300" b="0" i="0">
                <a:solidFill>
                  <a:srgbClr val="1E2D44"/>
                </a:solidFill>
                <a:latin typeface="Karla"/>
              </a:rPr>
              <a:t>C05 Claim 33 Protein 20g High Protein No Sugar Added Mid Left D1</a:t>
            </a:r>
          </a:p>
        </p:txBody>
      </p:sp>
      <p:sp>
        <p:nvSpPr>
          <p:cNvPr id="17" name="TextBox 16"/>
          <p:cNvSpPr txBox="1"/>
          <p:nvPr/>
        </p:nvSpPr>
        <p:spPr>
          <a:xfrm>
            <a:off x="5239512" y="3150108"/>
            <a:ext cx="658368" cy="736091"/>
          </a:xfrm>
          <a:prstGeom prst="rect">
            <a:avLst/>
          </a:prstGeom>
          <a:noFill/>
        </p:spPr>
        <p:txBody>
          <a:bodyPr wrap="square" anchor="ctr" lIns="0" rIns="0" tIns="0" bIns="0"/>
          <a:lstStyle/>
          <a:p>
            <a:pPr algn="r">
              <a:spcBef>
                <a:spcPts val="0"/>
              </a:spcBef>
              <a:spcAft>
                <a:spcPts val="0"/>
              </a:spcAft>
            </a:pPr>
            <a:r>
              <a:rPr sz="1400" b="1" i="0">
                <a:solidFill>
                  <a:srgbClr val="008935"/>
                </a:solidFill>
                <a:latin typeface="Karla"/>
              </a:rPr>
              <a:t>+21</a:t>
            </a:r>
          </a:p>
        </p:txBody>
      </p:sp>
      <p:sp>
        <p:nvSpPr>
          <p:cNvPr id="18" name="Rectangle 17"/>
          <p:cNvSpPr/>
          <p:nvPr/>
        </p:nvSpPr>
        <p:spPr>
          <a:xfrm>
            <a:off x="512064" y="3886200"/>
            <a:ext cx="5367528" cy="9144"/>
          </a:xfrm>
          <a:prstGeom prst="rect">
            <a:avLst/>
          </a:prstGeom>
          <a:solidFill>
            <a:srgbClr val="F0E6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0352" y="3886200"/>
            <a:ext cx="1097280" cy="736091"/>
          </a:xfrm>
          <a:prstGeom prst="rect">
            <a:avLst/>
          </a:prstGeom>
          <a:noFill/>
        </p:spPr>
        <p:txBody>
          <a:bodyPr wrap="square" anchor="ctr" lIns="0" rIns="0" tIns="0" bIns="0"/>
          <a:lstStyle/>
          <a:p>
            <a:pPr algn="l">
              <a:spcBef>
                <a:spcPts val="0"/>
              </a:spcBef>
              <a:spcAft>
                <a:spcPts val="0"/>
              </a:spcAft>
            </a:pPr>
            <a:r>
              <a:rPr sz="1100" b="0" i="0">
                <a:solidFill>
                  <a:srgbClr val="617086"/>
                </a:solidFill>
                <a:latin typeface="Karla"/>
              </a:rPr>
              <a:t>E_Flavour</a:t>
            </a:r>
          </a:p>
        </p:txBody>
      </p:sp>
      <p:sp>
        <p:nvSpPr>
          <p:cNvPr id="20" name="TextBox 19"/>
          <p:cNvSpPr txBox="1"/>
          <p:nvPr/>
        </p:nvSpPr>
        <p:spPr>
          <a:xfrm>
            <a:off x="1700784" y="3886200"/>
            <a:ext cx="3502152" cy="736091"/>
          </a:xfrm>
          <a:prstGeom prst="rect">
            <a:avLst/>
          </a:prstGeom>
          <a:noFill/>
        </p:spPr>
        <p:txBody>
          <a:bodyPr wrap="square" anchor="ctr" lIns="0" rIns="0" tIns="0" bIns="0"/>
          <a:lstStyle/>
          <a:p>
            <a:pPr algn="l">
              <a:spcBef>
                <a:spcPts val="0"/>
              </a:spcBef>
              <a:spcAft>
                <a:spcPts val="0"/>
              </a:spcAft>
            </a:pPr>
            <a:r>
              <a:rPr sz="1300" b="0" i="0">
                <a:solidFill>
                  <a:srgbClr val="1E2D44"/>
                </a:solidFill>
                <a:latin typeface="Karla"/>
              </a:rPr>
              <a:t>E08 Banana Chocolate Top Left Dark Text Panel</a:t>
            </a:r>
          </a:p>
        </p:txBody>
      </p:sp>
      <p:sp>
        <p:nvSpPr>
          <p:cNvPr id="21" name="TextBox 20"/>
          <p:cNvSpPr txBox="1"/>
          <p:nvPr/>
        </p:nvSpPr>
        <p:spPr>
          <a:xfrm>
            <a:off x="5239512" y="3886200"/>
            <a:ext cx="658368" cy="736091"/>
          </a:xfrm>
          <a:prstGeom prst="rect">
            <a:avLst/>
          </a:prstGeom>
          <a:noFill/>
        </p:spPr>
        <p:txBody>
          <a:bodyPr wrap="square" anchor="ctr" lIns="0" rIns="0" tIns="0" bIns="0"/>
          <a:lstStyle/>
          <a:p>
            <a:pPr algn="r">
              <a:spcBef>
                <a:spcPts val="0"/>
              </a:spcBef>
              <a:spcAft>
                <a:spcPts val="0"/>
              </a:spcAft>
            </a:pPr>
            <a:r>
              <a:rPr sz="1400" b="1" i="0">
                <a:solidFill>
                  <a:srgbClr val="008935"/>
                </a:solidFill>
                <a:latin typeface="Karla"/>
              </a:rPr>
              <a:t>+23</a:t>
            </a:r>
          </a:p>
        </p:txBody>
      </p:sp>
      <p:sp>
        <p:nvSpPr>
          <p:cNvPr id="22" name="Rectangle 21"/>
          <p:cNvSpPr/>
          <p:nvPr/>
        </p:nvSpPr>
        <p:spPr>
          <a:xfrm>
            <a:off x="512064" y="4622292"/>
            <a:ext cx="5367528" cy="9144"/>
          </a:xfrm>
          <a:prstGeom prst="rect">
            <a:avLst/>
          </a:prstGeom>
          <a:solidFill>
            <a:srgbClr val="F0E6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0352" y="4622292"/>
            <a:ext cx="1097280" cy="736091"/>
          </a:xfrm>
          <a:prstGeom prst="rect">
            <a:avLst/>
          </a:prstGeom>
          <a:noFill/>
        </p:spPr>
        <p:txBody>
          <a:bodyPr wrap="square" anchor="ctr" lIns="0" rIns="0" tIns="0" bIns="0"/>
          <a:lstStyle/>
          <a:p>
            <a:pPr algn="l">
              <a:spcBef>
                <a:spcPts val="0"/>
              </a:spcBef>
              <a:spcAft>
                <a:spcPts val="0"/>
              </a:spcAft>
            </a:pPr>
            <a:r>
              <a:rPr sz="1100" b="0" i="0">
                <a:solidFill>
                  <a:srgbClr val="617086"/>
                </a:solidFill>
                <a:latin typeface="Karla"/>
              </a:rPr>
              <a:t>F_Gluten-free</a:t>
            </a:r>
          </a:p>
        </p:txBody>
      </p:sp>
      <p:sp>
        <p:nvSpPr>
          <p:cNvPr id="24" name="TextBox 23"/>
          <p:cNvSpPr txBox="1"/>
          <p:nvPr/>
        </p:nvSpPr>
        <p:spPr>
          <a:xfrm>
            <a:off x="1700784" y="4622292"/>
            <a:ext cx="3502152" cy="736091"/>
          </a:xfrm>
          <a:prstGeom prst="rect">
            <a:avLst/>
          </a:prstGeom>
          <a:noFill/>
        </p:spPr>
        <p:txBody>
          <a:bodyPr wrap="square" anchor="ctr" lIns="0" rIns="0" tIns="0" bIns="0"/>
          <a:lstStyle/>
          <a:p>
            <a:pPr algn="l">
              <a:spcBef>
                <a:spcPts val="0"/>
              </a:spcBef>
              <a:spcAft>
                <a:spcPts val="0"/>
              </a:spcAft>
            </a:pPr>
            <a:r>
              <a:rPr sz="1300" b="0" i="0">
                <a:solidFill>
                  <a:srgbClr val="1E2D44"/>
                </a:solidFill>
                <a:latin typeface="Karla"/>
              </a:rPr>
              <a:t>F04 Gluten Free Blank</a:t>
            </a:r>
          </a:p>
        </p:txBody>
      </p:sp>
      <p:sp>
        <p:nvSpPr>
          <p:cNvPr id="25" name="TextBox 24"/>
          <p:cNvSpPr txBox="1"/>
          <p:nvPr/>
        </p:nvSpPr>
        <p:spPr>
          <a:xfrm>
            <a:off x="5239512" y="4622292"/>
            <a:ext cx="658368" cy="736091"/>
          </a:xfrm>
          <a:prstGeom prst="rect">
            <a:avLst/>
          </a:prstGeom>
          <a:noFill/>
        </p:spPr>
        <p:txBody>
          <a:bodyPr wrap="square" anchor="ctr" lIns="0" rIns="0" tIns="0" bIns="0"/>
          <a:lstStyle/>
          <a:p>
            <a:pPr algn="r">
              <a:spcBef>
                <a:spcPts val="0"/>
              </a:spcBef>
              <a:spcAft>
                <a:spcPts val="0"/>
              </a:spcAft>
            </a:pPr>
            <a:r>
              <a:rPr sz="1400" b="1" i="0">
                <a:solidFill>
                  <a:srgbClr val="008935"/>
                </a:solidFill>
                <a:latin typeface="Karla"/>
              </a:rPr>
              <a:t>+6</a:t>
            </a:r>
          </a:p>
        </p:txBody>
      </p:sp>
      <p:sp>
        <p:nvSpPr>
          <p:cNvPr id="26" name="Rounded Rectangle 25"/>
          <p:cNvSpPr/>
          <p:nvPr/>
        </p:nvSpPr>
        <p:spPr>
          <a:xfrm>
            <a:off x="6181344" y="1115568"/>
            <a:ext cx="5623560" cy="4315968"/>
          </a:xfrm>
          <a:prstGeom prst="roundRect">
            <a:avLst>
              <a:gd name="adj" fmla="val 3000"/>
            </a:avLst>
          </a:prstGeom>
          <a:solidFill>
            <a:srgbClr val="FFFFFF"/>
          </a:solidFill>
          <a:ln w="12700">
            <a:solidFill>
              <a:srgbClr val="E4E9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99631" y="1188720"/>
            <a:ext cx="5586984" cy="1170432"/>
          </a:xfrm>
          <a:prstGeom prst="rect">
            <a:avLst/>
          </a:prstGeom>
          <a:solidFill>
            <a:srgbClr val="FD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181344" y="1115568"/>
            <a:ext cx="5623560" cy="50292"/>
          </a:xfrm>
          <a:prstGeom prst="rect">
            <a:avLst/>
          </a:prstGeom>
          <a:solidFill>
            <a:srgbClr val="C96B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27648" y="1225295"/>
            <a:ext cx="5330952" cy="201168"/>
          </a:xfrm>
          <a:prstGeom prst="rect">
            <a:avLst/>
          </a:prstGeom>
          <a:noFill/>
        </p:spPr>
        <p:txBody>
          <a:bodyPr wrap="square" anchor="t" lIns="0" rIns="0" tIns="0" bIns="0"/>
          <a:lstStyle/>
          <a:p>
            <a:pPr algn="l">
              <a:spcBef>
                <a:spcPts val="0"/>
              </a:spcBef>
              <a:spcAft>
                <a:spcPts val="0"/>
              </a:spcAft>
            </a:pPr>
            <a:r>
              <a:rPr sz="1100" b="1" i="0">
                <a:solidFill>
                  <a:srgbClr val="C96B84"/>
                </a:solidFill>
                <a:latin typeface="Karla"/>
              </a:rPr>
              <a:t>LOWER-LIFT BUILD</a:t>
            </a:r>
          </a:p>
        </p:txBody>
      </p:sp>
      <p:pic>
        <p:nvPicPr>
          <p:cNvPr id="30" name="Picture 29" descr="A11-B3-C3-D1-E4-F3.png"/>
          <p:cNvPicPr>
            <a:picLocks noChangeAspect="1"/>
          </p:cNvPicPr>
          <p:nvPr/>
        </p:nvPicPr>
        <p:blipFill>
          <a:blip r:embed="rId3"/>
          <a:stretch>
            <a:fillRect/>
          </a:stretch>
        </p:blipFill>
        <p:spPr>
          <a:xfrm>
            <a:off x="6327648" y="1463040"/>
            <a:ext cx="1051560" cy="812037"/>
          </a:xfrm>
          <a:prstGeom prst="rect">
            <a:avLst/>
          </a:prstGeom>
        </p:spPr>
      </p:pic>
      <p:sp>
        <p:nvSpPr>
          <p:cNvPr id="31" name="TextBox 30"/>
          <p:cNvSpPr txBox="1"/>
          <p:nvPr/>
        </p:nvSpPr>
        <p:spPr>
          <a:xfrm>
            <a:off x="7580376" y="1499616"/>
            <a:ext cx="4078223" cy="438912"/>
          </a:xfrm>
          <a:prstGeom prst="rect">
            <a:avLst/>
          </a:prstGeom>
          <a:noFill/>
        </p:spPr>
        <p:txBody>
          <a:bodyPr wrap="square" anchor="t" lIns="0" rIns="0" tIns="0" bIns="0"/>
          <a:lstStyle/>
          <a:p>
            <a:pPr algn="l">
              <a:spcBef>
                <a:spcPts val="0"/>
              </a:spcBef>
              <a:spcAft>
                <a:spcPts val="0"/>
              </a:spcAft>
            </a:pPr>
            <a:r>
              <a:rPr sz="2800" b="1" i="0">
                <a:solidFill>
                  <a:srgbClr val="008935"/>
                </a:solidFill>
                <a:latin typeface="Karla"/>
              </a:rPr>
              <a:t>+61</a:t>
            </a:r>
          </a:p>
        </p:txBody>
      </p:sp>
      <p:sp>
        <p:nvSpPr>
          <p:cNvPr id="32" name="TextBox 31"/>
          <p:cNvSpPr txBox="1"/>
          <p:nvPr/>
        </p:nvSpPr>
        <p:spPr>
          <a:xfrm>
            <a:off x="7580376" y="1938528"/>
            <a:ext cx="4078223" cy="237744"/>
          </a:xfrm>
          <a:prstGeom prst="rect">
            <a:avLst/>
          </a:prstGeom>
          <a:noFill/>
        </p:spPr>
        <p:txBody>
          <a:bodyPr wrap="square" anchor="t" lIns="0" rIns="0" tIns="0" bIns="0"/>
          <a:lstStyle/>
          <a:p>
            <a:pPr algn="l">
              <a:spcBef>
                <a:spcPts val="0"/>
              </a:spcBef>
              <a:spcAft>
                <a:spcPts val="0"/>
              </a:spcAft>
            </a:pPr>
            <a:r>
              <a:rPr sz="1300" b="0" i="0">
                <a:solidFill>
                  <a:srgbClr val="617086"/>
                </a:solidFill>
                <a:latin typeface="Karla"/>
              </a:rPr>
              <a:t>Lift only, no separate base</a:t>
            </a:r>
          </a:p>
        </p:txBody>
      </p:sp>
      <p:sp>
        <p:nvSpPr>
          <p:cNvPr id="33" name="TextBox 32"/>
          <p:cNvSpPr txBox="1"/>
          <p:nvPr/>
        </p:nvSpPr>
        <p:spPr>
          <a:xfrm>
            <a:off x="6327648" y="2414016"/>
            <a:ext cx="1097280" cy="490727"/>
          </a:xfrm>
          <a:prstGeom prst="rect">
            <a:avLst/>
          </a:prstGeom>
          <a:noFill/>
        </p:spPr>
        <p:txBody>
          <a:bodyPr wrap="square" anchor="ctr" lIns="0" rIns="0" tIns="0" bIns="0"/>
          <a:lstStyle/>
          <a:p>
            <a:pPr algn="l">
              <a:spcBef>
                <a:spcPts val="0"/>
              </a:spcBef>
              <a:spcAft>
                <a:spcPts val="0"/>
              </a:spcAft>
            </a:pPr>
            <a:r>
              <a:rPr sz="1100" b="0" i="0">
                <a:solidFill>
                  <a:srgbClr val="617086"/>
                </a:solidFill>
                <a:latin typeface="Karla"/>
              </a:rPr>
              <a:t>A_Background</a:t>
            </a:r>
          </a:p>
        </p:txBody>
      </p:sp>
      <p:sp>
        <p:nvSpPr>
          <p:cNvPr id="34" name="TextBox 33"/>
          <p:cNvSpPr txBox="1"/>
          <p:nvPr/>
        </p:nvSpPr>
        <p:spPr>
          <a:xfrm>
            <a:off x="7498079" y="2414016"/>
            <a:ext cx="3502152" cy="490727"/>
          </a:xfrm>
          <a:prstGeom prst="rect">
            <a:avLst/>
          </a:prstGeom>
          <a:noFill/>
        </p:spPr>
        <p:txBody>
          <a:bodyPr wrap="square" anchor="ctr" lIns="0" rIns="0" tIns="0" bIns="0"/>
          <a:lstStyle/>
          <a:p>
            <a:pPr algn="l">
              <a:spcBef>
                <a:spcPts val="0"/>
              </a:spcBef>
              <a:spcAft>
                <a:spcPts val="0"/>
              </a:spcAft>
            </a:pPr>
            <a:r>
              <a:rPr sz="1300" b="0" i="0">
                <a:solidFill>
                  <a:srgbClr val="1E2D44"/>
                </a:solidFill>
                <a:latin typeface="Karla"/>
              </a:rPr>
              <a:t>D3 Yellow Wrapper</a:t>
            </a:r>
          </a:p>
        </p:txBody>
      </p:sp>
      <p:sp>
        <p:nvSpPr>
          <p:cNvPr id="35" name="TextBox 34"/>
          <p:cNvSpPr txBox="1"/>
          <p:nvPr/>
        </p:nvSpPr>
        <p:spPr>
          <a:xfrm>
            <a:off x="11036808" y="2414016"/>
            <a:ext cx="658368" cy="490727"/>
          </a:xfrm>
          <a:prstGeom prst="rect">
            <a:avLst/>
          </a:prstGeom>
          <a:noFill/>
        </p:spPr>
        <p:txBody>
          <a:bodyPr wrap="square" anchor="ctr" lIns="0" rIns="0" tIns="0" bIns="0"/>
          <a:lstStyle/>
          <a:p>
            <a:pPr algn="r">
              <a:spcBef>
                <a:spcPts val="0"/>
              </a:spcBef>
              <a:spcAft>
                <a:spcPts val="0"/>
              </a:spcAft>
            </a:pPr>
            <a:r>
              <a:rPr sz="1400" b="1" i="0">
                <a:solidFill>
                  <a:srgbClr val="008935"/>
                </a:solidFill>
                <a:latin typeface="Karla"/>
              </a:rPr>
              <a:t>+13</a:t>
            </a:r>
          </a:p>
        </p:txBody>
      </p:sp>
      <p:sp>
        <p:nvSpPr>
          <p:cNvPr id="36" name="Rectangle 35"/>
          <p:cNvSpPr/>
          <p:nvPr/>
        </p:nvSpPr>
        <p:spPr>
          <a:xfrm>
            <a:off x="6309359" y="2904744"/>
            <a:ext cx="5367528" cy="9144"/>
          </a:xfrm>
          <a:prstGeom prst="rect">
            <a:avLst/>
          </a:prstGeom>
          <a:solidFill>
            <a:srgbClr val="F0E6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27648" y="2904744"/>
            <a:ext cx="1097280" cy="490727"/>
          </a:xfrm>
          <a:prstGeom prst="rect">
            <a:avLst/>
          </a:prstGeom>
          <a:noFill/>
        </p:spPr>
        <p:txBody>
          <a:bodyPr wrap="square" anchor="ctr" lIns="0" rIns="0" tIns="0" bIns="0"/>
          <a:lstStyle/>
          <a:p>
            <a:pPr algn="l">
              <a:spcBef>
                <a:spcPts val="0"/>
              </a:spcBef>
              <a:spcAft>
                <a:spcPts val="0"/>
              </a:spcAft>
            </a:pPr>
            <a:r>
              <a:rPr sz="1100" b="0" i="0">
                <a:solidFill>
                  <a:srgbClr val="617086"/>
                </a:solidFill>
                <a:latin typeface="Karla"/>
              </a:rPr>
              <a:t>B_Cookie</a:t>
            </a:r>
          </a:p>
        </p:txBody>
      </p:sp>
      <p:sp>
        <p:nvSpPr>
          <p:cNvPr id="38" name="TextBox 37"/>
          <p:cNvSpPr txBox="1"/>
          <p:nvPr/>
        </p:nvSpPr>
        <p:spPr>
          <a:xfrm>
            <a:off x="7498079" y="2904744"/>
            <a:ext cx="3502152" cy="490727"/>
          </a:xfrm>
          <a:prstGeom prst="rect">
            <a:avLst/>
          </a:prstGeom>
          <a:noFill/>
        </p:spPr>
        <p:txBody>
          <a:bodyPr wrap="square" anchor="ctr" lIns="0" rIns="0" tIns="0" bIns="0"/>
          <a:lstStyle/>
          <a:p>
            <a:pPr algn="l">
              <a:spcBef>
                <a:spcPts val="0"/>
              </a:spcBef>
              <a:spcAft>
                <a:spcPts val="0"/>
              </a:spcAft>
            </a:pPr>
            <a:r>
              <a:rPr sz="1300" b="0" i="0">
                <a:solidFill>
                  <a:srgbClr val="1E2D44"/>
                </a:solidFill>
                <a:latin typeface="Karla"/>
              </a:rPr>
              <a:t>B03 Cookie Banana Filling Right Upper D2D3</a:t>
            </a:r>
          </a:p>
        </p:txBody>
      </p:sp>
      <p:sp>
        <p:nvSpPr>
          <p:cNvPr id="39" name="TextBox 38"/>
          <p:cNvSpPr txBox="1"/>
          <p:nvPr/>
        </p:nvSpPr>
        <p:spPr>
          <a:xfrm>
            <a:off x="11036808" y="2904744"/>
            <a:ext cx="658368" cy="490727"/>
          </a:xfrm>
          <a:prstGeom prst="rect">
            <a:avLst/>
          </a:prstGeom>
          <a:noFill/>
        </p:spPr>
        <p:txBody>
          <a:bodyPr wrap="square" anchor="ctr" lIns="0" rIns="0" tIns="0" bIns="0"/>
          <a:lstStyle/>
          <a:p>
            <a:pPr algn="r">
              <a:spcBef>
                <a:spcPts val="0"/>
              </a:spcBef>
              <a:spcAft>
                <a:spcPts val="0"/>
              </a:spcAft>
            </a:pPr>
            <a:r>
              <a:rPr sz="1400" b="1" i="0">
                <a:solidFill>
                  <a:srgbClr val="008935"/>
                </a:solidFill>
                <a:latin typeface="Karla"/>
              </a:rPr>
              <a:t>+21</a:t>
            </a:r>
          </a:p>
        </p:txBody>
      </p:sp>
      <p:sp>
        <p:nvSpPr>
          <p:cNvPr id="40" name="Rectangle 39"/>
          <p:cNvSpPr/>
          <p:nvPr/>
        </p:nvSpPr>
        <p:spPr>
          <a:xfrm>
            <a:off x="6309359" y="3395471"/>
            <a:ext cx="5367528" cy="9144"/>
          </a:xfrm>
          <a:prstGeom prst="rect">
            <a:avLst/>
          </a:prstGeom>
          <a:solidFill>
            <a:srgbClr val="F0E6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327648" y="3395471"/>
            <a:ext cx="1097280" cy="490727"/>
          </a:xfrm>
          <a:prstGeom prst="rect">
            <a:avLst/>
          </a:prstGeom>
          <a:noFill/>
        </p:spPr>
        <p:txBody>
          <a:bodyPr wrap="square" anchor="ctr" lIns="0" rIns="0" tIns="0" bIns="0"/>
          <a:lstStyle/>
          <a:p>
            <a:pPr algn="l">
              <a:spcBef>
                <a:spcPts val="0"/>
              </a:spcBef>
              <a:spcAft>
                <a:spcPts val="0"/>
              </a:spcAft>
            </a:pPr>
            <a:r>
              <a:rPr sz="1100" b="0" i="0">
                <a:solidFill>
                  <a:srgbClr val="617086"/>
                </a:solidFill>
                <a:latin typeface="Karla"/>
              </a:rPr>
              <a:t>C_Claim</a:t>
            </a:r>
          </a:p>
        </p:txBody>
      </p:sp>
      <p:sp>
        <p:nvSpPr>
          <p:cNvPr id="42" name="TextBox 41"/>
          <p:cNvSpPr txBox="1"/>
          <p:nvPr/>
        </p:nvSpPr>
        <p:spPr>
          <a:xfrm>
            <a:off x="7498079" y="3395471"/>
            <a:ext cx="3502152" cy="490727"/>
          </a:xfrm>
          <a:prstGeom prst="rect">
            <a:avLst/>
          </a:prstGeom>
          <a:noFill/>
        </p:spPr>
        <p:txBody>
          <a:bodyPr wrap="square" anchor="ctr" lIns="0" rIns="0" tIns="0" bIns="0"/>
          <a:lstStyle/>
          <a:p>
            <a:pPr algn="l">
              <a:spcBef>
                <a:spcPts val="0"/>
              </a:spcBef>
              <a:spcAft>
                <a:spcPts val="0"/>
              </a:spcAft>
            </a:pPr>
            <a:r>
              <a:rPr sz="1300" b="0" i="0">
                <a:solidFill>
                  <a:srgbClr val="1E2D44"/>
                </a:solidFill>
                <a:latin typeface="Karla"/>
              </a:rPr>
              <a:t>C03 Claim 33 Protein Only Bottom Centre D2D3</a:t>
            </a:r>
          </a:p>
        </p:txBody>
      </p:sp>
      <p:sp>
        <p:nvSpPr>
          <p:cNvPr id="43" name="TextBox 42"/>
          <p:cNvSpPr txBox="1"/>
          <p:nvPr/>
        </p:nvSpPr>
        <p:spPr>
          <a:xfrm>
            <a:off x="11036808" y="3395471"/>
            <a:ext cx="658368" cy="490727"/>
          </a:xfrm>
          <a:prstGeom prst="rect">
            <a:avLst/>
          </a:prstGeom>
          <a:noFill/>
        </p:spPr>
        <p:txBody>
          <a:bodyPr wrap="square" anchor="ctr" lIns="0" rIns="0" tIns="0" bIns="0"/>
          <a:lstStyle/>
          <a:p>
            <a:pPr algn="r">
              <a:spcBef>
                <a:spcPts val="0"/>
              </a:spcBef>
              <a:spcAft>
                <a:spcPts val="0"/>
              </a:spcAft>
            </a:pPr>
            <a:r>
              <a:rPr sz="1400" b="1" i="0">
                <a:solidFill>
                  <a:srgbClr val="008935"/>
                </a:solidFill>
                <a:latin typeface="Karla"/>
              </a:rPr>
              <a:t>+12</a:t>
            </a:r>
          </a:p>
        </p:txBody>
      </p:sp>
      <p:sp>
        <p:nvSpPr>
          <p:cNvPr id="44" name="Rectangle 43"/>
          <p:cNvSpPr/>
          <p:nvPr/>
        </p:nvSpPr>
        <p:spPr>
          <a:xfrm>
            <a:off x="6309359" y="3886200"/>
            <a:ext cx="5367528" cy="9144"/>
          </a:xfrm>
          <a:prstGeom prst="rect">
            <a:avLst/>
          </a:prstGeom>
          <a:solidFill>
            <a:srgbClr val="F0E6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327648" y="3886200"/>
            <a:ext cx="1097280" cy="490727"/>
          </a:xfrm>
          <a:prstGeom prst="rect">
            <a:avLst/>
          </a:prstGeom>
          <a:noFill/>
        </p:spPr>
        <p:txBody>
          <a:bodyPr wrap="square" anchor="ctr" lIns="0" rIns="0" tIns="0" bIns="0"/>
          <a:lstStyle/>
          <a:p>
            <a:pPr algn="l">
              <a:spcBef>
                <a:spcPts val="0"/>
              </a:spcBef>
              <a:spcAft>
                <a:spcPts val="0"/>
              </a:spcAft>
            </a:pPr>
            <a:r>
              <a:rPr sz="1100" b="0" i="0">
                <a:solidFill>
                  <a:srgbClr val="617086"/>
                </a:solidFill>
                <a:latin typeface="Karla"/>
              </a:rPr>
              <a:t>D_Logo</a:t>
            </a:r>
          </a:p>
        </p:txBody>
      </p:sp>
      <p:sp>
        <p:nvSpPr>
          <p:cNvPr id="46" name="TextBox 45"/>
          <p:cNvSpPr txBox="1"/>
          <p:nvPr/>
        </p:nvSpPr>
        <p:spPr>
          <a:xfrm>
            <a:off x="7498079" y="3886200"/>
            <a:ext cx="3502152" cy="490727"/>
          </a:xfrm>
          <a:prstGeom prst="rect">
            <a:avLst/>
          </a:prstGeom>
          <a:noFill/>
        </p:spPr>
        <p:txBody>
          <a:bodyPr wrap="square" anchor="ctr" lIns="0" rIns="0" tIns="0" bIns="0"/>
          <a:lstStyle/>
          <a:p>
            <a:pPr algn="l">
              <a:spcBef>
                <a:spcPts val="0"/>
              </a:spcBef>
              <a:spcAft>
                <a:spcPts val="0"/>
              </a:spcAft>
            </a:pPr>
            <a:r>
              <a:rPr sz="1300" b="0" i="0">
                <a:solidFill>
                  <a:srgbClr val="1E2D44"/>
                </a:solidFill>
                <a:latin typeface="Karla"/>
              </a:rPr>
              <a:t>D01 Logo Small Top Left D2</a:t>
            </a:r>
          </a:p>
        </p:txBody>
      </p:sp>
      <p:sp>
        <p:nvSpPr>
          <p:cNvPr id="47" name="TextBox 46"/>
          <p:cNvSpPr txBox="1"/>
          <p:nvPr/>
        </p:nvSpPr>
        <p:spPr>
          <a:xfrm>
            <a:off x="11036808" y="3886200"/>
            <a:ext cx="658368" cy="490727"/>
          </a:xfrm>
          <a:prstGeom prst="rect">
            <a:avLst/>
          </a:prstGeom>
          <a:noFill/>
        </p:spPr>
        <p:txBody>
          <a:bodyPr wrap="square" anchor="ctr" lIns="0" rIns="0" tIns="0" bIns="0"/>
          <a:lstStyle/>
          <a:p>
            <a:pPr algn="r">
              <a:spcBef>
                <a:spcPts val="0"/>
              </a:spcBef>
              <a:spcAft>
                <a:spcPts val="0"/>
              </a:spcAft>
            </a:pPr>
            <a:r>
              <a:rPr sz="1400" b="1" i="0">
                <a:solidFill>
                  <a:srgbClr val="008935"/>
                </a:solidFill>
                <a:latin typeface="Karla"/>
              </a:rPr>
              <a:t>+3</a:t>
            </a:r>
          </a:p>
        </p:txBody>
      </p:sp>
      <p:sp>
        <p:nvSpPr>
          <p:cNvPr id="48" name="Rectangle 47"/>
          <p:cNvSpPr/>
          <p:nvPr/>
        </p:nvSpPr>
        <p:spPr>
          <a:xfrm>
            <a:off x="6309359" y="4376928"/>
            <a:ext cx="5367528" cy="9144"/>
          </a:xfrm>
          <a:prstGeom prst="rect">
            <a:avLst/>
          </a:prstGeom>
          <a:solidFill>
            <a:srgbClr val="F0E6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327648" y="4376928"/>
            <a:ext cx="1097280" cy="490727"/>
          </a:xfrm>
          <a:prstGeom prst="rect">
            <a:avLst/>
          </a:prstGeom>
          <a:noFill/>
        </p:spPr>
        <p:txBody>
          <a:bodyPr wrap="square" anchor="ctr" lIns="0" rIns="0" tIns="0" bIns="0"/>
          <a:lstStyle/>
          <a:p>
            <a:pPr algn="l">
              <a:spcBef>
                <a:spcPts val="0"/>
              </a:spcBef>
              <a:spcAft>
                <a:spcPts val="0"/>
              </a:spcAft>
            </a:pPr>
            <a:r>
              <a:rPr sz="1100" b="0" i="0">
                <a:solidFill>
                  <a:srgbClr val="617086"/>
                </a:solidFill>
                <a:latin typeface="Karla"/>
              </a:rPr>
              <a:t>E_Flavour</a:t>
            </a:r>
          </a:p>
        </p:txBody>
      </p:sp>
      <p:sp>
        <p:nvSpPr>
          <p:cNvPr id="50" name="TextBox 49"/>
          <p:cNvSpPr txBox="1"/>
          <p:nvPr/>
        </p:nvSpPr>
        <p:spPr>
          <a:xfrm>
            <a:off x="7498079" y="4376928"/>
            <a:ext cx="3502152" cy="490727"/>
          </a:xfrm>
          <a:prstGeom prst="rect">
            <a:avLst/>
          </a:prstGeom>
          <a:noFill/>
        </p:spPr>
        <p:txBody>
          <a:bodyPr wrap="square" anchor="ctr" lIns="0" rIns="0" tIns="0" bIns="0"/>
          <a:lstStyle/>
          <a:p>
            <a:pPr algn="l">
              <a:spcBef>
                <a:spcPts val="0"/>
              </a:spcBef>
              <a:spcAft>
                <a:spcPts val="0"/>
              </a:spcAft>
            </a:pPr>
            <a:r>
              <a:rPr sz="1300" b="0" i="0">
                <a:solidFill>
                  <a:srgbClr val="1E2D44"/>
                </a:solidFill>
                <a:latin typeface="Karla"/>
              </a:rPr>
              <a:t>E04 Orange Chocolate Top Centre Dark Text D2D3 Panel</a:t>
            </a:r>
          </a:p>
        </p:txBody>
      </p:sp>
      <p:sp>
        <p:nvSpPr>
          <p:cNvPr id="51" name="TextBox 50"/>
          <p:cNvSpPr txBox="1"/>
          <p:nvPr/>
        </p:nvSpPr>
        <p:spPr>
          <a:xfrm>
            <a:off x="11036808" y="4376928"/>
            <a:ext cx="658368" cy="490727"/>
          </a:xfrm>
          <a:prstGeom prst="rect">
            <a:avLst/>
          </a:prstGeom>
          <a:noFill/>
        </p:spPr>
        <p:txBody>
          <a:bodyPr wrap="square" anchor="ctr" lIns="0" rIns="0" tIns="0" bIns="0"/>
          <a:lstStyle/>
          <a:p>
            <a:pPr algn="r">
              <a:spcBef>
                <a:spcPts val="0"/>
              </a:spcBef>
              <a:spcAft>
                <a:spcPts val="0"/>
              </a:spcAft>
            </a:pPr>
            <a:r>
              <a:rPr sz="1400" b="1" i="0">
                <a:solidFill>
                  <a:srgbClr val="008935"/>
                </a:solidFill>
                <a:latin typeface="Karla"/>
              </a:rPr>
              <a:t>+8</a:t>
            </a:r>
          </a:p>
        </p:txBody>
      </p:sp>
      <p:sp>
        <p:nvSpPr>
          <p:cNvPr id="52" name="Rectangle 51"/>
          <p:cNvSpPr/>
          <p:nvPr/>
        </p:nvSpPr>
        <p:spPr>
          <a:xfrm>
            <a:off x="6309359" y="4867655"/>
            <a:ext cx="5367528" cy="9144"/>
          </a:xfrm>
          <a:prstGeom prst="rect">
            <a:avLst/>
          </a:prstGeom>
          <a:solidFill>
            <a:srgbClr val="F0E6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327648" y="4867655"/>
            <a:ext cx="1097280" cy="490727"/>
          </a:xfrm>
          <a:prstGeom prst="rect">
            <a:avLst/>
          </a:prstGeom>
          <a:noFill/>
        </p:spPr>
        <p:txBody>
          <a:bodyPr wrap="square" anchor="ctr" lIns="0" rIns="0" tIns="0" bIns="0"/>
          <a:lstStyle/>
          <a:p>
            <a:pPr algn="l">
              <a:spcBef>
                <a:spcPts val="0"/>
              </a:spcBef>
              <a:spcAft>
                <a:spcPts val="0"/>
              </a:spcAft>
            </a:pPr>
            <a:r>
              <a:rPr sz="1100" b="0" i="0">
                <a:solidFill>
                  <a:srgbClr val="617086"/>
                </a:solidFill>
                <a:latin typeface="Karla"/>
              </a:rPr>
              <a:t>F_Gluten-free</a:t>
            </a:r>
          </a:p>
        </p:txBody>
      </p:sp>
      <p:sp>
        <p:nvSpPr>
          <p:cNvPr id="54" name="TextBox 53"/>
          <p:cNvSpPr txBox="1"/>
          <p:nvPr/>
        </p:nvSpPr>
        <p:spPr>
          <a:xfrm>
            <a:off x="7498079" y="4867655"/>
            <a:ext cx="3502152" cy="490727"/>
          </a:xfrm>
          <a:prstGeom prst="rect">
            <a:avLst/>
          </a:prstGeom>
          <a:noFill/>
        </p:spPr>
        <p:txBody>
          <a:bodyPr wrap="square" anchor="ctr" lIns="0" rIns="0" tIns="0" bIns="0"/>
          <a:lstStyle/>
          <a:p>
            <a:pPr algn="l">
              <a:spcBef>
                <a:spcPts val="0"/>
              </a:spcBef>
              <a:spcAft>
                <a:spcPts val="0"/>
              </a:spcAft>
            </a:pPr>
            <a:r>
              <a:rPr sz="1300" b="0" i="0">
                <a:solidFill>
                  <a:srgbClr val="1E2D44"/>
                </a:solidFill>
                <a:latin typeface="Karla"/>
              </a:rPr>
              <a:t>F03 Gluten Green Top Right</a:t>
            </a:r>
          </a:p>
        </p:txBody>
      </p:sp>
      <p:sp>
        <p:nvSpPr>
          <p:cNvPr id="55" name="TextBox 54"/>
          <p:cNvSpPr txBox="1"/>
          <p:nvPr/>
        </p:nvSpPr>
        <p:spPr>
          <a:xfrm>
            <a:off x="11036808" y="4867655"/>
            <a:ext cx="658368" cy="490727"/>
          </a:xfrm>
          <a:prstGeom prst="rect">
            <a:avLst/>
          </a:prstGeom>
          <a:noFill/>
        </p:spPr>
        <p:txBody>
          <a:bodyPr wrap="square" anchor="ctr" lIns="0" rIns="0" tIns="0" bIns="0"/>
          <a:lstStyle/>
          <a:p>
            <a:pPr algn="r">
              <a:spcBef>
                <a:spcPts val="0"/>
              </a:spcBef>
              <a:spcAft>
                <a:spcPts val="0"/>
              </a:spcAft>
            </a:pPr>
            <a:r>
              <a:rPr sz="1400" b="1" i="0">
                <a:solidFill>
                  <a:srgbClr val="008935"/>
                </a:solidFill>
                <a:latin typeface="Karla"/>
              </a:rPr>
              <a:t>+4</a:t>
            </a:r>
          </a:p>
        </p:txBody>
      </p:sp>
      <p:sp>
        <p:nvSpPr>
          <p:cNvPr id="56" name="Rounded Rectangle 55"/>
          <p:cNvSpPr/>
          <p:nvPr/>
        </p:nvSpPr>
        <p:spPr>
          <a:xfrm>
            <a:off x="384048" y="5559552"/>
            <a:ext cx="11420856" cy="475488"/>
          </a:xfrm>
          <a:prstGeom prst="roundRect">
            <a:avLst>
              <a:gd name="adj" fmla="val 8000"/>
            </a:avLst>
          </a:prstGeom>
          <a:solidFill>
            <a:srgbClr val="FC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66928" y="5559552"/>
            <a:ext cx="11064240" cy="475488"/>
          </a:xfrm>
          <a:prstGeom prst="rect">
            <a:avLst/>
          </a:prstGeom>
          <a:noFill/>
        </p:spPr>
        <p:txBody>
          <a:bodyPr wrap="square" anchor="ctr" lIns="0" rIns="0" tIns="0" bIns="0"/>
          <a:lstStyle/>
          <a:p>
            <a:pPr algn="l">
              <a:spcBef>
                <a:spcPts val="0"/>
              </a:spcBef>
              <a:spcAft>
                <a:spcPts val="0"/>
              </a:spcAft>
            </a:pPr>
            <a:r>
              <a:rPr sz="1400" b="0" i="0">
                <a:solidFill>
                  <a:srgbClr val="1E2D44"/>
                </a:solidFill>
                <a:latin typeface="Karla"/>
              </a:rPr>
              <a:t>The higher-lift build leads by +15 points. This model has no intercept, so the totals are the element lifts. Pairing rules keep the higher coefficient when two elements cannot share a pack.</a:t>
            </a:r>
          </a:p>
        </p:txBody>
      </p:sp>
      <p:sp>
        <p:nvSpPr>
          <p:cNvPr id="58" name="Rectangle 57"/>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n=150 respondents.  Top-2 Box model (ratings 4–5): element lifts show movement above or below the model baseline.</a:t>
            </a:r>
          </a:p>
        </p:txBody>
      </p:sp>
      <p:sp>
        <p:nvSpPr>
          <p:cNvPr id="60" name="TextBox 59"/>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92</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6F8"/>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606040"/>
            <a:ext cx="10058400" cy="1005840"/>
          </a:xfrm>
          <a:prstGeom prst="rect">
            <a:avLst/>
          </a:prstGeom>
          <a:noFill/>
        </p:spPr>
        <p:txBody>
          <a:bodyPr wrap="square" anchor="t"/>
          <a:lstStyle/>
          <a:p>
            <a:pPr algn="l">
              <a:spcAft>
                <a:spcPts val="400"/>
              </a:spcAft>
            </a:pPr>
            <a:r>
              <a:rPr sz="5400" b="1" i="0">
                <a:solidFill>
                  <a:srgbClr val="1E2D44"/>
                </a:solidFill>
                <a:latin typeface="Karla"/>
              </a:rPr>
              <a:t>Appendix</a:t>
            </a:r>
          </a:p>
        </p:txBody>
      </p:sp>
      <p:sp>
        <p:nvSpPr>
          <p:cNvPr id="4" name="Rectangle 3"/>
          <p:cNvSpPr/>
          <p:nvPr/>
        </p:nvSpPr>
        <p:spPr>
          <a:xfrm>
            <a:off x="822960" y="3794760"/>
            <a:ext cx="1280160" cy="5486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56032"/>
            <a:ext cx="10972800" cy="256032"/>
          </a:xfrm>
          <a:prstGeom prst="rect">
            <a:avLst/>
          </a:prstGeom>
          <a:noFill/>
        </p:spPr>
        <p:txBody>
          <a:bodyPr wrap="square" anchor="t"/>
          <a:lstStyle/>
          <a:p>
            <a:pPr algn="l">
              <a:spcAft>
                <a:spcPts val="400"/>
              </a:spcAft>
            </a:pPr>
            <a:r>
              <a:rPr sz="1200" b="1" i="0">
                <a:solidFill>
                  <a:srgbClr val="04746E"/>
                </a:solidFill>
                <a:latin typeface="Karla"/>
              </a:rPr>
              <a:t>APPENDIX  ·  FULL ELEMENT LIFT SUMMARY</a:t>
            </a:r>
          </a:p>
        </p:txBody>
      </p:sp>
      <p:sp>
        <p:nvSpPr>
          <p:cNvPr id="3" name="TextBox 2"/>
          <p:cNvSpPr txBox="1"/>
          <p:nvPr/>
        </p:nvSpPr>
        <p:spPr>
          <a:xfrm>
            <a:off x="566928" y="658368"/>
            <a:ext cx="10972800" cy="457200"/>
          </a:xfrm>
          <a:prstGeom prst="rect">
            <a:avLst/>
          </a:prstGeom>
          <a:noFill/>
        </p:spPr>
        <p:txBody>
          <a:bodyPr wrap="square" anchor="t"/>
          <a:lstStyle/>
          <a:p>
            <a:pPr algn="l">
              <a:spcAft>
                <a:spcPts val="400"/>
              </a:spcAft>
            </a:pPr>
            <a:r>
              <a:rPr sz="3000" b="1" i="0">
                <a:solidFill>
                  <a:srgbClr val="1E2D44"/>
                </a:solidFill>
                <a:latin typeface="Karla"/>
              </a:rPr>
              <a:t>Every element, same model</a:t>
            </a:r>
          </a:p>
        </p:txBody>
      </p:sp>
      <p:sp>
        <p:nvSpPr>
          <p:cNvPr id="4" name="TextBox 3"/>
          <p:cNvSpPr txBox="1"/>
          <p:nvPr/>
        </p:nvSpPr>
        <p:spPr>
          <a:xfrm>
            <a:off x="566928" y="1234440"/>
            <a:ext cx="10972800" cy="640080"/>
          </a:xfrm>
          <a:prstGeom prst="rect">
            <a:avLst/>
          </a:prstGeom>
          <a:noFill/>
        </p:spPr>
        <p:txBody>
          <a:bodyPr wrap="square" anchor="t"/>
          <a:lstStyle/>
          <a:p>
            <a:pPr algn="l">
              <a:spcAft>
                <a:spcPts val="400"/>
              </a:spcAft>
            </a:pPr>
            <a:r>
              <a:rPr sz="1600" b="0" i="0">
                <a:solidFill>
                  <a:srgbClr val="617086"/>
                </a:solidFill>
                <a:latin typeface="Karla"/>
              </a:rPr>
              <a:t>Scores are Top-2 Box coefficients (ratings 4–5), rounded the same way as the charts. Green is lift above the baseline. Red is lift below it. A star means the coefficient cleared the study threshold.</a:t>
            </a:r>
          </a:p>
        </p:txBody>
      </p:sp>
      <p:sp>
        <p:nvSpPr>
          <p:cNvPr id="5" name="Rounded Rectangle 4"/>
          <p:cNvSpPr/>
          <p:nvPr/>
        </p:nvSpPr>
        <p:spPr>
          <a:xfrm>
            <a:off x="566928" y="2103120"/>
            <a:ext cx="3474720" cy="1371600"/>
          </a:xfrm>
          <a:prstGeom prst="roundRect">
            <a:avLst>
              <a:gd name="adj" fmla="val 8000"/>
            </a:avLst>
          </a:prstGeom>
          <a:solidFill>
            <a:srgbClr val="F8EA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240280"/>
            <a:ext cx="3108960" cy="640080"/>
          </a:xfrm>
          <a:prstGeom prst="rect">
            <a:avLst/>
          </a:prstGeom>
          <a:noFill/>
        </p:spPr>
        <p:txBody>
          <a:bodyPr wrap="square" anchor="t"/>
          <a:lstStyle/>
          <a:p>
            <a:pPr algn="l">
              <a:spcAft>
                <a:spcPts val="400"/>
              </a:spcAft>
            </a:pPr>
            <a:r>
              <a:rPr sz="3200" b="1" i="0">
                <a:solidFill>
                  <a:srgbClr val="1E2D44"/>
                </a:solidFill>
                <a:latin typeface="Karla"/>
              </a:rPr>
              <a:t>No intercept</a:t>
            </a:r>
          </a:p>
        </p:txBody>
      </p:sp>
      <p:sp>
        <p:nvSpPr>
          <p:cNvPr id="7" name="TextBox 6"/>
          <p:cNvSpPr txBox="1"/>
          <p:nvPr/>
        </p:nvSpPr>
        <p:spPr>
          <a:xfrm>
            <a:off x="777240" y="2926080"/>
            <a:ext cx="3108960" cy="320040"/>
          </a:xfrm>
          <a:prstGeom prst="rect">
            <a:avLst/>
          </a:prstGeom>
          <a:noFill/>
        </p:spPr>
        <p:txBody>
          <a:bodyPr wrap="square" anchor="t"/>
          <a:lstStyle/>
          <a:p>
            <a:pPr algn="l">
              <a:spcAft>
                <a:spcPts val="400"/>
              </a:spcAft>
            </a:pPr>
            <a:r>
              <a:rPr sz="1400" b="0" i="0">
                <a:solidFill>
                  <a:srgbClr val="617086"/>
                </a:solidFill>
                <a:latin typeface="Karla"/>
              </a:rPr>
              <a:t>Base appeal</a:t>
            </a:r>
          </a:p>
        </p:txBody>
      </p:sp>
      <p:sp>
        <p:nvSpPr>
          <p:cNvPr id="8" name="Rounded Rectangle 7"/>
          <p:cNvSpPr/>
          <p:nvPr/>
        </p:nvSpPr>
        <p:spPr>
          <a:xfrm>
            <a:off x="4251960" y="2103120"/>
            <a:ext cx="3474720" cy="1371600"/>
          </a:xfrm>
          <a:prstGeom prst="roundRect">
            <a:avLst>
              <a:gd name="adj" fmla="val 8000"/>
            </a:avLst>
          </a:prstGeom>
          <a:solidFill>
            <a:srgbClr val="F8EA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80560" y="2240280"/>
            <a:ext cx="3108960" cy="640080"/>
          </a:xfrm>
          <a:prstGeom prst="rect">
            <a:avLst/>
          </a:prstGeom>
          <a:noFill/>
        </p:spPr>
        <p:txBody>
          <a:bodyPr wrap="square" anchor="t"/>
          <a:lstStyle/>
          <a:p>
            <a:pPr algn="l">
              <a:spcAft>
                <a:spcPts val="400"/>
              </a:spcAft>
            </a:pPr>
            <a:r>
              <a:rPr sz="3200" b="1" i="0">
                <a:solidFill>
                  <a:srgbClr val="1E2D44"/>
                </a:solidFill>
                <a:latin typeface="Karla"/>
              </a:rPr>
              <a:t>6</a:t>
            </a:r>
          </a:p>
        </p:txBody>
      </p:sp>
      <p:sp>
        <p:nvSpPr>
          <p:cNvPr id="10" name="TextBox 9"/>
          <p:cNvSpPr txBox="1"/>
          <p:nvPr/>
        </p:nvSpPr>
        <p:spPr>
          <a:xfrm>
            <a:off x="4480560" y="2926080"/>
            <a:ext cx="3108960" cy="320040"/>
          </a:xfrm>
          <a:prstGeom prst="rect">
            <a:avLst/>
          </a:prstGeom>
          <a:noFill/>
        </p:spPr>
        <p:txBody>
          <a:bodyPr wrap="square" anchor="t"/>
          <a:lstStyle/>
          <a:p>
            <a:pPr algn="l">
              <a:spcAft>
                <a:spcPts val="400"/>
              </a:spcAft>
            </a:pPr>
            <a:r>
              <a:rPr sz="1400" b="0" i="0">
                <a:solidFill>
                  <a:srgbClr val="617086"/>
                </a:solidFill>
                <a:latin typeface="Karla"/>
              </a:rPr>
              <a:t>Silos in the tables</a:t>
            </a:r>
          </a:p>
        </p:txBody>
      </p:sp>
      <p:sp>
        <p:nvSpPr>
          <p:cNvPr id="11" name="Rounded Rectangle 10"/>
          <p:cNvSpPr/>
          <p:nvPr/>
        </p:nvSpPr>
        <p:spPr>
          <a:xfrm>
            <a:off x="7936992" y="2103120"/>
            <a:ext cx="3611880" cy="1371600"/>
          </a:xfrm>
          <a:prstGeom prst="roundRect">
            <a:avLst>
              <a:gd name="adj" fmla="val 8000"/>
            </a:avLst>
          </a:prstGeom>
          <a:solidFill>
            <a:srgbClr val="F8EA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38160" y="2240280"/>
            <a:ext cx="3200400" cy="640080"/>
          </a:xfrm>
          <a:prstGeom prst="rect">
            <a:avLst/>
          </a:prstGeom>
          <a:noFill/>
        </p:spPr>
        <p:txBody>
          <a:bodyPr wrap="square" anchor="t"/>
          <a:lstStyle/>
          <a:p>
            <a:pPr algn="l">
              <a:spcAft>
                <a:spcPts val="400"/>
              </a:spcAft>
            </a:pPr>
            <a:r>
              <a:rPr sz="3200" b="1" i="0">
                <a:solidFill>
                  <a:srgbClr val="1E2D44"/>
                </a:solidFill>
                <a:latin typeface="Karla"/>
              </a:rPr>
              <a:t>47</a:t>
            </a:r>
          </a:p>
        </p:txBody>
      </p:sp>
      <p:sp>
        <p:nvSpPr>
          <p:cNvPr id="13" name="TextBox 12"/>
          <p:cNvSpPr txBox="1"/>
          <p:nvPr/>
        </p:nvSpPr>
        <p:spPr>
          <a:xfrm>
            <a:off x="8138160" y="2926080"/>
            <a:ext cx="3200400" cy="320040"/>
          </a:xfrm>
          <a:prstGeom prst="rect">
            <a:avLst/>
          </a:prstGeom>
          <a:noFill/>
        </p:spPr>
        <p:txBody>
          <a:bodyPr wrap="square" anchor="t"/>
          <a:lstStyle/>
          <a:p>
            <a:pPr algn="l">
              <a:spcAft>
                <a:spcPts val="400"/>
              </a:spcAft>
            </a:pPr>
            <a:r>
              <a:rPr sz="1400" b="0" i="0">
                <a:solidFill>
                  <a:srgbClr val="617086"/>
                </a:solidFill>
                <a:latin typeface="Karla"/>
              </a:rPr>
              <a:t>Elements scored</a:t>
            </a:r>
          </a:p>
        </p:txBody>
      </p:sp>
      <p:sp>
        <p:nvSpPr>
          <p:cNvPr id="14" name="Rectangle 13"/>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n=150 respondents.  Top-2 Box model (ratings 4–5): element lifts show movement above or below the model baseline.</a:t>
            </a:r>
          </a:p>
        </p:txBody>
      </p:sp>
      <p:sp>
        <p:nvSpPr>
          <p:cNvPr id="16" name="TextBox 15"/>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94</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56032"/>
            <a:ext cx="10972800" cy="256032"/>
          </a:xfrm>
          <a:prstGeom prst="rect">
            <a:avLst/>
          </a:prstGeom>
          <a:noFill/>
        </p:spPr>
        <p:txBody>
          <a:bodyPr wrap="square" anchor="t"/>
          <a:lstStyle/>
          <a:p>
            <a:pPr algn="l">
              <a:spcAft>
                <a:spcPts val="400"/>
              </a:spcAft>
            </a:pPr>
            <a:r>
              <a:rPr sz="1200" b="1" i="0">
                <a:solidFill>
                  <a:srgbClr val="04746E"/>
                </a:solidFill>
                <a:latin typeface="Karla"/>
              </a:rPr>
              <a:t>FULL ELEMENT LIFT SUMMARY</a:t>
            </a:r>
          </a:p>
        </p:txBody>
      </p:sp>
      <p:sp>
        <p:nvSpPr>
          <p:cNvPr id="3" name="TextBox 2"/>
          <p:cNvSpPr txBox="1"/>
          <p:nvPr/>
        </p:nvSpPr>
        <p:spPr>
          <a:xfrm>
            <a:off x="438912" y="475488"/>
            <a:ext cx="11247120" cy="365760"/>
          </a:xfrm>
          <a:prstGeom prst="rect">
            <a:avLst/>
          </a:prstGeom>
          <a:noFill/>
        </p:spPr>
        <p:txBody>
          <a:bodyPr wrap="square" anchor="t"/>
          <a:lstStyle/>
          <a:p>
            <a:pPr algn="l">
              <a:spcAft>
                <a:spcPts val="400"/>
              </a:spcAft>
            </a:pPr>
            <a:r>
              <a:rPr sz="2800" b="1" i="0">
                <a:solidFill>
                  <a:srgbClr val="1E2D44"/>
                </a:solidFill>
                <a:latin typeface="Karla"/>
              </a:rPr>
              <a:t>A_Background   ·   1 of 2</a:t>
            </a:r>
          </a:p>
        </p:txBody>
      </p:sp>
      <p:sp>
        <p:nvSpPr>
          <p:cNvPr id="4" name="Rectangle 3"/>
          <p:cNvSpPr/>
          <p:nvPr/>
        </p:nvSpPr>
        <p:spPr>
          <a:xfrm>
            <a:off x="502920" y="1024128"/>
            <a:ext cx="7863840" cy="274320"/>
          </a:xfrm>
          <a:prstGeom prst="rect">
            <a:avLst/>
          </a:prstGeom>
          <a:solidFill>
            <a:srgbClr val="F4E0E7"/>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200" b="1">
                <a:solidFill>
                  <a:srgbClr val="1E2D44"/>
                </a:solidFill>
                <a:latin typeface="Karla"/>
              </a:rPr>
              <a:t>A_BACKGROUND PREFERENCES</a:t>
            </a:r>
          </a:p>
        </p:txBody>
      </p:sp>
      <p:sp>
        <p:nvSpPr>
          <p:cNvPr id="5" name="Rectangle 4"/>
          <p:cNvSpPr/>
          <p:nvPr/>
        </p:nvSpPr>
        <p:spPr>
          <a:xfrm>
            <a:off x="2697480" y="1353312"/>
            <a:ext cx="9144" cy="4251960"/>
          </a:xfrm>
          <a:prstGeom prst="rect">
            <a:avLst/>
          </a:prstGeom>
          <a:solidFill>
            <a:srgbClr val="E6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624328" y="5623560"/>
            <a:ext cx="585216" cy="219456"/>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7" name="Rectangle 6"/>
          <p:cNvSpPr/>
          <p:nvPr/>
        </p:nvSpPr>
        <p:spPr>
          <a:xfrm>
            <a:off x="4568951" y="1353312"/>
            <a:ext cx="9144" cy="4251960"/>
          </a:xfrm>
          <a:prstGeom prst="rect">
            <a:avLst/>
          </a:prstGeom>
          <a:solidFill>
            <a:srgbClr val="E6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76343" y="5623560"/>
            <a:ext cx="585216" cy="219456"/>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9" name="Rectangle 8"/>
          <p:cNvSpPr/>
          <p:nvPr/>
        </p:nvSpPr>
        <p:spPr>
          <a:xfrm>
            <a:off x="6440424" y="1353312"/>
            <a:ext cx="9144" cy="4251960"/>
          </a:xfrm>
          <a:prstGeom prst="rect">
            <a:avLst/>
          </a:prstGeom>
          <a:solidFill>
            <a:srgbClr val="E6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47815" y="5623560"/>
            <a:ext cx="585216" cy="219456"/>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1" name="Rectangle 10"/>
          <p:cNvSpPr/>
          <p:nvPr/>
        </p:nvSpPr>
        <p:spPr>
          <a:xfrm>
            <a:off x="8311896" y="1353312"/>
            <a:ext cx="9144" cy="4251960"/>
          </a:xfrm>
          <a:prstGeom prst="rect">
            <a:avLst/>
          </a:prstGeom>
          <a:solidFill>
            <a:srgbClr val="E6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99831" y="5623560"/>
            <a:ext cx="585216" cy="219456"/>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30</a:t>
            </a:r>
          </a:p>
        </p:txBody>
      </p:sp>
      <p:sp>
        <p:nvSpPr>
          <p:cNvPr id="13" name="Rectangle 12"/>
          <p:cNvSpPr/>
          <p:nvPr/>
        </p:nvSpPr>
        <p:spPr>
          <a:xfrm>
            <a:off x="2697480" y="1353312"/>
            <a:ext cx="13716" cy="4251960"/>
          </a:xfrm>
          <a:prstGeom prst="rect">
            <a:avLst/>
          </a:prstGeom>
          <a:solidFill>
            <a:srgbClr val="B9C1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97480" y="5605272"/>
            <a:ext cx="5614416" cy="10972"/>
          </a:xfrm>
          <a:prstGeom prst="rect">
            <a:avLst/>
          </a:prstGeom>
          <a:solidFill>
            <a:srgbClr val="B9C1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97480" y="1490319"/>
            <a:ext cx="3368649" cy="19842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30137" y="1353312"/>
            <a:ext cx="512064" cy="472440"/>
          </a:xfrm>
          <a:prstGeom prst="rect">
            <a:avLst/>
          </a:prstGeom>
          <a:noFill/>
        </p:spPr>
        <p:txBody>
          <a:bodyPr wrap="none" anchor="ctr" lIns="0" rIns="0" tIns="0" bIns="0"/>
          <a:lstStyle/>
          <a:p>
            <a:pPr algn="l">
              <a:spcBef>
                <a:spcPts val="0"/>
              </a:spcBef>
              <a:spcAft>
                <a:spcPts val="0"/>
              </a:spcAft>
            </a:pPr>
            <a:r>
              <a:rPr sz="1200" b="1" i="0">
                <a:solidFill>
                  <a:srgbClr val="008935"/>
                </a:solidFill>
                <a:latin typeface="Karla"/>
              </a:rPr>
              <a:t>+18</a:t>
            </a:r>
          </a:p>
        </p:txBody>
      </p:sp>
      <p:sp>
        <p:nvSpPr>
          <p:cNvPr id="17" name="Rectangle 16"/>
          <p:cNvSpPr/>
          <p:nvPr/>
        </p:nvSpPr>
        <p:spPr>
          <a:xfrm>
            <a:off x="2082849" y="1377238"/>
            <a:ext cx="532334" cy="42458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A6.png"/>
          <p:cNvPicPr>
            <a:picLocks noChangeAspect="1"/>
          </p:cNvPicPr>
          <p:nvPr/>
        </p:nvPicPr>
        <p:blipFill>
          <a:blip r:embed="rId2"/>
          <a:stretch>
            <a:fillRect/>
          </a:stretch>
        </p:blipFill>
        <p:spPr>
          <a:xfrm>
            <a:off x="2091993" y="1386382"/>
            <a:ext cx="514046" cy="406298"/>
          </a:xfrm>
          <a:prstGeom prst="rect">
            <a:avLst/>
          </a:prstGeom>
        </p:spPr>
      </p:pic>
      <p:sp>
        <p:nvSpPr>
          <p:cNvPr id="19" name="Rectangle 18"/>
          <p:cNvSpPr/>
          <p:nvPr/>
        </p:nvSpPr>
        <p:spPr>
          <a:xfrm>
            <a:off x="2697480" y="1962759"/>
            <a:ext cx="3368649" cy="19842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30137" y="1825752"/>
            <a:ext cx="512064" cy="472440"/>
          </a:xfrm>
          <a:prstGeom prst="rect">
            <a:avLst/>
          </a:prstGeom>
          <a:noFill/>
        </p:spPr>
        <p:txBody>
          <a:bodyPr wrap="none" anchor="ctr" lIns="0" rIns="0" tIns="0" bIns="0"/>
          <a:lstStyle/>
          <a:p>
            <a:pPr algn="l">
              <a:spcBef>
                <a:spcPts val="0"/>
              </a:spcBef>
              <a:spcAft>
                <a:spcPts val="0"/>
              </a:spcAft>
            </a:pPr>
            <a:r>
              <a:rPr sz="1200" b="1" i="0">
                <a:solidFill>
                  <a:srgbClr val="008935"/>
                </a:solidFill>
                <a:latin typeface="Karla"/>
              </a:rPr>
              <a:t>+18</a:t>
            </a:r>
          </a:p>
        </p:txBody>
      </p:sp>
      <p:sp>
        <p:nvSpPr>
          <p:cNvPr id="21" name="Rectangle 20"/>
          <p:cNvSpPr/>
          <p:nvPr/>
        </p:nvSpPr>
        <p:spPr>
          <a:xfrm>
            <a:off x="2082849" y="1849678"/>
            <a:ext cx="532334" cy="42458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A9.png"/>
          <p:cNvPicPr>
            <a:picLocks noChangeAspect="1"/>
          </p:cNvPicPr>
          <p:nvPr/>
        </p:nvPicPr>
        <p:blipFill>
          <a:blip r:embed="rId3"/>
          <a:stretch>
            <a:fillRect/>
          </a:stretch>
        </p:blipFill>
        <p:spPr>
          <a:xfrm>
            <a:off x="2091993" y="1858822"/>
            <a:ext cx="514046" cy="406298"/>
          </a:xfrm>
          <a:prstGeom prst="rect">
            <a:avLst/>
          </a:prstGeom>
        </p:spPr>
      </p:pic>
      <p:sp>
        <p:nvSpPr>
          <p:cNvPr id="23" name="Rectangle 22"/>
          <p:cNvSpPr/>
          <p:nvPr/>
        </p:nvSpPr>
        <p:spPr>
          <a:xfrm>
            <a:off x="2697480" y="2435199"/>
            <a:ext cx="3181502" cy="19842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42990" y="2298192"/>
            <a:ext cx="512064" cy="472440"/>
          </a:xfrm>
          <a:prstGeom prst="rect">
            <a:avLst/>
          </a:prstGeom>
          <a:noFill/>
        </p:spPr>
        <p:txBody>
          <a:bodyPr wrap="none" anchor="ctr" lIns="0" rIns="0" tIns="0" bIns="0"/>
          <a:lstStyle/>
          <a:p>
            <a:pPr algn="l">
              <a:spcBef>
                <a:spcPts val="0"/>
              </a:spcBef>
              <a:spcAft>
                <a:spcPts val="0"/>
              </a:spcAft>
            </a:pPr>
            <a:r>
              <a:rPr sz="1200" b="1" i="0">
                <a:solidFill>
                  <a:srgbClr val="008935"/>
                </a:solidFill>
                <a:latin typeface="Karla"/>
              </a:rPr>
              <a:t>+17</a:t>
            </a:r>
          </a:p>
        </p:txBody>
      </p:sp>
      <p:sp>
        <p:nvSpPr>
          <p:cNvPr id="25" name="Rectangle 24"/>
          <p:cNvSpPr/>
          <p:nvPr/>
        </p:nvSpPr>
        <p:spPr>
          <a:xfrm>
            <a:off x="2082849" y="2322118"/>
            <a:ext cx="532334" cy="42458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A7.png"/>
          <p:cNvPicPr>
            <a:picLocks noChangeAspect="1"/>
          </p:cNvPicPr>
          <p:nvPr/>
        </p:nvPicPr>
        <p:blipFill>
          <a:blip r:embed="rId4"/>
          <a:stretch>
            <a:fillRect/>
          </a:stretch>
        </p:blipFill>
        <p:spPr>
          <a:xfrm>
            <a:off x="2091993" y="2331262"/>
            <a:ext cx="514046" cy="406298"/>
          </a:xfrm>
          <a:prstGeom prst="rect">
            <a:avLst/>
          </a:prstGeom>
        </p:spPr>
      </p:pic>
      <p:sp>
        <p:nvSpPr>
          <p:cNvPr id="27" name="Rectangle 26"/>
          <p:cNvSpPr/>
          <p:nvPr/>
        </p:nvSpPr>
        <p:spPr>
          <a:xfrm>
            <a:off x="2697480" y="2907639"/>
            <a:ext cx="3181502" cy="19842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942990" y="2770632"/>
            <a:ext cx="512064" cy="472440"/>
          </a:xfrm>
          <a:prstGeom prst="rect">
            <a:avLst/>
          </a:prstGeom>
          <a:noFill/>
        </p:spPr>
        <p:txBody>
          <a:bodyPr wrap="none" anchor="ctr" lIns="0" rIns="0" tIns="0" bIns="0"/>
          <a:lstStyle/>
          <a:p>
            <a:pPr algn="l">
              <a:spcBef>
                <a:spcPts val="0"/>
              </a:spcBef>
              <a:spcAft>
                <a:spcPts val="0"/>
              </a:spcAft>
            </a:pPr>
            <a:r>
              <a:rPr sz="1200" b="1" i="0">
                <a:solidFill>
                  <a:srgbClr val="008935"/>
                </a:solidFill>
                <a:latin typeface="Karla"/>
              </a:rPr>
              <a:t>+17</a:t>
            </a:r>
          </a:p>
        </p:txBody>
      </p:sp>
      <p:sp>
        <p:nvSpPr>
          <p:cNvPr id="29" name="Rectangle 28"/>
          <p:cNvSpPr/>
          <p:nvPr/>
        </p:nvSpPr>
        <p:spPr>
          <a:xfrm>
            <a:off x="2082849" y="2794558"/>
            <a:ext cx="532334" cy="42458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A8.png"/>
          <p:cNvPicPr>
            <a:picLocks noChangeAspect="1"/>
          </p:cNvPicPr>
          <p:nvPr/>
        </p:nvPicPr>
        <p:blipFill>
          <a:blip r:embed="rId5"/>
          <a:stretch>
            <a:fillRect/>
          </a:stretch>
        </p:blipFill>
        <p:spPr>
          <a:xfrm>
            <a:off x="2091993" y="2803702"/>
            <a:ext cx="514046" cy="406298"/>
          </a:xfrm>
          <a:prstGeom prst="rect">
            <a:avLst/>
          </a:prstGeom>
        </p:spPr>
      </p:pic>
      <p:sp>
        <p:nvSpPr>
          <p:cNvPr id="31" name="Rectangle 30"/>
          <p:cNvSpPr/>
          <p:nvPr/>
        </p:nvSpPr>
        <p:spPr>
          <a:xfrm>
            <a:off x="2697480" y="3380079"/>
            <a:ext cx="2994355" cy="19842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755843" y="3243072"/>
            <a:ext cx="512064" cy="472440"/>
          </a:xfrm>
          <a:prstGeom prst="rect">
            <a:avLst/>
          </a:prstGeom>
          <a:noFill/>
        </p:spPr>
        <p:txBody>
          <a:bodyPr wrap="none" anchor="ctr" lIns="0" rIns="0" tIns="0" bIns="0"/>
          <a:lstStyle/>
          <a:p>
            <a:pPr algn="l">
              <a:spcBef>
                <a:spcPts val="0"/>
              </a:spcBef>
              <a:spcAft>
                <a:spcPts val="0"/>
              </a:spcAft>
            </a:pPr>
            <a:r>
              <a:rPr sz="1200" b="1" i="0">
                <a:solidFill>
                  <a:srgbClr val="008935"/>
                </a:solidFill>
                <a:latin typeface="Karla"/>
              </a:rPr>
              <a:t>+16</a:t>
            </a:r>
          </a:p>
        </p:txBody>
      </p:sp>
      <p:sp>
        <p:nvSpPr>
          <p:cNvPr id="33" name="Rectangle 32"/>
          <p:cNvSpPr/>
          <p:nvPr/>
        </p:nvSpPr>
        <p:spPr>
          <a:xfrm>
            <a:off x="2082849" y="3266998"/>
            <a:ext cx="532334" cy="42458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A5.png"/>
          <p:cNvPicPr>
            <a:picLocks noChangeAspect="1"/>
          </p:cNvPicPr>
          <p:nvPr/>
        </p:nvPicPr>
        <p:blipFill>
          <a:blip r:embed="rId6"/>
          <a:stretch>
            <a:fillRect/>
          </a:stretch>
        </p:blipFill>
        <p:spPr>
          <a:xfrm>
            <a:off x="2091993" y="3276142"/>
            <a:ext cx="514046" cy="406298"/>
          </a:xfrm>
          <a:prstGeom prst="rect">
            <a:avLst/>
          </a:prstGeom>
        </p:spPr>
      </p:pic>
      <p:sp>
        <p:nvSpPr>
          <p:cNvPr id="35" name="Rectangle 34"/>
          <p:cNvSpPr/>
          <p:nvPr/>
        </p:nvSpPr>
        <p:spPr>
          <a:xfrm>
            <a:off x="2697480" y="3852519"/>
            <a:ext cx="2994355" cy="19842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755843" y="3715512"/>
            <a:ext cx="512064" cy="472440"/>
          </a:xfrm>
          <a:prstGeom prst="rect">
            <a:avLst/>
          </a:prstGeom>
          <a:noFill/>
        </p:spPr>
        <p:txBody>
          <a:bodyPr wrap="none" anchor="ctr" lIns="0" rIns="0" tIns="0" bIns="0"/>
          <a:lstStyle/>
          <a:p>
            <a:pPr algn="l">
              <a:spcBef>
                <a:spcPts val="0"/>
              </a:spcBef>
              <a:spcAft>
                <a:spcPts val="0"/>
              </a:spcAft>
            </a:pPr>
            <a:r>
              <a:rPr sz="1200" b="1" i="0">
                <a:solidFill>
                  <a:srgbClr val="008935"/>
                </a:solidFill>
                <a:latin typeface="Karla"/>
              </a:rPr>
              <a:t>+16</a:t>
            </a:r>
          </a:p>
        </p:txBody>
      </p:sp>
      <p:sp>
        <p:nvSpPr>
          <p:cNvPr id="37" name="Rectangle 36"/>
          <p:cNvSpPr/>
          <p:nvPr/>
        </p:nvSpPr>
        <p:spPr>
          <a:xfrm>
            <a:off x="2082849" y="3739438"/>
            <a:ext cx="532334" cy="42458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A12.png"/>
          <p:cNvPicPr>
            <a:picLocks noChangeAspect="1"/>
          </p:cNvPicPr>
          <p:nvPr/>
        </p:nvPicPr>
        <p:blipFill>
          <a:blip r:embed="rId7"/>
          <a:stretch>
            <a:fillRect/>
          </a:stretch>
        </p:blipFill>
        <p:spPr>
          <a:xfrm>
            <a:off x="2091993" y="3748582"/>
            <a:ext cx="514046" cy="406298"/>
          </a:xfrm>
          <a:prstGeom prst="rect">
            <a:avLst/>
          </a:prstGeom>
        </p:spPr>
      </p:pic>
      <p:sp>
        <p:nvSpPr>
          <p:cNvPr id="39" name="Rectangle 38"/>
          <p:cNvSpPr/>
          <p:nvPr/>
        </p:nvSpPr>
        <p:spPr>
          <a:xfrm>
            <a:off x="2697480" y="4324959"/>
            <a:ext cx="2807207" cy="19842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568696" y="4187952"/>
            <a:ext cx="512064" cy="472440"/>
          </a:xfrm>
          <a:prstGeom prst="rect">
            <a:avLst/>
          </a:prstGeom>
          <a:noFill/>
        </p:spPr>
        <p:txBody>
          <a:bodyPr wrap="none" anchor="ctr" lIns="0" rIns="0" tIns="0" bIns="0"/>
          <a:lstStyle/>
          <a:p>
            <a:pPr algn="l">
              <a:spcBef>
                <a:spcPts val="0"/>
              </a:spcBef>
              <a:spcAft>
                <a:spcPts val="0"/>
              </a:spcAft>
            </a:pPr>
            <a:r>
              <a:rPr sz="1200" b="1" i="0">
                <a:solidFill>
                  <a:srgbClr val="008935"/>
                </a:solidFill>
                <a:latin typeface="Karla"/>
              </a:rPr>
              <a:t>+15</a:t>
            </a:r>
          </a:p>
        </p:txBody>
      </p:sp>
      <p:sp>
        <p:nvSpPr>
          <p:cNvPr id="41" name="Rectangle 40"/>
          <p:cNvSpPr/>
          <p:nvPr/>
        </p:nvSpPr>
        <p:spPr>
          <a:xfrm>
            <a:off x="2082849" y="4211878"/>
            <a:ext cx="532334" cy="42458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A10.png"/>
          <p:cNvPicPr>
            <a:picLocks noChangeAspect="1"/>
          </p:cNvPicPr>
          <p:nvPr/>
        </p:nvPicPr>
        <p:blipFill>
          <a:blip r:embed="rId8"/>
          <a:stretch>
            <a:fillRect/>
          </a:stretch>
        </p:blipFill>
        <p:spPr>
          <a:xfrm>
            <a:off x="2091993" y="4221022"/>
            <a:ext cx="514046" cy="406298"/>
          </a:xfrm>
          <a:prstGeom prst="rect">
            <a:avLst/>
          </a:prstGeom>
        </p:spPr>
      </p:pic>
      <p:sp>
        <p:nvSpPr>
          <p:cNvPr id="43" name="Rectangle 42"/>
          <p:cNvSpPr/>
          <p:nvPr/>
        </p:nvSpPr>
        <p:spPr>
          <a:xfrm>
            <a:off x="2697480" y="4797399"/>
            <a:ext cx="2620060" cy="19842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381548" y="4660392"/>
            <a:ext cx="512064" cy="472440"/>
          </a:xfrm>
          <a:prstGeom prst="rect">
            <a:avLst/>
          </a:prstGeom>
          <a:noFill/>
        </p:spPr>
        <p:txBody>
          <a:bodyPr wrap="none" anchor="ctr" lIns="0" rIns="0" tIns="0" bIns="0"/>
          <a:lstStyle/>
          <a:p>
            <a:pPr algn="l">
              <a:spcBef>
                <a:spcPts val="0"/>
              </a:spcBef>
              <a:spcAft>
                <a:spcPts val="0"/>
              </a:spcAft>
            </a:pPr>
            <a:r>
              <a:rPr sz="1200" b="1" i="0">
                <a:solidFill>
                  <a:srgbClr val="008935"/>
                </a:solidFill>
                <a:latin typeface="Karla"/>
              </a:rPr>
              <a:t>+14</a:t>
            </a:r>
          </a:p>
        </p:txBody>
      </p:sp>
      <p:sp>
        <p:nvSpPr>
          <p:cNvPr id="45" name="Rectangle 44"/>
          <p:cNvSpPr/>
          <p:nvPr/>
        </p:nvSpPr>
        <p:spPr>
          <a:xfrm>
            <a:off x="2082849" y="4684318"/>
            <a:ext cx="532334" cy="42458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6" name="Picture 45" descr="A2.png"/>
          <p:cNvPicPr>
            <a:picLocks noChangeAspect="1"/>
          </p:cNvPicPr>
          <p:nvPr/>
        </p:nvPicPr>
        <p:blipFill>
          <a:blip r:embed="rId9"/>
          <a:stretch>
            <a:fillRect/>
          </a:stretch>
        </p:blipFill>
        <p:spPr>
          <a:xfrm>
            <a:off x="2091993" y="4693462"/>
            <a:ext cx="514046" cy="406298"/>
          </a:xfrm>
          <a:prstGeom prst="rect">
            <a:avLst/>
          </a:prstGeom>
        </p:spPr>
      </p:pic>
      <p:sp>
        <p:nvSpPr>
          <p:cNvPr id="47" name="Rectangle 46"/>
          <p:cNvSpPr/>
          <p:nvPr/>
        </p:nvSpPr>
        <p:spPr>
          <a:xfrm>
            <a:off x="2697480" y="5269839"/>
            <a:ext cx="2432913" cy="19842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194401" y="5132832"/>
            <a:ext cx="512064" cy="472440"/>
          </a:xfrm>
          <a:prstGeom prst="rect">
            <a:avLst/>
          </a:prstGeom>
          <a:noFill/>
        </p:spPr>
        <p:txBody>
          <a:bodyPr wrap="none" anchor="ctr" lIns="0" rIns="0" tIns="0" bIns="0"/>
          <a:lstStyle/>
          <a:p>
            <a:pPr algn="l">
              <a:spcBef>
                <a:spcPts val="0"/>
              </a:spcBef>
              <a:spcAft>
                <a:spcPts val="0"/>
              </a:spcAft>
            </a:pPr>
            <a:r>
              <a:rPr sz="1200" b="1" i="0">
                <a:solidFill>
                  <a:srgbClr val="008935"/>
                </a:solidFill>
                <a:latin typeface="Karla"/>
              </a:rPr>
              <a:t>+13</a:t>
            </a:r>
          </a:p>
        </p:txBody>
      </p:sp>
      <p:sp>
        <p:nvSpPr>
          <p:cNvPr id="49" name="Rectangle 48"/>
          <p:cNvSpPr/>
          <p:nvPr/>
        </p:nvSpPr>
        <p:spPr>
          <a:xfrm>
            <a:off x="2082849" y="5156758"/>
            <a:ext cx="532334" cy="42458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0" name="Picture 49" descr="A1.png"/>
          <p:cNvPicPr>
            <a:picLocks noChangeAspect="1"/>
          </p:cNvPicPr>
          <p:nvPr/>
        </p:nvPicPr>
        <p:blipFill>
          <a:blip r:embed="rId10"/>
          <a:stretch>
            <a:fillRect/>
          </a:stretch>
        </p:blipFill>
        <p:spPr>
          <a:xfrm>
            <a:off x="2091993" y="5165902"/>
            <a:ext cx="514046" cy="406298"/>
          </a:xfrm>
          <a:prstGeom prst="rect">
            <a:avLst/>
          </a:prstGeom>
        </p:spPr>
      </p:pic>
      <p:sp>
        <p:nvSpPr>
          <p:cNvPr id="51" name="Rectangle 50"/>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n=150 respondents.  Top-2 Box model (ratings 4–5): element lifts show movement above or below the model baseline.</a:t>
            </a:r>
          </a:p>
        </p:txBody>
      </p:sp>
      <p:sp>
        <p:nvSpPr>
          <p:cNvPr id="53" name="TextBox 52"/>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95</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56032"/>
            <a:ext cx="10972800" cy="256032"/>
          </a:xfrm>
          <a:prstGeom prst="rect">
            <a:avLst/>
          </a:prstGeom>
          <a:noFill/>
        </p:spPr>
        <p:txBody>
          <a:bodyPr wrap="square" anchor="t"/>
          <a:lstStyle/>
          <a:p>
            <a:pPr algn="l">
              <a:spcAft>
                <a:spcPts val="400"/>
              </a:spcAft>
            </a:pPr>
            <a:r>
              <a:rPr sz="1200" b="1" i="0">
                <a:solidFill>
                  <a:srgbClr val="04746E"/>
                </a:solidFill>
                <a:latin typeface="Karla"/>
              </a:rPr>
              <a:t>FULL ELEMENT LIFT SUMMARY</a:t>
            </a:r>
          </a:p>
        </p:txBody>
      </p:sp>
      <p:sp>
        <p:nvSpPr>
          <p:cNvPr id="3" name="TextBox 2"/>
          <p:cNvSpPr txBox="1"/>
          <p:nvPr/>
        </p:nvSpPr>
        <p:spPr>
          <a:xfrm>
            <a:off x="438912" y="475488"/>
            <a:ext cx="11247120" cy="365760"/>
          </a:xfrm>
          <a:prstGeom prst="rect">
            <a:avLst/>
          </a:prstGeom>
          <a:noFill/>
        </p:spPr>
        <p:txBody>
          <a:bodyPr wrap="square" anchor="t"/>
          <a:lstStyle/>
          <a:p>
            <a:pPr algn="l">
              <a:spcAft>
                <a:spcPts val="400"/>
              </a:spcAft>
            </a:pPr>
            <a:r>
              <a:rPr sz="2800" b="1" i="0">
                <a:solidFill>
                  <a:srgbClr val="1E2D44"/>
                </a:solidFill>
                <a:latin typeface="Karla"/>
              </a:rPr>
              <a:t>A_Background   ·   2 of 2</a:t>
            </a:r>
          </a:p>
        </p:txBody>
      </p:sp>
      <p:sp>
        <p:nvSpPr>
          <p:cNvPr id="4" name="Rectangle 3"/>
          <p:cNvSpPr/>
          <p:nvPr/>
        </p:nvSpPr>
        <p:spPr>
          <a:xfrm>
            <a:off x="502920" y="1024128"/>
            <a:ext cx="7863840" cy="274320"/>
          </a:xfrm>
          <a:prstGeom prst="rect">
            <a:avLst/>
          </a:prstGeom>
          <a:solidFill>
            <a:srgbClr val="F4E0E7"/>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200" b="1">
                <a:solidFill>
                  <a:srgbClr val="1E2D44"/>
                </a:solidFill>
                <a:latin typeface="Karla"/>
              </a:rPr>
              <a:t>A_BACKGROUND PREFERENCES</a:t>
            </a:r>
          </a:p>
        </p:txBody>
      </p:sp>
      <p:sp>
        <p:nvSpPr>
          <p:cNvPr id="5" name="Rectangle 4"/>
          <p:cNvSpPr/>
          <p:nvPr/>
        </p:nvSpPr>
        <p:spPr>
          <a:xfrm>
            <a:off x="2697480" y="1353312"/>
            <a:ext cx="9144" cy="4251960"/>
          </a:xfrm>
          <a:prstGeom prst="rect">
            <a:avLst/>
          </a:prstGeom>
          <a:solidFill>
            <a:srgbClr val="E6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624328" y="5623560"/>
            <a:ext cx="585216" cy="219456"/>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7" name="Rectangle 6"/>
          <p:cNvSpPr/>
          <p:nvPr/>
        </p:nvSpPr>
        <p:spPr>
          <a:xfrm>
            <a:off x="4568951" y="1353312"/>
            <a:ext cx="9144" cy="4251960"/>
          </a:xfrm>
          <a:prstGeom prst="rect">
            <a:avLst/>
          </a:prstGeom>
          <a:solidFill>
            <a:srgbClr val="E6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76343" y="5623560"/>
            <a:ext cx="585216" cy="219456"/>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5</a:t>
            </a:r>
          </a:p>
        </p:txBody>
      </p:sp>
      <p:sp>
        <p:nvSpPr>
          <p:cNvPr id="9" name="Rectangle 8"/>
          <p:cNvSpPr/>
          <p:nvPr/>
        </p:nvSpPr>
        <p:spPr>
          <a:xfrm>
            <a:off x="6440424" y="1353312"/>
            <a:ext cx="9144" cy="4251960"/>
          </a:xfrm>
          <a:prstGeom prst="rect">
            <a:avLst/>
          </a:prstGeom>
          <a:solidFill>
            <a:srgbClr val="E6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47815" y="5623560"/>
            <a:ext cx="585216" cy="219456"/>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11" name="Rectangle 10"/>
          <p:cNvSpPr/>
          <p:nvPr/>
        </p:nvSpPr>
        <p:spPr>
          <a:xfrm>
            <a:off x="8311896" y="1353312"/>
            <a:ext cx="9144" cy="4251960"/>
          </a:xfrm>
          <a:prstGeom prst="rect">
            <a:avLst/>
          </a:prstGeom>
          <a:solidFill>
            <a:srgbClr val="E6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99831" y="5623560"/>
            <a:ext cx="585216" cy="219456"/>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15</a:t>
            </a:r>
          </a:p>
        </p:txBody>
      </p:sp>
      <p:sp>
        <p:nvSpPr>
          <p:cNvPr id="13" name="Rectangle 12"/>
          <p:cNvSpPr/>
          <p:nvPr/>
        </p:nvSpPr>
        <p:spPr>
          <a:xfrm>
            <a:off x="2697480" y="1353312"/>
            <a:ext cx="13716" cy="4251960"/>
          </a:xfrm>
          <a:prstGeom prst="rect">
            <a:avLst/>
          </a:prstGeom>
          <a:solidFill>
            <a:srgbClr val="B9C1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97480" y="5605272"/>
            <a:ext cx="5614416" cy="10972"/>
          </a:xfrm>
          <a:prstGeom prst="rect">
            <a:avLst/>
          </a:prstGeom>
          <a:solidFill>
            <a:srgbClr val="B9C1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97480" y="1952243"/>
            <a:ext cx="4865827" cy="21945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27315" y="1353312"/>
            <a:ext cx="512064" cy="1417320"/>
          </a:xfrm>
          <a:prstGeom prst="rect">
            <a:avLst/>
          </a:prstGeom>
          <a:noFill/>
        </p:spPr>
        <p:txBody>
          <a:bodyPr wrap="none" anchor="ctr" lIns="0" rIns="0" tIns="0" bIns="0"/>
          <a:lstStyle/>
          <a:p>
            <a:pPr algn="l">
              <a:spcBef>
                <a:spcPts val="0"/>
              </a:spcBef>
              <a:spcAft>
                <a:spcPts val="0"/>
              </a:spcAft>
            </a:pPr>
            <a:r>
              <a:rPr sz="1200" b="1" i="0">
                <a:solidFill>
                  <a:srgbClr val="008935"/>
                </a:solidFill>
                <a:latin typeface="Karla"/>
              </a:rPr>
              <a:t>+13</a:t>
            </a:r>
          </a:p>
        </p:txBody>
      </p:sp>
      <p:sp>
        <p:nvSpPr>
          <p:cNvPr id="17" name="Rectangle 16"/>
          <p:cNvSpPr/>
          <p:nvPr/>
        </p:nvSpPr>
        <p:spPr>
          <a:xfrm>
            <a:off x="1054757" y="1443380"/>
            <a:ext cx="1560426" cy="1237183"/>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A4.png"/>
          <p:cNvPicPr>
            <a:picLocks noChangeAspect="1"/>
          </p:cNvPicPr>
          <p:nvPr/>
        </p:nvPicPr>
        <p:blipFill>
          <a:blip r:embed="rId2"/>
          <a:stretch>
            <a:fillRect/>
          </a:stretch>
        </p:blipFill>
        <p:spPr>
          <a:xfrm>
            <a:off x="1063901" y="1452524"/>
            <a:ext cx="1542138" cy="1218895"/>
          </a:xfrm>
          <a:prstGeom prst="rect">
            <a:avLst/>
          </a:prstGeom>
        </p:spPr>
      </p:pic>
      <p:sp>
        <p:nvSpPr>
          <p:cNvPr id="19" name="Rectangle 18"/>
          <p:cNvSpPr/>
          <p:nvPr/>
        </p:nvSpPr>
        <p:spPr>
          <a:xfrm>
            <a:off x="2697480" y="3369564"/>
            <a:ext cx="4865827" cy="21945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27315" y="2770632"/>
            <a:ext cx="512064" cy="1417320"/>
          </a:xfrm>
          <a:prstGeom prst="rect">
            <a:avLst/>
          </a:prstGeom>
          <a:noFill/>
        </p:spPr>
        <p:txBody>
          <a:bodyPr wrap="none" anchor="ctr" lIns="0" rIns="0" tIns="0" bIns="0"/>
          <a:lstStyle/>
          <a:p>
            <a:pPr algn="l">
              <a:spcBef>
                <a:spcPts val="0"/>
              </a:spcBef>
              <a:spcAft>
                <a:spcPts val="0"/>
              </a:spcAft>
            </a:pPr>
            <a:r>
              <a:rPr sz="1200" b="1" i="0">
                <a:solidFill>
                  <a:srgbClr val="008935"/>
                </a:solidFill>
                <a:latin typeface="Karla"/>
              </a:rPr>
              <a:t>+13</a:t>
            </a:r>
          </a:p>
        </p:txBody>
      </p:sp>
      <p:sp>
        <p:nvSpPr>
          <p:cNvPr id="21" name="Rectangle 20"/>
          <p:cNvSpPr/>
          <p:nvPr/>
        </p:nvSpPr>
        <p:spPr>
          <a:xfrm>
            <a:off x="1054757" y="2860700"/>
            <a:ext cx="1560426" cy="1237183"/>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A11.png"/>
          <p:cNvPicPr>
            <a:picLocks noChangeAspect="1"/>
          </p:cNvPicPr>
          <p:nvPr/>
        </p:nvPicPr>
        <p:blipFill>
          <a:blip r:embed="rId3"/>
          <a:stretch>
            <a:fillRect/>
          </a:stretch>
        </p:blipFill>
        <p:spPr>
          <a:xfrm>
            <a:off x="1063901" y="2869844"/>
            <a:ext cx="1542138" cy="1218895"/>
          </a:xfrm>
          <a:prstGeom prst="rect">
            <a:avLst/>
          </a:prstGeom>
        </p:spPr>
      </p:pic>
      <p:sp>
        <p:nvSpPr>
          <p:cNvPr id="23" name="Rectangle 22"/>
          <p:cNvSpPr/>
          <p:nvPr/>
        </p:nvSpPr>
        <p:spPr>
          <a:xfrm>
            <a:off x="2697480" y="4786884"/>
            <a:ext cx="3742943" cy="21945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04432" y="4187952"/>
            <a:ext cx="512064" cy="1417320"/>
          </a:xfrm>
          <a:prstGeom prst="rect">
            <a:avLst/>
          </a:prstGeom>
          <a:noFill/>
        </p:spPr>
        <p:txBody>
          <a:bodyPr wrap="none" anchor="ctr" lIns="0" rIns="0" tIns="0" bIns="0"/>
          <a:lstStyle/>
          <a:p>
            <a:pPr algn="l">
              <a:spcBef>
                <a:spcPts val="0"/>
              </a:spcBef>
              <a:spcAft>
                <a:spcPts val="0"/>
              </a:spcAft>
            </a:pPr>
            <a:r>
              <a:rPr sz="1200" b="1" i="0">
                <a:solidFill>
                  <a:srgbClr val="008935"/>
                </a:solidFill>
                <a:latin typeface="Karla"/>
              </a:rPr>
              <a:t>+10</a:t>
            </a:r>
          </a:p>
        </p:txBody>
      </p:sp>
      <p:sp>
        <p:nvSpPr>
          <p:cNvPr id="25" name="Rectangle 24"/>
          <p:cNvSpPr/>
          <p:nvPr/>
        </p:nvSpPr>
        <p:spPr>
          <a:xfrm>
            <a:off x="1054757" y="4278020"/>
            <a:ext cx="1560426" cy="1237183"/>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A3.png"/>
          <p:cNvPicPr>
            <a:picLocks noChangeAspect="1"/>
          </p:cNvPicPr>
          <p:nvPr/>
        </p:nvPicPr>
        <p:blipFill>
          <a:blip r:embed="rId4"/>
          <a:stretch>
            <a:fillRect/>
          </a:stretch>
        </p:blipFill>
        <p:spPr>
          <a:xfrm>
            <a:off x="1063901" y="4287164"/>
            <a:ext cx="1542138" cy="1218895"/>
          </a:xfrm>
          <a:prstGeom prst="rect">
            <a:avLst/>
          </a:prstGeom>
        </p:spPr>
      </p:pic>
      <p:sp>
        <p:nvSpPr>
          <p:cNvPr id="27" name="Rectangle 26"/>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n=150 respondents.  Top-2 Box model (ratings 4–5): element lifts show movement above or below the model baseline.</a:t>
            </a:r>
          </a:p>
        </p:txBody>
      </p:sp>
      <p:sp>
        <p:nvSpPr>
          <p:cNvPr id="29" name="TextBox 28"/>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96</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56032"/>
            <a:ext cx="10972800" cy="256032"/>
          </a:xfrm>
          <a:prstGeom prst="rect">
            <a:avLst/>
          </a:prstGeom>
          <a:noFill/>
        </p:spPr>
        <p:txBody>
          <a:bodyPr wrap="square" anchor="t"/>
          <a:lstStyle/>
          <a:p>
            <a:pPr algn="l">
              <a:spcAft>
                <a:spcPts val="400"/>
              </a:spcAft>
            </a:pPr>
            <a:r>
              <a:rPr sz="1200" b="1" i="0">
                <a:solidFill>
                  <a:srgbClr val="04746E"/>
                </a:solidFill>
                <a:latin typeface="Karla"/>
              </a:rPr>
              <a:t>FULL ELEMENT LIFT SUMMARY</a:t>
            </a:r>
          </a:p>
        </p:txBody>
      </p:sp>
      <p:sp>
        <p:nvSpPr>
          <p:cNvPr id="3" name="TextBox 2"/>
          <p:cNvSpPr txBox="1"/>
          <p:nvPr/>
        </p:nvSpPr>
        <p:spPr>
          <a:xfrm>
            <a:off x="438912" y="475488"/>
            <a:ext cx="11247120" cy="365760"/>
          </a:xfrm>
          <a:prstGeom prst="rect">
            <a:avLst/>
          </a:prstGeom>
          <a:noFill/>
        </p:spPr>
        <p:txBody>
          <a:bodyPr wrap="square" anchor="t"/>
          <a:lstStyle/>
          <a:p>
            <a:pPr algn="l">
              <a:spcAft>
                <a:spcPts val="400"/>
              </a:spcAft>
            </a:pPr>
            <a:r>
              <a:rPr sz="2800" b="1" i="0">
                <a:solidFill>
                  <a:srgbClr val="1E2D44"/>
                </a:solidFill>
                <a:latin typeface="Karla"/>
              </a:rPr>
              <a:t>E_Flavour   ·   1 of 2</a:t>
            </a:r>
          </a:p>
        </p:txBody>
      </p:sp>
      <p:sp>
        <p:nvSpPr>
          <p:cNvPr id="4" name="Rectangle 3"/>
          <p:cNvSpPr/>
          <p:nvPr/>
        </p:nvSpPr>
        <p:spPr>
          <a:xfrm>
            <a:off x="502920" y="1024128"/>
            <a:ext cx="7863840" cy="274320"/>
          </a:xfrm>
          <a:prstGeom prst="rect">
            <a:avLst/>
          </a:prstGeom>
          <a:solidFill>
            <a:srgbClr val="F4E0E7"/>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200" b="1">
                <a:solidFill>
                  <a:srgbClr val="1E2D44"/>
                </a:solidFill>
                <a:latin typeface="Karla"/>
              </a:rPr>
              <a:t>E_FLAVOUR PREFERENCES</a:t>
            </a:r>
          </a:p>
        </p:txBody>
      </p:sp>
      <p:sp>
        <p:nvSpPr>
          <p:cNvPr id="5" name="Rectangle 4"/>
          <p:cNvSpPr/>
          <p:nvPr/>
        </p:nvSpPr>
        <p:spPr>
          <a:xfrm>
            <a:off x="2697480" y="1353312"/>
            <a:ext cx="9144" cy="4251960"/>
          </a:xfrm>
          <a:prstGeom prst="rect">
            <a:avLst/>
          </a:prstGeom>
          <a:solidFill>
            <a:srgbClr val="E6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624328" y="5623560"/>
            <a:ext cx="585216" cy="219456"/>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7" name="Rectangle 6"/>
          <p:cNvSpPr/>
          <p:nvPr/>
        </p:nvSpPr>
        <p:spPr>
          <a:xfrm>
            <a:off x="4568951" y="1353312"/>
            <a:ext cx="9144" cy="4251960"/>
          </a:xfrm>
          <a:prstGeom prst="rect">
            <a:avLst/>
          </a:prstGeom>
          <a:solidFill>
            <a:srgbClr val="E6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76343" y="5623560"/>
            <a:ext cx="585216" cy="219456"/>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9" name="Rectangle 8"/>
          <p:cNvSpPr/>
          <p:nvPr/>
        </p:nvSpPr>
        <p:spPr>
          <a:xfrm>
            <a:off x="6440424" y="1353312"/>
            <a:ext cx="9144" cy="4251960"/>
          </a:xfrm>
          <a:prstGeom prst="rect">
            <a:avLst/>
          </a:prstGeom>
          <a:solidFill>
            <a:srgbClr val="E6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47815" y="5623560"/>
            <a:ext cx="585216" cy="219456"/>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1" name="Rectangle 10"/>
          <p:cNvSpPr/>
          <p:nvPr/>
        </p:nvSpPr>
        <p:spPr>
          <a:xfrm>
            <a:off x="8311896" y="1353312"/>
            <a:ext cx="9144" cy="4251960"/>
          </a:xfrm>
          <a:prstGeom prst="rect">
            <a:avLst/>
          </a:prstGeom>
          <a:solidFill>
            <a:srgbClr val="E6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99831" y="5623560"/>
            <a:ext cx="585216" cy="219456"/>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30</a:t>
            </a:r>
          </a:p>
        </p:txBody>
      </p:sp>
      <p:sp>
        <p:nvSpPr>
          <p:cNvPr id="13" name="Rectangle 12"/>
          <p:cNvSpPr/>
          <p:nvPr/>
        </p:nvSpPr>
        <p:spPr>
          <a:xfrm>
            <a:off x="2697480" y="1353312"/>
            <a:ext cx="13716" cy="4251960"/>
          </a:xfrm>
          <a:prstGeom prst="rect">
            <a:avLst/>
          </a:prstGeom>
          <a:solidFill>
            <a:srgbClr val="B9C1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97480" y="5605272"/>
            <a:ext cx="5614416" cy="10972"/>
          </a:xfrm>
          <a:prstGeom prst="rect">
            <a:avLst/>
          </a:prstGeom>
          <a:solidFill>
            <a:srgbClr val="B9C1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97480" y="1490319"/>
            <a:ext cx="4304385" cy="19842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065873" y="1353312"/>
            <a:ext cx="512064" cy="472440"/>
          </a:xfrm>
          <a:prstGeom prst="rect">
            <a:avLst/>
          </a:prstGeom>
          <a:noFill/>
        </p:spPr>
        <p:txBody>
          <a:bodyPr wrap="none" anchor="ctr" lIns="0" rIns="0" tIns="0" bIns="0"/>
          <a:lstStyle/>
          <a:p>
            <a:pPr algn="l">
              <a:spcBef>
                <a:spcPts val="0"/>
              </a:spcBef>
              <a:spcAft>
                <a:spcPts val="0"/>
              </a:spcAft>
            </a:pPr>
            <a:r>
              <a:rPr sz="1200" b="1" i="0">
                <a:solidFill>
                  <a:srgbClr val="008935"/>
                </a:solidFill>
                <a:latin typeface="Karla"/>
              </a:rPr>
              <a:t>+23</a:t>
            </a:r>
          </a:p>
        </p:txBody>
      </p:sp>
      <p:sp>
        <p:nvSpPr>
          <p:cNvPr id="17" name="Rectangle 16"/>
          <p:cNvSpPr/>
          <p:nvPr/>
        </p:nvSpPr>
        <p:spPr>
          <a:xfrm>
            <a:off x="2069789" y="1377238"/>
            <a:ext cx="545394" cy="42458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E8.png"/>
          <p:cNvPicPr>
            <a:picLocks noChangeAspect="1"/>
          </p:cNvPicPr>
          <p:nvPr/>
        </p:nvPicPr>
        <p:blipFill>
          <a:blip r:embed="rId2"/>
          <a:stretch>
            <a:fillRect/>
          </a:stretch>
        </p:blipFill>
        <p:spPr>
          <a:xfrm>
            <a:off x="2078933" y="1386382"/>
            <a:ext cx="527106" cy="406298"/>
          </a:xfrm>
          <a:prstGeom prst="rect">
            <a:avLst/>
          </a:prstGeom>
        </p:spPr>
      </p:pic>
      <p:sp>
        <p:nvSpPr>
          <p:cNvPr id="19" name="Rectangle 18"/>
          <p:cNvSpPr/>
          <p:nvPr/>
        </p:nvSpPr>
        <p:spPr>
          <a:xfrm>
            <a:off x="2697480" y="1962759"/>
            <a:ext cx="4304385" cy="19842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65873" y="1825752"/>
            <a:ext cx="512064" cy="472440"/>
          </a:xfrm>
          <a:prstGeom prst="rect">
            <a:avLst/>
          </a:prstGeom>
          <a:noFill/>
        </p:spPr>
        <p:txBody>
          <a:bodyPr wrap="none" anchor="ctr" lIns="0" rIns="0" tIns="0" bIns="0"/>
          <a:lstStyle/>
          <a:p>
            <a:pPr algn="l">
              <a:spcBef>
                <a:spcPts val="0"/>
              </a:spcBef>
              <a:spcAft>
                <a:spcPts val="0"/>
              </a:spcAft>
            </a:pPr>
            <a:r>
              <a:rPr sz="1200" b="1" i="0">
                <a:solidFill>
                  <a:srgbClr val="008935"/>
                </a:solidFill>
                <a:latin typeface="Karla"/>
              </a:rPr>
              <a:t>+23</a:t>
            </a:r>
          </a:p>
        </p:txBody>
      </p:sp>
      <p:sp>
        <p:nvSpPr>
          <p:cNvPr id="21" name="Rectangle 20"/>
          <p:cNvSpPr/>
          <p:nvPr/>
        </p:nvSpPr>
        <p:spPr>
          <a:xfrm>
            <a:off x="2069789" y="1849678"/>
            <a:ext cx="545394" cy="42458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E11.png"/>
          <p:cNvPicPr>
            <a:picLocks noChangeAspect="1"/>
          </p:cNvPicPr>
          <p:nvPr/>
        </p:nvPicPr>
        <p:blipFill>
          <a:blip r:embed="rId3"/>
          <a:stretch>
            <a:fillRect/>
          </a:stretch>
        </p:blipFill>
        <p:spPr>
          <a:xfrm>
            <a:off x="2078933" y="1858822"/>
            <a:ext cx="527106" cy="406298"/>
          </a:xfrm>
          <a:prstGeom prst="rect">
            <a:avLst/>
          </a:prstGeom>
        </p:spPr>
      </p:pic>
      <p:sp>
        <p:nvSpPr>
          <p:cNvPr id="23" name="Rectangle 22"/>
          <p:cNvSpPr/>
          <p:nvPr/>
        </p:nvSpPr>
        <p:spPr>
          <a:xfrm>
            <a:off x="2697480" y="2435199"/>
            <a:ext cx="4117238" cy="19842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78726" y="2298192"/>
            <a:ext cx="512064" cy="472440"/>
          </a:xfrm>
          <a:prstGeom prst="rect">
            <a:avLst/>
          </a:prstGeom>
          <a:noFill/>
        </p:spPr>
        <p:txBody>
          <a:bodyPr wrap="none" anchor="ctr" lIns="0" rIns="0" tIns="0" bIns="0"/>
          <a:lstStyle/>
          <a:p>
            <a:pPr algn="l">
              <a:spcBef>
                <a:spcPts val="0"/>
              </a:spcBef>
              <a:spcAft>
                <a:spcPts val="0"/>
              </a:spcAft>
            </a:pPr>
            <a:r>
              <a:rPr sz="1200" b="1" i="0">
                <a:solidFill>
                  <a:srgbClr val="008935"/>
                </a:solidFill>
                <a:latin typeface="Karla"/>
              </a:rPr>
              <a:t>+22</a:t>
            </a:r>
          </a:p>
        </p:txBody>
      </p:sp>
      <p:sp>
        <p:nvSpPr>
          <p:cNvPr id="25" name="Rectangle 24"/>
          <p:cNvSpPr/>
          <p:nvPr/>
        </p:nvSpPr>
        <p:spPr>
          <a:xfrm>
            <a:off x="2069789" y="2322118"/>
            <a:ext cx="545394" cy="42458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E2.png"/>
          <p:cNvPicPr>
            <a:picLocks noChangeAspect="1"/>
          </p:cNvPicPr>
          <p:nvPr/>
        </p:nvPicPr>
        <p:blipFill>
          <a:blip r:embed="rId4"/>
          <a:stretch>
            <a:fillRect/>
          </a:stretch>
        </p:blipFill>
        <p:spPr>
          <a:xfrm>
            <a:off x="2078933" y="2331262"/>
            <a:ext cx="527106" cy="406298"/>
          </a:xfrm>
          <a:prstGeom prst="rect">
            <a:avLst/>
          </a:prstGeom>
        </p:spPr>
      </p:pic>
      <p:sp>
        <p:nvSpPr>
          <p:cNvPr id="27" name="Rectangle 26"/>
          <p:cNvSpPr/>
          <p:nvPr/>
        </p:nvSpPr>
        <p:spPr>
          <a:xfrm>
            <a:off x="2697480" y="2907639"/>
            <a:ext cx="3368649" cy="19842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130137" y="2770632"/>
            <a:ext cx="512064" cy="472440"/>
          </a:xfrm>
          <a:prstGeom prst="rect">
            <a:avLst/>
          </a:prstGeom>
          <a:noFill/>
        </p:spPr>
        <p:txBody>
          <a:bodyPr wrap="none" anchor="ctr" lIns="0" rIns="0" tIns="0" bIns="0"/>
          <a:lstStyle/>
          <a:p>
            <a:pPr algn="l">
              <a:spcBef>
                <a:spcPts val="0"/>
              </a:spcBef>
              <a:spcAft>
                <a:spcPts val="0"/>
              </a:spcAft>
            </a:pPr>
            <a:r>
              <a:rPr sz="1200" b="1" i="0">
                <a:solidFill>
                  <a:srgbClr val="008935"/>
                </a:solidFill>
                <a:latin typeface="Karla"/>
              </a:rPr>
              <a:t>+18</a:t>
            </a:r>
          </a:p>
        </p:txBody>
      </p:sp>
      <p:sp>
        <p:nvSpPr>
          <p:cNvPr id="29" name="Rectangle 28"/>
          <p:cNvSpPr/>
          <p:nvPr/>
        </p:nvSpPr>
        <p:spPr>
          <a:xfrm>
            <a:off x="2069789" y="2794558"/>
            <a:ext cx="545394" cy="42458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E5.png"/>
          <p:cNvPicPr>
            <a:picLocks noChangeAspect="1"/>
          </p:cNvPicPr>
          <p:nvPr/>
        </p:nvPicPr>
        <p:blipFill>
          <a:blip r:embed="rId5"/>
          <a:stretch>
            <a:fillRect/>
          </a:stretch>
        </p:blipFill>
        <p:spPr>
          <a:xfrm>
            <a:off x="2078933" y="2803702"/>
            <a:ext cx="527106" cy="406298"/>
          </a:xfrm>
          <a:prstGeom prst="rect">
            <a:avLst/>
          </a:prstGeom>
        </p:spPr>
      </p:pic>
      <p:sp>
        <p:nvSpPr>
          <p:cNvPr id="31" name="Rectangle 30"/>
          <p:cNvSpPr/>
          <p:nvPr/>
        </p:nvSpPr>
        <p:spPr>
          <a:xfrm>
            <a:off x="2697480" y="3380079"/>
            <a:ext cx="2245766" cy="19842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07254" y="3243072"/>
            <a:ext cx="512064" cy="472440"/>
          </a:xfrm>
          <a:prstGeom prst="rect">
            <a:avLst/>
          </a:prstGeom>
          <a:noFill/>
        </p:spPr>
        <p:txBody>
          <a:bodyPr wrap="none" anchor="ctr" lIns="0" rIns="0" tIns="0" bIns="0"/>
          <a:lstStyle/>
          <a:p>
            <a:pPr algn="l">
              <a:spcBef>
                <a:spcPts val="0"/>
              </a:spcBef>
              <a:spcAft>
                <a:spcPts val="0"/>
              </a:spcAft>
            </a:pPr>
            <a:r>
              <a:rPr sz="1200" b="1" i="0">
                <a:solidFill>
                  <a:srgbClr val="008935"/>
                </a:solidFill>
                <a:latin typeface="Karla"/>
              </a:rPr>
              <a:t>+12</a:t>
            </a:r>
          </a:p>
        </p:txBody>
      </p:sp>
      <p:sp>
        <p:nvSpPr>
          <p:cNvPr id="33" name="Rectangle 32"/>
          <p:cNvSpPr/>
          <p:nvPr/>
        </p:nvSpPr>
        <p:spPr>
          <a:xfrm>
            <a:off x="2069789" y="3266998"/>
            <a:ext cx="545394" cy="42458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E9.png"/>
          <p:cNvPicPr>
            <a:picLocks noChangeAspect="1"/>
          </p:cNvPicPr>
          <p:nvPr/>
        </p:nvPicPr>
        <p:blipFill>
          <a:blip r:embed="rId6"/>
          <a:stretch>
            <a:fillRect/>
          </a:stretch>
        </p:blipFill>
        <p:spPr>
          <a:xfrm>
            <a:off x="2078933" y="3276142"/>
            <a:ext cx="527106" cy="406298"/>
          </a:xfrm>
          <a:prstGeom prst="rect">
            <a:avLst/>
          </a:prstGeom>
        </p:spPr>
      </p:pic>
      <p:sp>
        <p:nvSpPr>
          <p:cNvPr id="35" name="Rectangle 34"/>
          <p:cNvSpPr/>
          <p:nvPr/>
        </p:nvSpPr>
        <p:spPr>
          <a:xfrm>
            <a:off x="2697480" y="3852519"/>
            <a:ext cx="2245766" cy="19842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007254" y="3715512"/>
            <a:ext cx="512064" cy="472440"/>
          </a:xfrm>
          <a:prstGeom prst="rect">
            <a:avLst/>
          </a:prstGeom>
          <a:noFill/>
        </p:spPr>
        <p:txBody>
          <a:bodyPr wrap="none" anchor="ctr" lIns="0" rIns="0" tIns="0" bIns="0"/>
          <a:lstStyle/>
          <a:p>
            <a:pPr algn="l">
              <a:spcBef>
                <a:spcPts val="0"/>
              </a:spcBef>
              <a:spcAft>
                <a:spcPts val="0"/>
              </a:spcAft>
            </a:pPr>
            <a:r>
              <a:rPr sz="1200" b="1" i="0">
                <a:solidFill>
                  <a:srgbClr val="008935"/>
                </a:solidFill>
                <a:latin typeface="Karla"/>
              </a:rPr>
              <a:t>+12</a:t>
            </a:r>
          </a:p>
        </p:txBody>
      </p:sp>
      <p:sp>
        <p:nvSpPr>
          <p:cNvPr id="37" name="Rectangle 36"/>
          <p:cNvSpPr/>
          <p:nvPr/>
        </p:nvSpPr>
        <p:spPr>
          <a:xfrm>
            <a:off x="2069789" y="3739438"/>
            <a:ext cx="545394" cy="42458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E10.png"/>
          <p:cNvPicPr>
            <a:picLocks noChangeAspect="1"/>
          </p:cNvPicPr>
          <p:nvPr/>
        </p:nvPicPr>
        <p:blipFill>
          <a:blip r:embed="rId7"/>
          <a:stretch>
            <a:fillRect/>
          </a:stretch>
        </p:blipFill>
        <p:spPr>
          <a:xfrm>
            <a:off x="2078933" y="3748582"/>
            <a:ext cx="527106" cy="406298"/>
          </a:xfrm>
          <a:prstGeom prst="rect">
            <a:avLst/>
          </a:prstGeom>
        </p:spPr>
      </p:pic>
      <p:sp>
        <p:nvSpPr>
          <p:cNvPr id="39" name="Rectangle 38"/>
          <p:cNvSpPr/>
          <p:nvPr/>
        </p:nvSpPr>
        <p:spPr>
          <a:xfrm>
            <a:off x="2697480" y="4324959"/>
            <a:ext cx="2058619" cy="19842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820107" y="4187952"/>
            <a:ext cx="512064" cy="472440"/>
          </a:xfrm>
          <a:prstGeom prst="rect">
            <a:avLst/>
          </a:prstGeom>
          <a:noFill/>
        </p:spPr>
        <p:txBody>
          <a:bodyPr wrap="none" anchor="ctr" lIns="0" rIns="0" tIns="0" bIns="0"/>
          <a:lstStyle/>
          <a:p>
            <a:pPr algn="l">
              <a:spcBef>
                <a:spcPts val="0"/>
              </a:spcBef>
              <a:spcAft>
                <a:spcPts val="0"/>
              </a:spcAft>
            </a:pPr>
            <a:r>
              <a:rPr sz="1200" b="1" i="0">
                <a:solidFill>
                  <a:srgbClr val="008935"/>
                </a:solidFill>
                <a:latin typeface="Karla"/>
              </a:rPr>
              <a:t>+11</a:t>
            </a:r>
          </a:p>
        </p:txBody>
      </p:sp>
      <p:sp>
        <p:nvSpPr>
          <p:cNvPr id="41" name="Rectangle 40"/>
          <p:cNvSpPr/>
          <p:nvPr/>
        </p:nvSpPr>
        <p:spPr>
          <a:xfrm>
            <a:off x="2069789" y="4211878"/>
            <a:ext cx="545394" cy="42458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E1.png"/>
          <p:cNvPicPr>
            <a:picLocks noChangeAspect="1"/>
          </p:cNvPicPr>
          <p:nvPr/>
        </p:nvPicPr>
        <p:blipFill>
          <a:blip r:embed="rId8"/>
          <a:stretch>
            <a:fillRect/>
          </a:stretch>
        </p:blipFill>
        <p:spPr>
          <a:xfrm>
            <a:off x="2078933" y="4221022"/>
            <a:ext cx="527106" cy="406298"/>
          </a:xfrm>
          <a:prstGeom prst="rect">
            <a:avLst/>
          </a:prstGeom>
        </p:spPr>
      </p:pic>
      <p:sp>
        <p:nvSpPr>
          <p:cNvPr id="43" name="Rectangle 42"/>
          <p:cNvSpPr/>
          <p:nvPr/>
        </p:nvSpPr>
        <p:spPr>
          <a:xfrm>
            <a:off x="2697480" y="4797399"/>
            <a:ext cx="2058619" cy="19842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820107" y="4660392"/>
            <a:ext cx="512064" cy="472440"/>
          </a:xfrm>
          <a:prstGeom prst="rect">
            <a:avLst/>
          </a:prstGeom>
          <a:noFill/>
        </p:spPr>
        <p:txBody>
          <a:bodyPr wrap="none" anchor="ctr" lIns="0" rIns="0" tIns="0" bIns="0"/>
          <a:lstStyle/>
          <a:p>
            <a:pPr algn="l">
              <a:spcBef>
                <a:spcPts val="0"/>
              </a:spcBef>
              <a:spcAft>
                <a:spcPts val="0"/>
              </a:spcAft>
            </a:pPr>
            <a:r>
              <a:rPr sz="1200" b="1" i="0">
                <a:solidFill>
                  <a:srgbClr val="008935"/>
                </a:solidFill>
                <a:latin typeface="Karla"/>
              </a:rPr>
              <a:t>+11</a:t>
            </a:r>
          </a:p>
        </p:txBody>
      </p:sp>
      <p:sp>
        <p:nvSpPr>
          <p:cNvPr id="45" name="Rectangle 44"/>
          <p:cNvSpPr/>
          <p:nvPr/>
        </p:nvSpPr>
        <p:spPr>
          <a:xfrm>
            <a:off x="2069789" y="4684318"/>
            <a:ext cx="545394" cy="42458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6" name="Picture 45" descr="E3.png"/>
          <p:cNvPicPr>
            <a:picLocks noChangeAspect="1"/>
          </p:cNvPicPr>
          <p:nvPr/>
        </p:nvPicPr>
        <p:blipFill>
          <a:blip r:embed="rId9"/>
          <a:stretch>
            <a:fillRect/>
          </a:stretch>
        </p:blipFill>
        <p:spPr>
          <a:xfrm>
            <a:off x="2078933" y="4693462"/>
            <a:ext cx="527106" cy="406298"/>
          </a:xfrm>
          <a:prstGeom prst="rect">
            <a:avLst/>
          </a:prstGeom>
        </p:spPr>
      </p:pic>
      <p:sp>
        <p:nvSpPr>
          <p:cNvPr id="47" name="Rectangle 46"/>
          <p:cNvSpPr/>
          <p:nvPr/>
        </p:nvSpPr>
        <p:spPr>
          <a:xfrm>
            <a:off x="2697480" y="5269839"/>
            <a:ext cx="2058619" cy="19842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820107" y="5132832"/>
            <a:ext cx="512064" cy="472440"/>
          </a:xfrm>
          <a:prstGeom prst="rect">
            <a:avLst/>
          </a:prstGeom>
          <a:noFill/>
        </p:spPr>
        <p:txBody>
          <a:bodyPr wrap="none" anchor="ctr" lIns="0" rIns="0" tIns="0" bIns="0"/>
          <a:lstStyle/>
          <a:p>
            <a:pPr algn="l">
              <a:spcBef>
                <a:spcPts val="0"/>
              </a:spcBef>
              <a:spcAft>
                <a:spcPts val="0"/>
              </a:spcAft>
            </a:pPr>
            <a:r>
              <a:rPr sz="1200" b="1" i="0">
                <a:solidFill>
                  <a:srgbClr val="008935"/>
                </a:solidFill>
                <a:latin typeface="Karla"/>
              </a:rPr>
              <a:t>+11</a:t>
            </a:r>
          </a:p>
        </p:txBody>
      </p:sp>
      <p:sp>
        <p:nvSpPr>
          <p:cNvPr id="49" name="Rectangle 48"/>
          <p:cNvSpPr/>
          <p:nvPr/>
        </p:nvSpPr>
        <p:spPr>
          <a:xfrm>
            <a:off x="2069789" y="5156758"/>
            <a:ext cx="545394" cy="42458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0" name="Picture 49" descr="E6.png"/>
          <p:cNvPicPr>
            <a:picLocks noChangeAspect="1"/>
          </p:cNvPicPr>
          <p:nvPr/>
        </p:nvPicPr>
        <p:blipFill>
          <a:blip r:embed="rId10"/>
          <a:stretch>
            <a:fillRect/>
          </a:stretch>
        </p:blipFill>
        <p:spPr>
          <a:xfrm>
            <a:off x="2078933" y="5165902"/>
            <a:ext cx="527106" cy="406298"/>
          </a:xfrm>
          <a:prstGeom prst="rect">
            <a:avLst/>
          </a:prstGeom>
        </p:spPr>
      </p:pic>
      <p:sp>
        <p:nvSpPr>
          <p:cNvPr id="51" name="Rectangle 50"/>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n=150 respondents.  Top-2 Box model (ratings 4–5): element lifts show movement above or below the model baseline.</a:t>
            </a:r>
          </a:p>
        </p:txBody>
      </p:sp>
      <p:sp>
        <p:nvSpPr>
          <p:cNvPr id="53" name="TextBox 52"/>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97</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56032"/>
            <a:ext cx="10972800" cy="256032"/>
          </a:xfrm>
          <a:prstGeom prst="rect">
            <a:avLst/>
          </a:prstGeom>
          <a:noFill/>
        </p:spPr>
        <p:txBody>
          <a:bodyPr wrap="square" anchor="t"/>
          <a:lstStyle/>
          <a:p>
            <a:pPr algn="l">
              <a:spcAft>
                <a:spcPts val="400"/>
              </a:spcAft>
            </a:pPr>
            <a:r>
              <a:rPr sz="1200" b="1" i="0">
                <a:solidFill>
                  <a:srgbClr val="04746E"/>
                </a:solidFill>
                <a:latin typeface="Karla"/>
              </a:rPr>
              <a:t>FULL ELEMENT LIFT SUMMARY</a:t>
            </a:r>
          </a:p>
        </p:txBody>
      </p:sp>
      <p:sp>
        <p:nvSpPr>
          <p:cNvPr id="3" name="TextBox 2"/>
          <p:cNvSpPr txBox="1"/>
          <p:nvPr/>
        </p:nvSpPr>
        <p:spPr>
          <a:xfrm>
            <a:off x="438912" y="475488"/>
            <a:ext cx="11247120" cy="365760"/>
          </a:xfrm>
          <a:prstGeom prst="rect">
            <a:avLst/>
          </a:prstGeom>
          <a:noFill/>
        </p:spPr>
        <p:txBody>
          <a:bodyPr wrap="square" anchor="t"/>
          <a:lstStyle/>
          <a:p>
            <a:pPr algn="l">
              <a:spcAft>
                <a:spcPts val="400"/>
              </a:spcAft>
            </a:pPr>
            <a:r>
              <a:rPr sz="2800" b="1" i="0">
                <a:solidFill>
                  <a:srgbClr val="1E2D44"/>
                </a:solidFill>
                <a:latin typeface="Karla"/>
              </a:rPr>
              <a:t>E_Flavour   ·   2 of 2</a:t>
            </a:r>
          </a:p>
        </p:txBody>
      </p:sp>
      <p:sp>
        <p:nvSpPr>
          <p:cNvPr id="4" name="Rectangle 3"/>
          <p:cNvSpPr/>
          <p:nvPr/>
        </p:nvSpPr>
        <p:spPr>
          <a:xfrm>
            <a:off x="502920" y="1024128"/>
            <a:ext cx="7863840" cy="274320"/>
          </a:xfrm>
          <a:prstGeom prst="rect">
            <a:avLst/>
          </a:prstGeom>
          <a:solidFill>
            <a:srgbClr val="F4E0E7"/>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200" b="1">
                <a:solidFill>
                  <a:srgbClr val="1E2D44"/>
                </a:solidFill>
                <a:latin typeface="Karla"/>
              </a:rPr>
              <a:t>E_FLAVOUR PREFERENCES</a:t>
            </a:r>
          </a:p>
        </p:txBody>
      </p:sp>
      <p:sp>
        <p:nvSpPr>
          <p:cNvPr id="5" name="Rectangle 4"/>
          <p:cNvSpPr/>
          <p:nvPr/>
        </p:nvSpPr>
        <p:spPr>
          <a:xfrm>
            <a:off x="2697480" y="1353312"/>
            <a:ext cx="9144" cy="4251960"/>
          </a:xfrm>
          <a:prstGeom prst="rect">
            <a:avLst/>
          </a:prstGeom>
          <a:solidFill>
            <a:srgbClr val="E6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624328" y="5623560"/>
            <a:ext cx="585216" cy="219456"/>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7" name="Rectangle 6"/>
          <p:cNvSpPr/>
          <p:nvPr/>
        </p:nvSpPr>
        <p:spPr>
          <a:xfrm>
            <a:off x="4568951" y="1353312"/>
            <a:ext cx="9144" cy="4251960"/>
          </a:xfrm>
          <a:prstGeom prst="rect">
            <a:avLst/>
          </a:prstGeom>
          <a:solidFill>
            <a:srgbClr val="E6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76343" y="5623560"/>
            <a:ext cx="585216" cy="219456"/>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5</a:t>
            </a:r>
          </a:p>
        </p:txBody>
      </p:sp>
      <p:sp>
        <p:nvSpPr>
          <p:cNvPr id="9" name="Rectangle 8"/>
          <p:cNvSpPr/>
          <p:nvPr/>
        </p:nvSpPr>
        <p:spPr>
          <a:xfrm>
            <a:off x="6440424" y="1353312"/>
            <a:ext cx="9144" cy="4251960"/>
          </a:xfrm>
          <a:prstGeom prst="rect">
            <a:avLst/>
          </a:prstGeom>
          <a:solidFill>
            <a:srgbClr val="E6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47815" y="5623560"/>
            <a:ext cx="585216" cy="219456"/>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11" name="Rectangle 10"/>
          <p:cNvSpPr/>
          <p:nvPr/>
        </p:nvSpPr>
        <p:spPr>
          <a:xfrm>
            <a:off x="8311896" y="1353312"/>
            <a:ext cx="9144" cy="4251960"/>
          </a:xfrm>
          <a:prstGeom prst="rect">
            <a:avLst/>
          </a:prstGeom>
          <a:solidFill>
            <a:srgbClr val="E6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99831" y="5623560"/>
            <a:ext cx="585216" cy="219456"/>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15</a:t>
            </a:r>
          </a:p>
        </p:txBody>
      </p:sp>
      <p:sp>
        <p:nvSpPr>
          <p:cNvPr id="13" name="Rectangle 12"/>
          <p:cNvSpPr/>
          <p:nvPr/>
        </p:nvSpPr>
        <p:spPr>
          <a:xfrm>
            <a:off x="2697480" y="1353312"/>
            <a:ext cx="13716" cy="4251960"/>
          </a:xfrm>
          <a:prstGeom prst="rect">
            <a:avLst/>
          </a:prstGeom>
          <a:solidFill>
            <a:srgbClr val="B9C1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97480" y="5605272"/>
            <a:ext cx="5614416" cy="10972"/>
          </a:xfrm>
          <a:prstGeom prst="rect">
            <a:avLst/>
          </a:prstGeom>
          <a:solidFill>
            <a:srgbClr val="B9C1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97480" y="1952243"/>
            <a:ext cx="4117238" cy="21945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78726" y="1353312"/>
            <a:ext cx="512064" cy="1417320"/>
          </a:xfrm>
          <a:prstGeom prst="rect">
            <a:avLst/>
          </a:prstGeom>
          <a:noFill/>
        </p:spPr>
        <p:txBody>
          <a:bodyPr wrap="none" anchor="ctr" lIns="0" rIns="0" tIns="0" bIns="0"/>
          <a:lstStyle/>
          <a:p>
            <a:pPr algn="l">
              <a:spcBef>
                <a:spcPts val="0"/>
              </a:spcBef>
              <a:spcAft>
                <a:spcPts val="0"/>
              </a:spcAft>
            </a:pPr>
            <a:r>
              <a:rPr sz="1200" b="1" i="0">
                <a:solidFill>
                  <a:srgbClr val="008935"/>
                </a:solidFill>
                <a:latin typeface="Karla"/>
              </a:rPr>
              <a:t>+11</a:t>
            </a:r>
          </a:p>
        </p:txBody>
      </p:sp>
      <p:sp>
        <p:nvSpPr>
          <p:cNvPr id="17" name="Rectangle 16"/>
          <p:cNvSpPr/>
          <p:nvPr/>
        </p:nvSpPr>
        <p:spPr>
          <a:xfrm>
            <a:off x="1015577" y="1443380"/>
            <a:ext cx="1599606" cy="1237183"/>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E12.png"/>
          <p:cNvPicPr>
            <a:picLocks noChangeAspect="1"/>
          </p:cNvPicPr>
          <p:nvPr/>
        </p:nvPicPr>
        <p:blipFill>
          <a:blip r:embed="rId2"/>
          <a:stretch>
            <a:fillRect/>
          </a:stretch>
        </p:blipFill>
        <p:spPr>
          <a:xfrm>
            <a:off x="1024721" y="1452524"/>
            <a:ext cx="1581318" cy="1218895"/>
          </a:xfrm>
          <a:prstGeom prst="rect">
            <a:avLst/>
          </a:prstGeom>
        </p:spPr>
      </p:pic>
      <p:sp>
        <p:nvSpPr>
          <p:cNvPr id="19" name="Rectangle 18"/>
          <p:cNvSpPr/>
          <p:nvPr/>
        </p:nvSpPr>
        <p:spPr>
          <a:xfrm>
            <a:off x="2697480" y="3369564"/>
            <a:ext cx="3368649" cy="21945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30137" y="2770632"/>
            <a:ext cx="512064" cy="1417320"/>
          </a:xfrm>
          <a:prstGeom prst="rect">
            <a:avLst/>
          </a:prstGeom>
          <a:noFill/>
        </p:spPr>
        <p:txBody>
          <a:bodyPr wrap="none" anchor="ctr" lIns="0" rIns="0" tIns="0" bIns="0"/>
          <a:lstStyle/>
          <a:p>
            <a:pPr algn="l">
              <a:spcBef>
                <a:spcPts val="0"/>
              </a:spcBef>
              <a:spcAft>
                <a:spcPts val="0"/>
              </a:spcAft>
            </a:pPr>
            <a:r>
              <a:rPr sz="1200" b="1" i="0">
                <a:solidFill>
                  <a:srgbClr val="008935"/>
                </a:solidFill>
                <a:latin typeface="Karla"/>
              </a:rPr>
              <a:t>+9</a:t>
            </a:r>
          </a:p>
        </p:txBody>
      </p:sp>
      <p:sp>
        <p:nvSpPr>
          <p:cNvPr id="21" name="Rectangle 20"/>
          <p:cNvSpPr/>
          <p:nvPr/>
        </p:nvSpPr>
        <p:spPr>
          <a:xfrm>
            <a:off x="1015577" y="2860700"/>
            <a:ext cx="1599606" cy="1237183"/>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E7.png"/>
          <p:cNvPicPr>
            <a:picLocks noChangeAspect="1"/>
          </p:cNvPicPr>
          <p:nvPr/>
        </p:nvPicPr>
        <p:blipFill>
          <a:blip r:embed="rId3"/>
          <a:stretch>
            <a:fillRect/>
          </a:stretch>
        </p:blipFill>
        <p:spPr>
          <a:xfrm>
            <a:off x="1024721" y="2869844"/>
            <a:ext cx="1581318" cy="1218895"/>
          </a:xfrm>
          <a:prstGeom prst="rect">
            <a:avLst/>
          </a:prstGeom>
        </p:spPr>
      </p:pic>
      <p:sp>
        <p:nvSpPr>
          <p:cNvPr id="23" name="Rectangle 22"/>
          <p:cNvSpPr/>
          <p:nvPr/>
        </p:nvSpPr>
        <p:spPr>
          <a:xfrm>
            <a:off x="2697480" y="4786884"/>
            <a:ext cx="2994355" cy="21945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755843" y="4187952"/>
            <a:ext cx="512064" cy="1417320"/>
          </a:xfrm>
          <a:prstGeom prst="rect">
            <a:avLst/>
          </a:prstGeom>
          <a:noFill/>
        </p:spPr>
        <p:txBody>
          <a:bodyPr wrap="none" anchor="ctr" lIns="0" rIns="0" tIns="0" bIns="0"/>
          <a:lstStyle/>
          <a:p>
            <a:pPr algn="l">
              <a:spcBef>
                <a:spcPts val="0"/>
              </a:spcBef>
              <a:spcAft>
                <a:spcPts val="0"/>
              </a:spcAft>
            </a:pPr>
            <a:r>
              <a:rPr sz="1200" b="1" i="0">
                <a:solidFill>
                  <a:srgbClr val="008935"/>
                </a:solidFill>
                <a:latin typeface="Karla"/>
              </a:rPr>
              <a:t>+8</a:t>
            </a:r>
          </a:p>
        </p:txBody>
      </p:sp>
      <p:sp>
        <p:nvSpPr>
          <p:cNvPr id="25" name="Rectangle 24"/>
          <p:cNvSpPr/>
          <p:nvPr/>
        </p:nvSpPr>
        <p:spPr>
          <a:xfrm>
            <a:off x="1015577" y="4278020"/>
            <a:ext cx="1599606" cy="1237183"/>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E4.png"/>
          <p:cNvPicPr>
            <a:picLocks noChangeAspect="1"/>
          </p:cNvPicPr>
          <p:nvPr/>
        </p:nvPicPr>
        <p:blipFill>
          <a:blip r:embed="rId4"/>
          <a:stretch>
            <a:fillRect/>
          </a:stretch>
        </p:blipFill>
        <p:spPr>
          <a:xfrm>
            <a:off x="1024721" y="4287164"/>
            <a:ext cx="1581318" cy="1218895"/>
          </a:xfrm>
          <a:prstGeom prst="rect">
            <a:avLst/>
          </a:prstGeom>
        </p:spPr>
      </p:pic>
      <p:sp>
        <p:nvSpPr>
          <p:cNvPr id="27" name="Rectangle 26"/>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n=150 respondents.  Top-2 Box model (ratings 4–5): element lifts show movement above or below the model baseline.</a:t>
            </a:r>
          </a:p>
        </p:txBody>
      </p:sp>
      <p:sp>
        <p:nvSpPr>
          <p:cNvPr id="29" name="TextBox 28"/>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98</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56032"/>
            <a:ext cx="10972800" cy="256032"/>
          </a:xfrm>
          <a:prstGeom prst="rect">
            <a:avLst/>
          </a:prstGeom>
          <a:noFill/>
        </p:spPr>
        <p:txBody>
          <a:bodyPr wrap="square" anchor="t"/>
          <a:lstStyle/>
          <a:p>
            <a:pPr algn="l">
              <a:spcAft>
                <a:spcPts val="400"/>
              </a:spcAft>
            </a:pPr>
            <a:r>
              <a:rPr sz="1200" b="1" i="0">
                <a:solidFill>
                  <a:srgbClr val="04746E"/>
                </a:solidFill>
                <a:latin typeface="Karla"/>
              </a:rPr>
              <a:t>FULL ELEMENT LIFT SUMMARY</a:t>
            </a:r>
          </a:p>
        </p:txBody>
      </p:sp>
      <p:sp>
        <p:nvSpPr>
          <p:cNvPr id="3" name="TextBox 2"/>
          <p:cNvSpPr txBox="1"/>
          <p:nvPr/>
        </p:nvSpPr>
        <p:spPr>
          <a:xfrm>
            <a:off x="438912" y="475488"/>
            <a:ext cx="11247120" cy="365760"/>
          </a:xfrm>
          <a:prstGeom prst="rect">
            <a:avLst/>
          </a:prstGeom>
          <a:noFill/>
        </p:spPr>
        <p:txBody>
          <a:bodyPr wrap="square" anchor="t"/>
          <a:lstStyle/>
          <a:p>
            <a:pPr algn="l">
              <a:spcAft>
                <a:spcPts val="400"/>
              </a:spcAft>
            </a:pPr>
            <a:r>
              <a:rPr sz="2800" b="1" i="0">
                <a:solidFill>
                  <a:srgbClr val="1E2D44"/>
                </a:solidFill>
                <a:latin typeface="Karla"/>
              </a:rPr>
              <a:t>B_Cookie   ·   C_Claim</a:t>
            </a:r>
          </a:p>
        </p:txBody>
      </p:sp>
      <p:sp>
        <p:nvSpPr>
          <p:cNvPr id="4" name="Rectangle 3"/>
          <p:cNvSpPr/>
          <p:nvPr/>
        </p:nvSpPr>
        <p:spPr>
          <a:xfrm>
            <a:off x="201168" y="1024128"/>
            <a:ext cx="5623560" cy="274320"/>
          </a:xfrm>
          <a:prstGeom prst="rect">
            <a:avLst/>
          </a:prstGeom>
          <a:solidFill>
            <a:srgbClr val="F4E0E7"/>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200" b="1">
                <a:solidFill>
                  <a:srgbClr val="1E2D44"/>
                </a:solidFill>
                <a:latin typeface="Karla"/>
              </a:rPr>
              <a:t>B_COOKIE PREFERENCES</a:t>
            </a:r>
          </a:p>
        </p:txBody>
      </p:sp>
      <p:sp>
        <p:nvSpPr>
          <p:cNvPr id="5" name="Rectangle 4"/>
          <p:cNvSpPr/>
          <p:nvPr/>
        </p:nvSpPr>
        <p:spPr>
          <a:xfrm>
            <a:off x="1892808" y="1353312"/>
            <a:ext cx="9144" cy="4251960"/>
          </a:xfrm>
          <a:prstGeom prst="rect">
            <a:avLst/>
          </a:prstGeom>
          <a:solidFill>
            <a:srgbClr val="E6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19656" y="5623560"/>
            <a:ext cx="585216" cy="219456"/>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7" name="Rectangle 6"/>
          <p:cNvSpPr/>
          <p:nvPr/>
        </p:nvSpPr>
        <p:spPr>
          <a:xfrm>
            <a:off x="2862072" y="1353312"/>
            <a:ext cx="9144" cy="4251960"/>
          </a:xfrm>
          <a:prstGeom prst="rect">
            <a:avLst/>
          </a:prstGeom>
          <a:solidFill>
            <a:srgbClr val="E6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569464" y="5623560"/>
            <a:ext cx="585216" cy="219456"/>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9" name="Rectangle 8"/>
          <p:cNvSpPr/>
          <p:nvPr/>
        </p:nvSpPr>
        <p:spPr>
          <a:xfrm>
            <a:off x="3831336" y="1353312"/>
            <a:ext cx="9144" cy="4251960"/>
          </a:xfrm>
          <a:prstGeom prst="rect">
            <a:avLst/>
          </a:prstGeom>
          <a:solidFill>
            <a:srgbClr val="E6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38728" y="5623560"/>
            <a:ext cx="585216" cy="219456"/>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1" name="Rectangle 10"/>
          <p:cNvSpPr/>
          <p:nvPr/>
        </p:nvSpPr>
        <p:spPr>
          <a:xfrm>
            <a:off x="4800600" y="1353312"/>
            <a:ext cx="9144" cy="4251960"/>
          </a:xfrm>
          <a:prstGeom prst="rect">
            <a:avLst/>
          </a:prstGeom>
          <a:solidFill>
            <a:srgbClr val="E6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07992" y="5623560"/>
            <a:ext cx="585216" cy="219456"/>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30</a:t>
            </a:r>
          </a:p>
        </p:txBody>
      </p:sp>
      <p:sp>
        <p:nvSpPr>
          <p:cNvPr id="13" name="Rectangle 12"/>
          <p:cNvSpPr/>
          <p:nvPr/>
        </p:nvSpPr>
        <p:spPr>
          <a:xfrm>
            <a:off x="5769864" y="1353312"/>
            <a:ext cx="9144" cy="4251960"/>
          </a:xfrm>
          <a:prstGeom prst="rect">
            <a:avLst/>
          </a:prstGeom>
          <a:solidFill>
            <a:srgbClr val="E6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57800" y="5623560"/>
            <a:ext cx="585216" cy="219456"/>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40</a:t>
            </a:r>
          </a:p>
        </p:txBody>
      </p:sp>
      <p:sp>
        <p:nvSpPr>
          <p:cNvPr id="15" name="Rectangle 14"/>
          <p:cNvSpPr/>
          <p:nvPr/>
        </p:nvSpPr>
        <p:spPr>
          <a:xfrm>
            <a:off x="1892808" y="1353312"/>
            <a:ext cx="13716" cy="4251960"/>
          </a:xfrm>
          <a:prstGeom prst="rect">
            <a:avLst/>
          </a:prstGeom>
          <a:solidFill>
            <a:srgbClr val="B9C1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892808" y="5605272"/>
            <a:ext cx="3877056" cy="10972"/>
          </a:xfrm>
          <a:prstGeom prst="rect">
            <a:avLst/>
          </a:prstGeom>
          <a:solidFill>
            <a:srgbClr val="B9C1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92808" y="1509331"/>
            <a:ext cx="2520086" cy="21945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76902" y="1353312"/>
            <a:ext cx="512064" cy="531495"/>
          </a:xfrm>
          <a:prstGeom prst="rect">
            <a:avLst/>
          </a:prstGeom>
          <a:noFill/>
        </p:spPr>
        <p:txBody>
          <a:bodyPr wrap="none" anchor="ctr" lIns="0" rIns="0" tIns="0" bIns="0"/>
          <a:lstStyle/>
          <a:p>
            <a:pPr algn="l">
              <a:spcBef>
                <a:spcPts val="0"/>
              </a:spcBef>
              <a:spcAft>
                <a:spcPts val="0"/>
              </a:spcAft>
            </a:pPr>
            <a:r>
              <a:rPr sz="1200" b="1" i="0">
                <a:solidFill>
                  <a:srgbClr val="008935"/>
                </a:solidFill>
                <a:latin typeface="Karla"/>
              </a:rPr>
              <a:t>+26</a:t>
            </a:r>
          </a:p>
        </p:txBody>
      </p:sp>
      <p:sp>
        <p:nvSpPr>
          <p:cNvPr id="19" name="Rectangle 18"/>
          <p:cNvSpPr/>
          <p:nvPr/>
        </p:nvSpPr>
        <p:spPr>
          <a:xfrm>
            <a:off x="1199888" y="1381372"/>
            <a:ext cx="610623" cy="475373"/>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B1.png"/>
          <p:cNvPicPr>
            <a:picLocks noChangeAspect="1"/>
          </p:cNvPicPr>
          <p:nvPr/>
        </p:nvPicPr>
        <p:blipFill>
          <a:blip r:embed="rId2"/>
          <a:stretch>
            <a:fillRect/>
          </a:stretch>
        </p:blipFill>
        <p:spPr>
          <a:xfrm>
            <a:off x="1209032" y="1390516"/>
            <a:ext cx="592335" cy="457085"/>
          </a:xfrm>
          <a:prstGeom prst="rect">
            <a:avLst/>
          </a:prstGeom>
        </p:spPr>
      </p:pic>
      <p:sp>
        <p:nvSpPr>
          <p:cNvPr id="21" name="Rectangle 20"/>
          <p:cNvSpPr/>
          <p:nvPr/>
        </p:nvSpPr>
        <p:spPr>
          <a:xfrm>
            <a:off x="1892808" y="2040826"/>
            <a:ext cx="2229307" cy="21945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86123" y="1884807"/>
            <a:ext cx="512064" cy="531495"/>
          </a:xfrm>
          <a:prstGeom prst="rect">
            <a:avLst/>
          </a:prstGeom>
          <a:noFill/>
        </p:spPr>
        <p:txBody>
          <a:bodyPr wrap="none" anchor="ctr" lIns="0" rIns="0" tIns="0" bIns="0"/>
          <a:lstStyle/>
          <a:p>
            <a:pPr algn="l">
              <a:spcBef>
                <a:spcPts val="0"/>
              </a:spcBef>
              <a:spcAft>
                <a:spcPts val="0"/>
              </a:spcAft>
            </a:pPr>
            <a:r>
              <a:rPr sz="1200" b="1" i="0">
                <a:solidFill>
                  <a:srgbClr val="008935"/>
                </a:solidFill>
                <a:latin typeface="Karla"/>
              </a:rPr>
              <a:t>+23</a:t>
            </a:r>
          </a:p>
        </p:txBody>
      </p:sp>
      <p:sp>
        <p:nvSpPr>
          <p:cNvPr id="23" name="Rectangle 22"/>
          <p:cNvSpPr/>
          <p:nvPr/>
        </p:nvSpPr>
        <p:spPr>
          <a:xfrm>
            <a:off x="1199888" y="1912867"/>
            <a:ext cx="610623" cy="475373"/>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B5.png"/>
          <p:cNvPicPr>
            <a:picLocks noChangeAspect="1"/>
          </p:cNvPicPr>
          <p:nvPr/>
        </p:nvPicPr>
        <p:blipFill>
          <a:blip r:embed="rId3"/>
          <a:stretch>
            <a:fillRect/>
          </a:stretch>
        </p:blipFill>
        <p:spPr>
          <a:xfrm>
            <a:off x="1209032" y="1922011"/>
            <a:ext cx="592335" cy="457085"/>
          </a:xfrm>
          <a:prstGeom prst="rect">
            <a:avLst/>
          </a:prstGeom>
        </p:spPr>
      </p:pic>
      <p:sp>
        <p:nvSpPr>
          <p:cNvPr id="25" name="Rectangle 24"/>
          <p:cNvSpPr/>
          <p:nvPr/>
        </p:nvSpPr>
        <p:spPr>
          <a:xfrm>
            <a:off x="1892808" y="2572321"/>
            <a:ext cx="2132380" cy="21945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089196" y="2416302"/>
            <a:ext cx="512064" cy="531495"/>
          </a:xfrm>
          <a:prstGeom prst="rect">
            <a:avLst/>
          </a:prstGeom>
          <a:noFill/>
        </p:spPr>
        <p:txBody>
          <a:bodyPr wrap="none" anchor="ctr" lIns="0" rIns="0" tIns="0" bIns="0"/>
          <a:lstStyle/>
          <a:p>
            <a:pPr algn="l">
              <a:spcBef>
                <a:spcPts val="0"/>
              </a:spcBef>
              <a:spcAft>
                <a:spcPts val="0"/>
              </a:spcAft>
            </a:pPr>
            <a:r>
              <a:rPr sz="1200" b="1" i="0">
                <a:solidFill>
                  <a:srgbClr val="008935"/>
                </a:solidFill>
                <a:latin typeface="Karla"/>
              </a:rPr>
              <a:t>+22</a:t>
            </a:r>
          </a:p>
        </p:txBody>
      </p:sp>
      <p:sp>
        <p:nvSpPr>
          <p:cNvPr id="27" name="Rectangle 26"/>
          <p:cNvSpPr/>
          <p:nvPr/>
        </p:nvSpPr>
        <p:spPr>
          <a:xfrm>
            <a:off x="1199888" y="2444362"/>
            <a:ext cx="610623" cy="475373"/>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B2.png"/>
          <p:cNvPicPr>
            <a:picLocks noChangeAspect="1"/>
          </p:cNvPicPr>
          <p:nvPr/>
        </p:nvPicPr>
        <p:blipFill>
          <a:blip r:embed="rId4"/>
          <a:stretch>
            <a:fillRect/>
          </a:stretch>
        </p:blipFill>
        <p:spPr>
          <a:xfrm>
            <a:off x="1209032" y="2453506"/>
            <a:ext cx="592335" cy="457085"/>
          </a:xfrm>
          <a:prstGeom prst="rect">
            <a:avLst/>
          </a:prstGeom>
        </p:spPr>
      </p:pic>
      <p:sp>
        <p:nvSpPr>
          <p:cNvPr id="29" name="Rectangle 28"/>
          <p:cNvSpPr/>
          <p:nvPr/>
        </p:nvSpPr>
        <p:spPr>
          <a:xfrm>
            <a:off x="1892808" y="3103816"/>
            <a:ext cx="2132380" cy="21945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089196" y="2947797"/>
            <a:ext cx="512064" cy="531495"/>
          </a:xfrm>
          <a:prstGeom prst="rect">
            <a:avLst/>
          </a:prstGeom>
          <a:noFill/>
        </p:spPr>
        <p:txBody>
          <a:bodyPr wrap="none" anchor="ctr" lIns="0" rIns="0" tIns="0" bIns="0"/>
          <a:lstStyle/>
          <a:p>
            <a:pPr algn="l">
              <a:spcBef>
                <a:spcPts val="0"/>
              </a:spcBef>
              <a:spcAft>
                <a:spcPts val="0"/>
              </a:spcAft>
            </a:pPr>
            <a:r>
              <a:rPr sz="1200" b="1" i="0">
                <a:solidFill>
                  <a:srgbClr val="008935"/>
                </a:solidFill>
                <a:latin typeface="Karla"/>
              </a:rPr>
              <a:t>+22</a:t>
            </a:r>
          </a:p>
        </p:txBody>
      </p:sp>
      <p:sp>
        <p:nvSpPr>
          <p:cNvPr id="31" name="Rectangle 30"/>
          <p:cNvSpPr/>
          <p:nvPr/>
        </p:nvSpPr>
        <p:spPr>
          <a:xfrm>
            <a:off x="1199888" y="2975857"/>
            <a:ext cx="610623" cy="475373"/>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B4.png"/>
          <p:cNvPicPr>
            <a:picLocks noChangeAspect="1"/>
          </p:cNvPicPr>
          <p:nvPr/>
        </p:nvPicPr>
        <p:blipFill>
          <a:blip r:embed="rId5"/>
          <a:stretch>
            <a:fillRect/>
          </a:stretch>
        </p:blipFill>
        <p:spPr>
          <a:xfrm>
            <a:off x="1209032" y="2985001"/>
            <a:ext cx="592335" cy="457085"/>
          </a:xfrm>
          <a:prstGeom prst="rect">
            <a:avLst/>
          </a:prstGeom>
        </p:spPr>
      </p:pic>
      <p:sp>
        <p:nvSpPr>
          <p:cNvPr id="33" name="Rectangle 32"/>
          <p:cNvSpPr/>
          <p:nvPr/>
        </p:nvSpPr>
        <p:spPr>
          <a:xfrm>
            <a:off x="1892808" y="3635311"/>
            <a:ext cx="2035454" cy="21945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992270" y="3479292"/>
            <a:ext cx="512064" cy="531495"/>
          </a:xfrm>
          <a:prstGeom prst="rect">
            <a:avLst/>
          </a:prstGeom>
          <a:noFill/>
        </p:spPr>
        <p:txBody>
          <a:bodyPr wrap="none" anchor="ctr" lIns="0" rIns="0" tIns="0" bIns="0"/>
          <a:lstStyle/>
          <a:p>
            <a:pPr algn="l">
              <a:spcBef>
                <a:spcPts val="0"/>
              </a:spcBef>
              <a:spcAft>
                <a:spcPts val="0"/>
              </a:spcAft>
            </a:pPr>
            <a:r>
              <a:rPr sz="1200" b="1" i="0">
                <a:solidFill>
                  <a:srgbClr val="008935"/>
                </a:solidFill>
                <a:latin typeface="Karla"/>
              </a:rPr>
              <a:t>+21</a:t>
            </a:r>
          </a:p>
        </p:txBody>
      </p:sp>
      <p:sp>
        <p:nvSpPr>
          <p:cNvPr id="35" name="Rectangle 34"/>
          <p:cNvSpPr/>
          <p:nvPr/>
        </p:nvSpPr>
        <p:spPr>
          <a:xfrm>
            <a:off x="1199888" y="3507352"/>
            <a:ext cx="610623" cy="475373"/>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B3.png"/>
          <p:cNvPicPr>
            <a:picLocks noChangeAspect="1"/>
          </p:cNvPicPr>
          <p:nvPr/>
        </p:nvPicPr>
        <p:blipFill>
          <a:blip r:embed="rId6"/>
          <a:stretch>
            <a:fillRect/>
          </a:stretch>
        </p:blipFill>
        <p:spPr>
          <a:xfrm>
            <a:off x="1209032" y="3516496"/>
            <a:ext cx="592335" cy="457085"/>
          </a:xfrm>
          <a:prstGeom prst="rect">
            <a:avLst/>
          </a:prstGeom>
        </p:spPr>
      </p:pic>
      <p:sp>
        <p:nvSpPr>
          <p:cNvPr id="37" name="Rectangle 36"/>
          <p:cNvSpPr/>
          <p:nvPr/>
        </p:nvSpPr>
        <p:spPr>
          <a:xfrm>
            <a:off x="1892808" y="4166806"/>
            <a:ext cx="1938528" cy="21945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895344" y="4010787"/>
            <a:ext cx="512064" cy="531495"/>
          </a:xfrm>
          <a:prstGeom prst="rect">
            <a:avLst/>
          </a:prstGeom>
          <a:noFill/>
        </p:spPr>
        <p:txBody>
          <a:bodyPr wrap="none" anchor="ctr" lIns="0" rIns="0" tIns="0" bIns="0"/>
          <a:lstStyle/>
          <a:p>
            <a:pPr algn="l">
              <a:spcBef>
                <a:spcPts val="0"/>
              </a:spcBef>
              <a:spcAft>
                <a:spcPts val="0"/>
              </a:spcAft>
            </a:pPr>
            <a:r>
              <a:rPr sz="1200" b="1" i="0">
                <a:solidFill>
                  <a:srgbClr val="008935"/>
                </a:solidFill>
                <a:latin typeface="Karla"/>
              </a:rPr>
              <a:t>+20</a:t>
            </a:r>
          </a:p>
        </p:txBody>
      </p:sp>
      <p:sp>
        <p:nvSpPr>
          <p:cNvPr id="39" name="Rectangle 38"/>
          <p:cNvSpPr/>
          <p:nvPr/>
        </p:nvSpPr>
        <p:spPr>
          <a:xfrm>
            <a:off x="1199888" y="4038847"/>
            <a:ext cx="610623" cy="475373"/>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0" name="Picture 39" descr="B8.png"/>
          <p:cNvPicPr>
            <a:picLocks noChangeAspect="1"/>
          </p:cNvPicPr>
          <p:nvPr/>
        </p:nvPicPr>
        <p:blipFill>
          <a:blip r:embed="rId7"/>
          <a:stretch>
            <a:fillRect/>
          </a:stretch>
        </p:blipFill>
        <p:spPr>
          <a:xfrm>
            <a:off x="1209032" y="4047991"/>
            <a:ext cx="592335" cy="457085"/>
          </a:xfrm>
          <a:prstGeom prst="rect">
            <a:avLst/>
          </a:prstGeom>
        </p:spPr>
      </p:pic>
      <p:sp>
        <p:nvSpPr>
          <p:cNvPr id="41" name="Rectangle 40"/>
          <p:cNvSpPr/>
          <p:nvPr/>
        </p:nvSpPr>
        <p:spPr>
          <a:xfrm>
            <a:off x="1892808" y="4698301"/>
            <a:ext cx="1647748" cy="21945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04564" y="4542282"/>
            <a:ext cx="512064" cy="531495"/>
          </a:xfrm>
          <a:prstGeom prst="rect">
            <a:avLst/>
          </a:prstGeom>
          <a:noFill/>
        </p:spPr>
        <p:txBody>
          <a:bodyPr wrap="none" anchor="ctr" lIns="0" rIns="0" tIns="0" bIns="0"/>
          <a:lstStyle/>
          <a:p>
            <a:pPr algn="l">
              <a:spcBef>
                <a:spcPts val="0"/>
              </a:spcBef>
              <a:spcAft>
                <a:spcPts val="0"/>
              </a:spcAft>
            </a:pPr>
            <a:r>
              <a:rPr sz="1200" b="1" i="0">
                <a:solidFill>
                  <a:srgbClr val="008935"/>
                </a:solidFill>
                <a:latin typeface="Karla"/>
              </a:rPr>
              <a:t>+17</a:t>
            </a:r>
          </a:p>
        </p:txBody>
      </p:sp>
      <p:sp>
        <p:nvSpPr>
          <p:cNvPr id="43" name="Rectangle 42"/>
          <p:cNvSpPr/>
          <p:nvPr/>
        </p:nvSpPr>
        <p:spPr>
          <a:xfrm>
            <a:off x="1199888" y="4570342"/>
            <a:ext cx="610623" cy="475373"/>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4" name="Picture 43" descr="B7.png"/>
          <p:cNvPicPr>
            <a:picLocks noChangeAspect="1"/>
          </p:cNvPicPr>
          <p:nvPr/>
        </p:nvPicPr>
        <p:blipFill>
          <a:blip r:embed="rId8"/>
          <a:stretch>
            <a:fillRect/>
          </a:stretch>
        </p:blipFill>
        <p:spPr>
          <a:xfrm>
            <a:off x="1209032" y="4579486"/>
            <a:ext cx="592335" cy="457085"/>
          </a:xfrm>
          <a:prstGeom prst="rect">
            <a:avLst/>
          </a:prstGeom>
        </p:spPr>
      </p:pic>
      <p:sp>
        <p:nvSpPr>
          <p:cNvPr id="45" name="Rectangle 44"/>
          <p:cNvSpPr/>
          <p:nvPr/>
        </p:nvSpPr>
        <p:spPr>
          <a:xfrm>
            <a:off x="1892808" y="5229796"/>
            <a:ext cx="1550822" cy="21945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507638" y="5073777"/>
            <a:ext cx="512064" cy="531495"/>
          </a:xfrm>
          <a:prstGeom prst="rect">
            <a:avLst/>
          </a:prstGeom>
          <a:noFill/>
        </p:spPr>
        <p:txBody>
          <a:bodyPr wrap="none" anchor="ctr" lIns="0" rIns="0" tIns="0" bIns="0"/>
          <a:lstStyle/>
          <a:p>
            <a:pPr algn="l">
              <a:spcBef>
                <a:spcPts val="0"/>
              </a:spcBef>
              <a:spcAft>
                <a:spcPts val="0"/>
              </a:spcAft>
            </a:pPr>
            <a:r>
              <a:rPr sz="1200" b="1" i="0">
                <a:solidFill>
                  <a:srgbClr val="008935"/>
                </a:solidFill>
                <a:latin typeface="Karla"/>
              </a:rPr>
              <a:t>+16</a:t>
            </a:r>
          </a:p>
        </p:txBody>
      </p:sp>
      <p:sp>
        <p:nvSpPr>
          <p:cNvPr id="47" name="Rectangle 46"/>
          <p:cNvSpPr/>
          <p:nvPr/>
        </p:nvSpPr>
        <p:spPr>
          <a:xfrm>
            <a:off x="1199888" y="5101837"/>
            <a:ext cx="610623" cy="475373"/>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8" name="Picture 47" descr="B6.png"/>
          <p:cNvPicPr>
            <a:picLocks noChangeAspect="1"/>
          </p:cNvPicPr>
          <p:nvPr/>
        </p:nvPicPr>
        <p:blipFill>
          <a:blip r:embed="rId9"/>
          <a:stretch>
            <a:fillRect/>
          </a:stretch>
        </p:blipFill>
        <p:spPr>
          <a:xfrm>
            <a:off x="1209032" y="5110981"/>
            <a:ext cx="592335" cy="457085"/>
          </a:xfrm>
          <a:prstGeom prst="rect">
            <a:avLst/>
          </a:prstGeom>
        </p:spPr>
      </p:pic>
      <p:sp>
        <p:nvSpPr>
          <p:cNvPr id="49" name="Rectangle 48"/>
          <p:cNvSpPr/>
          <p:nvPr/>
        </p:nvSpPr>
        <p:spPr>
          <a:xfrm>
            <a:off x="6355080" y="1024128"/>
            <a:ext cx="5623560" cy="274320"/>
          </a:xfrm>
          <a:prstGeom prst="rect">
            <a:avLst/>
          </a:prstGeom>
          <a:solidFill>
            <a:srgbClr val="F4E0E7"/>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200" b="1">
                <a:solidFill>
                  <a:srgbClr val="1E2D44"/>
                </a:solidFill>
                <a:latin typeface="Karla"/>
              </a:rPr>
              <a:t>C_CLAIM PREFERENCES</a:t>
            </a:r>
          </a:p>
        </p:txBody>
      </p:sp>
      <p:sp>
        <p:nvSpPr>
          <p:cNvPr id="50" name="Rectangle 49"/>
          <p:cNvSpPr/>
          <p:nvPr/>
        </p:nvSpPr>
        <p:spPr>
          <a:xfrm>
            <a:off x="8046720" y="1353312"/>
            <a:ext cx="9144" cy="4251960"/>
          </a:xfrm>
          <a:prstGeom prst="rect">
            <a:avLst/>
          </a:prstGeom>
          <a:solidFill>
            <a:srgbClr val="E6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973568" y="5623560"/>
            <a:ext cx="585216" cy="219456"/>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52" name="Rectangle 51"/>
          <p:cNvSpPr/>
          <p:nvPr/>
        </p:nvSpPr>
        <p:spPr>
          <a:xfrm>
            <a:off x="9339072" y="1353312"/>
            <a:ext cx="9144" cy="4251960"/>
          </a:xfrm>
          <a:prstGeom prst="rect">
            <a:avLst/>
          </a:prstGeom>
          <a:solidFill>
            <a:srgbClr val="E6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046464" y="5623560"/>
            <a:ext cx="585216" cy="219456"/>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54" name="Rectangle 53"/>
          <p:cNvSpPr/>
          <p:nvPr/>
        </p:nvSpPr>
        <p:spPr>
          <a:xfrm>
            <a:off x="10631424" y="1353312"/>
            <a:ext cx="9144" cy="4251960"/>
          </a:xfrm>
          <a:prstGeom prst="rect">
            <a:avLst/>
          </a:prstGeom>
          <a:solidFill>
            <a:srgbClr val="E6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338816" y="5623560"/>
            <a:ext cx="585216" cy="219456"/>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56" name="Rectangle 55"/>
          <p:cNvSpPr/>
          <p:nvPr/>
        </p:nvSpPr>
        <p:spPr>
          <a:xfrm>
            <a:off x="11923776" y="1353312"/>
            <a:ext cx="9144" cy="4251960"/>
          </a:xfrm>
          <a:prstGeom prst="rect">
            <a:avLst/>
          </a:prstGeom>
          <a:solidFill>
            <a:srgbClr val="E6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1411712" y="5623560"/>
            <a:ext cx="585216" cy="219456"/>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30</a:t>
            </a:r>
          </a:p>
        </p:txBody>
      </p:sp>
      <p:sp>
        <p:nvSpPr>
          <p:cNvPr id="58" name="Rectangle 57"/>
          <p:cNvSpPr/>
          <p:nvPr/>
        </p:nvSpPr>
        <p:spPr>
          <a:xfrm>
            <a:off x="8046720" y="1353312"/>
            <a:ext cx="13716" cy="4251960"/>
          </a:xfrm>
          <a:prstGeom prst="rect">
            <a:avLst/>
          </a:prstGeom>
          <a:solidFill>
            <a:srgbClr val="B9C1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8046720" y="5605272"/>
            <a:ext cx="3877056" cy="10972"/>
          </a:xfrm>
          <a:prstGeom prst="rect">
            <a:avLst/>
          </a:prstGeom>
          <a:solidFill>
            <a:srgbClr val="B9C1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8046720" y="1597914"/>
            <a:ext cx="2972409" cy="21945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1083137" y="1353312"/>
            <a:ext cx="512064" cy="708660"/>
          </a:xfrm>
          <a:prstGeom prst="rect">
            <a:avLst/>
          </a:prstGeom>
          <a:noFill/>
        </p:spPr>
        <p:txBody>
          <a:bodyPr wrap="none" anchor="ctr" lIns="0" rIns="0" tIns="0" bIns="0"/>
          <a:lstStyle/>
          <a:p>
            <a:pPr algn="l">
              <a:spcBef>
                <a:spcPts val="0"/>
              </a:spcBef>
              <a:spcAft>
                <a:spcPts val="0"/>
              </a:spcAft>
            </a:pPr>
            <a:r>
              <a:rPr sz="1200" b="1" i="0">
                <a:solidFill>
                  <a:srgbClr val="008935"/>
                </a:solidFill>
                <a:latin typeface="Karla"/>
              </a:rPr>
              <a:t>+23</a:t>
            </a:r>
          </a:p>
        </p:txBody>
      </p:sp>
      <p:sp>
        <p:nvSpPr>
          <p:cNvPr id="62" name="Rectangle 61"/>
          <p:cNvSpPr/>
          <p:nvPr/>
        </p:nvSpPr>
        <p:spPr>
          <a:xfrm>
            <a:off x="6981711" y="1393774"/>
            <a:ext cx="982712" cy="62773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3" name="Picture 62" descr="C4.png"/>
          <p:cNvPicPr>
            <a:picLocks noChangeAspect="1"/>
          </p:cNvPicPr>
          <p:nvPr/>
        </p:nvPicPr>
        <p:blipFill>
          <a:blip r:embed="rId10"/>
          <a:stretch>
            <a:fillRect/>
          </a:stretch>
        </p:blipFill>
        <p:spPr>
          <a:xfrm>
            <a:off x="6990855" y="1402918"/>
            <a:ext cx="964424" cy="609447"/>
          </a:xfrm>
          <a:prstGeom prst="rect">
            <a:avLst/>
          </a:prstGeom>
        </p:spPr>
      </p:pic>
      <p:sp>
        <p:nvSpPr>
          <p:cNvPr id="64" name="Rectangle 63"/>
          <p:cNvSpPr/>
          <p:nvPr/>
        </p:nvSpPr>
        <p:spPr>
          <a:xfrm>
            <a:off x="8046720" y="2306574"/>
            <a:ext cx="2713939" cy="21945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0824667" y="2061972"/>
            <a:ext cx="512064" cy="708660"/>
          </a:xfrm>
          <a:prstGeom prst="rect">
            <a:avLst/>
          </a:prstGeom>
          <a:noFill/>
        </p:spPr>
        <p:txBody>
          <a:bodyPr wrap="none" anchor="ctr" lIns="0" rIns="0" tIns="0" bIns="0"/>
          <a:lstStyle/>
          <a:p>
            <a:pPr algn="l">
              <a:spcBef>
                <a:spcPts val="0"/>
              </a:spcBef>
              <a:spcAft>
                <a:spcPts val="0"/>
              </a:spcAft>
            </a:pPr>
            <a:r>
              <a:rPr sz="1200" b="1" i="0">
                <a:solidFill>
                  <a:srgbClr val="008935"/>
                </a:solidFill>
                <a:latin typeface="Karla"/>
              </a:rPr>
              <a:t>+21</a:t>
            </a:r>
          </a:p>
        </p:txBody>
      </p:sp>
      <p:sp>
        <p:nvSpPr>
          <p:cNvPr id="66" name="Rectangle 65"/>
          <p:cNvSpPr/>
          <p:nvPr/>
        </p:nvSpPr>
        <p:spPr>
          <a:xfrm>
            <a:off x="6631012" y="2102434"/>
            <a:ext cx="1333411" cy="62773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7" name="Picture 66" descr="C5.png"/>
          <p:cNvPicPr>
            <a:picLocks noChangeAspect="1"/>
          </p:cNvPicPr>
          <p:nvPr/>
        </p:nvPicPr>
        <p:blipFill>
          <a:blip r:embed="rId11"/>
          <a:stretch>
            <a:fillRect/>
          </a:stretch>
        </p:blipFill>
        <p:spPr>
          <a:xfrm>
            <a:off x="6640156" y="2111578"/>
            <a:ext cx="1315123" cy="609447"/>
          </a:xfrm>
          <a:prstGeom prst="rect">
            <a:avLst/>
          </a:prstGeom>
        </p:spPr>
      </p:pic>
      <p:sp>
        <p:nvSpPr>
          <p:cNvPr id="68" name="Rectangle 67"/>
          <p:cNvSpPr/>
          <p:nvPr/>
        </p:nvSpPr>
        <p:spPr>
          <a:xfrm>
            <a:off x="8046720" y="3015234"/>
            <a:ext cx="2196998" cy="21945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0307726" y="2770632"/>
            <a:ext cx="512064" cy="708660"/>
          </a:xfrm>
          <a:prstGeom prst="rect">
            <a:avLst/>
          </a:prstGeom>
          <a:noFill/>
        </p:spPr>
        <p:txBody>
          <a:bodyPr wrap="none" anchor="ctr" lIns="0" rIns="0" tIns="0" bIns="0"/>
          <a:lstStyle/>
          <a:p>
            <a:pPr algn="l">
              <a:spcBef>
                <a:spcPts val="0"/>
              </a:spcBef>
              <a:spcAft>
                <a:spcPts val="0"/>
              </a:spcAft>
            </a:pPr>
            <a:r>
              <a:rPr sz="1200" b="1" i="0">
                <a:solidFill>
                  <a:srgbClr val="008935"/>
                </a:solidFill>
                <a:latin typeface="Karla"/>
              </a:rPr>
              <a:t>+17</a:t>
            </a:r>
          </a:p>
        </p:txBody>
      </p:sp>
      <p:sp>
        <p:nvSpPr>
          <p:cNvPr id="70" name="Rectangle 69"/>
          <p:cNvSpPr/>
          <p:nvPr/>
        </p:nvSpPr>
        <p:spPr>
          <a:xfrm>
            <a:off x="6550304" y="2811094"/>
            <a:ext cx="1414119" cy="62773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1" name="Picture 70" descr="C1.png"/>
          <p:cNvPicPr>
            <a:picLocks noChangeAspect="1"/>
          </p:cNvPicPr>
          <p:nvPr/>
        </p:nvPicPr>
        <p:blipFill>
          <a:blip r:embed="rId12"/>
          <a:stretch>
            <a:fillRect/>
          </a:stretch>
        </p:blipFill>
        <p:spPr>
          <a:xfrm>
            <a:off x="6559448" y="2820238"/>
            <a:ext cx="1395831" cy="609447"/>
          </a:xfrm>
          <a:prstGeom prst="rect">
            <a:avLst/>
          </a:prstGeom>
        </p:spPr>
      </p:pic>
      <p:sp>
        <p:nvSpPr>
          <p:cNvPr id="72" name="Rectangle 71"/>
          <p:cNvSpPr/>
          <p:nvPr/>
        </p:nvSpPr>
        <p:spPr>
          <a:xfrm>
            <a:off x="8046720" y="3723894"/>
            <a:ext cx="2067763" cy="21945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10178491" y="3479292"/>
            <a:ext cx="512064" cy="708660"/>
          </a:xfrm>
          <a:prstGeom prst="rect">
            <a:avLst/>
          </a:prstGeom>
          <a:noFill/>
        </p:spPr>
        <p:txBody>
          <a:bodyPr wrap="none" anchor="ctr" lIns="0" rIns="0" tIns="0" bIns="0"/>
          <a:lstStyle/>
          <a:p>
            <a:pPr algn="l">
              <a:spcBef>
                <a:spcPts val="0"/>
              </a:spcBef>
              <a:spcAft>
                <a:spcPts val="0"/>
              </a:spcAft>
            </a:pPr>
            <a:r>
              <a:rPr sz="1200" b="1" i="0">
                <a:solidFill>
                  <a:srgbClr val="008935"/>
                </a:solidFill>
                <a:latin typeface="Karla"/>
              </a:rPr>
              <a:t>+16</a:t>
            </a:r>
          </a:p>
        </p:txBody>
      </p:sp>
      <p:sp>
        <p:nvSpPr>
          <p:cNvPr id="74" name="Rectangle 73"/>
          <p:cNvSpPr/>
          <p:nvPr/>
        </p:nvSpPr>
        <p:spPr>
          <a:xfrm>
            <a:off x="6345936" y="3544161"/>
            <a:ext cx="1618488" cy="578921"/>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5" name="Picture 74" descr="C2.png"/>
          <p:cNvPicPr>
            <a:picLocks noChangeAspect="1"/>
          </p:cNvPicPr>
          <p:nvPr/>
        </p:nvPicPr>
        <p:blipFill>
          <a:blip r:embed="rId13"/>
          <a:stretch>
            <a:fillRect/>
          </a:stretch>
        </p:blipFill>
        <p:spPr>
          <a:xfrm>
            <a:off x="6355079" y="3553305"/>
            <a:ext cx="1600200" cy="560633"/>
          </a:xfrm>
          <a:prstGeom prst="rect">
            <a:avLst/>
          </a:prstGeom>
        </p:spPr>
      </p:pic>
      <p:sp>
        <p:nvSpPr>
          <p:cNvPr id="76" name="Rectangle 75"/>
          <p:cNvSpPr/>
          <p:nvPr/>
        </p:nvSpPr>
        <p:spPr>
          <a:xfrm>
            <a:off x="8046720" y="4432554"/>
            <a:ext cx="1809292" cy="21945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9920020" y="4187952"/>
            <a:ext cx="512064" cy="708660"/>
          </a:xfrm>
          <a:prstGeom prst="rect">
            <a:avLst/>
          </a:prstGeom>
          <a:noFill/>
        </p:spPr>
        <p:txBody>
          <a:bodyPr wrap="none" anchor="ctr" lIns="0" rIns="0" tIns="0" bIns="0"/>
          <a:lstStyle/>
          <a:p>
            <a:pPr algn="l">
              <a:spcBef>
                <a:spcPts val="0"/>
              </a:spcBef>
              <a:spcAft>
                <a:spcPts val="0"/>
              </a:spcAft>
            </a:pPr>
            <a:r>
              <a:rPr sz="1200" b="1" i="0">
                <a:solidFill>
                  <a:srgbClr val="008935"/>
                </a:solidFill>
                <a:latin typeface="Karla"/>
              </a:rPr>
              <a:t>+14</a:t>
            </a:r>
          </a:p>
        </p:txBody>
      </p:sp>
      <p:sp>
        <p:nvSpPr>
          <p:cNvPr id="78" name="Rectangle 77"/>
          <p:cNvSpPr/>
          <p:nvPr/>
        </p:nvSpPr>
        <p:spPr>
          <a:xfrm>
            <a:off x="6345936" y="4359514"/>
            <a:ext cx="1618488" cy="365534"/>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9" name="Picture 78" descr="C6.png"/>
          <p:cNvPicPr>
            <a:picLocks noChangeAspect="1"/>
          </p:cNvPicPr>
          <p:nvPr/>
        </p:nvPicPr>
        <p:blipFill>
          <a:blip r:embed="rId14"/>
          <a:stretch>
            <a:fillRect/>
          </a:stretch>
        </p:blipFill>
        <p:spPr>
          <a:xfrm>
            <a:off x="6355079" y="4368658"/>
            <a:ext cx="1600200" cy="347246"/>
          </a:xfrm>
          <a:prstGeom prst="rect">
            <a:avLst/>
          </a:prstGeom>
        </p:spPr>
      </p:pic>
      <p:sp>
        <p:nvSpPr>
          <p:cNvPr id="80" name="Rectangle 79"/>
          <p:cNvSpPr/>
          <p:nvPr/>
        </p:nvSpPr>
        <p:spPr>
          <a:xfrm>
            <a:off x="8046720" y="5141214"/>
            <a:ext cx="1550822" cy="21945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9661550" y="4896612"/>
            <a:ext cx="512064" cy="708660"/>
          </a:xfrm>
          <a:prstGeom prst="rect">
            <a:avLst/>
          </a:prstGeom>
          <a:noFill/>
        </p:spPr>
        <p:txBody>
          <a:bodyPr wrap="none" anchor="ctr" lIns="0" rIns="0" tIns="0" bIns="0"/>
          <a:lstStyle/>
          <a:p>
            <a:pPr algn="l">
              <a:spcBef>
                <a:spcPts val="0"/>
              </a:spcBef>
              <a:spcAft>
                <a:spcPts val="0"/>
              </a:spcAft>
            </a:pPr>
            <a:r>
              <a:rPr sz="1200" b="1" i="0">
                <a:solidFill>
                  <a:srgbClr val="008935"/>
                </a:solidFill>
                <a:latin typeface="Karla"/>
              </a:rPr>
              <a:t>+12</a:t>
            </a:r>
          </a:p>
        </p:txBody>
      </p:sp>
      <p:sp>
        <p:nvSpPr>
          <p:cNvPr id="82" name="Rectangle 81"/>
          <p:cNvSpPr/>
          <p:nvPr/>
        </p:nvSpPr>
        <p:spPr>
          <a:xfrm>
            <a:off x="6345936" y="5065629"/>
            <a:ext cx="1618488" cy="37062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3" name="Picture 82" descr="C3.png"/>
          <p:cNvPicPr>
            <a:picLocks noChangeAspect="1"/>
          </p:cNvPicPr>
          <p:nvPr/>
        </p:nvPicPr>
        <p:blipFill>
          <a:blip r:embed="rId15"/>
          <a:stretch>
            <a:fillRect/>
          </a:stretch>
        </p:blipFill>
        <p:spPr>
          <a:xfrm>
            <a:off x="6355079" y="5074773"/>
            <a:ext cx="1600200" cy="352337"/>
          </a:xfrm>
          <a:prstGeom prst="rect">
            <a:avLst/>
          </a:prstGeom>
        </p:spPr>
      </p:pic>
      <p:sp>
        <p:nvSpPr>
          <p:cNvPr id="84" name="Rectangle 83"/>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n=150 respondents.  Top-2 Box model (ratings 4–5): element lifts show movement above or below the model baseline.</a:t>
            </a:r>
          </a:p>
        </p:txBody>
      </p:sp>
      <p:sp>
        <p:nvSpPr>
          <p:cNvPr id="86" name="TextBox 85"/>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99</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56032"/>
            <a:ext cx="10972800" cy="256032"/>
          </a:xfrm>
          <a:prstGeom prst="rect">
            <a:avLst/>
          </a:prstGeom>
          <a:noFill/>
        </p:spPr>
        <p:txBody>
          <a:bodyPr wrap="square" anchor="t"/>
          <a:lstStyle/>
          <a:p>
            <a:pPr algn="l">
              <a:spcAft>
                <a:spcPts val="400"/>
              </a:spcAft>
            </a:pPr>
            <a:r>
              <a:rPr sz="1200" b="1" i="0">
                <a:solidFill>
                  <a:srgbClr val="04746E"/>
                </a:solidFill>
                <a:latin typeface="Karla"/>
              </a:rPr>
              <a:t>FULL ELEMENT LIFT SUMMARY</a:t>
            </a:r>
          </a:p>
        </p:txBody>
      </p:sp>
      <p:sp>
        <p:nvSpPr>
          <p:cNvPr id="3" name="TextBox 2"/>
          <p:cNvSpPr txBox="1"/>
          <p:nvPr/>
        </p:nvSpPr>
        <p:spPr>
          <a:xfrm>
            <a:off x="438912" y="475488"/>
            <a:ext cx="11247120" cy="365760"/>
          </a:xfrm>
          <a:prstGeom prst="rect">
            <a:avLst/>
          </a:prstGeom>
          <a:noFill/>
        </p:spPr>
        <p:txBody>
          <a:bodyPr wrap="square" anchor="t"/>
          <a:lstStyle/>
          <a:p>
            <a:pPr algn="l">
              <a:spcAft>
                <a:spcPts val="400"/>
              </a:spcAft>
            </a:pPr>
            <a:r>
              <a:rPr sz="2800" b="1" i="0">
                <a:solidFill>
                  <a:srgbClr val="1E2D44"/>
                </a:solidFill>
                <a:latin typeface="Karla"/>
              </a:rPr>
              <a:t>D_Logo   ·   F_Gluten-free</a:t>
            </a:r>
          </a:p>
        </p:txBody>
      </p:sp>
      <p:sp>
        <p:nvSpPr>
          <p:cNvPr id="4" name="Rectangle 3"/>
          <p:cNvSpPr/>
          <p:nvPr/>
        </p:nvSpPr>
        <p:spPr>
          <a:xfrm>
            <a:off x="201168" y="1024128"/>
            <a:ext cx="5623560" cy="274320"/>
          </a:xfrm>
          <a:prstGeom prst="rect">
            <a:avLst/>
          </a:prstGeom>
          <a:solidFill>
            <a:srgbClr val="F4E0E7"/>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200" b="1">
                <a:solidFill>
                  <a:srgbClr val="1E2D44"/>
                </a:solidFill>
                <a:latin typeface="Karla"/>
              </a:rPr>
              <a:t>D_LOGO PREFERENCES</a:t>
            </a:r>
          </a:p>
        </p:txBody>
      </p:sp>
      <p:sp>
        <p:nvSpPr>
          <p:cNvPr id="5" name="Rectangle 4"/>
          <p:cNvSpPr/>
          <p:nvPr/>
        </p:nvSpPr>
        <p:spPr>
          <a:xfrm>
            <a:off x="1892808" y="1353312"/>
            <a:ext cx="9144" cy="4251960"/>
          </a:xfrm>
          <a:prstGeom prst="rect">
            <a:avLst/>
          </a:prstGeom>
          <a:solidFill>
            <a:srgbClr val="E6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19656" y="5623560"/>
            <a:ext cx="585216" cy="219456"/>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7" name="Rectangle 6"/>
          <p:cNvSpPr/>
          <p:nvPr/>
        </p:nvSpPr>
        <p:spPr>
          <a:xfrm>
            <a:off x="3185160" y="1353312"/>
            <a:ext cx="9144" cy="4251960"/>
          </a:xfrm>
          <a:prstGeom prst="rect">
            <a:avLst/>
          </a:prstGeom>
          <a:solidFill>
            <a:srgbClr val="E6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92552" y="5623560"/>
            <a:ext cx="585216" cy="219456"/>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a:t>
            </a:r>
          </a:p>
        </p:txBody>
      </p:sp>
      <p:sp>
        <p:nvSpPr>
          <p:cNvPr id="9" name="Rectangle 8"/>
          <p:cNvSpPr/>
          <p:nvPr/>
        </p:nvSpPr>
        <p:spPr>
          <a:xfrm>
            <a:off x="4477512" y="1353312"/>
            <a:ext cx="9144" cy="4251960"/>
          </a:xfrm>
          <a:prstGeom prst="rect">
            <a:avLst/>
          </a:prstGeom>
          <a:solidFill>
            <a:srgbClr val="E6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84904" y="5623560"/>
            <a:ext cx="585216" cy="219456"/>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4</a:t>
            </a:r>
          </a:p>
        </p:txBody>
      </p:sp>
      <p:sp>
        <p:nvSpPr>
          <p:cNvPr id="11" name="Rectangle 10"/>
          <p:cNvSpPr/>
          <p:nvPr/>
        </p:nvSpPr>
        <p:spPr>
          <a:xfrm>
            <a:off x="5769864" y="1353312"/>
            <a:ext cx="9144" cy="4251960"/>
          </a:xfrm>
          <a:prstGeom prst="rect">
            <a:avLst/>
          </a:prstGeom>
          <a:solidFill>
            <a:srgbClr val="E6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57800" y="5623560"/>
            <a:ext cx="585216" cy="219456"/>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6</a:t>
            </a:r>
          </a:p>
        </p:txBody>
      </p:sp>
      <p:sp>
        <p:nvSpPr>
          <p:cNvPr id="13" name="Rectangle 12"/>
          <p:cNvSpPr/>
          <p:nvPr/>
        </p:nvSpPr>
        <p:spPr>
          <a:xfrm>
            <a:off x="1892808" y="1353312"/>
            <a:ext cx="13716" cy="4251960"/>
          </a:xfrm>
          <a:prstGeom prst="rect">
            <a:avLst/>
          </a:prstGeom>
          <a:solidFill>
            <a:srgbClr val="B9C1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892808" y="5605272"/>
            <a:ext cx="3877056" cy="10972"/>
          </a:xfrm>
          <a:prstGeom prst="rect">
            <a:avLst/>
          </a:prstGeom>
          <a:solidFill>
            <a:srgbClr val="B9C1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892808" y="1775079"/>
            <a:ext cx="3230880" cy="21945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87696" y="1353312"/>
            <a:ext cx="512064" cy="1062990"/>
          </a:xfrm>
          <a:prstGeom prst="rect">
            <a:avLst/>
          </a:prstGeom>
          <a:noFill/>
        </p:spPr>
        <p:txBody>
          <a:bodyPr wrap="none" anchor="ctr" lIns="0" rIns="0" tIns="0" bIns="0"/>
          <a:lstStyle/>
          <a:p>
            <a:pPr algn="l">
              <a:spcBef>
                <a:spcPts val="0"/>
              </a:spcBef>
              <a:spcAft>
                <a:spcPts val="0"/>
              </a:spcAft>
            </a:pPr>
            <a:r>
              <a:rPr sz="1200" b="1" i="0">
                <a:solidFill>
                  <a:srgbClr val="008935"/>
                </a:solidFill>
                <a:latin typeface="Karla"/>
              </a:rPr>
              <a:t>+5</a:t>
            </a:r>
          </a:p>
        </p:txBody>
      </p:sp>
      <p:sp>
        <p:nvSpPr>
          <p:cNvPr id="17" name="Rectangle 16"/>
          <p:cNvSpPr/>
          <p:nvPr/>
        </p:nvSpPr>
        <p:spPr>
          <a:xfrm>
            <a:off x="607552" y="1418577"/>
            <a:ext cx="1202959" cy="932459"/>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D3.png"/>
          <p:cNvPicPr>
            <a:picLocks noChangeAspect="1"/>
          </p:cNvPicPr>
          <p:nvPr/>
        </p:nvPicPr>
        <p:blipFill>
          <a:blip r:embed="rId2"/>
          <a:stretch>
            <a:fillRect/>
          </a:stretch>
        </p:blipFill>
        <p:spPr>
          <a:xfrm>
            <a:off x="616696" y="1427721"/>
            <a:ext cx="1184671" cy="914171"/>
          </a:xfrm>
          <a:prstGeom prst="rect">
            <a:avLst/>
          </a:prstGeom>
        </p:spPr>
      </p:pic>
      <p:sp>
        <p:nvSpPr>
          <p:cNvPr id="19" name="Rectangle 18"/>
          <p:cNvSpPr/>
          <p:nvPr/>
        </p:nvSpPr>
        <p:spPr>
          <a:xfrm>
            <a:off x="1892808" y="2838069"/>
            <a:ext cx="2584704" cy="21945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41520" y="2416302"/>
            <a:ext cx="512064" cy="1062990"/>
          </a:xfrm>
          <a:prstGeom prst="rect">
            <a:avLst/>
          </a:prstGeom>
          <a:noFill/>
        </p:spPr>
        <p:txBody>
          <a:bodyPr wrap="none" anchor="ctr" lIns="0" rIns="0" tIns="0" bIns="0"/>
          <a:lstStyle/>
          <a:p>
            <a:pPr algn="l">
              <a:spcBef>
                <a:spcPts val="0"/>
              </a:spcBef>
              <a:spcAft>
                <a:spcPts val="0"/>
              </a:spcAft>
            </a:pPr>
            <a:r>
              <a:rPr sz="1200" b="1" i="0">
                <a:solidFill>
                  <a:srgbClr val="008935"/>
                </a:solidFill>
                <a:latin typeface="Karla"/>
              </a:rPr>
              <a:t>+4</a:t>
            </a:r>
          </a:p>
        </p:txBody>
      </p:sp>
      <p:sp>
        <p:nvSpPr>
          <p:cNvPr id="21" name="Rectangle 20"/>
          <p:cNvSpPr/>
          <p:nvPr/>
        </p:nvSpPr>
        <p:spPr>
          <a:xfrm>
            <a:off x="607552" y="2481567"/>
            <a:ext cx="1202959" cy="932459"/>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D2.png"/>
          <p:cNvPicPr>
            <a:picLocks noChangeAspect="1"/>
          </p:cNvPicPr>
          <p:nvPr/>
        </p:nvPicPr>
        <p:blipFill>
          <a:blip r:embed="rId3"/>
          <a:stretch>
            <a:fillRect/>
          </a:stretch>
        </p:blipFill>
        <p:spPr>
          <a:xfrm>
            <a:off x="616696" y="2490711"/>
            <a:ext cx="1184671" cy="914171"/>
          </a:xfrm>
          <a:prstGeom prst="rect">
            <a:avLst/>
          </a:prstGeom>
        </p:spPr>
      </p:pic>
      <p:sp>
        <p:nvSpPr>
          <p:cNvPr id="23" name="Rectangle 22"/>
          <p:cNvSpPr/>
          <p:nvPr/>
        </p:nvSpPr>
        <p:spPr>
          <a:xfrm>
            <a:off x="1892808" y="3901059"/>
            <a:ext cx="1938528" cy="21945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895344" y="3479292"/>
            <a:ext cx="512064" cy="1062990"/>
          </a:xfrm>
          <a:prstGeom prst="rect">
            <a:avLst/>
          </a:prstGeom>
          <a:noFill/>
        </p:spPr>
        <p:txBody>
          <a:bodyPr wrap="none" anchor="ctr" lIns="0" rIns="0" tIns="0" bIns="0"/>
          <a:lstStyle/>
          <a:p>
            <a:pPr algn="l">
              <a:spcBef>
                <a:spcPts val="0"/>
              </a:spcBef>
              <a:spcAft>
                <a:spcPts val="0"/>
              </a:spcAft>
            </a:pPr>
            <a:r>
              <a:rPr sz="1200" b="1" i="0">
                <a:solidFill>
                  <a:srgbClr val="008935"/>
                </a:solidFill>
                <a:latin typeface="Karla"/>
              </a:rPr>
              <a:t>+3</a:t>
            </a:r>
          </a:p>
        </p:txBody>
      </p:sp>
      <p:sp>
        <p:nvSpPr>
          <p:cNvPr id="25" name="Rectangle 24"/>
          <p:cNvSpPr/>
          <p:nvPr/>
        </p:nvSpPr>
        <p:spPr>
          <a:xfrm>
            <a:off x="607552" y="3544557"/>
            <a:ext cx="1202959" cy="932459"/>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D1.png"/>
          <p:cNvPicPr>
            <a:picLocks noChangeAspect="1"/>
          </p:cNvPicPr>
          <p:nvPr/>
        </p:nvPicPr>
        <p:blipFill>
          <a:blip r:embed="rId4"/>
          <a:stretch>
            <a:fillRect/>
          </a:stretch>
        </p:blipFill>
        <p:spPr>
          <a:xfrm>
            <a:off x="616696" y="3553701"/>
            <a:ext cx="1184671" cy="914171"/>
          </a:xfrm>
          <a:prstGeom prst="rect">
            <a:avLst/>
          </a:prstGeom>
        </p:spPr>
      </p:pic>
      <p:sp>
        <p:nvSpPr>
          <p:cNvPr id="27" name="Rectangle 26"/>
          <p:cNvSpPr/>
          <p:nvPr/>
        </p:nvSpPr>
        <p:spPr>
          <a:xfrm>
            <a:off x="1892808" y="4964049"/>
            <a:ext cx="1938528" cy="21945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895344" y="4542282"/>
            <a:ext cx="512064" cy="1062990"/>
          </a:xfrm>
          <a:prstGeom prst="rect">
            <a:avLst/>
          </a:prstGeom>
          <a:noFill/>
        </p:spPr>
        <p:txBody>
          <a:bodyPr wrap="none" anchor="ctr" lIns="0" rIns="0" tIns="0" bIns="0"/>
          <a:lstStyle/>
          <a:p>
            <a:pPr algn="l">
              <a:spcBef>
                <a:spcPts val="0"/>
              </a:spcBef>
              <a:spcAft>
                <a:spcPts val="0"/>
              </a:spcAft>
            </a:pPr>
            <a:r>
              <a:rPr sz="1200" b="1" i="0">
                <a:solidFill>
                  <a:srgbClr val="008935"/>
                </a:solidFill>
                <a:latin typeface="Karla"/>
              </a:rPr>
              <a:t>+3</a:t>
            </a:r>
          </a:p>
        </p:txBody>
      </p:sp>
      <p:sp>
        <p:nvSpPr>
          <p:cNvPr id="29" name="Rectangle 28"/>
          <p:cNvSpPr/>
          <p:nvPr/>
        </p:nvSpPr>
        <p:spPr>
          <a:xfrm>
            <a:off x="607552" y="4607547"/>
            <a:ext cx="1202959" cy="932459"/>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D4.png"/>
          <p:cNvPicPr>
            <a:picLocks noChangeAspect="1"/>
          </p:cNvPicPr>
          <p:nvPr/>
        </p:nvPicPr>
        <p:blipFill>
          <a:blip r:embed="rId5"/>
          <a:stretch>
            <a:fillRect/>
          </a:stretch>
        </p:blipFill>
        <p:spPr>
          <a:xfrm>
            <a:off x="616696" y="4616691"/>
            <a:ext cx="1184671" cy="914171"/>
          </a:xfrm>
          <a:prstGeom prst="rect">
            <a:avLst/>
          </a:prstGeom>
        </p:spPr>
      </p:pic>
      <p:sp>
        <p:nvSpPr>
          <p:cNvPr id="31" name="Rectangle 30"/>
          <p:cNvSpPr/>
          <p:nvPr/>
        </p:nvSpPr>
        <p:spPr>
          <a:xfrm>
            <a:off x="6355080" y="1024128"/>
            <a:ext cx="5623560" cy="274320"/>
          </a:xfrm>
          <a:prstGeom prst="rect">
            <a:avLst/>
          </a:prstGeom>
          <a:solidFill>
            <a:srgbClr val="F4E0E7"/>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200" b="1">
                <a:solidFill>
                  <a:srgbClr val="1E2D44"/>
                </a:solidFill>
                <a:latin typeface="Karla"/>
              </a:rPr>
              <a:t>F_GLUTEN-FREE PREFERENCES</a:t>
            </a:r>
          </a:p>
        </p:txBody>
      </p:sp>
      <p:sp>
        <p:nvSpPr>
          <p:cNvPr id="32" name="Rectangle 31"/>
          <p:cNvSpPr/>
          <p:nvPr/>
        </p:nvSpPr>
        <p:spPr>
          <a:xfrm>
            <a:off x="8046720" y="1353312"/>
            <a:ext cx="9144" cy="4251960"/>
          </a:xfrm>
          <a:prstGeom prst="rect">
            <a:avLst/>
          </a:prstGeom>
          <a:solidFill>
            <a:srgbClr val="E6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73568" y="5623560"/>
            <a:ext cx="585216" cy="219456"/>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34" name="Rectangle 33"/>
          <p:cNvSpPr/>
          <p:nvPr/>
        </p:nvSpPr>
        <p:spPr>
          <a:xfrm>
            <a:off x="9985248" y="1353312"/>
            <a:ext cx="9144" cy="4251960"/>
          </a:xfrm>
          <a:prstGeom prst="rect">
            <a:avLst/>
          </a:prstGeom>
          <a:solidFill>
            <a:srgbClr val="E6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692640" y="5623560"/>
            <a:ext cx="585216" cy="219456"/>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5</a:t>
            </a:r>
          </a:p>
        </p:txBody>
      </p:sp>
      <p:sp>
        <p:nvSpPr>
          <p:cNvPr id="36" name="Rectangle 35"/>
          <p:cNvSpPr/>
          <p:nvPr/>
        </p:nvSpPr>
        <p:spPr>
          <a:xfrm>
            <a:off x="11923776" y="1353312"/>
            <a:ext cx="9144" cy="4251960"/>
          </a:xfrm>
          <a:prstGeom prst="rect">
            <a:avLst/>
          </a:prstGeom>
          <a:solidFill>
            <a:srgbClr val="E6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1411712" y="5623560"/>
            <a:ext cx="585216" cy="219456"/>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38" name="Rectangle 37"/>
          <p:cNvSpPr/>
          <p:nvPr/>
        </p:nvSpPr>
        <p:spPr>
          <a:xfrm>
            <a:off x="8046720" y="1353312"/>
            <a:ext cx="13716" cy="4251960"/>
          </a:xfrm>
          <a:prstGeom prst="rect">
            <a:avLst/>
          </a:prstGeom>
          <a:solidFill>
            <a:srgbClr val="B9C1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46720" y="5605272"/>
            <a:ext cx="3877056" cy="10972"/>
          </a:xfrm>
          <a:prstGeom prst="rect">
            <a:avLst/>
          </a:prstGeom>
          <a:solidFill>
            <a:srgbClr val="B9C1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046720" y="1668780"/>
            <a:ext cx="2713939" cy="21945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824667" y="1353312"/>
            <a:ext cx="512064" cy="850392"/>
          </a:xfrm>
          <a:prstGeom prst="rect">
            <a:avLst/>
          </a:prstGeom>
          <a:noFill/>
        </p:spPr>
        <p:txBody>
          <a:bodyPr wrap="none" anchor="ctr" lIns="0" rIns="0" tIns="0" bIns="0"/>
          <a:lstStyle/>
          <a:p>
            <a:pPr algn="l">
              <a:spcBef>
                <a:spcPts val="0"/>
              </a:spcBef>
              <a:spcAft>
                <a:spcPts val="0"/>
              </a:spcAft>
            </a:pPr>
            <a:r>
              <a:rPr sz="1200" b="1" i="0">
                <a:solidFill>
                  <a:srgbClr val="008935"/>
                </a:solidFill>
                <a:latin typeface="Karla"/>
              </a:rPr>
              <a:t>+7</a:t>
            </a:r>
          </a:p>
        </p:txBody>
      </p:sp>
      <p:sp>
        <p:nvSpPr>
          <p:cNvPr id="42" name="Rectangle 41"/>
          <p:cNvSpPr/>
          <p:nvPr/>
        </p:nvSpPr>
        <p:spPr>
          <a:xfrm>
            <a:off x="7283509" y="1403695"/>
            <a:ext cx="680914" cy="74962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3" name="Picture 42" descr="F2.png"/>
          <p:cNvPicPr>
            <a:picLocks noChangeAspect="1"/>
          </p:cNvPicPr>
          <p:nvPr/>
        </p:nvPicPr>
        <p:blipFill>
          <a:blip r:embed="rId6"/>
          <a:stretch>
            <a:fillRect/>
          </a:stretch>
        </p:blipFill>
        <p:spPr>
          <a:xfrm>
            <a:off x="7292653" y="1412839"/>
            <a:ext cx="662626" cy="731337"/>
          </a:xfrm>
          <a:prstGeom prst="rect">
            <a:avLst/>
          </a:prstGeom>
        </p:spPr>
      </p:pic>
      <p:sp>
        <p:nvSpPr>
          <p:cNvPr id="44" name="Rectangle 43"/>
          <p:cNvSpPr/>
          <p:nvPr/>
        </p:nvSpPr>
        <p:spPr>
          <a:xfrm>
            <a:off x="8046720" y="2519172"/>
            <a:ext cx="2326233" cy="21945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436961" y="2203704"/>
            <a:ext cx="512064" cy="850392"/>
          </a:xfrm>
          <a:prstGeom prst="rect">
            <a:avLst/>
          </a:prstGeom>
          <a:noFill/>
        </p:spPr>
        <p:txBody>
          <a:bodyPr wrap="none" anchor="ctr" lIns="0" rIns="0" tIns="0" bIns="0"/>
          <a:lstStyle/>
          <a:p>
            <a:pPr algn="l">
              <a:spcBef>
                <a:spcPts val="0"/>
              </a:spcBef>
              <a:spcAft>
                <a:spcPts val="0"/>
              </a:spcAft>
            </a:pPr>
            <a:r>
              <a:rPr sz="1200" b="1" i="0">
                <a:solidFill>
                  <a:srgbClr val="008935"/>
                </a:solidFill>
                <a:latin typeface="Karla"/>
              </a:rPr>
              <a:t>+6</a:t>
            </a:r>
          </a:p>
        </p:txBody>
      </p:sp>
      <p:sp>
        <p:nvSpPr>
          <p:cNvPr id="46" name="Rectangle 45"/>
          <p:cNvSpPr/>
          <p:nvPr/>
        </p:nvSpPr>
        <p:spPr>
          <a:xfrm>
            <a:off x="7283509" y="2254087"/>
            <a:ext cx="680914" cy="74962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7" name="Picture 46" descr="F5.png"/>
          <p:cNvPicPr>
            <a:picLocks noChangeAspect="1"/>
          </p:cNvPicPr>
          <p:nvPr/>
        </p:nvPicPr>
        <p:blipFill>
          <a:blip r:embed="rId7"/>
          <a:stretch>
            <a:fillRect/>
          </a:stretch>
        </p:blipFill>
        <p:spPr>
          <a:xfrm>
            <a:off x="7292653" y="2263231"/>
            <a:ext cx="662626" cy="731337"/>
          </a:xfrm>
          <a:prstGeom prst="rect">
            <a:avLst/>
          </a:prstGeom>
        </p:spPr>
      </p:pic>
      <p:sp>
        <p:nvSpPr>
          <p:cNvPr id="48" name="Rectangle 47"/>
          <p:cNvSpPr/>
          <p:nvPr/>
        </p:nvSpPr>
        <p:spPr>
          <a:xfrm>
            <a:off x="8046720" y="3369564"/>
            <a:ext cx="1938528" cy="21945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049256" y="3054096"/>
            <a:ext cx="512064" cy="850392"/>
          </a:xfrm>
          <a:prstGeom prst="rect">
            <a:avLst/>
          </a:prstGeom>
          <a:noFill/>
        </p:spPr>
        <p:txBody>
          <a:bodyPr wrap="none" anchor="ctr" lIns="0" rIns="0" tIns="0" bIns="0"/>
          <a:lstStyle/>
          <a:p>
            <a:pPr algn="l">
              <a:spcBef>
                <a:spcPts val="0"/>
              </a:spcBef>
              <a:spcAft>
                <a:spcPts val="0"/>
              </a:spcAft>
            </a:pPr>
            <a:r>
              <a:rPr sz="1200" b="1" i="0">
                <a:solidFill>
                  <a:srgbClr val="008935"/>
                </a:solidFill>
                <a:latin typeface="Karla"/>
              </a:rPr>
              <a:t>+5</a:t>
            </a:r>
          </a:p>
        </p:txBody>
      </p:sp>
      <p:sp>
        <p:nvSpPr>
          <p:cNvPr id="50" name="Rectangle 49"/>
          <p:cNvSpPr/>
          <p:nvPr/>
        </p:nvSpPr>
        <p:spPr>
          <a:xfrm>
            <a:off x="7283509" y="3104479"/>
            <a:ext cx="680914" cy="74962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1" name="Picture 50" descr="F1.png"/>
          <p:cNvPicPr>
            <a:picLocks noChangeAspect="1"/>
          </p:cNvPicPr>
          <p:nvPr/>
        </p:nvPicPr>
        <p:blipFill>
          <a:blip r:embed="rId8"/>
          <a:stretch>
            <a:fillRect/>
          </a:stretch>
        </p:blipFill>
        <p:spPr>
          <a:xfrm>
            <a:off x="7292653" y="3113623"/>
            <a:ext cx="662626" cy="731337"/>
          </a:xfrm>
          <a:prstGeom prst="rect">
            <a:avLst/>
          </a:prstGeom>
        </p:spPr>
      </p:pic>
      <p:sp>
        <p:nvSpPr>
          <p:cNvPr id="52" name="Rectangle 51"/>
          <p:cNvSpPr/>
          <p:nvPr/>
        </p:nvSpPr>
        <p:spPr>
          <a:xfrm>
            <a:off x="8046720" y="4219955"/>
            <a:ext cx="1938528" cy="21945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049256" y="3904487"/>
            <a:ext cx="512064" cy="850392"/>
          </a:xfrm>
          <a:prstGeom prst="rect">
            <a:avLst/>
          </a:prstGeom>
          <a:noFill/>
        </p:spPr>
        <p:txBody>
          <a:bodyPr wrap="none" anchor="ctr" lIns="0" rIns="0" tIns="0" bIns="0"/>
          <a:lstStyle/>
          <a:p>
            <a:pPr algn="l">
              <a:spcBef>
                <a:spcPts val="0"/>
              </a:spcBef>
              <a:spcAft>
                <a:spcPts val="0"/>
              </a:spcAft>
            </a:pPr>
            <a:r>
              <a:rPr sz="1200" b="1" i="0">
                <a:solidFill>
                  <a:srgbClr val="008935"/>
                </a:solidFill>
                <a:latin typeface="Karla"/>
              </a:rPr>
              <a:t>+5</a:t>
            </a:r>
          </a:p>
        </p:txBody>
      </p:sp>
      <p:sp>
        <p:nvSpPr>
          <p:cNvPr id="54" name="Rectangle 53"/>
          <p:cNvSpPr/>
          <p:nvPr/>
        </p:nvSpPr>
        <p:spPr>
          <a:xfrm>
            <a:off x="7283509" y="3954871"/>
            <a:ext cx="680914" cy="74962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5" name="Picture 54" descr="F4.png"/>
          <p:cNvPicPr>
            <a:picLocks noChangeAspect="1"/>
          </p:cNvPicPr>
          <p:nvPr/>
        </p:nvPicPr>
        <p:blipFill>
          <a:blip r:embed="rId9"/>
          <a:stretch>
            <a:fillRect/>
          </a:stretch>
        </p:blipFill>
        <p:spPr>
          <a:xfrm>
            <a:off x="7292653" y="3964015"/>
            <a:ext cx="662626" cy="731337"/>
          </a:xfrm>
          <a:prstGeom prst="rect">
            <a:avLst/>
          </a:prstGeom>
        </p:spPr>
      </p:pic>
      <p:sp>
        <p:nvSpPr>
          <p:cNvPr id="56" name="Rectangle 55"/>
          <p:cNvSpPr/>
          <p:nvPr/>
        </p:nvSpPr>
        <p:spPr>
          <a:xfrm>
            <a:off x="8046720" y="5070348"/>
            <a:ext cx="1550822" cy="21945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661550" y="4754880"/>
            <a:ext cx="512064" cy="850392"/>
          </a:xfrm>
          <a:prstGeom prst="rect">
            <a:avLst/>
          </a:prstGeom>
          <a:noFill/>
        </p:spPr>
        <p:txBody>
          <a:bodyPr wrap="none" anchor="ctr" lIns="0" rIns="0" tIns="0" bIns="0"/>
          <a:lstStyle/>
          <a:p>
            <a:pPr algn="l">
              <a:spcBef>
                <a:spcPts val="0"/>
              </a:spcBef>
              <a:spcAft>
                <a:spcPts val="0"/>
              </a:spcAft>
            </a:pPr>
            <a:r>
              <a:rPr sz="1200" b="1" i="0">
                <a:solidFill>
                  <a:srgbClr val="008935"/>
                </a:solidFill>
                <a:latin typeface="Karla"/>
              </a:rPr>
              <a:t>+4</a:t>
            </a:r>
          </a:p>
        </p:txBody>
      </p:sp>
      <p:sp>
        <p:nvSpPr>
          <p:cNvPr id="58" name="Rectangle 57"/>
          <p:cNvSpPr/>
          <p:nvPr/>
        </p:nvSpPr>
        <p:spPr>
          <a:xfrm>
            <a:off x="7283509" y="4805263"/>
            <a:ext cx="680914" cy="749625"/>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9" name="Picture 58" descr="F3.png"/>
          <p:cNvPicPr>
            <a:picLocks noChangeAspect="1"/>
          </p:cNvPicPr>
          <p:nvPr/>
        </p:nvPicPr>
        <p:blipFill>
          <a:blip r:embed="rId10"/>
          <a:stretch>
            <a:fillRect/>
          </a:stretch>
        </p:blipFill>
        <p:spPr>
          <a:xfrm>
            <a:off x="7292653" y="4814407"/>
            <a:ext cx="662626" cy="731337"/>
          </a:xfrm>
          <a:prstGeom prst="rect">
            <a:avLst/>
          </a:prstGeom>
        </p:spPr>
      </p:pic>
      <p:sp>
        <p:nvSpPr>
          <p:cNvPr id="60" name="Rectangle 59"/>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n=150 respondents.  Top-2 Box model (ratings 4–5): element lifts show movement above or below the model baseline.</a:t>
            </a:r>
          </a:p>
        </p:txBody>
      </p:sp>
      <p:sp>
        <p:nvSpPr>
          <p:cNvPr id="62" name="TextBox 61"/>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100</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FF6F8"/>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606040"/>
            <a:ext cx="10058400" cy="1005840"/>
          </a:xfrm>
          <a:prstGeom prst="rect">
            <a:avLst/>
          </a:prstGeom>
          <a:noFill/>
        </p:spPr>
        <p:txBody>
          <a:bodyPr wrap="square" anchor="t"/>
          <a:lstStyle/>
          <a:p>
            <a:pPr algn="l">
              <a:spcAft>
                <a:spcPts val="400"/>
              </a:spcAft>
            </a:pPr>
            <a:r>
              <a:rPr sz="5400" b="1" i="0">
                <a:solidFill>
                  <a:srgbClr val="1E2D44"/>
                </a:solidFill>
                <a:latin typeface="Karla"/>
              </a:rPr>
              <a:t>Element Assets</a:t>
            </a:r>
          </a:p>
        </p:txBody>
      </p:sp>
      <p:sp>
        <p:nvSpPr>
          <p:cNvPr id="4" name="Rectangle 3"/>
          <p:cNvSpPr/>
          <p:nvPr/>
        </p:nvSpPr>
        <p:spPr>
          <a:xfrm>
            <a:off x="822960" y="3794760"/>
            <a:ext cx="1280160" cy="5486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56032"/>
            <a:ext cx="10972800" cy="256032"/>
          </a:xfrm>
          <a:prstGeom prst="rect">
            <a:avLst/>
          </a:prstGeom>
          <a:noFill/>
        </p:spPr>
        <p:txBody>
          <a:bodyPr wrap="square" anchor="t"/>
          <a:lstStyle/>
          <a:p>
            <a:pPr algn="l">
              <a:spcAft>
                <a:spcPts val="400"/>
              </a:spcAft>
            </a:pPr>
            <a:r>
              <a:rPr sz="1200" b="1" i="0">
                <a:solidFill>
                  <a:srgbClr val="04746E"/>
                </a:solidFill>
                <a:latin typeface="Karla"/>
              </a:rPr>
              <a:t>ELEMENT ASSETS</a:t>
            </a:r>
          </a:p>
        </p:txBody>
      </p:sp>
      <p:sp>
        <p:nvSpPr>
          <p:cNvPr id="3" name="TextBox 2"/>
          <p:cNvSpPr txBox="1"/>
          <p:nvPr/>
        </p:nvSpPr>
        <p:spPr>
          <a:xfrm>
            <a:off x="566928" y="621792"/>
            <a:ext cx="10972800" cy="384048"/>
          </a:xfrm>
          <a:prstGeom prst="rect">
            <a:avLst/>
          </a:prstGeom>
          <a:noFill/>
        </p:spPr>
        <p:txBody>
          <a:bodyPr wrap="square" anchor="t"/>
          <a:lstStyle/>
          <a:p>
            <a:pPr algn="l">
              <a:spcAft>
                <a:spcPts val="400"/>
              </a:spcAft>
            </a:pPr>
            <a:r>
              <a:rPr sz="2600" b="1" i="0">
                <a:solidFill>
                  <a:srgbClr val="1E2D44"/>
                </a:solidFill>
                <a:latin typeface="Karla"/>
              </a:rPr>
              <a:t>A_Background  —  element assets   ·   1 of 2</a:t>
            </a:r>
          </a:p>
        </p:txBody>
      </p:sp>
      <p:sp>
        <p:nvSpPr>
          <p:cNvPr id="4" name="TextBox 3"/>
          <p:cNvSpPr txBox="1"/>
          <p:nvPr/>
        </p:nvSpPr>
        <p:spPr>
          <a:xfrm>
            <a:off x="566928" y="1051560"/>
            <a:ext cx="10972800" cy="274320"/>
          </a:xfrm>
          <a:prstGeom prst="rect">
            <a:avLst/>
          </a:prstGeom>
          <a:noFill/>
        </p:spPr>
        <p:txBody>
          <a:bodyPr wrap="square" anchor="t"/>
          <a:lstStyle/>
          <a:p>
            <a:pPr algn="l">
              <a:spcAft>
                <a:spcPts val="400"/>
              </a:spcAft>
            </a:pPr>
            <a:r>
              <a:rPr sz="1400" b="0" i="0">
                <a:solidFill>
                  <a:srgbClr val="617086"/>
                </a:solidFill>
                <a:latin typeface="Karla"/>
              </a:rPr>
              <a:t>A   ·   12 variations</a:t>
            </a:r>
          </a:p>
        </p:txBody>
      </p:sp>
      <p:pic>
        <p:nvPicPr>
          <p:cNvPr id="5" name="Picture 4" descr="A1.png"/>
          <p:cNvPicPr>
            <a:picLocks noChangeAspect="1"/>
          </p:cNvPicPr>
          <p:nvPr/>
        </p:nvPicPr>
        <p:blipFill>
          <a:blip r:embed="rId2"/>
          <a:stretch>
            <a:fillRect/>
          </a:stretch>
        </p:blipFill>
        <p:spPr>
          <a:xfrm>
            <a:off x="566928" y="1670994"/>
            <a:ext cx="2081174" cy="1607129"/>
          </a:xfrm>
          <a:prstGeom prst="rect">
            <a:avLst/>
          </a:prstGeom>
        </p:spPr>
      </p:pic>
      <p:sp>
        <p:nvSpPr>
          <p:cNvPr id="6" name="TextBox 5"/>
          <p:cNvSpPr txBox="1"/>
          <p:nvPr/>
        </p:nvSpPr>
        <p:spPr>
          <a:xfrm>
            <a:off x="548640" y="3296412"/>
            <a:ext cx="2117750" cy="420624"/>
          </a:xfrm>
          <a:prstGeom prst="rect">
            <a:avLst/>
          </a:prstGeom>
          <a:noFill/>
        </p:spPr>
        <p:txBody>
          <a:bodyPr wrap="none" anchor="t"/>
          <a:lstStyle/>
          <a:p>
            <a:pPr algn="ctr">
              <a:spcAft>
                <a:spcPts val="400"/>
              </a:spcAft>
            </a:pPr>
            <a:r>
              <a:rPr sz="1000" b="0" i="0">
                <a:solidFill>
                  <a:srgbClr val="1E2D44"/>
                </a:solidFill>
                <a:latin typeface="Karla"/>
              </a:rPr>
              <a:t>A01 D1 Blue Wrapper</a:t>
            </a:r>
          </a:p>
        </p:txBody>
      </p:sp>
      <p:pic>
        <p:nvPicPr>
          <p:cNvPr id="7" name="Picture 6" descr="A2.png"/>
          <p:cNvPicPr>
            <a:picLocks noChangeAspect="1"/>
          </p:cNvPicPr>
          <p:nvPr/>
        </p:nvPicPr>
        <p:blipFill>
          <a:blip r:embed="rId3"/>
          <a:stretch>
            <a:fillRect/>
          </a:stretch>
        </p:blipFill>
        <p:spPr>
          <a:xfrm>
            <a:off x="2812694" y="1670994"/>
            <a:ext cx="2081174" cy="1607129"/>
          </a:xfrm>
          <a:prstGeom prst="rect">
            <a:avLst/>
          </a:prstGeom>
        </p:spPr>
      </p:pic>
      <p:sp>
        <p:nvSpPr>
          <p:cNvPr id="8" name="TextBox 7"/>
          <p:cNvSpPr txBox="1"/>
          <p:nvPr/>
        </p:nvSpPr>
        <p:spPr>
          <a:xfrm>
            <a:off x="2794406" y="3296412"/>
            <a:ext cx="2117750" cy="420624"/>
          </a:xfrm>
          <a:prstGeom prst="rect">
            <a:avLst/>
          </a:prstGeom>
          <a:noFill/>
        </p:spPr>
        <p:txBody>
          <a:bodyPr wrap="none" anchor="t"/>
          <a:lstStyle/>
          <a:p>
            <a:pPr algn="ctr">
              <a:spcAft>
                <a:spcPts val="400"/>
              </a:spcAft>
            </a:pPr>
            <a:r>
              <a:rPr sz="1000" b="0" i="0">
                <a:solidFill>
                  <a:srgbClr val="1E2D44"/>
                </a:solidFill>
                <a:latin typeface="Karla"/>
              </a:rPr>
              <a:t>A02 D1 Orange Wrapper</a:t>
            </a:r>
          </a:p>
        </p:txBody>
      </p:sp>
      <p:pic>
        <p:nvPicPr>
          <p:cNvPr id="9" name="Picture 8" descr="A3.png"/>
          <p:cNvPicPr>
            <a:picLocks noChangeAspect="1"/>
          </p:cNvPicPr>
          <p:nvPr/>
        </p:nvPicPr>
        <p:blipFill>
          <a:blip r:embed="rId4"/>
          <a:stretch>
            <a:fillRect/>
          </a:stretch>
        </p:blipFill>
        <p:spPr>
          <a:xfrm>
            <a:off x="5058460" y="1670994"/>
            <a:ext cx="2081174" cy="1607129"/>
          </a:xfrm>
          <a:prstGeom prst="rect">
            <a:avLst/>
          </a:prstGeom>
        </p:spPr>
      </p:pic>
      <p:sp>
        <p:nvSpPr>
          <p:cNvPr id="10" name="TextBox 9"/>
          <p:cNvSpPr txBox="1"/>
          <p:nvPr/>
        </p:nvSpPr>
        <p:spPr>
          <a:xfrm>
            <a:off x="5040172" y="3296412"/>
            <a:ext cx="2117750" cy="420624"/>
          </a:xfrm>
          <a:prstGeom prst="rect">
            <a:avLst/>
          </a:prstGeom>
          <a:noFill/>
        </p:spPr>
        <p:txBody>
          <a:bodyPr wrap="none" anchor="t"/>
          <a:lstStyle/>
          <a:p>
            <a:pPr algn="ctr">
              <a:spcAft>
                <a:spcPts val="400"/>
              </a:spcAft>
            </a:pPr>
            <a:r>
              <a:rPr sz="1000" b="0" i="0">
                <a:solidFill>
                  <a:srgbClr val="1E2D44"/>
                </a:solidFill>
                <a:latin typeface="Karla"/>
              </a:rPr>
              <a:t>A03 D1 Yellow Wrapper</a:t>
            </a:r>
          </a:p>
        </p:txBody>
      </p:sp>
      <p:pic>
        <p:nvPicPr>
          <p:cNvPr id="11" name="Picture 10" descr="A4.png"/>
          <p:cNvPicPr>
            <a:picLocks noChangeAspect="1"/>
          </p:cNvPicPr>
          <p:nvPr/>
        </p:nvPicPr>
        <p:blipFill>
          <a:blip r:embed="rId5"/>
          <a:stretch>
            <a:fillRect/>
          </a:stretch>
        </p:blipFill>
        <p:spPr>
          <a:xfrm>
            <a:off x="7304227" y="1670994"/>
            <a:ext cx="2081174" cy="1607129"/>
          </a:xfrm>
          <a:prstGeom prst="rect">
            <a:avLst/>
          </a:prstGeom>
        </p:spPr>
      </p:pic>
      <p:sp>
        <p:nvSpPr>
          <p:cNvPr id="12" name="TextBox 11"/>
          <p:cNvSpPr txBox="1"/>
          <p:nvPr/>
        </p:nvSpPr>
        <p:spPr>
          <a:xfrm>
            <a:off x="7285939" y="3296412"/>
            <a:ext cx="2117750" cy="420624"/>
          </a:xfrm>
          <a:prstGeom prst="rect">
            <a:avLst/>
          </a:prstGeom>
          <a:noFill/>
        </p:spPr>
        <p:txBody>
          <a:bodyPr wrap="none" anchor="t"/>
          <a:lstStyle/>
          <a:p>
            <a:pPr algn="ctr">
              <a:spcAft>
                <a:spcPts val="400"/>
              </a:spcAft>
            </a:pPr>
            <a:r>
              <a:rPr sz="1000" b="0" i="0">
                <a:solidFill>
                  <a:srgbClr val="1E2D44"/>
                </a:solidFill>
                <a:latin typeface="Karla"/>
              </a:rPr>
              <a:t>A04 D1 Pink Wrapper</a:t>
            </a:r>
          </a:p>
        </p:txBody>
      </p:sp>
      <p:pic>
        <p:nvPicPr>
          <p:cNvPr id="13" name="Picture 12" descr="A5.png"/>
          <p:cNvPicPr>
            <a:picLocks noChangeAspect="1"/>
          </p:cNvPicPr>
          <p:nvPr/>
        </p:nvPicPr>
        <p:blipFill>
          <a:blip r:embed="rId6"/>
          <a:stretch>
            <a:fillRect/>
          </a:stretch>
        </p:blipFill>
        <p:spPr>
          <a:xfrm>
            <a:off x="9549993" y="1670994"/>
            <a:ext cx="2081174" cy="1607129"/>
          </a:xfrm>
          <a:prstGeom prst="rect">
            <a:avLst/>
          </a:prstGeom>
        </p:spPr>
      </p:pic>
      <p:sp>
        <p:nvSpPr>
          <p:cNvPr id="14" name="TextBox 13"/>
          <p:cNvSpPr txBox="1"/>
          <p:nvPr/>
        </p:nvSpPr>
        <p:spPr>
          <a:xfrm>
            <a:off x="9531705" y="3296412"/>
            <a:ext cx="2117750" cy="420624"/>
          </a:xfrm>
          <a:prstGeom prst="rect">
            <a:avLst/>
          </a:prstGeom>
          <a:noFill/>
        </p:spPr>
        <p:txBody>
          <a:bodyPr wrap="none" anchor="t"/>
          <a:lstStyle/>
          <a:p>
            <a:pPr algn="ctr">
              <a:spcAft>
                <a:spcPts val="400"/>
              </a:spcAft>
            </a:pPr>
            <a:r>
              <a:rPr sz="1000" b="0" i="0">
                <a:solidFill>
                  <a:srgbClr val="1E2D44"/>
                </a:solidFill>
                <a:latin typeface="Karla"/>
              </a:rPr>
              <a:t>A05 D2 Blue Wrapper</a:t>
            </a:r>
          </a:p>
        </p:txBody>
      </p:sp>
      <p:pic>
        <p:nvPicPr>
          <p:cNvPr id="15" name="Picture 14" descr="A6.png"/>
          <p:cNvPicPr>
            <a:picLocks noChangeAspect="1"/>
          </p:cNvPicPr>
          <p:nvPr/>
        </p:nvPicPr>
        <p:blipFill>
          <a:blip r:embed="rId7"/>
          <a:stretch>
            <a:fillRect/>
          </a:stretch>
        </p:blipFill>
        <p:spPr>
          <a:xfrm>
            <a:off x="566928" y="3845052"/>
            <a:ext cx="2081174" cy="1607129"/>
          </a:xfrm>
          <a:prstGeom prst="rect">
            <a:avLst/>
          </a:prstGeom>
        </p:spPr>
      </p:pic>
      <p:sp>
        <p:nvSpPr>
          <p:cNvPr id="16" name="TextBox 15"/>
          <p:cNvSpPr txBox="1"/>
          <p:nvPr/>
        </p:nvSpPr>
        <p:spPr>
          <a:xfrm>
            <a:off x="548640" y="5470469"/>
            <a:ext cx="2117750" cy="420624"/>
          </a:xfrm>
          <a:prstGeom prst="rect">
            <a:avLst/>
          </a:prstGeom>
          <a:noFill/>
        </p:spPr>
        <p:txBody>
          <a:bodyPr wrap="none" anchor="t"/>
          <a:lstStyle/>
          <a:p>
            <a:pPr algn="ctr">
              <a:spcAft>
                <a:spcPts val="400"/>
              </a:spcAft>
            </a:pPr>
            <a:r>
              <a:rPr sz="1000" b="0" i="0">
                <a:solidFill>
                  <a:srgbClr val="1E2D44"/>
                </a:solidFill>
                <a:latin typeface="Karla"/>
              </a:rPr>
              <a:t>A06 D2 Orange Wrapper</a:t>
            </a:r>
          </a:p>
        </p:txBody>
      </p:sp>
      <p:pic>
        <p:nvPicPr>
          <p:cNvPr id="17" name="Picture 16" descr="A7.png"/>
          <p:cNvPicPr>
            <a:picLocks noChangeAspect="1"/>
          </p:cNvPicPr>
          <p:nvPr/>
        </p:nvPicPr>
        <p:blipFill>
          <a:blip r:embed="rId8"/>
          <a:stretch>
            <a:fillRect/>
          </a:stretch>
        </p:blipFill>
        <p:spPr>
          <a:xfrm>
            <a:off x="2812694" y="3845052"/>
            <a:ext cx="2081174" cy="1607129"/>
          </a:xfrm>
          <a:prstGeom prst="rect">
            <a:avLst/>
          </a:prstGeom>
        </p:spPr>
      </p:pic>
      <p:sp>
        <p:nvSpPr>
          <p:cNvPr id="18" name="TextBox 17"/>
          <p:cNvSpPr txBox="1"/>
          <p:nvPr/>
        </p:nvSpPr>
        <p:spPr>
          <a:xfrm>
            <a:off x="2794406" y="5470469"/>
            <a:ext cx="2117750" cy="420624"/>
          </a:xfrm>
          <a:prstGeom prst="rect">
            <a:avLst/>
          </a:prstGeom>
          <a:noFill/>
        </p:spPr>
        <p:txBody>
          <a:bodyPr wrap="none" anchor="t"/>
          <a:lstStyle/>
          <a:p>
            <a:pPr algn="ctr">
              <a:spcAft>
                <a:spcPts val="400"/>
              </a:spcAft>
            </a:pPr>
            <a:r>
              <a:rPr sz="1000" b="0" i="0">
                <a:solidFill>
                  <a:srgbClr val="1E2D44"/>
                </a:solidFill>
                <a:latin typeface="Karla"/>
              </a:rPr>
              <a:t>A07 D2 Yellow Wrapper</a:t>
            </a:r>
          </a:p>
        </p:txBody>
      </p:sp>
      <p:pic>
        <p:nvPicPr>
          <p:cNvPr id="19" name="Picture 18" descr="A8.png"/>
          <p:cNvPicPr>
            <a:picLocks noChangeAspect="1"/>
          </p:cNvPicPr>
          <p:nvPr/>
        </p:nvPicPr>
        <p:blipFill>
          <a:blip r:embed="rId9"/>
          <a:stretch>
            <a:fillRect/>
          </a:stretch>
        </p:blipFill>
        <p:spPr>
          <a:xfrm>
            <a:off x="5058460" y="3845052"/>
            <a:ext cx="2081174" cy="1607129"/>
          </a:xfrm>
          <a:prstGeom prst="rect">
            <a:avLst/>
          </a:prstGeom>
        </p:spPr>
      </p:pic>
      <p:sp>
        <p:nvSpPr>
          <p:cNvPr id="20" name="TextBox 19"/>
          <p:cNvSpPr txBox="1"/>
          <p:nvPr/>
        </p:nvSpPr>
        <p:spPr>
          <a:xfrm>
            <a:off x="5040172" y="5470469"/>
            <a:ext cx="2117750" cy="420624"/>
          </a:xfrm>
          <a:prstGeom prst="rect">
            <a:avLst/>
          </a:prstGeom>
          <a:noFill/>
        </p:spPr>
        <p:txBody>
          <a:bodyPr wrap="none" anchor="t"/>
          <a:lstStyle/>
          <a:p>
            <a:pPr algn="ctr">
              <a:spcAft>
                <a:spcPts val="400"/>
              </a:spcAft>
            </a:pPr>
            <a:r>
              <a:rPr sz="1000" b="0" i="0">
                <a:solidFill>
                  <a:srgbClr val="1E2D44"/>
                </a:solidFill>
                <a:latin typeface="Karla"/>
              </a:rPr>
              <a:t>A08 D2 Pink Wrapper</a:t>
            </a:r>
          </a:p>
        </p:txBody>
      </p:sp>
      <p:pic>
        <p:nvPicPr>
          <p:cNvPr id="21" name="Picture 20" descr="A9.png"/>
          <p:cNvPicPr>
            <a:picLocks noChangeAspect="1"/>
          </p:cNvPicPr>
          <p:nvPr/>
        </p:nvPicPr>
        <p:blipFill>
          <a:blip r:embed="rId10"/>
          <a:stretch>
            <a:fillRect/>
          </a:stretch>
        </p:blipFill>
        <p:spPr>
          <a:xfrm>
            <a:off x="7304227" y="3845052"/>
            <a:ext cx="2081174" cy="1607129"/>
          </a:xfrm>
          <a:prstGeom prst="rect">
            <a:avLst/>
          </a:prstGeom>
        </p:spPr>
      </p:pic>
      <p:sp>
        <p:nvSpPr>
          <p:cNvPr id="22" name="TextBox 21"/>
          <p:cNvSpPr txBox="1"/>
          <p:nvPr/>
        </p:nvSpPr>
        <p:spPr>
          <a:xfrm>
            <a:off x="7285939" y="5470469"/>
            <a:ext cx="2117750" cy="420624"/>
          </a:xfrm>
          <a:prstGeom prst="rect">
            <a:avLst/>
          </a:prstGeom>
          <a:noFill/>
        </p:spPr>
        <p:txBody>
          <a:bodyPr wrap="none" anchor="t"/>
          <a:lstStyle/>
          <a:p>
            <a:pPr algn="ctr">
              <a:spcAft>
                <a:spcPts val="400"/>
              </a:spcAft>
            </a:pPr>
            <a:r>
              <a:rPr sz="1000" b="0" i="0">
                <a:solidFill>
                  <a:srgbClr val="1E2D44"/>
                </a:solidFill>
                <a:latin typeface="Karla"/>
              </a:rPr>
              <a:t>A09 D3 Blue Wrapper</a:t>
            </a:r>
          </a:p>
        </p:txBody>
      </p:sp>
      <p:pic>
        <p:nvPicPr>
          <p:cNvPr id="23" name="Picture 22" descr="A10.png"/>
          <p:cNvPicPr>
            <a:picLocks noChangeAspect="1"/>
          </p:cNvPicPr>
          <p:nvPr/>
        </p:nvPicPr>
        <p:blipFill>
          <a:blip r:embed="rId11"/>
          <a:stretch>
            <a:fillRect/>
          </a:stretch>
        </p:blipFill>
        <p:spPr>
          <a:xfrm>
            <a:off x="9549993" y="3845052"/>
            <a:ext cx="2081174" cy="1607129"/>
          </a:xfrm>
          <a:prstGeom prst="rect">
            <a:avLst/>
          </a:prstGeom>
        </p:spPr>
      </p:pic>
      <p:sp>
        <p:nvSpPr>
          <p:cNvPr id="24" name="TextBox 23"/>
          <p:cNvSpPr txBox="1"/>
          <p:nvPr/>
        </p:nvSpPr>
        <p:spPr>
          <a:xfrm>
            <a:off x="9531705" y="5470469"/>
            <a:ext cx="2117750" cy="420624"/>
          </a:xfrm>
          <a:prstGeom prst="rect">
            <a:avLst/>
          </a:prstGeom>
          <a:noFill/>
        </p:spPr>
        <p:txBody>
          <a:bodyPr wrap="none" anchor="t"/>
          <a:lstStyle/>
          <a:p>
            <a:pPr algn="ctr">
              <a:spcAft>
                <a:spcPts val="400"/>
              </a:spcAft>
            </a:pPr>
            <a:r>
              <a:rPr sz="1000" b="0" i="0">
                <a:solidFill>
                  <a:srgbClr val="1E2D44"/>
                </a:solidFill>
                <a:latin typeface="Karla"/>
              </a:rPr>
              <a:t>D3 Orange Wrapper</a:t>
            </a:r>
          </a:p>
        </p:txBody>
      </p:sp>
      <p:sp>
        <p:nvSpPr>
          <p:cNvPr id="25" name="Rectangle 24"/>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n=150 respondents.  Top-2 Box model (ratings 4–5): element lifts show movement above or below the model baseline.</a:t>
            </a:r>
          </a:p>
        </p:txBody>
      </p:sp>
      <p:sp>
        <p:nvSpPr>
          <p:cNvPr id="27" name="TextBox 26"/>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102</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56032"/>
            <a:ext cx="10972800" cy="256032"/>
          </a:xfrm>
          <a:prstGeom prst="rect">
            <a:avLst/>
          </a:prstGeom>
          <a:noFill/>
        </p:spPr>
        <p:txBody>
          <a:bodyPr wrap="square" anchor="t"/>
          <a:lstStyle/>
          <a:p>
            <a:pPr algn="l">
              <a:spcAft>
                <a:spcPts val="400"/>
              </a:spcAft>
            </a:pPr>
            <a:r>
              <a:rPr sz="1200" b="1" i="0">
                <a:solidFill>
                  <a:srgbClr val="04746E"/>
                </a:solidFill>
                <a:latin typeface="Karla"/>
              </a:rPr>
              <a:t>ELEMENT ASSETS</a:t>
            </a:r>
          </a:p>
        </p:txBody>
      </p:sp>
      <p:sp>
        <p:nvSpPr>
          <p:cNvPr id="3" name="TextBox 2"/>
          <p:cNvSpPr txBox="1"/>
          <p:nvPr/>
        </p:nvSpPr>
        <p:spPr>
          <a:xfrm>
            <a:off x="566928" y="621792"/>
            <a:ext cx="10972800" cy="384048"/>
          </a:xfrm>
          <a:prstGeom prst="rect">
            <a:avLst/>
          </a:prstGeom>
          <a:noFill/>
        </p:spPr>
        <p:txBody>
          <a:bodyPr wrap="square" anchor="t"/>
          <a:lstStyle/>
          <a:p>
            <a:pPr algn="l">
              <a:spcAft>
                <a:spcPts val="400"/>
              </a:spcAft>
            </a:pPr>
            <a:r>
              <a:rPr sz="2600" b="1" i="0">
                <a:solidFill>
                  <a:srgbClr val="1E2D44"/>
                </a:solidFill>
                <a:latin typeface="Karla"/>
              </a:rPr>
              <a:t>A_Background  —  element assets   ·   2 of 2</a:t>
            </a:r>
          </a:p>
        </p:txBody>
      </p:sp>
      <p:sp>
        <p:nvSpPr>
          <p:cNvPr id="4" name="TextBox 3"/>
          <p:cNvSpPr txBox="1"/>
          <p:nvPr/>
        </p:nvSpPr>
        <p:spPr>
          <a:xfrm>
            <a:off x="566928" y="1051560"/>
            <a:ext cx="10972800" cy="274320"/>
          </a:xfrm>
          <a:prstGeom prst="rect">
            <a:avLst/>
          </a:prstGeom>
          <a:noFill/>
        </p:spPr>
        <p:txBody>
          <a:bodyPr wrap="square" anchor="t"/>
          <a:lstStyle/>
          <a:p>
            <a:pPr algn="l">
              <a:spcAft>
                <a:spcPts val="400"/>
              </a:spcAft>
            </a:pPr>
            <a:r>
              <a:rPr sz="1400" b="0" i="0">
                <a:solidFill>
                  <a:srgbClr val="617086"/>
                </a:solidFill>
                <a:latin typeface="Karla"/>
              </a:rPr>
              <a:t>A   ·   12 variations</a:t>
            </a:r>
          </a:p>
        </p:txBody>
      </p:sp>
      <p:pic>
        <p:nvPicPr>
          <p:cNvPr id="5" name="Picture 4" descr="A11.png"/>
          <p:cNvPicPr>
            <a:picLocks noChangeAspect="1"/>
          </p:cNvPicPr>
          <p:nvPr/>
        </p:nvPicPr>
        <p:blipFill>
          <a:blip r:embed="rId2"/>
          <a:stretch>
            <a:fillRect/>
          </a:stretch>
        </p:blipFill>
        <p:spPr>
          <a:xfrm>
            <a:off x="3470904" y="2578608"/>
            <a:ext cx="2545847" cy="1965960"/>
          </a:xfrm>
          <a:prstGeom prst="rect">
            <a:avLst/>
          </a:prstGeom>
        </p:spPr>
      </p:pic>
      <p:sp>
        <p:nvSpPr>
          <p:cNvPr id="6" name="TextBox 5"/>
          <p:cNvSpPr txBox="1"/>
          <p:nvPr/>
        </p:nvSpPr>
        <p:spPr>
          <a:xfrm>
            <a:off x="3452616" y="4562856"/>
            <a:ext cx="2582423" cy="420624"/>
          </a:xfrm>
          <a:prstGeom prst="rect">
            <a:avLst/>
          </a:prstGeom>
          <a:noFill/>
        </p:spPr>
        <p:txBody>
          <a:bodyPr wrap="none" anchor="t"/>
          <a:lstStyle/>
          <a:p>
            <a:pPr algn="ctr">
              <a:spcAft>
                <a:spcPts val="400"/>
              </a:spcAft>
            </a:pPr>
            <a:r>
              <a:rPr sz="1000" b="0" i="0">
                <a:solidFill>
                  <a:srgbClr val="1E2D44"/>
                </a:solidFill>
                <a:latin typeface="Karla"/>
              </a:rPr>
              <a:t>D3 Yellow Wrapper</a:t>
            </a:r>
          </a:p>
        </p:txBody>
      </p:sp>
      <p:pic>
        <p:nvPicPr>
          <p:cNvPr id="7" name="Picture 6" descr="A12.png"/>
          <p:cNvPicPr>
            <a:picLocks noChangeAspect="1"/>
          </p:cNvPicPr>
          <p:nvPr/>
        </p:nvPicPr>
        <p:blipFill>
          <a:blip r:embed="rId3"/>
          <a:stretch>
            <a:fillRect/>
          </a:stretch>
        </p:blipFill>
        <p:spPr>
          <a:xfrm>
            <a:off x="6181344" y="2578608"/>
            <a:ext cx="2545847" cy="1965960"/>
          </a:xfrm>
          <a:prstGeom prst="rect">
            <a:avLst/>
          </a:prstGeom>
        </p:spPr>
      </p:pic>
      <p:sp>
        <p:nvSpPr>
          <p:cNvPr id="8" name="TextBox 7"/>
          <p:cNvSpPr txBox="1"/>
          <p:nvPr/>
        </p:nvSpPr>
        <p:spPr>
          <a:xfrm>
            <a:off x="6163056" y="4562856"/>
            <a:ext cx="2582423" cy="420624"/>
          </a:xfrm>
          <a:prstGeom prst="rect">
            <a:avLst/>
          </a:prstGeom>
          <a:noFill/>
        </p:spPr>
        <p:txBody>
          <a:bodyPr wrap="none" anchor="t"/>
          <a:lstStyle/>
          <a:p>
            <a:pPr algn="ctr">
              <a:spcAft>
                <a:spcPts val="400"/>
              </a:spcAft>
            </a:pPr>
            <a:r>
              <a:rPr sz="1000" b="0" i="0">
                <a:solidFill>
                  <a:srgbClr val="1E2D44"/>
                </a:solidFill>
                <a:latin typeface="Karla"/>
              </a:rPr>
              <a:t>D3 Pink Wrapper</a:t>
            </a:r>
          </a:p>
        </p:txBody>
      </p:sp>
      <p:sp>
        <p:nvSpPr>
          <p:cNvPr id="9" name="Rectangle 8"/>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n=150 respondents.  Top-2 Box model (ratings 4–5): element lifts show movement above or below the model baseline.</a:t>
            </a:r>
          </a:p>
        </p:txBody>
      </p:sp>
      <p:sp>
        <p:nvSpPr>
          <p:cNvPr id="11" name="TextBox 10"/>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103</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56032"/>
            <a:ext cx="10972800" cy="256032"/>
          </a:xfrm>
          <a:prstGeom prst="rect">
            <a:avLst/>
          </a:prstGeom>
          <a:noFill/>
        </p:spPr>
        <p:txBody>
          <a:bodyPr wrap="square" anchor="t"/>
          <a:lstStyle/>
          <a:p>
            <a:pPr algn="l">
              <a:spcAft>
                <a:spcPts val="400"/>
              </a:spcAft>
            </a:pPr>
            <a:r>
              <a:rPr sz="1200" b="1" i="0">
                <a:solidFill>
                  <a:srgbClr val="04746E"/>
                </a:solidFill>
                <a:latin typeface="Karla"/>
              </a:rPr>
              <a:t>ELEMENT ASSETS</a:t>
            </a:r>
          </a:p>
        </p:txBody>
      </p:sp>
      <p:sp>
        <p:nvSpPr>
          <p:cNvPr id="3" name="TextBox 2"/>
          <p:cNvSpPr txBox="1"/>
          <p:nvPr/>
        </p:nvSpPr>
        <p:spPr>
          <a:xfrm>
            <a:off x="566928" y="621792"/>
            <a:ext cx="10972800" cy="384048"/>
          </a:xfrm>
          <a:prstGeom prst="rect">
            <a:avLst/>
          </a:prstGeom>
          <a:noFill/>
        </p:spPr>
        <p:txBody>
          <a:bodyPr wrap="square" anchor="t"/>
          <a:lstStyle/>
          <a:p>
            <a:pPr algn="l">
              <a:spcAft>
                <a:spcPts val="400"/>
              </a:spcAft>
            </a:pPr>
            <a:r>
              <a:rPr sz="2600" b="1" i="0">
                <a:solidFill>
                  <a:srgbClr val="1E2D44"/>
                </a:solidFill>
                <a:latin typeface="Karla"/>
              </a:rPr>
              <a:t>B_Cookie  —  element assets</a:t>
            </a:r>
          </a:p>
        </p:txBody>
      </p:sp>
      <p:sp>
        <p:nvSpPr>
          <p:cNvPr id="4" name="TextBox 3"/>
          <p:cNvSpPr txBox="1"/>
          <p:nvPr/>
        </p:nvSpPr>
        <p:spPr>
          <a:xfrm>
            <a:off x="566928" y="1051560"/>
            <a:ext cx="10972800" cy="274320"/>
          </a:xfrm>
          <a:prstGeom prst="rect">
            <a:avLst/>
          </a:prstGeom>
          <a:noFill/>
        </p:spPr>
        <p:txBody>
          <a:bodyPr wrap="square" anchor="t"/>
          <a:lstStyle/>
          <a:p>
            <a:pPr algn="l">
              <a:spcAft>
                <a:spcPts val="400"/>
              </a:spcAft>
            </a:pPr>
            <a:r>
              <a:rPr sz="1400" b="0" i="0">
                <a:solidFill>
                  <a:srgbClr val="617086"/>
                </a:solidFill>
                <a:latin typeface="Karla"/>
              </a:rPr>
              <a:t>B   ·   8 variations</a:t>
            </a:r>
          </a:p>
        </p:txBody>
      </p:sp>
      <p:pic>
        <p:nvPicPr>
          <p:cNvPr id="5" name="Picture 4" descr="B1.png"/>
          <p:cNvPicPr>
            <a:picLocks noChangeAspect="1"/>
          </p:cNvPicPr>
          <p:nvPr/>
        </p:nvPicPr>
        <p:blipFill>
          <a:blip r:embed="rId2"/>
          <a:stretch>
            <a:fillRect/>
          </a:stretch>
        </p:blipFill>
        <p:spPr>
          <a:xfrm>
            <a:off x="566928" y="1491579"/>
            <a:ext cx="2081174" cy="1607129"/>
          </a:xfrm>
          <a:prstGeom prst="rect">
            <a:avLst/>
          </a:prstGeom>
        </p:spPr>
      </p:pic>
      <p:sp>
        <p:nvSpPr>
          <p:cNvPr id="6" name="TextBox 5"/>
          <p:cNvSpPr txBox="1"/>
          <p:nvPr/>
        </p:nvSpPr>
        <p:spPr>
          <a:xfrm>
            <a:off x="548640" y="3116996"/>
            <a:ext cx="2117750" cy="420624"/>
          </a:xfrm>
          <a:prstGeom prst="rect">
            <a:avLst/>
          </a:prstGeom>
          <a:noFill/>
        </p:spPr>
        <p:txBody>
          <a:bodyPr wrap="none" anchor="t"/>
          <a:lstStyle/>
          <a:p>
            <a:pPr algn="ctr">
              <a:spcAft>
                <a:spcPts val="400"/>
              </a:spcAft>
            </a:pPr>
            <a:r>
              <a:rPr sz="1000" b="0" i="0">
                <a:solidFill>
                  <a:srgbClr val="1E2D44"/>
                </a:solidFill>
                <a:latin typeface="Karla"/>
              </a:rPr>
              <a:t>B01 Cookie Chocolate</a:t>
            </a:r>
          </a:p>
          <a:p>
            <a:pPr algn="ctr">
              <a:spcAft>
                <a:spcPts val="400"/>
              </a:spcAft>
            </a:pPr>
            <a:r>
              <a:rPr sz="1000" b="0" i="0">
                <a:solidFill>
                  <a:srgbClr val="1E2D44"/>
                </a:solidFill>
                <a:latin typeface="Karla"/>
              </a:rPr>
              <a:t>Filling Right Upper D2D3</a:t>
            </a:r>
          </a:p>
        </p:txBody>
      </p:sp>
      <p:pic>
        <p:nvPicPr>
          <p:cNvPr id="7" name="Picture 6" descr="B2.png"/>
          <p:cNvPicPr>
            <a:picLocks noChangeAspect="1"/>
          </p:cNvPicPr>
          <p:nvPr/>
        </p:nvPicPr>
        <p:blipFill>
          <a:blip r:embed="rId3"/>
          <a:stretch>
            <a:fillRect/>
          </a:stretch>
        </p:blipFill>
        <p:spPr>
          <a:xfrm>
            <a:off x="2812694" y="1491579"/>
            <a:ext cx="2081174" cy="1607129"/>
          </a:xfrm>
          <a:prstGeom prst="rect">
            <a:avLst/>
          </a:prstGeom>
        </p:spPr>
      </p:pic>
      <p:sp>
        <p:nvSpPr>
          <p:cNvPr id="8" name="TextBox 7"/>
          <p:cNvSpPr txBox="1"/>
          <p:nvPr/>
        </p:nvSpPr>
        <p:spPr>
          <a:xfrm>
            <a:off x="2794406" y="3116996"/>
            <a:ext cx="2117750" cy="420624"/>
          </a:xfrm>
          <a:prstGeom prst="rect">
            <a:avLst/>
          </a:prstGeom>
          <a:noFill/>
        </p:spPr>
        <p:txBody>
          <a:bodyPr wrap="none" anchor="t"/>
          <a:lstStyle/>
          <a:p>
            <a:pPr algn="ctr">
              <a:spcAft>
                <a:spcPts val="400"/>
              </a:spcAft>
            </a:pPr>
            <a:r>
              <a:rPr sz="1000" b="0" i="0">
                <a:solidFill>
                  <a:srgbClr val="1E2D44"/>
                </a:solidFill>
                <a:latin typeface="Karla"/>
              </a:rPr>
              <a:t>B02 Cookie Orange Filling</a:t>
            </a:r>
          </a:p>
          <a:p>
            <a:pPr algn="ctr">
              <a:spcAft>
                <a:spcPts val="400"/>
              </a:spcAft>
            </a:pPr>
            <a:r>
              <a:rPr sz="1000" b="0" i="0">
                <a:solidFill>
                  <a:srgbClr val="1E2D44"/>
                </a:solidFill>
                <a:latin typeface="Karla"/>
              </a:rPr>
              <a:t>Right Upper D2D3</a:t>
            </a:r>
          </a:p>
        </p:txBody>
      </p:sp>
      <p:pic>
        <p:nvPicPr>
          <p:cNvPr id="9" name="Picture 8" descr="B3.png"/>
          <p:cNvPicPr>
            <a:picLocks noChangeAspect="1"/>
          </p:cNvPicPr>
          <p:nvPr/>
        </p:nvPicPr>
        <p:blipFill>
          <a:blip r:embed="rId4"/>
          <a:stretch>
            <a:fillRect/>
          </a:stretch>
        </p:blipFill>
        <p:spPr>
          <a:xfrm>
            <a:off x="5058460" y="1491579"/>
            <a:ext cx="2081174" cy="1607129"/>
          </a:xfrm>
          <a:prstGeom prst="rect">
            <a:avLst/>
          </a:prstGeom>
        </p:spPr>
      </p:pic>
      <p:sp>
        <p:nvSpPr>
          <p:cNvPr id="10" name="TextBox 9"/>
          <p:cNvSpPr txBox="1"/>
          <p:nvPr/>
        </p:nvSpPr>
        <p:spPr>
          <a:xfrm>
            <a:off x="5040172" y="3116996"/>
            <a:ext cx="2117750" cy="420624"/>
          </a:xfrm>
          <a:prstGeom prst="rect">
            <a:avLst/>
          </a:prstGeom>
          <a:noFill/>
        </p:spPr>
        <p:txBody>
          <a:bodyPr wrap="none" anchor="t"/>
          <a:lstStyle/>
          <a:p>
            <a:pPr algn="ctr">
              <a:spcAft>
                <a:spcPts val="400"/>
              </a:spcAft>
            </a:pPr>
            <a:r>
              <a:rPr sz="1000" b="0" i="0">
                <a:solidFill>
                  <a:srgbClr val="1E2D44"/>
                </a:solidFill>
                <a:latin typeface="Karla"/>
              </a:rPr>
              <a:t>B03 Cookie Banana Filling</a:t>
            </a:r>
          </a:p>
          <a:p>
            <a:pPr algn="ctr">
              <a:spcAft>
                <a:spcPts val="400"/>
              </a:spcAft>
            </a:pPr>
            <a:r>
              <a:rPr sz="1000" b="0" i="0">
                <a:solidFill>
                  <a:srgbClr val="1E2D44"/>
                </a:solidFill>
                <a:latin typeface="Karla"/>
              </a:rPr>
              <a:t>Right Upper D2D3</a:t>
            </a:r>
          </a:p>
        </p:txBody>
      </p:sp>
      <p:pic>
        <p:nvPicPr>
          <p:cNvPr id="11" name="Picture 10" descr="B4.png"/>
          <p:cNvPicPr>
            <a:picLocks noChangeAspect="1"/>
          </p:cNvPicPr>
          <p:nvPr/>
        </p:nvPicPr>
        <p:blipFill>
          <a:blip r:embed="rId5"/>
          <a:stretch>
            <a:fillRect/>
          </a:stretch>
        </p:blipFill>
        <p:spPr>
          <a:xfrm>
            <a:off x="7304227" y="1491579"/>
            <a:ext cx="2081174" cy="1607129"/>
          </a:xfrm>
          <a:prstGeom prst="rect">
            <a:avLst/>
          </a:prstGeom>
        </p:spPr>
      </p:pic>
      <p:sp>
        <p:nvSpPr>
          <p:cNvPr id="12" name="TextBox 11"/>
          <p:cNvSpPr txBox="1"/>
          <p:nvPr/>
        </p:nvSpPr>
        <p:spPr>
          <a:xfrm>
            <a:off x="7285939" y="3116996"/>
            <a:ext cx="2117750" cy="420624"/>
          </a:xfrm>
          <a:prstGeom prst="rect">
            <a:avLst/>
          </a:prstGeom>
          <a:noFill/>
        </p:spPr>
        <p:txBody>
          <a:bodyPr wrap="none" anchor="t"/>
          <a:lstStyle/>
          <a:p>
            <a:pPr algn="ctr">
              <a:spcAft>
                <a:spcPts val="400"/>
              </a:spcAft>
            </a:pPr>
            <a:r>
              <a:rPr sz="1000" b="0" i="0">
                <a:solidFill>
                  <a:srgbClr val="1E2D44"/>
                </a:solidFill>
                <a:latin typeface="Karla"/>
              </a:rPr>
              <a:t>B04 Cookie Vanilla Filling</a:t>
            </a:r>
          </a:p>
          <a:p>
            <a:pPr algn="ctr">
              <a:spcAft>
                <a:spcPts val="400"/>
              </a:spcAft>
            </a:pPr>
            <a:r>
              <a:rPr sz="1000" b="0" i="0">
                <a:solidFill>
                  <a:srgbClr val="1E2D44"/>
                </a:solidFill>
                <a:latin typeface="Karla"/>
              </a:rPr>
              <a:t>Right Upper D2D3</a:t>
            </a:r>
          </a:p>
        </p:txBody>
      </p:sp>
      <p:pic>
        <p:nvPicPr>
          <p:cNvPr id="13" name="Picture 12" descr="B5.png"/>
          <p:cNvPicPr>
            <a:picLocks noChangeAspect="1"/>
          </p:cNvPicPr>
          <p:nvPr/>
        </p:nvPicPr>
        <p:blipFill>
          <a:blip r:embed="rId6"/>
          <a:stretch>
            <a:fillRect/>
          </a:stretch>
        </p:blipFill>
        <p:spPr>
          <a:xfrm>
            <a:off x="9549993" y="1491579"/>
            <a:ext cx="2081174" cy="1607129"/>
          </a:xfrm>
          <a:prstGeom prst="rect">
            <a:avLst/>
          </a:prstGeom>
        </p:spPr>
      </p:pic>
      <p:sp>
        <p:nvSpPr>
          <p:cNvPr id="14" name="TextBox 13"/>
          <p:cNvSpPr txBox="1"/>
          <p:nvPr/>
        </p:nvSpPr>
        <p:spPr>
          <a:xfrm>
            <a:off x="9531705" y="3116996"/>
            <a:ext cx="2117750" cy="420624"/>
          </a:xfrm>
          <a:prstGeom prst="rect">
            <a:avLst/>
          </a:prstGeom>
          <a:noFill/>
        </p:spPr>
        <p:txBody>
          <a:bodyPr wrap="none" anchor="t"/>
          <a:lstStyle/>
          <a:p>
            <a:pPr algn="ctr">
              <a:spcAft>
                <a:spcPts val="400"/>
              </a:spcAft>
            </a:pPr>
            <a:r>
              <a:rPr sz="1000" b="0" i="0">
                <a:solidFill>
                  <a:srgbClr val="1E2D44"/>
                </a:solidFill>
                <a:latin typeface="Karla"/>
              </a:rPr>
              <a:t>B05 Cookie Chocolate</a:t>
            </a:r>
          </a:p>
          <a:p>
            <a:pPr algn="ctr">
              <a:spcAft>
                <a:spcPts val="400"/>
              </a:spcAft>
            </a:pPr>
            <a:r>
              <a:rPr sz="1000" b="0" i="0">
                <a:solidFill>
                  <a:srgbClr val="1E2D44"/>
                </a:solidFill>
                <a:latin typeface="Karla"/>
              </a:rPr>
              <a:t>Filling Right Lower D1</a:t>
            </a:r>
          </a:p>
        </p:txBody>
      </p:sp>
      <p:pic>
        <p:nvPicPr>
          <p:cNvPr id="15" name="Picture 14" descr="B6.png"/>
          <p:cNvPicPr>
            <a:picLocks noChangeAspect="1"/>
          </p:cNvPicPr>
          <p:nvPr/>
        </p:nvPicPr>
        <p:blipFill>
          <a:blip r:embed="rId7"/>
          <a:stretch>
            <a:fillRect/>
          </a:stretch>
        </p:blipFill>
        <p:spPr>
          <a:xfrm>
            <a:off x="2115684" y="3665636"/>
            <a:ext cx="2545847" cy="1965960"/>
          </a:xfrm>
          <a:prstGeom prst="rect">
            <a:avLst/>
          </a:prstGeom>
        </p:spPr>
      </p:pic>
      <p:sp>
        <p:nvSpPr>
          <p:cNvPr id="16" name="TextBox 15"/>
          <p:cNvSpPr txBox="1"/>
          <p:nvPr/>
        </p:nvSpPr>
        <p:spPr>
          <a:xfrm>
            <a:off x="2097396" y="5649884"/>
            <a:ext cx="2582423" cy="420624"/>
          </a:xfrm>
          <a:prstGeom prst="rect">
            <a:avLst/>
          </a:prstGeom>
          <a:noFill/>
        </p:spPr>
        <p:txBody>
          <a:bodyPr wrap="none" anchor="t"/>
          <a:lstStyle/>
          <a:p>
            <a:pPr algn="ctr">
              <a:spcAft>
                <a:spcPts val="400"/>
              </a:spcAft>
            </a:pPr>
            <a:r>
              <a:rPr sz="1000" b="0" i="0">
                <a:solidFill>
                  <a:srgbClr val="1E2D44"/>
                </a:solidFill>
                <a:latin typeface="Karla"/>
              </a:rPr>
              <a:t>B06 Cookie Orange Filling Right</a:t>
            </a:r>
          </a:p>
          <a:p>
            <a:pPr algn="ctr">
              <a:spcAft>
                <a:spcPts val="400"/>
              </a:spcAft>
            </a:pPr>
            <a:r>
              <a:rPr sz="1000" b="0" i="0">
                <a:solidFill>
                  <a:srgbClr val="1E2D44"/>
                </a:solidFill>
                <a:latin typeface="Karla"/>
              </a:rPr>
              <a:t>Lower D1</a:t>
            </a:r>
          </a:p>
        </p:txBody>
      </p:sp>
      <p:pic>
        <p:nvPicPr>
          <p:cNvPr id="17" name="Picture 16" descr="B7.png"/>
          <p:cNvPicPr>
            <a:picLocks noChangeAspect="1"/>
          </p:cNvPicPr>
          <p:nvPr/>
        </p:nvPicPr>
        <p:blipFill>
          <a:blip r:embed="rId8"/>
          <a:stretch>
            <a:fillRect/>
          </a:stretch>
        </p:blipFill>
        <p:spPr>
          <a:xfrm>
            <a:off x="4826124" y="3665636"/>
            <a:ext cx="2545847" cy="1965960"/>
          </a:xfrm>
          <a:prstGeom prst="rect">
            <a:avLst/>
          </a:prstGeom>
        </p:spPr>
      </p:pic>
      <p:sp>
        <p:nvSpPr>
          <p:cNvPr id="18" name="TextBox 17"/>
          <p:cNvSpPr txBox="1"/>
          <p:nvPr/>
        </p:nvSpPr>
        <p:spPr>
          <a:xfrm>
            <a:off x="4807836" y="5649884"/>
            <a:ext cx="2582423" cy="420624"/>
          </a:xfrm>
          <a:prstGeom prst="rect">
            <a:avLst/>
          </a:prstGeom>
          <a:noFill/>
        </p:spPr>
        <p:txBody>
          <a:bodyPr wrap="none" anchor="t"/>
          <a:lstStyle/>
          <a:p>
            <a:pPr algn="ctr">
              <a:spcAft>
                <a:spcPts val="400"/>
              </a:spcAft>
            </a:pPr>
            <a:r>
              <a:rPr sz="1000" b="0" i="0">
                <a:solidFill>
                  <a:srgbClr val="1E2D44"/>
                </a:solidFill>
                <a:latin typeface="Karla"/>
              </a:rPr>
              <a:t>B07 Cookie Banana Filling Right</a:t>
            </a:r>
          </a:p>
          <a:p>
            <a:pPr algn="ctr">
              <a:spcAft>
                <a:spcPts val="400"/>
              </a:spcAft>
            </a:pPr>
            <a:r>
              <a:rPr sz="1000" b="0" i="0">
                <a:solidFill>
                  <a:srgbClr val="1E2D44"/>
                </a:solidFill>
                <a:latin typeface="Karla"/>
              </a:rPr>
              <a:t>Lower D1</a:t>
            </a:r>
          </a:p>
        </p:txBody>
      </p:sp>
      <p:pic>
        <p:nvPicPr>
          <p:cNvPr id="19" name="Picture 18" descr="B8.png"/>
          <p:cNvPicPr>
            <a:picLocks noChangeAspect="1"/>
          </p:cNvPicPr>
          <p:nvPr/>
        </p:nvPicPr>
        <p:blipFill>
          <a:blip r:embed="rId9"/>
          <a:stretch>
            <a:fillRect/>
          </a:stretch>
        </p:blipFill>
        <p:spPr>
          <a:xfrm>
            <a:off x="7536563" y="3665636"/>
            <a:ext cx="2545847" cy="1965960"/>
          </a:xfrm>
          <a:prstGeom prst="rect">
            <a:avLst/>
          </a:prstGeom>
        </p:spPr>
      </p:pic>
      <p:sp>
        <p:nvSpPr>
          <p:cNvPr id="20" name="TextBox 19"/>
          <p:cNvSpPr txBox="1"/>
          <p:nvPr/>
        </p:nvSpPr>
        <p:spPr>
          <a:xfrm>
            <a:off x="7518275" y="5649884"/>
            <a:ext cx="2582423" cy="420624"/>
          </a:xfrm>
          <a:prstGeom prst="rect">
            <a:avLst/>
          </a:prstGeom>
          <a:noFill/>
        </p:spPr>
        <p:txBody>
          <a:bodyPr wrap="none" anchor="t"/>
          <a:lstStyle/>
          <a:p>
            <a:pPr algn="ctr">
              <a:spcAft>
                <a:spcPts val="400"/>
              </a:spcAft>
            </a:pPr>
            <a:r>
              <a:rPr sz="1000" b="0" i="0">
                <a:solidFill>
                  <a:srgbClr val="1E2D44"/>
                </a:solidFill>
                <a:latin typeface="Karla"/>
              </a:rPr>
              <a:t>B08 Cookie Vanilla Filling Right</a:t>
            </a:r>
          </a:p>
          <a:p>
            <a:pPr algn="ctr">
              <a:spcAft>
                <a:spcPts val="400"/>
              </a:spcAft>
            </a:pPr>
            <a:r>
              <a:rPr sz="1000" b="0" i="0">
                <a:solidFill>
                  <a:srgbClr val="1E2D44"/>
                </a:solidFill>
                <a:latin typeface="Karla"/>
              </a:rPr>
              <a:t>Lower D1</a:t>
            </a:r>
          </a:p>
        </p:txBody>
      </p:sp>
      <p:sp>
        <p:nvSpPr>
          <p:cNvPr id="21" name="Rectangle 20"/>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n=150 respondents.  Top-2 Box model (ratings 4–5): element lifts show movement above or below the model baseline.</a:t>
            </a:r>
          </a:p>
        </p:txBody>
      </p:sp>
      <p:sp>
        <p:nvSpPr>
          <p:cNvPr id="23" name="TextBox 22"/>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104</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56032"/>
            <a:ext cx="10972800" cy="256032"/>
          </a:xfrm>
          <a:prstGeom prst="rect">
            <a:avLst/>
          </a:prstGeom>
          <a:noFill/>
        </p:spPr>
        <p:txBody>
          <a:bodyPr wrap="square" anchor="t"/>
          <a:lstStyle/>
          <a:p>
            <a:pPr algn="l">
              <a:spcAft>
                <a:spcPts val="400"/>
              </a:spcAft>
            </a:pPr>
            <a:r>
              <a:rPr sz="1200" b="1" i="0">
                <a:solidFill>
                  <a:srgbClr val="04746E"/>
                </a:solidFill>
                <a:latin typeface="Karla"/>
              </a:rPr>
              <a:t>ELEMENT ASSETS</a:t>
            </a:r>
          </a:p>
        </p:txBody>
      </p:sp>
      <p:sp>
        <p:nvSpPr>
          <p:cNvPr id="3" name="TextBox 2"/>
          <p:cNvSpPr txBox="1"/>
          <p:nvPr/>
        </p:nvSpPr>
        <p:spPr>
          <a:xfrm>
            <a:off x="566928" y="621792"/>
            <a:ext cx="10972800" cy="384048"/>
          </a:xfrm>
          <a:prstGeom prst="rect">
            <a:avLst/>
          </a:prstGeom>
          <a:noFill/>
        </p:spPr>
        <p:txBody>
          <a:bodyPr wrap="square" anchor="t"/>
          <a:lstStyle/>
          <a:p>
            <a:pPr algn="l">
              <a:spcAft>
                <a:spcPts val="400"/>
              </a:spcAft>
            </a:pPr>
            <a:r>
              <a:rPr sz="2600" b="1" i="0">
                <a:solidFill>
                  <a:srgbClr val="1E2D44"/>
                </a:solidFill>
                <a:latin typeface="Karla"/>
              </a:rPr>
              <a:t>C_Claim  —  element assets</a:t>
            </a:r>
          </a:p>
        </p:txBody>
      </p:sp>
      <p:sp>
        <p:nvSpPr>
          <p:cNvPr id="4" name="TextBox 3"/>
          <p:cNvSpPr txBox="1"/>
          <p:nvPr/>
        </p:nvSpPr>
        <p:spPr>
          <a:xfrm>
            <a:off x="566928" y="1051560"/>
            <a:ext cx="10972800" cy="274320"/>
          </a:xfrm>
          <a:prstGeom prst="rect">
            <a:avLst/>
          </a:prstGeom>
          <a:noFill/>
        </p:spPr>
        <p:txBody>
          <a:bodyPr wrap="square" anchor="t"/>
          <a:lstStyle/>
          <a:p>
            <a:pPr algn="l">
              <a:spcAft>
                <a:spcPts val="400"/>
              </a:spcAft>
            </a:pPr>
            <a:r>
              <a:rPr sz="1400" b="0" i="0">
                <a:solidFill>
                  <a:srgbClr val="617086"/>
                </a:solidFill>
                <a:latin typeface="Karla"/>
              </a:rPr>
              <a:t>C   ·   6 variations</a:t>
            </a:r>
          </a:p>
        </p:txBody>
      </p:sp>
      <p:pic>
        <p:nvPicPr>
          <p:cNvPr id="5" name="Picture 4" descr="C1.png"/>
          <p:cNvPicPr>
            <a:picLocks noChangeAspect="1"/>
          </p:cNvPicPr>
          <p:nvPr/>
        </p:nvPicPr>
        <p:blipFill>
          <a:blip r:embed="rId2"/>
          <a:stretch>
            <a:fillRect/>
          </a:stretch>
        </p:blipFill>
        <p:spPr>
          <a:xfrm>
            <a:off x="566928" y="1491579"/>
            <a:ext cx="2081174" cy="1607129"/>
          </a:xfrm>
          <a:prstGeom prst="rect">
            <a:avLst/>
          </a:prstGeom>
        </p:spPr>
      </p:pic>
      <p:sp>
        <p:nvSpPr>
          <p:cNvPr id="6" name="TextBox 5"/>
          <p:cNvSpPr txBox="1"/>
          <p:nvPr/>
        </p:nvSpPr>
        <p:spPr>
          <a:xfrm>
            <a:off x="548640" y="3116996"/>
            <a:ext cx="2117750" cy="420624"/>
          </a:xfrm>
          <a:prstGeom prst="rect">
            <a:avLst/>
          </a:prstGeom>
          <a:noFill/>
        </p:spPr>
        <p:txBody>
          <a:bodyPr wrap="none" anchor="t"/>
          <a:lstStyle/>
          <a:p>
            <a:pPr algn="ctr">
              <a:spcAft>
                <a:spcPts val="400"/>
              </a:spcAft>
            </a:pPr>
            <a:r>
              <a:rPr sz="1000" b="0" i="0">
                <a:solidFill>
                  <a:srgbClr val="1E2D44"/>
                </a:solidFill>
                <a:latin typeface="Karla"/>
              </a:rPr>
              <a:t>C01 Claim Full Block</a:t>
            </a:r>
          </a:p>
          <a:p>
            <a:pPr algn="ctr">
              <a:spcAft>
                <a:spcPts val="400"/>
              </a:spcAft>
            </a:pPr>
            <a:r>
              <a:rPr sz="1000" b="0" i="0">
                <a:solidFill>
                  <a:srgbClr val="1E2D44"/>
                </a:solidFill>
                <a:latin typeface="Karla"/>
              </a:rPr>
              <a:t>Fibrecollagen 33 Protein…</a:t>
            </a:r>
          </a:p>
        </p:txBody>
      </p:sp>
      <p:pic>
        <p:nvPicPr>
          <p:cNvPr id="7" name="Picture 6" descr="C2.png"/>
          <p:cNvPicPr>
            <a:picLocks noChangeAspect="1"/>
          </p:cNvPicPr>
          <p:nvPr/>
        </p:nvPicPr>
        <p:blipFill>
          <a:blip r:embed="rId3"/>
          <a:stretch>
            <a:fillRect/>
          </a:stretch>
        </p:blipFill>
        <p:spPr>
          <a:xfrm>
            <a:off x="2812694" y="1491579"/>
            <a:ext cx="2081174" cy="1607129"/>
          </a:xfrm>
          <a:prstGeom prst="rect">
            <a:avLst/>
          </a:prstGeom>
        </p:spPr>
      </p:pic>
      <p:sp>
        <p:nvSpPr>
          <p:cNvPr id="8" name="TextBox 7"/>
          <p:cNvSpPr txBox="1"/>
          <p:nvPr/>
        </p:nvSpPr>
        <p:spPr>
          <a:xfrm>
            <a:off x="2794406" y="3116996"/>
            <a:ext cx="2117750" cy="420624"/>
          </a:xfrm>
          <a:prstGeom prst="rect">
            <a:avLst/>
          </a:prstGeom>
          <a:noFill/>
        </p:spPr>
        <p:txBody>
          <a:bodyPr wrap="none" anchor="t"/>
          <a:lstStyle/>
          <a:p>
            <a:pPr algn="ctr">
              <a:spcAft>
                <a:spcPts val="400"/>
              </a:spcAft>
            </a:pPr>
            <a:r>
              <a:rPr sz="1000" b="0" i="0">
                <a:solidFill>
                  <a:srgbClr val="1E2D44"/>
                </a:solidFill>
                <a:latin typeface="Karla"/>
              </a:rPr>
              <a:t>C02 Claim 33 Protein 20g</a:t>
            </a:r>
          </a:p>
          <a:p>
            <a:pPr algn="ctr">
              <a:spcAft>
                <a:spcPts val="400"/>
              </a:spcAft>
            </a:pPr>
            <a:r>
              <a:rPr sz="1000" b="0" i="0">
                <a:solidFill>
                  <a:srgbClr val="1E2D44"/>
                </a:solidFill>
                <a:latin typeface="Karla"/>
              </a:rPr>
              <a:t>High Protein No Sugar Added…</a:t>
            </a:r>
          </a:p>
        </p:txBody>
      </p:sp>
      <p:pic>
        <p:nvPicPr>
          <p:cNvPr id="9" name="Picture 8" descr="C3.png"/>
          <p:cNvPicPr>
            <a:picLocks noChangeAspect="1"/>
          </p:cNvPicPr>
          <p:nvPr/>
        </p:nvPicPr>
        <p:blipFill>
          <a:blip r:embed="rId4"/>
          <a:stretch>
            <a:fillRect/>
          </a:stretch>
        </p:blipFill>
        <p:spPr>
          <a:xfrm>
            <a:off x="5058460" y="1491579"/>
            <a:ext cx="2081174" cy="1607129"/>
          </a:xfrm>
          <a:prstGeom prst="rect">
            <a:avLst/>
          </a:prstGeom>
        </p:spPr>
      </p:pic>
      <p:sp>
        <p:nvSpPr>
          <p:cNvPr id="10" name="TextBox 9"/>
          <p:cNvSpPr txBox="1"/>
          <p:nvPr/>
        </p:nvSpPr>
        <p:spPr>
          <a:xfrm>
            <a:off x="5040172" y="3116996"/>
            <a:ext cx="2117750" cy="420624"/>
          </a:xfrm>
          <a:prstGeom prst="rect">
            <a:avLst/>
          </a:prstGeom>
          <a:noFill/>
        </p:spPr>
        <p:txBody>
          <a:bodyPr wrap="none" anchor="t"/>
          <a:lstStyle/>
          <a:p>
            <a:pPr algn="ctr">
              <a:spcAft>
                <a:spcPts val="400"/>
              </a:spcAft>
            </a:pPr>
            <a:r>
              <a:rPr sz="1000" b="0" i="0">
                <a:solidFill>
                  <a:srgbClr val="1E2D44"/>
                </a:solidFill>
                <a:latin typeface="Karla"/>
              </a:rPr>
              <a:t>C03 Claim 33 Protein Only</a:t>
            </a:r>
          </a:p>
          <a:p>
            <a:pPr algn="ctr">
              <a:spcAft>
                <a:spcPts val="400"/>
              </a:spcAft>
            </a:pPr>
            <a:r>
              <a:rPr sz="1000" b="0" i="0">
                <a:solidFill>
                  <a:srgbClr val="1E2D44"/>
                </a:solidFill>
                <a:latin typeface="Karla"/>
              </a:rPr>
              <a:t>Bottom Centre D2D3</a:t>
            </a:r>
          </a:p>
        </p:txBody>
      </p:sp>
      <p:pic>
        <p:nvPicPr>
          <p:cNvPr id="11" name="Picture 10" descr="C4.png"/>
          <p:cNvPicPr>
            <a:picLocks noChangeAspect="1"/>
          </p:cNvPicPr>
          <p:nvPr/>
        </p:nvPicPr>
        <p:blipFill>
          <a:blip r:embed="rId5"/>
          <a:stretch>
            <a:fillRect/>
          </a:stretch>
        </p:blipFill>
        <p:spPr>
          <a:xfrm>
            <a:off x="7304227" y="1491579"/>
            <a:ext cx="2081174" cy="1607129"/>
          </a:xfrm>
          <a:prstGeom prst="rect">
            <a:avLst/>
          </a:prstGeom>
        </p:spPr>
      </p:pic>
      <p:sp>
        <p:nvSpPr>
          <p:cNvPr id="12" name="TextBox 11"/>
          <p:cNvSpPr txBox="1"/>
          <p:nvPr/>
        </p:nvSpPr>
        <p:spPr>
          <a:xfrm>
            <a:off x="7285939" y="3116996"/>
            <a:ext cx="2117750" cy="420624"/>
          </a:xfrm>
          <a:prstGeom prst="rect">
            <a:avLst/>
          </a:prstGeom>
          <a:noFill/>
        </p:spPr>
        <p:txBody>
          <a:bodyPr wrap="none" anchor="t"/>
          <a:lstStyle/>
          <a:p>
            <a:pPr algn="ctr">
              <a:spcAft>
                <a:spcPts val="400"/>
              </a:spcAft>
            </a:pPr>
            <a:r>
              <a:rPr sz="1000" b="0" i="0">
                <a:solidFill>
                  <a:srgbClr val="1E2D44"/>
                </a:solidFill>
                <a:latin typeface="Karla"/>
              </a:rPr>
              <a:t>C04 Claim Full Block</a:t>
            </a:r>
          </a:p>
          <a:p>
            <a:pPr algn="ctr">
              <a:spcAft>
                <a:spcPts val="400"/>
              </a:spcAft>
            </a:pPr>
            <a:r>
              <a:rPr sz="1000" b="0" i="0">
                <a:solidFill>
                  <a:srgbClr val="1E2D44"/>
                </a:solidFill>
                <a:latin typeface="Karla"/>
              </a:rPr>
              <a:t>Fibrecollagen 33 Protein…</a:t>
            </a:r>
          </a:p>
        </p:txBody>
      </p:sp>
      <p:pic>
        <p:nvPicPr>
          <p:cNvPr id="13" name="Picture 12" descr="C5.png"/>
          <p:cNvPicPr>
            <a:picLocks noChangeAspect="1"/>
          </p:cNvPicPr>
          <p:nvPr/>
        </p:nvPicPr>
        <p:blipFill>
          <a:blip r:embed="rId6"/>
          <a:stretch>
            <a:fillRect/>
          </a:stretch>
        </p:blipFill>
        <p:spPr>
          <a:xfrm>
            <a:off x="9549993" y="1491579"/>
            <a:ext cx="2081174" cy="1607129"/>
          </a:xfrm>
          <a:prstGeom prst="rect">
            <a:avLst/>
          </a:prstGeom>
        </p:spPr>
      </p:pic>
      <p:sp>
        <p:nvSpPr>
          <p:cNvPr id="14" name="TextBox 13"/>
          <p:cNvSpPr txBox="1"/>
          <p:nvPr/>
        </p:nvSpPr>
        <p:spPr>
          <a:xfrm>
            <a:off x="9531705" y="3116996"/>
            <a:ext cx="2117750" cy="420624"/>
          </a:xfrm>
          <a:prstGeom prst="rect">
            <a:avLst/>
          </a:prstGeom>
          <a:noFill/>
        </p:spPr>
        <p:txBody>
          <a:bodyPr wrap="none" anchor="t"/>
          <a:lstStyle/>
          <a:p>
            <a:pPr algn="ctr">
              <a:spcAft>
                <a:spcPts val="400"/>
              </a:spcAft>
            </a:pPr>
            <a:r>
              <a:rPr sz="1000" b="0" i="0">
                <a:solidFill>
                  <a:srgbClr val="1E2D44"/>
                </a:solidFill>
                <a:latin typeface="Karla"/>
              </a:rPr>
              <a:t>C05 Claim 33 Protein 20g</a:t>
            </a:r>
          </a:p>
          <a:p>
            <a:pPr algn="ctr">
              <a:spcAft>
                <a:spcPts val="400"/>
              </a:spcAft>
            </a:pPr>
            <a:r>
              <a:rPr sz="1000" b="0" i="0">
                <a:solidFill>
                  <a:srgbClr val="1E2D44"/>
                </a:solidFill>
                <a:latin typeface="Karla"/>
              </a:rPr>
              <a:t>High Protein No Sugar Added…</a:t>
            </a:r>
          </a:p>
        </p:txBody>
      </p:sp>
      <p:pic>
        <p:nvPicPr>
          <p:cNvPr id="15" name="Picture 14" descr="C6.png"/>
          <p:cNvPicPr>
            <a:picLocks noChangeAspect="1"/>
          </p:cNvPicPr>
          <p:nvPr/>
        </p:nvPicPr>
        <p:blipFill>
          <a:blip r:embed="rId7"/>
          <a:stretch>
            <a:fillRect/>
          </a:stretch>
        </p:blipFill>
        <p:spPr>
          <a:xfrm>
            <a:off x="4826124" y="3665636"/>
            <a:ext cx="2545847" cy="1965960"/>
          </a:xfrm>
          <a:prstGeom prst="rect">
            <a:avLst/>
          </a:prstGeom>
        </p:spPr>
      </p:pic>
      <p:sp>
        <p:nvSpPr>
          <p:cNvPr id="16" name="TextBox 15"/>
          <p:cNvSpPr txBox="1"/>
          <p:nvPr/>
        </p:nvSpPr>
        <p:spPr>
          <a:xfrm>
            <a:off x="4807836" y="5649884"/>
            <a:ext cx="2582423" cy="420624"/>
          </a:xfrm>
          <a:prstGeom prst="rect">
            <a:avLst/>
          </a:prstGeom>
          <a:noFill/>
        </p:spPr>
        <p:txBody>
          <a:bodyPr wrap="none" anchor="t"/>
          <a:lstStyle/>
          <a:p>
            <a:pPr algn="ctr">
              <a:spcAft>
                <a:spcPts val="400"/>
              </a:spcAft>
            </a:pPr>
            <a:r>
              <a:rPr sz="1000" b="0" i="0">
                <a:solidFill>
                  <a:srgbClr val="1E2D44"/>
                </a:solidFill>
                <a:latin typeface="Karla"/>
              </a:rPr>
              <a:t>C06 Claim 33 Protein Only Mid</a:t>
            </a:r>
          </a:p>
          <a:p>
            <a:pPr algn="ctr">
              <a:spcAft>
                <a:spcPts val="400"/>
              </a:spcAft>
            </a:pPr>
            <a:r>
              <a:rPr sz="1000" b="0" i="0">
                <a:solidFill>
                  <a:srgbClr val="1E2D44"/>
                </a:solidFill>
                <a:latin typeface="Karla"/>
              </a:rPr>
              <a:t>Left D1</a:t>
            </a:r>
          </a:p>
        </p:txBody>
      </p:sp>
      <p:sp>
        <p:nvSpPr>
          <p:cNvPr id="17" name="Rectangle 16"/>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n=150 respondents.  Top-2 Box model (ratings 4–5): element lifts show movement above or below the model baseline.</a:t>
            </a:r>
          </a:p>
        </p:txBody>
      </p:sp>
      <p:sp>
        <p:nvSpPr>
          <p:cNvPr id="19" name="TextBox 18"/>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105</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56032"/>
            <a:ext cx="10972800" cy="256032"/>
          </a:xfrm>
          <a:prstGeom prst="rect">
            <a:avLst/>
          </a:prstGeom>
          <a:noFill/>
        </p:spPr>
        <p:txBody>
          <a:bodyPr wrap="square" anchor="t"/>
          <a:lstStyle/>
          <a:p>
            <a:pPr algn="l">
              <a:spcAft>
                <a:spcPts val="400"/>
              </a:spcAft>
            </a:pPr>
            <a:r>
              <a:rPr sz="1200" b="1" i="0">
                <a:solidFill>
                  <a:srgbClr val="04746E"/>
                </a:solidFill>
                <a:latin typeface="Karla"/>
              </a:rPr>
              <a:t>ELEMENT ASSETS</a:t>
            </a:r>
          </a:p>
        </p:txBody>
      </p:sp>
      <p:sp>
        <p:nvSpPr>
          <p:cNvPr id="3" name="TextBox 2"/>
          <p:cNvSpPr txBox="1"/>
          <p:nvPr/>
        </p:nvSpPr>
        <p:spPr>
          <a:xfrm>
            <a:off x="566928" y="621792"/>
            <a:ext cx="10972800" cy="384048"/>
          </a:xfrm>
          <a:prstGeom prst="rect">
            <a:avLst/>
          </a:prstGeom>
          <a:noFill/>
        </p:spPr>
        <p:txBody>
          <a:bodyPr wrap="square" anchor="t"/>
          <a:lstStyle/>
          <a:p>
            <a:pPr algn="l">
              <a:spcAft>
                <a:spcPts val="400"/>
              </a:spcAft>
            </a:pPr>
            <a:r>
              <a:rPr sz="2600" b="1" i="0">
                <a:solidFill>
                  <a:srgbClr val="1E2D44"/>
                </a:solidFill>
                <a:latin typeface="Karla"/>
              </a:rPr>
              <a:t>D_Logo  —  element assets</a:t>
            </a:r>
          </a:p>
        </p:txBody>
      </p:sp>
      <p:sp>
        <p:nvSpPr>
          <p:cNvPr id="4" name="TextBox 3"/>
          <p:cNvSpPr txBox="1"/>
          <p:nvPr/>
        </p:nvSpPr>
        <p:spPr>
          <a:xfrm>
            <a:off x="566928" y="1051560"/>
            <a:ext cx="10972800" cy="274320"/>
          </a:xfrm>
          <a:prstGeom prst="rect">
            <a:avLst/>
          </a:prstGeom>
          <a:noFill/>
        </p:spPr>
        <p:txBody>
          <a:bodyPr wrap="square" anchor="t"/>
          <a:lstStyle/>
          <a:p>
            <a:pPr algn="l">
              <a:spcAft>
                <a:spcPts val="400"/>
              </a:spcAft>
            </a:pPr>
            <a:r>
              <a:rPr sz="1400" b="0" i="0">
                <a:solidFill>
                  <a:srgbClr val="617086"/>
                </a:solidFill>
                <a:latin typeface="Karla"/>
              </a:rPr>
              <a:t>D   ·   4 variations</a:t>
            </a:r>
          </a:p>
        </p:txBody>
      </p:sp>
      <p:pic>
        <p:nvPicPr>
          <p:cNvPr id="5" name="Picture 4" descr="D1.png"/>
          <p:cNvPicPr>
            <a:picLocks noChangeAspect="1"/>
          </p:cNvPicPr>
          <p:nvPr/>
        </p:nvPicPr>
        <p:blipFill>
          <a:blip r:embed="rId2"/>
          <a:stretch>
            <a:fillRect/>
          </a:stretch>
        </p:blipFill>
        <p:spPr>
          <a:xfrm>
            <a:off x="760465" y="2578608"/>
            <a:ext cx="2545847" cy="1965960"/>
          </a:xfrm>
          <a:prstGeom prst="rect">
            <a:avLst/>
          </a:prstGeom>
        </p:spPr>
      </p:pic>
      <p:sp>
        <p:nvSpPr>
          <p:cNvPr id="6" name="TextBox 5"/>
          <p:cNvSpPr txBox="1"/>
          <p:nvPr/>
        </p:nvSpPr>
        <p:spPr>
          <a:xfrm>
            <a:off x="742177" y="4562856"/>
            <a:ext cx="2582423" cy="420624"/>
          </a:xfrm>
          <a:prstGeom prst="rect">
            <a:avLst/>
          </a:prstGeom>
          <a:noFill/>
        </p:spPr>
        <p:txBody>
          <a:bodyPr wrap="none" anchor="t"/>
          <a:lstStyle/>
          <a:p>
            <a:pPr algn="ctr">
              <a:spcAft>
                <a:spcPts val="400"/>
              </a:spcAft>
            </a:pPr>
            <a:r>
              <a:rPr sz="1000" b="0" i="0">
                <a:solidFill>
                  <a:srgbClr val="1E2D44"/>
                </a:solidFill>
                <a:latin typeface="Karla"/>
              </a:rPr>
              <a:t>D01 Logo Small Top Left D2</a:t>
            </a:r>
          </a:p>
        </p:txBody>
      </p:sp>
      <p:pic>
        <p:nvPicPr>
          <p:cNvPr id="7" name="Picture 6" descr="D2.png"/>
          <p:cNvPicPr>
            <a:picLocks noChangeAspect="1"/>
          </p:cNvPicPr>
          <p:nvPr/>
        </p:nvPicPr>
        <p:blipFill>
          <a:blip r:embed="rId3"/>
          <a:stretch>
            <a:fillRect/>
          </a:stretch>
        </p:blipFill>
        <p:spPr>
          <a:xfrm>
            <a:off x="3470904" y="2578608"/>
            <a:ext cx="2545847" cy="1965960"/>
          </a:xfrm>
          <a:prstGeom prst="rect">
            <a:avLst/>
          </a:prstGeom>
        </p:spPr>
      </p:pic>
      <p:sp>
        <p:nvSpPr>
          <p:cNvPr id="8" name="TextBox 7"/>
          <p:cNvSpPr txBox="1"/>
          <p:nvPr/>
        </p:nvSpPr>
        <p:spPr>
          <a:xfrm>
            <a:off x="3452616" y="4562856"/>
            <a:ext cx="2582423" cy="420624"/>
          </a:xfrm>
          <a:prstGeom prst="rect">
            <a:avLst/>
          </a:prstGeom>
          <a:noFill/>
        </p:spPr>
        <p:txBody>
          <a:bodyPr wrap="none" anchor="t"/>
          <a:lstStyle/>
          <a:p>
            <a:pPr algn="ctr">
              <a:spcAft>
                <a:spcPts val="400"/>
              </a:spcAft>
            </a:pPr>
            <a:r>
              <a:rPr sz="1000" b="0" i="0">
                <a:solidFill>
                  <a:srgbClr val="1E2D44"/>
                </a:solidFill>
                <a:latin typeface="Karla"/>
              </a:rPr>
              <a:t>D02 Logo Large Top Left D3</a:t>
            </a:r>
          </a:p>
        </p:txBody>
      </p:sp>
      <p:pic>
        <p:nvPicPr>
          <p:cNvPr id="9" name="Picture 8" descr="D3.png"/>
          <p:cNvPicPr>
            <a:picLocks noChangeAspect="1"/>
          </p:cNvPicPr>
          <p:nvPr/>
        </p:nvPicPr>
        <p:blipFill>
          <a:blip r:embed="rId4"/>
          <a:stretch>
            <a:fillRect/>
          </a:stretch>
        </p:blipFill>
        <p:spPr>
          <a:xfrm>
            <a:off x="6181344" y="2578608"/>
            <a:ext cx="2545847" cy="1965960"/>
          </a:xfrm>
          <a:prstGeom prst="rect">
            <a:avLst/>
          </a:prstGeom>
        </p:spPr>
      </p:pic>
      <p:sp>
        <p:nvSpPr>
          <p:cNvPr id="10" name="TextBox 9"/>
          <p:cNvSpPr txBox="1"/>
          <p:nvPr/>
        </p:nvSpPr>
        <p:spPr>
          <a:xfrm>
            <a:off x="6163056" y="4562856"/>
            <a:ext cx="2582423" cy="420624"/>
          </a:xfrm>
          <a:prstGeom prst="rect">
            <a:avLst/>
          </a:prstGeom>
          <a:noFill/>
        </p:spPr>
        <p:txBody>
          <a:bodyPr wrap="none" anchor="t"/>
          <a:lstStyle/>
          <a:p>
            <a:pPr algn="ctr">
              <a:spcAft>
                <a:spcPts val="400"/>
              </a:spcAft>
            </a:pPr>
            <a:r>
              <a:rPr sz="1000" b="0" i="0">
                <a:solidFill>
                  <a:srgbClr val="1E2D44"/>
                </a:solidFill>
                <a:latin typeface="Karla"/>
              </a:rPr>
              <a:t>D03 Logo Small Upper Centre Right</a:t>
            </a:r>
          </a:p>
          <a:p>
            <a:pPr algn="ctr">
              <a:spcAft>
                <a:spcPts val="400"/>
              </a:spcAft>
            </a:pPr>
            <a:r>
              <a:rPr sz="1000" b="0" i="0">
                <a:solidFill>
                  <a:srgbClr val="1E2D44"/>
                </a:solidFill>
                <a:latin typeface="Karla"/>
              </a:rPr>
              <a:t>D1</a:t>
            </a:r>
          </a:p>
        </p:txBody>
      </p:sp>
      <p:pic>
        <p:nvPicPr>
          <p:cNvPr id="11" name="Picture 10" descr="D4.png"/>
          <p:cNvPicPr>
            <a:picLocks noChangeAspect="1"/>
          </p:cNvPicPr>
          <p:nvPr/>
        </p:nvPicPr>
        <p:blipFill>
          <a:blip r:embed="rId5"/>
          <a:stretch>
            <a:fillRect/>
          </a:stretch>
        </p:blipFill>
        <p:spPr>
          <a:xfrm>
            <a:off x="8891783" y="2578608"/>
            <a:ext cx="2545847" cy="1965960"/>
          </a:xfrm>
          <a:prstGeom prst="rect">
            <a:avLst/>
          </a:prstGeom>
        </p:spPr>
      </p:pic>
      <p:sp>
        <p:nvSpPr>
          <p:cNvPr id="12" name="TextBox 11"/>
          <p:cNvSpPr txBox="1"/>
          <p:nvPr/>
        </p:nvSpPr>
        <p:spPr>
          <a:xfrm>
            <a:off x="8873495" y="4562856"/>
            <a:ext cx="2582423" cy="420624"/>
          </a:xfrm>
          <a:prstGeom prst="rect">
            <a:avLst/>
          </a:prstGeom>
          <a:noFill/>
        </p:spPr>
        <p:txBody>
          <a:bodyPr wrap="none" anchor="t"/>
          <a:lstStyle/>
          <a:p>
            <a:pPr algn="ctr">
              <a:spcAft>
                <a:spcPts val="400"/>
              </a:spcAft>
            </a:pPr>
            <a:r>
              <a:rPr sz="1000" b="0" i="0">
                <a:solidFill>
                  <a:srgbClr val="1E2D44"/>
                </a:solidFill>
                <a:latin typeface="Karla"/>
              </a:rPr>
              <a:t>D04 Logo Large Upper Centre Right</a:t>
            </a:r>
          </a:p>
          <a:p>
            <a:pPr algn="ctr">
              <a:spcAft>
                <a:spcPts val="400"/>
              </a:spcAft>
            </a:pPr>
            <a:r>
              <a:rPr sz="1000" b="0" i="0">
                <a:solidFill>
                  <a:srgbClr val="1E2D44"/>
                </a:solidFill>
                <a:latin typeface="Karla"/>
              </a:rPr>
              <a:t>D1 Position</a:t>
            </a:r>
          </a:p>
        </p:txBody>
      </p:sp>
      <p:sp>
        <p:nvSpPr>
          <p:cNvPr id="13" name="Rectangle 12"/>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n=150 respondents.  Top-2 Box model (ratings 4–5): element lifts show movement above or below the model baseline.</a:t>
            </a:r>
          </a:p>
        </p:txBody>
      </p:sp>
      <p:sp>
        <p:nvSpPr>
          <p:cNvPr id="15" name="TextBox 14"/>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106</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56032"/>
            <a:ext cx="10972800" cy="256032"/>
          </a:xfrm>
          <a:prstGeom prst="rect">
            <a:avLst/>
          </a:prstGeom>
          <a:noFill/>
        </p:spPr>
        <p:txBody>
          <a:bodyPr wrap="square" anchor="t"/>
          <a:lstStyle/>
          <a:p>
            <a:pPr algn="l">
              <a:spcAft>
                <a:spcPts val="400"/>
              </a:spcAft>
            </a:pPr>
            <a:r>
              <a:rPr sz="1200" b="1" i="0">
                <a:solidFill>
                  <a:srgbClr val="04746E"/>
                </a:solidFill>
                <a:latin typeface="Karla"/>
              </a:rPr>
              <a:t>ELEMENT ASSETS</a:t>
            </a:r>
          </a:p>
        </p:txBody>
      </p:sp>
      <p:sp>
        <p:nvSpPr>
          <p:cNvPr id="3" name="TextBox 2"/>
          <p:cNvSpPr txBox="1"/>
          <p:nvPr/>
        </p:nvSpPr>
        <p:spPr>
          <a:xfrm>
            <a:off x="566928" y="621792"/>
            <a:ext cx="10972800" cy="384048"/>
          </a:xfrm>
          <a:prstGeom prst="rect">
            <a:avLst/>
          </a:prstGeom>
          <a:noFill/>
        </p:spPr>
        <p:txBody>
          <a:bodyPr wrap="square" anchor="t"/>
          <a:lstStyle/>
          <a:p>
            <a:pPr algn="l">
              <a:spcAft>
                <a:spcPts val="400"/>
              </a:spcAft>
            </a:pPr>
            <a:r>
              <a:rPr sz="2600" b="1" i="0">
                <a:solidFill>
                  <a:srgbClr val="1E2D44"/>
                </a:solidFill>
                <a:latin typeface="Karla"/>
              </a:rPr>
              <a:t>E_Flavour  —  element assets   ·   1 of 2</a:t>
            </a:r>
          </a:p>
        </p:txBody>
      </p:sp>
      <p:sp>
        <p:nvSpPr>
          <p:cNvPr id="4" name="TextBox 3"/>
          <p:cNvSpPr txBox="1"/>
          <p:nvPr/>
        </p:nvSpPr>
        <p:spPr>
          <a:xfrm>
            <a:off x="566928" y="1051560"/>
            <a:ext cx="10972800" cy="274320"/>
          </a:xfrm>
          <a:prstGeom prst="rect">
            <a:avLst/>
          </a:prstGeom>
          <a:noFill/>
        </p:spPr>
        <p:txBody>
          <a:bodyPr wrap="square" anchor="t"/>
          <a:lstStyle/>
          <a:p>
            <a:pPr algn="l">
              <a:spcAft>
                <a:spcPts val="400"/>
              </a:spcAft>
            </a:pPr>
            <a:r>
              <a:rPr sz="1400" b="0" i="0">
                <a:solidFill>
                  <a:srgbClr val="617086"/>
                </a:solidFill>
                <a:latin typeface="Karla"/>
              </a:rPr>
              <a:t>E   ·   12 variations</a:t>
            </a:r>
          </a:p>
        </p:txBody>
      </p:sp>
      <p:pic>
        <p:nvPicPr>
          <p:cNvPr id="5" name="Picture 4" descr="E1.png"/>
          <p:cNvPicPr>
            <a:picLocks noChangeAspect="1"/>
          </p:cNvPicPr>
          <p:nvPr/>
        </p:nvPicPr>
        <p:blipFill>
          <a:blip r:embed="rId2"/>
          <a:stretch>
            <a:fillRect/>
          </a:stretch>
        </p:blipFill>
        <p:spPr>
          <a:xfrm>
            <a:off x="566928" y="1670994"/>
            <a:ext cx="2081174" cy="1607129"/>
          </a:xfrm>
          <a:prstGeom prst="rect">
            <a:avLst/>
          </a:prstGeom>
        </p:spPr>
      </p:pic>
      <p:sp>
        <p:nvSpPr>
          <p:cNvPr id="6" name="TextBox 5"/>
          <p:cNvSpPr txBox="1"/>
          <p:nvPr/>
        </p:nvSpPr>
        <p:spPr>
          <a:xfrm>
            <a:off x="548640" y="3296412"/>
            <a:ext cx="2117750" cy="420624"/>
          </a:xfrm>
          <a:prstGeom prst="rect">
            <a:avLst/>
          </a:prstGeom>
          <a:noFill/>
        </p:spPr>
        <p:txBody>
          <a:bodyPr wrap="none" anchor="t"/>
          <a:lstStyle/>
          <a:p>
            <a:pPr algn="ctr">
              <a:spcAft>
                <a:spcPts val="400"/>
              </a:spcAft>
            </a:pPr>
            <a:r>
              <a:rPr sz="1000" b="0" i="0">
                <a:solidFill>
                  <a:srgbClr val="1E2D44"/>
                </a:solidFill>
                <a:latin typeface="Karla"/>
              </a:rPr>
              <a:t>E01 Tripple Chocolate Chip</a:t>
            </a:r>
          </a:p>
          <a:p>
            <a:pPr algn="ctr">
              <a:spcAft>
                <a:spcPts val="400"/>
              </a:spcAft>
            </a:pPr>
            <a:r>
              <a:rPr sz="1000" b="0" i="0">
                <a:solidFill>
                  <a:srgbClr val="1E2D44"/>
                </a:solidFill>
                <a:latin typeface="Karla"/>
              </a:rPr>
              <a:t>Top Centre Dark Text D2D3…</a:t>
            </a:r>
          </a:p>
        </p:txBody>
      </p:sp>
      <p:pic>
        <p:nvPicPr>
          <p:cNvPr id="7" name="Picture 6" descr="E2.png"/>
          <p:cNvPicPr>
            <a:picLocks noChangeAspect="1"/>
          </p:cNvPicPr>
          <p:nvPr/>
        </p:nvPicPr>
        <p:blipFill>
          <a:blip r:embed="rId3"/>
          <a:stretch>
            <a:fillRect/>
          </a:stretch>
        </p:blipFill>
        <p:spPr>
          <a:xfrm>
            <a:off x="2812694" y="1670994"/>
            <a:ext cx="2081174" cy="1607129"/>
          </a:xfrm>
          <a:prstGeom prst="rect">
            <a:avLst/>
          </a:prstGeom>
        </p:spPr>
      </p:pic>
      <p:sp>
        <p:nvSpPr>
          <p:cNvPr id="8" name="TextBox 7"/>
          <p:cNvSpPr txBox="1"/>
          <p:nvPr/>
        </p:nvSpPr>
        <p:spPr>
          <a:xfrm>
            <a:off x="2794406" y="3296412"/>
            <a:ext cx="2117750" cy="420624"/>
          </a:xfrm>
          <a:prstGeom prst="rect">
            <a:avLst/>
          </a:prstGeom>
          <a:noFill/>
        </p:spPr>
        <p:txBody>
          <a:bodyPr wrap="none" anchor="t"/>
          <a:lstStyle/>
          <a:p>
            <a:pPr algn="ctr">
              <a:spcAft>
                <a:spcPts val="400"/>
              </a:spcAft>
            </a:pPr>
            <a:r>
              <a:rPr sz="1000" b="0" i="0">
                <a:solidFill>
                  <a:srgbClr val="1E2D44"/>
                </a:solidFill>
                <a:latin typeface="Karla"/>
              </a:rPr>
              <a:t>E02 Tripple Chocolate Chip</a:t>
            </a:r>
          </a:p>
          <a:p>
            <a:pPr algn="ctr">
              <a:spcAft>
                <a:spcPts val="400"/>
              </a:spcAft>
            </a:pPr>
            <a:r>
              <a:rPr sz="1000" b="0" i="0">
                <a:solidFill>
                  <a:srgbClr val="1E2D44"/>
                </a:solidFill>
                <a:latin typeface="Karla"/>
              </a:rPr>
              <a:t>Top Left Dark Text Panel</a:t>
            </a:r>
          </a:p>
        </p:txBody>
      </p:sp>
      <p:pic>
        <p:nvPicPr>
          <p:cNvPr id="9" name="Picture 8" descr="E3.png"/>
          <p:cNvPicPr>
            <a:picLocks noChangeAspect="1"/>
          </p:cNvPicPr>
          <p:nvPr/>
        </p:nvPicPr>
        <p:blipFill>
          <a:blip r:embed="rId4"/>
          <a:stretch>
            <a:fillRect/>
          </a:stretch>
        </p:blipFill>
        <p:spPr>
          <a:xfrm>
            <a:off x="5058460" y="1670994"/>
            <a:ext cx="2081174" cy="1607129"/>
          </a:xfrm>
          <a:prstGeom prst="rect">
            <a:avLst/>
          </a:prstGeom>
        </p:spPr>
      </p:pic>
      <p:sp>
        <p:nvSpPr>
          <p:cNvPr id="10" name="TextBox 9"/>
          <p:cNvSpPr txBox="1"/>
          <p:nvPr/>
        </p:nvSpPr>
        <p:spPr>
          <a:xfrm>
            <a:off x="5040172" y="3296412"/>
            <a:ext cx="2117750" cy="420624"/>
          </a:xfrm>
          <a:prstGeom prst="rect">
            <a:avLst/>
          </a:prstGeom>
          <a:noFill/>
        </p:spPr>
        <p:txBody>
          <a:bodyPr wrap="none" anchor="t"/>
          <a:lstStyle/>
          <a:p>
            <a:pPr algn="ctr">
              <a:spcAft>
                <a:spcPts val="400"/>
              </a:spcAft>
            </a:pPr>
            <a:r>
              <a:rPr sz="1000" b="0" i="0">
                <a:solidFill>
                  <a:srgbClr val="1E2D44"/>
                </a:solidFill>
                <a:latin typeface="Karla"/>
              </a:rPr>
              <a:t>E03 Tripple Chocolate Chip</a:t>
            </a:r>
          </a:p>
          <a:p>
            <a:pPr algn="ctr">
              <a:spcAft>
                <a:spcPts val="400"/>
              </a:spcAft>
            </a:pPr>
            <a:r>
              <a:rPr sz="1000" b="0" i="0">
                <a:solidFill>
                  <a:srgbClr val="1E2D44"/>
                </a:solidFill>
                <a:latin typeface="Karla"/>
              </a:rPr>
              <a:t>Top Left White Text D1 Foil</a:t>
            </a:r>
          </a:p>
        </p:txBody>
      </p:sp>
      <p:pic>
        <p:nvPicPr>
          <p:cNvPr id="11" name="Picture 10" descr="E4.png"/>
          <p:cNvPicPr>
            <a:picLocks noChangeAspect="1"/>
          </p:cNvPicPr>
          <p:nvPr/>
        </p:nvPicPr>
        <p:blipFill>
          <a:blip r:embed="rId5"/>
          <a:stretch>
            <a:fillRect/>
          </a:stretch>
        </p:blipFill>
        <p:spPr>
          <a:xfrm>
            <a:off x="7304227" y="1670994"/>
            <a:ext cx="2081174" cy="1607129"/>
          </a:xfrm>
          <a:prstGeom prst="rect">
            <a:avLst/>
          </a:prstGeom>
        </p:spPr>
      </p:pic>
      <p:sp>
        <p:nvSpPr>
          <p:cNvPr id="12" name="TextBox 11"/>
          <p:cNvSpPr txBox="1"/>
          <p:nvPr/>
        </p:nvSpPr>
        <p:spPr>
          <a:xfrm>
            <a:off x="7285939" y="3296412"/>
            <a:ext cx="2117750" cy="420624"/>
          </a:xfrm>
          <a:prstGeom prst="rect">
            <a:avLst/>
          </a:prstGeom>
          <a:noFill/>
        </p:spPr>
        <p:txBody>
          <a:bodyPr wrap="none" anchor="t"/>
          <a:lstStyle/>
          <a:p>
            <a:pPr algn="ctr">
              <a:spcAft>
                <a:spcPts val="400"/>
              </a:spcAft>
            </a:pPr>
            <a:r>
              <a:rPr sz="1000" b="0" i="0">
                <a:solidFill>
                  <a:srgbClr val="1E2D44"/>
                </a:solidFill>
                <a:latin typeface="Karla"/>
              </a:rPr>
              <a:t>E04 Orange Chocolate Top</a:t>
            </a:r>
          </a:p>
          <a:p>
            <a:pPr algn="ctr">
              <a:spcAft>
                <a:spcPts val="400"/>
              </a:spcAft>
            </a:pPr>
            <a:r>
              <a:rPr sz="1000" b="0" i="0">
                <a:solidFill>
                  <a:srgbClr val="1E2D44"/>
                </a:solidFill>
                <a:latin typeface="Karla"/>
              </a:rPr>
              <a:t>Centre Dark Text D2D3 Panel</a:t>
            </a:r>
          </a:p>
        </p:txBody>
      </p:sp>
      <p:pic>
        <p:nvPicPr>
          <p:cNvPr id="13" name="Picture 12" descr="E5.png"/>
          <p:cNvPicPr>
            <a:picLocks noChangeAspect="1"/>
          </p:cNvPicPr>
          <p:nvPr/>
        </p:nvPicPr>
        <p:blipFill>
          <a:blip r:embed="rId6"/>
          <a:stretch>
            <a:fillRect/>
          </a:stretch>
        </p:blipFill>
        <p:spPr>
          <a:xfrm>
            <a:off x="9549993" y="1670994"/>
            <a:ext cx="2081174" cy="1607129"/>
          </a:xfrm>
          <a:prstGeom prst="rect">
            <a:avLst/>
          </a:prstGeom>
        </p:spPr>
      </p:pic>
      <p:sp>
        <p:nvSpPr>
          <p:cNvPr id="14" name="TextBox 13"/>
          <p:cNvSpPr txBox="1"/>
          <p:nvPr/>
        </p:nvSpPr>
        <p:spPr>
          <a:xfrm>
            <a:off x="9531705" y="3296412"/>
            <a:ext cx="2117750" cy="420624"/>
          </a:xfrm>
          <a:prstGeom prst="rect">
            <a:avLst/>
          </a:prstGeom>
          <a:noFill/>
        </p:spPr>
        <p:txBody>
          <a:bodyPr wrap="none" anchor="t"/>
          <a:lstStyle/>
          <a:p>
            <a:pPr algn="ctr">
              <a:spcAft>
                <a:spcPts val="400"/>
              </a:spcAft>
            </a:pPr>
            <a:r>
              <a:rPr sz="1000" b="0" i="0">
                <a:solidFill>
                  <a:srgbClr val="1E2D44"/>
                </a:solidFill>
                <a:latin typeface="Karla"/>
              </a:rPr>
              <a:t>E05 Orange Chocolate Top</a:t>
            </a:r>
          </a:p>
          <a:p>
            <a:pPr algn="ctr">
              <a:spcAft>
                <a:spcPts val="400"/>
              </a:spcAft>
            </a:pPr>
            <a:r>
              <a:rPr sz="1000" b="0" i="0">
                <a:solidFill>
                  <a:srgbClr val="1E2D44"/>
                </a:solidFill>
                <a:latin typeface="Karla"/>
              </a:rPr>
              <a:t>Left Dark Text Panel</a:t>
            </a:r>
          </a:p>
        </p:txBody>
      </p:sp>
      <p:pic>
        <p:nvPicPr>
          <p:cNvPr id="15" name="Picture 14" descr="E6.png"/>
          <p:cNvPicPr>
            <a:picLocks noChangeAspect="1"/>
          </p:cNvPicPr>
          <p:nvPr/>
        </p:nvPicPr>
        <p:blipFill>
          <a:blip r:embed="rId7"/>
          <a:stretch>
            <a:fillRect/>
          </a:stretch>
        </p:blipFill>
        <p:spPr>
          <a:xfrm>
            <a:off x="566928" y="3845052"/>
            <a:ext cx="2081174" cy="1607129"/>
          </a:xfrm>
          <a:prstGeom prst="rect">
            <a:avLst/>
          </a:prstGeom>
        </p:spPr>
      </p:pic>
      <p:sp>
        <p:nvSpPr>
          <p:cNvPr id="16" name="TextBox 15"/>
          <p:cNvSpPr txBox="1"/>
          <p:nvPr/>
        </p:nvSpPr>
        <p:spPr>
          <a:xfrm>
            <a:off x="548640" y="5470469"/>
            <a:ext cx="2117750" cy="420624"/>
          </a:xfrm>
          <a:prstGeom prst="rect">
            <a:avLst/>
          </a:prstGeom>
          <a:noFill/>
        </p:spPr>
        <p:txBody>
          <a:bodyPr wrap="none" anchor="t"/>
          <a:lstStyle/>
          <a:p>
            <a:pPr algn="ctr">
              <a:spcAft>
                <a:spcPts val="400"/>
              </a:spcAft>
            </a:pPr>
            <a:r>
              <a:rPr sz="1000" b="0" i="0">
                <a:solidFill>
                  <a:srgbClr val="1E2D44"/>
                </a:solidFill>
                <a:latin typeface="Karla"/>
              </a:rPr>
              <a:t>E06 Orange Chocolate Top</a:t>
            </a:r>
          </a:p>
          <a:p>
            <a:pPr algn="ctr">
              <a:spcAft>
                <a:spcPts val="400"/>
              </a:spcAft>
            </a:pPr>
            <a:r>
              <a:rPr sz="1000" b="0" i="0">
                <a:solidFill>
                  <a:srgbClr val="1E2D44"/>
                </a:solidFill>
                <a:latin typeface="Karla"/>
              </a:rPr>
              <a:t>Left White Text D1 Foil</a:t>
            </a:r>
          </a:p>
        </p:txBody>
      </p:sp>
      <p:pic>
        <p:nvPicPr>
          <p:cNvPr id="17" name="Picture 16" descr="E7.png"/>
          <p:cNvPicPr>
            <a:picLocks noChangeAspect="1"/>
          </p:cNvPicPr>
          <p:nvPr/>
        </p:nvPicPr>
        <p:blipFill>
          <a:blip r:embed="rId8"/>
          <a:stretch>
            <a:fillRect/>
          </a:stretch>
        </p:blipFill>
        <p:spPr>
          <a:xfrm>
            <a:off x="2812694" y="3845052"/>
            <a:ext cx="2081174" cy="1607129"/>
          </a:xfrm>
          <a:prstGeom prst="rect">
            <a:avLst/>
          </a:prstGeom>
        </p:spPr>
      </p:pic>
      <p:sp>
        <p:nvSpPr>
          <p:cNvPr id="18" name="TextBox 17"/>
          <p:cNvSpPr txBox="1"/>
          <p:nvPr/>
        </p:nvSpPr>
        <p:spPr>
          <a:xfrm>
            <a:off x="2794406" y="5470469"/>
            <a:ext cx="2117750" cy="420624"/>
          </a:xfrm>
          <a:prstGeom prst="rect">
            <a:avLst/>
          </a:prstGeom>
          <a:noFill/>
        </p:spPr>
        <p:txBody>
          <a:bodyPr wrap="none" anchor="t"/>
          <a:lstStyle/>
          <a:p>
            <a:pPr algn="ctr">
              <a:spcAft>
                <a:spcPts val="400"/>
              </a:spcAft>
            </a:pPr>
            <a:r>
              <a:rPr sz="1000" b="0" i="0">
                <a:solidFill>
                  <a:srgbClr val="1E2D44"/>
                </a:solidFill>
                <a:latin typeface="Karla"/>
              </a:rPr>
              <a:t>E07 Banana Chocolate Top</a:t>
            </a:r>
          </a:p>
          <a:p>
            <a:pPr algn="ctr">
              <a:spcAft>
                <a:spcPts val="400"/>
              </a:spcAft>
            </a:pPr>
            <a:r>
              <a:rPr sz="1000" b="0" i="0">
                <a:solidFill>
                  <a:srgbClr val="1E2D44"/>
                </a:solidFill>
                <a:latin typeface="Karla"/>
              </a:rPr>
              <a:t>Centre Dark Text D2D3 Panel</a:t>
            </a:r>
          </a:p>
        </p:txBody>
      </p:sp>
      <p:pic>
        <p:nvPicPr>
          <p:cNvPr id="19" name="Picture 18" descr="E8.png"/>
          <p:cNvPicPr>
            <a:picLocks noChangeAspect="1"/>
          </p:cNvPicPr>
          <p:nvPr/>
        </p:nvPicPr>
        <p:blipFill>
          <a:blip r:embed="rId9"/>
          <a:stretch>
            <a:fillRect/>
          </a:stretch>
        </p:blipFill>
        <p:spPr>
          <a:xfrm>
            <a:off x="5058460" y="3845052"/>
            <a:ext cx="2081174" cy="1607129"/>
          </a:xfrm>
          <a:prstGeom prst="rect">
            <a:avLst/>
          </a:prstGeom>
        </p:spPr>
      </p:pic>
      <p:sp>
        <p:nvSpPr>
          <p:cNvPr id="20" name="TextBox 19"/>
          <p:cNvSpPr txBox="1"/>
          <p:nvPr/>
        </p:nvSpPr>
        <p:spPr>
          <a:xfrm>
            <a:off x="5040172" y="5470469"/>
            <a:ext cx="2117750" cy="420624"/>
          </a:xfrm>
          <a:prstGeom prst="rect">
            <a:avLst/>
          </a:prstGeom>
          <a:noFill/>
        </p:spPr>
        <p:txBody>
          <a:bodyPr wrap="none" anchor="t"/>
          <a:lstStyle/>
          <a:p>
            <a:pPr algn="ctr">
              <a:spcAft>
                <a:spcPts val="400"/>
              </a:spcAft>
            </a:pPr>
            <a:r>
              <a:rPr sz="1000" b="0" i="0">
                <a:solidFill>
                  <a:srgbClr val="1E2D44"/>
                </a:solidFill>
                <a:latin typeface="Karla"/>
              </a:rPr>
              <a:t>E08 Banana Chocolate Top</a:t>
            </a:r>
          </a:p>
          <a:p>
            <a:pPr algn="ctr">
              <a:spcAft>
                <a:spcPts val="400"/>
              </a:spcAft>
            </a:pPr>
            <a:r>
              <a:rPr sz="1000" b="0" i="0">
                <a:solidFill>
                  <a:srgbClr val="1E2D44"/>
                </a:solidFill>
                <a:latin typeface="Karla"/>
              </a:rPr>
              <a:t>Left Dark Text Panel</a:t>
            </a:r>
          </a:p>
        </p:txBody>
      </p:sp>
      <p:pic>
        <p:nvPicPr>
          <p:cNvPr id="21" name="Picture 20" descr="E9.png"/>
          <p:cNvPicPr>
            <a:picLocks noChangeAspect="1"/>
          </p:cNvPicPr>
          <p:nvPr/>
        </p:nvPicPr>
        <p:blipFill>
          <a:blip r:embed="rId10"/>
          <a:stretch>
            <a:fillRect/>
          </a:stretch>
        </p:blipFill>
        <p:spPr>
          <a:xfrm>
            <a:off x="7304227" y="3845052"/>
            <a:ext cx="2081174" cy="1607129"/>
          </a:xfrm>
          <a:prstGeom prst="rect">
            <a:avLst/>
          </a:prstGeom>
        </p:spPr>
      </p:pic>
      <p:sp>
        <p:nvSpPr>
          <p:cNvPr id="22" name="TextBox 21"/>
          <p:cNvSpPr txBox="1"/>
          <p:nvPr/>
        </p:nvSpPr>
        <p:spPr>
          <a:xfrm>
            <a:off x="7285939" y="5470469"/>
            <a:ext cx="2117750" cy="420624"/>
          </a:xfrm>
          <a:prstGeom prst="rect">
            <a:avLst/>
          </a:prstGeom>
          <a:noFill/>
        </p:spPr>
        <p:txBody>
          <a:bodyPr wrap="none" anchor="t"/>
          <a:lstStyle/>
          <a:p>
            <a:pPr algn="ctr">
              <a:spcAft>
                <a:spcPts val="400"/>
              </a:spcAft>
            </a:pPr>
            <a:r>
              <a:rPr sz="1000" b="0" i="0">
                <a:solidFill>
                  <a:srgbClr val="1E2D44"/>
                </a:solidFill>
                <a:latin typeface="Karla"/>
              </a:rPr>
              <a:t>E09 Banana Chocolate Top</a:t>
            </a:r>
          </a:p>
          <a:p>
            <a:pPr algn="ctr">
              <a:spcAft>
                <a:spcPts val="400"/>
              </a:spcAft>
            </a:pPr>
            <a:r>
              <a:rPr sz="1000" b="0" i="0">
                <a:solidFill>
                  <a:srgbClr val="1E2D44"/>
                </a:solidFill>
                <a:latin typeface="Karla"/>
              </a:rPr>
              <a:t>Left White Text D1 Foil</a:t>
            </a:r>
          </a:p>
        </p:txBody>
      </p:sp>
      <p:pic>
        <p:nvPicPr>
          <p:cNvPr id="23" name="Picture 22" descr="E10.png"/>
          <p:cNvPicPr>
            <a:picLocks noChangeAspect="1"/>
          </p:cNvPicPr>
          <p:nvPr/>
        </p:nvPicPr>
        <p:blipFill>
          <a:blip r:embed="rId11"/>
          <a:stretch>
            <a:fillRect/>
          </a:stretch>
        </p:blipFill>
        <p:spPr>
          <a:xfrm>
            <a:off x="9549993" y="3845052"/>
            <a:ext cx="2081174" cy="1607129"/>
          </a:xfrm>
          <a:prstGeom prst="rect">
            <a:avLst/>
          </a:prstGeom>
        </p:spPr>
      </p:pic>
      <p:sp>
        <p:nvSpPr>
          <p:cNvPr id="24" name="TextBox 23"/>
          <p:cNvSpPr txBox="1"/>
          <p:nvPr/>
        </p:nvSpPr>
        <p:spPr>
          <a:xfrm>
            <a:off x="9531705" y="5470469"/>
            <a:ext cx="2117750" cy="420624"/>
          </a:xfrm>
          <a:prstGeom prst="rect">
            <a:avLst/>
          </a:prstGeom>
          <a:noFill/>
        </p:spPr>
        <p:txBody>
          <a:bodyPr wrap="none" anchor="t"/>
          <a:lstStyle/>
          <a:p>
            <a:pPr algn="ctr">
              <a:spcAft>
                <a:spcPts val="400"/>
              </a:spcAft>
            </a:pPr>
            <a:r>
              <a:rPr sz="1000" b="0" i="0">
                <a:solidFill>
                  <a:srgbClr val="1E2D44"/>
                </a:solidFill>
                <a:latin typeface="Karla"/>
              </a:rPr>
              <a:t>Vanilla Chocolate Top</a:t>
            </a:r>
          </a:p>
          <a:p>
            <a:pPr algn="ctr">
              <a:spcAft>
                <a:spcPts val="400"/>
              </a:spcAft>
            </a:pPr>
            <a:r>
              <a:rPr sz="1000" b="0" i="0">
                <a:solidFill>
                  <a:srgbClr val="1E2D44"/>
                </a:solidFill>
                <a:latin typeface="Karla"/>
              </a:rPr>
              <a:t>Centre Dark Text D2D3 Panel</a:t>
            </a:r>
          </a:p>
        </p:txBody>
      </p:sp>
      <p:sp>
        <p:nvSpPr>
          <p:cNvPr id="25" name="Rectangle 24"/>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n=150 respondents.  Top-2 Box model (ratings 4–5): element lifts show movement above or below the model baseline.</a:t>
            </a:r>
          </a:p>
        </p:txBody>
      </p:sp>
      <p:sp>
        <p:nvSpPr>
          <p:cNvPr id="27" name="TextBox 26"/>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107</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56032"/>
            <a:ext cx="10972800" cy="256032"/>
          </a:xfrm>
          <a:prstGeom prst="rect">
            <a:avLst/>
          </a:prstGeom>
          <a:noFill/>
        </p:spPr>
        <p:txBody>
          <a:bodyPr wrap="square" anchor="t"/>
          <a:lstStyle/>
          <a:p>
            <a:pPr algn="l">
              <a:spcAft>
                <a:spcPts val="400"/>
              </a:spcAft>
            </a:pPr>
            <a:r>
              <a:rPr sz="1200" b="1" i="0">
                <a:solidFill>
                  <a:srgbClr val="04746E"/>
                </a:solidFill>
                <a:latin typeface="Karla"/>
              </a:rPr>
              <a:t>ELEMENT ASSETS</a:t>
            </a:r>
          </a:p>
        </p:txBody>
      </p:sp>
      <p:sp>
        <p:nvSpPr>
          <p:cNvPr id="3" name="TextBox 2"/>
          <p:cNvSpPr txBox="1"/>
          <p:nvPr/>
        </p:nvSpPr>
        <p:spPr>
          <a:xfrm>
            <a:off x="566928" y="621792"/>
            <a:ext cx="10972800" cy="384048"/>
          </a:xfrm>
          <a:prstGeom prst="rect">
            <a:avLst/>
          </a:prstGeom>
          <a:noFill/>
        </p:spPr>
        <p:txBody>
          <a:bodyPr wrap="square" anchor="t"/>
          <a:lstStyle/>
          <a:p>
            <a:pPr algn="l">
              <a:spcAft>
                <a:spcPts val="400"/>
              </a:spcAft>
            </a:pPr>
            <a:r>
              <a:rPr sz="2600" b="1" i="0">
                <a:solidFill>
                  <a:srgbClr val="1E2D44"/>
                </a:solidFill>
                <a:latin typeface="Karla"/>
              </a:rPr>
              <a:t>E_Flavour  —  element assets   ·   2 of 2</a:t>
            </a:r>
          </a:p>
        </p:txBody>
      </p:sp>
      <p:sp>
        <p:nvSpPr>
          <p:cNvPr id="4" name="TextBox 3"/>
          <p:cNvSpPr txBox="1"/>
          <p:nvPr/>
        </p:nvSpPr>
        <p:spPr>
          <a:xfrm>
            <a:off x="566928" y="1051560"/>
            <a:ext cx="10972800" cy="274320"/>
          </a:xfrm>
          <a:prstGeom prst="rect">
            <a:avLst/>
          </a:prstGeom>
          <a:noFill/>
        </p:spPr>
        <p:txBody>
          <a:bodyPr wrap="square" anchor="t"/>
          <a:lstStyle/>
          <a:p>
            <a:pPr algn="l">
              <a:spcAft>
                <a:spcPts val="400"/>
              </a:spcAft>
            </a:pPr>
            <a:r>
              <a:rPr sz="1400" b="0" i="0">
                <a:solidFill>
                  <a:srgbClr val="617086"/>
                </a:solidFill>
                <a:latin typeface="Karla"/>
              </a:rPr>
              <a:t>E   ·   12 variations</a:t>
            </a:r>
          </a:p>
        </p:txBody>
      </p:sp>
      <p:pic>
        <p:nvPicPr>
          <p:cNvPr id="5" name="Picture 4" descr="E11.png"/>
          <p:cNvPicPr>
            <a:picLocks noChangeAspect="1"/>
          </p:cNvPicPr>
          <p:nvPr/>
        </p:nvPicPr>
        <p:blipFill>
          <a:blip r:embed="rId2"/>
          <a:stretch>
            <a:fillRect/>
          </a:stretch>
        </p:blipFill>
        <p:spPr>
          <a:xfrm>
            <a:off x="3470904" y="2578608"/>
            <a:ext cx="2545847" cy="1965960"/>
          </a:xfrm>
          <a:prstGeom prst="rect">
            <a:avLst/>
          </a:prstGeom>
        </p:spPr>
      </p:pic>
      <p:sp>
        <p:nvSpPr>
          <p:cNvPr id="6" name="TextBox 5"/>
          <p:cNvSpPr txBox="1"/>
          <p:nvPr/>
        </p:nvSpPr>
        <p:spPr>
          <a:xfrm>
            <a:off x="3452616" y="4562856"/>
            <a:ext cx="2582423" cy="420624"/>
          </a:xfrm>
          <a:prstGeom prst="rect">
            <a:avLst/>
          </a:prstGeom>
          <a:noFill/>
        </p:spPr>
        <p:txBody>
          <a:bodyPr wrap="none" anchor="t"/>
          <a:lstStyle/>
          <a:p>
            <a:pPr algn="ctr">
              <a:spcAft>
                <a:spcPts val="400"/>
              </a:spcAft>
            </a:pPr>
            <a:r>
              <a:rPr sz="1000" b="0" i="0">
                <a:solidFill>
                  <a:srgbClr val="1E2D44"/>
                </a:solidFill>
                <a:latin typeface="Karla"/>
              </a:rPr>
              <a:t>Vanilla Chocolate Top Left Dark</a:t>
            </a:r>
          </a:p>
          <a:p>
            <a:pPr algn="ctr">
              <a:spcAft>
                <a:spcPts val="400"/>
              </a:spcAft>
            </a:pPr>
            <a:r>
              <a:rPr sz="1000" b="0" i="0">
                <a:solidFill>
                  <a:srgbClr val="1E2D44"/>
                </a:solidFill>
                <a:latin typeface="Karla"/>
              </a:rPr>
              <a:t>Text Panel</a:t>
            </a:r>
          </a:p>
        </p:txBody>
      </p:sp>
      <p:pic>
        <p:nvPicPr>
          <p:cNvPr id="7" name="Picture 6" descr="E12.png"/>
          <p:cNvPicPr>
            <a:picLocks noChangeAspect="1"/>
          </p:cNvPicPr>
          <p:nvPr/>
        </p:nvPicPr>
        <p:blipFill>
          <a:blip r:embed="rId3"/>
          <a:stretch>
            <a:fillRect/>
          </a:stretch>
        </p:blipFill>
        <p:spPr>
          <a:xfrm>
            <a:off x="6181344" y="2578608"/>
            <a:ext cx="2545847" cy="1965960"/>
          </a:xfrm>
          <a:prstGeom prst="rect">
            <a:avLst/>
          </a:prstGeom>
        </p:spPr>
      </p:pic>
      <p:sp>
        <p:nvSpPr>
          <p:cNvPr id="8" name="TextBox 7"/>
          <p:cNvSpPr txBox="1"/>
          <p:nvPr/>
        </p:nvSpPr>
        <p:spPr>
          <a:xfrm>
            <a:off x="6163056" y="4562856"/>
            <a:ext cx="2582423" cy="420624"/>
          </a:xfrm>
          <a:prstGeom prst="rect">
            <a:avLst/>
          </a:prstGeom>
          <a:noFill/>
        </p:spPr>
        <p:txBody>
          <a:bodyPr wrap="none" anchor="t"/>
          <a:lstStyle/>
          <a:p>
            <a:pPr algn="ctr">
              <a:spcAft>
                <a:spcPts val="400"/>
              </a:spcAft>
            </a:pPr>
            <a:r>
              <a:rPr sz="1000" b="0" i="0">
                <a:solidFill>
                  <a:srgbClr val="1E2D44"/>
                </a:solidFill>
                <a:latin typeface="Karla"/>
              </a:rPr>
              <a:t>Vanilla Chocolate Top Left White</a:t>
            </a:r>
          </a:p>
          <a:p>
            <a:pPr algn="ctr">
              <a:spcAft>
                <a:spcPts val="400"/>
              </a:spcAft>
            </a:pPr>
            <a:r>
              <a:rPr sz="1000" b="0" i="0">
                <a:solidFill>
                  <a:srgbClr val="1E2D44"/>
                </a:solidFill>
                <a:latin typeface="Karla"/>
              </a:rPr>
              <a:t>Text D1 Foil</a:t>
            </a:r>
          </a:p>
        </p:txBody>
      </p:sp>
      <p:sp>
        <p:nvSpPr>
          <p:cNvPr id="9" name="Rectangle 8"/>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n=150 respondents.  Top-2 Box model (ratings 4–5): element lifts show movement above or below the model baseline.</a:t>
            </a:r>
          </a:p>
        </p:txBody>
      </p:sp>
      <p:sp>
        <p:nvSpPr>
          <p:cNvPr id="11" name="TextBox 10"/>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108</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56032"/>
            <a:ext cx="10972800" cy="256032"/>
          </a:xfrm>
          <a:prstGeom prst="rect">
            <a:avLst/>
          </a:prstGeom>
          <a:noFill/>
        </p:spPr>
        <p:txBody>
          <a:bodyPr wrap="square" anchor="t"/>
          <a:lstStyle/>
          <a:p>
            <a:pPr algn="l">
              <a:spcAft>
                <a:spcPts val="400"/>
              </a:spcAft>
            </a:pPr>
            <a:r>
              <a:rPr sz="1200" b="1" i="0">
                <a:solidFill>
                  <a:srgbClr val="04746E"/>
                </a:solidFill>
                <a:latin typeface="Karla"/>
              </a:rPr>
              <a:t>ELEMENT ASSETS</a:t>
            </a:r>
          </a:p>
        </p:txBody>
      </p:sp>
      <p:sp>
        <p:nvSpPr>
          <p:cNvPr id="3" name="TextBox 2"/>
          <p:cNvSpPr txBox="1"/>
          <p:nvPr/>
        </p:nvSpPr>
        <p:spPr>
          <a:xfrm>
            <a:off x="566928" y="621792"/>
            <a:ext cx="10972800" cy="384048"/>
          </a:xfrm>
          <a:prstGeom prst="rect">
            <a:avLst/>
          </a:prstGeom>
          <a:noFill/>
        </p:spPr>
        <p:txBody>
          <a:bodyPr wrap="square" anchor="t"/>
          <a:lstStyle/>
          <a:p>
            <a:pPr algn="l">
              <a:spcAft>
                <a:spcPts val="400"/>
              </a:spcAft>
            </a:pPr>
            <a:r>
              <a:rPr sz="2600" b="1" i="0">
                <a:solidFill>
                  <a:srgbClr val="1E2D44"/>
                </a:solidFill>
                <a:latin typeface="Karla"/>
              </a:rPr>
              <a:t>F_Gluten-free  —  element assets</a:t>
            </a:r>
          </a:p>
        </p:txBody>
      </p:sp>
      <p:sp>
        <p:nvSpPr>
          <p:cNvPr id="4" name="TextBox 3"/>
          <p:cNvSpPr txBox="1"/>
          <p:nvPr/>
        </p:nvSpPr>
        <p:spPr>
          <a:xfrm>
            <a:off x="566928" y="1051560"/>
            <a:ext cx="10972800" cy="274320"/>
          </a:xfrm>
          <a:prstGeom prst="rect">
            <a:avLst/>
          </a:prstGeom>
          <a:noFill/>
        </p:spPr>
        <p:txBody>
          <a:bodyPr wrap="square" anchor="t"/>
          <a:lstStyle/>
          <a:p>
            <a:pPr algn="l">
              <a:spcAft>
                <a:spcPts val="400"/>
              </a:spcAft>
            </a:pPr>
            <a:r>
              <a:rPr sz="1400" b="0" i="0">
                <a:solidFill>
                  <a:srgbClr val="617086"/>
                </a:solidFill>
                <a:latin typeface="Karla"/>
              </a:rPr>
              <a:t>F   ·   5 variations</a:t>
            </a:r>
          </a:p>
        </p:txBody>
      </p:sp>
      <p:pic>
        <p:nvPicPr>
          <p:cNvPr id="5" name="Picture 4" descr="F1.png"/>
          <p:cNvPicPr>
            <a:picLocks noChangeAspect="1"/>
          </p:cNvPicPr>
          <p:nvPr/>
        </p:nvPicPr>
        <p:blipFill>
          <a:blip r:embed="rId2"/>
          <a:stretch>
            <a:fillRect/>
          </a:stretch>
        </p:blipFill>
        <p:spPr>
          <a:xfrm>
            <a:off x="566928" y="2758023"/>
            <a:ext cx="2081174" cy="1607129"/>
          </a:xfrm>
          <a:prstGeom prst="rect">
            <a:avLst/>
          </a:prstGeom>
        </p:spPr>
      </p:pic>
      <p:sp>
        <p:nvSpPr>
          <p:cNvPr id="6" name="TextBox 5"/>
          <p:cNvSpPr txBox="1"/>
          <p:nvPr/>
        </p:nvSpPr>
        <p:spPr>
          <a:xfrm>
            <a:off x="548640" y="4383440"/>
            <a:ext cx="2117750" cy="420624"/>
          </a:xfrm>
          <a:prstGeom prst="rect">
            <a:avLst/>
          </a:prstGeom>
          <a:noFill/>
        </p:spPr>
        <p:txBody>
          <a:bodyPr wrap="none" anchor="t"/>
          <a:lstStyle/>
          <a:p>
            <a:pPr algn="ctr">
              <a:spcAft>
                <a:spcPts val="400"/>
              </a:spcAft>
            </a:pPr>
            <a:r>
              <a:rPr sz="1000" b="0" i="0">
                <a:solidFill>
                  <a:srgbClr val="1E2D44"/>
                </a:solidFill>
                <a:latin typeface="Karla"/>
              </a:rPr>
              <a:t>F01 Gluten Free Badge Dark</a:t>
            </a:r>
          </a:p>
          <a:p>
            <a:pPr algn="ctr">
              <a:spcAft>
                <a:spcPts val="400"/>
              </a:spcAft>
            </a:pPr>
            <a:r>
              <a:rPr sz="1000" b="0" i="0">
                <a:solidFill>
                  <a:srgbClr val="1E2D44"/>
                </a:solidFill>
                <a:latin typeface="Karla"/>
              </a:rPr>
              <a:t>Bottom Right D2D3</a:t>
            </a:r>
          </a:p>
        </p:txBody>
      </p:sp>
      <p:pic>
        <p:nvPicPr>
          <p:cNvPr id="7" name="Picture 6" descr="F2.png"/>
          <p:cNvPicPr>
            <a:picLocks noChangeAspect="1"/>
          </p:cNvPicPr>
          <p:nvPr/>
        </p:nvPicPr>
        <p:blipFill>
          <a:blip r:embed="rId3"/>
          <a:stretch>
            <a:fillRect/>
          </a:stretch>
        </p:blipFill>
        <p:spPr>
          <a:xfrm>
            <a:off x="2812694" y="2758023"/>
            <a:ext cx="2081174" cy="1607129"/>
          </a:xfrm>
          <a:prstGeom prst="rect">
            <a:avLst/>
          </a:prstGeom>
        </p:spPr>
      </p:pic>
      <p:sp>
        <p:nvSpPr>
          <p:cNvPr id="8" name="TextBox 7"/>
          <p:cNvSpPr txBox="1"/>
          <p:nvPr/>
        </p:nvSpPr>
        <p:spPr>
          <a:xfrm>
            <a:off x="2794406" y="4383440"/>
            <a:ext cx="2117750" cy="420624"/>
          </a:xfrm>
          <a:prstGeom prst="rect">
            <a:avLst/>
          </a:prstGeom>
          <a:noFill/>
        </p:spPr>
        <p:txBody>
          <a:bodyPr wrap="none" anchor="t"/>
          <a:lstStyle/>
          <a:p>
            <a:pPr algn="ctr">
              <a:spcAft>
                <a:spcPts val="400"/>
              </a:spcAft>
            </a:pPr>
            <a:r>
              <a:rPr sz="1000" b="0" i="0">
                <a:solidFill>
                  <a:srgbClr val="1E2D44"/>
                </a:solidFill>
                <a:latin typeface="Karla"/>
              </a:rPr>
              <a:t>F02 Gluten Free Badge White</a:t>
            </a:r>
          </a:p>
          <a:p>
            <a:pPr algn="ctr">
              <a:spcAft>
                <a:spcPts val="400"/>
              </a:spcAft>
            </a:pPr>
            <a:r>
              <a:rPr sz="1000" b="0" i="0">
                <a:solidFill>
                  <a:srgbClr val="1E2D44"/>
                </a:solidFill>
                <a:latin typeface="Karla"/>
              </a:rPr>
              <a:t>Top Right D1 Foil</a:t>
            </a:r>
          </a:p>
        </p:txBody>
      </p:sp>
      <p:pic>
        <p:nvPicPr>
          <p:cNvPr id="9" name="Picture 8" descr="F3.png"/>
          <p:cNvPicPr>
            <a:picLocks noChangeAspect="1"/>
          </p:cNvPicPr>
          <p:nvPr/>
        </p:nvPicPr>
        <p:blipFill>
          <a:blip r:embed="rId4"/>
          <a:stretch>
            <a:fillRect/>
          </a:stretch>
        </p:blipFill>
        <p:spPr>
          <a:xfrm>
            <a:off x="5058460" y="2758023"/>
            <a:ext cx="2081174" cy="1607129"/>
          </a:xfrm>
          <a:prstGeom prst="rect">
            <a:avLst/>
          </a:prstGeom>
        </p:spPr>
      </p:pic>
      <p:sp>
        <p:nvSpPr>
          <p:cNvPr id="10" name="TextBox 9"/>
          <p:cNvSpPr txBox="1"/>
          <p:nvPr/>
        </p:nvSpPr>
        <p:spPr>
          <a:xfrm>
            <a:off x="5040172" y="4383440"/>
            <a:ext cx="2117750" cy="420624"/>
          </a:xfrm>
          <a:prstGeom prst="rect">
            <a:avLst/>
          </a:prstGeom>
          <a:noFill/>
        </p:spPr>
        <p:txBody>
          <a:bodyPr wrap="none" anchor="t"/>
          <a:lstStyle/>
          <a:p>
            <a:pPr algn="ctr">
              <a:spcAft>
                <a:spcPts val="400"/>
              </a:spcAft>
            </a:pPr>
            <a:r>
              <a:rPr sz="1000" b="0" i="0">
                <a:solidFill>
                  <a:srgbClr val="1E2D44"/>
                </a:solidFill>
                <a:latin typeface="Karla"/>
              </a:rPr>
              <a:t>F03 Gluten Green Top Right</a:t>
            </a:r>
          </a:p>
        </p:txBody>
      </p:sp>
      <p:pic>
        <p:nvPicPr>
          <p:cNvPr id="11" name="Picture 10" descr="F4.png"/>
          <p:cNvPicPr>
            <a:picLocks noChangeAspect="1"/>
          </p:cNvPicPr>
          <p:nvPr/>
        </p:nvPicPr>
        <p:blipFill>
          <a:blip r:embed="rId5"/>
          <a:stretch>
            <a:fillRect/>
          </a:stretch>
        </p:blipFill>
        <p:spPr>
          <a:xfrm>
            <a:off x="7304227" y="2758023"/>
            <a:ext cx="2081174" cy="1607129"/>
          </a:xfrm>
          <a:prstGeom prst="rect">
            <a:avLst/>
          </a:prstGeom>
        </p:spPr>
      </p:pic>
      <p:sp>
        <p:nvSpPr>
          <p:cNvPr id="12" name="TextBox 11"/>
          <p:cNvSpPr txBox="1"/>
          <p:nvPr/>
        </p:nvSpPr>
        <p:spPr>
          <a:xfrm>
            <a:off x="7285939" y="4383440"/>
            <a:ext cx="2117750" cy="420624"/>
          </a:xfrm>
          <a:prstGeom prst="rect">
            <a:avLst/>
          </a:prstGeom>
          <a:noFill/>
        </p:spPr>
        <p:txBody>
          <a:bodyPr wrap="none" anchor="t"/>
          <a:lstStyle/>
          <a:p>
            <a:pPr algn="ctr">
              <a:spcAft>
                <a:spcPts val="400"/>
              </a:spcAft>
            </a:pPr>
            <a:r>
              <a:rPr sz="1000" b="0" i="0">
                <a:solidFill>
                  <a:srgbClr val="1E2D44"/>
                </a:solidFill>
                <a:latin typeface="Karla"/>
              </a:rPr>
              <a:t>F04 Gluten Green Bottom</a:t>
            </a:r>
          </a:p>
          <a:p>
            <a:pPr algn="ctr">
              <a:spcAft>
                <a:spcPts val="400"/>
              </a:spcAft>
            </a:pPr>
            <a:r>
              <a:rPr sz="1000" b="0" i="0">
                <a:solidFill>
                  <a:srgbClr val="1E2D44"/>
                </a:solidFill>
                <a:latin typeface="Karla"/>
              </a:rPr>
              <a:t>Right</a:t>
            </a:r>
          </a:p>
        </p:txBody>
      </p:sp>
      <p:pic>
        <p:nvPicPr>
          <p:cNvPr id="13" name="Picture 12" descr="F5.png"/>
          <p:cNvPicPr>
            <a:picLocks noChangeAspect="1"/>
          </p:cNvPicPr>
          <p:nvPr/>
        </p:nvPicPr>
        <p:blipFill>
          <a:blip r:embed="rId6"/>
          <a:stretch>
            <a:fillRect/>
          </a:stretch>
        </p:blipFill>
        <p:spPr>
          <a:xfrm>
            <a:off x="9549993" y="2758023"/>
            <a:ext cx="2081174" cy="1607129"/>
          </a:xfrm>
          <a:prstGeom prst="rect">
            <a:avLst/>
          </a:prstGeom>
        </p:spPr>
      </p:pic>
      <p:sp>
        <p:nvSpPr>
          <p:cNvPr id="14" name="TextBox 13"/>
          <p:cNvSpPr txBox="1"/>
          <p:nvPr/>
        </p:nvSpPr>
        <p:spPr>
          <a:xfrm>
            <a:off x="9531705" y="4383440"/>
            <a:ext cx="2117750" cy="420624"/>
          </a:xfrm>
          <a:prstGeom prst="rect">
            <a:avLst/>
          </a:prstGeom>
          <a:noFill/>
        </p:spPr>
        <p:txBody>
          <a:bodyPr wrap="none" anchor="t"/>
          <a:lstStyle/>
          <a:p>
            <a:pPr algn="ctr">
              <a:spcAft>
                <a:spcPts val="400"/>
              </a:spcAft>
            </a:pPr>
            <a:r>
              <a:rPr sz="1000" b="0" i="0">
                <a:solidFill>
                  <a:srgbClr val="1E2D44"/>
                </a:solidFill>
                <a:latin typeface="Karla"/>
              </a:rPr>
              <a:t>F04 Gluten Free Blank</a:t>
            </a:r>
          </a:p>
        </p:txBody>
      </p:sp>
      <p:sp>
        <p:nvSpPr>
          <p:cNvPr id="15" name="Rectangle 14"/>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6446520"/>
            <a:ext cx="9509760" cy="292608"/>
          </a:xfrm>
          <a:prstGeom prst="rect">
            <a:avLst/>
          </a:prstGeom>
          <a:noFill/>
        </p:spPr>
        <p:txBody>
          <a:bodyPr wrap="square" anchor="ctr"/>
          <a:lstStyle/>
          <a:p>
            <a:pPr algn="l">
              <a:spcAft>
                <a:spcPts val="400"/>
              </a:spcAft>
            </a:pPr>
            <a:r>
              <a:rPr sz="1000" b="0" i="0">
                <a:solidFill>
                  <a:srgbClr val="617086"/>
                </a:solidFill>
                <a:latin typeface="Karla"/>
              </a:rPr>
              <a:t>n=150 respondents.  Top-2 Box model (ratings 4–5): element lifts show movement above or below the model baseline.</a:t>
            </a:r>
          </a:p>
        </p:txBody>
      </p:sp>
      <p:sp>
        <p:nvSpPr>
          <p:cNvPr id="17" name="TextBox 16"/>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109</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FF6F8"/>
        </a:solidFill>
        <a:effectLst/>
      </p:bgPr>
    </p:bg>
    <p:spTree>
      <p:nvGrpSpPr>
        <p:cNvPr id="1" name=""/>
        <p:cNvGrpSpPr/>
        <p:nvPr/>
      </p:nvGrpSpPr>
      <p:grpSpPr/>
      <p:pic>
        <p:nvPicPr>
          <p:cNvPr id="2" name="Picture 1" descr="cover_Picture_17.png"/>
          <p:cNvPicPr>
            <a:picLocks noChangeAspect="1"/>
          </p:cNvPicPr>
          <p:nvPr/>
        </p:nvPicPr>
        <p:blipFill>
          <a:blip r:embed="rId2"/>
          <a:stretch>
            <a:fillRect/>
          </a:stretch>
        </p:blipFill>
        <p:spPr>
          <a:xfrm>
            <a:off x="1259128" y="3579876"/>
            <a:ext cx="1641348" cy="1641348"/>
          </a:xfrm>
          <a:prstGeom prst="rect">
            <a:avLst/>
          </a:prstGeom>
        </p:spPr>
      </p:pic>
      <p:cxnSp>
        <p:nvCxnSpPr>
          <p:cNvPr id="3" name="Connector 2"/>
          <p:cNvCxnSpPr/>
          <p:nvPr/>
        </p:nvCxnSpPr>
        <p:spPr>
          <a:xfrm>
            <a:off x="3882908" y="1232428"/>
            <a:ext cx="0" cy="4373209"/>
          </a:xfrm>
          <a:prstGeom prst="line">
            <a:avLst/>
          </a:prstGeom>
          <a:ln w="9525">
            <a:solidFill>
              <a:srgbClr val="F2C6CF"/>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4205874" y="3429000"/>
            <a:ext cx="6268303" cy="0"/>
          </a:xfrm>
          <a:prstGeom prst="line">
            <a:avLst/>
          </a:prstGeom>
          <a:ln w="9525">
            <a:solidFill>
              <a:srgbClr val="F2C6C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206240" y="1805940"/>
            <a:ext cx="7132320" cy="768096"/>
          </a:xfrm>
          <a:prstGeom prst="rect">
            <a:avLst/>
          </a:prstGeom>
          <a:noFill/>
        </p:spPr>
        <p:txBody>
          <a:bodyPr wrap="square" anchor="t"/>
          <a:lstStyle/>
          <a:p>
            <a:pPr algn="l">
              <a:spcAft>
                <a:spcPts val="400"/>
              </a:spcAft>
            </a:pPr>
            <a:r>
              <a:rPr sz="4400" b="1" i="0">
                <a:solidFill>
                  <a:srgbClr val="1E2D44"/>
                </a:solidFill>
                <a:latin typeface="Karla"/>
              </a:rPr>
              <a:t>Thank you</a:t>
            </a:r>
          </a:p>
        </p:txBody>
      </p:sp>
      <p:sp>
        <p:nvSpPr>
          <p:cNvPr id="6" name="TextBox 5"/>
          <p:cNvSpPr txBox="1"/>
          <p:nvPr/>
        </p:nvSpPr>
        <p:spPr>
          <a:xfrm>
            <a:off x="4206240" y="2578608"/>
            <a:ext cx="6583680" cy="365760"/>
          </a:xfrm>
          <a:prstGeom prst="rect">
            <a:avLst/>
          </a:prstGeom>
          <a:noFill/>
        </p:spPr>
        <p:txBody>
          <a:bodyPr wrap="square" anchor="t"/>
          <a:lstStyle/>
          <a:p>
            <a:pPr algn="l">
              <a:spcAft>
                <a:spcPts val="400"/>
              </a:spcAft>
            </a:pPr>
            <a:r>
              <a:rPr sz="1600" b="0" i="0">
                <a:solidFill>
                  <a:srgbClr val="1E2D44"/>
                </a:solidFill>
                <a:latin typeface="Karla"/>
              </a:rPr>
              <a:t>We look forward to discussing the full report and next steps.</a:t>
            </a:r>
          </a:p>
        </p:txBody>
      </p:sp>
      <p:sp>
        <p:nvSpPr>
          <p:cNvPr id="7" name="TextBox 6"/>
          <p:cNvSpPr txBox="1"/>
          <p:nvPr/>
        </p:nvSpPr>
        <p:spPr>
          <a:xfrm>
            <a:off x="4206240" y="3880713"/>
            <a:ext cx="6583680" cy="338328"/>
          </a:xfrm>
          <a:prstGeom prst="rect">
            <a:avLst/>
          </a:prstGeom>
          <a:noFill/>
        </p:spPr>
        <p:txBody>
          <a:bodyPr wrap="square" anchor="t"/>
          <a:lstStyle/>
          <a:p>
            <a:pPr algn="l">
              <a:spcAft>
                <a:spcPts val="400"/>
              </a:spcAft>
            </a:pPr>
            <a:r>
              <a:rPr sz="1600" b="0" i="0">
                <a:solidFill>
                  <a:srgbClr val="1E2D44"/>
                </a:solidFill>
                <a:latin typeface="Karla"/>
              </a:rPr>
              <a:t>Consumer Product Packaging Study Appeal Report  |  October 2026</a:t>
            </a:r>
          </a:p>
        </p:txBody>
      </p:sp>
      <p:sp>
        <p:nvSpPr>
          <p:cNvPr id="8" name="TextBox 7"/>
          <p:cNvSpPr txBox="1"/>
          <p:nvPr/>
        </p:nvSpPr>
        <p:spPr>
          <a:xfrm>
            <a:off x="4206240" y="4231843"/>
            <a:ext cx="6986016" cy="338328"/>
          </a:xfrm>
          <a:prstGeom prst="rect">
            <a:avLst/>
          </a:prstGeom>
          <a:noFill/>
        </p:spPr>
        <p:txBody>
          <a:bodyPr wrap="square" anchor="t"/>
          <a:lstStyle/>
          <a:p>
            <a:pPr algn="l">
              <a:spcAft>
                <a:spcPts val="400"/>
              </a:spcAft>
            </a:pPr>
            <a:r>
              <a:rPr sz="1600" b="0" i="0">
                <a:solidFill>
                  <a:srgbClr val="1E2D44"/>
                </a:solidFill>
                <a:latin typeface="Karla"/>
              </a:rPr>
              <a:t>Prepared by: J Brown Fitterman | jbrown@mindgenomicsassociates.com</a:t>
            </a:r>
          </a:p>
        </p:txBody>
      </p:sp>
      <p:sp>
        <p:nvSpPr>
          <p:cNvPr id="9" name="TextBox 8"/>
          <p:cNvSpPr txBox="1"/>
          <p:nvPr/>
        </p:nvSpPr>
        <p:spPr>
          <a:xfrm>
            <a:off x="4206240" y="4582972"/>
            <a:ext cx="3840480" cy="338328"/>
          </a:xfrm>
          <a:prstGeom prst="rect">
            <a:avLst/>
          </a:prstGeom>
          <a:noFill/>
        </p:spPr>
        <p:txBody>
          <a:bodyPr wrap="square" anchor="t"/>
          <a:lstStyle/>
          <a:p>
            <a:pPr algn="l">
              <a:spcAft>
                <a:spcPts val="400"/>
              </a:spcAft>
            </a:pPr>
            <a:r>
              <a:rPr sz="1600" b="0" i="0">
                <a:solidFill>
                  <a:srgbClr val="1E2D44"/>
                </a:solidFill>
                <a:latin typeface="Karla"/>
              </a:rPr>
              <a:t>Mind Genomics Associates, Inc</a:t>
            </a:r>
          </a:p>
        </p:txBody>
      </p:sp>
      <p:sp>
        <p:nvSpPr>
          <p:cNvPr id="10" name="TextBox 9"/>
          <p:cNvSpPr txBox="1"/>
          <p:nvPr/>
        </p:nvSpPr>
        <p:spPr>
          <a:xfrm>
            <a:off x="4206240" y="5222138"/>
            <a:ext cx="7680960" cy="502920"/>
          </a:xfrm>
          <a:prstGeom prst="rect">
            <a:avLst/>
          </a:prstGeom>
          <a:noFill/>
        </p:spPr>
        <p:txBody>
          <a:bodyPr wrap="square" anchor="t"/>
          <a:lstStyle/>
          <a:p>
            <a:pPr algn="l">
              <a:spcAft>
                <a:spcPts val="400"/>
              </a:spcAft>
            </a:pPr>
            <a:r>
              <a:rPr sz="2000" b="0" i="0">
                <a:solidFill>
                  <a:srgbClr val="1E2D44"/>
                </a:solidFill>
                <a:latin typeface="Karla"/>
              </a:rPr>
              <a:t>Consumer Product Packaging Study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Consumer Product Packaging Study</dc:title>
  <dc:subject>Design Element Appeal Report</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Top-2 Box</cp:category>
</cp:coreProperties>
</file>