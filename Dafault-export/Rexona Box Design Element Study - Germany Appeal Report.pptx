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64.png"/><Relationship Id="rId9" Type="http://schemas.openxmlformats.org/officeDocument/2006/relationships/image" Target="../media/image65.png"/><Relationship Id="rId10" Type="http://schemas.openxmlformats.org/officeDocument/2006/relationships/image" Target="../media/image66.png"/><Relationship Id="rId11" Type="http://schemas.openxmlformats.org/officeDocument/2006/relationships/image" Target="../media/image67.png"/><Relationship Id="rId12" Type="http://schemas.openxmlformats.org/officeDocument/2006/relationships/image" Target="../media/image68.png"/><Relationship Id="rId13" Type="http://schemas.openxmlformats.org/officeDocument/2006/relationships/image" Target="../media/image69.png"/><Relationship Id="rId14" Type="http://schemas.openxmlformats.org/officeDocument/2006/relationships/image" Target="../media/image70.png"/><Relationship Id="rId15" Type="http://schemas.openxmlformats.org/officeDocument/2006/relationships/image" Target="../media/image7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Relationship Id="rId8" Type="http://schemas.openxmlformats.org/officeDocument/2006/relationships/image" Target="../media/image78.png"/><Relationship Id="rId9" Type="http://schemas.openxmlformats.org/officeDocument/2006/relationships/image" Target="../media/image79.png"/><Relationship Id="rId10" Type="http://schemas.openxmlformats.org/officeDocument/2006/relationships/image" Target="../media/image80.png"/><Relationship Id="rId11" Type="http://schemas.openxmlformats.org/officeDocument/2006/relationships/image" Target="../media/image81.png"/><Relationship Id="rId12" Type="http://schemas.openxmlformats.org/officeDocument/2006/relationships/image" Target="../media/image82.png"/><Relationship Id="rId13" Type="http://schemas.openxmlformats.org/officeDocument/2006/relationships/image" Target="../media/image83.png"/><Relationship Id="rId14" Type="http://schemas.openxmlformats.org/officeDocument/2006/relationships/image" Target="../media/image84.png"/><Relationship Id="rId15" Type="http://schemas.openxmlformats.org/officeDocument/2006/relationships/image" Target="../media/image8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7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8.png"/><Relationship Id="rId8" Type="http://schemas.openxmlformats.org/officeDocument/2006/relationships/image" Target="../media/image10.png"/><Relationship Id="rId9" Type="http://schemas.openxmlformats.org/officeDocument/2006/relationships/image" Target="../media/image9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Relationship Id="rId15" Type="http://schemas.openxmlformats.org/officeDocument/2006/relationships/image" Target="../media/image13.png"/><Relationship Id="rId16" Type="http://schemas.openxmlformats.org/officeDocument/2006/relationships/image" Target="../media/image1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30.png"/><Relationship Id="rId4" Type="http://schemas.openxmlformats.org/officeDocument/2006/relationships/image" Target="../media/image29.png"/><Relationship Id="rId5" Type="http://schemas.openxmlformats.org/officeDocument/2006/relationships/image" Target="../media/image27.png"/><Relationship Id="rId6" Type="http://schemas.openxmlformats.org/officeDocument/2006/relationships/image" Target="../media/image33.png"/><Relationship Id="rId7" Type="http://schemas.openxmlformats.org/officeDocument/2006/relationships/image" Target="../media/image32.png"/><Relationship Id="rId8" Type="http://schemas.openxmlformats.org/officeDocument/2006/relationships/image" Target="../media/image3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6.png"/><Relationship Id="rId7" Type="http://schemas.openxmlformats.org/officeDocument/2006/relationships/image" Target="../media/image45.png"/><Relationship Id="rId8" Type="http://schemas.openxmlformats.org/officeDocument/2006/relationships/image" Target="../media/image4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image" Target="../media/image52.png"/><Relationship Id="rId6" Type="http://schemas.openxmlformats.org/officeDocument/2006/relationships/image" Target="../media/image51.png"/><Relationship Id="rId7" Type="http://schemas.openxmlformats.org/officeDocument/2006/relationships/image" Target="../media/image5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7.png"/><Relationship Id="rId4" Type="http://schemas.openxmlformats.org/officeDocument/2006/relationships/image" Target="../media/image56.png"/><Relationship Id="rId5" Type="http://schemas.openxmlformats.org/officeDocument/2006/relationships/image" Target="../media/image5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Relationship Id="rId10" Type="http://schemas.openxmlformats.org/officeDocument/2006/relationships/image" Target="../media/image9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Relationship Id="rId6" Type="http://schemas.openxmlformats.org/officeDocument/2006/relationships/image" Target="../media/image99.png"/><Relationship Id="rId7" Type="http://schemas.openxmlformats.org/officeDocument/2006/relationships/image" Target="../media/image10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Relationship Id="rId3" Type="http://schemas.openxmlformats.org/officeDocument/2006/relationships/image" Target="../media/image102.png"/><Relationship Id="rId4" Type="http://schemas.openxmlformats.org/officeDocument/2006/relationships/image" Target="../media/image10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png"/><Relationship Id="rId3" Type="http://schemas.openxmlformats.org/officeDocument/2006/relationships/image" Target="../media/image105.png"/><Relationship Id="rId4" Type="http://schemas.openxmlformats.org/officeDocument/2006/relationships/image" Target="../media/image106.png"/><Relationship Id="rId5" Type="http://schemas.openxmlformats.org/officeDocument/2006/relationships/image" Target="../media/image107.png"/><Relationship Id="rId6" Type="http://schemas.openxmlformats.org/officeDocument/2006/relationships/image" Target="../media/image108.png"/><Relationship Id="rId7" Type="http://schemas.openxmlformats.org/officeDocument/2006/relationships/image" Target="../media/image109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png"/><Relationship Id="rId3" Type="http://schemas.openxmlformats.org/officeDocument/2006/relationships/image" Target="../media/image111.png"/><Relationship Id="rId4" Type="http://schemas.openxmlformats.org/officeDocument/2006/relationships/image" Target="../media/image112.png"/><Relationship Id="rId5" Type="http://schemas.openxmlformats.org/officeDocument/2006/relationships/image" Target="../media/image11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png"/><Relationship Id="rId3" Type="http://schemas.openxmlformats.org/officeDocument/2006/relationships/image" Target="../media/image115.png"/><Relationship Id="rId4" Type="http://schemas.openxmlformats.org/officeDocument/2006/relationships/image" Target="../media/image11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18.png"/><Relationship Id="rId4" Type="http://schemas.openxmlformats.org/officeDocument/2006/relationships/image" Target="../media/image119.png"/><Relationship Id="rId5" Type="http://schemas.openxmlformats.org/officeDocument/2006/relationships/image" Target="../media/image12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png"/><Relationship Id="rId3" Type="http://schemas.openxmlformats.org/officeDocument/2006/relationships/image" Target="../media/image122.png"/><Relationship Id="rId4" Type="http://schemas.openxmlformats.org/officeDocument/2006/relationships/image" Target="../media/image12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3" Type="http://schemas.openxmlformats.org/officeDocument/2006/relationships/image" Target="../media/image125.png"/><Relationship Id="rId4" Type="http://schemas.openxmlformats.org/officeDocument/2006/relationships/image" Target="../media/image126.png"/><Relationship Id="rId5" Type="http://schemas.openxmlformats.org/officeDocument/2006/relationships/image" Target="../media/image12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3" Type="http://schemas.openxmlformats.org/officeDocument/2006/relationships/image" Target="../media/image129.png"/><Relationship Id="rId4" Type="http://schemas.openxmlformats.org/officeDocument/2006/relationships/image" Target="../media/image13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png"/><Relationship Id="rId3" Type="http://schemas.openxmlformats.org/officeDocument/2006/relationships/image" Target="../media/image132.png"/><Relationship Id="rId4" Type="http://schemas.openxmlformats.org/officeDocument/2006/relationships/image" Target="../media/image13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png"/><Relationship Id="rId3" Type="http://schemas.openxmlformats.org/officeDocument/2006/relationships/image" Target="../media/image135.png"/><Relationship Id="rId4" Type="http://schemas.openxmlformats.org/officeDocument/2006/relationships/image" Target="../media/image10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png"/><Relationship Id="rId3" Type="http://schemas.openxmlformats.org/officeDocument/2006/relationships/image" Target="../media/image137.png"/><Relationship Id="rId4" Type="http://schemas.openxmlformats.org/officeDocument/2006/relationships/image" Target="../media/image138.png"/><Relationship Id="rId5" Type="http://schemas.openxmlformats.org/officeDocument/2006/relationships/image" Target="../media/image139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Pictur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128" y="1938528"/>
            <a:ext cx="1641348" cy="1367942"/>
          </a:xfrm>
          <a:prstGeom prst="rect">
            <a:avLst/>
          </a:prstGeom>
        </p:spPr>
      </p:pic>
      <p:pic>
        <p:nvPicPr>
          <p:cNvPr id="3" name="Picture 2" descr="cover_Picture_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128" y="3579876"/>
            <a:ext cx="1641348" cy="1641348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3882908" y="1232428"/>
            <a:ext cx="0" cy="4373209"/>
          </a:xfrm>
          <a:prstGeom prst="line">
            <a:avLst/>
          </a:prstGeom>
          <a:ln w="9525">
            <a:solidFill>
              <a:srgbClr val="F2C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205874" y="3429000"/>
            <a:ext cx="6268303" cy="0"/>
          </a:xfrm>
          <a:prstGeom prst="line">
            <a:avLst/>
          </a:prstGeom>
          <a:ln w="9525">
            <a:solidFill>
              <a:srgbClr val="F2C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206240" y="1805940"/>
            <a:ext cx="7755026" cy="1200607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1E2D44"/>
                </a:solidFill>
                <a:latin typeface="Karla"/>
              </a:rPr>
              <a:t>Which box design elements drive consumer appeal?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3880713"/>
            <a:ext cx="6583680" cy="3383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Rexona x MGA Design Element Appeal Report  | 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4231843"/>
            <a:ext cx="6986016" cy="3383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Prepared by: J Brown Fitterman | jbrown@mindgenomicsassociates.com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582972"/>
            <a:ext cx="3840480" cy="3383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Mind Genomics Associates, Inc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5222138"/>
            <a:ext cx="76809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Rexona Box Design Element Study - Germany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10058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1E2D44"/>
                </a:solidFill>
                <a:latin typeface="Karla"/>
              </a:rPr>
              <a:t>Inputs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94760"/>
            <a:ext cx="1280160" cy="5486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6616" cy="6858000"/>
          </a:xfrm>
          <a:prstGeom prst="rect">
            <a:avLst/>
          </a:prstGeom>
          <a:solidFill>
            <a:srgbClr val="F3C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69848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238"/>
                </a:solidFill>
                <a:latin typeface="Karla"/>
              </a:rPr>
              <a:t>The study in this report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097280"/>
            <a:ext cx="1261871" cy="0"/>
          </a:xfrm>
          <a:prstGeom prst="line">
            <a:avLst/>
          </a:prstGeom>
          <a:ln w="17780">
            <a:solidFill>
              <a:srgbClr val="F3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35331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1">
                <a:solidFill>
                  <a:srgbClr val="172238"/>
                </a:solidFill>
                <a:latin typeface="Karla"/>
              </a:rPr>
              <a:t>Scores in the pages that follow come from this file.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1847088"/>
            <a:ext cx="10561320" cy="2103120"/>
          </a:xfrm>
          <a:prstGeom prst="roundRect">
            <a:avLst>
              <a:gd name="adj" fmla="val 26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" y="1847088"/>
            <a:ext cx="10561320" cy="12801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2212848"/>
            <a:ext cx="992124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72238"/>
                </a:solidFill>
                <a:latin typeface="Karla"/>
              </a:rPr>
              <a:t>Rexona Box Design Element Study - Germany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3054096"/>
            <a:ext cx="992124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72238"/>
                </a:solidFill>
                <a:latin typeface="Karla"/>
              </a:rPr>
              <a:t>13 silos  ·  55 elements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3419856"/>
            <a:ext cx="99212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4746E"/>
                </a:solidFill>
                <a:latin typeface="Karla"/>
              </a:rPr>
              <a:t>206 respondents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n=206 respondents.  Top-2 Box model (ratings 4–5): element lifts show movement above or below the model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6616" cy="6858000"/>
          </a:xfrm>
          <a:prstGeom prst="rect">
            <a:avLst/>
          </a:prstGeom>
          <a:solidFill>
            <a:srgbClr val="F3C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515600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238"/>
                </a:solidFill>
                <a:latin typeface="Karla"/>
              </a:rPr>
              <a:t>How the method works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024128"/>
            <a:ext cx="1261871" cy="0"/>
          </a:xfrm>
          <a:prstGeom prst="line">
            <a:avLst/>
          </a:prstGeom>
          <a:ln w="17780">
            <a:solidFill>
              <a:srgbClr val="F3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170432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172238"/>
                </a:solidFill>
                <a:latin typeface="Karla"/>
              </a:rPr>
              <a:t>Every respondent sees their own mix of design variations, and we learn what individually moves the appeal score.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0881360" cy="804672"/>
          </a:xfrm>
          <a:prstGeom prst="roundRect">
            <a:avLst>
              <a:gd name="adj" fmla="val 83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682495"/>
            <a:ext cx="585216" cy="585216"/>
          </a:xfrm>
          <a:prstGeom prst="ellipse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Karl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70078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238"/>
                </a:solidFill>
                <a:latin typeface="Karla"/>
              </a:rPr>
              <a:t>We slice the design into unique elements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99339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238"/>
                </a:solidFill>
                <a:latin typeface="Karla"/>
              </a:rPr>
              <a:t>Each element is one design choice — Box, Stripes, Box Label, Word Options, Tick, Antitranspirant, 100H, Clean Confidence, Four Dots, 16p, Schutz, Deocreme, and 10X.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50591"/>
            <a:ext cx="10881360" cy="804672"/>
          </a:xfrm>
          <a:prstGeom prst="roundRect">
            <a:avLst>
              <a:gd name="adj" fmla="val 83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2560320"/>
            <a:ext cx="585216" cy="585216"/>
          </a:xfrm>
          <a:prstGeom prst="ellipse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Karl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57860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238"/>
                </a:solidFill>
                <a:latin typeface="Karla"/>
              </a:rPr>
              <a:t>Each element has 3–9 possible variations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871215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238"/>
                </a:solidFill>
                <a:latin typeface="Karla"/>
              </a:rPr>
              <a:t>Like the small choices a designer would make between the options in a silo.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328415"/>
            <a:ext cx="10881360" cy="804672"/>
          </a:xfrm>
          <a:prstGeom prst="roundRect">
            <a:avLst>
              <a:gd name="adj" fmla="val 83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3438144"/>
            <a:ext cx="585216" cy="585216"/>
          </a:xfrm>
          <a:prstGeom prst="ellipse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Karl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45643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238"/>
                </a:solidFill>
                <a:latin typeface="Karla"/>
              </a:rPr>
              <a:t>Each respondent sees a set of pack designs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749039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238"/>
                </a:solidFill>
                <a:latin typeface="Karla"/>
              </a:rPr>
              <a:t>Each pack is a unique combination of variations — never quite the same as anyone else’s.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206240"/>
            <a:ext cx="10881360" cy="804672"/>
          </a:xfrm>
          <a:prstGeom prst="roundRect">
            <a:avLst>
              <a:gd name="adj" fmla="val 83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4315968"/>
            <a:ext cx="585216" cy="585216"/>
          </a:xfrm>
          <a:prstGeom prst="ellipse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Karla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4334255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238"/>
                </a:solidFill>
                <a:latin typeface="Karla"/>
              </a:rPr>
              <a:t>They rate each 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462686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238"/>
                </a:solidFill>
                <a:latin typeface="Karla"/>
              </a:rPr>
              <a:t>The same rating scale is used on every task. The variation does the work.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084064"/>
            <a:ext cx="10881360" cy="804672"/>
          </a:xfrm>
          <a:prstGeom prst="roundRect">
            <a:avLst>
              <a:gd name="adj" fmla="val 83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193792"/>
            <a:ext cx="585216" cy="585216"/>
          </a:xfrm>
          <a:prstGeom prst="ellipse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Karla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5212079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238"/>
                </a:solidFill>
                <a:latin typeface="Karla"/>
              </a:rPr>
              <a:t>We learn what drives the rating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550468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238"/>
                </a:solidFill>
                <a:latin typeface="Karla"/>
              </a:rPr>
              <a:t>The model separates the baseline from the movement each element creates, on its own.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n=206 respondents.  Top-2 Box model (ratings 4–5): element lifts show movement above or below the model baseline.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EBC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9144000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E2D44"/>
                </a:solidFill>
                <a:latin typeface="Karla"/>
              </a:rPr>
              <a:t>Design elements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26F7B"/>
                </a:solidFill>
                <a:latin typeface="Karla"/>
              </a:rPr>
              <a:t>13 design silos, 55 element variations in total.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44752"/>
            <a:ext cx="2542032" cy="100584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91440" cy="100584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536192"/>
            <a:ext cx="384048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7B7F"/>
                </a:solidFill>
                <a:latin typeface="Karl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7" y="1591056"/>
            <a:ext cx="1536192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D44"/>
                </a:solidFill>
                <a:latin typeface="Karla"/>
              </a:rPr>
              <a:t>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199" y="1591056"/>
            <a:ext cx="329184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26F7B"/>
                </a:solidFill>
                <a:latin typeface="Karla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29968"/>
            <a:ext cx="2249424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F7B"/>
                </a:solidFill>
                <a:latin typeface="Karla"/>
              </a:rPr>
              <a:t>White, Silver, Teal, White Clinical, +5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00983" y="1444752"/>
            <a:ext cx="2542032" cy="100584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00983" y="1444752"/>
            <a:ext cx="91440" cy="100584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5575" y="1536192"/>
            <a:ext cx="384048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7B7F"/>
                </a:solidFill>
                <a:latin typeface="Karl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67911" y="1591056"/>
            <a:ext cx="1536192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D44"/>
                </a:solidFill>
                <a:latin typeface="Karla"/>
              </a:rPr>
              <a:t>Stripes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4103" y="1591056"/>
            <a:ext cx="329184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26F7B"/>
                </a:solidFill>
                <a:latin typeface="Karla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5" y="2029968"/>
            <a:ext cx="2249424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F7B"/>
                </a:solidFill>
                <a:latin typeface="Karla"/>
              </a:rPr>
              <a:t>Small, Medium, Large, Small Bottom, +2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61888" y="1444752"/>
            <a:ext cx="2542032" cy="100584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61888" y="1444752"/>
            <a:ext cx="91440" cy="100584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79" y="1536192"/>
            <a:ext cx="384048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7B7F"/>
                </a:solidFill>
                <a:latin typeface="Karla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1591056"/>
            <a:ext cx="1536192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D44"/>
                </a:solidFill>
                <a:latin typeface="Karla"/>
              </a:rPr>
              <a:t>Box Label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7" y="1591056"/>
            <a:ext cx="329184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26F7B"/>
                </a:solidFill>
                <a:latin typeface="Karl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79" y="2029968"/>
            <a:ext cx="2249424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F7B"/>
                </a:solidFill>
                <a:latin typeface="Karla"/>
              </a:rPr>
              <a:t>Silver Small Pink, Full Pink, None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22791" y="1444752"/>
            <a:ext cx="2542032" cy="100584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22791" y="1444752"/>
            <a:ext cx="91440" cy="100584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87383" y="1536192"/>
            <a:ext cx="384048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7B7F"/>
                </a:solidFill>
                <a:latin typeface="Karla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19" y="1591056"/>
            <a:ext cx="1536192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D44"/>
                </a:solidFill>
                <a:latin typeface="Karla"/>
              </a:rPr>
              <a:t>Word Options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5911" y="1591056"/>
            <a:ext cx="329184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26F7B"/>
                </a:solidFill>
                <a:latin typeface="Karla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87383" y="2029968"/>
            <a:ext cx="2249424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F7B"/>
                </a:solidFill>
                <a:latin typeface="Karla"/>
              </a:rPr>
              <a:t>Clinical Small, Clinical Bigger, +4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2569464"/>
            <a:ext cx="2542032" cy="100584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2569464"/>
            <a:ext cx="91440" cy="100584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1" y="2660904"/>
            <a:ext cx="384048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7B7F"/>
                </a:solidFill>
                <a:latin typeface="Karla"/>
              </a:rPr>
              <a:t>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7007" y="2715768"/>
            <a:ext cx="1536192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D44"/>
                </a:solidFill>
                <a:latin typeface="Karla"/>
              </a:rPr>
              <a:t>Tick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199" y="2715768"/>
            <a:ext cx="329184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26F7B"/>
                </a:solidFill>
                <a:latin typeface="Karla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" y="3154680"/>
            <a:ext cx="2249424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F7B"/>
                </a:solidFill>
                <a:latin typeface="Karla"/>
              </a:rPr>
              <a:t>Teal, Holographic, Glossy, +1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00983" y="2569464"/>
            <a:ext cx="2542032" cy="100584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00983" y="2569464"/>
            <a:ext cx="91440" cy="100584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65575" y="2660904"/>
            <a:ext cx="384048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7B7F"/>
                </a:solidFill>
                <a:latin typeface="Karla"/>
              </a:rPr>
              <a:t>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67911" y="2715768"/>
            <a:ext cx="1536192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D44"/>
                </a:solidFill>
                <a:latin typeface="Karla"/>
              </a:rPr>
              <a:t>Antitranspirant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04103" y="2715768"/>
            <a:ext cx="329184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26F7B"/>
                </a:solidFill>
                <a:latin typeface="Karla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65575" y="3154680"/>
            <a:ext cx="2249424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F7B"/>
                </a:solidFill>
                <a:latin typeface="Karla"/>
              </a:rPr>
              <a:t>Smaller Low, Larger Upper, Larger Lower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61888" y="2569464"/>
            <a:ext cx="2542032" cy="100584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61888" y="2569464"/>
            <a:ext cx="91440" cy="100584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79" y="2660904"/>
            <a:ext cx="384048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7B7F"/>
                </a:solidFill>
                <a:latin typeface="Karla"/>
              </a:rPr>
              <a:t>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8816" y="2715768"/>
            <a:ext cx="1536192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D44"/>
                </a:solidFill>
                <a:latin typeface="Karla"/>
              </a:rPr>
              <a:t>100H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65007" y="2715768"/>
            <a:ext cx="329184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26F7B"/>
                </a:solidFill>
                <a:latin typeface="Karla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79" y="3154680"/>
            <a:ext cx="2249424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F7B"/>
                </a:solidFill>
                <a:latin typeface="Karla"/>
              </a:rPr>
              <a:t>100H Above Right, 100H Above Left, +2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22791" y="2569464"/>
            <a:ext cx="2542032" cy="100584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1" y="2569464"/>
            <a:ext cx="91440" cy="100584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87383" y="2660904"/>
            <a:ext cx="384048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7B7F"/>
                </a:solidFill>
                <a:latin typeface="Karla"/>
              </a:rPr>
              <a:t>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9719" y="2715768"/>
            <a:ext cx="1536192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D44"/>
                </a:solidFill>
                <a:latin typeface="Karla"/>
              </a:rPr>
              <a:t>Clean Confidence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25911" y="2715768"/>
            <a:ext cx="329184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26F7B"/>
                </a:solidFill>
                <a:latin typeface="Karla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87383" y="3154680"/>
            <a:ext cx="2249424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F7B"/>
                </a:solidFill>
                <a:latin typeface="Karla"/>
              </a:rPr>
              <a:t>Dark Teal, Pink Aboveline, Original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3694176"/>
            <a:ext cx="2542032" cy="100584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0080" y="3694176"/>
            <a:ext cx="91440" cy="100584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4671" y="3785615"/>
            <a:ext cx="384048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7B7F"/>
                </a:solidFill>
                <a:latin typeface="Karla"/>
              </a:rPr>
              <a:t>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07007" y="3840480"/>
            <a:ext cx="1536192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D44"/>
                </a:solidFill>
                <a:latin typeface="Karla"/>
              </a:rPr>
              <a:t>Four Dots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199" y="3840480"/>
            <a:ext cx="329184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26F7B"/>
                </a:solidFill>
                <a:latin typeface="Karla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4671" y="4279392"/>
            <a:ext cx="2249424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F7B"/>
                </a:solidFill>
                <a:latin typeface="Karla"/>
              </a:rPr>
              <a:t>Silver Left, Silver Lower Left, +2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00983" y="3694176"/>
            <a:ext cx="2542032" cy="100584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300983" y="3694176"/>
            <a:ext cx="91440" cy="100584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65575" y="3785615"/>
            <a:ext cx="384048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7B7F"/>
                </a:solidFill>
                <a:latin typeface="Karla"/>
              </a:rPr>
              <a:t>J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67911" y="3840480"/>
            <a:ext cx="1536192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D44"/>
                </a:solidFill>
                <a:latin typeface="Karla"/>
              </a:rPr>
              <a:t>16p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04103" y="3840480"/>
            <a:ext cx="329184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26F7B"/>
                </a:solidFill>
                <a:latin typeface="Karla"/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65575" y="4279392"/>
            <a:ext cx="2249424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F7B"/>
                </a:solidFill>
                <a:latin typeface="Karla"/>
              </a:rPr>
              <a:t>Bottom, Middle, Top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61888" y="3694176"/>
            <a:ext cx="2542032" cy="100584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61888" y="3694176"/>
            <a:ext cx="91440" cy="100584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26479" y="3785615"/>
            <a:ext cx="384048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7B7F"/>
                </a:solidFill>
                <a:latin typeface="Karla"/>
              </a:rPr>
              <a:t>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28816" y="3840480"/>
            <a:ext cx="1536192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D44"/>
                </a:solidFill>
                <a:latin typeface="Karla"/>
              </a:rPr>
              <a:t>Schutz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65007" y="3840480"/>
            <a:ext cx="329184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26F7B"/>
                </a:solidFill>
                <a:latin typeface="Karla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26479" y="4279392"/>
            <a:ext cx="2249424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F7B"/>
                </a:solidFill>
                <a:latin typeface="Karla"/>
              </a:rPr>
              <a:t>Bottom, Middle, Top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622791" y="3694176"/>
            <a:ext cx="2542032" cy="100584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622791" y="3694176"/>
            <a:ext cx="91440" cy="100584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787383" y="3785615"/>
            <a:ext cx="384048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7B7F"/>
                </a:solidFill>
                <a:latin typeface="Karla"/>
              </a:rPr>
              <a:t>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89719" y="3840480"/>
            <a:ext cx="1536192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D44"/>
                </a:solidFill>
                <a:latin typeface="Karla"/>
              </a:rPr>
              <a:t>Deocreme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725911" y="3840480"/>
            <a:ext cx="329184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26F7B"/>
                </a:solidFill>
                <a:latin typeface="Karla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87383" y="4279392"/>
            <a:ext cx="2249424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F7B"/>
                </a:solidFill>
                <a:latin typeface="Karla"/>
              </a:rPr>
              <a:t>Lower, Upper, None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0080" y="4818888"/>
            <a:ext cx="2542032" cy="100584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0080" y="4818888"/>
            <a:ext cx="91440" cy="100584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04671" y="4910327"/>
            <a:ext cx="384048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7B7F"/>
                </a:solidFill>
                <a:latin typeface="Karla"/>
              </a:rPr>
              <a:t>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07007" y="4965192"/>
            <a:ext cx="1536192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D44"/>
                </a:solidFill>
                <a:latin typeface="Karla"/>
              </a:rPr>
              <a:t>10X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43199" y="4965192"/>
            <a:ext cx="329184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26F7B"/>
                </a:solidFill>
                <a:latin typeface="Karla"/>
              </a:rP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4671" y="5404103"/>
            <a:ext cx="2249424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F7B"/>
                </a:solidFill>
                <a:latin typeface="Karla"/>
              </a:rPr>
              <a:t>10xstarkerer, Down Below, Medium, +1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0080" y="6053328"/>
            <a:ext cx="105156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F7B"/>
                </a:solidFill>
                <a:latin typeface="Karla"/>
              </a:rPr>
              <a:t>Each card shows the silo letter, the element count, and a sample of the options.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n=206 respondents.  Top-2 Box model (ratings 4–5): element lifts show movement above or below the model baseline.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WHAT YOU GET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E2D44"/>
                </a:solidFill>
                <a:latin typeface="Karla"/>
              </a:rPr>
              <a:t>What design elements drive pack appeal?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00200"/>
            <a:ext cx="5486400" cy="1920240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85623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4746E"/>
                </a:solidFill>
                <a:latin typeface="Karl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28600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E2D44"/>
                </a:solidFill>
                <a:latin typeface="Karla"/>
              </a:rPr>
              <a:t>Per-element scores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743200"/>
            <a:ext cx="49377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How much each variation moves the appeal rating, on its own, above or below the baseline.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7648" y="1600200"/>
            <a:ext cx="5486400" cy="1920240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185623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4746E"/>
                </a:solidFill>
                <a:latin typeface="Karl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28600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E2D44"/>
                </a:solidFill>
                <a:latin typeface="Karla"/>
              </a:rPr>
              <a:t>Base appeal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2743200"/>
            <a:ext cx="49377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The Top-2 Box intercept. The pack’s starting appeal before a single element is added.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749039"/>
            <a:ext cx="5486400" cy="1920240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40050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4746E"/>
                </a:solidFill>
                <a:latin typeface="Karl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443484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E2D44"/>
                </a:solidFill>
                <a:latin typeface="Karla"/>
              </a:rPr>
              <a:t>Build-up scenarios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892040"/>
            <a:ext cx="49377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The strongest option in each group, shown together, against a weaker combination of the same groups.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3749039"/>
            <a:ext cx="5486400" cy="1920240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40050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4746E"/>
                </a:solidFill>
                <a:latin typeface="Karla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43484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E2D44"/>
                </a:solidFill>
                <a:latin typeface="Karla"/>
              </a:rPr>
              <a:t>Full lift summary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4892040"/>
            <a:ext cx="49377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Every element, in every group, with the same score used in the charts.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n=206 respondents.  Top-2 Box model (ratings 4–5): element lifts show movement above or below the model baseline.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38328" cy="6858000"/>
          </a:xfrm>
          <a:prstGeom prst="rect">
            <a:avLst/>
          </a:prstGeom>
          <a:solidFill>
            <a:srgbClr val="F2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347472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E2D44"/>
                </a:solidFill>
                <a:latin typeface="Karla"/>
              </a:rPr>
              <a:t>Reading The Scores – What The Coefficients Mean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896112"/>
            <a:ext cx="1371600" cy="0"/>
          </a:xfrm>
          <a:prstGeom prst="line">
            <a:avLst/>
          </a:prstGeom>
          <a:ln w="15875">
            <a:solidFill>
              <a:srgbClr val="F2C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536192" y="1188720"/>
            <a:ext cx="292608" cy="292608"/>
          </a:xfrm>
          <a:prstGeom prst="ellipse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Karl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115568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2D44"/>
                </a:solidFill>
                <a:latin typeface="Karla"/>
              </a:rPr>
              <a:t>Element Lift Scores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499616"/>
            <a:ext cx="676656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Element lifts show the estimated movement each design choice creates above or below the model baseline.</a:t>
            </a:r>
          </a:p>
        </p:txBody>
      </p:sp>
      <p:sp>
        <p:nvSpPr>
          <p:cNvPr id="8" name="Oval 7"/>
          <p:cNvSpPr/>
          <p:nvPr/>
        </p:nvSpPr>
        <p:spPr>
          <a:xfrm>
            <a:off x="1527048" y="3657600"/>
            <a:ext cx="292608" cy="292608"/>
          </a:xfrm>
          <a:prstGeom prst="ellipse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Karl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584448"/>
            <a:ext cx="384048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2D44"/>
                </a:solidFill>
                <a:latin typeface="Karla"/>
              </a:rPr>
              <a:t>Explore Combinations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968496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These scores can be combined to explore multiple design scenarios.</a:t>
            </a:r>
          </a:p>
        </p:txBody>
      </p:sp>
      <p:sp>
        <p:nvSpPr>
          <p:cNvPr id="11" name="Oval 10"/>
          <p:cNvSpPr/>
          <p:nvPr/>
        </p:nvSpPr>
        <p:spPr>
          <a:xfrm>
            <a:off x="6757416" y="3657600"/>
            <a:ext cx="292608" cy="292608"/>
          </a:xfrm>
          <a:prstGeom prst="ellipse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Karl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0608" y="3584448"/>
            <a:ext cx="402336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2D44"/>
                </a:solidFill>
                <a:latin typeface="Karla"/>
              </a:rPr>
              <a:t>Reading The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608" y="3968496"/>
            <a:ext cx="402336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Coefficient Interpretation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37360" y="1965960"/>
            <a:ext cx="0" cy="1234440"/>
          </a:xfrm>
          <a:prstGeom prst="line">
            <a:avLst/>
          </a:prstGeom>
          <a:ln w="25400">
            <a:solidFill>
              <a:srgbClr val="27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37360" y="3200400"/>
            <a:ext cx="3803904" cy="0"/>
          </a:xfrm>
          <a:prstGeom prst="line">
            <a:avLst/>
          </a:prstGeom>
          <a:ln w="25400">
            <a:solidFill>
              <a:srgbClr val="27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541264" y="3200400"/>
            <a:ext cx="0" cy="1234440"/>
          </a:xfrm>
          <a:prstGeom prst="line">
            <a:avLst/>
          </a:prstGeom>
          <a:ln w="25400">
            <a:solidFill>
              <a:srgbClr val="27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141464" y="4370832"/>
          <a:ext cx="404164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943"/>
                <a:gridCol w="2203704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D44"/>
                          </a:solidFill>
                          <a:latin typeface="Karla"/>
                        </a:rPr>
                        <a:t>Coefficient Scale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D44"/>
                          </a:solidFill>
                          <a:latin typeface="Karla"/>
                        </a:rPr>
                        <a:t>Interpretation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D44"/>
                          </a:solidFill>
                          <a:latin typeface="Karla"/>
                        </a:rPr>
                        <a:t>+10 or higher</a:t>
                      </a:r>
                    </a:p>
                  </a:txBody>
                  <a:tcPr anchor="ctr" marL="73152" marR="54864" marT="36576" marB="36576">
                    <a:solidFill>
                      <a:srgbClr val="DEF1D3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D44"/>
                          </a:solidFill>
                          <a:latin typeface="Karla"/>
                        </a:rPr>
                        <a:t>Strong lift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D44"/>
                          </a:solidFill>
                          <a:latin typeface="Karla"/>
                        </a:rPr>
                        <a:t>+5 to +9.9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D44"/>
                          </a:solidFill>
                          <a:latin typeface="Karla"/>
                        </a:rPr>
                        <a:t>Moderate lift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D44"/>
                          </a:solidFill>
                          <a:latin typeface="Karla"/>
                        </a:rPr>
                        <a:t>+2 to +4.9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D44"/>
                          </a:solidFill>
                          <a:latin typeface="Karla"/>
                        </a:rPr>
                        <a:t>Small lift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D44"/>
                          </a:solidFill>
                          <a:latin typeface="Karla"/>
                        </a:rPr>
                        <a:t>Below +2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D44"/>
                          </a:solidFill>
                          <a:latin typeface="Karla"/>
                        </a:rPr>
                        <a:t>Minimal / weak lift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n=206 respondents.  Top-2 Box model (ratings 4–5): element lifts show movement above or below the model baseline.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10058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1E2D44"/>
                </a:solidFill>
                <a:latin typeface="Karla"/>
              </a:rPr>
              <a:t>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94760"/>
            <a:ext cx="1280160" cy="5486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E2D44"/>
                </a:solidFill>
                <a:latin typeface="Karla"/>
              </a:rPr>
              <a:t>Where appeal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17086"/>
                </a:solidFill>
                <a:latin typeface="Karla"/>
              </a:rPr>
              <a:t>The strongest movement comes from the silos and elements below. Detail charts for every silo follow.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11064240" cy="987552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640080" cy="9875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4746E"/>
                </a:solidFill>
                <a:latin typeface="Karl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55648"/>
            <a:ext cx="96926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2D44"/>
                </a:solidFill>
                <a:latin typeface="Karla"/>
              </a:rPr>
              <a:t>The model has a clear starting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17086"/>
                </a:solidFill>
                <a:latin typeface="Karla"/>
              </a:rPr>
              <a:t>This Top-2 Box model was fit without an intercept. Each element score is the lift on its 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743200"/>
            <a:ext cx="11064240" cy="987552"/>
          </a:xfrm>
          <a:prstGeom prst="roundRect">
            <a:avLst>
              <a:gd name="adj" fmla="val 8000"/>
            </a:avLst>
          </a:prstGeom>
          <a:solidFill>
            <a:srgbClr val="FF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743200"/>
            <a:ext cx="640080" cy="9875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4746E"/>
                </a:solidFill>
                <a:latin typeface="Karl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52928"/>
            <a:ext cx="96926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2D44"/>
                </a:solidFill>
                <a:latin typeface="Karla"/>
              </a:rPr>
              <a:t>Teal Maximum is the strongest single cue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200400"/>
            <a:ext cx="96926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17086"/>
                </a:solidFill>
                <a:latin typeface="Karla"/>
              </a:rPr>
              <a:t>In Box, Teal Maximum moves appeal by +18. 55 of 55 elements sit above the baseline.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840480"/>
            <a:ext cx="11064240" cy="987552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840480"/>
            <a:ext cx="640080" cy="9875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4746E"/>
                </a:solidFill>
                <a:latin typeface="Karl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950208"/>
            <a:ext cx="96926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2D44"/>
                </a:solidFill>
                <a:latin typeface="Karla"/>
              </a:rPr>
              <a:t>Box is the lead design area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97680"/>
            <a:ext cx="96926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17086"/>
                </a:solidFill>
                <a:latin typeface="Karla"/>
              </a:rPr>
              <a:t>Teal Maximum tops this silo at +18. Box has the widest spread, +15 points from White to Teal Maximum.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937759"/>
            <a:ext cx="11064240" cy="987552"/>
          </a:xfrm>
          <a:prstGeom prst="roundRect">
            <a:avLst>
              <a:gd name="adj" fmla="val 8000"/>
            </a:avLst>
          </a:prstGeom>
          <a:solidFill>
            <a:srgbClr val="FF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937759"/>
            <a:ext cx="640080" cy="9875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4746E"/>
                </a:solidFill>
                <a:latin typeface="Karl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047488"/>
            <a:ext cx="96926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2D44"/>
                </a:solidFill>
                <a:latin typeface="Karla"/>
              </a:rPr>
              <a:t>None is the largest drag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394959"/>
            <a:ext cx="96926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17086"/>
                </a:solidFill>
                <a:latin typeface="Karla"/>
              </a:rPr>
              <a:t>In Box Label, None sits at +2. Negative lifts pull the appeal score below the model baseline.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n=206 respondents.  Top-2 Box model (ratings 4–5): element lifts show movement above or below the model baseline.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MODEL OVERVIEW: BASE APPEAL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E2D44"/>
                </a:solidFill>
                <a:latin typeface="Karla"/>
              </a:rPr>
              <a:t>Base appeal before element lift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17086"/>
                </a:solidFill>
                <a:latin typeface="Karla"/>
              </a:rPr>
              <a:t>Base appeal is this model’s starting Top-2 Box score (ratings 4–5) before individual design elements add or subtract lift.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5760720" cy="4023360"/>
          </a:xfrm>
          <a:prstGeom prst="roundRect">
            <a:avLst>
              <a:gd name="adj" fmla="val 8000"/>
            </a:avLst>
          </a:prstGeom>
          <a:solidFill>
            <a:srgbClr val="F5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4746E"/>
                </a:solidFill>
                <a:latin typeface="Karla"/>
              </a:rPr>
              <a:t>BASE APPEAL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51206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Rexona Box Design Element Study - Germany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20440"/>
            <a:ext cx="51206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1E2D44"/>
                </a:solidFill>
                <a:latin typeface="Karla"/>
              </a:rPr>
              <a:t>No intercept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343400"/>
            <a:ext cx="51206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Element scores are the lift on their 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07492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E2D44"/>
                </a:solidFill>
                <a:latin typeface="Karla"/>
              </a:rPr>
              <a:t>Base size 206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874519"/>
            <a:ext cx="5029200" cy="4023360"/>
          </a:xfrm>
          <a:prstGeom prst="roundRect">
            <a:avLst>
              <a:gd name="adj" fmla="val 8000"/>
            </a:avLst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2148840"/>
            <a:ext cx="4480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AC8D4"/>
                </a:solidFill>
                <a:latin typeface="Karla"/>
              </a:rPr>
              <a:t>HOW TO USE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606040"/>
            <a:ext cx="44348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Karla"/>
              </a:rPr>
              <a:t>Each element chart is movement around this number, not a new total by itself.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703320"/>
            <a:ext cx="44348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Karla"/>
              </a:rPr>
              <a:t>A build-up adds the baseline and one lift from each silo. That sum is a model scenario. It is not capped at 0 or 100.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n=206 respondents.  Top-2 Box model (ratings 4–5): element lifts show movement above or below the model baseline.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E8C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9184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A44"/>
                </a:solidFill>
                <a:latin typeface="Karla"/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21792"/>
            <a:ext cx="6126480" cy="1051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2A44"/>
                </a:solidFill>
                <a:latin typeface="Karla"/>
              </a:rPr>
              <a:t>Appeal moves most clearly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2A44"/>
                </a:solidFill>
                <a:latin typeface="Karla"/>
              </a:rPr>
              <a:t>in four design areas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78040" y="566928"/>
            <a:ext cx="4434840" cy="1115568"/>
          </a:xfrm>
          <a:prstGeom prst="roundRect">
            <a:avLst>
              <a:gd name="adj" fmla="val 10000"/>
            </a:avLst>
          </a:prstGeom>
          <a:solidFill>
            <a:srgbClr val="F7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88352" y="713232"/>
            <a:ext cx="4041648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A44"/>
                </a:solidFill>
                <a:latin typeface="Karla"/>
              </a:rPr>
              <a:t>These are the silos where one element, or the gap inside the silo, moves appeal the most.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65960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5748B"/>
                </a:solidFill>
                <a:latin typeface="Karla"/>
              </a:rPr>
              <a:t>ROADMAP FOR THE READ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267712"/>
            <a:ext cx="267004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37744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596896"/>
            <a:ext cx="2340864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2A44"/>
                </a:solidFill>
                <a:latin typeface="Karla"/>
              </a:rPr>
              <a:t>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145536"/>
            <a:ext cx="2340864" cy="12984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48B"/>
                </a:solidFill>
                <a:latin typeface="Karla"/>
              </a:rPr>
              <a:t>Teal Maximum leads at +18.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48B"/>
                </a:solidFill>
                <a:latin typeface="Karla"/>
              </a:rPr>
              <a:t>Low end is White.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9584" y="2267712"/>
            <a:ext cx="267004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4176" y="237744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4176" y="2596896"/>
            <a:ext cx="2340864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2A44"/>
                </a:solidFill>
                <a:latin typeface="Karla"/>
              </a:rPr>
              <a:t>Word Options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4176" y="3145536"/>
            <a:ext cx="2340864" cy="12984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48B"/>
                </a:solidFill>
                <a:latin typeface="Karla"/>
              </a:rPr>
              <a:t>Maximum Large Side leads at +17.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48B"/>
                </a:solidFill>
                <a:latin typeface="Karla"/>
              </a:rPr>
              <a:t>Low end is Clinical Small.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45936" y="2267712"/>
            <a:ext cx="267004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237744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596896"/>
            <a:ext cx="2340864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2A44"/>
                </a:solidFill>
                <a:latin typeface="Karla"/>
              </a:rPr>
              <a:t>Box Label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145536"/>
            <a:ext cx="2340864" cy="12984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48B"/>
                </a:solidFill>
                <a:latin typeface="Karla"/>
              </a:rPr>
              <a:t>Full Pink leads at +12.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48B"/>
                </a:solidFill>
                <a:latin typeface="Karla"/>
              </a:rPr>
              <a:t>Low end is None.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62288" y="2267712"/>
            <a:ext cx="267004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37744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596896"/>
            <a:ext cx="2340864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2A44"/>
                </a:solidFill>
                <a:latin typeface="Karla"/>
              </a:rPr>
              <a:t>Tick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145536"/>
            <a:ext cx="2340864" cy="12984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48B"/>
                </a:solidFill>
                <a:latin typeface="Karla"/>
              </a:rPr>
              <a:t>Holographic leads at +11.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48B"/>
                </a:solidFill>
                <a:latin typeface="Karla"/>
              </a:rPr>
              <a:t>Low end is Glossy.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5020055"/>
            <a:ext cx="11119104" cy="713232"/>
          </a:xfrm>
          <a:prstGeom prst="roundRect">
            <a:avLst>
              <a:gd name="adj" fmla="val 8000"/>
            </a:avLst>
          </a:prstGeom>
          <a:solidFill>
            <a:srgbClr val="F7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020055"/>
            <a:ext cx="11119104" cy="7132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A44"/>
                </a:solidFill>
                <a:latin typeface="Karla"/>
              </a:rPr>
              <a:t>The clearest appeal movement is concentrated in Box, Word Options, Box Label, and Tick.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n=206 respondents.  Top-2 Box model (ratings 4–5): element lifts show movement above or below the model baseline.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7043927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BOX   ·  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04392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Box splits across the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043927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17086"/>
                </a:solidFill>
                <a:latin typeface="Karla"/>
              </a:rPr>
              <a:t>Etwas verwirrend favors Teal Clinical; Größtenteils leicht verständlich favors Teal Maximum; Sehr leicht verständlich favors Silver Maximum; Sehr verwirrend favors Silver.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7043927" cy="256032"/>
          </a:xfrm>
          <a:prstGeom prst="rect">
            <a:avLst/>
          </a:prstGeom>
          <a:solidFill>
            <a:srgbClr val="F7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D44"/>
                </a:solidFill>
                <a:latin typeface="Karla"/>
              </a:rPr>
              <a:t>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20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3379469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86861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91811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9203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4153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11545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16495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3887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67128" y="1645920"/>
            <a:ext cx="10972" cy="3090672"/>
          </a:xfrm>
          <a:prstGeom prst="rect">
            <a:avLst/>
          </a:prstGeom>
          <a:solidFill>
            <a:srgbClr val="C5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67128" y="4736592"/>
            <a:ext cx="4849367" cy="10972"/>
          </a:xfrm>
          <a:prstGeom prst="rect">
            <a:avLst/>
          </a:prstGeom>
          <a:solidFill>
            <a:srgbClr val="C5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805940"/>
            <a:ext cx="1554480" cy="45262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Teal Clinical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67128" y="1805940"/>
            <a:ext cx="3030854" cy="82296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2846" y="1805940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67128" y="1929384"/>
            <a:ext cx="1091107" cy="8229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13099" y="1929384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67128" y="2052828"/>
            <a:ext cx="1818512" cy="8229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40504" y="2052828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67128" y="2176272"/>
            <a:ext cx="2424683" cy="82296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6675" y="2176272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2578608"/>
            <a:ext cx="1554480" cy="45262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Silver Maximum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7128" y="2578608"/>
            <a:ext cx="2788386" cy="82296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10378" y="2578608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67128" y="2702052"/>
            <a:ext cx="606170" cy="8229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28162" y="2702052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67128" y="2825496"/>
            <a:ext cx="2667152" cy="8229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89144" y="2825496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+22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67128" y="2948939"/>
            <a:ext cx="242468" cy="82296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64460" y="2948939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3351276"/>
            <a:ext cx="1554480" cy="45262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Silver Clinical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67128" y="3351276"/>
            <a:ext cx="2303449" cy="82296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5441" y="3351276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+19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67128" y="3474720"/>
            <a:ext cx="969873" cy="8229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91865" y="3474720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67128" y="3598164"/>
            <a:ext cx="2545918" cy="8229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67910" y="3598164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+21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67128" y="3721608"/>
            <a:ext cx="1454810" cy="82296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76802" y="3721608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4123944"/>
            <a:ext cx="1554480" cy="45262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Silver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67128" y="4123944"/>
            <a:ext cx="1091107" cy="82296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13099" y="4123944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67128" y="4247388"/>
            <a:ext cx="1091107" cy="8229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13099" y="4247388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67128" y="4370831"/>
            <a:ext cx="1818512" cy="8229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40504" y="4370831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+15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67128" y="4494276"/>
            <a:ext cx="2424683" cy="82296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46675" y="4494276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+20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53743" y="5161788"/>
            <a:ext cx="100584" cy="10058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427479" y="5102352"/>
            <a:ext cx="227584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Etwas verwirrend (basesize = 29)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59351" y="5161788"/>
            <a:ext cx="100584" cy="1005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33087" y="5102352"/>
            <a:ext cx="341376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Größtenteils leicht verständlich (basesize = 66)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65299" y="5381244"/>
            <a:ext cx="100584" cy="10058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939035" y="5321808"/>
            <a:ext cx="291592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Sehr leicht verständlich (basesize = 100)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10987" y="5381244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84723" y="5321808"/>
            <a:ext cx="213360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Sehr verwirrend (basesize = 7)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29727" y="237744"/>
            <a:ext cx="4041648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130115" y="425196"/>
            <a:ext cx="1320631" cy="18562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831" y="438912"/>
            <a:ext cx="1293199" cy="1828799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7912607" y="2322575"/>
            <a:ext cx="175564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Teal Clinical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12607" y="2542031"/>
            <a:ext cx="175564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+17*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050355" y="425196"/>
            <a:ext cx="1320631" cy="18562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4071" y="438912"/>
            <a:ext cx="1293199" cy="1828799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9832847" y="2322575"/>
            <a:ext cx="175564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Silver Maximum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32847" y="2542031"/>
            <a:ext cx="175564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+13*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130115" y="2985515"/>
            <a:ext cx="1320631" cy="18562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A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831" y="2999232"/>
            <a:ext cx="1293199" cy="1828799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7912607" y="4882895"/>
            <a:ext cx="175564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Silver Clinical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12607" y="5102351"/>
            <a:ext cx="175564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+15*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050355" y="2985515"/>
            <a:ext cx="1320631" cy="18562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A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4071" y="2999232"/>
            <a:ext cx="1293199" cy="1828799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9832847" y="4882895"/>
            <a:ext cx="175564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Silver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832847" y="5102351"/>
            <a:ext cx="175564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+13*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02920" y="5632704"/>
            <a:ext cx="11268455" cy="676656"/>
          </a:xfrm>
          <a:prstGeom prst="roundRect">
            <a:avLst>
              <a:gd name="adj" fmla="val 12000"/>
            </a:avLst>
          </a:prstGeom>
          <a:solidFill>
            <a:srgbClr val="FB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D44"/>
                </a:solidFill>
                <a:latin typeface="Karla"/>
              </a:rPr>
              <a:t>Etwas verwirrend favors Teal Clinical; Größtenteils leicht verständlich favors Teal Maximum; Sehr leicht verständlich favors Silver Maximum; Sehr verwirrend favors Silver. The widest segment gap is Silver Maximum: +23 etwas verwirrend / +5 größtenteils leicht verständlich / +22 sehr leicht verständlich / +2 sehr verwirrend.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Top-2 scores rounded to whole points. *Average of the groups in the legend.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7043927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BOX   ·  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04392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Box splits across the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043927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17086"/>
                </a:solidFill>
                <a:latin typeface="Karla"/>
              </a:rPr>
              <a:t>Etwas verwirrend favors Teal Clinical; Größtenteils leicht verständlich favors Teal Maximum; Sehr leicht verständlich favors Silver Maximum; Sehr verwirrend favors Silver.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7043927" cy="256032"/>
          </a:xfrm>
          <a:prstGeom prst="rect">
            <a:avLst/>
          </a:prstGeom>
          <a:solidFill>
            <a:srgbClr val="F7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D44"/>
                </a:solidFill>
                <a:latin typeface="Karla"/>
              </a:rPr>
              <a:t>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20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3379469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86861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91811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9203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4153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11545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16495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3887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67128" y="1645920"/>
            <a:ext cx="10972" cy="3090672"/>
          </a:xfrm>
          <a:prstGeom prst="rect">
            <a:avLst/>
          </a:prstGeom>
          <a:solidFill>
            <a:srgbClr val="C5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67128" y="4736592"/>
            <a:ext cx="4849367" cy="10972"/>
          </a:xfrm>
          <a:prstGeom prst="rect">
            <a:avLst/>
          </a:prstGeom>
          <a:solidFill>
            <a:srgbClr val="C5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872569"/>
            <a:ext cx="1554480" cy="57692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Teal Maximum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67128" y="1872569"/>
            <a:ext cx="4849367" cy="11337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71359" y="1872569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67128" y="2027087"/>
            <a:ext cx="4121962" cy="113370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3954" y="2027087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+17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67128" y="2181606"/>
            <a:ext cx="4606899" cy="11337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28891" y="2181606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+19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67128" y="2336124"/>
            <a:ext cx="1697278" cy="11337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19270" y="2336124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2902793"/>
            <a:ext cx="1554480" cy="57692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Teal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7128" y="2902793"/>
            <a:ext cx="3879494" cy="11337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01486" y="2902793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+16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67128" y="3057311"/>
            <a:ext cx="969873" cy="113370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91865" y="3057311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67128" y="3211830"/>
            <a:ext cx="3152089" cy="11337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74081" y="3211830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+13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67128" y="3366348"/>
            <a:ext cx="2667152" cy="11337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89144" y="3366348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3933017"/>
            <a:ext cx="1554480" cy="57692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White Clinical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67128" y="3933017"/>
            <a:ext cx="1454810" cy="11337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76802" y="3933017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67128" y="4087535"/>
            <a:ext cx="2424683" cy="113370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46675" y="4087535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+10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67128" y="4242054"/>
            <a:ext cx="1454810" cy="11337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76802" y="4242054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67128" y="4396572"/>
            <a:ext cx="1697278" cy="11337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19270" y="4396572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53743" y="5161788"/>
            <a:ext cx="100584" cy="10058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427479" y="5102352"/>
            <a:ext cx="227584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Etwas verwirrend (basesize = 29)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59351" y="5161788"/>
            <a:ext cx="100584" cy="1005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33087" y="5102352"/>
            <a:ext cx="341376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Größtenteils leicht verständlich (basesize = 66)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765299" y="5381244"/>
            <a:ext cx="100584" cy="10058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39035" y="5321808"/>
            <a:ext cx="291592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Sehr leicht verständlich (basesize = 100)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10987" y="5381244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84723" y="5321808"/>
            <a:ext cx="213360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Sehr verwirrend (basesize = 7)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29727" y="237744"/>
            <a:ext cx="4041648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391982" y="425196"/>
            <a:ext cx="717138" cy="100279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5698" y="438912"/>
            <a:ext cx="689706" cy="97535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912607" y="1469135"/>
            <a:ext cx="367588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Teal Maximum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12607" y="1688591"/>
            <a:ext cx="367588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+16*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91982" y="2132075"/>
            <a:ext cx="717138" cy="100279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5698" y="2145791"/>
            <a:ext cx="689706" cy="975359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912607" y="3176015"/>
            <a:ext cx="367588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Teal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12607" y="3395471"/>
            <a:ext cx="367588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+11*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91982" y="3838956"/>
            <a:ext cx="717138" cy="100279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5698" y="3852671"/>
            <a:ext cx="689706" cy="975359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7912607" y="4882895"/>
            <a:ext cx="367588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White Clinical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12607" y="5102351"/>
            <a:ext cx="367588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+7*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2920" y="5632704"/>
            <a:ext cx="11268455" cy="676656"/>
          </a:xfrm>
          <a:prstGeom prst="roundRect">
            <a:avLst>
              <a:gd name="adj" fmla="val 12000"/>
            </a:avLst>
          </a:prstGeom>
          <a:solidFill>
            <a:srgbClr val="FB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D44"/>
                </a:solidFill>
                <a:latin typeface="Karla"/>
              </a:rPr>
              <a:t>Etwas verwirrend favors Teal Clinical; Größtenteils leicht verständlich favors Teal Maximum; Sehr leicht verständlich favors Silver Maximum; Sehr verwirrend favors Silver. The widest segment gap is Silver Maximum: +23 etwas verwirrend / +5 größtenteils leicht verständlich / +22 sehr leicht verständlich / +2 sehr verwirrend.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Top-2 scores rounded to whole points. *Average of the groups in the legend.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7043927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BOX   ·  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04392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Box splits across the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043927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17086"/>
                </a:solidFill>
                <a:latin typeface="Karla"/>
              </a:rPr>
              <a:t>Etwas verwirrend favors Teal Clinical; Größtenteils leicht verständlich favors Teal Maximum; Sehr leicht verständlich favors Silver Maximum; Sehr verwirrend favors Silver.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7043927" cy="256032"/>
          </a:xfrm>
          <a:prstGeom prst="rect">
            <a:avLst/>
          </a:prstGeom>
          <a:solidFill>
            <a:srgbClr val="F7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D44"/>
                </a:solidFill>
                <a:latin typeface="Karla"/>
              </a:rPr>
              <a:t>BOX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7128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74520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-5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90975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39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07431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16495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3887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83583" y="1645920"/>
            <a:ext cx="10972" cy="3090672"/>
          </a:xfrm>
          <a:prstGeom prst="rect">
            <a:avLst/>
          </a:prstGeom>
          <a:solidFill>
            <a:srgbClr val="C5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67128" y="4736592"/>
            <a:ext cx="4849367" cy="10972"/>
          </a:xfrm>
          <a:prstGeom prst="rect">
            <a:avLst/>
          </a:prstGeom>
          <a:solidFill>
            <a:srgbClr val="C5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045969"/>
            <a:ext cx="1554480" cy="74523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White Maximum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83583" y="2045969"/>
            <a:ext cx="3232911" cy="15544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1359" y="2045969"/>
            <a:ext cx="457200" cy="15544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332"/>
                </a:solidFill>
                <a:latin typeface="Karla"/>
              </a:rPr>
              <a:t>+10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83583" y="2242565"/>
            <a:ext cx="3232911" cy="155448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71359" y="2242565"/>
            <a:ext cx="457200" cy="15544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+10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83583" y="2439162"/>
            <a:ext cx="3232911" cy="15544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71359" y="2439162"/>
            <a:ext cx="457200" cy="15544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5C26"/>
                </a:solidFill>
                <a:latin typeface="Karla"/>
              </a:rPr>
              <a:t>+10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83583" y="2635758"/>
            <a:ext cx="1616455" cy="15544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54903" y="2635758"/>
            <a:ext cx="457200" cy="15544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E89"/>
                </a:solidFill>
                <a:latin typeface="Karla"/>
              </a:rPr>
              <a:t>+5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591306"/>
            <a:ext cx="1554480" cy="74523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White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83583" y="3591306"/>
            <a:ext cx="646582" cy="15544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5030" y="3591306"/>
            <a:ext cx="457200" cy="15544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332"/>
                </a:solidFill>
                <a:latin typeface="Karla"/>
              </a:rPr>
              <a:t>+2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83583" y="3787902"/>
            <a:ext cx="646582" cy="155448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5030" y="3787902"/>
            <a:ext cx="457200" cy="15544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+2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83583" y="3984498"/>
            <a:ext cx="1293164" cy="15544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31612" y="3984498"/>
            <a:ext cx="457200" cy="15544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5C26"/>
                </a:solidFill>
                <a:latin typeface="Karla"/>
              </a:rPr>
              <a:t>+4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37001" y="4181094"/>
            <a:ext cx="646582" cy="15544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24937" y="4181094"/>
            <a:ext cx="457200" cy="15544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E89"/>
                </a:solidFill>
                <a:latin typeface="Karla"/>
              </a:rPr>
              <a:t>-2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53743" y="5161788"/>
            <a:ext cx="100584" cy="10058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27479" y="5102352"/>
            <a:ext cx="227584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Etwas verwirrend (basesize = 29)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59351" y="5161788"/>
            <a:ext cx="100584" cy="1005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33087" y="5102352"/>
            <a:ext cx="341376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Größtenteils leicht verständlich (basesize = 66)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65299" y="5381244"/>
            <a:ext cx="100584" cy="10058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39035" y="5321808"/>
            <a:ext cx="291592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Sehr leicht verständlich (basesize = 100)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10987" y="5381244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84723" y="5321808"/>
            <a:ext cx="213360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Sehr verwirrend (basesize = 7)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29727" y="237744"/>
            <a:ext cx="4041648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935467" y="1430091"/>
            <a:ext cx="1709927" cy="240676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9183" y="1443807"/>
            <a:ext cx="1682495" cy="237932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912607" y="3878000"/>
            <a:ext cx="175564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White Maximum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12607" y="4097456"/>
            <a:ext cx="175564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+9*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55707" y="1430091"/>
            <a:ext cx="1709927" cy="240676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9423" y="1443807"/>
            <a:ext cx="1682495" cy="237932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832847" y="3878000"/>
            <a:ext cx="175564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White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32847" y="4097456"/>
            <a:ext cx="175564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+2*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" y="5632704"/>
            <a:ext cx="11268455" cy="676656"/>
          </a:xfrm>
          <a:prstGeom prst="roundRect">
            <a:avLst>
              <a:gd name="adj" fmla="val 12000"/>
            </a:avLst>
          </a:prstGeom>
          <a:solidFill>
            <a:srgbClr val="FB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D44"/>
                </a:solidFill>
                <a:latin typeface="Karla"/>
              </a:rPr>
              <a:t>Etwas verwirrend favors Teal Clinical; Größtenteils leicht verständlich favors Teal Maximum; Sehr leicht verständlich favors Silver Maximum; Sehr verwirrend favors Silver. The widest segment gap is Silver Maximum: +23 etwas verwirrend / +5 größtenteils leicht verständlich / +22 sehr leicht verständlich / +2 sehr verwirrend.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Top-2 scores rounded to whole points. *Average of the groups in the legend.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7043927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STRIPES   ·  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04392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Stripes splits across the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043927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17086"/>
                </a:solidFill>
                <a:latin typeface="Karla"/>
              </a:rPr>
              <a:t>Etwas verwirrend favors Small Medium; Größtenteils leicht verständlich favors Small Bottom; Sehr leicht verständlich favors Large; Sehr verwirrend favors Large.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7043927" cy="256032"/>
          </a:xfrm>
          <a:prstGeom prst="rect">
            <a:avLst/>
          </a:prstGeom>
          <a:solidFill>
            <a:srgbClr val="F7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D44"/>
                </a:solidFill>
                <a:latin typeface="Karla"/>
              </a:rPr>
              <a:t>STRIPES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20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3379469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86861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91811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9203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4153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11545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16495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3887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67128" y="1645920"/>
            <a:ext cx="10972" cy="3090672"/>
          </a:xfrm>
          <a:prstGeom prst="rect">
            <a:avLst/>
          </a:prstGeom>
          <a:solidFill>
            <a:srgbClr val="C5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67128" y="4736592"/>
            <a:ext cx="4849367" cy="10972"/>
          </a:xfrm>
          <a:prstGeom prst="rect">
            <a:avLst/>
          </a:prstGeom>
          <a:solidFill>
            <a:srgbClr val="C5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805940"/>
            <a:ext cx="1554480" cy="45262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Large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67128" y="1805940"/>
            <a:ext cx="1454810" cy="82296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76802" y="1805940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67128" y="1929384"/>
            <a:ext cx="1212341" cy="8229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34333" y="1929384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67128" y="2052828"/>
            <a:ext cx="2424683" cy="8229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6675" y="2052828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67128" y="2176272"/>
            <a:ext cx="4364430" cy="82296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6422" y="2176272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2578608"/>
            <a:ext cx="1554480" cy="45262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Small Large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7128" y="2578608"/>
            <a:ext cx="1454810" cy="82296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6802" y="2578608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67128" y="2702052"/>
            <a:ext cx="727405" cy="8229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49397" y="2702052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67128" y="2825496"/>
            <a:ext cx="1454810" cy="8229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76802" y="2825496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67128" y="2948939"/>
            <a:ext cx="4364430" cy="82296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6422" y="2948939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3351276"/>
            <a:ext cx="1554480" cy="45262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Small Medium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67128" y="3351276"/>
            <a:ext cx="3394557" cy="82296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16549" y="3351276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+14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67128" y="3474720"/>
            <a:ext cx="1212341" cy="8229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34333" y="3474720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67128" y="3598164"/>
            <a:ext cx="1939747" cy="8229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61739" y="3598164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67128" y="3721608"/>
            <a:ext cx="4121962" cy="82296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43954" y="3721608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+17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4123944"/>
            <a:ext cx="1554480" cy="45262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Small Bottom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67128" y="4123944"/>
            <a:ext cx="1212341" cy="82296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34333" y="4123944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67128" y="4247388"/>
            <a:ext cx="1454810" cy="8229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76802" y="4247388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67128" y="4370831"/>
            <a:ext cx="1697278" cy="8229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19270" y="4370831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67128" y="4494276"/>
            <a:ext cx="3637025" cy="82296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59017" y="4494276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+15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53743" y="5161788"/>
            <a:ext cx="100584" cy="10058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427479" y="5102352"/>
            <a:ext cx="227584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Etwas verwirrend (basesize = 29)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59351" y="5161788"/>
            <a:ext cx="100584" cy="1005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33087" y="5102352"/>
            <a:ext cx="341376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Größtenteils leicht verständlich (basesize = 66)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65299" y="5381244"/>
            <a:ext cx="100584" cy="10058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939035" y="5321808"/>
            <a:ext cx="291592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Sehr leicht verständlich (basesize = 100)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10987" y="5381244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84723" y="5321808"/>
            <a:ext cx="213360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Sehr verwirrend (basesize = 7)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29727" y="237744"/>
            <a:ext cx="4041648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935467" y="1274152"/>
            <a:ext cx="1709927" cy="15831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9183" y="1287868"/>
            <a:ext cx="1682495" cy="130887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7912607" y="2322575"/>
            <a:ext cx="175564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Large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12607" y="2542031"/>
            <a:ext cx="175564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+10*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096694" y="425196"/>
            <a:ext cx="1227953" cy="18562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0410" y="438912"/>
            <a:ext cx="1200521" cy="1828799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9832847" y="2322575"/>
            <a:ext cx="175564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Small Large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32847" y="2542031"/>
            <a:ext cx="175564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+8*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176454" y="2985515"/>
            <a:ext cx="1227953" cy="18562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0170" y="2999232"/>
            <a:ext cx="1200521" cy="1828799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7912607" y="4882895"/>
            <a:ext cx="175564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Small Medium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12607" y="5102351"/>
            <a:ext cx="175564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+11*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096694" y="2985515"/>
            <a:ext cx="1227953" cy="18562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B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0410" y="2999232"/>
            <a:ext cx="1200521" cy="1828799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9832847" y="4882895"/>
            <a:ext cx="175564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Small Bottom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832847" y="5102351"/>
            <a:ext cx="175564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+8*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02920" y="5632704"/>
            <a:ext cx="11268455" cy="676656"/>
          </a:xfrm>
          <a:prstGeom prst="roundRect">
            <a:avLst>
              <a:gd name="adj" fmla="val 12000"/>
            </a:avLst>
          </a:prstGeom>
          <a:solidFill>
            <a:srgbClr val="FB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D44"/>
                </a:solidFill>
                <a:latin typeface="Karla"/>
              </a:rPr>
              <a:t>Etwas verwirrend favors Small Medium; Größtenteils leicht verständlich favors Small Bottom; Sehr leicht verständlich favors Large; Sehr verwirrend favors Large. The widest segment gap is Small Large: +6 etwas verwirrend / +3 größtenteils leicht verständlich / +6 sehr leicht verständlich / +18 sehr verwirrend.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Top-2 scores rounded to whole points. *Average of the groups in the legend.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7043927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STRIPES   ·  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04392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Stripes splits across the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043927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17086"/>
                </a:solidFill>
                <a:latin typeface="Karla"/>
              </a:rPr>
              <a:t>Etwas verwirrend favors Small Medium; Größtenteils leicht verständlich favors Small Bottom; Sehr leicht verständlich favors Large; Sehr verwirrend favors Large.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7043927" cy="256032"/>
          </a:xfrm>
          <a:prstGeom prst="rect">
            <a:avLst/>
          </a:prstGeom>
          <a:solidFill>
            <a:srgbClr val="F7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D44"/>
                </a:solidFill>
                <a:latin typeface="Karla"/>
              </a:rPr>
              <a:t>STRIPES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20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3783583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90975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39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07431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16495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3887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67128" y="1645920"/>
            <a:ext cx="10972" cy="3090672"/>
          </a:xfrm>
          <a:prstGeom prst="rect">
            <a:avLst/>
          </a:prstGeom>
          <a:solidFill>
            <a:srgbClr val="C5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67128" y="4736592"/>
            <a:ext cx="4849367" cy="10972"/>
          </a:xfrm>
          <a:prstGeom prst="rect">
            <a:avLst/>
          </a:prstGeom>
          <a:solidFill>
            <a:srgbClr val="C5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045969"/>
            <a:ext cx="1554480" cy="74523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Medium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67128" y="2045969"/>
            <a:ext cx="969873" cy="15544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91865" y="2045969"/>
            <a:ext cx="457200" cy="15544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332"/>
                </a:solidFill>
                <a:latin typeface="Karla"/>
              </a:rPr>
              <a:t>+3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67128" y="2242565"/>
            <a:ext cx="969873" cy="155448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91865" y="2242565"/>
            <a:ext cx="457200" cy="15544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+3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67128" y="2439162"/>
            <a:ext cx="2909620" cy="15544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1612" y="2439162"/>
            <a:ext cx="457200" cy="15544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5C26"/>
                </a:solidFill>
                <a:latin typeface="Karla"/>
              </a:rPr>
              <a:t>+9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67128" y="2635758"/>
            <a:ext cx="3879494" cy="15544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01486" y="2635758"/>
            <a:ext cx="457200" cy="15544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E89"/>
                </a:solidFill>
                <a:latin typeface="Karla"/>
              </a:rPr>
              <a:t>+12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591306"/>
            <a:ext cx="1554480" cy="74523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Small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67128" y="3591306"/>
            <a:ext cx="646582" cy="15544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68574" y="3591306"/>
            <a:ext cx="457200" cy="15544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332"/>
                </a:solidFill>
                <a:latin typeface="Karla"/>
              </a:rPr>
              <a:t>+2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7128" y="3787902"/>
            <a:ext cx="1616455" cy="155448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38447" y="3787902"/>
            <a:ext cx="457200" cy="15544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+5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67128" y="3984498"/>
            <a:ext cx="2263038" cy="15544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5030" y="3984498"/>
            <a:ext cx="457200" cy="15544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5C26"/>
                </a:solidFill>
                <a:latin typeface="Karla"/>
              </a:rPr>
              <a:t>+7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67128" y="4181094"/>
            <a:ext cx="646582" cy="15544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68574" y="4181094"/>
            <a:ext cx="457200" cy="15544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E89"/>
                </a:solidFill>
                <a:latin typeface="Karla"/>
              </a:rPr>
              <a:t>+2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53743" y="5161788"/>
            <a:ext cx="100584" cy="10058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27479" y="5102352"/>
            <a:ext cx="227584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Etwas verwirrend (basesize = 29)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59351" y="5161788"/>
            <a:ext cx="100584" cy="1005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33087" y="5102352"/>
            <a:ext cx="341376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Größtenteils leicht verständlich (basesize = 66)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65299" y="5381244"/>
            <a:ext cx="100584" cy="10058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39035" y="5321808"/>
            <a:ext cx="291592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Sehr leicht verständlich (basesize = 100)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10987" y="5381244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84723" y="5321808"/>
            <a:ext cx="213360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Sehr verwirrend (basesize = 7)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29727" y="237744"/>
            <a:ext cx="4041648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935467" y="2565021"/>
            <a:ext cx="1709927" cy="1369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9183" y="2578737"/>
            <a:ext cx="1682495" cy="10946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912607" y="2743070"/>
            <a:ext cx="175564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Medium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12607" y="2962526"/>
            <a:ext cx="175564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+7*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55707" y="2578110"/>
            <a:ext cx="1709927" cy="11072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9423" y="2591826"/>
            <a:ext cx="1682495" cy="83291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832847" y="2743070"/>
            <a:ext cx="175564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Small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32847" y="2962526"/>
            <a:ext cx="175564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+4*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" y="5632704"/>
            <a:ext cx="11268455" cy="676656"/>
          </a:xfrm>
          <a:prstGeom prst="roundRect">
            <a:avLst>
              <a:gd name="adj" fmla="val 12000"/>
            </a:avLst>
          </a:prstGeom>
          <a:solidFill>
            <a:srgbClr val="FB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D44"/>
                </a:solidFill>
                <a:latin typeface="Karla"/>
              </a:rPr>
              <a:t>Etwas verwirrend favors Small Medium; Größtenteils leicht verständlich favors Small Bottom; Sehr leicht verständlich favors Large; Sehr verwirrend favors Large. The widest segment gap is Small Large: +6 etwas verwirrend / +3 größtenteils leicht verständlich / +6 sehr leicht verständlich / +18 sehr verwirrend.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Top-2 scores rounded to whole points. *Average of the groups in the legend.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7043927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BOX LABEL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04392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Full Pink leads in every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043927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17086"/>
                </a:solidFill>
                <a:latin typeface="Karla"/>
              </a:rPr>
              <a:t>Full Pink leads every group; None ranks last.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33856"/>
            <a:ext cx="7043927" cy="256032"/>
          </a:xfrm>
          <a:prstGeom prst="rect">
            <a:avLst/>
          </a:prstGeom>
          <a:solidFill>
            <a:srgbClr val="F7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D44"/>
                </a:solidFill>
                <a:latin typeface="Karla"/>
              </a:rPr>
              <a:t>BOX LABEL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7128" y="1444752"/>
            <a:ext cx="9144" cy="3291839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74520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-20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90975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39" y="1444752"/>
            <a:ext cx="9144" cy="3291839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07431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16495" y="1444752"/>
            <a:ext cx="9144" cy="3291839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3887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40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83583" y="1444752"/>
            <a:ext cx="10972" cy="3291839"/>
          </a:xfrm>
          <a:prstGeom prst="rect">
            <a:avLst/>
          </a:prstGeom>
          <a:solidFill>
            <a:srgbClr val="C5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67128" y="4736592"/>
            <a:ext cx="4849367" cy="10972"/>
          </a:xfrm>
          <a:prstGeom prst="rect">
            <a:avLst/>
          </a:prstGeom>
          <a:solidFill>
            <a:srgbClr val="C5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686153"/>
            <a:ext cx="1554480" cy="61447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Full Pink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83583" y="1686153"/>
            <a:ext cx="727405" cy="12275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5853" y="1686153"/>
            <a:ext cx="457200" cy="12275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83583" y="1850059"/>
            <a:ext cx="565759" cy="122758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4207" y="1850059"/>
            <a:ext cx="457200" cy="12275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83583" y="2013965"/>
            <a:ext cx="1212341" cy="12275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50789" y="2013965"/>
            <a:ext cx="457200" cy="12275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83583" y="2177872"/>
            <a:ext cx="2424683" cy="12275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131" y="2177872"/>
            <a:ext cx="457200" cy="12275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783433"/>
            <a:ext cx="1554480" cy="61447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Silver Small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Pink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83583" y="2783433"/>
            <a:ext cx="484936" cy="12275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23384" y="2783433"/>
            <a:ext cx="457200" cy="12275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83583" y="2947339"/>
            <a:ext cx="323291" cy="122758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1739" y="2947339"/>
            <a:ext cx="457200" cy="12275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83583" y="3111245"/>
            <a:ext cx="484936" cy="12275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23384" y="3111245"/>
            <a:ext cx="457200" cy="12275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83583" y="3275152"/>
            <a:ext cx="889050" cy="12275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27498" y="3275152"/>
            <a:ext cx="457200" cy="12275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3880713"/>
            <a:ext cx="1554480" cy="61447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None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41115" y="3880713"/>
            <a:ext cx="242468" cy="12275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29051" y="3880713"/>
            <a:ext cx="457200" cy="12275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-3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83583" y="4044619"/>
            <a:ext cx="80822" cy="122758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19270" y="4044619"/>
            <a:ext cx="457200" cy="12275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83583" y="4208526"/>
            <a:ext cx="242468" cy="12275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80916" y="4208526"/>
            <a:ext cx="457200" cy="12275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83583" y="4372432"/>
            <a:ext cx="646582" cy="12275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5030" y="4372432"/>
            <a:ext cx="457200" cy="12275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53743" y="5161788"/>
            <a:ext cx="100584" cy="10058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27479" y="5102352"/>
            <a:ext cx="227584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Etwas verwirrend (basesize = 29)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59351" y="5161788"/>
            <a:ext cx="100584" cy="1005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33087" y="5102352"/>
            <a:ext cx="341376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Größtenteils leicht verständlich (basesize = 66)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65299" y="5381244"/>
            <a:ext cx="100584" cy="10058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39035" y="5321808"/>
            <a:ext cx="291592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Sehr leicht verständlich (basesize = 100)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10987" y="5381244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84723" y="5321808"/>
            <a:ext cx="213360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Sehr verwirrend (basesize = 7)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29727" y="237744"/>
            <a:ext cx="4041648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391982" y="425196"/>
            <a:ext cx="717138" cy="100279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5698" y="438912"/>
            <a:ext cx="689706" cy="975359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912607" y="1469135"/>
            <a:ext cx="367588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Full Pink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12607" y="1688591"/>
            <a:ext cx="367588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+15*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91982" y="2132075"/>
            <a:ext cx="717138" cy="100279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5698" y="2145791"/>
            <a:ext cx="689706" cy="97535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912607" y="3176015"/>
            <a:ext cx="367588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Silver Small Pink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12607" y="3395471"/>
            <a:ext cx="367588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+7*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91982" y="3838956"/>
            <a:ext cx="717138" cy="100279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5698" y="3852671"/>
            <a:ext cx="689706" cy="975359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7912607" y="4882895"/>
            <a:ext cx="367588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None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12607" y="5102351"/>
            <a:ext cx="367588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+2*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02920" y="5632704"/>
            <a:ext cx="11268455" cy="676656"/>
          </a:xfrm>
          <a:prstGeom prst="roundRect">
            <a:avLst>
              <a:gd name="adj" fmla="val 12000"/>
            </a:avLst>
          </a:prstGeom>
          <a:solidFill>
            <a:srgbClr val="FB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D44"/>
                </a:solidFill>
                <a:latin typeface="Karla"/>
              </a:rPr>
              <a:t>Every group ranks Full Pink first. The widest segment gap is Full Pink: +9 etwas verwirrend / +7 größtenteils leicht verständlich / +15 sehr leicht verständlich / +30 sehr verwirrend.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Top-2 scores rounded to whole points. *Average of the groups in the legend.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7043927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WORD OPTIONS   ·  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04392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Word Options splits across the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043927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17086"/>
                </a:solidFill>
                <a:latin typeface="Karla"/>
              </a:rPr>
              <a:t>Etwas verwirrend favors Maximum Large Side; Größtenteils leicht verständlich favors Clinical Large Side; Sehr leicht verständlich favors Maximum Large Side; Sehr verwirrend favors Clinical Large Side.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7043927" cy="256032"/>
          </a:xfrm>
          <a:prstGeom prst="rect">
            <a:avLst/>
          </a:prstGeom>
          <a:solidFill>
            <a:srgbClr val="F7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D44"/>
                </a:solidFill>
                <a:latin typeface="Karla"/>
              </a:rPr>
              <a:t>WORD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20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3379469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86861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91811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9203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4153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11545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16495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3887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67128" y="1645920"/>
            <a:ext cx="10972" cy="3090672"/>
          </a:xfrm>
          <a:prstGeom prst="rect">
            <a:avLst/>
          </a:prstGeom>
          <a:solidFill>
            <a:srgbClr val="C5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67128" y="4736592"/>
            <a:ext cx="4849367" cy="10972"/>
          </a:xfrm>
          <a:prstGeom prst="rect">
            <a:avLst/>
          </a:prstGeom>
          <a:solidFill>
            <a:srgbClr val="C5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805940"/>
            <a:ext cx="1554480" cy="45262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Maximum Large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Side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67128" y="1805940"/>
            <a:ext cx="4364430" cy="82296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6422" y="1805940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+18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67128" y="1929384"/>
            <a:ext cx="3152089" cy="8229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74081" y="1929384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67128" y="2052828"/>
            <a:ext cx="4849367" cy="8229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1359" y="2052828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67128" y="2176272"/>
            <a:ext cx="1697278" cy="82296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19270" y="2176272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2578608"/>
            <a:ext cx="1554480" cy="45262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Clinical Large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Side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7128" y="2578608"/>
            <a:ext cx="3637025" cy="82296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9017" y="2578608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+15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67128" y="2702052"/>
            <a:ext cx="3152089" cy="8229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74081" y="2702052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67128" y="2825496"/>
            <a:ext cx="4606899" cy="8229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28891" y="2825496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+19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67128" y="2948939"/>
            <a:ext cx="3637025" cy="82296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9017" y="2948939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3351276"/>
            <a:ext cx="1554480" cy="45262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Maximum Small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67128" y="3351276"/>
            <a:ext cx="2667152" cy="82296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89144" y="3351276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+11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67128" y="3474720"/>
            <a:ext cx="1212341" cy="8229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34333" y="3474720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67128" y="3598164"/>
            <a:ext cx="2424683" cy="8229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46675" y="3598164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+10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67128" y="3721608"/>
            <a:ext cx="1697278" cy="82296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19270" y="3721608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4123944"/>
            <a:ext cx="1554480" cy="45262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Maximum Bigger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67128" y="4123944"/>
            <a:ext cx="484936" cy="82296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06928" y="4123944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67128" y="4247388"/>
            <a:ext cx="1212341" cy="8229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34333" y="4247388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67128" y="4370831"/>
            <a:ext cx="2182215" cy="8229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04207" y="4370831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67128" y="4494276"/>
            <a:ext cx="727405" cy="82296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49397" y="4494276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53743" y="5161788"/>
            <a:ext cx="100584" cy="10058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427479" y="5102352"/>
            <a:ext cx="227584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Etwas verwirrend (basesize = 29)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59351" y="5161788"/>
            <a:ext cx="100584" cy="1005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33087" y="5102352"/>
            <a:ext cx="341376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Größtenteils leicht verständlich (basesize = 66)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65299" y="5381244"/>
            <a:ext cx="100584" cy="10058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939035" y="5321808"/>
            <a:ext cx="291592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Sehr leicht verständlich (basesize = 100)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10987" y="5381244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84723" y="5321808"/>
            <a:ext cx="213360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Sehr verwirrend (basesize = 7)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29727" y="237744"/>
            <a:ext cx="4041648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675486" y="425196"/>
            <a:ext cx="229890" cy="170992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9202" y="438912"/>
            <a:ext cx="202458" cy="1682495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7912607" y="2176272"/>
            <a:ext cx="1755647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Maximum Large Side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12607" y="2542032"/>
            <a:ext cx="175564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+14*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591040" y="425196"/>
            <a:ext cx="239263" cy="170992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756" y="438912"/>
            <a:ext cx="211831" cy="1682495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9832847" y="2176272"/>
            <a:ext cx="1755647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Clinical Large Side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32847" y="2542032"/>
            <a:ext cx="175564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+16*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935467" y="3671582"/>
            <a:ext cx="1709927" cy="33779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D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9183" y="3685298"/>
            <a:ext cx="1682495" cy="310363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7912607" y="4736591"/>
            <a:ext cx="1755647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Maximum Small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12607" y="5102351"/>
            <a:ext cx="175564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+8*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855707" y="3704303"/>
            <a:ext cx="1709927" cy="272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D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9423" y="3718019"/>
            <a:ext cx="1682495" cy="24492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9832847" y="4736591"/>
            <a:ext cx="1755647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Maximum Bigger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832847" y="5102351"/>
            <a:ext cx="175564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+5*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02920" y="5632704"/>
            <a:ext cx="11268455" cy="676656"/>
          </a:xfrm>
          <a:prstGeom prst="roundRect">
            <a:avLst>
              <a:gd name="adj" fmla="val 12000"/>
            </a:avLst>
          </a:prstGeom>
          <a:solidFill>
            <a:srgbClr val="FB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D44"/>
                </a:solidFill>
                <a:latin typeface="Karla"/>
              </a:rPr>
              <a:t>Etwas verwirrend favors Maximum Large Side; Größtenteils leicht verständlich favors Clinical Large Side; Sehr leicht verständlich favors Maximum Large Side; Sehr verwirrend favors Clinical Large Side. The widest segment gap is Maximum Large Side: +18 etwas verwirrend / +13 größtenteils leicht verständlich / +20 sehr leicht verständlich / +7 sehr verwirrend.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Top-2 scores rounded to whole points. *Average of the groups in the legend.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7043927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WORD OPTIONS   ·  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04392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Word Options splits across the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043927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17086"/>
                </a:solidFill>
                <a:latin typeface="Karla"/>
              </a:rPr>
              <a:t>Etwas verwirrend favors Maximum Large Side; Größtenteils leicht verständlich favors Clinical Large Side; Sehr leicht verständlich favors Maximum Large Side; Sehr verwirrend favors Clinical Large Side.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7043927" cy="256032"/>
          </a:xfrm>
          <a:prstGeom prst="rect">
            <a:avLst/>
          </a:prstGeom>
          <a:solidFill>
            <a:srgbClr val="F7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D44"/>
                </a:solidFill>
                <a:latin typeface="Karla"/>
              </a:rPr>
              <a:t>WORD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20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91811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9203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7016495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3887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7128" y="1645920"/>
            <a:ext cx="10972" cy="3090672"/>
          </a:xfrm>
          <a:prstGeom prst="rect">
            <a:avLst/>
          </a:prstGeom>
          <a:solidFill>
            <a:srgbClr val="C5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67128" y="4736592"/>
            <a:ext cx="4849367" cy="10972"/>
          </a:xfrm>
          <a:prstGeom prst="rect">
            <a:avLst/>
          </a:prstGeom>
          <a:solidFill>
            <a:srgbClr val="C5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045969"/>
            <a:ext cx="1554480" cy="74523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Clinical Small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67128" y="2045969"/>
            <a:ext cx="3394557" cy="15544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16549" y="2045969"/>
            <a:ext cx="457200" cy="15544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332"/>
                </a:solidFill>
                <a:latin typeface="Karla"/>
              </a:rPr>
              <a:t>+7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67128" y="2242565"/>
            <a:ext cx="3394557" cy="155448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16549" y="2242565"/>
            <a:ext cx="457200" cy="15544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+7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67128" y="2439162"/>
            <a:ext cx="2424683" cy="15544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6675" y="2439162"/>
            <a:ext cx="457200" cy="15544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5C26"/>
                </a:solidFill>
                <a:latin typeface="Karla"/>
              </a:rPr>
              <a:t>+5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67128" y="2635758"/>
            <a:ext cx="1454810" cy="15544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6802" y="2635758"/>
            <a:ext cx="457200" cy="15544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E89"/>
                </a:solidFill>
                <a:latin typeface="Karla"/>
              </a:rPr>
              <a:t>+3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591306"/>
            <a:ext cx="1554480" cy="74523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Clinical Bigger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7128" y="3591306"/>
            <a:ext cx="2909620" cy="15544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31612" y="3591306"/>
            <a:ext cx="457200" cy="15544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332"/>
                </a:solidFill>
                <a:latin typeface="Karla"/>
              </a:rPr>
              <a:t>+6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67128" y="3787902"/>
            <a:ext cx="2909620" cy="155448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31612" y="3787902"/>
            <a:ext cx="457200" cy="15544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+6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7128" y="3984498"/>
            <a:ext cx="3394557" cy="15544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16549" y="3984498"/>
            <a:ext cx="457200" cy="15544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5C26"/>
                </a:solidFill>
                <a:latin typeface="Karla"/>
              </a:rPr>
              <a:t>+7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67128" y="4181094"/>
            <a:ext cx="1939747" cy="15544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61739" y="4181094"/>
            <a:ext cx="457200" cy="15544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E89"/>
                </a:solidFill>
                <a:latin typeface="Karla"/>
              </a:rPr>
              <a:t>+4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53743" y="5161788"/>
            <a:ext cx="100584" cy="10058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27479" y="5102352"/>
            <a:ext cx="227584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Etwas verwirrend (basesize = 29)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59351" y="5161788"/>
            <a:ext cx="100584" cy="1005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33087" y="5102352"/>
            <a:ext cx="341376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Größtenteils leicht verständlich (basesize = 66)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65299" y="5381244"/>
            <a:ext cx="100584" cy="10058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39035" y="5321808"/>
            <a:ext cx="291592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Sehr leicht verständlich (basesize = 100)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10987" y="5381244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84723" y="5321808"/>
            <a:ext cx="213360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Sehr verwirrend (basesize = 7)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29727" y="237744"/>
            <a:ext cx="4041648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35467" y="2461501"/>
            <a:ext cx="1709927" cy="34394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9183" y="2475217"/>
            <a:ext cx="1682495" cy="31650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912607" y="2846590"/>
            <a:ext cx="175564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Clinical Small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12607" y="3066046"/>
            <a:ext cx="175564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+6*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55707" y="2498098"/>
            <a:ext cx="1709927" cy="27074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9423" y="2511814"/>
            <a:ext cx="1682495" cy="24331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832847" y="2846590"/>
            <a:ext cx="175564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Clinical Bigger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32847" y="3066046"/>
            <a:ext cx="175564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+6*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5632704"/>
            <a:ext cx="11268455" cy="676656"/>
          </a:xfrm>
          <a:prstGeom prst="roundRect">
            <a:avLst>
              <a:gd name="adj" fmla="val 12000"/>
            </a:avLst>
          </a:prstGeom>
          <a:solidFill>
            <a:srgbClr val="FB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D44"/>
                </a:solidFill>
                <a:latin typeface="Karla"/>
              </a:rPr>
              <a:t>Etwas verwirrend favors Maximum Large Side; Größtenteils leicht verständlich favors Clinical Large Side; Sehr leicht verständlich favors Maximum Large Side; Sehr verwirrend favors Clinical Large Side. The widest segment gap is Maximum Large Side: +18 etwas verwirrend / +13 größtenteils leicht verständlich / +20 sehr leicht verständlich / +7 sehr verwirrend.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Top-2 scores rounded to whole points. *Average of the groups in the legend.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7043927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TICK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04392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Tick splits across the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043927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17086"/>
                </a:solidFill>
                <a:latin typeface="Karla"/>
              </a:rPr>
              <a:t>Etwas verwirrend favors Holographic; Größtenteils leicht verständlich favors Glossy Rose Gold; Sehr leicht verständlich favors Holographic; Sehr verwirrend favors Glossy.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7043927" cy="256032"/>
          </a:xfrm>
          <a:prstGeom prst="rect">
            <a:avLst/>
          </a:prstGeom>
          <a:solidFill>
            <a:srgbClr val="F7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D44"/>
                </a:solidFill>
                <a:latin typeface="Karla"/>
              </a:rPr>
              <a:t>TICK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20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3379469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86861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91811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9203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4153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11545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16495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3887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67128" y="1645920"/>
            <a:ext cx="10972" cy="3090672"/>
          </a:xfrm>
          <a:prstGeom prst="rect">
            <a:avLst/>
          </a:prstGeom>
          <a:solidFill>
            <a:srgbClr val="C5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67128" y="4736592"/>
            <a:ext cx="4849367" cy="10972"/>
          </a:xfrm>
          <a:prstGeom prst="rect">
            <a:avLst/>
          </a:prstGeom>
          <a:solidFill>
            <a:srgbClr val="C5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805940"/>
            <a:ext cx="1554480" cy="45262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Glossy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67128" y="1805940"/>
            <a:ext cx="1697278" cy="82296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9270" y="1805940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67128" y="1929384"/>
            <a:ext cx="1939747" cy="8229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1739" y="1929384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67128" y="2052828"/>
            <a:ext cx="2182215" cy="8229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4207" y="2052828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67128" y="2176272"/>
            <a:ext cx="4606899" cy="82296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28891" y="2176272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2578608"/>
            <a:ext cx="1554480" cy="45262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Holographic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7128" y="2578608"/>
            <a:ext cx="1939747" cy="82296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1739" y="2578608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67128" y="2702052"/>
            <a:ext cx="2424683" cy="8229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6675" y="2702052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67128" y="2825496"/>
            <a:ext cx="3394557" cy="8229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16549" y="2825496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67128" y="2948939"/>
            <a:ext cx="3879494" cy="82296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01486" y="2948939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3351276"/>
            <a:ext cx="1554480" cy="45262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Teal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67128" y="3351276"/>
            <a:ext cx="727405" cy="82296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49397" y="3351276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67128" y="3474720"/>
            <a:ext cx="1939747" cy="8229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61739" y="3474720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67128" y="3598164"/>
            <a:ext cx="2909620" cy="8229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31612" y="3598164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67128" y="3721608"/>
            <a:ext cx="1697278" cy="82296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19270" y="3721608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4123944"/>
            <a:ext cx="1554480" cy="45262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Glossy Rose Gold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67128" y="4123944"/>
            <a:ext cx="969873" cy="82296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91865" y="4123944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67128" y="4247388"/>
            <a:ext cx="2909620" cy="8229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31612" y="4247388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+12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67128" y="4370831"/>
            <a:ext cx="2909620" cy="8229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31612" y="4370831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+12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67128" y="4494276"/>
            <a:ext cx="1454810" cy="82296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76802" y="4494276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53743" y="5161788"/>
            <a:ext cx="100584" cy="10058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427479" y="5102352"/>
            <a:ext cx="227584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Etwas verwirrend (basesize = 29)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59351" y="5161788"/>
            <a:ext cx="100584" cy="1005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33087" y="5102352"/>
            <a:ext cx="341376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Größtenteils leicht verständlich (basesize = 66)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65299" y="5381244"/>
            <a:ext cx="100584" cy="10058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939035" y="5321808"/>
            <a:ext cx="291592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Sehr leicht verständlich (basesize = 100)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10987" y="5381244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84723" y="5321808"/>
            <a:ext cx="213360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Sehr verwirrend (basesize = 7)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29727" y="237744"/>
            <a:ext cx="4041648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100217" y="425196"/>
            <a:ext cx="1380428" cy="18562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3933" y="438912"/>
            <a:ext cx="1352996" cy="1828799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7912607" y="2322575"/>
            <a:ext cx="175564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Glossy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12607" y="2542031"/>
            <a:ext cx="175564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+11*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020457" y="425196"/>
            <a:ext cx="1380428" cy="18562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4173" y="438912"/>
            <a:ext cx="1352996" cy="1828799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9832847" y="2322575"/>
            <a:ext cx="175564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Holographic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32847" y="2542031"/>
            <a:ext cx="175564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+12*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100217" y="2985515"/>
            <a:ext cx="1380428" cy="18562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3933" y="2999232"/>
            <a:ext cx="1352996" cy="1828799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7912607" y="4882895"/>
            <a:ext cx="175564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Teal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12607" y="5102351"/>
            <a:ext cx="175564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+8*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020457" y="2985515"/>
            <a:ext cx="1380428" cy="18562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4173" y="2999232"/>
            <a:ext cx="1352996" cy="1828799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9832847" y="4882895"/>
            <a:ext cx="175564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Glossy Rose Gold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832847" y="5102351"/>
            <a:ext cx="175564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+8*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02920" y="5632704"/>
            <a:ext cx="11268455" cy="676656"/>
          </a:xfrm>
          <a:prstGeom prst="roundRect">
            <a:avLst>
              <a:gd name="adj" fmla="val 12000"/>
            </a:avLst>
          </a:prstGeom>
          <a:solidFill>
            <a:srgbClr val="FB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D44"/>
                </a:solidFill>
                <a:latin typeface="Karla"/>
              </a:rPr>
              <a:t>Etwas verwirrend favors Holographic; Größtenteils leicht verständlich favors Glossy Rose Gold; Sehr leicht verständlich favors Holographic; Sehr verwirrend favors Glossy. The widest segment gap is Glossy: +7 etwas verwirrend / +8 größtenteils leicht verständlich / +9 sehr leicht verständlich / +19 sehr verwirrend.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Top-2 scores rounded to whole points. *Average of the groups in the legend.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7043927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ANTITRANSPIRANT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04392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Antitranspirant splits across the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043927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17086"/>
                </a:solidFill>
                <a:latin typeface="Karla"/>
              </a:rPr>
              <a:t>Etwas verwirrend favors Larger Lower; Größtenteils leicht verständlich favors Larger Lower; Sehr leicht verständlich favors Larger Lower; Sehr verwirrend favors Larger Upper.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7043927" cy="256032"/>
          </a:xfrm>
          <a:prstGeom prst="rect">
            <a:avLst/>
          </a:prstGeom>
          <a:solidFill>
            <a:srgbClr val="F7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D44"/>
                </a:solidFill>
                <a:latin typeface="Karla"/>
              </a:rPr>
              <a:t>ANTITRANSPIRANT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7128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74520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90975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39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07431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16495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3887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20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83583" y="1645920"/>
            <a:ext cx="10972" cy="3090672"/>
          </a:xfrm>
          <a:prstGeom prst="rect">
            <a:avLst/>
          </a:prstGeom>
          <a:solidFill>
            <a:srgbClr val="C5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67128" y="4736592"/>
            <a:ext cx="4849367" cy="10972"/>
          </a:xfrm>
          <a:prstGeom prst="rect">
            <a:avLst/>
          </a:prstGeom>
          <a:solidFill>
            <a:srgbClr val="C5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872569"/>
            <a:ext cx="1554480" cy="57692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Larger Upper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83583" y="1872569"/>
            <a:ext cx="1454810" cy="11337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3258" y="1872569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83583" y="2027087"/>
            <a:ext cx="161645" cy="113370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00093" y="2027087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83583" y="2181606"/>
            <a:ext cx="646582" cy="11337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5030" y="2181606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83583" y="2336124"/>
            <a:ext cx="1939747" cy="11337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78194" y="2336124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902793"/>
            <a:ext cx="1554480" cy="57692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Smaller 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83583" y="2902793"/>
            <a:ext cx="1454810" cy="11337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93258" y="2902793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83583" y="3057311"/>
            <a:ext cx="646582" cy="113370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5030" y="3057311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83583" y="3211830"/>
            <a:ext cx="808227" cy="11337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6675" y="3211830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83583" y="3366348"/>
            <a:ext cx="1778101" cy="11337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16549" y="3366348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3933017"/>
            <a:ext cx="1554480" cy="57692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Larger Lower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83583" y="3933017"/>
            <a:ext cx="1778101" cy="11337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16549" y="3933017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+11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83583" y="4087535"/>
            <a:ext cx="808227" cy="113370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46675" y="4087535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83583" y="4242054"/>
            <a:ext cx="1454810" cy="11337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93258" y="4242054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21938" y="4396572"/>
            <a:ext cx="161645" cy="11337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09874" y="4396572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-1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53743" y="5161788"/>
            <a:ext cx="100584" cy="10058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27479" y="5102352"/>
            <a:ext cx="227584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Etwas verwirrend (basesize = 29)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59351" y="5161788"/>
            <a:ext cx="100584" cy="1005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33087" y="5102352"/>
            <a:ext cx="341376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Größtenteils leicht verständlich (basesize = 66)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65299" y="5381244"/>
            <a:ext cx="100584" cy="10058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39035" y="5321808"/>
            <a:ext cx="291592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Sehr leicht verständlich (basesize = 100)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10987" y="5381244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84723" y="5321808"/>
            <a:ext cx="213360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Sehr verwirrend (basesize = 7)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29727" y="237744"/>
            <a:ext cx="4041648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935467" y="580826"/>
            <a:ext cx="3630167" cy="69153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9183" y="594542"/>
            <a:ext cx="3602735" cy="66409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912607" y="1385609"/>
            <a:ext cx="367588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Larger Upper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12607" y="1605065"/>
            <a:ext cx="367588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+6*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35467" y="2215602"/>
            <a:ext cx="3630167" cy="83573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9183" y="2229318"/>
            <a:ext cx="3602735" cy="80830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912607" y="3092489"/>
            <a:ext cx="367588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Smaller Low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12607" y="3311945"/>
            <a:ext cx="367588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+7*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35467" y="3994586"/>
            <a:ext cx="3630167" cy="69153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F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9183" y="4008302"/>
            <a:ext cx="3602735" cy="664098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7912607" y="4799369"/>
            <a:ext cx="367588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Larger Lower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12607" y="5018825"/>
            <a:ext cx="367588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+6*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02920" y="5632704"/>
            <a:ext cx="11268455" cy="676656"/>
          </a:xfrm>
          <a:prstGeom prst="roundRect">
            <a:avLst>
              <a:gd name="adj" fmla="val 12000"/>
            </a:avLst>
          </a:prstGeom>
          <a:solidFill>
            <a:srgbClr val="FB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D44"/>
                </a:solidFill>
                <a:latin typeface="Karla"/>
              </a:rPr>
              <a:t>Etwas verwirrend favors Larger Lower; Größtenteils leicht verständlich favors Larger Lower; Sehr leicht verständlich favors Larger Lower; Sehr verwirrend favors Larger Upper. The widest segment gap is Larger Lower: +11 etwas verwirrend / +5 größtenteils leicht verständlich / +9 sehr leicht verständlich / -1 sehr verwirrend.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Top-2 scores rounded to whole points. *Average of the groups in the legend.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7043927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100H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04392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100H splits across the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043927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17086"/>
                </a:solidFill>
                <a:latin typeface="Karla"/>
              </a:rPr>
              <a:t>Etwas verwirrend favors 100H Above Right; Größtenteils leicht verständlich favors 100H Above Right; Sehr leicht verständlich favors 100H Above Right; Sehr verwirrend favors 100H Above Left.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7043927" cy="256032"/>
          </a:xfrm>
          <a:prstGeom prst="rect">
            <a:avLst/>
          </a:prstGeom>
          <a:solidFill>
            <a:srgbClr val="F7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D44"/>
                </a:solidFill>
                <a:latin typeface="Karla"/>
              </a:rPr>
              <a:t>100H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7128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74520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-10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9469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86861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-5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9203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4153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11545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16495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3887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91811" y="1645920"/>
            <a:ext cx="10972" cy="3090672"/>
          </a:xfrm>
          <a:prstGeom prst="rect">
            <a:avLst/>
          </a:prstGeom>
          <a:solidFill>
            <a:srgbClr val="C5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67128" y="4736592"/>
            <a:ext cx="4849367" cy="10972"/>
          </a:xfrm>
          <a:prstGeom prst="rect">
            <a:avLst/>
          </a:prstGeom>
          <a:solidFill>
            <a:srgbClr val="C5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805940"/>
            <a:ext cx="1554480" cy="45262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100H Above Right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1811" y="1805940"/>
            <a:ext cx="2424683" cy="82296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71359" y="1805940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1811" y="1929384"/>
            <a:ext cx="2424683" cy="8229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71359" y="1929384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91811" y="2052828"/>
            <a:ext cx="1939747" cy="8229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6422" y="2052828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91811" y="2176272"/>
            <a:ext cx="1939747" cy="82296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6422" y="2176272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2578608"/>
            <a:ext cx="1554480" cy="45262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100H Low Smaller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91811" y="2578608"/>
            <a:ext cx="2424683" cy="82296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71359" y="2578608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91811" y="2702052"/>
            <a:ext cx="2424683" cy="8229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71359" y="2702052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91811" y="2825496"/>
            <a:ext cx="1697278" cy="8229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43954" y="2825496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91811" y="2948939"/>
            <a:ext cx="1697278" cy="82296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43954" y="2948939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3351276"/>
            <a:ext cx="1554480" cy="45262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100H Above Left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91811" y="3351276"/>
            <a:ext cx="1454810" cy="82296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01486" y="3351276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1811" y="3474720"/>
            <a:ext cx="1212341" cy="8229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9017" y="3474720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1811" y="3598164"/>
            <a:ext cx="1939747" cy="8229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6422" y="3598164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91811" y="3721608"/>
            <a:ext cx="2182215" cy="82296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28891" y="3721608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4123944"/>
            <a:ext cx="1554480" cy="45262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100H Low Dark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91811" y="4123944"/>
            <a:ext cx="2182215" cy="82296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28891" y="4123944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91811" y="4247388"/>
            <a:ext cx="1697278" cy="8229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43954" y="4247388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1811" y="4370831"/>
            <a:ext cx="1939747" cy="8229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6422" y="4370831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37001" y="4494276"/>
            <a:ext cx="1454810" cy="82296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24937" y="4494276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-6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53743" y="5161788"/>
            <a:ext cx="100584" cy="10058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427479" y="5102352"/>
            <a:ext cx="227584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Etwas verwirrend (basesize = 29)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59351" y="5161788"/>
            <a:ext cx="100584" cy="1005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33087" y="5102352"/>
            <a:ext cx="341376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Größtenteils leicht verständlich (basesize = 66)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65299" y="5381244"/>
            <a:ext cx="100584" cy="10058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939035" y="5321808"/>
            <a:ext cx="291592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Sehr leicht verständlich (basesize = 100)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10987" y="5381244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84723" y="5321808"/>
            <a:ext cx="213360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Sehr verwirrend (basesize = 7)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29727" y="237744"/>
            <a:ext cx="4041648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935467" y="1034211"/>
            <a:ext cx="1709927" cy="638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9183" y="1047927"/>
            <a:ext cx="1682495" cy="610769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7912607" y="1752322"/>
            <a:ext cx="175564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100H Above Right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12607" y="1971778"/>
            <a:ext cx="175564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+9*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855707" y="995449"/>
            <a:ext cx="1709927" cy="71572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G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9423" y="1009165"/>
            <a:ext cx="1682495" cy="688293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9832847" y="1752322"/>
            <a:ext cx="175564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100H Low Smaller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32847" y="1971778"/>
            <a:ext cx="175564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+8*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935467" y="3603322"/>
            <a:ext cx="1709927" cy="62061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9183" y="3617038"/>
            <a:ext cx="1682495" cy="593187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7912607" y="4312642"/>
            <a:ext cx="175564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100H Above Left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12607" y="4532098"/>
            <a:ext cx="175564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+7*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855707" y="3608714"/>
            <a:ext cx="1709927" cy="60983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G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9423" y="3622430"/>
            <a:ext cx="1682495" cy="582402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9832847" y="4312642"/>
            <a:ext cx="175564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100H Low Dark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832847" y="4532098"/>
            <a:ext cx="175564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+4*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02920" y="5632704"/>
            <a:ext cx="11268455" cy="676656"/>
          </a:xfrm>
          <a:prstGeom prst="roundRect">
            <a:avLst>
              <a:gd name="adj" fmla="val 12000"/>
            </a:avLst>
          </a:prstGeom>
          <a:solidFill>
            <a:srgbClr val="FB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D44"/>
                </a:solidFill>
                <a:latin typeface="Karla"/>
              </a:rPr>
              <a:t>Etwas verwirrend favors 100H Above Right; Größtenteils leicht verständlich favors 100H Above Right; Sehr leicht verständlich favors 100H Above Right; Sehr verwirrend favors 100H Above Left. The widest segment gap is 100H Low Dark: +9 etwas verwirrend / +7 größtenteils leicht verständlich / +8 sehr leicht verständlich / -6 sehr verwirrend.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Top-2 scores rounded to whole points. *Average of the groups in the legend.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7043927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CLEAN CONFIDENCE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04392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Clean Confidence splits across the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043927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17086"/>
                </a:solidFill>
                <a:latin typeface="Karla"/>
              </a:rPr>
              <a:t>Etwas verwirrend favors Dark Teal; Größtenteils leicht verständlich favors Dark Teal; Sehr leicht verständlich favors Dark Teal; Sehr verwirrend favors Pink Aboveline.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7043927" cy="256032"/>
          </a:xfrm>
          <a:prstGeom prst="rect">
            <a:avLst/>
          </a:prstGeom>
          <a:solidFill>
            <a:srgbClr val="F7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D44"/>
                </a:solidFill>
                <a:latin typeface="Karla"/>
              </a:rPr>
              <a:t>CLEAN CONFIDENCE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7128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74520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-5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90975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39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07431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16495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3887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83583" y="1645920"/>
            <a:ext cx="10972" cy="3090672"/>
          </a:xfrm>
          <a:prstGeom prst="rect">
            <a:avLst/>
          </a:prstGeom>
          <a:solidFill>
            <a:srgbClr val="C5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67128" y="4736592"/>
            <a:ext cx="4849367" cy="10972"/>
          </a:xfrm>
          <a:prstGeom prst="rect">
            <a:avLst/>
          </a:prstGeom>
          <a:solidFill>
            <a:srgbClr val="C5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872569"/>
            <a:ext cx="1554480" cy="57692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Dark Teal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83583" y="1872569"/>
            <a:ext cx="2586329" cy="11337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4777" y="1872569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83583" y="2027087"/>
            <a:ext cx="1293164" cy="113370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1612" y="2027087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83583" y="2181606"/>
            <a:ext cx="2263038" cy="11337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01486" y="2181606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60292" y="2336124"/>
            <a:ext cx="323291" cy="11337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48228" y="2336124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-1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902793"/>
            <a:ext cx="1554480" cy="57692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Pink Aboveline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83583" y="2902793"/>
            <a:ext cx="1939747" cy="11337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78194" y="2902793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83583" y="3057311"/>
            <a:ext cx="27432" cy="113370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38447" y="3057311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83583" y="3211830"/>
            <a:ext cx="969873" cy="11337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08321" y="3211830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83583" y="3366348"/>
            <a:ext cx="2586329" cy="11337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24777" y="3366348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3933017"/>
            <a:ext cx="1554480" cy="57692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Original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83583" y="3933017"/>
            <a:ext cx="1293164" cy="11337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31612" y="3933017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83583" y="4087535"/>
            <a:ext cx="27432" cy="113370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38447" y="4087535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83583" y="4242054"/>
            <a:ext cx="1616455" cy="11337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54903" y="4242054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83583" y="4396572"/>
            <a:ext cx="1616455" cy="11337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54903" y="4396572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53743" y="5161788"/>
            <a:ext cx="100584" cy="10058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27479" y="5102352"/>
            <a:ext cx="227584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Etwas verwirrend (basesize = 29)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59351" y="5161788"/>
            <a:ext cx="100584" cy="1005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33087" y="5102352"/>
            <a:ext cx="341376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Größtenteils leicht verständlich (basesize = 66)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65299" y="5381244"/>
            <a:ext cx="100584" cy="10058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39035" y="5321808"/>
            <a:ext cx="291592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Sehr leicht verständlich (basesize = 100)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10987" y="5381244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84723" y="5321808"/>
            <a:ext cx="213360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Sehr verwirrend (basesize = 7)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29727" y="237744"/>
            <a:ext cx="4041648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297565" y="425196"/>
            <a:ext cx="905973" cy="100279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H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1281" y="438912"/>
            <a:ext cx="878541" cy="975359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912607" y="1469135"/>
            <a:ext cx="367588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Dark Teal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12607" y="1688591"/>
            <a:ext cx="367588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+4*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97565" y="2132075"/>
            <a:ext cx="905973" cy="100279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H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1281" y="2145791"/>
            <a:ext cx="878541" cy="97535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912607" y="3176015"/>
            <a:ext cx="367588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Pink Aboveline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12607" y="3395471"/>
            <a:ext cx="367588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+4*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297565" y="3838956"/>
            <a:ext cx="905973" cy="100279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H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281" y="3852671"/>
            <a:ext cx="878541" cy="975359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7912607" y="4882895"/>
            <a:ext cx="367588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Original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12607" y="5102351"/>
            <a:ext cx="367588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+4*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02920" y="5632704"/>
            <a:ext cx="11268455" cy="676656"/>
          </a:xfrm>
          <a:prstGeom prst="roundRect">
            <a:avLst>
              <a:gd name="adj" fmla="val 12000"/>
            </a:avLst>
          </a:prstGeom>
          <a:solidFill>
            <a:srgbClr val="FB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D44"/>
                </a:solidFill>
                <a:latin typeface="Karla"/>
              </a:rPr>
              <a:t>Etwas verwirrend favors Dark Teal; Größtenteils leicht verständlich favors Dark Teal; Sehr leicht verständlich favors Dark Teal; Sehr verwirrend favors Pink Aboveline. The widest segment gap is Dark Teal: +8 etwas verwirrend / +4 größtenteils leicht verständlich / +7 sehr leicht verständlich / -1 sehr verwirrend.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Top-2 scores rounded to whole points. *Average of the groups in the legend.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7043927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FOUR DOTS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04392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Four Dots splits across the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043927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17086"/>
                </a:solidFill>
                <a:latin typeface="Karla"/>
              </a:rPr>
              <a:t>Etwas verwirrend favors Silver Lower Left; Größtenteils leicht verständlich favors Original; Sehr leicht verständlich favors Pink Upper Right; Sehr verwirrend favors Pink Upper Right.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7043927" cy="256032"/>
          </a:xfrm>
          <a:prstGeom prst="rect">
            <a:avLst/>
          </a:prstGeom>
          <a:solidFill>
            <a:srgbClr val="F7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D44"/>
                </a:solidFill>
                <a:latin typeface="Karla"/>
              </a:rPr>
              <a:t>FOUR DOTS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20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91811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9203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7016495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3887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7128" y="1645920"/>
            <a:ext cx="10972" cy="3090672"/>
          </a:xfrm>
          <a:prstGeom prst="rect">
            <a:avLst/>
          </a:prstGeom>
          <a:solidFill>
            <a:srgbClr val="C5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67128" y="4736592"/>
            <a:ext cx="4849367" cy="10972"/>
          </a:xfrm>
          <a:prstGeom prst="rect">
            <a:avLst/>
          </a:prstGeom>
          <a:solidFill>
            <a:srgbClr val="C5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805940"/>
            <a:ext cx="1554480" cy="45262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Original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67128" y="1805940"/>
            <a:ext cx="2909620" cy="82296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1612" y="1805940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67128" y="1929384"/>
            <a:ext cx="4364430" cy="8229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6422" y="1929384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67128" y="2052828"/>
            <a:ext cx="2424683" cy="8229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6675" y="2052828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67128" y="2176272"/>
            <a:ext cx="1939747" cy="82296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1739" y="2176272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578608"/>
            <a:ext cx="1554480" cy="45262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Pink Upper Right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7128" y="2578608"/>
            <a:ext cx="3394557" cy="82296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16549" y="2578608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67128" y="2702052"/>
            <a:ext cx="2909620" cy="8229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31612" y="2702052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7128" y="2825496"/>
            <a:ext cx="3879494" cy="8229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01486" y="2825496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67128" y="2948939"/>
            <a:ext cx="3879494" cy="82296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01486" y="2948939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351276"/>
            <a:ext cx="1554480" cy="45262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Silver Lower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Left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67128" y="3351276"/>
            <a:ext cx="3394557" cy="82296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16549" y="3351276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67128" y="3474720"/>
            <a:ext cx="2909620" cy="8229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31612" y="3474720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67128" y="3598164"/>
            <a:ext cx="1454810" cy="8229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76802" y="3598164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67128" y="3721608"/>
            <a:ext cx="1939747" cy="82296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61739" y="3721608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123944"/>
            <a:ext cx="1554480" cy="45262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Silver Left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67128" y="4123944"/>
            <a:ext cx="2909620" cy="82296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31612" y="4123944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67128" y="4247388"/>
            <a:ext cx="969873" cy="8229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91865" y="4247388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67128" y="4370831"/>
            <a:ext cx="969873" cy="8229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91865" y="4370831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67128" y="4494276"/>
            <a:ext cx="484936" cy="82296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06928" y="4494276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253743" y="5161788"/>
            <a:ext cx="100584" cy="10058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427479" y="5102352"/>
            <a:ext cx="227584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Etwas verwirrend (basesize = 29)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59351" y="5161788"/>
            <a:ext cx="100584" cy="1005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33087" y="5102352"/>
            <a:ext cx="341376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Größtenteils leicht verständlich (basesize = 66)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765299" y="5381244"/>
            <a:ext cx="100584" cy="10058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939035" y="5321808"/>
            <a:ext cx="291592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Sehr leicht verständlich (basesize = 100)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10987" y="5381244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84723" y="5321808"/>
            <a:ext cx="213360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Sehr verwirrend (basesize = 7)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729727" y="237744"/>
            <a:ext cx="4041648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953578" y="425196"/>
            <a:ext cx="1673706" cy="18562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7294" y="438912"/>
            <a:ext cx="1646274" cy="1828799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912607" y="2322575"/>
            <a:ext cx="175564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Original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12607" y="2542031"/>
            <a:ext cx="175564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+6*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873818" y="425196"/>
            <a:ext cx="1673706" cy="18562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7534" y="438912"/>
            <a:ext cx="1646274" cy="1828799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9832847" y="2322575"/>
            <a:ext cx="175564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Pink Upper Right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32847" y="2542031"/>
            <a:ext cx="175564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+7*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953578" y="2985515"/>
            <a:ext cx="1673706" cy="18562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I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7294" y="2999232"/>
            <a:ext cx="1646274" cy="1828799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7912607" y="4882895"/>
            <a:ext cx="175564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Silver Lower Left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12607" y="5102351"/>
            <a:ext cx="175564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+5*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873818" y="2985515"/>
            <a:ext cx="1673706" cy="18562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I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7534" y="2999232"/>
            <a:ext cx="1646274" cy="1828799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9832847" y="4882895"/>
            <a:ext cx="175564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Silver Left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32847" y="5102351"/>
            <a:ext cx="175564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+3*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02920" y="5632704"/>
            <a:ext cx="11268455" cy="676656"/>
          </a:xfrm>
          <a:prstGeom prst="roundRect">
            <a:avLst>
              <a:gd name="adj" fmla="val 12000"/>
            </a:avLst>
          </a:prstGeom>
          <a:solidFill>
            <a:srgbClr val="FB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D44"/>
                </a:solidFill>
                <a:latin typeface="Karla"/>
              </a:rPr>
              <a:t>Etwas verwirrend favors Silver Lower Left; Größtenteils leicht verständlich favors Original; Sehr leicht verständlich favors Pink Upper Right; Sehr verwirrend favors Pink Upper Right. The widest segment gap is Silver Left: +6 etwas verwirrend / +2 größtenteils leicht verständlich / +2 sehr leicht verständlich / +1 sehr verwirrend.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Top-2 scores rounded to whole points. *Average of the groups in the legend.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7043927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16p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04392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16p splits across the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043927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17086"/>
                </a:solidFill>
                <a:latin typeface="Karla"/>
              </a:rPr>
              <a:t>Etwas verwirrend favors Bottom; Größtenteils leicht verständlich favors Bottom; Sehr leicht verständlich favors Top; Sehr verwirrend favors Middle.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7043927" cy="256032"/>
          </a:xfrm>
          <a:prstGeom prst="rect">
            <a:avLst/>
          </a:prstGeom>
          <a:solidFill>
            <a:srgbClr val="F7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D44"/>
                </a:solidFill>
                <a:latin typeface="Karla"/>
              </a:rPr>
              <a:t>16P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20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3379469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86861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91811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9203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4153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11545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16495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3887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67128" y="1645920"/>
            <a:ext cx="10972" cy="3090672"/>
          </a:xfrm>
          <a:prstGeom prst="rect">
            <a:avLst/>
          </a:prstGeom>
          <a:solidFill>
            <a:srgbClr val="C5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67128" y="4736592"/>
            <a:ext cx="4849367" cy="10972"/>
          </a:xfrm>
          <a:prstGeom prst="rect">
            <a:avLst/>
          </a:prstGeom>
          <a:solidFill>
            <a:srgbClr val="C5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872569"/>
            <a:ext cx="1554480" cy="57692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Middle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67128" y="1872569"/>
            <a:ext cx="1212341" cy="11337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34333" y="1872569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67128" y="2027087"/>
            <a:ext cx="1697278" cy="113370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19270" y="2027087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67128" y="2181606"/>
            <a:ext cx="1454810" cy="11337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76802" y="2181606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67128" y="2336124"/>
            <a:ext cx="3152089" cy="11337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74081" y="2336124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2902793"/>
            <a:ext cx="1554480" cy="57692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Bottom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7128" y="2902793"/>
            <a:ext cx="1212341" cy="11337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34333" y="2902793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67128" y="3057311"/>
            <a:ext cx="1697278" cy="113370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19270" y="3057311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67128" y="3211830"/>
            <a:ext cx="1212341" cy="11337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34333" y="3211830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67128" y="3366348"/>
            <a:ext cx="2909620" cy="11337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31612" y="3366348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3933017"/>
            <a:ext cx="1554480" cy="57692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Top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67128" y="3933017"/>
            <a:ext cx="969873" cy="11337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91865" y="3933017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67128" y="4087535"/>
            <a:ext cx="969873" cy="113370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91865" y="4087535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67128" y="4242054"/>
            <a:ext cx="1697278" cy="11337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19270" y="4242054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67128" y="4396572"/>
            <a:ext cx="2424683" cy="11337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46675" y="4396572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53743" y="5161788"/>
            <a:ext cx="100584" cy="10058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427479" y="5102352"/>
            <a:ext cx="227584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Etwas verwirrend (basesize = 29)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59351" y="5161788"/>
            <a:ext cx="100584" cy="1005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33087" y="5102352"/>
            <a:ext cx="341376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Größtenteils leicht verständlich (basesize = 66)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765299" y="5381244"/>
            <a:ext cx="100584" cy="10058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39035" y="5321808"/>
            <a:ext cx="291592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Sehr leicht verständlich (basesize = 100)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10987" y="5381244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84723" y="5321808"/>
            <a:ext cx="213360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Sehr verwirrend (basesize = 7)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29727" y="237744"/>
            <a:ext cx="4041648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920718" y="425196"/>
            <a:ext cx="1659667" cy="100279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J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4434" y="438912"/>
            <a:ext cx="1632235" cy="97535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912607" y="1469135"/>
            <a:ext cx="367588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Middle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12607" y="1688591"/>
            <a:ext cx="367588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+8*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920718" y="2132075"/>
            <a:ext cx="1659667" cy="100279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J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4434" y="2145791"/>
            <a:ext cx="1632235" cy="975359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912607" y="3176015"/>
            <a:ext cx="367588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Bottom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12607" y="3395471"/>
            <a:ext cx="367588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+7*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20718" y="3838956"/>
            <a:ext cx="1659667" cy="100279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J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4434" y="3852671"/>
            <a:ext cx="1632235" cy="975359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7912607" y="4882895"/>
            <a:ext cx="367588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Top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12607" y="5102351"/>
            <a:ext cx="367588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+6*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2920" y="5632704"/>
            <a:ext cx="11268455" cy="676656"/>
          </a:xfrm>
          <a:prstGeom prst="roundRect">
            <a:avLst>
              <a:gd name="adj" fmla="val 12000"/>
            </a:avLst>
          </a:prstGeom>
          <a:solidFill>
            <a:srgbClr val="FB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D44"/>
                </a:solidFill>
                <a:latin typeface="Karla"/>
              </a:rPr>
              <a:t>Etwas verwirrend favors Bottom; Größtenteils leicht verständlich favors Bottom; Sehr leicht verständlich favors Top; Sehr verwirrend favors Middle. The widest segment gap is Middle: +5 etwas verwirrend / +7 größtenteils leicht verständlich / +6 sehr leicht verständlich / +13 sehr verwirrend.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Top-2 scores rounded to whole points. *Average of the groups in the legend.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7043927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SCHUTZ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04392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Schutz splits across the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043927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17086"/>
                </a:solidFill>
                <a:latin typeface="Karla"/>
              </a:rPr>
              <a:t>Etwas verwirrend favors Bottom; Größtenteils leicht verständlich favors Bottom; Sehr leicht verständlich favors Bottom; Sehr verwirrend favors Top.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7043927" cy="256032"/>
          </a:xfrm>
          <a:prstGeom prst="rect">
            <a:avLst/>
          </a:prstGeom>
          <a:solidFill>
            <a:srgbClr val="F7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D44"/>
                </a:solidFill>
                <a:latin typeface="Karla"/>
              </a:rPr>
              <a:t>SCHUTZ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20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3783583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90975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39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07431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16495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3887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67128" y="1645920"/>
            <a:ext cx="10972" cy="3090672"/>
          </a:xfrm>
          <a:prstGeom prst="rect">
            <a:avLst/>
          </a:prstGeom>
          <a:solidFill>
            <a:srgbClr val="C5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67128" y="4736592"/>
            <a:ext cx="4849367" cy="10972"/>
          </a:xfrm>
          <a:prstGeom prst="rect">
            <a:avLst/>
          </a:prstGeom>
          <a:solidFill>
            <a:srgbClr val="C5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872569"/>
            <a:ext cx="1554480" cy="57692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Top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67128" y="1872569"/>
            <a:ext cx="969873" cy="11337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91865" y="1872569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67128" y="2027087"/>
            <a:ext cx="969873" cy="113370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91865" y="2027087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67128" y="2181606"/>
            <a:ext cx="1293164" cy="11337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15156" y="2181606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67128" y="2336124"/>
            <a:ext cx="3879494" cy="11337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01486" y="2336124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902793"/>
            <a:ext cx="1554480" cy="57692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Bottom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67128" y="2902793"/>
            <a:ext cx="969873" cy="11337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91865" y="2902793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7128" y="3057311"/>
            <a:ext cx="1939747" cy="113370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1739" y="3057311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67128" y="3211830"/>
            <a:ext cx="1616455" cy="11337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38447" y="3211830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67128" y="3366348"/>
            <a:ext cx="1616455" cy="11337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38447" y="3366348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3933017"/>
            <a:ext cx="1554480" cy="57692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Middle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67128" y="3933017"/>
            <a:ext cx="27432" cy="11337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21992" y="3933017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67128" y="4087535"/>
            <a:ext cx="1939747" cy="113370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61739" y="4087535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67128" y="4242054"/>
            <a:ext cx="969873" cy="11337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91865" y="4242054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67128" y="4396572"/>
            <a:ext cx="27432" cy="11337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21992" y="4396572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53743" y="5161788"/>
            <a:ext cx="100584" cy="10058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27479" y="5102352"/>
            <a:ext cx="227584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Etwas verwirrend (basesize = 29)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59351" y="5161788"/>
            <a:ext cx="100584" cy="1005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33087" y="5102352"/>
            <a:ext cx="341376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Größtenteils leicht verständlich (basesize = 66)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65299" y="5381244"/>
            <a:ext cx="100584" cy="10058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39035" y="5321808"/>
            <a:ext cx="291592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Sehr leicht verständlich (basesize = 100)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10987" y="5381244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84723" y="5321808"/>
            <a:ext cx="213360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Sehr verwirrend (basesize = 7)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29727" y="237744"/>
            <a:ext cx="4041648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16839" y="425196"/>
            <a:ext cx="1267424" cy="100279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K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0555" y="438912"/>
            <a:ext cx="1239992" cy="975359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912607" y="1469135"/>
            <a:ext cx="367588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Top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12607" y="1688591"/>
            <a:ext cx="367588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+6*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16839" y="2132075"/>
            <a:ext cx="1267424" cy="100279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K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0555" y="2145791"/>
            <a:ext cx="1239992" cy="97535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912607" y="3176015"/>
            <a:ext cx="367588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Bottom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12607" y="3395471"/>
            <a:ext cx="367588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+5*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16839" y="3838956"/>
            <a:ext cx="1267424" cy="100279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K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0555" y="3852671"/>
            <a:ext cx="1239992" cy="975359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7912607" y="4882895"/>
            <a:ext cx="367588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Middle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12607" y="5102351"/>
            <a:ext cx="367588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+2*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02920" y="5632704"/>
            <a:ext cx="11268455" cy="676656"/>
          </a:xfrm>
          <a:prstGeom prst="roundRect">
            <a:avLst>
              <a:gd name="adj" fmla="val 12000"/>
            </a:avLst>
          </a:prstGeom>
          <a:solidFill>
            <a:srgbClr val="FB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D44"/>
                </a:solidFill>
                <a:latin typeface="Karla"/>
              </a:rPr>
              <a:t>Etwas verwirrend favors Bottom; Größtenteils leicht verständlich favors Bottom; Sehr leicht verständlich favors Bottom; Sehr verwirrend favors Top. The widest segment gap is Top: +3 etwas verwirrend / +3 größtenteils leicht verständlich / +4 sehr leicht verständlich / +12 sehr verwirrend.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Top-2 scores rounded to whole points. *Average of the groups in the legend.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7043927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DEOCREME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04392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Deocreme splits across the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043927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17086"/>
                </a:solidFill>
                <a:latin typeface="Karla"/>
              </a:rPr>
              <a:t>Etwas verwirrend favors Lower; Größtenteils leicht verständlich favors Upper; Sehr leicht verständlich favors Lower; Sehr verwirrend favors Lower.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7043927" cy="256032"/>
          </a:xfrm>
          <a:prstGeom prst="rect">
            <a:avLst/>
          </a:prstGeom>
          <a:solidFill>
            <a:srgbClr val="F7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D44"/>
                </a:solidFill>
                <a:latin typeface="Karla"/>
              </a:rPr>
              <a:t>DEOCREME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7128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74520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-10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9469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86861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-5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9203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4153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11545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16495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3887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91811" y="1645920"/>
            <a:ext cx="10972" cy="3090672"/>
          </a:xfrm>
          <a:prstGeom prst="rect">
            <a:avLst/>
          </a:prstGeom>
          <a:solidFill>
            <a:srgbClr val="C5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67128" y="4736592"/>
            <a:ext cx="4849367" cy="10972"/>
          </a:xfrm>
          <a:prstGeom prst="rect">
            <a:avLst/>
          </a:prstGeom>
          <a:solidFill>
            <a:srgbClr val="C5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872569"/>
            <a:ext cx="1554480" cy="57692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Upper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1811" y="1872569"/>
            <a:ext cx="1212341" cy="11337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9017" y="1872569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1811" y="2027087"/>
            <a:ext cx="2182215" cy="113370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28891" y="2027087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91811" y="2181606"/>
            <a:ext cx="484936" cy="11337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31612" y="2181606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94533" y="2336124"/>
            <a:ext cx="1697278" cy="11337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82469" y="2336124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-7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2902793"/>
            <a:ext cx="1554480" cy="57692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Lower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91811" y="2902793"/>
            <a:ext cx="1939747" cy="11337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6422" y="2902793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91811" y="3057311"/>
            <a:ext cx="1212341" cy="113370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59017" y="3057311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91811" y="3211830"/>
            <a:ext cx="1697278" cy="11337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43954" y="3211830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06875" y="3366348"/>
            <a:ext cx="484936" cy="11337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94811" y="3366348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-2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3933017"/>
            <a:ext cx="1554480" cy="57692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None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91811" y="3933017"/>
            <a:ext cx="1697278" cy="11337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43954" y="3933017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1811" y="4087535"/>
            <a:ext cx="727405" cy="113370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74081" y="4087535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1811" y="4242054"/>
            <a:ext cx="969873" cy="11337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16549" y="4242054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79469" y="4396572"/>
            <a:ext cx="1212341" cy="11337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67405" y="4396572"/>
            <a:ext cx="457200" cy="1133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-5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53743" y="5161788"/>
            <a:ext cx="100584" cy="10058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427479" y="5102352"/>
            <a:ext cx="227584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Etwas verwirrend (basesize = 29)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59351" y="5161788"/>
            <a:ext cx="100584" cy="1005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33087" y="5102352"/>
            <a:ext cx="341376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Größtenteils leicht verständlich (basesize = 66)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765299" y="5381244"/>
            <a:ext cx="100584" cy="10058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39035" y="5321808"/>
            <a:ext cx="291592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Sehr leicht verständlich (basesize = 100)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10987" y="5381244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84723" y="5321808"/>
            <a:ext cx="213360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Sehr verwirrend (basesize = 7)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29727" y="237744"/>
            <a:ext cx="4041648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165210" y="425196"/>
            <a:ext cx="1170681" cy="100279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8926" y="438912"/>
            <a:ext cx="1143249" cy="97535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912607" y="1469135"/>
            <a:ext cx="367588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Upper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12607" y="1688591"/>
            <a:ext cx="367588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+2*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65210" y="2132075"/>
            <a:ext cx="1170681" cy="100279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926" y="2145791"/>
            <a:ext cx="1143249" cy="975359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912607" y="3176015"/>
            <a:ext cx="367588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Lower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12607" y="3395471"/>
            <a:ext cx="367588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+4*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65210" y="3838956"/>
            <a:ext cx="1170681" cy="100279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L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8926" y="3852671"/>
            <a:ext cx="1143249" cy="975359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7912607" y="4882895"/>
            <a:ext cx="367588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None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12607" y="5102351"/>
            <a:ext cx="367588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+2*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2920" y="5632704"/>
            <a:ext cx="11268455" cy="676656"/>
          </a:xfrm>
          <a:prstGeom prst="roundRect">
            <a:avLst>
              <a:gd name="adj" fmla="val 12000"/>
            </a:avLst>
          </a:prstGeom>
          <a:solidFill>
            <a:srgbClr val="FB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D44"/>
                </a:solidFill>
                <a:latin typeface="Karla"/>
              </a:rPr>
              <a:t>Etwas verwirrend favors Lower; Größtenteils leicht verständlich favors Upper; Sehr leicht verständlich favors Lower; Sehr verwirrend favors Lower. The widest segment gap is Upper: +5 etwas verwirrend / +9 größtenteils leicht verständlich / +2 sehr leicht verständlich / -7 sehr verwirrend.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Top-2 scores rounded to whole points. *Average of the groups in the legend.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7043927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10X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04392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10X splits across the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043927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17086"/>
                </a:solidFill>
                <a:latin typeface="Karla"/>
              </a:rPr>
              <a:t>Etwas verwirrend favors Down Below; Größtenteils leicht verständlich favors 10xstarkerer; Sehr leicht verständlich favors 10xstarkerer; Sehr verwirrend favors Down Below.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7043927" cy="256032"/>
          </a:xfrm>
          <a:prstGeom prst="rect">
            <a:avLst/>
          </a:prstGeom>
          <a:solidFill>
            <a:srgbClr val="F7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D44"/>
                </a:solidFill>
                <a:latin typeface="Karla"/>
              </a:rPr>
              <a:t>10X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7128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74520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-20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90975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39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07431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16495" y="1645920"/>
            <a:ext cx="9144" cy="309067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3887" y="4754879"/>
            <a:ext cx="585216" cy="1828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40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83583" y="1645920"/>
            <a:ext cx="10972" cy="3090672"/>
          </a:xfrm>
          <a:prstGeom prst="rect">
            <a:avLst/>
          </a:prstGeom>
          <a:solidFill>
            <a:srgbClr val="C5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67128" y="4736592"/>
            <a:ext cx="4849367" cy="10972"/>
          </a:xfrm>
          <a:prstGeom prst="rect">
            <a:avLst/>
          </a:prstGeom>
          <a:solidFill>
            <a:srgbClr val="C5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805940"/>
            <a:ext cx="1554480" cy="45262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Down Below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83583" y="1805940"/>
            <a:ext cx="808227" cy="82296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6675" y="1805940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83583" y="1929384"/>
            <a:ext cx="323291" cy="8229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1739" y="1929384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83583" y="2052828"/>
            <a:ext cx="323291" cy="8229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1739" y="2052828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83583" y="2176272"/>
            <a:ext cx="2101392" cy="82296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39840" y="2176272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578608"/>
            <a:ext cx="1554480" cy="45262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10xstarkerer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1115" y="2578608"/>
            <a:ext cx="242468" cy="82296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29051" y="2578608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-3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83583" y="2702052"/>
            <a:ext cx="323291" cy="8229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1739" y="2702052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83583" y="2825496"/>
            <a:ext cx="646582" cy="8229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5030" y="2825496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83583" y="2948939"/>
            <a:ext cx="1697278" cy="82296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35726" y="2948939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3351276"/>
            <a:ext cx="1554480" cy="45262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Extra Large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83583" y="3351276"/>
            <a:ext cx="727405" cy="82296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65853" y="3351276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83583" y="3474720"/>
            <a:ext cx="323291" cy="8229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61739" y="3474720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83583" y="3598164"/>
            <a:ext cx="404113" cy="8229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42561" y="3598164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83583" y="3721608"/>
            <a:ext cx="969873" cy="82296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08321" y="3721608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4123944"/>
            <a:ext cx="1554480" cy="45262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Medium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83583" y="4123944"/>
            <a:ext cx="646582" cy="82296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85030" y="4123944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332"/>
                </a:solidFill>
                <a:latin typeface="Karla"/>
              </a:rPr>
              <a:t>+8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83583" y="4247388"/>
            <a:ext cx="323291" cy="8229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61739" y="4247388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+4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83583" y="4370831"/>
            <a:ext cx="646582" cy="8229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85030" y="4370831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5C26"/>
                </a:solidFill>
                <a:latin typeface="Karla"/>
              </a:rPr>
              <a:t>+8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83583" y="4494276"/>
            <a:ext cx="646582" cy="82296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85030" y="4494276"/>
            <a:ext cx="457200" cy="822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89"/>
                </a:solidFill>
                <a:latin typeface="Karla"/>
              </a:rPr>
              <a:t>+8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53743" y="5161788"/>
            <a:ext cx="100584" cy="10058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27479" y="5102352"/>
            <a:ext cx="227584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Etwas verwirrend (basesize = 29)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59351" y="5161788"/>
            <a:ext cx="100584" cy="1005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33087" y="5102352"/>
            <a:ext cx="341376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Größtenteils leicht verständlich (basesize = 66)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765299" y="5381244"/>
            <a:ext cx="100584" cy="10058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39035" y="5321808"/>
            <a:ext cx="291592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Sehr leicht verständlich (basesize = 100)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110987" y="5381244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84723" y="5321808"/>
            <a:ext cx="2133600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A4A"/>
                </a:solidFill>
                <a:latin typeface="Karla"/>
              </a:rPr>
              <a:t>Sehr verwirrend (basesize = 7)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29727" y="237744"/>
            <a:ext cx="4041648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954143" y="425196"/>
            <a:ext cx="1672575" cy="18562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7859" y="438912"/>
            <a:ext cx="1645143" cy="1828799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912607" y="2322575"/>
            <a:ext cx="175564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Down Below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12607" y="2542031"/>
            <a:ext cx="175564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+11*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874383" y="425196"/>
            <a:ext cx="1672575" cy="18562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M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8099" y="438912"/>
            <a:ext cx="1645143" cy="1828799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9832847" y="2322575"/>
            <a:ext cx="175564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10xstarkerer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32847" y="2542031"/>
            <a:ext cx="175564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+8*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54143" y="2985515"/>
            <a:ext cx="1672575" cy="18562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M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7859" y="2999232"/>
            <a:ext cx="1645143" cy="1828799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7912607" y="4882895"/>
            <a:ext cx="175564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Extra Large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12607" y="5102351"/>
            <a:ext cx="175564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+8*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874383" y="2985515"/>
            <a:ext cx="1672575" cy="18562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M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8099" y="2999232"/>
            <a:ext cx="1645143" cy="1828799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9832847" y="4882895"/>
            <a:ext cx="1755647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Medium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32847" y="5102351"/>
            <a:ext cx="1755647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+7*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02920" y="5632704"/>
            <a:ext cx="11268455" cy="676656"/>
          </a:xfrm>
          <a:prstGeom prst="roundRect">
            <a:avLst>
              <a:gd name="adj" fmla="val 12000"/>
            </a:avLst>
          </a:prstGeom>
          <a:solidFill>
            <a:srgbClr val="FB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D44"/>
                </a:solidFill>
                <a:latin typeface="Karla"/>
              </a:rPr>
              <a:t>Etwas verwirrend favors Down Below; Größtenteils leicht verständlich favors 10xstarkerer; Sehr leicht verständlich favors 10xstarkerer; Sehr verwirrend favors Down Below. The widest segment gap is 10xstarkerer: -3 etwas verwirrend / +4 größtenteils leicht verständlich / +8 sehr leicht verständlich / +21 sehr verwirrend.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Top-2 scores rounded to whole points. *Average of the groups in the legend.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COMBINED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E2D44"/>
                </a:solidFill>
                <a:latin typeface="Karla"/>
              </a:rPr>
              <a:t>Highest-lift layers, stacked into one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One element from every silo — the strongest in that silo — composited in layer order. The background sits underneath.</a:t>
            </a:r>
          </a:p>
        </p:txBody>
      </p:sp>
      <p:pic>
        <p:nvPicPr>
          <p:cNvPr id="5" name="Picture 4" descr="A9-B3-C2-D6-E2-F3-G1-H1-I3-J1-K1-L1-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2941451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99819" y="1371600"/>
            <a:ext cx="347472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01</a:t>
            </a:r>
          </a:p>
        </p:txBody>
      </p:sp>
      <p:pic>
        <p:nvPicPr>
          <p:cNvPr id="7" name="Picture 6" descr="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105" y="1394741"/>
            <a:ext cx="163365" cy="2843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76300" y="1371600"/>
            <a:ext cx="6257587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Box   ·   Teal Maximum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1371600"/>
            <a:ext cx="731520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9819" y="1702190"/>
            <a:ext cx="347472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02</a:t>
            </a:r>
          </a:p>
        </p:txBody>
      </p:sp>
      <p:pic>
        <p:nvPicPr>
          <p:cNvPr id="11" name="Picture 10" descr="B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7291" y="1803298"/>
            <a:ext cx="200993" cy="128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76300" y="1702190"/>
            <a:ext cx="6257587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Stripes   ·   Large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1702190"/>
            <a:ext cx="731520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9819" y="2032781"/>
            <a:ext cx="347472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03</a:t>
            </a:r>
          </a:p>
        </p:txBody>
      </p:sp>
      <p:pic>
        <p:nvPicPr>
          <p:cNvPr id="15" name="Picture 14" descr="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7291" y="2061391"/>
            <a:ext cx="200993" cy="27337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76300" y="2032781"/>
            <a:ext cx="6257587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Box Label   ·   Full Pink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35640" y="2032781"/>
            <a:ext cx="731520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9819" y="2363372"/>
            <a:ext cx="347472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04</a:t>
            </a:r>
          </a:p>
        </p:txBody>
      </p:sp>
      <p:pic>
        <p:nvPicPr>
          <p:cNvPr id="19" name="Picture 18" descr="D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2327" y="2386513"/>
            <a:ext cx="110921" cy="2843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276300" y="2363372"/>
            <a:ext cx="6257587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Word Options   ·   Maximum Large Side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2363372"/>
            <a:ext cx="731520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99819" y="2693963"/>
            <a:ext cx="347472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05</a:t>
            </a:r>
          </a:p>
        </p:txBody>
      </p:sp>
      <p:pic>
        <p:nvPicPr>
          <p:cNvPr id="23" name="Picture 22" descr="E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7291" y="2754530"/>
            <a:ext cx="200993" cy="20945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276300" y="2693963"/>
            <a:ext cx="6257587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Tick   ·   Holographic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2693963"/>
            <a:ext cx="731520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99819" y="3024553"/>
            <a:ext cx="347472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06</a:t>
            </a:r>
          </a:p>
        </p:txBody>
      </p:sp>
      <p:pic>
        <p:nvPicPr>
          <p:cNvPr id="27" name="Picture 26" descr="F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7291" y="3085121"/>
            <a:ext cx="200993" cy="20945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276300" y="3024553"/>
            <a:ext cx="6257587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Antitranspirant   ·   Larger Lower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35640" y="3024553"/>
            <a:ext cx="731520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99819" y="3355144"/>
            <a:ext cx="347472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07</a:t>
            </a:r>
          </a:p>
        </p:txBody>
      </p:sp>
      <p:pic>
        <p:nvPicPr>
          <p:cNvPr id="31" name="Picture 30" descr="G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47291" y="3415711"/>
            <a:ext cx="200993" cy="2094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276300" y="3355144"/>
            <a:ext cx="6257587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100H   ·   100H Above Right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3355144"/>
            <a:ext cx="731520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99819" y="3685735"/>
            <a:ext cx="347472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08</a:t>
            </a:r>
          </a:p>
        </p:txBody>
      </p:sp>
      <p:pic>
        <p:nvPicPr>
          <p:cNvPr id="35" name="Picture 34" descr="H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47291" y="3746302"/>
            <a:ext cx="200993" cy="20945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276300" y="3685735"/>
            <a:ext cx="6257587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Clean Confidence   ·   Dark Teal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35640" y="3685735"/>
            <a:ext cx="731520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99819" y="4016326"/>
            <a:ext cx="347472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09</a:t>
            </a:r>
          </a:p>
        </p:txBody>
      </p:sp>
      <p:pic>
        <p:nvPicPr>
          <p:cNvPr id="39" name="Picture 38" descr="I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47291" y="4076893"/>
            <a:ext cx="200993" cy="20945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276300" y="4016326"/>
            <a:ext cx="6257587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Four Dots   ·   Pink Upper Right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35640" y="4016326"/>
            <a:ext cx="731520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819" y="4346916"/>
            <a:ext cx="347472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10</a:t>
            </a:r>
          </a:p>
        </p:txBody>
      </p:sp>
      <p:pic>
        <p:nvPicPr>
          <p:cNvPr id="43" name="Picture 42" descr="J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47291" y="4407484"/>
            <a:ext cx="200993" cy="20945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276300" y="4346916"/>
            <a:ext cx="6257587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16p   ·   Bottom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35640" y="4346916"/>
            <a:ext cx="731520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99819" y="4677507"/>
            <a:ext cx="347472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11</a:t>
            </a:r>
          </a:p>
        </p:txBody>
      </p:sp>
      <p:pic>
        <p:nvPicPr>
          <p:cNvPr id="47" name="Picture 46" descr="K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47291" y="4738075"/>
            <a:ext cx="200993" cy="20945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276300" y="4677507"/>
            <a:ext cx="6257587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Schutz   ·   Bottom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35640" y="4677507"/>
            <a:ext cx="731520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99819" y="5008098"/>
            <a:ext cx="347472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12</a:t>
            </a:r>
          </a:p>
        </p:txBody>
      </p:sp>
      <p:pic>
        <p:nvPicPr>
          <p:cNvPr id="51" name="Picture 50" descr="L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47291" y="5068665"/>
            <a:ext cx="200993" cy="209456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276300" y="5008098"/>
            <a:ext cx="6257587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Deocreme   ·   Lower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35640" y="5008098"/>
            <a:ext cx="731520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99819" y="5338689"/>
            <a:ext cx="347472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13</a:t>
            </a:r>
          </a:p>
        </p:txBody>
      </p:sp>
      <p:pic>
        <p:nvPicPr>
          <p:cNvPr id="55" name="Picture 54" descr="M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47291" y="5399256"/>
            <a:ext cx="200993" cy="209456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4276300" y="5338689"/>
            <a:ext cx="6257587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10X   ·   Down Below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35640" y="5338689"/>
            <a:ext cx="731520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5742432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E2D44"/>
                </a:solidFill>
                <a:latin typeface="Karla"/>
              </a:rPr>
              <a:t>Layer lift +120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n=206 respondents.  Top-2 Box model (ratings 4–5): element lifts show movement above or below the model baseline.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COMBINED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E2D44"/>
                </a:solidFill>
                <a:latin typeface="Karla"/>
              </a:rPr>
              <a:t>Lowest-lift layers, stacked into one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The same silos and the same stacking order, using each silo’s weakest element.</a:t>
            </a:r>
          </a:p>
        </p:txBody>
      </p:sp>
      <p:pic>
        <p:nvPicPr>
          <p:cNvPr id="5" name="Picture 4" descr="A1-B1-C3-D1-E3-F2-G2-H2-I1-J3-K2-L2-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2941451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99819" y="1371600"/>
            <a:ext cx="347472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01</a:t>
            </a:r>
          </a:p>
        </p:txBody>
      </p:sp>
      <p:pic>
        <p:nvPicPr>
          <p:cNvPr id="7" name="Picture 6" descr="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349" y="1394741"/>
            <a:ext cx="162876" cy="2843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76300" y="1371600"/>
            <a:ext cx="6257587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Box   ·   White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1371600"/>
            <a:ext cx="731520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9819" y="1702190"/>
            <a:ext cx="347472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02</a:t>
            </a:r>
          </a:p>
        </p:txBody>
      </p:sp>
      <p:pic>
        <p:nvPicPr>
          <p:cNvPr id="11" name="Picture 10" descr="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7291" y="1803298"/>
            <a:ext cx="200993" cy="128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76300" y="1702190"/>
            <a:ext cx="6257587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Stripes   ·   Small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1702190"/>
            <a:ext cx="731520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9819" y="2032781"/>
            <a:ext cx="347472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03</a:t>
            </a:r>
          </a:p>
        </p:txBody>
      </p:sp>
      <p:pic>
        <p:nvPicPr>
          <p:cNvPr id="15" name="Picture 14" descr="C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7326" y="2055922"/>
            <a:ext cx="200924" cy="2843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76300" y="2032781"/>
            <a:ext cx="6257587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Box Label   ·   None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35640" y="2032781"/>
            <a:ext cx="731520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9819" y="2363372"/>
            <a:ext cx="347472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04</a:t>
            </a:r>
          </a:p>
        </p:txBody>
      </p:sp>
      <p:pic>
        <p:nvPicPr>
          <p:cNvPr id="19" name="Picture 18" descr="D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7291" y="2423939"/>
            <a:ext cx="200993" cy="20945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276300" y="2363372"/>
            <a:ext cx="6257587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Word Options   ·   Clinical Small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2363372"/>
            <a:ext cx="731520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99819" y="2693963"/>
            <a:ext cx="347472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05</a:t>
            </a:r>
          </a:p>
        </p:txBody>
      </p:sp>
      <p:pic>
        <p:nvPicPr>
          <p:cNvPr id="23" name="Picture 22" descr="E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7291" y="2754530"/>
            <a:ext cx="200993" cy="20945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276300" y="2693963"/>
            <a:ext cx="6257587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Tick   ·   Glossy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2693963"/>
            <a:ext cx="731520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99819" y="3024553"/>
            <a:ext cx="347472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06</a:t>
            </a:r>
          </a:p>
        </p:txBody>
      </p:sp>
      <p:pic>
        <p:nvPicPr>
          <p:cNvPr id="27" name="Picture 26" descr="F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7291" y="3085121"/>
            <a:ext cx="200993" cy="20945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276300" y="3024553"/>
            <a:ext cx="6257587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Antitranspirant   ·   Larger Upper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35640" y="3024553"/>
            <a:ext cx="731520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99819" y="3355144"/>
            <a:ext cx="347472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07</a:t>
            </a:r>
          </a:p>
        </p:txBody>
      </p:sp>
      <p:pic>
        <p:nvPicPr>
          <p:cNvPr id="31" name="Picture 30" descr="G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47291" y="3415711"/>
            <a:ext cx="200993" cy="2094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276300" y="3355144"/>
            <a:ext cx="6257587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100H   ·   100H Above Left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3355144"/>
            <a:ext cx="731520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99819" y="3685735"/>
            <a:ext cx="347472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08</a:t>
            </a:r>
          </a:p>
        </p:txBody>
      </p:sp>
      <p:pic>
        <p:nvPicPr>
          <p:cNvPr id="35" name="Picture 34" descr="H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47291" y="3746302"/>
            <a:ext cx="200993" cy="20945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276300" y="3685735"/>
            <a:ext cx="6257587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Clean Confidence   ·   Pink Aboveline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35640" y="3685735"/>
            <a:ext cx="731520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99819" y="4016326"/>
            <a:ext cx="347472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09</a:t>
            </a:r>
          </a:p>
        </p:txBody>
      </p:sp>
      <p:pic>
        <p:nvPicPr>
          <p:cNvPr id="39" name="Picture 38" descr="I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47291" y="4076893"/>
            <a:ext cx="200993" cy="20945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276300" y="4016326"/>
            <a:ext cx="6257587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Four Dots   ·   Silver Left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35640" y="4016326"/>
            <a:ext cx="731520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819" y="4346916"/>
            <a:ext cx="347472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10</a:t>
            </a:r>
          </a:p>
        </p:txBody>
      </p:sp>
      <p:pic>
        <p:nvPicPr>
          <p:cNvPr id="43" name="Picture 42" descr="J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47291" y="4407484"/>
            <a:ext cx="200993" cy="20945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276300" y="4346916"/>
            <a:ext cx="6257587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16p   ·   Top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35640" y="4346916"/>
            <a:ext cx="731520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99819" y="4677507"/>
            <a:ext cx="347472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11</a:t>
            </a:r>
          </a:p>
        </p:txBody>
      </p:sp>
      <p:pic>
        <p:nvPicPr>
          <p:cNvPr id="47" name="Picture 46" descr="K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47291" y="4738075"/>
            <a:ext cx="200993" cy="20945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276300" y="4677507"/>
            <a:ext cx="6257587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Schutz   ·   Middle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35640" y="4677507"/>
            <a:ext cx="731520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99819" y="5008098"/>
            <a:ext cx="347472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12</a:t>
            </a:r>
          </a:p>
        </p:txBody>
      </p:sp>
      <p:pic>
        <p:nvPicPr>
          <p:cNvPr id="51" name="Picture 50" descr="L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47291" y="5068665"/>
            <a:ext cx="200993" cy="209456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276300" y="5008098"/>
            <a:ext cx="6257587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Deocreme   ·   Upper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35640" y="5008098"/>
            <a:ext cx="731520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99819" y="5338689"/>
            <a:ext cx="347472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13</a:t>
            </a:r>
          </a:p>
        </p:txBody>
      </p:sp>
      <p:pic>
        <p:nvPicPr>
          <p:cNvPr id="55" name="Picture 54" descr="M1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47291" y="5399256"/>
            <a:ext cx="200993" cy="209456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4276300" y="5338689"/>
            <a:ext cx="6257587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10X   ·   10xstarkerer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35640" y="5338689"/>
            <a:ext cx="731520" cy="33059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5742432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E2D44"/>
                </a:solidFill>
                <a:latin typeface="Karla"/>
              </a:rPr>
              <a:t>Layer lift +59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n=206 respondents.  Top-2 Box model (ratings 4–5): element lifts show movement above or below the model baseline.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BUILD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365760"/>
            <a:ext cx="11247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E2D44"/>
                </a:solidFill>
                <a:latin typeface="Karla"/>
              </a:rPr>
              <a:t>The higher-lift build against the lower-lift build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115568"/>
            <a:ext cx="5623560" cy="43159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" y="1188720"/>
            <a:ext cx="5586984" cy="1170432"/>
          </a:xfrm>
          <a:prstGeom prst="rect">
            <a:avLst/>
          </a:prstGeom>
          <a:solidFill>
            <a:srgbClr val="F3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115568"/>
            <a:ext cx="5623560" cy="50292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25295"/>
            <a:ext cx="5330952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4746E"/>
                </a:solidFill>
                <a:latin typeface="Karla"/>
              </a:rPr>
              <a:t>HIGHER-LIFT BUILD</a:t>
            </a:r>
          </a:p>
        </p:txBody>
      </p:sp>
      <p:pic>
        <p:nvPicPr>
          <p:cNvPr id="8" name="Picture 7" descr="A9-B3-C2-D6-E2-F3-G1-H1-I3-J1-K1-L1-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463040"/>
            <a:ext cx="594755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26275" y="1499616"/>
            <a:ext cx="4535028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8935"/>
                </a:solidFill>
                <a:latin typeface="Karla"/>
              </a:rPr>
              <a:t>+120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6275" y="1938528"/>
            <a:ext cx="4535028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17086"/>
                </a:solidFill>
                <a:latin typeface="Karla"/>
              </a:rPr>
              <a:t>Lift only, no separate 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414016"/>
            <a:ext cx="1097280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Box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784" y="2414016"/>
            <a:ext cx="3502152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Teal Maximum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9512" y="2414016"/>
            <a:ext cx="658368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2640505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640505"/>
            <a:ext cx="1097280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Stripes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640505"/>
            <a:ext cx="3502152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Large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9512" y="2640505"/>
            <a:ext cx="658368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" y="2866995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2866995"/>
            <a:ext cx="1097280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Box Label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0784" y="2866995"/>
            <a:ext cx="3502152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Full Pink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9512" y="2866995"/>
            <a:ext cx="658368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" y="3093485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093485"/>
            <a:ext cx="1097280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Word Options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0784" y="3093485"/>
            <a:ext cx="3502152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Maximum Large Side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9512" y="3093485"/>
            <a:ext cx="658368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" y="3319975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3319975"/>
            <a:ext cx="1097280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Tick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3319975"/>
            <a:ext cx="3502152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Holographic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9512" y="3319975"/>
            <a:ext cx="658368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2064" y="3546465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3546465"/>
            <a:ext cx="1097280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Antitranspirant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0784" y="3546465"/>
            <a:ext cx="3502152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Larger Lower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9512" y="3546465"/>
            <a:ext cx="658368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" y="3772955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3772955"/>
            <a:ext cx="1097280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100H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00784" y="3772955"/>
            <a:ext cx="3502152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Above Right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39512" y="3772955"/>
            <a:ext cx="658368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2064" y="3999444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3999444"/>
            <a:ext cx="1097280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Clean Confidence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00784" y="3999444"/>
            <a:ext cx="3502152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Dark Teal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39512" y="3999444"/>
            <a:ext cx="658368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2064" y="4225934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0352" y="4225934"/>
            <a:ext cx="1097280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Four Dots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00784" y="4225934"/>
            <a:ext cx="3502152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Pink Upper Right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39512" y="4225934"/>
            <a:ext cx="658368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" y="4452424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0352" y="4452424"/>
            <a:ext cx="1097280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16p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00784" y="4452424"/>
            <a:ext cx="3502152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Bottom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39512" y="4452424"/>
            <a:ext cx="658368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2064" y="4678914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4678914"/>
            <a:ext cx="1097280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Schutz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00784" y="4678914"/>
            <a:ext cx="3502152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Bottom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39512" y="4678914"/>
            <a:ext cx="658368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2064" y="4905404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0352" y="4905404"/>
            <a:ext cx="1097280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Deocreme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00784" y="4905404"/>
            <a:ext cx="3502152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Lower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39512" y="4905404"/>
            <a:ext cx="658368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" y="5131894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0352" y="5131894"/>
            <a:ext cx="1097280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10X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700784" y="5131894"/>
            <a:ext cx="3502152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Down Below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39512" y="5131894"/>
            <a:ext cx="658368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81344" y="1115568"/>
            <a:ext cx="5623560" cy="43159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199631" y="1188720"/>
            <a:ext cx="5586984" cy="1170432"/>
          </a:xfrm>
          <a:prstGeom prst="rect">
            <a:avLst/>
          </a:prstGeom>
          <a:solidFill>
            <a:srgbClr val="F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81344" y="1115568"/>
            <a:ext cx="5623560" cy="50292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27648" y="1225295"/>
            <a:ext cx="5330952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6B84"/>
                </a:solidFill>
                <a:latin typeface="Karla"/>
              </a:rPr>
              <a:t>LOWER-LIFT BUILD</a:t>
            </a:r>
          </a:p>
        </p:txBody>
      </p:sp>
      <p:pic>
        <p:nvPicPr>
          <p:cNvPr id="66" name="Picture 65" descr="A1-B1-C3-D1-E3-F2-G2-H2-I1-J3-K2-L2-M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463040"/>
            <a:ext cx="594755" cy="84124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123571" y="1499616"/>
            <a:ext cx="4535028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8935"/>
                </a:solidFill>
                <a:latin typeface="Karla"/>
              </a:rPr>
              <a:t>+59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23571" y="1938528"/>
            <a:ext cx="4535028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17086"/>
                </a:solidFill>
                <a:latin typeface="Karla"/>
              </a:rPr>
              <a:t>Lift only, no separate base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27648" y="2414016"/>
            <a:ext cx="1097280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Box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98079" y="2414016"/>
            <a:ext cx="3502152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White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036808" y="2414016"/>
            <a:ext cx="658368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09359" y="2640505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27648" y="2640505"/>
            <a:ext cx="1097280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Stripes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98079" y="2640505"/>
            <a:ext cx="3502152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Small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036808" y="2640505"/>
            <a:ext cx="658368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59" y="2866995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27648" y="2866995"/>
            <a:ext cx="1097280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Box Label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98079" y="2866995"/>
            <a:ext cx="3502152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None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036808" y="2866995"/>
            <a:ext cx="658368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309359" y="3093485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27648" y="3093485"/>
            <a:ext cx="1097280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Word Options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498079" y="3093485"/>
            <a:ext cx="3502152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Clinical Small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036808" y="3093485"/>
            <a:ext cx="658368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309359" y="3319975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27648" y="3319975"/>
            <a:ext cx="1097280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Tick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98079" y="3319975"/>
            <a:ext cx="3502152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Glossy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036808" y="3319975"/>
            <a:ext cx="658368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+8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309359" y="3546465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27648" y="3546465"/>
            <a:ext cx="1097280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Antitranspirant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98079" y="3546465"/>
            <a:ext cx="3502152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Larger Upper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036808" y="3546465"/>
            <a:ext cx="658368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309359" y="3772955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327648" y="3772955"/>
            <a:ext cx="1097280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100H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98079" y="3772955"/>
            <a:ext cx="3502152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Above Left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036808" y="3772955"/>
            <a:ext cx="658368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309359" y="3999444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327648" y="3999444"/>
            <a:ext cx="1097280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Clean Confidence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498079" y="3999444"/>
            <a:ext cx="3502152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Pink Aboveline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036808" y="3999444"/>
            <a:ext cx="658368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309359" y="4225934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327648" y="4225934"/>
            <a:ext cx="1097280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Four Dots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498079" y="4225934"/>
            <a:ext cx="3502152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Silver Left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036808" y="4225934"/>
            <a:ext cx="658368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59" y="4452424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27648" y="4452424"/>
            <a:ext cx="1097280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16p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498079" y="4452424"/>
            <a:ext cx="3502152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Top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036808" y="4452424"/>
            <a:ext cx="658368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309359" y="4678914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327648" y="4678914"/>
            <a:ext cx="1097280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Schutz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498079" y="4678914"/>
            <a:ext cx="3502152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Middle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036808" y="4678914"/>
            <a:ext cx="658368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+4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309359" y="4905404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327648" y="4905404"/>
            <a:ext cx="1097280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Deocreme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498079" y="4905404"/>
            <a:ext cx="3502152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Upper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036808" y="4905404"/>
            <a:ext cx="658368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+4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309359" y="5131894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327648" y="5131894"/>
            <a:ext cx="1097280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10X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498079" y="5131894"/>
            <a:ext cx="3502152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10xstarkerer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036808" y="5131894"/>
            <a:ext cx="658368" cy="22648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+5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384048" y="5559552"/>
            <a:ext cx="11420856" cy="475488"/>
          </a:xfrm>
          <a:prstGeom prst="roundRect">
            <a:avLst>
              <a:gd name="adj" fmla="val 8000"/>
            </a:avLst>
          </a:prstGeom>
          <a:solidFill>
            <a:srgbClr val="F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66928" y="5559552"/>
            <a:ext cx="11064240" cy="47548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The higher-lift build leads by +61 points. This model has no intercept, so the totals are the element lifts.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n=206 respondents.  Top-2 Box model (ratings 4–5): element lifts show movement above or below the model baseline.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10058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1E2D44"/>
                </a:solidFill>
                <a:latin typeface="Karla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94760"/>
            <a:ext cx="1280160" cy="5486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APPENDIX  ·  FULL ELEMENT LIFT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E2D44"/>
                </a:solidFill>
                <a:latin typeface="Karla"/>
              </a:rPr>
              <a:t>Every element, same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617086"/>
                </a:solidFill>
                <a:latin typeface="Karla"/>
              </a:rPr>
              <a:t>Scores are Top-2 Box coefficients (ratings 4–5), rounded the same way as the charts. Green is lift above the baseline. Red is lift below it. A star means the coefficient cleared the study threshold.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10312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E2D44"/>
                </a:solidFill>
                <a:latin typeface="Karla"/>
              </a:rPr>
              <a:t>No intercept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Base appeal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210312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24028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E2D44"/>
                </a:solidFill>
                <a:latin typeface="Karla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92608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Silos in the tables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210312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24028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E2D44"/>
                </a:solidFill>
                <a:latin typeface="Karla"/>
              </a:rPr>
              <a:t>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92608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Elements scored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n=206 respondents.  Top-2 Box model (ratings 4–5): element lifts show movement above or below the model baseline.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FULL ELEMENT LIFT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1247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E2D44"/>
                </a:solidFill>
                <a:latin typeface="Karla"/>
              </a:rPr>
              <a:t>Box   ·   Stripes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1024128"/>
            <a:ext cx="5623560" cy="27432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D44"/>
                </a:solidFill>
                <a:latin typeface="Karla"/>
              </a:rPr>
              <a:t>BOX PREFERENCES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2808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19656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3185160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92552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7512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84904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9864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92808" y="1353312"/>
            <a:ext cx="13716" cy="4251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92808" y="5605272"/>
            <a:ext cx="3877056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92808" y="1490319"/>
            <a:ext cx="2326233" cy="19842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83049" y="1353312"/>
            <a:ext cx="512064" cy="47244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4918" y="1377238"/>
            <a:ext cx="305593" cy="4245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062" y="1386382"/>
            <a:ext cx="287305" cy="40629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892808" y="1962759"/>
            <a:ext cx="2067763" cy="19842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4579" y="1825752"/>
            <a:ext cx="512064" cy="47244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04918" y="1849678"/>
            <a:ext cx="305593" cy="4245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062" y="1858822"/>
            <a:ext cx="287305" cy="40629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1892808" y="2435199"/>
            <a:ext cx="2067763" cy="19842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4579" y="2298192"/>
            <a:ext cx="512064" cy="47244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04918" y="2322118"/>
            <a:ext cx="305593" cy="4245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062" y="2331262"/>
            <a:ext cx="287305" cy="406298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892808" y="2907639"/>
            <a:ext cx="1938528" cy="19842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95344" y="2770632"/>
            <a:ext cx="512064" cy="47244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04918" y="2794558"/>
            <a:ext cx="305593" cy="4245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A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4062" y="2803702"/>
            <a:ext cx="287305" cy="406298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1892808" y="3380079"/>
            <a:ext cx="1550822" cy="19842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07638" y="3243072"/>
            <a:ext cx="512064" cy="47244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04918" y="3266998"/>
            <a:ext cx="305593" cy="4245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A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4062" y="3276142"/>
            <a:ext cx="287305" cy="406298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1892808" y="3852519"/>
            <a:ext cx="1421587" cy="19842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78403" y="3715512"/>
            <a:ext cx="512064" cy="47244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04918" y="3739438"/>
            <a:ext cx="305593" cy="4245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A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4062" y="3748582"/>
            <a:ext cx="287305" cy="406298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1892808" y="4324959"/>
            <a:ext cx="1292352" cy="19842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49168" y="4187952"/>
            <a:ext cx="512064" cy="47244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04918" y="4211878"/>
            <a:ext cx="305593" cy="4245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A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4062" y="4221022"/>
            <a:ext cx="287305" cy="406298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1892808" y="4797399"/>
            <a:ext cx="1033881" cy="19842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90697" y="4660392"/>
            <a:ext cx="512064" cy="47244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04918" y="4684318"/>
            <a:ext cx="305593" cy="4245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A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4062" y="4693462"/>
            <a:ext cx="287305" cy="406298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1892808" y="5269839"/>
            <a:ext cx="387705" cy="19842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44521" y="5132832"/>
            <a:ext cx="512064" cy="47244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4918" y="5156758"/>
            <a:ext cx="305593" cy="4245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A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14062" y="5165902"/>
            <a:ext cx="287305" cy="406298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6355080" y="1024128"/>
            <a:ext cx="5623560" cy="27432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D44"/>
                </a:solidFill>
                <a:latin typeface="Karla"/>
              </a:rPr>
              <a:t>STRIPES PREFERENCES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46720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73568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985248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923776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11712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46720" y="1353312"/>
            <a:ext cx="13716" cy="4251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046720" y="5605272"/>
            <a:ext cx="3877056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046720" y="1597914"/>
            <a:ext cx="3101644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212372" y="1353312"/>
            <a:ext cx="512064" cy="70866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45936" y="1636255"/>
            <a:ext cx="1618488" cy="14277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B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5079" y="1645399"/>
            <a:ext cx="1600200" cy="124485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8046720" y="2306574"/>
            <a:ext cx="3101644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212372" y="2061972"/>
            <a:ext cx="512064" cy="70866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46062" y="2102434"/>
            <a:ext cx="418361" cy="6277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B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55206" y="2111578"/>
            <a:ext cx="400073" cy="609447"/>
          </a:xfrm>
          <a:prstGeom prst="rect">
            <a:avLst/>
          </a:prstGeom>
        </p:spPr>
      </p:pic>
      <p:sp>
        <p:nvSpPr>
          <p:cNvPr id="68" name="Rectangle 67"/>
          <p:cNvSpPr/>
          <p:nvPr/>
        </p:nvSpPr>
        <p:spPr>
          <a:xfrm>
            <a:off x="8046720" y="3015234"/>
            <a:ext cx="2713939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824667" y="2770632"/>
            <a:ext cx="512064" cy="70866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46062" y="2811094"/>
            <a:ext cx="418361" cy="6277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B4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55206" y="2820238"/>
            <a:ext cx="400073" cy="609447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8046720" y="3723894"/>
            <a:ext cx="2326233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436961" y="3479292"/>
            <a:ext cx="512064" cy="70866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345936" y="3772420"/>
            <a:ext cx="1618488" cy="12240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B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55079" y="3781564"/>
            <a:ext cx="1600200" cy="104114"/>
          </a:xfrm>
          <a:prstGeom prst="rect">
            <a:avLst/>
          </a:prstGeom>
        </p:spPr>
      </p:pic>
      <p:sp>
        <p:nvSpPr>
          <p:cNvPr id="76" name="Rectangle 75"/>
          <p:cNvSpPr/>
          <p:nvPr/>
        </p:nvSpPr>
        <p:spPr>
          <a:xfrm>
            <a:off x="8046720" y="4432554"/>
            <a:ext cx="2326233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436961" y="4187952"/>
            <a:ext cx="512064" cy="70866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546062" y="4228414"/>
            <a:ext cx="418361" cy="6277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B6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55206" y="4237558"/>
            <a:ext cx="400073" cy="609447"/>
          </a:xfrm>
          <a:prstGeom prst="rect">
            <a:avLst/>
          </a:prstGeom>
        </p:spPr>
      </p:pic>
      <p:sp>
        <p:nvSpPr>
          <p:cNvPr id="80" name="Rectangle 79"/>
          <p:cNvSpPr/>
          <p:nvPr/>
        </p:nvSpPr>
        <p:spPr>
          <a:xfrm>
            <a:off x="8046720" y="5141214"/>
            <a:ext cx="1938528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049256" y="4896612"/>
            <a:ext cx="512064" cy="70866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45936" y="5202189"/>
            <a:ext cx="1618488" cy="9750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B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55079" y="5211333"/>
            <a:ext cx="1600200" cy="79217"/>
          </a:xfrm>
          <a:prstGeom prst="rect">
            <a:avLst/>
          </a:prstGeom>
        </p:spPr>
      </p:pic>
      <p:sp>
        <p:nvSpPr>
          <p:cNvPr id="84" name="Rectangle 83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n=206 respondents.  Top-2 Box model (ratings 4–5): element lifts show movement above or below the model baseline.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FULL ELEMENT LIFT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1247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E2D44"/>
                </a:solidFill>
                <a:latin typeface="Karla"/>
              </a:rPr>
              <a:t>Box Label   ·   Word Options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1024128"/>
            <a:ext cx="5623560" cy="27432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D44"/>
                </a:solidFill>
                <a:latin typeface="Karla"/>
              </a:rPr>
              <a:t>BOX LABEL PREFERENCES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2808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19656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3185160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92552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7512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84904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9864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92808" y="1353312"/>
            <a:ext cx="13716" cy="4251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92808" y="5605272"/>
            <a:ext cx="3877056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92808" y="1952243"/>
            <a:ext cx="3101644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8460" y="1353312"/>
            <a:ext cx="512064" cy="141732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0306" y="1443380"/>
            <a:ext cx="880205" cy="123718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450" y="1452524"/>
            <a:ext cx="861917" cy="121889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892808" y="3369564"/>
            <a:ext cx="1550822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7638" y="2770632"/>
            <a:ext cx="512064" cy="141732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0306" y="2860700"/>
            <a:ext cx="880205" cy="123718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450" y="2869844"/>
            <a:ext cx="861917" cy="1218895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1892808" y="4786884"/>
            <a:ext cx="516940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73756" y="4187952"/>
            <a:ext cx="512064" cy="141732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0306" y="4278020"/>
            <a:ext cx="880205" cy="123718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450" y="4287164"/>
            <a:ext cx="861917" cy="1218895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355080" y="1024128"/>
            <a:ext cx="5623560" cy="27432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D44"/>
                </a:solidFill>
                <a:latin typeface="Karla"/>
              </a:rPr>
              <a:t>WORD OPTIONS PREFERENCES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73568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23376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85248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54512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61904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923776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11712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20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1353312"/>
            <a:ext cx="13716" cy="4251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46720" y="5605272"/>
            <a:ext cx="3877056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46720" y="1597914"/>
            <a:ext cx="3295497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06225" y="1353312"/>
            <a:ext cx="512064" cy="70866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72799" y="1393774"/>
            <a:ext cx="91624" cy="6277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D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1943" y="1402918"/>
            <a:ext cx="73336" cy="609447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8046720" y="2306574"/>
            <a:ext cx="3101644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212372" y="2061972"/>
            <a:ext cx="512064" cy="70866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69404" y="2102434"/>
            <a:ext cx="95019" cy="6277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8548" y="2111578"/>
            <a:ext cx="76731" cy="609447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046720" y="3015234"/>
            <a:ext cx="1550822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61550" y="2770632"/>
            <a:ext cx="512064" cy="70866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45936" y="2968226"/>
            <a:ext cx="1618488" cy="31347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D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79" y="2977370"/>
            <a:ext cx="1600200" cy="295182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8046720" y="3723894"/>
            <a:ext cx="1163116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73844" y="3479292"/>
            <a:ext cx="512064" cy="70866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45936" y="3673964"/>
            <a:ext cx="1618488" cy="31931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D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79" y="3683108"/>
            <a:ext cx="1600200" cy="301027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8046720" y="4432554"/>
            <a:ext cx="1163116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73844" y="4187952"/>
            <a:ext cx="512064" cy="70866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45936" y="4417431"/>
            <a:ext cx="1618488" cy="2497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D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5079" y="4426575"/>
            <a:ext cx="1600200" cy="231413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8046720" y="5141214"/>
            <a:ext cx="1163116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73844" y="4896612"/>
            <a:ext cx="512064" cy="70866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45936" y="5125327"/>
            <a:ext cx="1618488" cy="2512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D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5079" y="5134471"/>
            <a:ext cx="1600200" cy="23294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n=206 respondents.  Top-2 Box model (ratings 4–5): element lifts show movement above or below the model baseline.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FULL ELEMENT LIFT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1247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E2D44"/>
                </a:solidFill>
                <a:latin typeface="Karla"/>
              </a:rPr>
              <a:t>Tick   ·   Antitranspirant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1024128"/>
            <a:ext cx="5623560" cy="27432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D44"/>
                </a:solidFill>
                <a:latin typeface="Karla"/>
              </a:rPr>
              <a:t>TICK PREFERENCES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2808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19656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3185160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92552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7512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84904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9864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92808" y="1353312"/>
            <a:ext cx="13716" cy="4251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92808" y="5605272"/>
            <a:ext cx="3877056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92808" y="1775079"/>
            <a:ext cx="2843174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99990" y="1353312"/>
            <a:ext cx="512064" cy="106299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15894" y="1418577"/>
            <a:ext cx="694617" cy="93245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038" y="1427721"/>
            <a:ext cx="676329" cy="914171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892808" y="2838069"/>
            <a:ext cx="2584704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1520" y="2416302"/>
            <a:ext cx="512064" cy="106299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15894" y="2481567"/>
            <a:ext cx="694617" cy="93245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038" y="2490711"/>
            <a:ext cx="676329" cy="914171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1892808" y="3901059"/>
            <a:ext cx="2326233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83049" y="3479292"/>
            <a:ext cx="512064" cy="106299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15894" y="3544557"/>
            <a:ext cx="694617" cy="93245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5038" y="3553701"/>
            <a:ext cx="676329" cy="914171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892808" y="4964049"/>
            <a:ext cx="2067763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4579" y="4542282"/>
            <a:ext cx="512064" cy="106299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15894" y="4607547"/>
            <a:ext cx="694617" cy="93245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5038" y="4616691"/>
            <a:ext cx="676329" cy="914171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6355080" y="1024128"/>
            <a:ext cx="5623560" cy="27432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D44"/>
                </a:solidFill>
                <a:latin typeface="Karla"/>
              </a:rPr>
              <a:t>ANTITRANSPIRANT PREFERENCES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73568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85248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2640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923776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11712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1353312"/>
            <a:ext cx="13716" cy="4251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46720" y="5605272"/>
            <a:ext cx="3877056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46720" y="1952243"/>
            <a:ext cx="3101644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212372" y="1353312"/>
            <a:ext cx="512064" cy="141732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45936" y="1905344"/>
            <a:ext cx="1618488" cy="31325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F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79" y="1914488"/>
            <a:ext cx="1600200" cy="294967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8046720" y="3369564"/>
            <a:ext cx="2326233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36961" y="2770632"/>
            <a:ext cx="512064" cy="141732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45936" y="3290638"/>
            <a:ext cx="1618488" cy="37730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F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79" y="3299782"/>
            <a:ext cx="1600200" cy="359019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046720" y="4786884"/>
            <a:ext cx="1550822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61550" y="4187952"/>
            <a:ext cx="512064" cy="141732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45936" y="4739984"/>
            <a:ext cx="1618488" cy="31325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F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79" y="4749128"/>
            <a:ext cx="1600200" cy="294967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n=206 respondents.  Top-2 Box model (ratings 4–5): element lifts show movement above or below the model baseline.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FULL ELEMENT LIFT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1247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E2D44"/>
                </a:solidFill>
                <a:latin typeface="Karla"/>
              </a:rPr>
              <a:t>100H   ·   Clean Confidence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1024128"/>
            <a:ext cx="5623560" cy="27432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D44"/>
                </a:solidFill>
                <a:latin typeface="Karla"/>
              </a:rPr>
              <a:t>100H PREFERENCES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2808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19656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3185160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92552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7512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84904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9864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92808" y="1353312"/>
            <a:ext cx="13716" cy="4251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92808" y="5605272"/>
            <a:ext cx="3877056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92808" y="1775079"/>
            <a:ext cx="2326233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83049" y="1353312"/>
            <a:ext cx="512064" cy="106299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3" y="1585215"/>
            <a:ext cx="1618488" cy="59918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7" y="1594359"/>
            <a:ext cx="1600200" cy="58089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892808" y="2838069"/>
            <a:ext cx="2067763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4579" y="2416302"/>
            <a:ext cx="512064" cy="106299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3" y="2611339"/>
            <a:ext cx="1618488" cy="67291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G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7" y="2620483"/>
            <a:ext cx="1600200" cy="654627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1892808" y="3901059"/>
            <a:ext cx="1809292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66108" y="3479292"/>
            <a:ext cx="512064" cy="106299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2023" y="3719556"/>
            <a:ext cx="1618488" cy="58246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7" y="3728700"/>
            <a:ext cx="1600200" cy="564173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892808" y="4964049"/>
            <a:ext cx="1809292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66108" y="4542282"/>
            <a:ext cx="512064" cy="106299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023" y="4787675"/>
            <a:ext cx="1618488" cy="57220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G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7" y="4796819"/>
            <a:ext cx="1600200" cy="553915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6355080" y="1024128"/>
            <a:ext cx="5623560" cy="27432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D44"/>
                </a:solidFill>
                <a:latin typeface="Karla"/>
              </a:rPr>
              <a:t>CLEAN CONFIDENCE PREFERENCES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73568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15984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23376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85248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92640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954512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61904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923776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11712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20" y="1353312"/>
            <a:ext cx="13716" cy="4251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46720" y="5605272"/>
            <a:ext cx="3877056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0" y="1952243"/>
            <a:ext cx="2907791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018520" y="1353312"/>
            <a:ext cx="512064" cy="141732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48234" y="1443380"/>
            <a:ext cx="1116189" cy="123718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H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7378" y="1452524"/>
            <a:ext cx="1097901" cy="1218895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046720" y="3369564"/>
            <a:ext cx="1453895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64624" y="2770632"/>
            <a:ext cx="512064" cy="141732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48234" y="2860700"/>
            <a:ext cx="1116189" cy="123718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H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7378" y="2869844"/>
            <a:ext cx="1097901" cy="1218895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8046720" y="4786884"/>
            <a:ext cx="1453895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64624" y="4187952"/>
            <a:ext cx="512064" cy="141732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48234" y="4278020"/>
            <a:ext cx="1116189" cy="123718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H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7378" y="4287164"/>
            <a:ext cx="1097901" cy="1218895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n=206 respondents.  Top-2 Box model (ratings 4–5): element lifts show movement above or below the model baseline.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FULL ELEMENT LIFT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1247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E2D44"/>
                </a:solidFill>
                <a:latin typeface="Karla"/>
              </a:rPr>
              <a:t>Four Dots   ·   16p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1024128"/>
            <a:ext cx="5623560" cy="27432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D44"/>
                </a:solidFill>
                <a:latin typeface="Karla"/>
              </a:rPr>
              <a:t>FOUR DOTS PREFERENCES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2808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19656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3831336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8728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9864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0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92808" y="1353312"/>
            <a:ext cx="13716" cy="4251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92808" y="5605272"/>
            <a:ext cx="3877056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92808" y="1775079"/>
            <a:ext cx="3101644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58460" y="1353312"/>
            <a:ext cx="512064" cy="106299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92" y="1418577"/>
            <a:ext cx="841219" cy="93245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36" y="1427721"/>
            <a:ext cx="822931" cy="91417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892808" y="2838069"/>
            <a:ext cx="2326233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83049" y="2416302"/>
            <a:ext cx="512064" cy="106299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92" y="2481567"/>
            <a:ext cx="841219" cy="93245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36" y="2490711"/>
            <a:ext cx="822931" cy="914171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892808" y="3901059"/>
            <a:ext cx="1550822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07638" y="3479292"/>
            <a:ext cx="512064" cy="106299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92" y="3544557"/>
            <a:ext cx="841219" cy="93245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36" y="3553701"/>
            <a:ext cx="822931" cy="914171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1892808" y="4964049"/>
            <a:ext cx="1163116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19932" y="4542282"/>
            <a:ext cx="512064" cy="106299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92" y="4607547"/>
            <a:ext cx="841219" cy="93245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36" y="4616691"/>
            <a:ext cx="822931" cy="914171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6355080" y="1024128"/>
            <a:ext cx="5623560" cy="27432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D44"/>
                </a:solidFill>
                <a:latin typeface="Karla"/>
              </a:rPr>
              <a:t>16P PREFERENCES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73568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15984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23376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85248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2640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54512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61904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923776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11712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0" y="1353312"/>
            <a:ext cx="13716" cy="4251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6720" y="5605272"/>
            <a:ext cx="3877056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46720" y="1952243"/>
            <a:ext cx="2907791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018520" y="1353312"/>
            <a:ext cx="512064" cy="141732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45936" y="1574719"/>
            <a:ext cx="1618488" cy="97450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J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79" y="1583863"/>
            <a:ext cx="1600200" cy="956217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8046720" y="3369564"/>
            <a:ext cx="2907791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018520" y="2770632"/>
            <a:ext cx="512064" cy="141732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45936" y="2992039"/>
            <a:ext cx="1618488" cy="97450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J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79" y="3001183"/>
            <a:ext cx="1600200" cy="956217"/>
          </a:xfrm>
          <a:prstGeom prst="rect">
            <a:avLst/>
          </a:prstGeom>
        </p:spPr>
      </p:pic>
      <p:sp>
        <p:nvSpPr>
          <p:cNvPr id="50" name="Rectangle 49"/>
          <p:cNvSpPr/>
          <p:nvPr/>
        </p:nvSpPr>
        <p:spPr>
          <a:xfrm>
            <a:off x="8046720" y="4786884"/>
            <a:ext cx="2423160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33888" y="4187952"/>
            <a:ext cx="512064" cy="141732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45936" y="4409359"/>
            <a:ext cx="1618488" cy="97450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J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79" y="4418503"/>
            <a:ext cx="1600200" cy="956217"/>
          </a:xfrm>
          <a:prstGeom prst="rect">
            <a:avLst/>
          </a:prstGeom>
        </p:spPr>
      </p:pic>
      <p:sp>
        <p:nvSpPr>
          <p:cNvPr id="54" name="Rectangle 53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n=206 respondents.  Top-2 Box model (ratings 4–5): element lifts show movement above or below the model baseline.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FULL ELEMENT LIFT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1247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E2D44"/>
                </a:solidFill>
                <a:latin typeface="Karla"/>
              </a:rPr>
              <a:t>Schutz   ·   Deocreme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1024128"/>
            <a:ext cx="5623560" cy="27432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D44"/>
                </a:solidFill>
                <a:latin typeface="Karla"/>
              </a:rPr>
              <a:t>SCHUTZ PREFERENCES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2808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19656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3185160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92552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7512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84904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9864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92808" y="1353312"/>
            <a:ext cx="13716" cy="4251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92808" y="5605272"/>
            <a:ext cx="3877056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92808" y="1952243"/>
            <a:ext cx="3230880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7696" y="1353312"/>
            <a:ext cx="512064" cy="141732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620" y="1443380"/>
            <a:ext cx="1567891" cy="123718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K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64" y="1452524"/>
            <a:ext cx="1549603" cy="121889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892808" y="3369564"/>
            <a:ext cx="2584704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1520" y="2770632"/>
            <a:ext cx="512064" cy="141732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2620" y="2860700"/>
            <a:ext cx="1567891" cy="123718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K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64" y="2869844"/>
            <a:ext cx="1549603" cy="1218895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1892808" y="4786884"/>
            <a:ext cx="2584704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1520" y="4187952"/>
            <a:ext cx="512064" cy="141732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2620" y="4278020"/>
            <a:ext cx="1567891" cy="123718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K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764" y="4287164"/>
            <a:ext cx="1549603" cy="1218895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355080" y="1024128"/>
            <a:ext cx="5623560" cy="27432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D44"/>
                </a:solidFill>
                <a:latin typeface="Karla"/>
              </a:rPr>
              <a:t>DEOCREME PREFERENCES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73568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23376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85248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54512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61904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923776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11712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1353312"/>
            <a:ext cx="13716" cy="4251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46720" y="5605272"/>
            <a:ext cx="3877056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46720" y="1952243"/>
            <a:ext cx="2907791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018520" y="1353312"/>
            <a:ext cx="512064" cy="141732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17430" y="1443380"/>
            <a:ext cx="1446993" cy="123718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6574" y="1452524"/>
            <a:ext cx="1428705" cy="1218895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8046720" y="3369564"/>
            <a:ext cx="1938528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49256" y="2770632"/>
            <a:ext cx="512064" cy="141732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17430" y="2860700"/>
            <a:ext cx="1446993" cy="123718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6574" y="2869844"/>
            <a:ext cx="1428705" cy="1218895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046720" y="4786884"/>
            <a:ext cx="1938528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49256" y="4187952"/>
            <a:ext cx="512064" cy="141732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17430" y="4278020"/>
            <a:ext cx="1446993" cy="123718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L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6574" y="4287164"/>
            <a:ext cx="1428705" cy="1218895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n=206 respondents.  Top-2 Box model (ratings 4–5): element lifts show movement above or below the model baseline.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FULL ELEMENT LIFT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1247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E2D44"/>
                </a:solidFill>
                <a:latin typeface="Karla"/>
              </a:rPr>
              <a:t>10X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7863840" cy="27432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D44"/>
                </a:solidFill>
                <a:latin typeface="Karla"/>
              </a:rPr>
              <a:t>10X PREFERENCES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697480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4328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4101084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08476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504688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9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8292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5683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11896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9831" y="5623560"/>
            <a:ext cx="585216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1353312"/>
            <a:ext cx="13716" cy="4251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97480" y="5605272"/>
            <a:ext cx="5614416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97480" y="1775079"/>
            <a:ext cx="4210812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72300" y="1353312"/>
            <a:ext cx="512064" cy="106299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74529" y="1418577"/>
            <a:ext cx="840654" cy="93245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673" y="1427721"/>
            <a:ext cx="822366" cy="914171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2697480" y="2838069"/>
            <a:ext cx="4210812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72300" y="2416302"/>
            <a:ext cx="512064" cy="106299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74529" y="2481567"/>
            <a:ext cx="840654" cy="93245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M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673" y="2490711"/>
            <a:ext cx="822366" cy="914171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2697480" y="3901059"/>
            <a:ext cx="4210812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72300" y="3479292"/>
            <a:ext cx="512064" cy="106299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74529" y="3544557"/>
            <a:ext cx="840654" cy="93245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M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673" y="3553701"/>
            <a:ext cx="822366" cy="914171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2697480" y="4964049"/>
            <a:ext cx="3509009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70498" y="4542282"/>
            <a:ext cx="512064" cy="106299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74529" y="4607547"/>
            <a:ext cx="840654" cy="93245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M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673" y="4616691"/>
            <a:ext cx="822366" cy="914171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n=206 respondents.  Top-2 Box model (ratings 4–5): element lifts show movement above or below the model baseline.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10058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1E2D44"/>
                </a:solidFill>
                <a:latin typeface="Karla"/>
              </a:rPr>
              <a:t>Element Assets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94760"/>
            <a:ext cx="1280160" cy="5486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ELEMENT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Box  —  element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A   ·   9 variations</a:t>
            </a:r>
          </a:p>
        </p:txBody>
      </p:sp>
      <p:pic>
        <p:nvPicPr>
          <p:cNvPr id="5" name="Picture 4" descr="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072" y="1417320"/>
            <a:ext cx="1389916" cy="1965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76784" y="3401568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White</a:t>
            </a:r>
          </a:p>
        </p:txBody>
      </p:sp>
      <p:pic>
        <p:nvPicPr>
          <p:cNvPr id="7" name="Picture 6" descr="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580" y="1417320"/>
            <a:ext cx="1389916" cy="1965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31292" y="3401568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Silver</a:t>
            </a:r>
          </a:p>
        </p:txBody>
      </p:sp>
      <p:pic>
        <p:nvPicPr>
          <p:cNvPr id="9" name="Picture 8" descr="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089" y="1417320"/>
            <a:ext cx="1389916" cy="1965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85801" y="3401568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Teal</a:t>
            </a:r>
          </a:p>
        </p:txBody>
      </p:sp>
      <p:pic>
        <p:nvPicPr>
          <p:cNvPr id="11" name="Picture 10" descr="A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8598" y="1417320"/>
            <a:ext cx="1389916" cy="1965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40310" y="3401568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White Clinical</a:t>
            </a:r>
          </a:p>
        </p:txBody>
      </p:sp>
      <p:pic>
        <p:nvPicPr>
          <p:cNvPr id="13" name="Picture 12" descr="A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3107" y="1417320"/>
            <a:ext cx="1389916" cy="1965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94819" y="3401568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White Maximum</a:t>
            </a:r>
          </a:p>
        </p:txBody>
      </p:sp>
      <p:pic>
        <p:nvPicPr>
          <p:cNvPr id="15" name="Picture 14" descr="A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2326" y="3950208"/>
            <a:ext cx="1389916" cy="1965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054038" y="59344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Silver Clinical</a:t>
            </a:r>
          </a:p>
        </p:txBody>
      </p:sp>
      <p:pic>
        <p:nvPicPr>
          <p:cNvPr id="17" name="Picture 16" descr="A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6835" y="3950208"/>
            <a:ext cx="1389916" cy="19659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608547" y="59344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Silver Maximum</a:t>
            </a:r>
          </a:p>
        </p:txBody>
      </p:sp>
      <p:pic>
        <p:nvPicPr>
          <p:cNvPr id="19" name="Picture 18" descr="A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1344" y="3950208"/>
            <a:ext cx="1389916" cy="19659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63056" y="59344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Teal Clinical</a:t>
            </a:r>
          </a:p>
        </p:txBody>
      </p:sp>
      <p:pic>
        <p:nvPicPr>
          <p:cNvPr id="21" name="Picture 20" descr="A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35852" y="3950208"/>
            <a:ext cx="1389916" cy="19659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717564" y="59344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Teal Maximum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n=206 respondents.  Top-2 Box model (ratings 4–5): element lifts show movement above or below the model baseline.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ELEMENT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Stripes  —  element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B   ·   6 variations</a:t>
            </a:r>
          </a:p>
        </p:txBody>
      </p:sp>
      <p:pic>
        <p:nvPicPr>
          <p:cNvPr id="5" name="Picture 4" descr="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072" y="1417320"/>
            <a:ext cx="1389916" cy="1965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76784" y="3401568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Small</a:t>
            </a:r>
          </a:p>
        </p:txBody>
      </p:sp>
      <p:pic>
        <p:nvPicPr>
          <p:cNvPr id="7" name="Picture 6" descr="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580" y="1417320"/>
            <a:ext cx="1389916" cy="1965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31292" y="3401568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Medium</a:t>
            </a:r>
          </a:p>
        </p:txBody>
      </p:sp>
      <p:pic>
        <p:nvPicPr>
          <p:cNvPr id="9" name="Picture 8" descr="B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089" y="1417320"/>
            <a:ext cx="1389916" cy="1965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85801" y="3401568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Large</a:t>
            </a:r>
          </a:p>
        </p:txBody>
      </p:sp>
      <p:pic>
        <p:nvPicPr>
          <p:cNvPr id="11" name="Picture 10" descr="B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8598" y="1417320"/>
            <a:ext cx="1389916" cy="1965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40310" y="3401568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Small Bottom</a:t>
            </a:r>
          </a:p>
        </p:txBody>
      </p:sp>
      <p:pic>
        <p:nvPicPr>
          <p:cNvPr id="13" name="Picture 12" descr="B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3107" y="1417320"/>
            <a:ext cx="1389916" cy="1965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94819" y="3401568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Small Medium</a:t>
            </a:r>
          </a:p>
        </p:txBody>
      </p:sp>
      <p:pic>
        <p:nvPicPr>
          <p:cNvPr id="15" name="Picture 14" descr="B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4089" y="3950208"/>
            <a:ext cx="1389916" cy="1965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85801" y="59344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Small Large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n=206 respondents.  Top-2 Box model (ratings 4–5): element lifts show movement above or below the model baseline.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ELEMENT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Box Label  —  element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C   ·   3 variations</a:t>
            </a:r>
          </a:p>
        </p:txBody>
      </p:sp>
      <p:pic>
        <p:nvPicPr>
          <p:cNvPr id="5" name="Picture 4" descr="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580" y="2578608"/>
            <a:ext cx="1389916" cy="1965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31292" y="45628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Silver Small Pink</a:t>
            </a:r>
          </a:p>
        </p:txBody>
      </p:sp>
      <p:pic>
        <p:nvPicPr>
          <p:cNvPr id="7" name="Picture 6" descr="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089" y="2578608"/>
            <a:ext cx="1389916" cy="1965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85801" y="45628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Full Pink</a:t>
            </a:r>
          </a:p>
        </p:txBody>
      </p:sp>
      <p:pic>
        <p:nvPicPr>
          <p:cNvPr id="9" name="Picture 8" descr="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598" y="2578608"/>
            <a:ext cx="1389916" cy="1965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40310" y="45628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None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n=206 respondents.  Top-2 Box model (ratings 4–5): element lifts show movement above or below the model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ELEMENT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Word Options  —  element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D   ·   6 variations</a:t>
            </a:r>
          </a:p>
        </p:txBody>
      </p:sp>
      <p:pic>
        <p:nvPicPr>
          <p:cNvPr id="5" name="Picture 4" descr="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072" y="1417320"/>
            <a:ext cx="1389916" cy="1965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76784" y="3401568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Clinical Small</a:t>
            </a:r>
          </a:p>
        </p:txBody>
      </p:sp>
      <p:pic>
        <p:nvPicPr>
          <p:cNvPr id="7" name="Picture 6" descr="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580" y="1417320"/>
            <a:ext cx="1389916" cy="1965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31292" y="3401568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Clinical Bigger</a:t>
            </a:r>
          </a:p>
        </p:txBody>
      </p:sp>
      <p:pic>
        <p:nvPicPr>
          <p:cNvPr id="9" name="Picture 8" descr="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089" y="1417320"/>
            <a:ext cx="1389916" cy="1965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85801" y="3401568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Clinical Large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Side</a:t>
            </a:r>
          </a:p>
        </p:txBody>
      </p:sp>
      <p:pic>
        <p:nvPicPr>
          <p:cNvPr id="11" name="Picture 10" descr="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8598" y="1417320"/>
            <a:ext cx="1389916" cy="1965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40310" y="3401568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Maximum Small</a:t>
            </a:r>
          </a:p>
        </p:txBody>
      </p:sp>
      <p:pic>
        <p:nvPicPr>
          <p:cNvPr id="13" name="Picture 12" descr="D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3107" y="1417320"/>
            <a:ext cx="1389916" cy="1965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94819" y="3401568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Maximum Bigger</a:t>
            </a:r>
          </a:p>
        </p:txBody>
      </p:sp>
      <p:pic>
        <p:nvPicPr>
          <p:cNvPr id="15" name="Picture 14" descr="D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4089" y="3950208"/>
            <a:ext cx="1389916" cy="1965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85801" y="59344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Maximum Large Side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n=206 respondents.  Top-2 Box model (ratings 4–5): element lifts show movement above or below the model baseline.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ELEMENT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Tick  —  element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E   ·   4 variations</a:t>
            </a:r>
          </a:p>
        </p:txBody>
      </p:sp>
      <p:pic>
        <p:nvPicPr>
          <p:cNvPr id="5" name="Picture 4" descr="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326" y="2578608"/>
            <a:ext cx="1389916" cy="1965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54038" y="45628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Teal</a:t>
            </a:r>
          </a:p>
        </p:txBody>
      </p:sp>
      <p:pic>
        <p:nvPicPr>
          <p:cNvPr id="7" name="Picture 6" descr="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835" y="2578608"/>
            <a:ext cx="1389916" cy="1965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08547" y="45628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Holographic</a:t>
            </a:r>
          </a:p>
        </p:txBody>
      </p:sp>
      <p:pic>
        <p:nvPicPr>
          <p:cNvPr id="9" name="Picture 8" descr="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2578608"/>
            <a:ext cx="1389916" cy="1965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63056" y="45628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Glossy</a:t>
            </a:r>
          </a:p>
        </p:txBody>
      </p:sp>
      <p:pic>
        <p:nvPicPr>
          <p:cNvPr id="11" name="Picture 10" descr="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5852" y="2578608"/>
            <a:ext cx="1389916" cy="1965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17564" y="45628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Glossy Rose Gold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n=206 respondents.  Top-2 Box model (ratings 4–5): element lifts show movement above or below the model baseline.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ELEMENT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Antitranspirant  —  element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F   ·   3 variations</a:t>
            </a:r>
          </a:p>
        </p:txBody>
      </p:sp>
      <p:pic>
        <p:nvPicPr>
          <p:cNvPr id="5" name="Picture 4" descr="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580" y="2578608"/>
            <a:ext cx="1389916" cy="1965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31292" y="45628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Smaller Low</a:t>
            </a:r>
          </a:p>
        </p:txBody>
      </p:sp>
      <p:pic>
        <p:nvPicPr>
          <p:cNvPr id="7" name="Picture 6" descr="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089" y="2578608"/>
            <a:ext cx="1389916" cy="1965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85801" y="45628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Larger Upper</a:t>
            </a:r>
          </a:p>
        </p:txBody>
      </p:sp>
      <p:pic>
        <p:nvPicPr>
          <p:cNvPr id="9" name="Picture 8" descr="F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598" y="2578608"/>
            <a:ext cx="1389916" cy="1965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40310" y="45628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Larger Lower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n=206 respondents.  Top-2 Box model (ratings 4–5): element lifts show movement above or below the model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ELEMENT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100H  —  element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G   ·   4 variations</a:t>
            </a:r>
          </a:p>
        </p:txBody>
      </p:sp>
      <p:pic>
        <p:nvPicPr>
          <p:cNvPr id="5" name="Picture 4" descr="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326" y="2578608"/>
            <a:ext cx="1389916" cy="1965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54038" y="45628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100H Above Right</a:t>
            </a:r>
          </a:p>
        </p:txBody>
      </p:sp>
      <p:pic>
        <p:nvPicPr>
          <p:cNvPr id="7" name="Picture 6" descr="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835" y="2578608"/>
            <a:ext cx="1389916" cy="1965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08547" y="45628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100H Above Left</a:t>
            </a:r>
          </a:p>
        </p:txBody>
      </p:sp>
      <p:pic>
        <p:nvPicPr>
          <p:cNvPr id="9" name="Picture 8" descr="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2578608"/>
            <a:ext cx="1389916" cy="1965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63056" y="45628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100H Low Dark</a:t>
            </a:r>
          </a:p>
        </p:txBody>
      </p:sp>
      <p:pic>
        <p:nvPicPr>
          <p:cNvPr id="11" name="Picture 10" descr="G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5852" y="2578608"/>
            <a:ext cx="1389916" cy="1965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17564" y="45628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100H Low Smaller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n=206 respondents.  Top-2 Box model (ratings 4–5): element lifts show movement above or below the model baseline.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ELEMENT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Clean Confidence  —  element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H   ·   3 variations</a:t>
            </a:r>
          </a:p>
        </p:txBody>
      </p:sp>
      <p:pic>
        <p:nvPicPr>
          <p:cNvPr id="5" name="Picture 4" descr="H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580" y="2578608"/>
            <a:ext cx="1389916" cy="1965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31292" y="45628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Dark Teal</a:t>
            </a:r>
          </a:p>
        </p:txBody>
      </p:sp>
      <p:pic>
        <p:nvPicPr>
          <p:cNvPr id="7" name="Picture 6" descr="H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089" y="2578608"/>
            <a:ext cx="1389916" cy="1965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85801" y="45628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Pink Aboveline</a:t>
            </a:r>
          </a:p>
        </p:txBody>
      </p:sp>
      <p:pic>
        <p:nvPicPr>
          <p:cNvPr id="9" name="Picture 8" descr="H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598" y="2578608"/>
            <a:ext cx="1389916" cy="1965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40310" y="45628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Original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n=206 respondents.  Top-2 Box model (ratings 4–5): element lifts show movement above or below the model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ELEMENT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Four Dots  —  element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I   ·   4 variations</a:t>
            </a:r>
          </a:p>
        </p:txBody>
      </p:sp>
      <p:pic>
        <p:nvPicPr>
          <p:cNvPr id="5" name="Picture 4" descr="I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326" y="2578608"/>
            <a:ext cx="1389916" cy="1965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54038" y="45628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Silver Left</a:t>
            </a:r>
          </a:p>
        </p:txBody>
      </p:sp>
      <p:pic>
        <p:nvPicPr>
          <p:cNvPr id="7" name="Picture 6" descr="I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835" y="2578608"/>
            <a:ext cx="1389916" cy="1965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08547" y="45628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Silver Lower Left</a:t>
            </a:r>
          </a:p>
        </p:txBody>
      </p:sp>
      <p:pic>
        <p:nvPicPr>
          <p:cNvPr id="9" name="Picture 8" descr="I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2578608"/>
            <a:ext cx="1389916" cy="1965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63056" y="45628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Pink Upper Right</a:t>
            </a:r>
          </a:p>
        </p:txBody>
      </p:sp>
      <p:pic>
        <p:nvPicPr>
          <p:cNvPr id="11" name="Picture 10" descr="I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5852" y="2578608"/>
            <a:ext cx="1389916" cy="1965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17564" y="45628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Original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n=206 respondents.  Top-2 Box model (ratings 4–5): element lifts show movement above or below the model baseline.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ELEMENT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16p  —  element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J   ·   3 variations</a:t>
            </a:r>
          </a:p>
        </p:txBody>
      </p:sp>
      <p:pic>
        <p:nvPicPr>
          <p:cNvPr id="5" name="Picture 4" descr="J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580" y="2578608"/>
            <a:ext cx="1389916" cy="1965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31292" y="45628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Bottom</a:t>
            </a:r>
          </a:p>
        </p:txBody>
      </p:sp>
      <p:pic>
        <p:nvPicPr>
          <p:cNvPr id="7" name="Picture 6" descr="J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089" y="2578608"/>
            <a:ext cx="1389916" cy="1965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85801" y="45628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Middle</a:t>
            </a:r>
          </a:p>
        </p:txBody>
      </p:sp>
      <p:pic>
        <p:nvPicPr>
          <p:cNvPr id="9" name="Picture 8" descr="J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598" y="2578608"/>
            <a:ext cx="1389916" cy="1965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40310" y="45628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Top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n=206 respondents.  Top-2 Box model (ratings 4–5): element lifts show movement above or below the model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ELEMENT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Schutz  —  element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K   ·   3 variations</a:t>
            </a:r>
          </a:p>
        </p:txBody>
      </p:sp>
      <p:pic>
        <p:nvPicPr>
          <p:cNvPr id="5" name="Picture 4" descr="K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580" y="2578608"/>
            <a:ext cx="1389916" cy="1965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31292" y="45628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Bottom</a:t>
            </a:r>
          </a:p>
        </p:txBody>
      </p:sp>
      <p:pic>
        <p:nvPicPr>
          <p:cNvPr id="7" name="Picture 6" descr="K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089" y="2578608"/>
            <a:ext cx="1389916" cy="1965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85801" y="45628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Middle</a:t>
            </a:r>
          </a:p>
        </p:txBody>
      </p:sp>
      <p:pic>
        <p:nvPicPr>
          <p:cNvPr id="9" name="Picture 8" descr="K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598" y="2578608"/>
            <a:ext cx="1389916" cy="1965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40310" y="45628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Top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n=206 respondents.  Top-2 Box model (ratings 4–5): element lifts show movement above or below the model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ELEMENT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Deocreme  —  element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L   ·   3 variations</a:t>
            </a:r>
          </a:p>
        </p:txBody>
      </p:sp>
      <p:pic>
        <p:nvPicPr>
          <p:cNvPr id="5" name="Picture 4" descr="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580" y="2578608"/>
            <a:ext cx="1389916" cy="1965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31292" y="45628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Lower</a:t>
            </a:r>
          </a:p>
        </p:txBody>
      </p:sp>
      <p:pic>
        <p:nvPicPr>
          <p:cNvPr id="7" name="Picture 6" descr="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089" y="2578608"/>
            <a:ext cx="1389916" cy="1965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85801" y="45628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Upper</a:t>
            </a:r>
          </a:p>
        </p:txBody>
      </p:sp>
      <p:pic>
        <p:nvPicPr>
          <p:cNvPr id="9" name="Picture 8" descr="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598" y="2578608"/>
            <a:ext cx="1389916" cy="1965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40310" y="45628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None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n=206 respondents.  Top-2 Box model (ratings 4–5): element lifts show movement above or below the model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ELEMENT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10X  —  element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M   ·   4 variations</a:t>
            </a:r>
          </a:p>
        </p:txBody>
      </p:sp>
      <p:pic>
        <p:nvPicPr>
          <p:cNvPr id="5" name="Picture 4" descr="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326" y="2578608"/>
            <a:ext cx="1389916" cy="1965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54038" y="45628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10xstarkerer</a:t>
            </a:r>
          </a:p>
        </p:txBody>
      </p:sp>
      <p:pic>
        <p:nvPicPr>
          <p:cNvPr id="7" name="Picture 6" descr="M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835" y="2578608"/>
            <a:ext cx="1389916" cy="1965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08547" y="45628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Down Below</a:t>
            </a:r>
          </a:p>
        </p:txBody>
      </p:sp>
      <p:pic>
        <p:nvPicPr>
          <p:cNvPr id="9" name="Picture 8" descr="M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2578608"/>
            <a:ext cx="1389916" cy="1965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63056" y="45628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Medium</a:t>
            </a:r>
          </a:p>
        </p:txBody>
      </p:sp>
      <p:pic>
        <p:nvPicPr>
          <p:cNvPr id="11" name="Picture 10" descr="M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5852" y="2578608"/>
            <a:ext cx="1389916" cy="1965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17564" y="4562856"/>
            <a:ext cx="1426492" cy="420624"/>
          </a:xfrm>
          <a:prstGeom prst="rect">
            <a:avLst/>
          </a:prstGeom>
          <a:noFill/>
        </p:spPr>
        <p:txBody>
          <a:bodyPr wrap="none" anchor="t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Extra Large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n=206 respondents.  Top-2 Box model (ratings 4–5): element lifts show movement above or below the model baseline.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Pictur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128" y="1938528"/>
            <a:ext cx="1641348" cy="1367942"/>
          </a:xfrm>
          <a:prstGeom prst="rect">
            <a:avLst/>
          </a:prstGeom>
        </p:spPr>
      </p:pic>
      <p:pic>
        <p:nvPicPr>
          <p:cNvPr id="3" name="Picture 2" descr="cover_Picture_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128" y="3579876"/>
            <a:ext cx="1641348" cy="1641348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3882908" y="1232428"/>
            <a:ext cx="0" cy="4373209"/>
          </a:xfrm>
          <a:prstGeom prst="line">
            <a:avLst/>
          </a:prstGeom>
          <a:ln w="9525">
            <a:solidFill>
              <a:srgbClr val="F2C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205874" y="3429000"/>
            <a:ext cx="6268303" cy="0"/>
          </a:xfrm>
          <a:prstGeom prst="line">
            <a:avLst/>
          </a:prstGeom>
          <a:ln w="9525">
            <a:solidFill>
              <a:srgbClr val="F2C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206240" y="1805940"/>
            <a:ext cx="7132320" cy="7680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1E2D44"/>
                </a:solidFill>
                <a:latin typeface="Karla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578608"/>
            <a:ext cx="6583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We look forward to discussing the full report and next steps.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880713"/>
            <a:ext cx="6583680" cy="3383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Rexona x MGA Design Element Appeal Report  |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231843"/>
            <a:ext cx="6986016" cy="3383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Prepared by: J Brown Fitterman | jbrown@mindgenomicsassociates.com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582972"/>
            <a:ext cx="3840480" cy="3383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Mind Genomics Associates, Inc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5222138"/>
            <a:ext cx="76809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E2D44"/>
                </a:solidFill>
                <a:latin typeface="Karla"/>
              </a:rPr>
              <a:t>Rexona Box Design Element Study - Germany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Rexona Box Design Element Study - Germany</dc:title>
  <dc:subject>Design Element Appeal Report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Top-2 Box</cp:category>
</cp:coreProperties>
</file>