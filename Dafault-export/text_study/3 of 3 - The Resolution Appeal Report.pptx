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Pictur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06240" y="1805940"/>
            <a:ext cx="7755026" cy="1200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Which statements drive appeal?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3 of 3 - The Resolution Appeal Report  |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3 of 3 - The Resolution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The study in this report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97280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35331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172238"/>
                </a:solidFill>
                <a:latin typeface="Karla"/>
              </a:rPr>
              <a:t>Scores in the pages that follow come from this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847088"/>
            <a:ext cx="10561320" cy="2103120"/>
          </a:xfrm>
          <a:prstGeom prst="roundRect">
            <a:avLst>
              <a:gd name="adj" fmla="val 26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847088"/>
            <a:ext cx="10561320" cy="12801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12848"/>
            <a:ext cx="9921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238"/>
                </a:solidFill>
                <a:latin typeface="Karla"/>
              </a:rPr>
              <a:t>3 of 3 - The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054096"/>
            <a:ext cx="99212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238"/>
                </a:solidFill>
                <a:latin typeface="Karla"/>
              </a:rPr>
              <a:t>4 silos  ·  32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419856"/>
            <a:ext cx="9921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4746E"/>
                </a:solidFill>
                <a:latin typeface="Karla"/>
              </a:rPr>
              <a:t>101 respondents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How the method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24128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1704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72238"/>
                </a:solidFill>
                <a:latin typeface="Karla"/>
              </a:rPr>
              <a:t>Every respondent sees their own mix of design variations, and we learn what individually moves the appeal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82495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7007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slice the design into unique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933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element is one design choice — THE HERO, SET, THE BOOK ARGUES, and IN THE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50591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560320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7860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element has 8 possible variations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7121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Like the small choices a designer would make between the options in a silo.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5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38144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45643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respondent sees a set of statements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74903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task is a unique mix of statements, never quite the same as anyone else’s.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06240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315968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33425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They rate each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62686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same rating scale is used on every task. The variation does the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84064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193792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21207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learn what drives the rating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5046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model separates the baseline from the movement each element creates, on its own.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BC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D44"/>
                </a:solidFill>
                <a:latin typeface="Karla"/>
              </a:rPr>
              <a:t>Design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26F7B"/>
                </a:solidFill>
                <a:latin typeface="Karla"/>
              </a:rPr>
              <a:t>4 design silos, 32 element variations in total.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THE 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199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8 statements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3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3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5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3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5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8 statements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1888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1888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THE BOOK ARGUES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8 statements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2791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1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7383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IN THE 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1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3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8 statements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Each card shows the silo letter, the element count, and a sample of the options.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WHAT YOU GET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Which statements drive appeal?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562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Per-element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4320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How much each variation moves the appeal rating, on its own, above or below the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8562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860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Base appeal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74320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Top-2 Box intercept. Starting appeal before a single statement is added.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0507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4348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Build-up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89204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strongest option in each group, shown together, against a weaker combination of the same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00507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4348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Full lift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89204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element, in every group, with the same score used in the charts.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F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4747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Reading The Scores – What The Coefficients Mean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896112"/>
            <a:ext cx="1371600" cy="0"/>
          </a:xfrm>
          <a:prstGeom prst="line">
            <a:avLst/>
          </a:prstGeom>
          <a:ln w="1587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536192" y="118872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115568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Element Lift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99616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Element lifts show the estimated movement each design choice creates above or below the model baseline.</a:t>
            </a:r>
          </a:p>
        </p:txBody>
      </p:sp>
      <p:sp>
        <p:nvSpPr>
          <p:cNvPr id="8" name="Oval 7"/>
          <p:cNvSpPr/>
          <p:nvPr/>
        </p:nvSpPr>
        <p:spPr>
          <a:xfrm>
            <a:off x="1527048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584448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Explore Combinations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968496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These scores can be combined to explore multiple design scenarios.</a:t>
            </a:r>
          </a:p>
        </p:txBody>
      </p:sp>
      <p:sp>
        <p:nvSpPr>
          <p:cNvPr id="11" name="Oval 10"/>
          <p:cNvSpPr/>
          <p:nvPr/>
        </p:nvSpPr>
        <p:spPr>
          <a:xfrm>
            <a:off x="6757416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584448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Reading The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396849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Coefficient Interpretation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6596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37360" y="3200400"/>
            <a:ext cx="3803904" cy="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41264" y="320040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141464" y="4370832"/>
          <a:ext cx="40416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3"/>
                <a:gridCol w="22037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Coefficient Scale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Interpretation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+10 or higher</a:t>
                      </a:r>
                    </a:p>
                  </a:txBody>
                  <a:tcPr marL="73152" marR="54864" marT="36576" marB="36576">
                    <a:solidFill>
                      <a:srgbClr val="DEF1D3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Strong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+5 to +9.9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Moderate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+2 to +4.9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Small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Below +2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Minimal / weak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Where appeal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The strongest movement comes from the silos and elements below. Detail charts for every silo follow.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The model has a clear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This Top-2 Box model was fit without an intercept. Each statement score is the lift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4320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5292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The strongest statement is in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It moves appeal by +17. The full wording is on the findings slides. 32 of 32 statements sit above the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4048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5020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SET is the lead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Its strongest statement is +17. IN THE END has the widest spread, +8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37759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37759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4748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The weakest statement is in THE HERO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94959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It sits at +8. The full wording is on the findings slides. Negative lifts pull appeal below the baseline.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MODEL OVERVIEW: BASE APPEAL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Base appeal before element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Base appeal is this model’s starting Top-2 Box score (ratings 4–5) before individual design elements add or subtract lift.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BASE APPEAL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120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3 of 3 - The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No intercept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Element scores are the lift on their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size 101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74519"/>
            <a:ext cx="5029200" cy="4023360"/>
          </a:xfrm>
          <a:prstGeom prst="roundRect">
            <a:avLst>
              <a:gd name="adj" fmla="val 8000"/>
            </a:avLst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AC8D4"/>
                </a:solidFill>
                <a:latin typeface="Karla"/>
              </a:rPr>
              <a:t>HOW TO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06040"/>
            <a:ext cx="4434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Each element chart is movement around this number, not a new total by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703320"/>
            <a:ext cx="44348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A build-up adds the baseline and one lift from each silo. That sum is a model scenario. It is not capped at 0 or 100.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C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Karla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612648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Appeal moves most clearly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in four design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566928"/>
            <a:ext cx="4434840" cy="1115568"/>
          </a:xfrm>
          <a:prstGeom prst="roundRect">
            <a:avLst>
              <a:gd name="adj" fmla="val 10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8352" y="713232"/>
            <a:ext cx="4041648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Karla"/>
              </a:rPr>
              <a:t>These are the silos where one element, or the gap inside the silo, moves appeal the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48B"/>
                </a:solidFill>
                <a:latin typeface="Karla"/>
              </a:rPr>
              <a:t>ROADMAP FOR THE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774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96896"/>
            <a:ext cx="2340864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THE BOOK ARGUES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45536"/>
            <a:ext cx="2340864" cy="12984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the book argues some things should stay unread even when readable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+17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3774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596896"/>
            <a:ext cx="2340864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145536"/>
            <a:ext cx="2340864" cy="12984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set across five centuries stitched by a single surviving manuscript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+17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3774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596896"/>
            <a:ext cx="2340864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IN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145536"/>
            <a:ext cx="2340864" cy="12984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in the end the hero gives up going home to save a friend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+16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267712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96896"/>
            <a:ext cx="2340864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44"/>
                </a:solidFill>
                <a:latin typeface="Karla"/>
              </a:rPr>
              <a:t>THE HERO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45536"/>
            <a:ext cx="2340864" cy="12984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the hero's closest friendship ends the day it is accurately described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48B"/>
                </a:solidFill>
                <a:latin typeface="Karla"/>
              </a:rPr>
              <a:t>+15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020055"/>
            <a:ext cx="11119104" cy="713232"/>
          </a:xfrm>
          <a:prstGeom prst="roundRect">
            <a:avLst>
              <a:gd name="adj" fmla="val 8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020055"/>
            <a:ext cx="11119104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Karla"/>
              </a:rPr>
              <a:t>The clearest appeal movement is concentrated in THE BOOK ARGUES, SET, IN THE END, and THE HERO.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THE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Every statement in THE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Each line is the full statement. The number beside it is that statement’s lift.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closest friendship ends the day it is accurately described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169164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9033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grandmother knew the whole secret and told nobody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169033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46426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family began with a child taken and never returned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646426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23819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brother joins the enemy firm and stops calling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8208" y="3123819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01211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mentor is dying faster than the work can finish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8208" y="3601211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78604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great love was hidden for decades behind a public lie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8208" y="4078604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55998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first love was assigned from the start to watch them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4555998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3339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marriage is the trap nobody else can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503339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6053328"/>
            <a:ext cx="11109960" cy="256032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605332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Strongest +15  ·  weakest +8  ·  gap +7 points.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Every statement in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Each line is the full statement. The number beside it is that statement’s lift.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across five centuries stitched by a single surviving manuscript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169164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9033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between a courtroom and the archive that decides the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169033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46426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in a near future where being rated and scored is completely 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646426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23819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in a ruined abbey where three watchmen never left their 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8208" y="3123819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01211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in one house where three generations share a locked drawer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8208" y="3601211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78604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in modern london and ancient jerusalem in alternating chapters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8208" y="4078604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55998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on the long road the monks walked home from china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4555998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3339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in a factory town where the rain smells of chemicals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503339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6053328"/>
            <a:ext cx="11109960" cy="256032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605332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Strongest +17  ·  weakest +11  ·  gap +6 points.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THE BOOK ARGUES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Every statement in THE BOOK ARGUES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Each line is the full statement. The number beside it is that statement’s lift.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some things should stay unread even when readable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169164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9033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an accurate prediction changes what it predicts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169033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46426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loyalty to a corrupt institution is a 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646426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23819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justice happens despite the system never through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8208" y="3123819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01211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privacy is not theft it is the last freedom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8208" y="3601211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78604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some truths can be revealed but never computed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8208" y="4078604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55998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love is the one thing prediction cannot manufacture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4555998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3339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a prophet is an analyst and always was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503339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6053328"/>
            <a:ext cx="11109960" cy="256032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605332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Strongest +17  ·  weakest +10  ·  gap +7 points.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IN THE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Every statement in IN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Each line is the full statement. The number beside it is that statement’s lift.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hero gives up going home to save a friend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169164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9033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a sentence broken two thousand years ago is finished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2169033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46426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confession explains why the hero was chosen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646426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23819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hero stays inside the trap and calls it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8208" y="3123819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01211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secret goes free so nobody can own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8208" y="3601211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78604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hero wins on paper and hides forever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8208" y="4078604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55998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hero refuses to finish it and the refusal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8208" y="4555998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33390"/>
            <a:ext cx="9966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inquiry reports and every guilty person keeps their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5033390"/>
            <a:ext cx="822960" cy="422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6053328"/>
            <a:ext cx="11109960" cy="256032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605332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Strongest +16  ·  weakest +8  ·  gap +8 points.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WINNING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Highest-lift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strongest statement in each group, written in full.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55680" cy="698754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214884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THE 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335024"/>
            <a:ext cx="7635240" cy="5890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closest friendship ends the day it is accurately described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1280160"/>
            <a:ext cx="86868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70354"/>
            <a:ext cx="11155680" cy="698754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70354"/>
            <a:ext cx="214884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25218"/>
            <a:ext cx="7635240" cy="5890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across five centuries stitched by a single surviving manuscript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0192" y="2070354"/>
            <a:ext cx="86868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60548"/>
            <a:ext cx="11155680" cy="698754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60548"/>
            <a:ext cx="214884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THE BOOK ARGUES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915412"/>
            <a:ext cx="7635240" cy="5890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some things should stay unread even when readable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860548"/>
            <a:ext cx="86868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0742"/>
            <a:ext cx="11155680" cy="585216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50742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IN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705606"/>
            <a:ext cx="763524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hero gives up going home to save a friend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80192" y="3650742"/>
            <a:ext cx="86868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82262"/>
            <a:ext cx="11155680" cy="384048"/>
          </a:xfrm>
          <a:prstGeom prst="roundRect">
            <a:avLst>
              <a:gd name="adj" fmla="val 6000"/>
            </a:avLst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38226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Combined lift +65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WEAKER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Lowest-lift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weakest statement in each group, written in full.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55680" cy="585216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THE 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335024"/>
            <a:ext cx="763524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hero's marriage is the trap nobody else can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1280160"/>
            <a:ext cx="86868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56815"/>
            <a:ext cx="11155680" cy="698754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56815"/>
            <a:ext cx="214884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11679"/>
            <a:ext cx="7635240" cy="5890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set in modern london and ancient jerusalem in alternating chapters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0192" y="1956815"/>
            <a:ext cx="86868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7010"/>
            <a:ext cx="11155680" cy="585216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47010"/>
            <a:ext cx="214884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THE BOOK ARGUES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01874"/>
            <a:ext cx="763524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the book argues a prophet is an analyst and always was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747010"/>
            <a:ext cx="868680" cy="5852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23666"/>
            <a:ext cx="11155680" cy="698754"/>
          </a:xfrm>
          <a:prstGeom prst="roundRect">
            <a:avLst>
              <a:gd name="adj" fmla="val 6000"/>
            </a:avLst>
          </a:prstGeom>
          <a:solidFill>
            <a:srgbClr val="FB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23666"/>
            <a:ext cx="214884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IN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478530"/>
            <a:ext cx="7635240" cy="5890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D44"/>
                </a:solidFill>
                <a:latin typeface="Karla"/>
              </a:rPr>
              <a:t>in the end the inquiry reports and every guilty person keeps their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80192" y="3423666"/>
            <a:ext cx="868680" cy="69875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68724"/>
            <a:ext cx="11155680" cy="384048"/>
          </a:xfrm>
          <a:prstGeom prst="roundRect">
            <a:avLst>
              <a:gd name="adj" fmla="val 6000"/>
            </a:avLst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268724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Combined lift +37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BUILD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365760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The higher-lift build against the lower-lift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1188720"/>
            <a:ext cx="5586984" cy="640080"/>
          </a:xfrm>
          <a:prstGeom prst="rect">
            <a:avLst/>
          </a:prstGeom>
          <a:solidFill>
            <a:srgbClr val="F3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5623560" cy="50292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25295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HIGHER-LIFT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44475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935"/>
                </a:solidFill>
                <a:latin typeface="Karla"/>
              </a:rPr>
              <a:t>+65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14630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Lift only, no separate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83664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THE HERO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84832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the hero's closest friendship ends the day it is accurately described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2084832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673096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673096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874264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set across five centuries stitched by a single surviving manuscript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874264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3462528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462528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THE BOOK ARGUES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663696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the book argues some things should stay unread even when readable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663696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4251960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51960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IN THE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453128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in the end the hero gives up going home to save a friend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4453128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1188720"/>
            <a:ext cx="5586984" cy="640080"/>
          </a:xfrm>
          <a:prstGeom prst="rect">
            <a:avLst/>
          </a:prstGeom>
          <a:solidFill>
            <a:srgbClr val="F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1115568"/>
            <a:ext cx="5623560" cy="50292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225295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6B84"/>
                </a:solidFill>
                <a:latin typeface="Karla"/>
              </a:rPr>
              <a:t>LOWER-LIFT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144475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935"/>
                </a:solidFill>
                <a:latin typeface="Karla"/>
              </a:rPr>
              <a:t>+37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983" y="14630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086"/>
                </a:solidFill>
                <a:latin typeface="Karla"/>
              </a:rPr>
              <a:t>Lift only, no separate 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1883664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THE HERO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084832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the hero's marriage is the trap nobody else can see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36808" y="2084832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673096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673096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874264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set in modern london and ancient jerusalem in alternating chapters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36808" y="2874264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3462528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462528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THE BOOK ARGUES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663696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the book argues a prophet is an analyst and always was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36808" y="3663696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4251960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251960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IN THE 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453128"/>
            <a:ext cx="463600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in the end the inquiry reports and every guilty person keeps their job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36808" y="4453128"/>
            <a:ext cx="658368" cy="5882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" y="5559552"/>
            <a:ext cx="11420856" cy="475488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559552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higher-lift statements lead by +28 points. This model has no intercept, so the totals are the statement lifts.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APPENDIX  ·  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Every element, same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17086"/>
                </a:solidFill>
                <a:latin typeface="Karla"/>
              </a:rPr>
              <a:t>Scores are Top-2 Box coefficients (ratings 4–5), rounded the same way as the charts. Green is lift above the baseline. Red is lift below it. A star means the coefficient cleared the study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No intercept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Base appeal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Silos in the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21031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Elements scored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THE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closest friendship ends the day it is accurately described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114300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197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grandmother knew the whole secret and told nobody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160197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6095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family began with a child taken and never returned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206095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9934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brother joins the enemy firm and stops calling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2519934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8912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mentor is dying faster than the work can finish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2978912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3789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great love was hidden for decades behind a public lie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343789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9686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first love was assigned from the start to watch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89686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5584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hero's marriage is the trap nobody else can see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435584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across five centuries stitched by a single surviving manuscript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114300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197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between a courtroom and the archive that decides the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160197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6095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in a near future where being rated and scored is completely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206095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9934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in a ruined abbey where three watchmen never left their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2519934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8912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in one house where three generations share a locked drawer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2978912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3789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in modern london and ancient jerusalem in alternating chapters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343789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9686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on the long road the monks walked home from china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89686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5584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set in a factory town where the rain smells of chemicals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435584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THE BOOK ARGUES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some things should stay unread even when readable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114300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197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an accurate prediction changes what it predicts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160197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6095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loyalty to a corrupt institution is a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206095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9934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justice happens despite the system never through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2519934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8912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privacy is not theft it is the last freedom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2978912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3789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some truths can be revealed but never computed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343789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9686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love is the one thing prediction cannot manufacture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89686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5584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book argues a prophet is an analyst and always was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435584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IN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the hero gives up going home to save a friend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114300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197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a sentence broken two thousand years ago is finished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160197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6095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the confession explains why the hero was chosen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206095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9934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the hero stays inside the trap and calls it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2519934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8912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the secret goes free so nobody can own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2978912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37890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the hero wins on paper and hides forever 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3437890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96868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the hero refuses to finish it and the refusal 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896868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55846"/>
            <a:ext cx="1014984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in the end the inquiry reports and every guilty person keeps their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4355846"/>
            <a:ext cx="822960" cy="40411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Element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THE HERO  — 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first love was assigned from the start to watch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marriage is the trap nobody else can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brother joins the enemy firm and stops calling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874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grandmother knew the whole secret and told nobody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3182874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62832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closest friendship ends the day it is accurately described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3862832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family began with a child taken and never returned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1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mentor is dying faster than the work can finish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1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hero's great love was hidden for decades behind a public lie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1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SET  — 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in modern london and ancient jerusalem in alternating chapters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on the long road the monks walked home from china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in a ruined abbey where three watchmen never left their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874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across five centuries stitched by a single surviving manuscript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3182874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62832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in a factory town where the rain smells of chemicals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3862832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in one house where three generations share a locked drawer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1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between a courtroom and the archive that decides the verdict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1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set in a near future where being rated and scored is completely 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1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THE BOOK ARGUES  — 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a prophet is an analyst and always was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loyalty to a corrupt institution is a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privacy is not theft it is the last freedom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874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love is the one thing prediction cannot manufacture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3182874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62832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an accurate prediction changes what it predicts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3862832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some truths can be revealed but never computed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1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justice happens despite the system never through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1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the book argues some things should stay unread even when readable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1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IN THE END  — 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the secret goes free so nobody can own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the hero wins on paper and hides forever 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the hero stays inside the trap and calls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874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the hero refuses to finish it and the refusal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3182874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62832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the hero gives up going home to save a friend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3862832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143000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the inquiry reports and every guilty person keeps their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19" y="1143000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22958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a sentence broken two thousand years ago is finished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19" y="1822958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502916"/>
            <a:ext cx="4526279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in the end the confession explains why the hero was chosen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19" y="2502916"/>
            <a:ext cx="822960" cy="62509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935"/>
                </a:solidFill>
                <a:latin typeface="Karla"/>
              </a:rPr>
              <a:t>+14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n=101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Pictur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06240" y="1805940"/>
            <a:ext cx="713232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1E2D44"/>
                </a:solidFill>
                <a:latin typeface="Karl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578608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We look forward to discussing the full report and 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3 of 3 - The Resolution Appeal Report  |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D44"/>
                </a:solidFill>
                <a:latin typeface="Karla"/>
              </a:rPr>
              <a:t>3 of 3 - The Resolution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of 3 - The Resolution</dc:title>
  <dc:subject>Design Element Appeal Report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Top-2 Box</cp:category>
</cp:coreProperties>
</file>