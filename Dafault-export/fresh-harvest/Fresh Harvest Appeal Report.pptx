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32.png"/><Relationship Id="rId10" Type="http://schemas.openxmlformats.org/officeDocument/2006/relationships/image" Target="../media/image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Relationship Id="rId9" Type="http://schemas.openxmlformats.org/officeDocument/2006/relationships/image" Target="../media/image4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Relationship Id="rId8" Type="http://schemas.openxmlformats.org/officeDocument/2006/relationships/image" Target="../media/image55.png"/><Relationship Id="rId9" Type="http://schemas.openxmlformats.org/officeDocument/2006/relationships/image" Target="../media/image56.png"/><Relationship Id="rId10" Type="http://schemas.openxmlformats.org/officeDocument/2006/relationships/image" Target="../media/image5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Relationship Id="rId6" Type="http://schemas.openxmlformats.org/officeDocument/2006/relationships/image" Target="../media/image62.png"/><Relationship Id="rId7" Type="http://schemas.openxmlformats.org/officeDocument/2006/relationships/image" Target="../media/image63.png"/><Relationship Id="rId8" Type="http://schemas.openxmlformats.org/officeDocument/2006/relationships/image" Target="../media/image6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Relationship Id="rId3" Type="http://schemas.openxmlformats.org/officeDocument/2006/relationships/image" Target="../media/image66.png"/><Relationship Id="rId4" Type="http://schemas.openxmlformats.org/officeDocument/2006/relationships/image" Target="../media/image67.png"/><Relationship Id="rId5" Type="http://schemas.openxmlformats.org/officeDocument/2006/relationships/image" Target="../media/image68.png"/><Relationship Id="rId6" Type="http://schemas.openxmlformats.org/officeDocument/2006/relationships/image" Target="../media/image69.png"/><Relationship Id="rId7" Type="http://schemas.openxmlformats.org/officeDocument/2006/relationships/image" Target="../media/image7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Relationship Id="rId3" Type="http://schemas.openxmlformats.org/officeDocument/2006/relationships/image" Target="../media/image72.png"/><Relationship Id="rId4" Type="http://schemas.openxmlformats.org/officeDocument/2006/relationships/image" Target="../media/image73.png"/><Relationship Id="rId5" Type="http://schemas.openxmlformats.org/officeDocument/2006/relationships/image" Target="../media/image74.png"/><Relationship Id="rId6" Type="http://schemas.openxmlformats.org/officeDocument/2006/relationships/image" Target="../media/image75.png"/><Relationship Id="rId7" Type="http://schemas.openxmlformats.org/officeDocument/2006/relationships/image" Target="../media/image7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Relationship Id="rId3" Type="http://schemas.openxmlformats.org/officeDocument/2006/relationships/image" Target="../media/image7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32.png"/><Relationship Id="rId10" Type="http://schemas.openxmlformats.org/officeDocument/2006/relationships/image" Target="../media/image3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Relationship Id="rId8" Type="http://schemas.openxmlformats.org/officeDocument/2006/relationships/image" Target="../media/image55.png"/><Relationship Id="rId9" Type="http://schemas.openxmlformats.org/officeDocument/2006/relationships/image" Target="../media/image56.png"/><Relationship Id="rId10" Type="http://schemas.openxmlformats.org/officeDocument/2006/relationships/image" Target="../media/image5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Relationship Id="rId6" Type="http://schemas.openxmlformats.org/officeDocument/2006/relationships/image" Target="../media/image62.png"/><Relationship Id="rId7" Type="http://schemas.openxmlformats.org/officeDocument/2006/relationships/image" Target="../media/image63.png"/><Relationship Id="rId8" Type="http://schemas.openxmlformats.org/officeDocument/2006/relationships/image" Target="../media/image6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41.png"/><Relationship Id="rId9" Type="http://schemas.openxmlformats.org/officeDocument/2006/relationships/image" Target="../media/image42.png"/><Relationship Id="rId10" Type="http://schemas.openxmlformats.org/officeDocument/2006/relationships/image" Target="../media/image43.png"/><Relationship Id="rId11" Type="http://schemas.openxmlformats.org/officeDocument/2006/relationships/image" Target="../media/image44.png"/><Relationship Id="rId12" Type="http://schemas.openxmlformats.org/officeDocument/2006/relationships/image" Target="../media/image45.png"/><Relationship Id="rId13" Type="http://schemas.openxmlformats.org/officeDocument/2006/relationships/image" Target="../media/image46.png"/><Relationship Id="rId14" Type="http://schemas.openxmlformats.org/officeDocument/2006/relationships/image" Target="../media/image47.png"/><Relationship Id="rId15" Type="http://schemas.openxmlformats.org/officeDocument/2006/relationships/image" Target="../media/image4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Relationship Id="rId6" Type="http://schemas.openxmlformats.org/officeDocument/2006/relationships/image" Target="../media/image81.png"/><Relationship Id="rId7" Type="http://schemas.openxmlformats.org/officeDocument/2006/relationships/image" Target="../media/image8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Relationship Id="rId3" Type="http://schemas.openxmlformats.org/officeDocument/2006/relationships/image" Target="../media/image84.png"/><Relationship Id="rId4" Type="http://schemas.openxmlformats.org/officeDocument/2006/relationships/image" Target="../media/image85.png"/><Relationship Id="rId5" Type="http://schemas.openxmlformats.org/officeDocument/2006/relationships/image" Target="../media/image86.png"/><Relationship Id="rId6" Type="http://schemas.openxmlformats.org/officeDocument/2006/relationships/image" Target="../media/image87.png"/><Relationship Id="rId7" Type="http://schemas.openxmlformats.org/officeDocument/2006/relationships/image" Target="../media/image88.png"/><Relationship Id="rId8" Type="http://schemas.openxmlformats.org/officeDocument/2006/relationships/image" Target="../media/image89.png"/><Relationship Id="rId9" Type="http://schemas.openxmlformats.org/officeDocument/2006/relationships/image" Target="../media/image90.png"/><Relationship Id="rId10" Type="http://schemas.openxmlformats.org/officeDocument/2006/relationships/image" Target="../media/image91.png"/><Relationship Id="rId11" Type="http://schemas.openxmlformats.org/officeDocument/2006/relationships/image" Target="../media/image9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png"/><Relationship Id="rId3" Type="http://schemas.openxmlformats.org/officeDocument/2006/relationships/image" Target="../media/image94.png"/><Relationship Id="rId4" Type="http://schemas.openxmlformats.org/officeDocument/2006/relationships/image" Target="../media/image95.png"/><Relationship Id="rId5" Type="http://schemas.openxmlformats.org/officeDocument/2006/relationships/image" Target="../media/image96.png"/><Relationship Id="rId6" Type="http://schemas.openxmlformats.org/officeDocument/2006/relationships/image" Target="../media/image97.png"/><Relationship Id="rId7" Type="http://schemas.openxmlformats.org/officeDocument/2006/relationships/image" Target="../media/image9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9.png"/><Relationship Id="rId3" Type="http://schemas.openxmlformats.org/officeDocument/2006/relationships/image" Target="../media/image100.png"/><Relationship Id="rId4" Type="http://schemas.openxmlformats.org/officeDocument/2006/relationships/image" Target="../media/image101.png"/><Relationship Id="rId5" Type="http://schemas.openxmlformats.org/officeDocument/2006/relationships/image" Target="../media/image102.png"/><Relationship Id="rId6" Type="http://schemas.openxmlformats.org/officeDocument/2006/relationships/image" Target="../media/image103.png"/><Relationship Id="rId7" Type="http://schemas.openxmlformats.org/officeDocument/2006/relationships/image" Target="../media/image104.png"/><Relationship Id="rId8" Type="http://schemas.openxmlformats.org/officeDocument/2006/relationships/image" Target="../media/image105.png"/><Relationship Id="rId9" Type="http://schemas.openxmlformats.org/officeDocument/2006/relationships/image" Target="../media/image106.png"/><Relationship Id="rId10" Type="http://schemas.openxmlformats.org/officeDocument/2006/relationships/image" Target="../media/image107.png"/><Relationship Id="rId11" Type="http://schemas.openxmlformats.org/officeDocument/2006/relationships/image" Target="../media/image108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png"/><Relationship Id="rId3" Type="http://schemas.openxmlformats.org/officeDocument/2006/relationships/image" Target="../media/image110.png"/><Relationship Id="rId4" Type="http://schemas.openxmlformats.org/officeDocument/2006/relationships/image" Target="../media/image111.png"/><Relationship Id="rId5" Type="http://schemas.openxmlformats.org/officeDocument/2006/relationships/image" Target="../media/image112.png"/><Relationship Id="rId6" Type="http://schemas.openxmlformats.org/officeDocument/2006/relationships/image" Target="../media/image113.png"/><Relationship Id="rId7" Type="http://schemas.openxmlformats.org/officeDocument/2006/relationships/image" Target="../media/image114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5.png"/><Relationship Id="rId3" Type="http://schemas.openxmlformats.org/officeDocument/2006/relationships/image" Target="../media/image116.png"/><Relationship Id="rId4" Type="http://schemas.openxmlformats.org/officeDocument/2006/relationships/image" Target="../media/image117.png"/><Relationship Id="rId5" Type="http://schemas.openxmlformats.org/officeDocument/2006/relationships/image" Target="../media/image118.png"/><Relationship Id="rId6" Type="http://schemas.openxmlformats.org/officeDocument/2006/relationships/image" Target="../media/image119.png"/><Relationship Id="rId7" Type="http://schemas.openxmlformats.org/officeDocument/2006/relationships/image" Target="../media/image120.png"/><Relationship Id="rId8" Type="http://schemas.openxmlformats.org/officeDocument/2006/relationships/image" Target="../media/image121.png"/><Relationship Id="rId9" Type="http://schemas.openxmlformats.org/officeDocument/2006/relationships/image" Target="../media/image12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3.png"/><Relationship Id="rId3" Type="http://schemas.openxmlformats.org/officeDocument/2006/relationships/image" Target="../media/image124.png"/><Relationship Id="rId4" Type="http://schemas.openxmlformats.org/officeDocument/2006/relationships/image" Target="../media/image125.png"/><Relationship Id="rId5" Type="http://schemas.openxmlformats.org/officeDocument/2006/relationships/image" Target="../media/image126.png"/><Relationship Id="rId6" Type="http://schemas.openxmlformats.org/officeDocument/2006/relationships/image" Target="../media/image127.png"/><Relationship Id="rId7" Type="http://schemas.openxmlformats.org/officeDocument/2006/relationships/image" Target="../media/image128.png"/><Relationship Id="rId8" Type="http://schemas.openxmlformats.org/officeDocument/2006/relationships/image" Target="../media/image129.png"/><Relationship Id="rId9" Type="http://schemas.openxmlformats.org/officeDocument/2006/relationships/image" Target="../media/image130.png"/><Relationship Id="rId10" Type="http://schemas.openxmlformats.org/officeDocument/2006/relationships/image" Target="../media/image131.png"/><Relationship Id="rId11" Type="http://schemas.openxmlformats.org/officeDocument/2006/relationships/image" Target="../media/image13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3.png"/><Relationship Id="rId3" Type="http://schemas.openxmlformats.org/officeDocument/2006/relationships/image" Target="../media/image134.png"/><Relationship Id="rId4" Type="http://schemas.openxmlformats.org/officeDocument/2006/relationships/image" Target="../media/image135.png"/><Relationship Id="rId5" Type="http://schemas.openxmlformats.org/officeDocument/2006/relationships/image" Target="../media/image136.png"/><Relationship Id="rId6" Type="http://schemas.openxmlformats.org/officeDocument/2006/relationships/image" Target="../media/image137.png"/><Relationship Id="rId7" Type="http://schemas.openxmlformats.org/officeDocument/2006/relationships/image" Target="../media/image138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87201"/>
            <a:ext cx="3154680" cy="405772"/>
          </a:xfrm>
          <a:prstGeom prst="rect">
            <a:avLst/>
          </a:prstGeom>
        </p:spPr>
      </p:pic>
      <p:pic>
        <p:nvPicPr>
          <p:cNvPr id="3" name="Picture 2" descr="cover_Picture_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128" y="3579876"/>
            <a:ext cx="1641348" cy="1641348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3882908" y="1232428"/>
            <a:ext cx="0" cy="4373209"/>
          </a:xfrm>
          <a:prstGeom prst="line">
            <a:avLst/>
          </a:prstGeom>
          <a:ln w="9525">
            <a:solidFill>
              <a:srgbClr val="F2C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205874" y="3429000"/>
            <a:ext cx="6268303" cy="0"/>
          </a:xfrm>
          <a:prstGeom prst="line">
            <a:avLst/>
          </a:prstGeom>
          <a:ln w="9525">
            <a:solidFill>
              <a:srgbClr val="F2C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206240" y="1805940"/>
            <a:ext cx="7755026" cy="1200607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1E2D44"/>
                </a:solidFill>
                <a:latin typeface="Karla"/>
              </a:rPr>
              <a:t>Which sign design elements drive consumer appeal?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3880713"/>
            <a:ext cx="658368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E2D44"/>
                </a:solidFill>
                <a:latin typeface="Karla"/>
              </a:rPr>
              <a:t>A-FRAME SIGN STUDY Appeal Report  | 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4231843"/>
            <a:ext cx="6986016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E2D44"/>
                </a:solidFill>
                <a:latin typeface="Karla"/>
              </a:rPr>
              <a:t>Prepared by: J Brown Fitterman | jbrown@mindgenomicsassociates.com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4582972"/>
            <a:ext cx="384048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E2D44"/>
                </a:solidFill>
                <a:latin typeface="Karla"/>
              </a:rPr>
              <a:t>Mind Genomics Associates, Inc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5222138"/>
            <a:ext cx="76809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E2D44"/>
                </a:solidFill>
                <a:latin typeface="Karla"/>
              </a:rPr>
              <a:t>A-FRAME SIGN STUDY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100584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5400" b="1" i="0">
                <a:solidFill>
                  <a:srgbClr val="1E2D44"/>
                </a:solidFill>
                <a:latin typeface="Karla"/>
              </a:rPr>
              <a:t>Inputs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794760"/>
            <a:ext cx="1280160" cy="5486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56616" cy="6858000"/>
          </a:xfrm>
          <a:prstGeom prst="rect">
            <a:avLst/>
          </a:prstGeom>
          <a:solidFill>
            <a:srgbClr val="F3C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238"/>
                </a:solidFill>
                <a:latin typeface="Karla"/>
              </a:rPr>
              <a:t>The study in this report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097280"/>
            <a:ext cx="1261871" cy="0"/>
          </a:xfrm>
          <a:prstGeom prst="line">
            <a:avLst/>
          </a:prstGeom>
          <a:ln w="17780">
            <a:solidFill>
              <a:srgbClr val="F3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1353312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 i="1">
                <a:solidFill>
                  <a:srgbClr val="172238"/>
                </a:solidFill>
                <a:latin typeface="Karla"/>
              </a:rPr>
              <a:t>Scores in the pages that follow come from this file.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" y="1847088"/>
            <a:ext cx="10561320" cy="2103120"/>
          </a:xfrm>
          <a:prstGeom prst="roundRect">
            <a:avLst>
              <a:gd name="adj" fmla="val 2600"/>
            </a:avLst>
          </a:prstGeom>
          <a:solidFill>
            <a:srgbClr val="FB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" y="1847088"/>
            <a:ext cx="10561320" cy="12801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2212848"/>
            <a:ext cx="9921240" cy="7772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72238"/>
                </a:solidFill>
                <a:latin typeface="Karla"/>
              </a:rPr>
              <a:t>A-FRAME SIGN STUDY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" y="3054096"/>
            <a:ext cx="992124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72238"/>
                </a:solidFill>
                <a:latin typeface="Karla"/>
              </a:rPr>
              <a:t>5 silos  ·  62 elements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3419856"/>
            <a:ext cx="99212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4746E"/>
                </a:solidFill>
                <a:latin typeface="Karla"/>
              </a:rPr>
              <a:t>312 respondents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n=312 respondents.  Top-2 Box model (ratings 4–5): element lifts show movement above or below the model baseline.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56616" cy="6858000"/>
          </a:xfrm>
          <a:prstGeom prst="rect">
            <a:avLst/>
          </a:prstGeom>
          <a:solidFill>
            <a:srgbClr val="F3C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72238"/>
                </a:solidFill>
                <a:latin typeface="Karla"/>
              </a:rPr>
              <a:t>How the method works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024128"/>
            <a:ext cx="1261871" cy="0"/>
          </a:xfrm>
          <a:prstGeom prst="line">
            <a:avLst/>
          </a:prstGeom>
          <a:ln w="17780">
            <a:solidFill>
              <a:srgbClr val="F3C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1170432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172238"/>
                </a:solidFill>
                <a:latin typeface="Karla"/>
              </a:rPr>
              <a:t>Every respondent sees their own mix of design variations, and we learn what individually moves the appeal score.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0881360" cy="804672"/>
          </a:xfrm>
          <a:prstGeom prst="roundRect">
            <a:avLst>
              <a:gd name="adj" fmla="val 8300"/>
            </a:avLst>
          </a:prstGeom>
          <a:solidFill>
            <a:srgbClr val="FB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682495"/>
            <a:ext cx="585216" cy="585216"/>
          </a:xfrm>
          <a:prstGeom prst="ellipse">
            <a:avLst/>
          </a:prstGeom>
          <a:solidFill>
            <a:srgbClr val="1E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Karl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1700784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2238"/>
                </a:solidFill>
                <a:latin typeface="Karla"/>
              </a:rPr>
              <a:t>We slice the design into unique elements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993392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72238"/>
                </a:solidFill>
                <a:latin typeface="Karla"/>
              </a:rPr>
              <a:t>Each element is one design choice — Backgrounds, Headlines, Sub Headers, Images, and CTA.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450591"/>
            <a:ext cx="10881360" cy="804672"/>
          </a:xfrm>
          <a:prstGeom prst="roundRect">
            <a:avLst>
              <a:gd name="adj" fmla="val 8300"/>
            </a:avLst>
          </a:prstGeom>
          <a:solidFill>
            <a:srgbClr val="FB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2560320"/>
            <a:ext cx="585216" cy="585216"/>
          </a:xfrm>
          <a:prstGeom prst="ellipse">
            <a:avLst/>
          </a:prstGeom>
          <a:solidFill>
            <a:srgbClr val="1E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Karl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57860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2238"/>
                </a:solidFill>
                <a:latin typeface="Karla"/>
              </a:rPr>
              <a:t>Each element has 6–16 possible variations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2871215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72238"/>
                </a:solidFill>
                <a:latin typeface="Karla"/>
              </a:rPr>
              <a:t>Like the small choices a designer would make between the options in a silo.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328415"/>
            <a:ext cx="10881360" cy="804672"/>
          </a:xfrm>
          <a:prstGeom prst="roundRect">
            <a:avLst>
              <a:gd name="adj" fmla="val 8300"/>
            </a:avLst>
          </a:prstGeom>
          <a:solidFill>
            <a:srgbClr val="FB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" y="3438144"/>
            <a:ext cx="585216" cy="585216"/>
          </a:xfrm>
          <a:prstGeom prst="ellipse">
            <a:avLst/>
          </a:prstGeom>
          <a:solidFill>
            <a:srgbClr val="1E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Karla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3456432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2238"/>
                </a:solidFill>
                <a:latin typeface="Karla"/>
              </a:rPr>
              <a:t>Each respondent sees a set of pack designs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3749039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72238"/>
                </a:solidFill>
                <a:latin typeface="Karla"/>
              </a:rPr>
              <a:t>Each pack is a unique combination of variations — never quite the same as anyone else’s.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206240"/>
            <a:ext cx="10881360" cy="804672"/>
          </a:xfrm>
          <a:prstGeom prst="roundRect">
            <a:avLst>
              <a:gd name="adj" fmla="val 8300"/>
            </a:avLst>
          </a:prstGeom>
          <a:solidFill>
            <a:srgbClr val="FB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" y="4315968"/>
            <a:ext cx="585216" cy="585216"/>
          </a:xfrm>
          <a:prstGeom prst="ellipse">
            <a:avLst/>
          </a:prstGeom>
          <a:solidFill>
            <a:srgbClr val="1E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Karla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2768" y="4334255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2238"/>
                </a:solidFill>
                <a:latin typeface="Karla"/>
              </a:rPr>
              <a:t>They rate each 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4626864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72238"/>
                </a:solidFill>
                <a:latin typeface="Karla"/>
              </a:rPr>
              <a:t>The same rating scale is used on every task. The variation does the work.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084064"/>
            <a:ext cx="10881360" cy="804672"/>
          </a:xfrm>
          <a:prstGeom prst="roundRect">
            <a:avLst>
              <a:gd name="adj" fmla="val 8300"/>
            </a:avLst>
          </a:prstGeom>
          <a:solidFill>
            <a:srgbClr val="FB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2960" y="5193792"/>
            <a:ext cx="585216" cy="585216"/>
          </a:xfrm>
          <a:prstGeom prst="ellipse">
            <a:avLst/>
          </a:prstGeom>
          <a:solidFill>
            <a:srgbClr val="1E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Karla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2768" y="5212079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2238"/>
                </a:solidFill>
                <a:latin typeface="Karla"/>
              </a:rPr>
              <a:t>We learn what drives the rating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72768" y="55046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72238"/>
                </a:solidFill>
                <a:latin typeface="Karla"/>
              </a:rPr>
              <a:t>The model separates the baseline from the movement each element creates, on its own.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n=312 respondents.  Top-2 Box model (ratings 4–5): element lifts show movement above or below the model baseline.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EBC6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9144000" cy="47548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E2D44"/>
                </a:solidFill>
                <a:latin typeface="Karla"/>
              </a:rPr>
              <a:t>Design elements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26F7B"/>
                </a:solidFill>
                <a:latin typeface="Karla"/>
              </a:rPr>
              <a:t>5 design silos, 62 element variations in total.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44752"/>
            <a:ext cx="2542032" cy="100584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44752"/>
            <a:ext cx="91440" cy="1005840"/>
          </a:xfrm>
          <a:prstGeom prst="rect">
            <a:avLst/>
          </a:prstGeom>
          <a:solidFill>
            <a:srgbClr val="007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53619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07B7F"/>
                </a:solidFill>
                <a:latin typeface="Karla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7" y="1591056"/>
            <a:ext cx="1536192" cy="2560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D44"/>
                </a:solidFill>
                <a:latin typeface="Karla"/>
              </a:rPr>
              <a:t>Backgrounds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199" y="1591056"/>
            <a:ext cx="329184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26F7B"/>
                </a:solidFill>
                <a:latin typeface="Karla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029968"/>
            <a:ext cx="2249424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6F7B"/>
                </a:solidFill>
                <a:latin typeface="Karla"/>
              </a:rPr>
              <a:t>Background Layer Cotton, +5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00983" y="1444752"/>
            <a:ext cx="2542032" cy="100584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00983" y="1444752"/>
            <a:ext cx="91440" cy="1005840"/>
          </a:xfrm>
          <a:prstGeom prst="rect">
            <a:avLst/>
          </a:prstGeom>
          <a:solidFill>
            <a:srgbClr val="007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65575" y="153619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07B7F"/>
                </a:solidFill>
                <a:latin typeface="Karl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67911" y="1591056"/>
            <a:ext cx="1536192" cy="2560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D44"/>
                </a:solidFill>
                <a:latin typeface="Karla"/>
              </a:rPr>
              <a:t>Headlines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4103" y="1591056"/>
            <a:ext cx="329184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26F7B"/>
                </a:solidFill>
                <a:latin typeface="Karla"/>
              </a:rPr>
              <a:t>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65575" y="2029968"/>
            <a:ext cx="2249424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6F7B"/>
                </a:solidFill>
                <a:latin typeface="Karla"/>
              </a:rPr>
              <a:t>Headline Do You Know Where Your Food Comes From, +15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61888" y="1444752"/>
            <a:ext cx="2542032" cy="100584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61888" y="1444752"/>
            <a:ext cx="91440" cy="1005840"/>
          </a:xfrm>
          <a:prstGeom prst="rect">
            <a:avLst/>
          </a:prstGeom>
          <a:solidFill>
            <a:srgbClr val="007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79" y="153619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07B7F"/>
                </a:solidFill>
                <a:latin typeface="Karla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8816" y="1591056"/>
            <a:ext cx="1536192" cy="2560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D44"/>
                </a:solidFill>
                <a:latin typeface="Karla"/>
              </a:rPr>
              <a:t>Sub Headers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65007" y="1591056"/>
            <a:ext cx="329184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26F7B"/>
                </a:solidFill>
                <a:latin typeface="Karla"/>
              </a:rPr>
              <a:t>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79" y="2029968"/>
            <a:ext cx="2249424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6F7B"/>
                </a:solidFill>
                <a:latin typeface="Karla"/>
              </a:rPr>
              <a:t>Sub Header 80 Sourced Within 70 Miles, +15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22791" y="1444752"/>
            <a:ext cx="2542032" cy="100584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22791" y="1444752"/>
            <a:ext cx="91440" cy="1005840"/>
          </a:xfrm>
          <a:prstGeom prst="rect">
            <a:avLst/>
          </a:prstGeom>
          <a:solidFill>
            <a:srgbClr val="007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87383" y="153619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07B7F"/>
                </a:solidFill>
                <a:latin typeface="Karla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19" y="1591056"/>
            <a:ext cx="1536192" cy="2560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D44"/>
                </a:solidFill>
                <a:latin typeface="Karla"/>
              </a:rPr>
              <a:t>Images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25911" y="1591056"/>
            <a:ext cx="329184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26F7B"/>
                </a:solidFill>
                <a:latin typeface="Karla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87383" y="2029968"/>
            <a:ext cx="2249424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6F7B"/>
                </a:solidFill>
                <a:latin typeface="Karla"/>
              </a:rPr>
              <a:t>Image Layer Box Graphic, +7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2569464"/>
            <a:ext cx="2542032" cy="100584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2569464"/>
            <a:ext cx="91440" cy="1005840"/>
          </a:xfrm>
          <a:prstGeom prst="rect">
            <a:avLst/>
          </a:prstGeom>
          <a:solidFill>
            <a:srgbClr val="007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1" y="266090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07B7F"/>
                </a:solidFill>
                <a:latin typeface="Karla"/>
              </a:rPr>
              <a:t>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07007" y="2715768"/>
            <a:ext cx="1536192" cy="2560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D44"/>
                </a:solidFill>
                <a:latin typeface="Karla"/>
              </a:rPr>
              <a:t>CTA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199" y="2715768"/>
            <a:ext cx="329184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26F7B"/>
                </a:solidFill>
                <a:latin typeface="Karla"/>
              </a:rPr>
              <a:t>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1" y="3154680"/>
            <a:ext cx="2249424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6F7B"/>
                </a:solidFill>
                <a:latin typeface="Karla"/>
              </a:rPr>
              <a:t>Cta 80 Sourced Within 70 Miles, +15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053328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6F7B"/>
                </a:solidFill>
                <a:latin typeface="Karla"/>
              </a:rPr>
              <a:t>Each card shows the silo letter, the element count, and a sample of the options.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n=312 respondents.  Top-2 Box model (ratings 4–5): element lifts show movement above or below the model baseline.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WHAT YOU GET 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E2D44"/>
                </a:solidFill>
                <a:latin typeface="Karla"/>
              </a:rPr>
              <a:t>What design elements drive pack appeal?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600200"/>
            <a:ext cx="5486400" cy="1920240"/>
          </a:xfrm>
          <a:prstGeom prst="roundRect">
            <a:avLst>
              <a:gd name="adj" fmla="val 8000"/>
            </a:avLst>
          </a:prstGeom>
          <a:solidFill>
            <a:srgbClr val="F8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856232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4746E"/>
                </a:solidFill>
                <a:latin typeface="Karl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2286000"/>
            <a:ext cx="4937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E2D44"/>
                </a:solidFill>
                <a:latin typeface="Karla"/>
              </a:rPr>
              <a:t>Per-element scores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743200"/>
            <a:ext cx="493776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How much each variation moves the appeal rating, on its own, above or below the baseline.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7648" y="1600200"/>
            <a:ext cx="5486400" cy="1920240"/>
          </a:xfrm>
          <a:prstGeom prst="roundRect">
            <a:avLst>
              <a:gd name="adj" fmla="val 8000"/>
            </a:avLst>
          </a:prstGeom>
          <a:solidFill>
            <a:srgbClr val="F8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1968" y="1856232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4746E"/>
                </a:solidFill>
                <a:latin typeface="Karl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2286000"/>
            <a:ext cx="4937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E2D44"/>
                </a:solidFill>
                <a:latin typeface="Karla"/>
              </a:rPr>
              <a:t>Base appeal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2743200"/>
            <a:ext cx="493776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The Top-2 Box intercept. The pack’s starting appeal before a single element is added.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749039"/>
            <a:ext cx="5486400" cy="1920240"/>
          </a:xfrm>
          <a:prstGeom prst="roundRect">
            <a:avLst>
              <a:gd name="adj" fmla="val 8000"/>
            </a:avLst>
          </a:prstGeom>
          <a:solidFill>
            <a:srgbClr val="F8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4005072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4746E"/>
                </a:solidFill>
                <a:latin typeface="Karla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4434840"/>
            <a:ext cx="4937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E2D44"/>
                </a:solidFill>
                <a:latin typeface="Karla"/>
              </a:rPr>
              <a:t>Build-up scenarios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4892040"/>
            <a:ext cx="493776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The strongest element in each leading silo, added together, against a weaker combination of the same silos.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27648" y="3749039"/>
            <a:ext cx="5486400" cy="1920240"/>
          </a:xfrm>
          <a:prstGeom prst="roundRect">
            <a:avLst>
              <a:gd name="adj" fmla="val 8000"/>
            </a:avLst>
          </a:prstGeom>
          <a:solidFill>
            <a:srgbClr val="F8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4005072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4746E"/>
                </a:solidFill>
                <a:latin typeface="Karla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4434840"/>
            <a:ext cx="4937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E2D44"/>
                </a:solidFill>
                <a:latin typeface="Karla"/>
              </a:rPr>
              <a:t>Full lift summary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4892040"/>
            <a:ext cx="493776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Every element, in every silo, with the same score used in the charts.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n=312 respondents.  Top-2 Box model (ratings 4–5): element lifts show movement above or below the model baseline.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38328" cy="6858000"/>
          </a:xfrm>
          <a:prstGeom prst="rect">
            <a:avLst/>
          </a:prstGeom>
          <a:solidFill>
            <a:srgbClr val="F2C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4632" y="34747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E2D44"/>
                </a:solidFill>
                <a:latin typeface="Karla"/>
              </a:rPr>
              <a:t>Reading The Scores – What The Coefficients Mean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3504" y="896112"/>
            <a:ext cx="1371600" cy="0"/>
          </a:xfrm>
          <a:prstGeom prst="line">
            <a:avLst/>
          </a:prstGeom>
          <a:ln w="15875">
            <a:solidFill>
              <a:srgbClr val="F2C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536192" y="1188720"/>
            <a:ext cx="292608" cy="292608"/>
          </a:xfrm>
          <a:prstGeom prst="ellipse">
            <a:avLst/>
          </a:prstGeom>
          <a:solidFill>
            <a:srgbClr val="1E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Karl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115568"/>
            <a:ext cx="7315200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E2D44"/>
                </a:solidFill>
                <a:latin typeface="Karla"/>
              </a:rPr>
              <a:t>Element Lift Scores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499616"/>
            <a:ext cx="676656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2D44"/>
                </a:solidFill>
                <a:latin typeface="Karla"/>
              </a:rPr>
              <a:t>Element lifts show the estimated movement each design choice creates above or below the model baseline.</a:t>
            </a:r>
          </a:p>
        </p:txBody>
      </p:sp>
      <p:sp>
        <p:nvSpPr>
          <p:cNvPr id="8" name="Oval 7"/>
          <p:cNvSpPr/>
          <p:nvPr/>
        </p:nvSpPr>
        <p:spPr>
          <a:xfrm>
            <a:off x="1527048" y="3657600"/>
            <a:ext cx="292608" cy="292608"/>
          </a:xfrm>
          <a:prstGeom prst="ellipse">
            <a:avLst/>
          </a:prstGeom>
          <a:solidFill>
            <a:srgbClr val="1E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Karl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3584448"/>
            <a:ext cx="3840480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E2D44"/>
                </a:solidFill>
                <a:latin typeface="Karla"/>
              </a:rPr>
              <a:t>Explore Combinations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3968496"/>
            <a:ext cx="402336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2D44"/>
                </a:solidFill>
                <a:latin typeface="Karla"/>
              </a:rPr>
              <a:t>These scores can be combined to explore multiple design scenarios.</a:t>
            </a:r>
          </a:p>
        </p:txBody>
      </p:sp>
      <p:sp>
        <p:nvSpPr>
          <p:cNvPr id="11" name="Oval 10"/>
          <p:cNvSpPr/>
          <p:nvPr/>
        </p:nvSpPr>
        <p:spPr>
          <a:xfrm>
            <a:off x="6757416" y="3657600"/>
            <a:ext cx="292608" cy="292608"/>
          </a:xfrm>
          <a:prstGeom prst="ellipse">
            <a:avLst/>
          </a:prstGeom>
          <a:solidFill>
            <a:srgbClr val="1E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Karl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0608" y="3584448"/>
            <a:ext cx="4023360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E2D44"/>
                </a:solidFill>
                <a:latin typeface="Karla"/>
              </a:rPr>
              <a:t>Reading The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0608" y="3968496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2D44"/>
                </a:solidFill>
                <a:latin typeface="Karla"/>
              </a:rPr>
              <a:t>Coefficient Interpretation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37360" y="1965960"/>
            <a:ext cx="0" cy="1234440"/>
          </a:xfrm>
          <a:prstGeom prst="line">
            <a:avLst/>
          </a:prstGeom>
          <a:ln w="25400">
            <a:solidFill>
              <a:srgbClr val="27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37360" y="3200400"/>
            <a:ext cx="3803904" cy="0"/>
          </a:xfrm>
          <a:prstGeom prst="line">
            <a:avLst/>
          </a:prstGeom>
          <a:ln w="25400">
            <a:solidFill>
              <a:srgbClr val="27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541264" y="3200400"/>
            <a:ext cx="0" cy="1234440"/>
          </a:xfrm>
          <a:prstGeom prst="line">
            <a:avLst/>
          </a:prstGeom>
          <a:ln w="25400">
            <a:solidFill>
              <a:srgbClr val="273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141464" y="4370832"/>
          <a:ext cx="4041647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7943"/>
                <a:gridCol w="2203704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E2D44"/>
                          </a:solidFill>
                          <a:latin typeface="Karla"/>
                        </a:rPr>
                        <a:t>Coefficient Scale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  <a:lnL w="12700" cap="flat" cmpd="sng" algn="ctr">
                      <a:solidFill>
                        <a:srgbClr val="273142"/>
                      </a:solidFill>
                      <a:prstDash val="solid"/>
                    </a:lnL>
                    <a:lnR w="12700" cap="flat" cmpd="sng" algn="ctr">
                      <a:solidFill>
                        <a:srgbClr val="273142"/>
                      </a:solidFill>
                      <a:prstDash val="solid"/>
                    </a:lnR>
                    <a:lnT w="12700" cap="flat" cmpd="sng" algn="ctr">
                      <a:solidFill>
                        <a:srgbClr val="273142"/>
                      </a:solidFill>
                      <a:prstDash val="solid"/>
                    </a:lnT>
                    <a:lnB w="12700" cap="flat" cmpd="sng" algn="ctr">
                      <a:solidFill>
                        <a:srgbClr val="273142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E2D44"/>
                          </a:solidFill>
                          <a:latin typeface="Karla"/>
                        </a:rPr>
                        <a:t>Interpretation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  <a:lnL w="12700" cap="flat" cmpd="sng" algn="ctr">
                      <a:solidFill>
                        <a:srgbClr val="273142"/>
                      </a:solidFill>
                      <a:prstDash val="solid"/>
                    </a:lnL>
                    <a:lnR w="12700" cap="flat" cmpd="sng" algn="ctr">
                      <a:solidFill>
                        <a:srgbClr val="273142"/>
                      </a:solidFill>
                      <a:prstDash val="solid"/>
                    </a:lnR>
                    <a:lnT w="12700" cap="flat" cmpd="sng" algn="ctr">
                      <a:solidFill>
                        <a:srgbClr val="273142"/>
                      </a:solidFill>
                      <a:prstDash val="solid"/>
                    </a:lnT>
                    <a:lnB w="12700" cap="flat" cmpd="sng" algn="ctr">
                      <a:solidFill>
                        <a:srgbClr val="273142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D44"/>
                          </a:solidFill>
                          <a:latin typeface="Karla"/>
                        </a:rPr>
                        <a:t>+10 or higher</a:t>
                      </a:r>
                    </a:p>
                  </a:txBody>
                  <a:tcPr marL="73152" marR="54864" marT="36576" marB="36576">
                    <a:solidFill>
                      <a:srgbClr val="DEF1D3"/>
                    </a:solidFill>
                    <a:lnL w="12700" cap="flat" cmpd="sng" algn="ctr">
                      <a:solidFill>
                        <a:srgbClr val="273142"/>
                      </a:solidFill>
                      <a:prstDash val="solid"/>
                    </a:lnL>
                    <a:lnR w="12700" cap="flat" cmpd="sng" algn="ctr">
                      <a:solidFill>
                        <a:srgbClr val="273142"/>
                      </a:solidFill>
                      <a:prstDash val="solid"/>
                    </a:lnR>
                    <a:lnT w="12700" cap="flat" cmpd="sng" algn="ctr">
                      <a:solidFill>
                        <a:srgbClr val="273142"/>
                      </a:solidFill>
                      <a:prstDash val="solid"/>
                    </a:lnT>
                    <a:lnB w="12700" cap="flat" cmpd="sng" algn="ctr">
                      <a:solidFill>
                        <a:srgbClr val="273142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D44"/>
                          </a:solidFill>
                          <a:latin typeface="Karla"/>
                        </a:rPr>
                        <a:t>Strong lift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  <a:lnL w="12700" cap="flat" cmpd="sng" algn="ctr">
                      <a:solidFill>
                        <a:srgbClr val="273142"/>
                      </a:solidFill>
                      <a:prstDash val="solid"/>
                    </a:lnL>
                    <a:lnR w="12700" cap="flat" cmpd="sng" algn="ctr">
                      <a:solidFill>
                        <a:srgbClr val="273142"/>
                      </a:solidFill>
                      <a:prstDash val="solid"/>
                    </a:lnR>
                    <a:lnT w="12700" cap="flat" cmpd="sng" algn="ctr">
                      <a:solidFill>
                        <a:srgbClr val="273142"/>
                      </a:solidFill>
                      <a:prstDash val="solid"/>
                    </a:lnT>
                    <a:lnB w="12700" cap="flat" cmpd="sng" algn="ctr">
                      <a:solidFill>
                        <a:srgbClr val="273142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D44"/>
                          </a:solidFill>
                          <a:latin typeface="Karla"/>
                        </a:rPr>
                        <a:t>+5 to +9.9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  <a:lnL w="12700" cap="flat" cmpd="sng" algn="ctr">
                      <a:solidFill>
                        <a:srgbClr val="273142"/>
                      </a:solidFill>
                      <a:prstDash val="solid"/>
                    </a:lnL>
                    <a:lnR w="12700" cap="flat" cmpd="sng" algn="ctr">
                      <a:solidFill>
                        <a:srgbClr val="273142"/>
                      </a:solidFill>
                      <a:prstDash val="solid"/>
                    </a:lnR>
                    <a:lnT w="12700" cap="flat" cmpd="sng" algn="ctr">
                      <a:solidFill>
                        <a:srgbClr val="273142"/>
                      </a:solidFill>
                      <a:prstDash val="solid"/>
                    </a:lnT>
                    <a:lnB w="12700" cap="flat" cmpd="sng" algn="ctr">
                      <a:solidFill>
                        <a:srgbClr val="273142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D44"/>
                          </a:solidFill>
                          <a:latin typeface="Karla"/>
                        </a:rPr>
                        <a:t>Moderate lift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  <a:lnL w="12700" cap="flat" cmpd="sng" algn="ctr">
                      <a:solidFill>
                        <a:srgbClr val="273142"/>
                      </a:solidFill>
                      <a:prstDash val="solid"/>
                    </a:lnL>
                    <a:lnR w="12700" cap="flat" cmpd="sng" algn="ctr">
                      <a:solidFill>
                        <a:srgbClr val="273142"/>
                      </a:solidFill>
                      <a:prstDash val="solid"/>
                    </a:lnR>
                    <a:lnT w="12700" cap="flat" cmpd="sng" algn="ctr">
                      <a:solidFill>
                        <a:srgbClr val="273142"/>
                      </a:solidFill>
                      <a:prstDash val="solid"/>
                    </a:lnT>
                    <a:lnB w="12700" cap="flat" cmpd="sng" algn="ctr">
                      <a:solidFill>
                        <a:srgbClr val="273142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D44"/>
                          </a:solidFill>
                          <a:latin typeface="Karla"/>
                        </a:rPr>
                        <a:t>+2 to +4.9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  <a:lnL w="12700" cap="flat" cmpd="sng" algn="ctr">
                      <a:solidFill>
                        <a:srgbClr val="273142"/>
                      </a:solidFill>
                      <a:prstDash val="solid"/>
                    </a:lnL>
                    <a:lnR w="12700" cap="flat" cmpd="sng" algn="ctr">
                      <a:solidFill>
                        <a:srgbClr val="273142"/>
                      </a:solidFill>
                      <a:prstDash val="solid"/>
                    </a:lnR>
                    <a:lnT w="12700" cap="flat" cmpd="sng" algn="ctr">
                      <a:solidFill>
                        <a:srgbClr val="273142"/>
                      </a:solidFill>
                      <a:prstDash val="solid"/>
                    </a:lnT>
                    <a:lnB w="12700" cap="flat" cmpd="sng" algn="ctr">
                      <a:solidFill>
                        <a:srgbClr val="273142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D44"/>
                          </a:solidFill>
                          <a:latin typeface="Karla"/>
                        </a:rPr>
                        <a:t>Small lift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  <a:lnL w="12700" cap="flat" cmpd="sng" algn="ctr">
                      <a:solidFill>
                        <a:srgbClr val="273142"/>
                      </a:solidFill>
                      <a:prstDash val="solid"/>
                    </a:lnL>
                    <a:lnR w="12700" cap="flat" cmpd="sng" algn="ctr">
                      <a:solidFill>
                        <a:srgbClr val="273142"/>
                      </a:solidFill>
                      <a:prstDash val="solid"/>
                    </a:lnR>
                    <a:lnT w="12700" cap="flat" cmpd="sng" algn="ctr">
                      <a:solidFill>
                        <a:srgbClr val="273142"/>
                      </a:solidFill>
                      <a:prstDash val="solid"/>
                    </a:lnT>
                    <a:lnB w="12700" cap="flat" cmpd="sng" algn="ctr">
                      <a:solidFill>
                        <a:srgbClr val="273142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D44"/>
                          </a:solidFill>
                          <a:latin typeface="Karla"/>
                        </a:rPr>
                        <a:t>Below +2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  <a:lnL w="12700" cap="flat" cmpd="sng" algn="ctr">
                      <a:solidFill>
                        <a:srgbClr val="273142"/>
                      </a:solidFill>
                      <a:prstDash val="solid"/>
                    </a:lnL>
                    <a:lnR w="12700" cap="flat" cmpd="sng" algn="ctr">
                      <a:solidFill>
                        <a:srgbClr val="273142"/>
                      </a:solidFill>
                      <a:prstDash val="solid"/>
                    </a:lnR>
                    <a:lnT w="12700" cap="flat" cmpd="sng" algn="ctr">
                      <a:solidFill>
                        <a:srgbClr val="273142"/>
                      </a:solidFill>
                      <a:prstDash val="solid"/>
                    </a:lnT>
                    <a:lnB w="12700" cap="flat" cmpd="sng" algn="ctr">
                      <a:solidFill>
                        <a:srgbClr val="273142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D44"/>
                          </a:solidFill>
                          <a:latin typeface="Karla"/>
                        </a:rPr>
                        <a:t>Minimal / weak lift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  <a:lnL w="12700" cap="flat" cmpd="sng" algn="ctr">
                      <a:solidFill>
                        <a:srgbClr val="273142"/>
                      </a:solidFill>
                      <a:prstDash val="solid"/>
                    </a:lnL>
                    <a:lnR w="12700" cap="flat" cmpd="sng" algn="ctr">
                      <a:solidFill>
                        <a:srgbClr val="273142"/>
                      </a:solidFill>
                      <a:prstDash val="solid"/>
                    </a:lnR>
                    <a:lnT w="12700" cap="flat" cmpd="sng" algn="ctr">
                      <a:solidFill>
                        <a:srgbClr val="273142"/>
                      </a:solidFill>
                      <a:prstDash val="solid"/>
                    </a:lnT>
                    <a:lnB w="12700" cap="flat" cmpd="sng" algn="ctr">
                      <a:solidFill>
                        <a:srgbClr val="273142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n=312 respondents.  Top-2 Box model (ratings 4–5): element lifts show movement above or below the model baseline.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100584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5400" b="1" i="0">
                <a:solidFill>
                  <a:srgbClr val="1E2D44"/>
                </a:solidFill>
                <a:latin typeface="Karla"/>
              </a:rPr>
              <a:t>Key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794760"/>
            <a:ext cx="1280160" cy="5486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E2D44"/>
                </a:solidFill>
                <a:latin typeface="Karla"/>
              </a:rPr>
              <a:t>Where appeal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4300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617086"/>
                </a:solidFill>
                <a:latin typeface="Karla"/>
              </a:rPr>
              <a:t>The strongest movement comes from the silos and elements below. Detail charts for every silo follow.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45920"/>
            <a:ext cx="11064240" cy="987552"/>
          </a:xfrm>
          <a:prstGeom prst="roundRect">
            <a:avLst>
              <a:gd name="adj" fmla="val 8000"/>
            </a:avLst>
          </a:prstGeom>
          <a:solidFill>
            <a:srgbClr val="F8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45920"/>
            <a:ext cx="640080" cy="9875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4746E"/>
                </a:solidFill>
                <a:latin typeface="Karl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755648"/>
            <a:ext cx="96926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E2D44"/>
                </a:solidFill>
                <a:latin typeface="Karla"/>
              </a:rPr>
              <a:t>The model has a clear starting 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03120"/>
            <a:ext cx="969264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17086"/>
                </a:solidFill>
                <a:latin typeface="Karla"/>
              </a:rPr>
              <a:t>Base appeal is 50%. That is the Top-2 Box baseline before any single design element adds or subtracts lift.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743200"/>
            <a:ext cx="11064240" cy="987552"/>
          </a:xfrm>
          <a:prstGeom prst="roundRect">
            <a:avLst>
              <a:gd name="adj" fmla="val 8000"/>
            </a:avLst>
          </a:prstGeom>
          <a:solidFill>
            <a:srgbClr val="FF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743200"/>
            <a:ext cx="640080" cy="9875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4746E"/>
                </a:solidFill>
                <a:latin typeface="Karla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852928"/>
            <a:ext cx="96926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E2D44"/>
                </a:solidFill>
                <a:latin typeface="Karla"/>
              </a:rPr>
              <a:t>Headline Visit Our Booth For 50 Off is the strongest single cue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200400"/>
            <a:ext cx="969264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17086"/>
                </a:solidFill>
                <a:latin typeface="Karla"/>
              </a:rPr>
              <a:t>In Headlines, Headline Visit Our Booth For 50 Off moves appeal by +11. 38 of 62 elements sit above the baseline.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840480"/>
            <a:ext cx="11064240" cy="987552"/>
          </a:xfrm>
          <a:prstGeom prst="roundRect">
            <a:avLst>
              <a:gd name="adj" fmla="val 8000"/>
            </a:avLst>
          </a:prstGeom>
          <a:solidFill>
            <a:srgbClr val="F8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840480"/>
            <a:ext cx="640080" cy="9875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4746E"/>
                </a:solidFill>
                <a:latin typeface="Karla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950208"/>
            <a:ext cx="96926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E2D44"/>
                </a:solidFill>
                <a:latin typeface="Karla"/>
              </a:rPr>
              <a:t>Headlines is the lead design area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297680"/>
            <a:ext cx="969264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17086"/>
                </a:solidFill>
                <a:latin typeface="Karla"/>
              </a:rPr>
              <a:t>Headline Visit Our Booth For 50 Off tops this silo at +11. Headlines has the widest spread, +11 points from Headline Prefer Big Grocery Chains Keep Walking to Headline Visit Our Booth For 50 Off.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937759"/>
            <a:ext cx="11064240" cy="987552"/>
          </a:xfrm>
          <a:prstGeom prst="roundRect">
            <a:avLst>
              <a:gd name="adj" fmla="val 8000"/>
            </a:avLst>
          </a:prstGeom>
          <a:solidFill>
            <a:srgbClr val="FF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937759"/>
            <a:ext cx="640080" cy="9875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4746E"/>
                </a:solidFill>
                <a:latin typeface="Karla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047488"/>
            <a:ext cx="96926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E2D44"/>
                </a:solidFill>
                <a:latin typeface="Karla"/>
              </a:rPr>
              <a:t>Cta Skip The Grocery Store is the largest drag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394959"/>
            <a:ext cx="969264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17086"/>
                </a:solidFill>
                <a:latin typeface="Karla"/>
              </a:rPr>
              <a:t>In CTA, Cta Skip The Grocery Store sits at -4. Negative lifts pull the appeal score below the model baseline.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n=312 respondents.  Top-2 Box model (ratings 4–5): element lifts show movement above or below the model baseline.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MODEL OVERVIEW: BASE APPEAL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E2D44"/>
                </a:solidFill>
                <a:latin typeface="Karla"/>
              </a:rPr>
              <a:t>Base appeal before element lift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10972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617086"/>
                </a:solidFill>
                <a:latin typeface="Karla"/>
              </a:rPr>
              <a:t>Base appeal is this model’s starting Top-2 Box score (ratings 4–5) before individual design elements add or subtract lift.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74519"/>
            <a:ext cx="5760720" cy="4023360"/>
          </a:xfrm>
          <a:prstGeom prst="roundRect">
            <a:avLst>
              <a:gd name="adj" fmla="val 8000"/>
            </a:avLst>
          </a:prstGeom>
          <a:solidFill>
            <a:srgbClr val="F5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5120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4746E"/>
                </a:solidFill>
                <a:latin typeface="Karla"/>
              </a:rPr>
              <a:t>BASE APPEAL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60320"/>
            <a:ext cx="512064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E2D44"/>
                </a:solidFill>
                <a:latin typeface="Karla"/>
              </a:rPr>
              <a:t>A-FRAME SIGN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29000"/>
            <a:ext cx="512064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7200" b="1" i="0">
                <a:solidFill>
                  <a:srgbClr val="1E2D44"/>
                </a:solidFill>
                <a:latin typeface="Karla"/>
              </a:rPr>
              <a:t>50%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709160"/>
            <a:ext cx="5120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Model baseline  ·  intercept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074920"/>
            <a:ext cx="5120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E2D44"/>
                </a:solidFill>
                <a:latin typeface="Karla"/>
              </a:rPr>
              <a:t>Base size 312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874519"/>
            <a:ext cx="5029200" cy="4023360"/>
          </a:xfrm>
          <a:prstGeom prst="roundRect">
            <a:avLst>
              <a:gd name="adj" fmla="val 8000"/>
            </a:avLst>
          </a:prstGeom>
          <a:solidFill>
            <a:srgbClr val="1E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03720" y="2148840"/>
            <a:ext cx="4480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EAC8D4"/>
                </a:solidFill>
                <a:latin typeface="Karla"/>
              </a:rPr>
              <a:t>HOW TO USE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2606040"/>
            <a:ext cx="44348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Karla"/>
              </a:rPr>
              <a:t>Each element chart is movement around this number, not a new total by itself.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3703320"/>
            <a:ext cx="443484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Karla"/>
              </a:rPr>
              <a:t>A build-up adds the baseline and one lift from each silo. That sum is a model scenario. It is not capped at 0 or 100.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n=312 respondents.  Top-2 Box model (ratings 4–5): element lifts show movement above or below the model baseline.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E8C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29184"/>
            <a:ext cx="585216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A44"/>
                </a:solidFill>
                <a:latin typeface="Karla"/>
              </a:rP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21792"/>
            <a:ext cx="6126480" cy="10515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F2A44"/>
                </a:solidFill>
                <a:latin typeface="Karla"/>
              </a:rPr>
              <a:t>Appeal moves most clearly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F2A44"/>
                </a:solidFill>
                <a:latin typeface="Karla"/>
              </a:rPr>
              <a:t>in four design areas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78040" y="566928"/>
            <a:ext cx="4434840" cy="1115568"/>
          </a:xfrm>
          <a:prstGeom prst="roundRect">
            <a:avLst>
              <a:gd name="adj" fmla="val 10000"/>
            </a:avLst>
          </a:prstGeom>
          <a:solidFill>
            <a:srgbClr val="F7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88352" y="713232"/>
            <a:ext cx="4041648" cy="8229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A44"/>
                </a:solidFill>
                <a:latin typeface="Karla"/>
              </a:rPr>
              <a:t>These are the silos where one element, or the gap inside the silo, moves appeal the most.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9659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5748B"/>
                </a:solidFill>
                <a:latin typeface="Karla"/>
              </a:rPr>
              <a:t>ROADMAP FOR THE READ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304288"/>
            <a:ext cx="2670048" cy="22128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4746E"/>
                </a:solidFill>
                <a:latin typeface="Karl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61488"/>
            <a:ext cx="2267712" cy="5669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F2A44"/>
                </a:solidFill>
                <a:latin typeface="Karla"/>
              </a:rPr>
              <a:t>Headlines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2267712" cy="8412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5748B"/>
                </a:solidFill>
                <a:latin typeface="Karla"/>
              </a:rPr>
              <a:t>Headline Visit Our Booth For 50 Off leads at +11.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5748B"/>
                </a:solidFill>
                <a:latin typeface="Karla"/>
              </a:rPr>
              <a:t>Low end is Headline Prefer Big Grocery Chains Keep Walking.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9584" y="2304288"/>
            <a:ext cx="2670048" cy="22128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0752" y="2468880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4746E"/>
                </a:solidFill>
                <a:latin typeface="Karl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2761488"/>
            <a:ext cx="2267712" cy="5669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F2A44"/>
                </a:solidFill>
                <a:latin typeface="Karla"/>
              </a:rPr>
              <a:t>Images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3474720"/>
            <a:ext cx="2267712" cy="8412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5748B"/>
                </a:solidFill>
                <a:latin typeface="Karla"/>
              </a:rPr>
              <a:t>Image Layer Farm leads at +7.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5748B"/>
                </a:solidFill>
                <a:latin typeface="Karla"/>
              </a:rPr>
              <a:t>Low end is Image Layer Delivery Graphic.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45936" y="2304288"/>
            <a:ext cx="2670048" cy="22128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2468880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4746E"/>
                </a:solidFill>
                <a:latin typeface="Karl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7104" y="2761488"/>
            <a:ext cx="2267712" cy="5669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F2A44"/>
                </a:solidFill>
                <a:latin typeface="Karla"/>
              </a:rPr>
              <a:t>Sub Headers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3474720"/>
            <a:ext cx="2267712" cy="8412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5748B"/>
                </a:solidFill>
                <a:latin typeface="Karla"/>
              </a:rPr>
              <a:t>Sub Header Win A Free Month Of Groceries! leads at +6.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5748B"/>
                </a:solidFill>
                <a:latin typeface="Karla"/>
              </a:rPr>
              <a:t>Sub Header Prefer Big Grocery Chains Keep Walking pulls the other way.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62288" y="2304288"/>
            <a:ext cx="2670048" cy="22128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63456" y="2468880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4746E"/>
                </a:solidFill>
                <a:latin typeface="Karl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63456" y="2761488"/>
            <a:ext cx="2267712" cy="5669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F2A44"/>
                </a:solidFill>
                <a:latin typeface="Karla"/>
              </a:rPr>
              <a:t>CTA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3456" y="3474720"/>
            <a:ext cx="2267712" cy="8412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5748B"/>
                </a:solidFill>
                <a:latin typeface="Karla"/>
              </a:rPr>
              <a:t>Cta Visit Our Booth For 50 Off leads at +3.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5748B"/>
                </a:solidFill>
                <a:latin typeface="Karla"/>
              </a:rPr>
              <a:t>Cta Skip The Grocery Store pulls the other way.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937759"/>
            <a:ext cx="11119104" cy="713232"/>
          </a:xfrm>
          <a:prstGeom prst="roundRect">
            <a:avLst>
              <a:gd name="adj" fmla="val 8000"/>
            </a:avLst>
          </a:prstGeom>
          <a:solidFill>
            <a:srgbClr val="F7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4937759"/>
            <a:ext cx="11119104" cy="7132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F2A44"/>
                </a:solidFill>
                <a:latin typeface="Karla"/>
              </a:rPr>
              <a:t>The clearest appeal movement is concentrated in Headlines, Images, Sub Headers, and CTA.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n=312 respondents.  Top-2 Box model (ratings 4–5): element lifts show movement above or below the model baseline.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56032"/>
            <a:ext cx="685800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KEY FINDINGS: BACKGROUNDS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6858000" cy="7863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E2D44"/>
                </a:solidFill>
                <a:latin typeface="Karla"/>
              </a:rPr>
              <a:t>Background Layer Cotton leads the backgrounds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8016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Every option is at or above the baseline. Background Layer Cotton is furthest ahead at +1.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73936"/>
            <a:ext cx="6309360" cy="256032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D44"/>
                </a:solidFill>
                <a:latin typeface="Karla"/>
              </a:rPr>
              <a:t>BACKGROUNDS PREFERENCES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95144" y="2066543"/>
            <a:ext cx="9144" cy="3108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21991" y="5193792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8" name="Rectangle 7"/>
          <p:cNvSpPr/>
          <p:nvPr/>
        </p:nvSpPr>
        <p:spPr>
          <a:xfrm>
            <a:off x="4005072" y="2066543"/>
            <a:ext cx="9144" cy="3108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12463" y="5193792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0" y="2066543"/>
            <a:ext cx="9144" cy="3108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22392" y="5193792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24928" y="2066543"/>
            <a:ext cx="9144" cy="3108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12864" y="5193792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95144" y="2066543"/>
            <a:ext cx="13716" cy="3108960"/>
          </a:xfrm>
          <a:prstGeom prst="rect">
            <a:avLst/>
          </a:prstGeom>
          <a:solidFill>
            <a:srgbClr val="B9C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95144" y="5175504"/>
            <a:ext cx="5129784" cy="10972"/>
          </a:xfrm>
          <a:prstGeom prst="rect">
            <a:avLst/>
          </a:prstGeom>
          <a:solidFill>
            <a:srgbClr val="B9C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95144" y="2216810"/>
            <a:ext cx="3419856" cy="217627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79008" y="2066543"/>
            <a:ext cx="512064" cy="51816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" y="2066543"/>
            <a:ext cx="1746503" cy="51816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Background Layer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Cotton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95144" y="2734970"/>
            <a:ext cx="3419856" cy="217627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79008" y="2584704"/>
            <a:ext cx="512064" cy="51816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" y="2584704"/>
            <a:ext cx="1746503" cy="51816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Background Layer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Cream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95144" y="3253130"/>
            <a:ext cx="3419856" cy="217627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79008" y="3102864"/>
            <a:ext cx="512064" cy="51816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" y="3102864"/>
            <a:ext cx="1746503" cy="51816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Background Layer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Lemon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95144" y="3771290"/>
            <a:ext cx="3419856" cy="217627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79008" y="3621024"/>
            <a:ext cx="512064" cy="51816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" y="3621024"/>
            <a:ext cx="1746503" cy="51816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Background Layer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Melon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95144" y="4289450"/>
            <a:ext cx="3419856" cy="217627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79008" y="4139184"/>
            <a:ext cx="512064" cy="51816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" y="4139184"/>
            <a:ext cx="1746503" cy="51816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Background Layer Sky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95144" y="4807610"/>
            <a:ext cx="32004" cy="217627"/>
          </a:xfrm>
          <a:prstGeom prst="rect">
            <a:avLst/>
          </a:prstGeom>
          <a:solidFill>
            <a:srgbClr val="6F7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59151" y="4657344"/>
            <a:ext cx="512064" cy="51816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" y="4657344"/>
            <a:ext cx="1746503" cy="51816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Background Layer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Mint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54112" y="256032"/>
            <a:ext cx="4041648" cy="51937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439788" y="397764"/>
            <a:ext cx="777487" cy="108813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3504" y="411480"/>
            <a:ext cx="750055" cy="1060703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900416" y="1527048"/>
            <a:ext cx="1856231" cy="2560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Background Layer…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82128" y="1783080"/>
            <a:ext cx="1892807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332596" y="397764"/>
            <a:ext cx="777487" cy="108813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A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6312" y="411480"/>
            <a:ext cx="750055" cy="1060703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793224" y="1527048"/>
            <a:ext cx="1856231" cy="2560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Background Layer…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74936" y="1783080"/>
            <a:ext cx="1892807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39788" y="2043684"/>
            <a:ext cx="777487" cy="108813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A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3504" y="2057400"/>
            <a:ext cx="750055" cy="1060703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900416" y="3172968"/>
            <a:ext cx="1856231" cy="2560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Background Layer…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82128" y="3429000"/>
            <a:ext cx="1892807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332596" y="2043684"/>
            <a:ext cx="777487" cy="108813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A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6312" y="2057400"/>
            <a:ext cx="750055" cy="1060703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9793224" y="3172968"/>
            <a:ext cx="1856231" cy="2560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Background Layer…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74936" y="3429000"/>
            <a:ext cx="1892807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439788" y="3689604"/>
            <a:ext cx="777487" cy="108813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A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3504" y="3703320"/>
            <a:ext cx="750055" cy="1060703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7900416" y="4818887"/>
            <a:ext cx="1856231" cy="2560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Background Layer…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82128" y="5074919"/>
            <a:ext cx="1892807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332596" y="3689604"/>
            <a:ext cx="777487" cy="108813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A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46312" y="3703320"/>
            <a:ext cx="750055" cy="1060703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9793224" y="4818887"/>
            <a:ext cx="1856231" cy="2560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Background Layer…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774936" y="5074919"/>
            <a:ext cx="1892807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58368" y="5650992"/>
            <a:ext cx="11109960" cy="530352"/>
          </a:xfrm>
          <a:prstGeom prst="roundRect">
            <a:avLst>
              <a:gd name="adj" fmla="val 10000"/>
            </a:avLst>
          </a:prstGeom>
          <a:solidFill>
            <a:srgbClr val="FC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D44"/>
                </a:solidFill>
                <a:latin typeface="Karla"/>
              </a:rPr>
              <a:t>Key read: Background Layer Cotton is the strongest backgrounds direction (+1). The gap to Background Layer Mint is +1 points.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n=312 respondents.  Top-2 Box model (ratings 4–5): element lifts show movement above or below the model baseline.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56032"/>
            <a:ext cx="685800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KEY FINDINGS: HEADLINES   ·   1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6858000" cy="7863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E2D44"/>
                </a:solidFill>
                <a:latin typeface="Karla"/>
              </a:rPr>
              <a:t>Headline Visit Our Booth For 50 Off leads the headlines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8016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Every option is at or above the baseline. Headline Visit Our Booth For 50 Off is furthest ahead at +11.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73936"/>
            <a:ext cx="6309360" cy="256032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D44"/>
                </a:solidFill>
                <a:latin typeface="Karla"/>
              </a:rPr>
              <a:t>HEADLINES PREFERENCES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95144" y="2066543"/>
            <a:ext cx="9144" cy="3108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21991" y="5193792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8" name="Rectangle 7"/>
          <p:cNvSpPr/>
          <p:nvPr/>
        </p:nvSpPr>
        <p:spPr>
          <a:xfrm>
            <a:off x="4005072" y="2066543"/>
            <a:ext cx="9144" cy="3108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12463" y="5193792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0" y="2066543"/>
            <a:ext cx="9144" cy="3108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22392" y="5193792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24928" y="2066543"/>
            <a:ext cx="9144" cy="3108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12864" y="5193792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95144" y="2066543"/>
            <a:ext cx="13716" cy="3108960"/>
          </a:xfrm>
          <a:prstGeom prst="rect">
            <a:avLst/>
          </a:prstGeom>
          <a:solidFill>
            <a:srgbClr val="B9C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95144" y="5175504"/>
            <a:ext cx="5129784" cy="10972"/>
          </a:xfrm>
          <a:prstGeom prst="rect">
            <a:avLst/>
          </a:prstGeom>
          <a:solidFill>
            <a:srgbClr val="B9C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95144" y="2166721"/>
            <a:ext cx="3761841" cy="14508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0993" y="2066543"/>
            <a:ext cx="512064" cy="345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" y="2066543"/>
            <a:ext cx="1746503" cy="345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Headline Visit Our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Booth For 50 Off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95144" y="2512161"/>
            <a:ext cx="3419856" cy="14508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79008" y="2411984"/>
            <a:ext cx="512064" cy="345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" y="2411984"/>
            <a:ext cx="1746503" cy="345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Headline Win A Free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Month Of Groceries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95144" y="2857601"/>
            <a:ext cx="2051913" cy="14508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11065" y="2757424"/>
            <a:ext cx="512064" cy="345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" y="2757424"/>
            <a:ext cx="1746503" cy="345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Headline Guess The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Price Of Our Box To…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95144" y="3203041"/>
            <a:ext cx="1367942" cy="14508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27094" y="3102864"/>
            <a:ext cx="512064" cy="345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" y="3102864"/>
            <a:ext cx="1746503" cy="345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Headline Good Food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For Every Table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95144" y="3548481"/>
            <a:ext cx="1025956" cy="14508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85108" y="3448304"/>
            <a:ext cx="512064" cy="345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" y="3448304"/>
            <a:ext cx="1746503" cy="345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Headline Do You Know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Where Your Food Comes…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95144" y="3893921"/>
            <a:ext cx="1025956" cy="14508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85108" y="3793744"/>
            <a:ext cx="512064" cy="345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" y="3793744"/>
            <a:ext cx="1746503" cy="345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Headline Georgia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Farms Delivered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95144" y="4239361"/>
            <a:ext cx="1025956" cy="14508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85108" y="4139184"/>
            <a:ext cx="512064" cy="345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0624" y="4139184"/>
            <a:ext cx="1746503" cy="345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Headline Good For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People And The Planet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95144" y="4584801"/>
            <a:ext cx="1025956" cy="14508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85108" y="4484624"/>
            <a:ext cx="512064" cy="345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" y="4484624"/>
            <a:ext cx="1746503" cy="345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Headline Metro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Atlanta’s Online…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95144" y="4930241"/>
            <a:ext cx="1025956" cy="14508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85108" y="4830064"/>
            <a:ext cx="512064" cy="345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0624" y="4830064"/>
            <a:ext cx="1746503" cy="345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Headline Organic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Groceries Fair Prices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54112" y="256032"/>
            <a:ext cx="4041648" cy="51937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124320" y="397764"/>
            <a:ext cx="777487" cy="108813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B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036" y="411480"/>
            <a:ext cx="750055" cy="1060703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7900416" y="1527048"/>
            <a:ext cx="1225295" cy="2560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Headline…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82128" y="1783080"/>
            <a:ext cx="126187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+11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386192" y="397764"/>
            <a:ext cx="777487" cy="108813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B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9908" y="411480"/>
            <a:ext cx="750055" cy="1060703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162288" y="1527048"/>
            <a:ext cx="1225295" cy="2560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Headline Win…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0" y="1783080"/>
            <a:ext cx="126187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+10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648064" y="397764"/>
            <a:ext cx="777487" cy="108813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B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1780" y="411480"/>
            <a:ext cx="750055" cy="1060703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0424160" y="1527048"/>
            <a:ext cx="1225295" cy="2560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Headline…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05872" y="1783080"/>
            <a:ext cx="126187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124320" y="2043684"/>
            <a:ext cx="777487" cy="108813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B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036" y="2057400"/>
            <a:ext cx="750055" cy="1060703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7900416" y="3172968"/>
            <a:ext cx="1225295" cy="2560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Headline Good…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82128" y="3429000"/>
            <a:ext cx="126187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386192" y="2043684"/>
            <a:ext cx="777487" cy="108813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B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9908" y="2057400"/>
            <a:ext cx="750055" cy="1060703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9162288" y="3172968"/>
            <a:ext cx="1225295" cy="2560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Headline Do…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44000" y="3429000"/>
            <a:ext cx="126187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648064" y="2043684"/>
            <a:ext cx="777487" cy="108813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B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1780" y="2057400"/>
            <a:ext cx="750055" cy="1060703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10424160" y="3172968"/>
            <a:ext cx="1225295" cy="2560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Headline…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405872" y="3429000"/>
            <a:ext cx="126187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124320" y="3689604"/>
            <a:ext cx="777487" cy="108813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B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8036" y="3703320"/>
            <a:ext cx="750055" cy="1060703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7900416" y="4818887"/>
            <a:ext cx="1225295" cy="2560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Headline Good…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882128" y="5074919"/>
            <a:ext cx="126187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386192" y="3689604"/>
            <a:ext cx="777487" cy="108813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3" name="Picture 72" descr="B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99908" y="3703320"/>
            <a:ext cx="750055" cy="1060703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9162288" y="4818887"/>
            <a:ext cx="1225295" cy="2560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Headline…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144000" y="5074919"/>
            <a:ext cx="126187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+3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648064" y="3689604"/>
            <a:ext cx="777487" cy="108813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B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61780" y="3703320"/>
            <a:ext cx="750055" cy="1060703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10424160" y="4818887"/>
            <a:ext cx="1225295" cy="2560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Headline…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405872" y="5074919"/>
            <a:ext cx="126187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+3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58368" y="5650992"/>
            <a:ext cx="11109960" cy="530352"/>
          </a:xfrm>
          <a:prstGeom prst="roundRect">
            <a:avLst>
              <a:gd name="adj" fmla="val 10000"/>
            </a:avLst>
          </a:prstGeom>
          <a:solidFill>
            <a:srgbClr val="FC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D44"/>
                </a:solidFill>
                <a:latin typeface="Karla"/>
              </a:rPr>
              <a:t>Key read: Headline Visit Our Booth For 50 Off is the strongest headlines direction (+11). The gap to Headline Prefer Big Grocery Chains Keep Walking is +11 points.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n=312 respondents.  Top-2 Box model (ratings 4–5): element lifts show movement above or below the model baseline.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56032"/>
            <a:ext cx="685800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KEY FINDINGS: HEADLINES   ·   2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6858000" cy="7863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E2D44"/>
                </a:solidFill>
                <a:latin typeface="Karla"/>
              </a:rPr>
              <a:t>Headline Visit Our Booth For 50 Off leads the headlines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8016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Every option is at or above the baseline. Headline Visit Our Booth For 50 Off is furthest ahead at +11.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73936"/>
            <a:ext cx="6309360" cy="256032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D44"/>
                </a:solidFill>
                <a:latin typeface="Karla"/>
              </a:rPr>
              <a:t>HEADLINES PREFERENCES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95144" y="2066543"/>
            <a:ext cx="9144" cy="3108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21991" y="5193792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8" name="Rectangle 7"/>
          <p:cNvSpPr/>
          <p:nvPr/>
        </p:nvSpPr>
        <p:spPr>
          <a:xfrm>
            <a:off x="3577589" y="2066543"/>
            <a:ext cx="9144" cy="3108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84982" y="5193792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60036" y="2066543"/>
            <a:ext cx="9144" cy="3108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7427" y="5193792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2482" y="2066543"/>
            <a:ext cx="9144" cy="3108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49874" y="5193792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24928" y="2066543"/>
            <a:ext cx="9144" cy="3108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12864" y="5193792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95144" y="2066543"/>
            <a:ext cx="13716" cy="3108960"/>
          </a:xfrm>
          <a:prstGeom prst="rect">
            <a:avLst/>
          </a:prstGeom>
          <a:solidFill>
            <a:srgbClr val="B9C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95144" y="5175504"/>
            <a:ext cx="5129784" cy="10972"/>
          </a:xfrm>
          <a:prstGeom prst="rect">
            <a:avLst/>
          </a:prstGeom>
          <a:solidFill>
            <a:srgbClr val="B9C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95144" y="2195343"/>
            <a:ext cx="3847338" cy="186537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06490" y="2066543"/>
            <a:ext cx="512064" cy="444137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" y="2066543"/>
            <a:ext cx="1746503" cy="444137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Headline We Support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Georgia Farms You Can…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95144" y="2639480"/>
            <a:ext cx="2564891" cy="186537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24044" y="2510681"/>
            <a:ext cx="512064" cy="444137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" y="2510681"/>
            <a:ext cx="1746503" cy="444137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Headline Eat Local Eat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Organic Eat Better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95144" y="3083618"/>
            <a:ext cx="2564891" cy="186537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24044" y="2954818"/>
            <a:ext cx="512064" cy="444137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" y="2954818"/>
            <a:ext cx="1746503" cy="444137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Headline Keep Your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Food Dollars Local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95144" y="3527755"/>
            <a:ext cx="2564891" cy="186537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24044" y="3398955"/>
            <a:ext cx="512064" cy="444137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" y="3398955"/>
            <a:ext cx="1746503" cy="444137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Headline 80 Sourced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Within 70 Miles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95144" y="3971892"/>
            <a:ext cx="1282445" cy="186537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41597" y="3843092"/>
            <a:ext cx="512064" cy="444137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" y="3843092"/>
            <a:ext cx="1746503" cy="444137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Headline Seasonal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Eating Made Easy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95144" y="4416029"/>
            <a:ext cx="32004" cy="186537"/>
          </a:xfrm>
          <a:prstGeom prst="rect">
            <a:avLst/>
          </a:prstGeom>
          <a:solidFill>
            <a:srgbClr val="6F7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59151" y="4287229"/>
            <a:ext cx="512064" cy="444137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0624" y="4287229"/>
            <a:ext cx="1746503" cy="444137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Headline Prefer Big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Grocery Chains Keep…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95144" y="4860166"/>
            <a:ext cx="32004" cy="186537"/>
          </a:xfrm>
          <a:prstGeom prst="rect">
            <a:avLst/>
          </a:prstGeom>
          <a:solidFill>
            <a:srgbClr val="6F7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359151" y="4731366"/>
            <a:ext cx="512064" cy="444137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" y="4731366"/>
            <a:ext cx="1746503" cy="444137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Headline Skip The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Grocery Store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54112" y="256032"/>
            <a:ext cx="4041648" cy="51937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24320" y="397764"/>
            <a:ext cx="777487" cy="108813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B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036" y="411480"/>
            <a:ext cx="750055" cy="1060703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900416" y="1527048"/>
            <a:ext cx="1225295" cy="2560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Headline We…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82128" y="1783080"/>
            <a:ext cx="126187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386192" y="397764"/>
            <a:ext cx="777487" cy="108813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9908" y="411480"/>
            <a:ext cx="750055" cy="1060703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9162288" y="1527048"/>
            <a:ext cx="1225295" cy="2560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Headline Eat…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0" y="1783080"/>
            <a:ext cx="126187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648064" y="397764"/>
            <a:ext cx="777487" cy="108813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B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1780" y="411480"/>
            <a:ext cx="750055" cy="1060703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0424160" y="1527048"/>
            <a:ext cx="1225295" cy="2560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Headline Keep…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05872" y="1783080"/>
            <a:ext cx="126187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24320" y="2043684"/>
            <a:ext cx="777487" cy="108813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B1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036" y="2057400"/>
            <a:ext cx="750055" cy="1060703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7900416" y="3172968"/>
            <a:ext cx="1225295" cy="2560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Headline 80…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82128" y="3429000"/>
            <a:ext cx="126187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386192" y="2043684"/>
            <a:ext cx="777487" cy="108813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B1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9908" y="2057400"/>
            <a:ext cx="750055" cy="1060703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9162288" y="3172968"/>
            <a:ext cx="1225295" cy="2560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Headline…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44000" y="3429000"/>
            <a:ext cx="126187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648064" y="2043684"/>
            <a:ext cx="777487" cy="108813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B1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1780" y="2057400"/>
            <a:ext cx="750055" cy="1060703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10424160" y="3172968"/>
            <a:ext cx="1225295" cy="2560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Headline…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405872" y="3429000"/>
            <a:ext cx="126187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124320" y="3689604"/>
            <a:ext cx="777487" cy="108813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B1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8036" y="3703320"/>
            <a:ext cx="750055" cy="1060703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7900416" y="4818887"/>
            <a:ext cx="1225295" cy="2560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Headline Skip…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882128" y="5074919"/>
            <a:ext cx="126187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58368" y="5650992"/>
            <a:ext cx="11109960" cy="530352"/>
          </a:xfrm>
          <a:prstGeom prst="roundRect">
            <a:avLst>
              <a:gd name="adj" fmla="val 10000"/>
            </a:avLst>
          </a:prstGeom>
          <a:solidFill>
            <a:srgbClr val="FC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D44"/>
                </a:solidFill>
                <a:latin typeface="Karla"/>
              </a:rPr>
              <a:t>Key read: Headline Visit Our Booth For 50 Off is the strongest headlines direction (+11). The gap to Headline Prefer Big Grocery Chains Keep Walking is +11 points.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n=312 respondents.  Top-2 Box model (ratings 4–5): element lifts show movement above or below the model baseline.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56032"/>
            <a:ext cx="685800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KEY FINDINGS: SUB HEADERS   ·   1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6858000" cy="7863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E2D44"/>
                </a:solidFill>
                <a:latin typeface="Karla"/>
              </a:rPr>
              <a:t>Sub Header Win A Free Month Of Groceries! creates the clearest sub headers lift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8016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Sub Header Win A Free Month Of Groceries! leads at +6, while Sub Header Prefer Big Grocery Chains Keep Walking pulls appeal the other way at -3.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73936"/>
            <a:ext cx="6309360" cy="256032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D44"/>
                </a:solidFill>
                <a:latin typeface="Karla"/>
              </a:rPr>
              <a:t>SUB HEADERS PREFERENCES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95144" y="2066543"/>
            <a:ext cx="9144" cy="3108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21991" y="5193792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8" name="Rectangle 7"/>
          <p:cNvSpPr/>
          <p:nvPr/>
        </p:nvSpPr>
        <p:spPr>
          <a:xfrm>
            <a:off x="3577589" y="2066543"/>
            <a:ext cx="9144" cy="3108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84982" y="5193792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60036" y="2066543"/>
            <a:ext cx="9144" cy="3108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7427" y="5193792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2482" y="2066543"/>
            <a:ext cx="9144" cy="3108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49874" y="5193792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24928" y="2066543"/>
            <a:ext cx="9144" cy="3108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12864" y="5193792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95144" y="2066543"/>
            <a:ext cx="13716" cy="3108960"/>
          </a:xfrm>
          <a:prstGeom prst="rect">
            <a:avLst/>
          </a:prstGeom>
          <a:solidFill>
            <a:srgbClr val="B9C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95144" y="5175504"/>
            <a:ext cx="5129784" cy="10972"/>
          </a:xfrm>
          <a:prstGeom prst="rect">
            <a:avLst/>
          </a:prstGeom>
          <a:solidFill>
            <a:srgbClr val="B9C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95144" y="2166721"/>
            <a:ext cx="3847338" cy="14508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06490" y="2066543"/>
            <a:ext cx="512064" cy="345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" y="2066543"/>
            <a:ext cx="1746503" cy="345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Sub Header Win A Free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Month Of Groceries!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95144" y="2512161"/>
            <a:ext cx="3206114" cy="14508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65267" y="2411984"/>
            <a:ext cx="512064" cy="345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" y="2411984"/>
            <a:ext cx="1746503" cy="345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Sub Header Visit Our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Booth For 50 Off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95144" y="2857601"/>
            <a:ext cx="1282445" cy="14508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41597" y="2757424"/>
            <a:ext cx="512064" cy="345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" y="2757424"/>
            <a:ext cx="1746503" cy="345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Sub Header Guess The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Price Of Our Box To…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95144" y="3203041"/>
            <a:ext cx="641222" cy="14508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00374" y="3102864"/>
            <a:ext cx="512064" cy="345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" y="3102864"/>
            <a:ext cx="1746503" cy="345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Sub Header 80 Sourced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Within 70 Miles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95144" y="3548481"/>
            <a:ext cx="641222" cy="14508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00374" y="3448304"/>
            <a:ext cx="512064" cy="345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" y="3448304"/>
            <a:ext cx="1746503" cy="345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Sub Header Good Food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For Every Table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95144" y="3893921"/>
            <a:ext cx="641222" cy="14508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00374" y="3793744"/>
            <a:ext cx="512064" cy="345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0624" y="3793744"/>
            <a:ext cx="1746503" cy="345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Sub Header Metro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Atlanta’s Online…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95144" y="4239361"/>
            <a:ext cx="641222" cy="14508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00374" y="4139184"/>
            <a:ext cx="512064" cy="345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" y="4139184"/>
            <a:ext cx="1746503" cy="345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Sub Header We Support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Georgia Farms You Can…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95144" y="4584801"/>
            <a:ext cx="32004" cy="145084"/>
          </a:xfrm>
          <a:prstGeom prst="rect">
            <a:avLst/>
          </a:prstGeom>
          <a:solidFill>
            <a:srgbClr val="6F7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59151" y="4484624"/>
            <a:ext cx="512064" cy="345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0624" y="4484624"/>
            <a:ext cx="1746503" cy="345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Sub Header Do You Know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Where Your Food Comes…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95144" y="4930241"/>
            <a:ext cx="32004" cy="145084"/>
          </a:xfrm>
          <a:prstGeom prst="rect">
            <a:avLst/>
          </a:prstGeom>
          <a:solidFill>
            <a:srgbClr val="6F7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359151" y="4830064"/>
            <a:ext cx="512064" cy="345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0624" y="4830064"/>
            <a:ext cx="1746503" cy="345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Sub Header Good For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People And The Planet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54112" y="256032"/>
            <a:ext cx="4041648" cy="51937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958172" y="397764"/>
            <a:ext cx="1109783" cy="108813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C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1888" y="411480"/>
            <a:ext cx="1082351" cy="1060703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7900416" y="1527048"/>
            <a:ext cx="1225295" cy="2560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Sub Header…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82128" y="1783080"/>
            <a:ext cx="126187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220044" y="397764"/>
            <a:ext cx="1109783" cy="108813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C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3760" y="411480"/>
            <a:ext cx="1082351" cy="1060703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9162288" y="1527048"/>
            <a:ext cx="1225295" cy="2560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Sub Header…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0" y="1783080"/>
            <a:ext cx="126187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481916" y="397764"/>
            <a:ext cx="1109783" cy="108813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C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5632" y="411480"/>
            <a:ext cx="1082351" cy="1060703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0424160" y="1527048"/>
            <a:ext cx="1225295" cy="2560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Sub Header…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405872" y="1783080"/>
            <a:ext cx="126187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958172" y="2043684"/>
            <a:ext cx="1109783" cy="108813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C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1888" y="2057400"/>
            <a:ext cx="1082351" cy="1060703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7900416" y="3172968"/>
            <a:ext cx="1225295" cy="2560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Sub Header 80…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82128" y="3429000"/>
            <a:ext cx="126187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220044" y="2043684"/>
            <a:ext cx="1109783" cy="108813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C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3760" y="2057400"/>
            <a:ext cx="1082351" cy="1060703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9162288" y="3172968"/>
            <a:ext cx="1225295" cy="2560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Sub Header…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44000" y="3429000"/>
            <a:ext cx="126187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481916" y="2043684"/>
            <a:ext cx="1109783" cy="108813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C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95632" y="2057400"/>
            <a:ext cx="1082351" cy="1060703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10424160" y="3172968"/>
            <a:ext cx="1225295" cy="2560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Sub Header…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405872" y="3429000"/>
            <a:ext cx="126187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958172" y="3689604"/>
            <a:ext cx="1109783" cy="108813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C1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71888" y="3703320"/>
            <a:ext cx="1082351" cy="1060703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7900416" y="4818887"/>
            <a:ext cx="1225295" cy="2560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Sub Header We…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882128" y="5074919"/>
            <a:ext cx="126187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220044" y="3689604"/>
            <a:ext cx="1109783" cy="108813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C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33760" y="3703320"/>
            <a:ext cx="1082351" cy="1060703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9162288" y="4818887"/>
            <a:ext cx="1225295" cy="2560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Sub Header Do…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144000" y="5074919"/>
            <a:ext cx="126187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481916" y="3689604"/>
            <a:ext cx="1109783" cy="108813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9" name="Picture 78" descr="C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95632" y="3703320"/>
            <a:ext cx="1082351" cy="1060703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10424160" y="4818887"/>
            <a:ext cx="1225295" cy="2560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Sub Header…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405872" y="5074919"/>
            <a:ext cx="126187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58368" y="5650992"/>
            <a:ext cx="11109960" cy="530352"/>
          </a:xfrm>
          <a:prstGeom prst="roundRect">
            <a:avLst>
              <a:gd name="adj" fmla="val 10000"/>
            </a:avLst>
          </a:prstGeom>
          <a:solidFill>
            <a:srgbClr val="FC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D44"/>
                </a:solidFill>
                <a:latin typeface="Karla"/>
              </a:rPr>
              <a:t>Key read: Sub Header Win A Free Month Of Groceries! is the strongest sub headers direction (+6). The gap to Sub Header Prefer Big Grocery Chains Keep Walking is +9 points.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n=312 respondents.  Top-2 Box model (ratings 4–5): element lifts show movement above or below the model baseline.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56032"/>
            <a:ext cx="685800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KEY FINDINGS: SUB HEADERS   ·   2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6858000" cy="7863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E2D44"/>
                </a:solidFill>
                <a:latin typeface="Karla"/>
              </a:rPr>
              <a:t>Sub Header Win A Free Month Of Groceries! creates the clearest sub headers lift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8016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Sub Header Win A Free Month Of Groceries! leads at +6, while Sub Header Prefer Big Grocery Chains Keep Walking pulls appeal the other way at -3.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73936"/>
            <a:ext cx="6309360" cy="256032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D44"/>
                </a:solidFill>
                <a:latin typeface="Karla"/>
              </a:rPr>
              <a:t>SUB HEADERS PREFERENCES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95144" y="2066543"/>
            <a:ext cx="9144" cy="3108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21991" y="5193792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-4</a:t>
            </a:r>
          </a:p>
        </p:txBody>
      </p:sp>
      <p:sp>
        <p:nvSpPr>
          <p:cNvPr id="8" name="Rectangle 7"/>
          <p:cNvSpPr/>
          <p:nvPr/>
        </p:nvSpPr>
        <p:spPr>
          <a:xfrm>
            <a:off x="3577589" y="2066543"/>
            <a:ext cx="9144" cy="3108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84982" y="5193792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-3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60036" y="2066543"/>
            <a:ext cx="9144" cy="3108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7427" y="5193792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-2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2482" y="2066543"/>
            <a:ext cx="9144" cy="3108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49874" y="5193792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-1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24928" y="2066543"/>
            <a:ext cx="9144" cy="3108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12864" y="5193792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24928" y="2066543"/>
            <a:ext cx="13716" cy="3108960"/>
          </a:xfrm>
          <a:prstGeom prst="rect">
            <a:avLst/>
          </a:prstGeom>
          <a:solidFill>
            <a:srgbClr val="B9C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95144" y="5175504"/>
            <a:ext cx="5129784" cy="10972"/>
          </a:xfrm>
          <a:prstGeom prst="rect">
            <a:avLst/>
          </a:prstGeom>
          <a:solidFill>
            <a:srgbClr val="B9C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24928" y="2195343"/>
            <a:ext cx="32004" cy="186537"/>
          </a:xfrm>
          <a:prstGeom prst="rect">
            <a:avLst/>
          </a:prstGeom>
          <a:solidFill>
            <a:srgbClr val="6F7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12864" y="2066543"/>
            <a:ext cx="512064" cy="444137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" y="2066543"/>
            <a:ext cx="1746503" cy="444137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Sub Header Seasonal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Eating Made Easy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2482" y="2639480"/>
            <a:ext cx="1282446" cy="186537"/>
          </a:xfrm>
          <a:prstGeom prst="rect">
            <a:avLst/>
          </a:prstGeom>
          <a:solidFill>
            <a:srgbClr val="C96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66410" y="2510681"/>
            <a:ext cx="512064" cy="444137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D0000"/>
                </a:solidFill>
                <a:latin typeface="Karla"/>
              </a:rPr>
              <a:t>-1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" y="2510681"/>
            <a:ext cx="1746503" cy="444137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Sub Header Georgia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Farms Delivered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2482" y="3083618"/>
            <a:ext cx="1282446" cy="186537"/>
          </a:xfrm>
          <a:prstGeom prst="rect">
            <a:avLst/>
          </a:prstGeom>
          <a:solidFill>
            <a:srgbClr val="C96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66410" y="2954818"/>
            <a:ext cx="512064" cy="444137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D0000"/>
                </a:solidFill>
                <a:latin typeface="Karla"/>
              </a:rPr>
              <a:t>-1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" y="2954818"/>
            <a:ext cx="1746503" cy="444137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Sub Header Keep Your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Food Dollars Local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2482" y="3527755"/>
            <a:ext cx="1282446" cy="186537"/>
          </a:xfrm>
          <a:prstGeom prst="rect">
            <a:avLst/>
          </a:prstGeom>
          <a:solidFill>
            <a:srgbClr val="C96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66410" y="3398955"/>
            <a:ext cx="512064" cy="444137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D0000"/>
                </a:solidFill>
                <a:latin typeface="Karla"/>
              </a:rPr>
              <a:t>-1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" y="3398955"/>
            <a:ext cx="1746503" cy="444137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Sub Header Organic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Groceries Fair Prices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60036" y="3971892"/>
            <a:ext cx="2564892" cy="186537"/>
          </a:xfrm>
          <a:prstGeom prst="rect">
            <a:avLst/>
          </a:prstGeom>
          <a:solidFill>
            <a:srgbClr val="C96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83963" y="3843092"/>
            <a:ext cx="512064" cy="444137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D0000"/>
                </a:solidFill>
                <a:latin typeface="Karla"/>
              </a:rPr>
              <a:t>-2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" y="3843092"/>
            <a:ext cx="1746503" cy="444137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Sub Header Eat Local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Eat Organic Eat Better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60036" y="4416029"/>
            <a:ext cx="2564892" cy="186537"/>
          </a:xfrm>
          <a:prstGeom prst="rect">
            <a:avLst/>
          </a:prstGeom>
          <a:solidFill>
            <a:srgbClr val="C96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83963" y="4287229"/>
            <a:ext cx="512064" cy="444137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D0000"/>
                </a:solidFill>
                <a:latin typeface="Karla"/>
              </a:rPr>
              <a:t>-2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0624" y="4287229"/>
            <a:ext cx="1746503" cy="444137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Sub Header Skip The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Grocery Store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77589" y="4860166"/>
            <a:ext cx="3847338" cy="186537"/>
          </a:xfrm>
          <a:prstGeom prst="rect">
            <a:avLst/>
          </a:prstGeom>
          <a:solidFill>
            <a:srgbClr val="C96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01518" y="4731366"/>
            <a:ext cx="512064" cy="444137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D0000"/>
                </a:solidFill>
                <a:latin typeface="Karla"/>
              </a:rPr>
              <a:t>-3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" y="4731366"/>
            <a:ext cx="1746503" cy="444137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Sub Header Prefer Big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Grocery Chains Keep…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54112" y="256032"/>
            <a:ext cx="4041648" cy="51937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58172" y="397764"/>
            <a:ext cx="1109783" cy="108813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C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1888" y="411480"/>
            <a:ext cx="1082351" cy="1060703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900416" y="1527048"/>
            <a:ext cx="1225295" cy="2560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Sub Header…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82128" y="1783080"/>
            <a:ext cx="126187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220044" y="397764"/>
            <a:ext cx="1109783" cy="108813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3760" y="411480"/>
            <a:ext cx="1082351" cy="1060703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9162288" y="1527048"/>
            <a:ext cx="1225295" cy="2560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Sub Header…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0" y="1783080"/>
            <a:ext cx="126187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D0000"/>
                </a:solidFill>
                <a:latin typeface="Karla"/>
              </a:rPr>
              <a:t>-1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481916" y="397764"/>
            <a:ext cx="1109783" cy="108813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C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5632" y="411480"/>
            <a:ext cx="1082351" cy="1060703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0424160" y="1527048"/>
            <a:ext cx="1225295" cy="2560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Sub Header…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05872" y="1783080"/>
            <a:ext cx="126187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D0000"/>
                </a:solidFill>
                <a:latin typeface="Karla"/>
              </a:rPr>
              <a:t>-1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958172" y="2043684"/>
            <a:ext cx="1109783" cy="108813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C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1888" y="2057400"/>
            <a:ext cx="1082351" cy="1060703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7900416" y="3172968"/>
            <a:ext cx="1225295" cy="2560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Sub Header…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82128" y="3429000"/>
            <a:ext cx="126187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D0000"/>
                </a:solidFill>
                <a:latin typeface="Karla"/>
              </a:rPr>
              <a:t>-1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20044" y="2043684"/>
            <a:ext cx="1109783" cy="108813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C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3760" y="2057400"/>
            <a:ext cx="1082351" cy="1060703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9162288" y="3172968"/>
            <a:ext cx="1225295" cy="2560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Sub Header…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44000" y="3429000"/>
            <a:ext cx="126187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D0000"/>
                </a:solidFill>
                <a:latin typeface="Karla"/>
              </a:rPr>
              <a:t>-2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481916" y="2043684"/>
            <a:ext cx="1109783" cy="108813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C1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95632" y="2057400"/>
            <a:ext cx="1082351" cy="1060703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10424160" y="3172968"/>
            <a:ext cx="1225295" cy="2560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Sub Header…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405872" y="3429000"/>
            <a:ext cx="126187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D0000"/>
                </a:solidFill>
                <a:latin typeface="Karla"/>
              </a:rPr>
              <a:t>-2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958172" y="3689604"/>
            <a:ext cx="1109783" cy="108813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C1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71888" y="3703320"/>
            <a:ext cx="1082351" cy="1060703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7900416" y="4818887"/>
            <a:ext cx="1225295" cy="2560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Sub Header…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882128" y="5074919"/>
            <a:ext cx="126187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D0000"/>
                </a:solidFill>
                <a:latin typeface="Karla"/>
              </a:rPr>
              <a:t>-3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58368" y="5650992"/>
            <a:ext cx="11109960" cy="530352"/>
          </a:xfrm>
          <a:prstGeom prst="roundRect">
            <a:avLst>
              <a:gd name="adj" fmla="val 10000"/>
            </a:avLst>
          </a:prstGeom>
          <a:solidFill>
            <a:srgbClr val="FC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D44"/>
                </a:solidFill>
                <a:latin typeface="Karla"/>
              </a:rPr>
              <a:t>Key read: Sub Header Win A Free Month Of Groceries! is the strongest sub headers direction (+6). The gap to Sub Header Prefer Big Grocery Chains Keep Walking is +9 points.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n=312 respondents.  Top-2 Box model (ratings 4–5): element lifts show movement above or below the model baseline.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56032"/>
            <a:ext cx="685800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KEY FINDINGS: IMAGES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6858000" cy="7863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E2D44"/>
                </a:solidFill>
                <a:latin typeface="Karla"/>
              </a:rPr>
              <a:t>Image Layer Farm leads the images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8016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Every option is at or above the baseline. Image Layer Farm is furthest ahead at +7.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73936"/>
            <a:ext cx="6309360" cy="256032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D44"/>
                </a:solidFill>
                <a:latin typeface="Karla"/>
              </a:rPr>
              <a:t>IMAGES PREFERENCES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95144" y="2066543"/>
            <a:ext cx="9144" cy="3108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21991" y="5193792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8" name="Rectangle 7"/>
          <p:cNvSpPr/>
          <p:nvPr/>
        </p:nvSpPr>
        <p:spPr>
          <a:xfrm>
            <a:off x="3577589" y="2066543"/>
            <a:ext cx="9144" cy="3108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84982" y="5193792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60036" y="2066543"/>
            <a:ext cx="9144" cy="3108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7427" y="5193792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2482" y="2066543"/>
            <a:ext cx="9144" cy="3108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49874" y="5193792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24928" y="2066543"/>
            <a:ext cx="9144" cy="3108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12864" y="5193792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95144" y="2066543"/>
            <a:ext cx="13716" cy="3108960"/>
          </a:xfrm>
          <a:prstGeom prst="rect">
            <a:avLst/>
          </a:prstGeom>
          <a:solidFill>
            <a:srgbClr val="B9C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95144" y="5175504"/>
            <a:ext cx="5129784" cy="10972"/>
          </a:xfrm>
          <a:prstGeom prst="rect">
            <a:avLst/>
          </a:prstGeom>
          <a:solidFill>
            <a:srgbClr val="B9C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95144" y="2179243"/>
            <a:ext cx="4488561" cy="163220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47713" y="2066543"/>
            <a:ext cx="512064" cy="38862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" y="2066543"/>
            <a:ext cx="1746503" cy="38862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Image Layer Farm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95144" y="2567863"/>
            <a:ext cx="4488561" cy="163220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47713" y="2455163"/>
            <a:ext cx="512064" cy="38862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" y="2455163"/>
            <a:ext cx="1746503" cy="38862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Image Layer Produce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95144" y="2956483"/>
            <a:ext cx="3847338" cy="163220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06490" y="2843784"/>
            <a:ext cx="512064" cy="38862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" y="2843784"/>
            <a:ext cx="1746503" cy="38862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Image Layer Box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95144" y="3345103"/>
            <a:ext cx="3847338" cy="163220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06490" y="3232404"/>
            <a:ext cx="512064" cy="38862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" y="3232404"/>
            <a:ext cx="1746503" cy="38862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Image Layer Grocery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95144" y="3733723"/>
            <a:ext cx="3847338" cy="163220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06490" y="3621024"/>
            <a:ext cx="512064" cy="38862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" y="3621024"/>
            <a:ext cx="1746503" cy="38862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Image Layer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Lifestyle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95144" y="4122343"/>
            <a:ext cx="2564891" cy="163220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24044" y="4009644"/>
            <a:ext cx="512064" cy="38862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0624" y="4009644"/>
            <a:ext cx="1746503" cy="38862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Image Layer Box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Graphic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95144" y="4510963"/>
            <a:ext cx="1282445" cy="163220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41597" y="4398264"/>
            <a:ext cx="512064" cy="38862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" y="4398264"/>
            <a:ext cx="1746503" cy="38862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Image Layer Delivery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Graphic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95144" y="4899583"/>
            <a:ext cx="1282445" cy="163220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41597" y="4786884"/>
            <a:ext cx="512064" cy="38862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0624" y="4786884"/>
            <a:ext cx="1746503" cy="38862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Image Layer Map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Graphic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54112" y="256032"/>
            <a:ext cx="4041648" cy="51937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24320" y="397764"/>
            <a:ext cx="777487" cy="108813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036" y="411480"/>
            <a:ext cx="750055" cy="1060703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900416" y="1527048"/>
            <a:ext cx="1225295" cy="2560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Image Layer…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82128" y="1783080"/>
            <a:ext cx="126187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386192" y="397764"/>
            <a:ext cx="777487" cy="108813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D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9908" y="411480"/>
            <a:ext cx="750055" cy="1060703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9162288" y="1527048"/>
            <a:ext cx="1225295" cy="2560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Image Layer…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0" y="1783080"/>
            <a:ext cx="126187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+7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648064" y="397764"/>
            <a:ext cx="777487" cy="108813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D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1780" y="411480"/>
            <a:ext cx="750055" cy="1060703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0424160" y="1527048"/>
            <a:ext cx="1225295" cy="2560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Image Layer…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05872" y="1783080"/>
            <a:ext cx="126187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124320" y="2043684"/>
            <a:ext cx="777487" cy="108813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D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036" y="2057400"/>
            <a:ext cx="750055" cy="1060703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7900416" y="3172968"/>
            <a:ext cx="1225295" cy="2560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Image Layer…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82128" y="3429000"/>
            <a:ext cx="126187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386192" y="2043684"/>
            <a:ext cx="777487" cy="108813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D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9908" y="2057400"/>
            <a:ext cx="750055" cy="1060703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9162288" y="3172968"/>
            <a:ext cx="1225295" cy="2560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Image Layer…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44000" y="3429000"/>
            <a:ext cx="126187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648064" y="2043684"/>
            <a:ext cx="777487" cy="108813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D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1780" y="2057400"/>
            <a:ext cx="750055" cy="1060703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10424160" y="3172968"/>
            <a:ext cx="1225295" cy="2560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Image Layer…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405872" y="3429000"/>
            <a:ext cx="126187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24320" y="3689604"/>
            <a:ext cx="777487" cy="108813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D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8036" y="3703320"/>
            <a:ext cx="750055" cy="1060703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7900416" y="4818887"/>
            <a:ext cx="1225295" cy="2560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Image Layer…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882128" y="5074919"/>
            <a:ext cx="126187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386192" y="3689604"/>
            <a:ext cx="777487" cy="108813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D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99908" y="3703320"/>
            <a:ext cx="750055" cy="1060703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9162288" y="4818887"/>
            <a:ext cx="1225295" cy="2560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Image Layer…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144000" y="5074919"/>
            <a:ext cx="126187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+2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58368" y="5650992"/>
            <a:ext cx="11109960" cy="530352"/>
          </a:xfrm>
          <a:prstGeom prst="roundRect">
            <a:avLst>
              <a:gd name="adj" fmla="val 10000"/>
            </a:avLst>
          </a:prstGeom>
          <a:solidFill>
            <a:srgbClr val="FC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D44"/>
                </a:solidFill>
                <a:latin typeface="Karla"/>
              </a:rPr>
              <a:t>Key read: Image Layer Farm is the strongest images direction (+7). The gap to Image Layer Delivery Graphic is +5 points.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n=312 respondents.  Top-2 Box model (ratings 4–5): element lifts show movement above or below the model baseline.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56032"/>
            <a:ext cx="685800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KEY FINDINGS: CTA   ·   1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6858000" cy="7863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E2D44"/>
                </a:solidFill>
                <a:latin typeface="Karla"/>
              </a:rPr>
              <a:t>Cta Visit Our Booth For 50 Off creates the clearest cta lift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8016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Cta Visit Our Booth For 50 Off leads at +3, while Cta Skip The Grocery Store pulls appeal the other way at -4.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73936"/>
            <a:ext cx="6309360" cy="256032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D44"/>
                </a:solidFill>
                <a:latin typeface="Karla"/>
              </a:rPr>
              <a:t>CTA PREFERENCES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95144" y="2066543"/>
            <a:ext cx="9144" cy="3108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21991" y="5193792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-2</a:t>
            </a:r>
          </a:p>
        </p:txBody>
      </p:sp>
      <p:sp>
        <p:nvSpPr>
          <p:cNvPr id="8" name="Rectangle 7"/>
          <p:cNvSpPr/>
          <p:nvPr/>
        </p:nvSpPr>
        <p:spPr>
          <a:xfrm>
            <a:off x="4005072" y="2066543"/>
            <a:ext cx="9144" cy="3108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12463" y="5193792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0" y="2066543"/>
            <a:ext cx="9144" cy="3108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22392" y="5193792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24928" y="2066543"/>
            <a:ext cx="9144" cy="3108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12864" y="5193792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05072" y="2066543"/>
            <a:ext cx="13716" cy="3108960"/>
          </a:xfrm>
          <a:prstGeom prst="rect">
            <a:avLst/>
          </a:prstGeom>
          <a:solidFill>
            <a:srgbClr val="B9C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95144" y="5175504"/>
            <a:ext cx="5129784" cy="10972"/>
          </a:xfrm>
          <a:prstGeom prst="rect">
            <a:avLst/>
          </a:prstGeom>
          <a:solidFill>
            <a:srgbClr val="B9C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05072" y="2166721"/>
            <a:ext cx="2564892" cy="14508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33972" y="2066543"/>
            <a:ext cx="512064" cy="345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" y="2066543"/>
            <a:ext cx="1746503" cy="345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Cta Visit Our Booth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For 50 Off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05072" y="2512161"/>
            <a:ext cx="2564892" cy="14508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33972" y="2411984"/>
            <a:ext cx="512064" cy="345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" y="2411984"/>
            <a:ext cx="1746503" cy="345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Cta Win A Free Month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Of Groceries!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05072" y="2857601"/>
            <a:ext cx="1709928" cy="14508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79008" y="2757424"/>
            <a:ext cx="512064" cy="345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" y="2757424"/>
            <a:ext cx="1746503" cy="345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Cta Organic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Groceries Fair…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05072" y="3203041"/>
            <a:ext cx="854963" cy="14508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24044" y="3102864"/>
            <a:ext cx="512064" cy="345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" y="3102864"/>
            <a:ext cx="1746503" cy="345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Cta Guess The Price Of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Our Box To Win!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05072" y="3548481"/>
            <a:ext cx="32004" cy="145084"/>
          </a:xfrm>
          <a:prstGeom prst="rect">
            <a:avLst/>
          </a:prstGeom>
          <a:solidFill>
            <a:srgbClr val="6F7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69080" y="3448304"/>
            <a:ext cx="512064" cy="345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" y="3448304"/>
            <a:ext cx="1746503" cy="345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Cta Good Food For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Every Table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05072" y="3893921"/>
            <a:ext cx="32004" cy="145084"/>
          </a:xfrm>
          <a:prstGeom prst="rect">
            <a:avLst/>
          </a:prstGeom>
          <a:solidFill>
            <a:srgbClr val="6F7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69080" y="3793744"/>
            <a:ext cx="512064" cy="345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" y="3793744"/>
            <a:ext cx="1746503" cy="345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Cta Good For People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And The Planet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50108" y="4239361"/>
            <a:ext cx="854964" cy="145084"/>
          </a:xfrm>
          <a:prstGeom prst="rect">
            <a:avLst/>
          </a:prstGeom>
          <a:solidFill>
            <a:srgbClr val="C96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74036" y="4139184"/>
            <a:ext cx="512064" cy="345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D0000"/>
                </a:solidFill>
                <a:latin typeface="Karla"/>
              </a:rPr>
              <a:t>-1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0624" y="4139184"/>
            <a:ext cx="1746503" cy="345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Cta 80 Sourced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Within 70 Miles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50108" y="4584801"/>
            <a:ext cx="854964" cy="145084"/>
          </a:xfrm>
          <a:prstGeom prst="rect">
            <a:avLst/>
          </a:prstGeom>
          <a:solidFill>
            <a:srgbClr val="C96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74036" y="4484624"/>
            <a:ext cx="512064" cy="345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D0000"/>
                </a:solidFill>
                <a:latin typeface="Karla"/>
              </a:rPr>
              <a:t>-1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" y="4484624"/>
            <a:ext cx="1746503" cy="345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Cta Do You Know Where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Your Food Comes From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50108" y="4930241"/>
            <a:ext cx="854964" cy="145084"/>
          </a:xfrm>
          <a:prstGeom prst="rect">
            <a:avLst/>
          </a:prstGeom>
          <a:solidFill>
            <a:srgbClr val="C96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74036" y="4830064"/>
            <a:ext cx="512064" cy="345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D0000"/>
                </a:solidFill>
                <a:latin typeface="Karla"/>
              </a:rPr>
              <a:t>-1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0624" y="4830064"/>
            <a:ext cx="1746503" cy="345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Cta Georgia Farms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Delivered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54112" y="256032"/>
            <a:ext cx="4041648" cy="51937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923276" y="876681"/>
            <a:ext cx="1179575" cy="13030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6992" y="890397"/>
            <a:ext cx="1152143" cy="102869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7900416" y="1048131"/>
            <a:ext cx="1225295" cy="2560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Cta Visit Our…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82128" y="1304163"/>
            <a:ext cx="126187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85148" y="883110"/>
            <a:ext cx="1179575" cy="11744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4" y="896826"/>
            <a:ext cx="1152143" cy="90011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162288" y="1041701"/>
            <a:ext cx="1225295" cy="2560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Cta Win A…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0" y="1297733"/>
            <a:ext cx="126187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447020" y="876398"/>
            <a:ext cx="1179575" cy="13086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E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0736" y="890114"/>
            <a:ext cx="1152143" cy="103434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0424160" y="1048413"/>
            <a:ext cx="1225295" cy="2560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Cta Organic…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05872" y="1304445"/>
            <a:ext cx="126187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923276" y="2533023"/>
            <a:ext cx="1179575" cy="10945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E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6992" y="2546739"/>
            <a:ext cx="1152143" cy="82025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7900416" y="2683628"/>
            <a:ext cx="1225295" cy="2560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Cta Guess The…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82128" y="2939660"/>
            <a:ext cx="126187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85148" y="2513524"/>
            <a:ext cx="1179575" cy="14845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E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8864" y="2527240"/>
            <a:ext cx="1152143" cy="121023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9162288" y="2703127"/>
            <a:ext cx="1225295" cy="2560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Cta Good Food…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44000" y="2959159"/>
            <a:ext cx="126187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447020" y="2521602"/>
            <a:ext cx="1179575" cy="13229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E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60736" y="2535318"/>
            <a:ext cx="1152143" cy="104867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10424160" y="2695049"/>
            <a:ext cx="1225295" cy="2560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Cta Good For…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405872" y="2951081"/>
            <a:ext cx="126187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923276" y="4172557"/>
            <a:ext cx="1179575" cy="1222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E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36992" y="4186273"/>
            <a:ext cx="1152143" cy="94796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7900416" y="4335934"/>
            <a:ext cx="1225295" cy="2560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Cta 80…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882128" y="4591966"/>
            <a:ext cx="126187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D0000"/>
                </a:solidFill>
                <a:latin typeface="Karla"/>
              </a:rPr>
              <a:t>-1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185148" y="4145280"/>
            <a:ext cx="1179575" cy="17678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3" name="Picture 72" descr="E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98864" y="4158995"/>
            <a:ext cx="1152143" cy="149351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9162288" y="4363211"/>
            <a:ext cx="1225295" cy="2560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Cta Do You…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144000" y="4619243"/>
            <a:ext cx="126187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D0000"/>
                </a:solidFill>
                <a:latin typeface="Karla"/>
              </a:rPr>
              <a:t>-1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447020" y="4153690"/>
            <a:ext cx="1179575" cy="15996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E4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60736" y="4167406"/>
            <a:ext cx="1152143" cy="132531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10424160" y="4354801"/>
            <a:ext cx="1225295" cy="2560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Cta Georgia…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405872" y="4610833"/>
            <a:ext cx="126187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D0000"/>
                </a:solidFill>
                <a:latin typeface="Karla"/>
              </a:rPr>
              <a:t>-1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58368" y="5650992"/>
            <a:ext cx="11109960" cy="530352"/>
          </a:xfrm>
          <a:prstGeom prst="roundRect">
            <a:avLst>
              <a:gd name="adj" fmla="val 10000"/>
            </a:avLst>
          </a:prstGeom>
          <a:solidFill>
            <a:srgbClr val="FC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D44"/>
                </a:solidFill>
                <a:latin typeface="Karla"/>
              </a:rPr>
              <a:t>Key read: Cta Visit Our Booth For 50 Off is the strongest cta direction (+3). The gap to Cta Skip The Grocery Store is +7 points.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n=312 respondents.  Top-2 Box model (ratings 4–5): element lifts show movement above or below the model baseline.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56032"/>
            <a:ext cx="685800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KEY FINDINGS: CTA   ·   2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6858000" cy="7863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E2D44"/>
                </a:solidFill>
                <a:latin typeface="Karla"/>
              </a:rPr>
              <a:t>Cta Visit Our Booth For 50 Off creates the clearest cta lift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8016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Cta Visit Our Booth For 50 Off leads at +3, while Cta Skip The Grocery Store pulls appeal the other way at -4.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73936"/>
            <a:ext cx="6309360" cy="256032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D44"/>
                </a:solidFill>
                <a:latin typeface="Karla"/>
              </a:rPr>
              <a:t>CTA PREFERENCES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95144" y="2066543"/>
            <a:ext cx="9144" cy="3108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21991" y="5193792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-6</a:t>
            </a:r>
          </a:p>
        </p:txBody>
      </p:sp>
      <p:sp>
        <p:nvSpPr>
          <p:cNvPr id="8" name="Rectangle 7"/>
          <p:cNvSpPr/>
          <p:nvPr/>
        </p:nvSpPr>
        <p:spPr>
          <a:xfrm>
            <a:off x="4005072" y="2066543"/>
            <a:ext cx="9144" cy="3108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12463" y="5193792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-4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0" y="2066543"/>
            <a:ext cx="9144" cy="3108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22392" y="5193792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-2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24928" y="2066543"/>
            <a:ext cx="9144" cy="3108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12864" y="5193792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24928" y="2066543"/>
            <a:ext cx="13716" cy="3108960"/>
          </a:xfrm>
          <a:prstGeom prst="rect">
            <a:avLst/>
          </a:prstGeom>
          <a:solidFill>
            <a:srgbClr val="B9C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95144" y="5175504"/>
            <a:ext cx="5129784" cy="10972"/>
          </a:xfrm>
          <a:prstGeom prst="rect">
            <a:avLst/>
          </a:prstGeom>
          <a:solidFill>
            <a:srgbClr val="B9C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69964" y="2195343"/>
            <a:ext cx="854964" cy="186537"/>
          </a:xfrm>
          <a:prstGeom prst="rect">
            <a:avLst/>
          </a:prstGeom>
          <a:solidFill>
            <a:srgbClr val="C96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93892" y="2066543"/>
            <a:ext cx="512064" cy="444137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D0000"/>
                </a:solidFill>
                <a:latin typeface="Karla"/>
              </a:rPr>
              <a:t>-1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" y="2066543"/>
            <a:ext cx="1746503" cy="444137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Cta Seasonal Eating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Made Easy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0" y="2639480"/>
            <a:ext cx="1709928" cy="186537"/>
          </a:xfrm>
          <a:prstGeom prst="rect">
            <a:avLst/>
          </a:prstGeom>
          <a:solidFill>
            <a:srgbClr val="C96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38927" y="2510681"/>
            <a:ext cx="512064" cy="444137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D0000"/>
                </a:solidFill>
                <a:latin typeface="Karla"/>
              </a:rPr>
              <a:t>-2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" y="2510681"/>
            <a:ext cx="1746503" cy="444137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Cta Eat Local Eat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Organic Eat Better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0" y="3083618"/>
            <a:ext cx="1709928" cy="186537"/>
          </a:xfrm>
          <a:prstGeom prst="rect">
            <a:avLst/>
          </a:prstGeom>
          <a:solidFill>
            <a:srgbClr val="C96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38927" y="2954818"/>
            <a:ext cx="512064" cy="444137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D0000"/>
                </a:solidFill>
                <a:latin typeface="Karla"/>
              </a:rPr>
              <a:t>-2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" y="2954818"/>
            <a:ext cx="1746503" cy="444137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Cta Keep Your Food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Dollars Local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15000" y="3527755"/>
            <a:ext cx="1709928" cy="186537"/>
          </a:xfrm>
          <a:prstGeom prst="rect">
            <a:avLst/>
          </a:prstGeom>
          <a:solidFill>
            <a:srgbClr val="C96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38927" y="3398955"/>
            <a:ext cx="512064" cy="444137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D0000"/>
                </a:solidFill>
                <a:latin typeface="Karla"/>
              </a:rPr>
              <a:t>-2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" y="3398955"/>
            <a:ext cx="1746503" cy="444137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Cta Metro Atlanta’s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Online Farmers Market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15000" y="3971892"/>
            <a:ext cx="1709928" cy="186537"/>
          </a:xfrm>
          <a:prstGeom prst="rect">
            <a:avLst/>
          </a:prstGeom>
          <a:solidFill>
            <a:srgbClr val="C96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38927" y="3843092"/>
            <a:ext cx="512064" cy="444137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D0000"/>
                </a:solidFill>
                <a:latin typeface="Karla"/>
              </a:rPr>
              <a:t>-2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" y="3843092"/>
            <a:ext cx="1746503" cy="444137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Cta Prefer Big Grocery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Chains Keep Walking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15000" y="4416029"/>
            <a:ext cx="1709928" cy="186537"/>
          </a:xfrm>
          <a:prstGeom prst="rect">
            <a:avLst/>
          </a:prstGeom>
          <a:solidFill>
            <a:srgbClr val="C96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38927" y="4287229"/>
            <a:ext cx="512064" cy="444137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D0000"/>
                </a:solidFill>
                <a:latin typeface="Karla"/>
              </a:rPr>
              <a:t>-2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" y="4287229"/>
            <a:ext cx="1746503" cy="444137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Cta We Support Georgia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Farms You Can Too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05072" y="4860166"/>
            <a:ext cx="3419856" cy="186537"/>
          </a:xfrm>
          <a:prstGeom prst="rect">
            <a:avLst/>
          </a:prstGeom>
          <a:solidFill>
            <a:srgbClr val="C96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28999" y="4731366"/>
            <a:ext cx="512064" cy="444137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D0000"/>
                </a:solidFill>
                <a:latin typeface="Karla"/>
              </a:rPr>
              <a:t>-4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0624" y="4731366"/>
            <a:ext cx="1746503" cy="444137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Cta Skip The Grocery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Store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54112" y="256032"/>
            <a:ext cx="4041648" cy="51937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923276" y="869253"/>
            <a:ext cx="1179575" cy="14515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6992" y="882969"/>
            <a:ext cx="1152143" cy="117725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7900416" y="1055558"/>
            <a:ext cx="1225295" cy="2560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Cta Seasonal…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82128" y="1311590"/>
            <a:ext cx="126187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D0000"/>
                </a:solidFill>
                <a:latin typeface="Karla"/>
              </a:rPr>
              <a:t>-1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85148" y="878625"/>
            <a:ext cx="1179575" cy="12641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4" y="892341"/>
            <a:ext cx="1152143" cy="98981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162288" y="1046186"/>
            <a:ext cx="1225295" cy="2560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Cta Eat Local…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1302218"/>
            <a:ext cx="126187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D0000"/>
                </a:solidFill>
                <a:latin typeface="Karla"/>
              </a:rPr>
              <a:t>-2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447020" y="871041"/>
            <a:ext cx="1179575" cy="14158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E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0736" y="884757"/>
            <a:ext cx="1152143" cy="114149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0424160" y="1053770"/>
            <a:ext cx="1225295" cy="2560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Cta Keep Your…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05872" y="1309802"/>
            <a:ext cx="126187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D0000"/>
                </a:solidFill>
                <a:latin typeface="Karla"/>
              </a:rPr>
              <a:t>-2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23276" y="2536591"/>
            <a:ext cx="1179575" cy="10232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E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6992" y="2550307"/>
            <a:ext cx="1152143" cy="74889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7900416" y="2680060"/>
            <a:ext cx="1225295" cy="2560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Cta Metro…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82128" y="2936092"/>
            <a:ext cx="126187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D0000"/>
                </a:solidFill>
                <a:latin typeface="Karla"/>
              </a:rPr>
              <a:t>-2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85148" y="2482479"/>
            <a:ext cx="1179575" cy="21054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E1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8864" y="2496195"/>
            <a:ext cx="1152143" cy="183113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9162288" y="2734172"/>
            <a:ext cx="1225295" cy="2560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Cta Prefer…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0" y="2990204"/>
            <a:ext cx="126187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D0000"/>
                </a:solidFill>
                <a:latin typeface="Karla"/>
              </a:rPr>
              <a:t>-2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447020" y="2500846"/>
            <a:ext cx="1179575" cy="1738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E1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60736" y="2514562"/>
            <a:ext cx="1152143" cy="146378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10424160" y="2715805"/>
            <a:ext cx="1225295" cy="2560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Cta We…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405872" y="2971837"/>
            <a:ext cx="126187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D0000"/>
                </a:solidFill>
                <a:latin typeface="Karla"/>
              </a:rPr>
              <a:t>-2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923276" y="4148186"/>
            <a:ext cx="1179575" cy="17097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E1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36992" y="4161902"/>
            <a:ext cx="1152143" cy="143539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7900416" y="4360305"/>
            <a:ext cx="1225295" cy="25603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D44"/>
                </a:solidFill>
                <a:latin typeface="Karla"/>
              </a:rPr>
              <a:t>Cta Skip The…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882128" y="4616337"/>
            <a:ext cx="126187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D0000"/>
                </a:solidFill>
                <a:latin typeface="Karla"/>
              </a:rPr>
              <a:t>-4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58368" y="5650992"/>
            <a:ext cx="11109960" cy="530352"/>
          </a:xfrm>
          <a:prstGeom prst="roundRect">
            <a:avLst>
              <a:gd name="adj" fmla="val 10000"/>
            </a:avLst>
          </a:prstGeom>
          <a:solidFill>
            <a:srgbClr val="FC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D44"/>
                </a:solidFill>
                <a:latin typeface="Karla"/>
              </a:rPr>
              <a:t>Key read: Cta Visit Our Booth For 50 Off is the strongest cta direction (+3). The gap to Cta Skip The Grocery Store is +7 points.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n=312 respondents.  Top-2 Box model (ratings 4–5): element lifts show movement above or below the model baseline.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KEY FINDINGS: COMBINED 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E2D44"/>
                </a:solidFill>
                <a:latin typeface="Karla"/>
              </a:rPr>
              <a:t>Highest-lift layers, stacked into one pack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One element from every silo — the strongest mix the pairing rules allow. The same message is not used twice. The background sits underneath.</a:t>
            </a:r>
          </a:p>
        </p:txBody>
      </p:sp>
      <p:pic>
        <p:nvPicPr>
          <p:cNvPr id="5" name="Picture 4" descr="A1-B16-C15-D4-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2941452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599670" y="1371600"/>
            <a:ext cx="347472" cy="85953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01</a:t>
            </a:r>
          </a:p>
        </p:txBody>
      </p:sp>
      <p:pic>
        <p:nvPicPr>
          <p:cNvPr id="7" name="Picture 6" descr="A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7189" y="1609344"/>
            <a:ext cx="271412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46663" y="1371600"/>
            <a:ext cx="6187224" cy="85953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Backgrounds   ·   Background Layer Cotton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1371600"/>
            <a:ext cx="731520" cy="859536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9670" y="2231136"/>
            <a:ext cx="347472" cy="85953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02</a:t>
            </a:r>
          </a:p>
        </p:txBody>
      </p:sp>
      <p:pic>
        <p:nvPicPr>
          <p:cNvPr id="11" name="Picture 10" descr="B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7142" y="2597394"/>
            <a:ext cx="271504" cy="12701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346663" y="2231136"/>
            <a:ext cx="6187224" cy="85953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Headlines   ·   Headline Visit Our Booth For 50 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2231136"/>
            <a:ext cx="731520" cy="859536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9670" y="3090672"/>
            <a:ext cx="347472" cy="85953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03</a:t>
            </a:r>
          </a:p>
        </p:txBody>
      </p:sp>
      <p:pic>
        <p:nvPicPr>
          <p:cNvPr id="15" name="Picture 14" descr="C1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7142" y="3436311"/>
            <a:ext cx="271504" cy="16825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346663" y="3090672"/>
            <a:ext cx="6187224" cy="85953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Sub Headers   ·   Sub Header Win A Free Month Of Groceries!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35640" y="3090672"/>
            <a:ext cx="731520" cy="859536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9670" y="3950208"/>
            <a:ext cx="347472" cy="85953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04</a:t>
            </a:r>
          </a:p>
        </p:txBody>
      </p:sp>
      <p:pic>
        <p:nvPicPr>
          <p:cNvPr id="19" name="Picture 18" descr="D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47142" y="4291572"/>
            <a:ext cx="271504" cy="17680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346663" y="3950208"/>
            <a:ext cx="6187224" cy="85953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Images   ·   Image Layer Farm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35640" y="3950208"/>
            <a:ext cx="731520" cy="859536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99670" y="4809744"/>
            <a:ext cx="347472" cy="85953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05</a:t>
            </a:r>
          </a:p>
        </p:txBody>
      </p:sp>
      <p:pic>
        <p:nvPicPr>
          <p:cNvPr id="23" name="Picture 22" descr="E1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47142" y="5161601"/>
            <a:ext cx="271504" cy="1558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346663" y="4809744"/>
            <a:ext cx="6187224" cy="85953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CTA   ·   Cta Organic Groceries Fair Prices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35640" y="4809744"/>
            <a:ext cx="731520" cy="859536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742432"/>
            <a:ext cx="11155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E2D44"/>
                </a:solidFill>
                <a:latin typeface="Karla"/>
              </a:rPr>
              <a:t>Base 50%    ·    layer lift +27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n=312 respondents.  Top-2 Box model (ratings 4–5): element lifts show movement above or below the model baseline.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KEY FINDINGS: COMBINED 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E2D44"/>
                </a:solidFill>
                <a:latin typeface="Karla"/>
              </a:rPr>
              <a:t>Lowest-lift layers, stacked into one pack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The same silos and stacking order, using the weakest mix the pairing rules allow. The same message is not used twice.</a:t>
            </a:r>
          </a:p>
        </p:txBody>
      </p:sp>
      <p:pic>
        <p:nvPicPr>
          <p:cNvPr id="5" name="Picture 4" descr="A5-B10-C3-D3-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2941452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599670" y="1371600"/>
            <a:ext cx="347472" cy="85953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01</a:t>
            </a:r>
          </a:p>
        </p:txBody>
      </p:sp>
      <p:pic>
        <p:nvPicPr>
          <p:cNvPr id="7" name="Picture 6" descr="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7189" y="1609344"/>
            <a:ext cx="271412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46663" y="1371600"/>
            <a:ext cx="6187224" cy="85953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Backgrounds   ·   Background Layer Mint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1371600"/>
            <a:ext cx="731520" cy="859536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9670" y="2231136"/>
            <a:ext cx="347472" cy="85953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02</a:t>
            </a:r>
          </a:p>
        </p:txBody>
      </p:sp>
      <p:pic>
        <p:nvPicPr>
          <p:cNvPr id="11" name="Picture 10" descr="B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7142" y="2570462"/>
            <a:ext cx="271504" cy="18088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346663" y="2231136"/>
            <a:ext cx="6187224" cy="85953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Headlines   ·   Headline Prefer Big Grocery Chains Keep Walking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2231136"/>
            <a:ext cx="731520" cy="859536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9670" y="3090672"/>
            <a:ext cx="347472" cy="85953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03</a:t>
            </a:r>
          </a:p>
        </p:txBody>
      </p:sp>
      <p:pic>
        <p:nvPicPr>
          <p:cNvPr id="15" name="Picture 14" descr="C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7142" y="3452219"/>
            <a:ext cx="271504" cy="13644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346663" y="3090672"/>
            <a:ext cx="6187224" cy="85953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Sub Headers   ·   Sub Header Eat Local Eat Organic Eat Better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35640" y="3090672"/>
            <a:ext cx="731520" cy="859536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DD0000"/>
                </a:solidFill>
                <a:latin typeface="Karla"/>
              </a:rPr>
              <a:t>-2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9670" y="3950208"/>
            <a:ext cx="347472" cy="85953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04</a:t>
            </a:r>
          </a:p>
        </p:txBody>
      </p:sp>
      <p:pic>
        <p:nvPicPr>
          <p:cNvPr id="19" name="Picture 18" descr="D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47142" y="4320640"/>
            <a:ext cx="271504" cy="11867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346663" y="3950208"/>
            <a:ext cx="6187224" cy="85953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Images   ·   Image Layer Delivery Graphic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35640" y="3950208"/>
            <a:ext cx="731520" cy="859536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99670" y="4809744"/>
            <a:ext cx="347472" cy="85953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4746E"/>
                </a:solidFill>
                <a:latin typeface="Karla"/>
              </a:rPr>
              <a:t>05</a:t>
            </a:r>
          </a:p>
        </p:txBody>
      </p:sp>
      <p:pic>
        <p:nvPicPr>
          <p:cNvPr id="23" name="Picture 22" descr="E1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47142" y="5140510"/>
            <a:ext cx="271504" cy="19800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346663" y="4809744"/>
            <a:ext cx="6187224" cy="85953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E2D44"/>
                </a:solidFill>
                <a:latin typeface="Karla"/>
              </a:rPr>
              <a:t>CTA   ·   Cta Skip The Grocery Store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35640" y="4809744"/>
            <a:ext cx="731520" cy="859536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DD0000"/>
                </a:solidFill>
                <a:latin typeface="Karla"/>
              </a:rPr>
              <a:t>-4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742432"/>
            <a:ext cx="11155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E2D44"/>
                </a:solidFill>
                <a:latin typeface="Karla"/>
              </a:rPr>
              <a:t>Base 50%    ·    layer lift -4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n=312 respondents.  Top-2 Box model (ratings 4–5): element lifts show movement above or below the model baseline.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KEY FINDINGS: BUILD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365760"/>
            <a:ext cx="112471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E2D44"/>
                </a:solidFill>
                <a:latin typeface="Karla"/>
              </a:rPr>
              <a:t>The higher-lift build against the lower-lift build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115568"/>
            <a:ext cx="5623560" cy="43159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2336" y="1188720"/>
            <a:ext cx="5586984" cy="1170432"/>
          </a:xfrm>
          <a:prstGeom prst="rect">
            <a:avLst/>
          </a:prstGeom>
          <a:solidFill>
            <a:srgbClr val="F3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115568"/>
            <a:ext cx="5623560" cy="50292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225295"/>
            <a:ext cx="5330952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4746E"/>
                </a:solidFill>
                <a:latin typeface="Karla"/>
              </a:rPr>
              <a:t>HIGHER-LIFT BUILD</a:t>
            </a:r>
          </a:p>
        </p:txBody>
      </p:sp>
      <p:pic>
        <p:nvPicPr>
          <p:cNvPr id="8" name="Picture 7" descr="A1-B16-C15-D4-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463040"/>
            <a:ext cx="594755" cy="8412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26244" y="1499616"/>
            <a:ext cx="4535059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8935"/>
                </a:solidFill>
                <a:latin typeface="Karla"/>
              </a:rPr>
              <a:t>+27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6244" y="1938528"/>
            <a:ext cx="4535059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17086"/>
                </a:solidFill>
                <a:latin typeface="Karla"/>
              </a:rPr>
              <a:t>over 50% 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414016"/>
            <a:ext cx="1097280" cy="59253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17086"/>
                </a:solidFill>
                <a:latin typeface="Karla"/>
              </a:rPr>
              <a:t>Backgrounds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0784" y="2414016"/>
            <a:ext cx="3483864" cy="59253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Cotton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9512" y="2414016"/>
            <a:ext cx="658368" cy="59253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" y="3006547"/>
            <a:ext cx="5367528" cy="9144"/>
          </a:xfrm>
          <a:prstGeom prst="rect">
            <a:avLst/>
          </a:prstGeom>
          <a:solidFill>
            <a:srgbClr val="F0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3006547"/>
            <a:ext cx="1097280" cy="59253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17086"/>
                </a:solidFill>
                <a:latin typeface="Karla"/>
              </a:rPr>
              <a:t>Headlines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0784" y="3006547"/>
            <a:ext cx="3483864" cy="59253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Visit Our Booth For 50 Off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9512" y="3006547"/>
            <a:ext cx="658368" cy="59253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+11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" y="3599078"/>
            <a:ext cx="5367528" cy="9144"/>
          </a:xfrm>
          <a:prstGeom prst="rect">
            <a:avLst/>
          </a:prstGeom>
          <a:solidFill>
            <a:srgbClr val="F0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3599078"/>
            <a:ext cx="1097280" cy="59253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17086"/>
                </a:solidFill>
                <a:latin typeface="Karla"/>
              </a:rPr>
              <a:t>Sub Headers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00784" y="3599078"/>
            <a:ext cx="3483864" cy="59253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Win A Free Month Of Groceries!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9512" y="3599078"/>
            <a:ext cx="658368" cy="59253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2064" y="4191609"/>
            <a:ext cx="5367528" cy="9144"/>
          </a:xfrm>
          <a:prstGeom prst="rect">
            <a:avLst/>
          </a:prstGeom>
          <a:solidFill>
            <a:srgbClr val="F0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4191609"/>
            <a:ext cx="1097280" cy="59253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17086"/>
                </a:solidFill>
                <a:latin typeface="Karla"/>
              </a:rPr>
              <a:t>Images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00784" y="4191609"/>
            <a:ext cx="3483864" cy="59253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Farm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9512" y="4191609"/>
            <a:ext cx="658368" cy="59253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2064" y="4784140"/>
            <a:ext cx="5367528" cy="9144"/>
          </a:xfrm>
          <a:prstGeom prst="rect">
            <a:avLst/>
          </a:prstGeom>
          <a:solidFill>
            <a:srgbClr val="F0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4784140"/>
            <a:ext cx="1097280" cy="59253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17086"/>
                </a:solidFill>
                <a:latin typeface="Karla"/>
              </a:rPr>
              <a:t>CTA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00784" y="4784140"/>
            <a:ext cx="3483864" cy="59253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Organic Groceries Fair Prices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39512" y="4784140"/>
            <a:ext cx="658368" cy="59253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1344" y="1115568"/>
            <a:ext cx="5623560" cy="43159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1" y="1188720"/>
            <a:ext cx="5586984" cy="1170432"/>
          </a:xfrm>
          <a:prstGeom prst="rect">
            <a:avLst/>
          </a:prstGeom>
          <a:solidFill>
            <a:srgbClr val="F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81344" y="1115568"/>
            <a:ext cx="5623560" cy="50292"/>
          </a:xfrm>
          <a:prstGeom prst="rect">
            <a:avLst/>
          </a:prstGeom>
          <a:solidFill>
            <a:srgbClr val="C96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27648" y="1225295"/>
            <a:ext cx="5330952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6B84"/>
                </a:solidFill>
                <a:latin typeface="Karla"/>
              </a:rPr>
              <a:t>LOWER-LIFT BUILD</a:t>
            </a:r>
          </a:p>
        </p:txBody>
      </p:sp>
      <p:pic>
        <p:nvPicPr>
          <p:cNvPr id="34" name="Picture 33" descr="A5-B10-C3-D3-E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463040"/>
            <a:ext cx="594755" cy="84124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123540" y="1499616"/>
            <a:ext cx="4535059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DD0000"/>
                </a:solidFill>
                <a:latin typeface="Karla"/>
              </a:rPr>
              <a:t>-4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23540" y="1938528"/>
            <a:ext cx="4535059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17086"/>
                </a:solidFill>
                <a:latin typeface="Karla"/>
              </a:rPr>
              <a:t>over 50% base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2414016"/>
            <a:ext cx="1097280" cy="59253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17086"/>
                </a:solidFill>
                <a:latin typeface="Karla"/>
              </a:rPr>
              <a:t>Backgrounds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2414016"/>
            <a:ext cx="3483864" cy="59253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Mint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36808" y="2414016"/>
            <a:ext cx="658368" cy="59253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59" y="3006547"/>
            <a:ext cx="5367528" cy="9144"/>
          </a:xfrm>
          <a:prstGeom prst="rect">
            <a:avLst/>
          </a:prstGeom>
          <a:solidFill>
            <a:srgbClr val="F0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27648" y="3006547"/>
            <a:ext cx="1097280" cy="59253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17086"/>
                </a:solidFill>
                <a:latin typeface="Karla"/>
              </a:rPr>
              <a:t>Headlines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79" y="3006547"/>
            <a:ext cx="3483864" cy="59253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Prefer Big Grocery Chains Keep Walking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36808" y="3006547"/>
            <a:ext cx="658368" cy="59253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9359" y="3599078"/>
            <a:ext cx="5367528" cy="9144"/>
          </a:xfrm>
          <a:prstGeom prst="rect">
            <a:avLst/>
          </a:prstGeom>
          <a:solidFill>
            <a:srgbClr val="F0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27648" y="3599078"/>
            <a:ext cx="1097280" cy="59253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17086"/>
                </a:solidFill>
                <a:latin typeface="Karla"/>
              </a:rPr>
              <a:t>Sub Headers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8079" y="3599078"/>
            <a:ext cx="3483864" cy="59253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Eat Local Eat Organic Eat Better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36808" y="3599078"/>
            <a:ext cx="658368" cy="59253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D0000"/>
                </a:solidFill>
                <a:latin typeface="Karla"/>
              </a:rPr>
              <a:t>-2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09359" y="4191609"/>
            <a:ext cx="5367528" cy="9144"/>
          </a:xfrm>
          <a:prstGeom prst="rect">
            <a:avLst/>
          </a:prstGeom>
          <a:solidFill>
            <a:srgbClr val="F0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27648" y="4191609"/>
            <a:ext cx="1097280" cy="59253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17086"/>
                </a:solidFill>
                <a:latin typeface="Karla"/>
              </a:rPr>
              <a:t>Images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98079" y="4191609"/>
            <a:ext cx="3483864" cy="59253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Delivery Graphic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36808" y="4191609"/>
            <a:ext cx="658368" cy="59253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09359" y="4784140"/>
            <a:ext cx="5367528" cy="9144"/>
          </a:xfrm>
          <a:prstGeom prst="rect">
            <a:avLst/>
          </a:prstGeom>
          <a:solidFill>
            <a:srgbClr val="F0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27648" y="4784140"/>
            <a:ext cx="1097280" cy="59253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17086"/>
                </a:solidFill>
                <a:latin typeface="Karla"/>
              </a:rPr>
              <a:t>CTA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98079" y="4784140"/>
            <a:ext cx="3483864" cy="59253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D44"/>
                </a:solidFill>
                <a:latin typeface="Karla"/>
              </a:rPr>
              <a:t>Skip The Grocery Store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036808" y="4784140"/>
            <a:ext cx="658368" cy="59253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D0000"/>
                </a:solidFill>
                <a:latin typeface="Karla"/>
              </a:rPr>
              <a:t>-4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84048" y="5559552"/>
            <a:ext cx="11420856" cy="475488"/>
          </a:xfrm>
          <a:prstGeom prst="roundRect">
            <a:avLst>
              <a:gd name="adj" fmla="val 8000"/>
            </a:avLst>
          </a:prstGeom>
          <a:solidFill>
            <a:srgbClr val="FC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66928" y="5559552"/>
            <a:ext cx="11064240" cy="47548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2D44"/>
                </a:solidFill>
                <a:latin typeface="Karla"/>
              </a:rPr>
              <a:t>The higher-lift build leads by +31 points, from the same 50% base. Pairing rules keep the same message from appearing twice.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n=312 respondents.  Top-2 Box model (ratings 4–5): element lifts show movement above or below the model baseline.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100584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5400" b="1" i="0">
                <a:solidFill>
                  <a:srgbClr val="1E2D44"/>
                </a:solidFill>
                <a:latin typeface="Karla"/>
              </a:rPr>
              <a:t>Appendix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794760"/>
            <a:ext cx="1280160" cy="5486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APPENDIX  ·  FULL ELEMENT LIFT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E2D44"/>
                </a:solidFill>
                <a:latin typeface="Karla"/>
              </a:rPr>
              <a:t>Every element, same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3444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617086"/>
                </a:solidFill>
                <a:latin typeface="Karla"/>
              </a:rPr>
              <a:t>Scores are Top-2 Box coefficients (ratings 4–5), rounded the same way as the charts. Green is lift above the baseline. Red is lift below it. A star means the coefficient cleared the study threshold.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103120"/>
            <a:ext cx="3474720" cy="1371600"/>
          </a:xfrm>
          <a:prstGeom prst="roundRect">
            <a:avLst>
              <a:gd name="adj" fmla="val 8000"/>
            </a:avLst>
          </a:prstGeom>
          <a:solidFill>
            <a:srgbClr val="F8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240280"/>
            <a:ext cx="31089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E2D44"/>
                </a:solidFill>
                <a:latin typeface="Karla"/>
              </a:rPr>
              <a:t>50%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26080"/>
            <a:ext cx="3108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Base appeal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2103120"/>
            <a:ext cx="3474720" cy="1371600"/>
          </a:xfrm>
          <a:prstGeom prst="roundRect">
            <a:avLst>
              <a:gd name="adj" fmla="val 8000"/>
            </a:avLst>
          </a:prstGeom>
          <a:solidFill>
            <a:srgbClr val="F8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2240280"/>
            <a:ext cx="31089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E2D44"/>
                </a:solidFill>
                <a:latin typeface="Karla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926080"/>
            <a:ext cx="3108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Silos in the tables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210312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F8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2240280"/>
            <a:ext cx="3200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E2D44"/>
                </a:solidFill>
                <a:latin typeface="Karla"/>
              </a:rPr>
              <a:t>62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92608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Elements scored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n=312 respondents.  Top-2 Box model (ratings 4–5): element lifts show movement above or below the model baseline.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FULL ELEMENT LIFT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475488"/>
            <a:ext cx="11247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E2D44"/>
                </a:solidFill>
                <a:latin typeface="Karla"/>
              </a:rPr>
              <a:t>Headlines   ·   1 of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7863840" cy="274320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D44"/>
                </a:solidFill>
                <a:latin typeface="Karla"/>
              </a:rPr>
              <a:t>HEADLINES PREFERENCES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697480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24328" y="5623560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68951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76343" y="5623560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6440424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47815" y="5623560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11896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99831" y="5623560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15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97480" y="1353312"/>
            <a:ext cx="13716" cy="4251960"/>
          </a:xfrm>
          <a:prstGeom prst="rect">
            <a:avLst/>
          </a:prstGeom>
          <a:solidFill>
            <a:srgbClr val="B9C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97480" y="5605272"/>
            <a:ext cx="5614416" cy="10972"/>
          </a:xfrm>
          <a:prstGeom prst="rect">
            <a:avLst/>
          </a:prstGeom>
          <a:solidFill>
            <a:srgbClr val="B9C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97480" y="1490319"/>
            <a:ext cx="4117238" cy="19842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78726" y="1353312"/>
            <a:ext cx="512064" cy="472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+11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09590" y="1377238"/>
            <a:ext cx="305593" cy="42458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B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734" y="1386382"/>
            <a:ext cx="287305" cy="406298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2697480" y="1962759"/>
            <a:ext cx="3742943" cy="19842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04432" y="1825752"/>
            <a:ext cx="512064" cy="472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09590" y="1849678"/>
            <a:ext cx="305593" cy="42458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B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8734" y="1858822"/>
            <a:ext cx="287305" cy="406298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2697480" y="2435199"/>
            <a:ext cx="2245766" cy="19842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7254" y="2298192"/>
            <a:ext cx="512064" cy="472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09590" y="2322118"/>
            <a:ext cx="305593" cy="42458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B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8734" y="2331262"/>
            <a:ext cx="287305" cy="406298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2697480" y="2907639"/>
            <a:ext cx="1497177" cy="19842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58665" y="2770632"/>
            <a:ext cx="512064" cy="472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09590" y="2794558"/>
            <a:ext cx="305593" cy="42458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B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8734" y="2803702"/>
            <a:ext cx="287305" cy="406298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2697480" y="3380079"/>
            <a:ext cx="1122883" cy="19842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84371" y="3243072"/>
            <a:ext cx="512064" cy="472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09590" y="3266998"/>
            <a:ext cx="305593" cy="42458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B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8734" y="3276142"/>
            <a:ext cx="287305" cy="406298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2697480" y="3852519"/>
            <a:ext cx="1122883" cy="19842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84371" y="3715512"/>
            <a:ext cx="512064" cy="472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09590" y="3739438"/>
            <a:ext cx="305593" cy="42458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B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18734" y="3748582"/>
            <a:ext cx="287305" cy="406298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2697480" y="4324959"/>
            <a:ext cx="1122883" cy="19842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84371" y="4187952"/>
            <a:ext cx="512064" cy="472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09590" y="4211878"/>
            <a:ext cx="305593" cy="42458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B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18734" y="4221022"/>
            <a:ext cx="287305" cy="406298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2697480" y="4797399"/>
            <a:ext cx="1122883" cy="19842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84371" y="4660392"/>
            <a:ext cx="512064" cy="472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309590" y="4684318"/>
            <a:ext cx="305593" cy="42458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B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18734" y="4693462"/>
            <a:ext cx="287305" cy="406298"/>
          </a:xfrm>
          <a:prstGeom prst="rect">
            <a:avLst/>
          </a:prstGeom>
        </p:spPr>
      </p:pic>
      <p:sp>
        <p:nvSpPr>
          <p:cNvPr id="47" name="Rectangle 46"/>
          <p:cNvSpPr/>
          <p:nvPr/>
        </p:nvSpPr>
        <p:spPr>
          <a:xfrm>
            <a:off x="2697480" y="5269839"/>
            <a:ext cx="1122883" cy="19842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84371" y="5132832"/>
            <a:ext cx="512064" cy="472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309590" y="5156758"/>
            <a:ext cx="305593" cy="42458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B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18734" y="5165902"/>
            <a:ext cx="287305" cy="406298"/>
          </a:xfrm>
          <a:prstGeom prst="rect">
            <a:avLst/>
          </a:prstGeom>
        </p:spPr>
      </p:pic>
      <p:sp>
        <p:nvSpPr>
          <p:cNvPr id="51" name="Rectangle 50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n=312 respondents.  Top-2 Box model (ratings 4–5): element lifts show movement above or below the model baseline.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FULL ELEMENT LIFT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475488"/>
            <a:ext cx="11247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E2D44"/>
                </a:solidFill>
                <a:latin typeface="Karla"/>
              </a:rPr>
              <a:t>Headlines   ·   2 of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7863840" cy="274320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D44"/>
                </a:solidFill>
                <a:latin typeface="Karla"/>
              </a:rPr>
              <a:t>HEADLINES PREFERENCES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697480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24328" y="5623560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7" name="Rectangle 6"/>
          <p:cNvSpPr/>
          <p:nvPr/>
        </p:nvSpPr>
        <p:spPr>
          <a:xfrm>
            <a:off x="4101084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08476" y="5623560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5504688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9" y="5623560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08292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5683" y="5623560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11896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9831" y="5623560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97480" y="1353312"/>
            <a:ext cx="13716" cy="4251960"/>
          </a:xfrm>
          <a:prstGeom prst="rect">
            <a:avLst/>
          </a:prstGeom>
          <a:solidFill>
            <a:srgbClr val="B9C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97480" y="5605272"/>
            <a:ext cx="5614416" cy="10972"/>
          </a:xfrm>
          <a:prstGeom prst="rect">
            <a:avLst/>
          </a:prstGeom>
          <a:solidFill>
            <a:srgbClr val="B9C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97480" y="1547295"/>
            <a:ext cx="4210812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72300" y="1353312"/>
            <a:ext cx="512064" cy="60742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27502" y="1386687"/>
            <a:ext cx="387681" cy="54067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B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646" y="1395831"/>
            <a:ext cx="369393" cy="522383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2697480" y="2154718"/>
            <a:ext cx="2807207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68696" y="1960734"/>
            <a:ext cx="512064" cy="60742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27502" y="1994110"/>
            <a:ext cx="387681" cy="54067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6646" y="2003254"/>
            <a:ext cx="369393" cy="522383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2697480" y="2762141"/>
            <a:ext cx="2807207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68696" y="2568157"/>
            <a:ext cx="512064" cy="60742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27502" y="2601533"/>
            <a:ext cx="387681" cy="54067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B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6646" y="2610677"/>
            <a:ext cx="369393" cy="522383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2697480" y="3369564"/>
            <a:ext cx="2807207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68696" y="3175580"/>
            <a:ext cx="512064" cy="60742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27502" y="3208956"/>
            <a:ext cx="387681" cy="54067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B1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6646" y="3218100"/>
            <a:ext cx="369393" cy="522383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2697480" y="3976986"/>
            <a:ext cx="1403604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65092" y="3783003"/>
            <a:ext cx="512064" cy="60742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27502" y="3816379"/>
            <a:ext cx="387681" cy="54067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B1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36646" y="3825523"/>
            <a:ext cx="369393" cy="522383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2697480" y="4584409"/>
            <a:ext cx="32004" cy="219456"/>
          </a:xfrm>
          <a:prstGeom prst="rect">
            <a:avLst/>
          </a:prstGeom>
          <a:solidFill>
            <a:srgbClr val="6F7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61488" y="4390426"/>
            <a:ext cx="512064" cy="60742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27502" y="4423801"/>
            <a:ext cx="387681" cy="54067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B1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36646" y="4432945"/>
            <a:ext cx="369393" cy="522383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2697480" y="5191832"/>
            <a:ext cx="32004" cy="219456"/>
          </a:xfrm>
          <a:prstGeom prst="rect">
            <a:avLst/>
          </a:prstGeom>
          <a:solidFill>
            <a:srgbClr val="6F7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61488" y="4997849"/>
            <a:ext cx="512064" cy="60742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27502" y="5031224"/>
            <a:ext cx="387681" cy="54067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B1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36646" y="5040368"/>
            <a:ext cx="369393" cy="522383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n=312 respondents.  Top-2 Box model (ratings 4–5): element lifts show movement above or below the model baseline.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FULL ELEMENT LIFT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475488"/>
            <a:ext cx="11247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E2D44"/>
                </a:solidFill>
                <a:latin typeface="Karla"/>
              </a:rPr>
              <a:t>Sub Headers   ·   1 of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7863840" cy="274320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D44"/>
                </a:solidFill>
                <a:latin typeface="Karla"/>
              </a:rPr>
              <a:t>SUB HEADERS PREFERENCES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697480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24328" y="5623560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7" name="Rectangle 6"/>
          <p:cNvSpPr/>
          <p:nvPr/>
        </p:nvSpPr>
        <p:spPr>
          <a:xfrm>
            <a:off x="4101084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08476" y="5623560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5504688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9" y="5623560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08292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5683" y="5623560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11896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9831" y="5623560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97480" y="1353312"/>
            <a:ext cx="13716" cy="4251960"/>
          </a:xfrm>
          <a:prstGeom prst="rect">
            <a:avLst/>
          </a:prstGeom>
          <a:solidFill>
            <a:srgbClr val="B9C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97480" y="5605272"/>
            <a:ext cx="5614416" cy="10972"/>
          </a:xfrm>
          <a:prstGeom prst="rect">
            <a:avLst/>
          </a:prstGeom>
          <a:solidFill>
            <a:srgbClr val="B9C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97480" y="1490319"/>
            <a:ext cx="4210812" cy="19842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72300" y="1353312"/>
            <a:ext cx="512064" cy="472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82305" y="1377238"/>
            <a:ext cx="432878" cy="42458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1449" y="1386382"/>
            <a:ext cx="414590" cy="406298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2697480" y="1962759"/>
            <a:ext cx="3509009" cy="19842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498" y="1825752"/>
            <a:ext cx="512064" cy="472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82305" y="1849678"/>
            <a:ext cx="432878" cy="42458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C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1449" y="1858822"/>
            <a:ext cx="414590" cy="406298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2697480" y="2435199"/>
            <a:ext cx="1403604" cy="19842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65092" y="2298192"/>
            <a:ext cx="512064" cy="472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82305" y="2322118"/>
            <a:ext cx="432878" cy="42458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C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1449" y="2331262"/>
            <a:ext cx="414590" cy="406298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2697480" y="2907639"/>
            <a:ext cx="701802" cy="19842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63290" y="2770632"/>
            <a:ext cx="512064" cy="472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82305" y="2794558"/>
            <a:ext cx="432878" cy="42458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C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1449" y="2803702"/>
            <a:ext cx="414590" cy="406298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2697480" y="3380079"/>
            <a:ext cx="701802" cy="19842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63290" y="3243072"/>
            <a:ext cx="512064" cy="472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82305" y="3266998"/>
            <a:ext cx="432878" cy="42458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C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91449" y="3276142"/>
            <a:ext cx="414590" cy="406298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2697480" y="3852519"/>
            <a:ext cx="701802" cy="19842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63290" y="3715512"/>
            <a:ext cx="512064" cy="472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82305" y="3739438"/>
            <a:ext cx="432878" cy="42458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C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91449" y="3748582"/>
            <a:ext cx="414590" cy="406298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2697480" y="4324959"/>
            <a:ext cx="701802" cy="19842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63290" y="4187952"/>
            <a:ext cx="512064" cy="472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82305" y="4211878"/>
            <a:ext cx="432878" cy="42458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C1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91449" y="4221022"/>
            <a:ext cx="414590" cy="406298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2697480" y="4797399"/>
            <a:ext cx="32004" cy="198424"/>
          </a:xfrm>
          <a:prstGeom prst="rect">
            <a:avLst/>
          </a:prstGeom>
          <a:solidFill>
            <a:srgbClr val="6F7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61488" y="4660392"/>
            <a:ext cx="512064" cy="472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82305" y="4684318"/>
            <a:ext cx="432878" cy="42458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C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91449" y="4693462"/>
            <a:ext cx="414590" cy="406298"/>
          </a:xfrm>
          <a:prstGeom prst="rect">
            <a:avLst/>
          </a:prstGeom>
        </p:spPr>
      </p:pic>
      <p:sp>
        <p:nvSpPr>
          <p:cNvPr id="49" name="Rectangle 48"/>
          <p:cNvSpPr/>
          <p:nvPr/>
        </p:nvSpPr>
        <p:spPr>
          <a:xfrm>
            <a:off x="2697480" y="5269839"/>
            <a:ext cx="32004" cy="198424"/>
          </a:xfrm>
          <a:prstGeom prst="rect">
            <a:avLst/>
          </a:prstGeom>
          <a:solidFill>
            <a:srgbClr val="6F7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61488" y="5132832"/>
            <a:ext cx="512064" cy="472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182305" y="5156758"/>
            <a:ext cx="432878" cy="42458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C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91449" y="5165902"/>
            <a:ext cx="414590" cy="406298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n=312 respondents.  Top-2 Box model (ratings 4–5): element lifts show movement above or below the model baseline.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FULL ELEMENT LIFT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475488"/>
            <a:ext cx="11247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E2D44"/>
                </a:solidFill>
                <a:latin typeface="Karla"/>
              </a:rPr>
              <a:t>Sub Headers   ·   2 of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7863840" cy="274320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D44"/>
                </a:solidFill>
                <a:latin typeface="Karla"/>
              </a:rPr>
              <a:t>SUB HEADERS PREFERENCES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697480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24328" y="5623560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-4</a:t>
            </a:r>
          </a:p>
        </p:txBody>
      </p:sp>
      <p:sp>
        <p:nvSpPr>
          <p:cNvPr id="7" name="Rectangle 6"/>
          <p:cNvSpPr/>
          <p:nvPr/>
        </p:nvSpPr>
        <p:spPr>
          <a:xfrm>
            <a:off x="4101084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08476" y="5623560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-3</a:t>
            </a:r>
          </a:p>
        </p:txBody>
      </p:sp>
      <p:sp>
        <p:nvSpPr>
          <p:cNvPr id="9" name="Rectangle 8"/>
          <p:cNvSpPr/>
          <p:nvPr/>
        </p:nvSpPr>
        <p:spPr>
          <a:xfrm>
            <a:off x="5504688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9" y="5623560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-2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08292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5683" y="5623560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-1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11896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9831" y="5623560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11896" y="1353312"/>
            <a:ext cx="13716" cy="4251960"/>
          </a:xfrm>
          <a:prstGeom prst="rect">
            <a:avLst/>
          </a:prstGeom>
          <a:solidFill>
            <a:srgbClr val="B9C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97480" y="5605272"/>
            <a:ext cx="5614416" cy="10972"/>
          </a:xfrm>
          <a:prstGeom prst="rect">
            <a:avLst/>
          </a:prstGeom>
          <a:solidFill>
            <a:srgbClr val="B9C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11896" y="1547295"/>
            <a:ext cx="32004" cy="219456"/>
          </a:xfrm>
          <a:prstGeom prst="rect">
            <a:avLst/>
          </a:prstGeom>
          <a:solidFill>
            <a:srgbClr val="6F7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99831" y="1353312"/>
            <a:ext cx="512064" cy="60742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63851" y="1386687"/>
            <a:ext cx="551332" cy="54067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995" y="1395831"/>
            <a:ext cx="533044" cy="522383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6908292" y="2154718"/>
            <a:ext cx="1403604" cy="219456"/>
          </a:xfrm>
          <a:prstGeom prst="rect">
            <a:avLst/>
          </a:prstGeom>
          <a:solidFill>
            <a:srgbClr val="C96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2219" y="1960734"/>
            <a:ext cx="512064" cy="60742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D0000"/>
                </a:solidFill>
                <a:latin typeface="Karla"/>
              </a:rPr>
              <a:t>-1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63851" y="1994110"/>
            <a:ext cx="551332" cy="54067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2995" y="2003254"/>
            <a:ext cx="533044" cy="522383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908292" y="2762141"/>
            <a:ext cx="1403604" cy="219456"/>
          </a:xfrm>
          <a:prstGeom prst="rect">
            <a:avLst/>
          </a:prstGeom>
          <a:solidFill>
            <a:srgbClr val="C96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2219" y="2568157"/>
            <a:ext cx="512064" cy="60742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D0000"/>
                </a:solidFill>
                <a:latin typeface="Karla"/>
              </a:rPr>
              <a:t>-1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63851" y="2601533"/>
            <a:ext cx="551332" cy="54067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C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2995" y="2610677"/>
            <a:ext cx="533044" cy="522383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6908292" y="3369564"/>
            <a:ext cx="1403604" cy="219456"/>
          </a:xfrm>
          <a:prstGeom prst="rect">
            <a:avLst/>
          </a:prstGeom>
          <a:solidFill>
            <a:srgbClr val="C96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32219" y="3175580"/>
            <a:ext cx="512064" cy="60742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D0000"/>
                </a:solidFill>
                <a:latin typeface="Karla"/>
              </a:rPr>
              <a:t>-1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63851" y="3208956"/>
            <a:ext cx="551332" cy="54067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C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2995" y="3218100"/>
            <a:ext cx="533044" cy="522383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5504688" y="3976986"/>
            <a:ext cx="2807208" cy="219456"/>
          </a:xfrm>
          <a:prstGeom prst="rect">
            <a:avLst/>
          </a:prstGeom>
          <a:solidFill>
            <a:srgbClr val="C96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28615" y="3783003"/>
            <a:ext cx="512064" cy="60742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D0000"/>
                </a:solidFill>
                <a:latin typeface="Karla"/>
              </a:rPr>
              <a:t>-2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63851" y="3816379"/>
            <a:ext cx="551332" cy="54067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C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72995" y="3825523"/>
            <a:ext cx="533044" cy="522383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5504688" y="4584409"/>
            <a:ext cx="2807208" cy="219456"/>
          </a:xfrm>
          <a:prstGeom prst="rect">
            <a:avLst/>
          </a:prstGeom>
          <a:solidFill>
            <a:srgbClr val="C96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28615" y="4390426"/>
            <a:ext cx="512064" cy="60742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D0000"/>
                </a:solidFill>
                <a:latin typeface="Karla"/>
              </a:rPr>
              <a:t>-2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63851" y="4423801"/>
            <a:ext cx="551332" cy="54067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C1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72995" y="4432945"/>
            <a:ext cx="533044" cy="522383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4101084" y="5191832"/>
            <a:ext cx="4210812" cy="219456"/>
          </a:xfrm>
          <a:prstGeom prst="rect">
            <a:avLst/>
          </a:prstGeom>
          <a:solidFill>
            <a:srgbClr val="C96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25012" y="4997849"/>
            <a:ext cx="512064" cy="60742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D0000"/>
                </a:solidFill>
                <a:latin typeface="Karla"/>
              </a:rPr>
              <a:t>-3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063851" y="5031224"/>
            <a:ext cx="551332" cy="54067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C1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72995" y="5040368"/>
            <a:ext cx="533044" cy="522383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n=312 respondents.  Top-2 Box model (ratings 4–5): element lifts show movement above or below the model baseline.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FULL ELEMENT LIFT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475488"/>
            <a:ext cx="11247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E2D44"/>
                </a:solidFill>
                <a:latin typeface="Karla"/>
              </a:rPr>
              <a:t>CTA   ·   1 of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7863840" cy="274320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D44"/>
                </a:solidFill>
                <a:latin typeface="Karla"/>
              </a:rPr>
              <a:t>CTA PREFERENCES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697480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24328" y="5623560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-2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68951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76343" y="5623560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6440424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47815" y="5623560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11896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99831" y="5623560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68951" y="1353312"/>
            <a:ext cx="13716" cy="4251960"/>
          </a:xfrm>
          <a:prstGeom prst="rect">
            <a:avLst/>
          </a:prstGeom>
          <a:solidFill>
            <a:srgbClr val="B9C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97480" y="5605272"/>
            <a:ext cx="5614416" cy="10972"/>
          </a:xfrm>
          <a:prstGeom prst="rect">
            <a:avLst/>
          </a:prstGeom>
          <a:solidFill>
            <a:srgbClr val="B9C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68951" y="1490319"/>
            <a:ext cx="2807208" cy="19842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40168" y="1353312"/>
            <a:ext cx="512064" cy="472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5" y="1486498"/>
            <a:ext cx="2121408" cy="20606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1495642"/>
            <a:ext cx="2103120" cy="187778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568951" y="1962759"/>
            <a:ext cx="2807208" cy="19842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40168" y="1825752"/>
            <a:ext cx="512064" cy="472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3775" y="1970674"/>
            <a:ext cx="2121408" cy="18259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19" y="1979818"/>
            <a:ext cx="2103120" cy="16430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4568951" y="2435199"/>
            <a:ext cx="1871472" cy="19842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04432" y="2298192"/>
            <a:ext cx="512064" cy="472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3775" y="2430863"/>
            <a:ext cx="2121408" cy="207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E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19" y="2440007"/>
            <a:ext cx="2103120" cy="188808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4568951" y="2907639"/>
            <a:ext cx="935736" cy="19842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68696" y="2770632"/>
            <a:ext cx="512064" cy="472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3775" y="2922843"/>
            <a:ext cx="2121408" cy="16801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E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19" y="2931987"/>
            <a:ext cx="2103120" cy="149729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4568951" y="3380079"/>
            <a:ext cx="32004" cy="198424"/>
          </a:xfrm>
          <a:prstGeom prst="rect">
            <a:avLst/>
          </a:prstGeom>
          <a:solidFill>
            <a:srgbClr val="6F7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32960" y="3243072"/>
            <a:ext cx="512064" cy="472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3775" y="3359690"/>
            <a:ext cx="2121408" cy="23920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E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19" y="3368834"/>
            <a:ext cx="2103120" cy="220915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4568951" y="3852519"/>
            <a:ext cx="32004" cy="198424"/>
          </a:xfrm>
          <a:prstGeom prst="rect">
            <a:avLst/>
          </a:prstGeom>
          <a:solidFill>
            <a:srgbClr val="6F7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32960" y="3715512"/>
            <a:ext cx="512064" cy="472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3775" y="3846875"/>
            <a:ext cx="2121408" cy="2097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E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19" y="3856019"/>
            <a:ext cx="2103120" cy="191424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3633216" y="4324959"/>
            <a:ext cx="935735" cy="198424"/>
          </a:xfrm>
          <a:prstGeom prst="rect">
            <a:avLst/>
          </a:prstGeom>
          <a:solidFill>
            <a:srgbClr val="C96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57144" y="4187952"/>
            <a:ext cx="512064" cy="472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D0000"/>
                </a:solidFill>
                <a:latin typeface="Karla"/>
              </a:rPr>
              <a:t>-1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5" y="4328507"/>
            <a:ext cx="2121408" cy="1913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E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19" y="4337651"/>
            <a:ext cx="2103120" cy="173041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3633216" y="4797399"/>
            <a:ext cx="935735" cy="198424"/>
          </a:xfrm>
          <a:prstGeom prst="rect">
            <a:avLst/>
          </a:prstGeom>
          <a:solidFill>
            <a:srgbClr val="C96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057144" y="4660392"/>
            <a:ext cx="512064" cy="472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D0000"/>
                </a:solidFill>
                <a:latin typeface="Karla"/>
              </a:rPr>
              <a:t>-1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3775" y="4751154"/>
            <a:ext cx="2121408" cy="29091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E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19" y="4760298"/>
            <a:ext cx="2103120" cy="272626"/>
          </a:xfrm>
          <a:prstGeom prst="rect">
            <a:avLst/>
          </a:prstGeom>
        </p:spPr>
      </p:pic>
      <p:sp>
        <p:nvSpPr>
          <p:cNvPr id="47" name="Rectangle 46"/>
          <p:cNvSpPr/>
          <p:nvPr/>
        </p:nvSpPr>
        <p:spPr>
          <a:xfrm>
            <a:off x="3633216" y="5269839"/>
            <a:ext cx="935735" cy="198424"/>
          </a:xfrm>
          <a:prstGeom prst="rect">
            <a:avLst/>
          </a:prstGeom>
          <a:solidFill>
            <a:srgbClr val="C96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057144" y="5132832"/>
            <a:ext cx="512064" cy="47244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D0000"/>
                </a:solidFill>
                <a:latin typeface="Karla"/>
              </a:rPr>
              <a:t>-1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93775" y="5238946"/>
            <a:ext cx="2121408" cy="26021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E4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919" y="5248090"/>
            <a:ext cx="2103120" cy="241923"/>
          </a:xfrm>
          <a:prstGeom prst="rect">
            <a:avLst/>
          </a:prstGeom>
        </p:spPr>
      </p:pic>
      <p:sp>
        <p:nvSpPr>
          <p:cNvPr id="51" name="Rectangle 50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n=312 respondents.  Top-2 Box model (ratings 4–5): element lifts show movement above or below the model baseline.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FULL ELEMENT LIFT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475488"/>
            <a:ext cx="11247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E2D44"/>
                </a:solidFill>
                <a:latin typeface="Karla"/>
              </a:rPr>
              <a:t>CTA   ·   2 of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7863840" cy="274320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D44"/>
                </a:solidFill>
                <a:latin typeface="Karla"/>
              </a:rPr>
              <a:t>CTA PREFERENCES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697480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24328" y="5623560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-6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68951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76343" y="5623560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-4</a:t>
            </a:r>
          </a:p>
        </p:txBody>
      </p:sp>
      <p:sp>
        <p:nvSpPr>
          <p:cNvPr id="9" name="Rectangle 8"/>
          <p:cNvSpPr/>
          <p:nvPr/>
        </p:nvSpPr>
        <p:spPr>
          <a:xfrm>
            <a:off x="6440424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47815" y="5623560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-2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11896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99831" y="5623560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11896" y="1353312"/>
            <a:ext cx="13716" cy="4251960"/>
          </a:xfrm>
          <a:prstGeom prst="rect">
            <a:avLst/>
          </a:prstGeom>
          <a:solidFill>
            <a:srgbClr val="B9C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97480" y="5605272"/>
            <a:ext cx="5614416" cy="10972"/>
          </a:xfrm>
          <a:prstGeom prst="rect">
            <a:avLst/>
          </a:prstGeom>
          <a:solidFill>
            <a:srgbClr val="B9C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76160" y="1547295"/>
            <a:ext cx="935736" cy="219456"/>
          </a:xfrm>
          <a:prstGeom prst="rect">
            <a:avLst/>
          </a:prstGeom>
          <a:solidFill>
            <a:srgbClr val="C96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00087" y="1353312"/>
            <a:ext cx="512064" cy="60742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D0000"/>
                </a:solidFill>
                <a:latin typeface="Karla"/>
              </a:rPr>
              <a:t>-1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5" y="1540431"/>
            <a:ext cx="2121408" cy="233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1549575"/>
            <a:ext cx="2103120" cy="214896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440424" y="2154718"/>
            <a:ext cx="1871472" cy="219456"/>
          </a:xfrm>
          <a:prstGeom prst="rect">
            <a:avLst/>
          </a:prstGeom>
          <a:solidFill>
            <a:srgbClr val="C96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64351" y="1960734"/>
            <a:ext cx="512064" cy="60742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D0000"/>
                </a:solidFill>
                <a:latin typeface="Karla"/>
              </a:rPr>
              <a:t>-2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3775" y="2164962"/>
            <a:ext cx="2121408" cy="198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19" y="2174106"/>
            <a:ext cx="2103120" cy="18068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440424" y="2762141"/>
            <a:ext cx="1871472" cy="219456"/>
          </a:xfrm>
          <a:prstGeom prst="rect">
            <a:avLst/>
          </a:prstGeom>
          <a:solidFill>
            <a:srgbClr val="C96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64351" y="2568157"/>
            <a:ext cx="512064" cy="60742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D0000"/>
                </a:solidFill>
                <a:latin typeface="Karla"/>
              </a:rPr>
              <a:t>-2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3775" y="2758541"/>
            <a:ext cx="2121408" cy="22665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E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19" y="2767685"/>
            <a:ext cx="2103120" cy="208367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440424" y="3369564"/>
            <a:ext cx="1871472" cy="219456"/>
          </a:xfrm>
          <a:prstGeom prst="rect">
            <a:avLst/>
          </a:prstGeom>
          <a:solidFill>
            <a:srgbClr val="C96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64351" y="3175580"/>
            <a:ext cx="512064" cy="60742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D0000"/>
                </a:solidFill>
                <a:latin typeface="Karla"/>
              </a:rPr>
              <a:t>-2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3775" y="3401796"/>
            <a:ext cx="2121408" cy="15499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E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19" y="3410940"/>
            <a:ext cx="2103120" cy="136702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6440424" y="3976986"/>
            <a:ext cx="1871472" cy="219456"/>
          </a:xfrm>
          <a:prstGeom prst="rect">
            <a:avLst/>
          </a:prstGeom>
          <a:solidFill>
            <a:srgbClr val="C96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64351" y="3783003"/>
            <a:ext cx="512064" cy="60742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D0000"/>
                </a:solidFill>
                <a:latin typeface="Karla"/>
              </a:rPr>
              <a:t>-2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3775" y="3910443"/>
            <a:ext cx="2121408" cy="35254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E1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19" y="3919587"/>
            <a:ext cx="2103120" cy="334254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6440424" y="4584409"/>
            <a:ext cx="1871472" cy="219456"/>
          </a:xfrm>
          <a:prstGeom prst="rect">
            <a:avLst/>
          </a:prstGeom>
          <a:solidFill>
            <a:srgbClr val="C96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64351" y="4390426"/>
            <a:ext cx="512064" cy="60742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D0000"/>
                </a:solidFill>
                <a:latin typeface="Karla"/>
              </a:rPr>
              <a:t>-2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3775" y="4551393"/>
            <a:ext cx="2121408" cy="28548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E1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19" y="4560537"/>
            <a:ext cx="2103120" cy="267199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4568951" y="5191832"/>
            <a:ext cx="3742944" cy="219456"/>
          </a:xfrm>
          <a:prstGeom prst="rect">
            <a:avLst/>
          </a:prstGeom>
          <a:solidFill>
            <a:srgbClr val="C96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92879" y="4997849"/>
            <a:ext cx="512064" cy="607422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D0000"/>
                </a:solidFill>
                <a:latin typeface="Karla"/>
              </a:rPr>
              <a:t>-4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5" y="5161408"/>
            <a:ext cx="2121408" cy="2803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E1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19" y="5170552"/>
            <a:ext cx="2103120" cy="262016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n=312 respondents.  Top-2 Box model (ratings 4–5): element lifts show movement above or below the model baseline.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FULL ELEMENT LIFT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475488"/>
            <a:ext cx="11247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E2D44"/>
                </a:solidFill>
                <a:latin typeface="Karla"/>
              </a:rPr>
              <a:t>Backgrounds   ·   Images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" y="1024128"/>
            <a:ext cx="5623560" cy="274320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D44"/>
                </a:solidFill>
                <a:latin typeface="Karla"/>
              </a:rPr>
              <a:t>BACKGROUNDS PREFERENCES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2808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19656" y="5623560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7" name="Rectangle 6"/>
          <p:cNvSpPr/>
          <p:nvPr/>
        </p:nvSpPr>
        <p:spPr>
          <a:xfrm>
            <a:off x="3185160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92552" y="5623560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4477512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84904" y="5623560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9864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57800" y="5623560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92808" y="1353312"/>
            <a:ext cx="13716" cy="4251960"/>
          </a:xfrm>
          <a:prstGeom prst="rect">
            <a:avLst/>
          </a:prstGeom>
          <a:solidFill>
            <a:srgbClr val="B9C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92808" y="5605272"/>
            <a:ext cx="3877056" cy="10972"/>
          </a:xfrm>
          <a:prstGeom prst="rect">
            <a:avLst/>
          </a:prstGeom>
          <a:solidFill>
            <a:srgbClr val="B9C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92808" y="1597914"/>
            <a:ext cx="2584704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520" y="1353312"/>
            <a:ext cx="512064" cy="70866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61265" y="1393774"/>
            <a:ext cx="449246" cy="62773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409" y="1402918"/>
            <a:ext cx="430958" cy="609447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1892808" y="2306574"/>
            <a:ext cx="2584704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1520" y="2061972"/>
            <a:ext cx="512064" cy="70866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61265" y="2102434"/>
            <a:ext cx="449246" cy="62773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A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0409" y="2111578"/>
            <a:ext cx="430958" cy="609447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1892808" y="3015234"/>
            <a:ext cx="2584704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41520" y="2770632"/>
            <a:ext cx="512064" cy="70866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61265" y="2811094"/>
            <a:ext cx="449246" cy="62773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A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0409" y="2820238"/>
            <a:ext cx="430958" cy="609447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1892808" y="3723894"/>
            <a:ext cx="2584704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41520" y="3479292"/>
            <a:ext cx="512064" cy="70866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61265" y="3519754"/>
            <a:ext cx="449246" cy="62773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A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0409" y="3528898"/>
            <a:ext cx="430958" cy="609447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1892808" y="4432554"/>
            <a:ext cx="2584704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41520" y="4187952"/>
            <a:ext cx="512064" cy="70866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61265" y="4228414"/>
            <a:ext cx="449246" cy="62773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A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0409" y="4237558"/>
            <a:ext cx="430958" cy="609447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1892808" y="5141214"/>
            <a:ext cx="32004" cy="219456"/>
          </a:xfrm>
          <a:prstGeom prst="rect">
            <a:avLst/>
          </a:prstGeom>
          <a:solidFill>
            <a:srgbClr val="6F7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56816" y="4896612"/>
            <a:ext cx="512064" cy="70866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361265" y="4937074"/>
            <a:ext cx="449246" cy="62773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A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0409" y="4946218"/>
            <a:ext cx="430958" cy="609447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6355080" y="1024128"/>
            <a:ext cx="5623560" cy="274320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D44"/>
                </a:solidFill>
                <a:latin typeface="Karla"/>
              </a:rPr>
              <a:t>IMAGES PREFERENCES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46720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73568" y="5623560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985248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92640" y="5623560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923776" y="1353312"/>
            <a:ext cx="9144" cy="4251960"/>
          </a:xfrm>
          <a:prstGeom prst="rect">
            <a:avLst/>
          </a:prstGeom>
          <a:solidFill>
            <a:srgbClr val="E6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411712" y="5623560"/>
            <a:ext cx="585216" cy="219456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10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46720" y="1353312"/>
            <a:ext cx="13716" cy="4251960"/>
          </a:xfrm>
          <a:prstGeom prst="rect">
            <a:avLst/>
          </a:prstGeom>
          <a:solidFill>
            <a:srgbClr val="B9C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046720" y="5605272"/>
            <a:ext cx="3877056" cy="10972"/>
          </a:xfrm>
          <a:prstGeom prst="rect">
            <a:avLst/>
          </a:prstGeom>
          <a:solidFill>
            <a:srgbClr val="B9C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046720" y="1509331"/>
            <a:ext cx="2713939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824667" y="1353312"/>
            <a:ext cx="512064" cy="53149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622916" y="1381372"/>
            <a:ext cx="341507" cy="47537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D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32060" y="1390516"/>
            <a:ext cx="323219" cy="457085"/>
          </a:xfrm>
          <a:prstGeom prst="rect">
            <a:avLst/>
          </a:prstGeom>
        </p:spPr>
      </p:pic>
      <p:sp>
        <p:nvSpPr>
          <p:cNvPr id="52" name="Rectangle 51"/>
          <p:cNvSpPr/>
          <p:nvPr/>
        </p:nvSpPr>
        <p:spPr>
          <a:xfrm>
            <a:off x="8046720" y="2040826"/>
            <a:ext cx="2713939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824667" y="1884807"/>
            <a:ext cx="512064" cy="53149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622916" y="1912867"/>
            <a:ext cx="341507" cy="47537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D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32060" y="1922011"/>
            <a:ext cx="323219" cy="457085"/>
          </a:xfrm>
          <a:prstGeom prst="rect">
            <a:avLst/>
          </a:prstGeom>
        </p:spPr>
      </p:pic>
      <p:sp>
        <p:nvSpPr>
          <p:cNvPr id="56" name="Rectangle 55"/>
          <p:cNvSpPr/>
          <p:nvPr/>
        </p:nvSpPr>
        <p:spPr>
          <a:xfrm>
            <a:off x="8046720" y="2572321"/>
            <a:ext cx="2326233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436961" y="2416302"/>
            <a:ext cx="512064" cy="53149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622916" y="2444362"/>
            <a:ext cx="341507" cy="47537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D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32060" y="2453506"/>
            <a:ext cx="323219" cy="457085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8046720" y="3103816"/>
            <a:ext cx="2326233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436961" y="2947797"/>
            <a:ext cx="512064" cy="53149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622916" y="2975857"/>
            <a:ext cx="341507" cy="47537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D5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32060" y="2985001"/>
            <a:ext cx="323219" cy="457085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8046720" y="3635311"/>
            <a:ext cx="2326233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436961" y="3479292"/>
            <a:ext cx="512064" cy="53149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622916" y="3507352"/>
            <a:ext cx="341507" cy="47537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D6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32060" y="3516496"/>
            <a:ext cx="323219" cy="457085"/>
          </a:xfrm>
          <a:prstGeom prst="rect">
            <a:avLst/>
          </a:prstGeom>
        </p:spPr>
      </p:pic>
      <p:sp>
        <p:nvSpPr>
          <p:cNvPr id="68" name="Rectangle 67"/>
          <p:cNvSpPr/>
          <p:nvPr/>
        </p:nvSpPr>
        <p:spPr>
          <a:xfrm>
            <a:off x="8046720" y="4166806"/>
            <a:ext cx="1550822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661550" y="4010787"/>
            <a:ext cx="512064" cy="53149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+4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622916" y="4038847"/>
            <a:ext cx="341507" cy="47537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D1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32060" y="4047991"/>
            <a:ext cx="323219" cy="457085"/>
          </a:xfrm>
          <a:prstGeom prst="rect">
            <a:avLst/>
          </a:prstGeom>
        </p:spPr>
      </p:pic>
      <p:sp>
        <p:nvSpPr>
          <p:cNvPr id="72" name="Rectangle 71"/>
          <p:cNvSpPr/>
          <p:nvPr/>
        </p:nvSpPr>
        <p:spPr>
          <a:xfrm>
            <a:off x="8046720" y="4698301"/>
            <a:ext cx="775411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886139" y="4542282"/>
            <a:ext cx="512064" cy="53149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+2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622916" y="4570342"/>
            <a:ext cx="341507" cy="47537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D3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32060" y="4579486"/>
            <a:ext cx="323219" cy="457085"/>
          </a:xfrm>
          <a:prstGeom prst="rect">
            <a:avLst/>
          </a:prstGeom>
        </p:spPr>
      </p:pic>
      <p:sp>
        <p:nvSpPr>
          <p:cNvPr id="76" name="Rectangle 75"/>
          <p:cNvSpPr/>
          <p:nvPr/>
        </p:nvSpPr>
        <p:spPr>
          <a:xfrm>
            <a:off x="8046720" y="5229796"/>
            <a:ext cx="775411" cy="219456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886139" y="5073777"/>
            <a:ext cx="512064" cy="53149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935"/>
                </a:solidFill>
                <a:latin typeface="Karla"/>
              </a:rPr>
              <a:t>+2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622916" y="5101837"/>
            <a:ext cx="341507" cy="47537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9" name="Picture 78" descr="D7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32060" y="5110981"/>
            <a:ext cx="323219" cy="457085"/>
          </a:xfrm>
          <a:prstGeom prst="rect">
            <a:avLst/>
          </a:prstGeom>
        </p:spPr>
      </p:pic>
      <p:sp>
        <p:nvSpPr>
          <p:cNvPr id="80" name="Rectangle 79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n=312 respondents.  Top-2 Box model (ratings 4–5): element lifts show movement above or below the model baseline.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100584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5400" b="1" i="0">
                <a:solidFill>
                  <a:srgbClr val="1E2D44"/>
                </a:solidFill>
                <a:latin typeface="Karla"/>
              </a:rPr>
              <a:t>Element Assets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794760"/>
            <a:ext cx="1280160" cy="54864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ELEMENT ASSETS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E2D44"/>
                </a:solidFill>
                <a:latin typeface="Karla"/>
              </a:rPr>
              <a:t>Backgrounds  —  element assets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5156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A   ·   6 variations</a:t>
            </a:r>
          </a:p>
        </p:txBody>
      </p:sp>
      <p:pic>
        <p:nvPicPr>
          <p:cNvPr id="5" name="Picture 4" descr="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155" y="1485900"/>
            <a:ext cx="1267022" cy="17922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10867" y="3296412"/>
            <a:ext cx="1303598" cy="420624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Background Layer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Cotton</a:t>
            </a:r>
          </a:p>
        </p:txBody>
      </p:sp>
      <p:pic>
        <p:nvPicPr>
          <p:cNvPr id="7" name="Picture 6" descr="A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7345" y="1485900"/>
            <a:ext cx="1267022" cy="17922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979057" y="3296412"/>
            <a:ext cx="1303598" cy="420624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Background Layer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Cream</a:t>
            </a:r>
          </a:p>
        </p:txBody>
      </p:sp>
      <p:pic>
        <p:nvPicPr>
          <p:cNvPr id="9" name="Picture 8" descr="A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5536" y="1485900"/>
            <a:ext cx="1267022" cy="17922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47248" y="3296412"/>
            <a:ext cx="1303598" cy="420624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Background Layer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Lemon</a:t>
            </a:r>
          </a:p>
        </p:txBody>
      </p:sp>
      <p:pic>
        <p:nvPicPr>
          <p:cNvPr id="11" name="Picture 10" descr="A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3727" y="1485900"/>
            <a:ext cx="1267022" cy="17922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915439" y="3296412"/>
            <a:ext cx="1303598" cy="420624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Background Layer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Melon</a:t>
            </a:r>
          </a:p>
        </p:txBody>
      </p:sp>
      <p:pic>
        <p:nvPicPr>
          <p:cNvPr id="13" name="Picture 12" descr="A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1918" y="1485900"/>
            <a:ext cx="1267022" cy="17922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83630" y="3296412"/>
            <a:ext cx="1303598" cy="420624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Background Layer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Mint</a:t>
            </a:r>
          </a:p>
        </p:txBody>
      </p:sp>
      <p:pic>
        <p:nvPicPr>
          <p:cNvPr id="15" name="Picture 14" descr="A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65536" y="3845052"/>
            <a:ext cx="1267022" cy="179222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47248" y="5655564"/>
            <a:ext cx="1303598" cy="420624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Background Layer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Sky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n=312 respondents.  Top-2 Box model (ratings 4–5): element lifts show movement above or below the model baseline.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ELEMENT ASSETS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E2D44"/>
                </a:solidFill>
                <a:latin typeface="Karla"/>
              </a:rPr>
              <a:t>Headlines  —  element assets   ·   1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5156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B   ·   16 variations</a:t>
            </a:r>
          </a:p>
        </p:txBody>
      </p:sp>
      <p:pic>
        <p:nvPicPr>
          <p:cNvPr id="5" name="Picture 4" descr="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155" y="1485900"/>
            <a:ext cx="1267022" cy="17922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10867" y="3296412"/>
            <a:ext cx="1303598" cy="420624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Headline Do You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Know Where Your…</a:t>
            </a:r>
          </a:p>
        </p:txBody>
      </p:sp>
      <p:pic>
        <p:nvPicPr>
          <p:cNvPr id="7" name="Picture 6" descr="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7345" y="1485900"/>
            <a:ext cx="1267022" cy="17922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979057" y="3296412"/>
            <a:ext cx="1303598" cy="420624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Headline Eat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Local Eat…</a:t>
            </a:r>
          </a:p>
        </p:txBody>
      </p:sp>
      <p:pic>
        <p:nvPicPr>
          <p:cNvPr id="9" name="Picture 8" descr="B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5536" y="1485900"/>
            <a:ext cx="1267022" cy="17922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47248" y="3296412"/>
            <a:ext cx="1303598" cy="420624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Headline Georgia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Farms Delivered</a:t>
            </a:r>
          </a:p>
        </p:txBody>
      </p:sp>
      <p:pic>
        <p:nvPicPr>
          <p:cNvPr id="11" name="Picture 10" descr="B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3727" y="1485900"/>
            <a:ext cx="1267022" cy="17922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915439" y="3296412"/>
            <a:ext cx="1303598" cy="420624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Headline Good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Food For Every…</a:t>
            </a:r>
          </a:p>
        </p:txBody>
      </p:sp>
      <p:pic>
        <p:nvPicPr>
          <p:cNvPr id="13" name="Picture 12" descr="B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1918" y="1485900"/>
            <a:ext cx="1267022" cy="17922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83630" y="3296412"/>
            <a:ext cx="1303598" cy="420624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Headline Good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For People And…</a:t>
            </a:r>
          </a:p>
        </p:txBody>
      </p:sp>
      <p:pic>
        <p:nvPicPr>
          <p:cNvPr id="15" name="Picture 14" descr="B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29155" y="3845052"/>
            <a:ext cx="1267022" cy="179222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510867" y="5655564"/>
            <a:ext cx="1303598" cy="420624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Headline Guess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The Price Of Our…</a:t>
            </a:r>
          </a:p>
        </p:txBody>
      </p:sp>
      <p:pic>
        <p:nvPicPr>
          <p:cNvPr id="17" name="Picture 16" descr="B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97345" y="3845052"/>
            <a:ext cx="1267022" cy="179222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979057" y="5655564"/>
            <a:ext cx="1303598" cy="420624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Headline Keep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Your Food…</a:t>
            </a:r>
          </a:p>
        </p:txBody>
      </p:sp>
      <p:pic>
        <p:nvPicPr>
          <p:cNvPr id="19" name="Picture 18" descr="B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65536" y="3845052"/>
            <a:ext cx="1267022" cy="179222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47248" y="5655564"/>
            <a:ext cx="1303598" cy="420624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Headline Metro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Atlanta’s Online…</a:t>
            </a:r>
          </a:p>
        </p:txBody>
      </p:sp>
      <p:pic>
        <p:nvPicPr>
          <p:cNvPr id="21" name="Picture 20" descr="B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33727" y="3845052"/>
            <a:ext cx="1267022" cy="179222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915439" y="5655564"/>
            <a:ext cx="1303598" cy="420624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Headline Organic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Groceries Fair…</a:t>
            </a:r>
          </a:p>
        </p:txBody>
      </p:sp>
      <p:pic>
        <p:nvPicPr>
          <p:cNvPr id="23" name="Picture 22" descr="B1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01918" y="3845052"/>
            <a:ext cx="1267022" cy="179222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383630" y="5655564"/>
            <a:ext cx="1303598" cy="420624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Headline Prefer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Big Grocery…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n=312 respondents.  Top-2 Box model (ratings 4–5): element lifts show movement above or below the model baseline.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ELEMENT ASSETS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E2D44"/>
                </a:solidFill>
                <a:latin typeface="Karla"/>
              </a:rPr>
              <a:t>Headlines  —  element assets   ·   2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5156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B   ·   16 variations</a:t>
            </a:r>
          </a:p>
        </p:txBody>
      </p:sp>
      <p:pic>
        <p:nvPicPr>
          <p:cNvPr id="5" name="Picture 4" descr="B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155" y="1485900"/>
            <a:ext cx="1267022" cy="17922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10867" y="3296412"/>
            <a:ext cx="1303598" cy="420624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Headline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Seasonal Eating…</a:t>
            </a:r>
          </a:p>
        </p:txBody>
      </p:sp>
      <p:pic>
        <p:nvPicPr>
          <p:cNvPr id="7" name="Picture 6" descr="B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7345" y="1485900"/>
            <a:ext cx="1267022" cy="17922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979057" y="3296412"/>
            <a:ext cx="1303598" cy="420624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Headline Skip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The Grocery…</a:t>
            </a:r>
          </a:p>
        </p:txBody>
      </p:sp>
      <p:pic>
        <p:nvPicPr>
          <p:cNvPr id="9" name="Picture 8" descr="B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5536" y="1485900"/>
            <a:ext cx="1267022" cy="17922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47248" y="3296412"/>
            <a:ext cx="1303598" cy="420624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Headline We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Support Georgia…</a:t>
            </a:r>
          </a:p>
        </p:txBody>
      </p:sp>
      <p:pic>
        <p:nvPicPr>
          <p:cNvPr id="11" name="Picture 10" descr="B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3727" y="1485900"/>
            <a:ext cx="1267022" cy="17922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915439" y="3296412"/>
            <a:ext cx="1303598" cy="420624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Headline Win A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Free Month Of…</a:t>
            </a:r>
          </a:p>
        </p:txBody>
      </p:sp>
      <p:pic>
        <p:nvPicPr>
          <p:cNvPr id="13" name="Picture 12" descr="B1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1918" y="1485900"/>
            <a:ext cx="1267022" cy="17922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83630" y="3296412"/>
            <a:ext cx="1303598" cy="420624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Headline 80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Sourced Within…</a:t>
            </a:r>
          </a:p>
        </p:txBody>
      </p:sp>
      <p:pic>
        <p:nvPicPr>
          <p:cNvPr id="15" name="Picture 14" descr="B1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65536" y="3845052"/>
            <a:ext cx="1267022" cy="179222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47248" y="5655564"/>
            <a:ext cx="1303598" cy="420624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Headline Visit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Our Booth For 50…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n=312 respondents.  Top-2 Box model (ratings 4–5): element lifts show movement above or below the model baseline.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ELEMENT ASSETS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E2D44"/>
                </a:solidFill>
                <a:latin typeface="Karla"/>
              </a:rPr>
              <a:t>Sub Headers  —  element assets   ·   1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5156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C   ·   16 variations</a:t>
            </a:r>
          </a:p>
        </p:txBody>
      </p:sp>
      <p:pic>
        <p:nvPicPr>
          <p:cNvPr id="5" name="Picture 4" descr="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155" y="1485900"/>
            <a:ext cx="1267022" cy="17922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10867" y="3296412"/>
            <a:ext cx="1303598" cy="420624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Sub Header 80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Sourced Within…</a:t>
            </a:r>
          </a:p>
        </p:txBody>
      </p:sp>
      <p:pic>
        <p:nvPicPr>
          <p:cNvPr id="7" name="Picture 6" descr="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7345" y="1485900"/>
            <a:ext cx="1267022" cy="17922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979057" y="3296412"/>
            <a:ext cx="1303598" cy="420624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Sub Header Do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You Know Where…</a:t>
            </a:r>
          </a:p>
        </p:txBody>
      </p:sp>
      <p:pic>
        <p:nvPicPr>
          <p:cNvPr id="9" name="Picture 8" descr="C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5536" y="1485900"/>
            <a:ext cx="1267022" cy="17922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47248" y="3296412"/>
            <a:ext cx="1303598" cy="420624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Sub Header Eat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Local Eat…</a:t>
            </a:r>
          </a:p>
        </p:txBody>
      </p:sp>
      <p:pic>
        <p:nvPicPr>
          <p:cNvPr id="11" name="Picture 10" descr="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3727" y="1485900"/>
            <a:ext cx="1267022" cy="17922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915439" y="3296412"/>
            <a:ext cx="1303598" cy="420624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Sub Header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Georgia Farms…</a:t>
            </a:r>
          </a:p>
        </p:txBody>
      </p:sp>
      <p:pic>
        <p:nvPicPr>
          <p:cNvPr id="13" name="Picture 12" descr="C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1918" y="1485900"/>
            <a:ext cx="1267022" cy="17922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83630" y="3296412"/>
            <a:ext cx="1303598" cy="420624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Sub Header Good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Food For Every…</a:t>
            </a:r>
          </a:p>
        </p:txBody>
      </p:sp>
      <p:pic>
        <p:nvPicPr>
          <p:cNvPr id="15" name="Picture 14" descr="C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29155" y="3845052"/>
            <a:ext cx="1267022" cy="179222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510867" y="5655564"/>
            <a:ext cx="1303598" cy="420624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Sub Header Good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For People And…</a:t>
            </a:r>
          </a:p>
        </p:txBody>
      </p:sp>
      <p:pic>
        <p:nvPicPr>
          <p:cNvPr id="17" name="Picture 16" descr="C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97345" y="3845052"/>
            <a:ext cx="1267022" cy="179222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979057" y="5655564"/>
            <a:ext cx="1303598" cy="420624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Sub Header Guess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The Price Of Our…</a:t>
            </a:r>
          </a:p>
        </p:txBody>
      </p:sp>
      <p:pic>
        <p:nvPicPr>
          <p:cNvPr id="19" name="Picture 18" descr="C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65536" y="3845052"/>
            <a:ext cx="1267022" cy="179222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47248" y="5655564"/>
            <a:ext cx="1303598" cy="420624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Sub Header Keep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Your Food…</a:t>
            </a:r>
          </a:p>
        </p:txBody>
      </p:sp>
      <p:pic>
        <p:nvPicPr>
          <p:cNvPr id="21" name="Picture 20" descr="C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33727" y="3845052"/>
            <a:ext cx="1267022" cy="179222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915439" y="5655564"/>
            <a:ext cx="1303598" cy="420624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Sub Header Metro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Atlanta’s Online…</a:t>
            </a:r>
          </a:p>
        </p:txBody>
      </p:sp>
      <p:pic>
        <p:nvPicPr>
          <p:cNvPr id="23" name="Picture 22" descr="C1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01918" y="3845052"/>
            <a:ext cx="1267022" cy="179222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383630" y="5655564"/>
            <a:ext cx="1303598" cy="420624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Sub Header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Organic…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n=312 respondents.  Top-2 Box model (ratings 4–5): element lifts show movement above or below the model baseline.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ELEMENT ASSETS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E2D44"/>
                </a:solidFill>
                <a:latin typeface="Karla"/>
              </a:rPr>
              <a:t>Sub Headers  —  element assets   ·   2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5156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C   ·   16 variations</a:t>
            </a:r>
          </a:p>
        </p:txBody>
      </p:sp>
      <p:pic>
        <p:nvPicPr>
          <p:cNvPr id="5" name="Picture 4" descr="C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155" y="1485900"/>
            <a:ext cx="1267022" cy="17922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10867" y="3296412"/>
            <a:ext cx="1303598" cy="420624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Sub Header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Prefer Big…</a:t>
            </a:r>
          </a:p>
        </p:txBody>
      </p:sp>
      <p:pic>
        <p:nvPicPr>
          <p:cNvPr id="7" name="Picture 6" descr="C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7345" y="1485900"/>
            <a:ext cx="1267022" cy="17922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979057" y="3296412"/>
            <a:ext cx="1303598" cy="420624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Sub Header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Seasonal Eating…</a:t>
            </a:r>
          </a:p>
        </p:txBody>
      </p:sp>
      <p:pic>
        <p:nvPicPr>
          <p:cNvPr id="9" name="Picture 8" descr="C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5536" y="1485900"/>
            <a:ext cx="1267022" cy="17922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47248" y="3296412"/>
            <a:ext cx="1303598" cy="420624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Sub Header Skip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The Grocery…</a:t>
            </a:r>
          </a:p>
        </p:txBody>
      </p:sp>
      <p:pic>
        <p:nvPicPr>
          <p:cNvPr id="11" name="Picture 10" descr="C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3727" y="1485900"/>
            <a:ext cx="1267022" cy="17922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915439" y="3296412"/>
            <a:ext cx="1303598" cy="420624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Sub Header We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Support Georgia…</a:t>
            </a:r>
          </a:p>
        </p:txBody>
      </p:sp>
      <p:pic>
        <p:nvPicPr>
          <p:cNvPr id="13" name="Picture 12" descr="C1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1918" y="1485900"/>
            <a:ext cx="1267022" cy="17922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83630" y="3296412"/>
            <a:ext cx="1303598" cy="420624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Sub Header Win A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Free Month Of…</a:t>
            </a:r>
          </a:p>
        </p:txBody>
      </p:sp>
      <p:pic>
        <p:nvPicPr>
          <p:cNvPr id="15" name="Picture 14" descr="C1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65536" y="3845052"/>
            <a:ext cx="1267022" cy="179222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47248" y="5655564"/>
            <a:ext cx="1303598" cy="420624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Sub Header Visit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Our Booth For 50…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n=312 respondents.  Top-2 Box model (ratings 4–5): element lifts show movement above or below the model baseline.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ELEMENT ASSETS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E2D44"/>
                </a:solidFill>
                <a:latin typeface="Karla"/>
              </a:rPr>
              <a:t>Images  —  element assets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5156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D   ·   8 variations</a:t>
            </a:r>
          </a:p>
        </p:txBody>
      </p:sp>
      <p:pic>
        <p:nvPicPr>
          <p:cNvPr id="5" name="Picture 4" descr="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155" y="1485900"/>
            <a:ext cx="1267022" cy="17922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10867" y="3296412"/>
            <a:ext cx="1303598" cy="420624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Image Layer Box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Graphic</a:t>
            </a:r>
          </a:p>
        </p:txBody>
      </p:sp>
      <p:pic>
        <p:nvPicPr>
          <p:cNvPr id="7" name="Picture 6" descr="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7345" y="1485900"/>
            <a:ext cx="1267022" cy="17922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979057" y="3296412"/>
            <a:ext cx="1303598" cy="420624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Image Layer Box</a:t>
            </a:r>
          </a:p>
        </p:txBody>
      </p:sp>
      <p:pic>
        <p:nvPicPr>
          <p:cNvPr id="9" name="Picture 8" descr="D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5536" y="1485900"/>
            <a:ext cx="1267022" cy="17922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47248" y="3296412"/>
            <a:ext cx="1303598" cy="420624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Image Layer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Delivery Graphic</a:t>
            </a:r>
          </a:p>
        </p:txBody>
      </p:sp>
      <p:pic>
        <p:nvPicPr>
          <p:cNvPr id="11" name="Picture 10" descr="D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3727" y="1485900"/>
            <a:ext cx="1267022" cy="17922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915439" y="3296412"/>
            <a:ext cx="1303598" cy="420624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Image Layer Farm</a:t>
            </a:r>
          </a:p>
        </p:txBody>
      </p:sp>
      <p:pic>
        <p:nvPicPr>
          <p:cNvPr id="13" name="Picture 12" descr="D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1918" y="1485900"/>
            <a:ext cx="1267022" cy="17922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83630" y="3296412"/>
            <a:ext cx="1303598" cy="420624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Image Layer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Grocery</a:t>
            </a:r>
          </a:p>
        </p:txBody>
      </p:sp>
      <p:pic>
        <p:nvPicPr>
          <p:cNvPr id="15" name="Picture 14" descr="D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97345" y="3845052"/>
            <a:ext cx="1267022" cy="179222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979057" y="5655564"/>
            <a:ext cx="1303598" cy="420624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Image Layer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Lifestyle</a:t>
            </a:r>
          </a:p>
        </p:txBody>
      </p:sp>
      <p:pic>
        <p:nvPicPr>
          <p:cNvPr id="17" name="Picture 16" descr="D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65536" y="3845052"/>
            <a:ext cx="1267022" cy="179222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447248" y="5655564"/>
            <a:ext cx="1303598" cy="420624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Image Layer Map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Graphic</a:t>
            </a:r>
          </a:p>
        </p:txBody>
      </p:sp>
      <p:pic>
        <p:nvPicPr>
          <p:cNvPr id="19" name="Picture 18" descr="D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33727" y="3845052"/>
            <a:ext cx="1267022" cy="179222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915439" y="5655564"/>
            <a:ext cx="1303598" cy="420624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Image Layer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Produce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n=312 respondents.  Top-2 Box model (ratings 4–5): element lifts show movement above or below the model baseline.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ELEMENT ASSETS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E2D44"/>
                </a:solidFill>
                <a:latin typeface="Karla"/>
              </a:rPr>
              <a:t>CTA  —  element assets   ·   1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5156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E   ·   16 variations</a:t>
            </a:r>
          </a:p>
        </p:txBody>
      </p:sp>
      <p:pic>
        <p:nvPicPr>
          <p:cNvPr id="5" name="Picture 4" descr="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155" y="1485900"/>
            <a:ext cx="1267022" cy="17922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10867" y="3296412"/>
            <a:ext cx="1303598" cy="420624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Cta 80 Sourced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Within 70 Miles</a:t>
            </a:r>
          </a:p>
        </p:txBody>
      </p:sp>
      <p:pic>
        <p:nvPicPr>
          <p:cNvPr id="7" name="Picture 6" descr="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7345" y="1485900"/>
            <a:ext cx="1267022" cy="17922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979057" y="3296412"/>
            <a:ext cx="1303598" cy="420624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Cta Do You Know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Where Your Food…</a:t>
            </a:r>
          </a:p>
        </p:txBody>
      </p:sp>
      <p:pic>
        <p:nvPicPr>
          <p:cNvPr id="9" name="Picture 8" descr="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5536" y="1485900"/>
            <a:ext cx="1267022" cy="17922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47248" y="3296412"/>
            <a:ext cx="1303598" cy="420624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Cta Eat Local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Eat Organic Eat…</a:t>
            </a:r>
          </a:p>
        </p:txBody>
      </p:sp>
      <p:pic>
        <p:nvPicPr>
          <p:cNvPr id="11" name="Picture 10" descr="E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3727" y="1485900"/>
            <a:ext cx="1267022" cy="17922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915439" y="3296412"/>
            <a:ext cx="1303598" cy="420624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Cta Georgia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Farms Delivered</a:t>
            </a:r>
          </a:p>
        </p:txBody>
      </p:sp>
      <p:pic>
        <p:nvPicPr>
          <p:cNvPr id="13" name="Picture 12" descr="E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1918" y="1485900"/>
            <a:ext cx="1267022" cy="17922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83630" y="3296412"/>
            <a:ext cx="1303598" cy="420624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Cta Good Food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For Every Table</a:t>
            </a:r>
          </a:p>
        </p:txBody>
      </p:sp>
      <p:pic>
        <p:nvPicPr>
          <p:cNvPr id="15" name="Picture 14" descr="E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29155" y="3845052"/>
            <a:ext cx="1267022" cy="179222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510867" y="5655564"/>
            <a:ext cx="1303598" cy="420624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Cta Good For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People And The…</a:t>
            </a:r>
          </a:p>
        </p:txBody>
      </p:sp>
      <p:pic>
        <p:nvPicPr>
          <p:cNvPr id="17" name="Picture 16" descr="E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97345" y="3845052"/>
            <a:ext cx="1267022" cy="179222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979057" y="5655564"/>
            <a:ext cx="1303598" cy="420624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Cta Guess The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Price Of Our Box…</a:t>
            </a:r>
          </a:p>
        </p:txBody>
      </p:sp>
      <p:pic>
        <p:nvPicPr>
          <p:cNvPr id="19" name="Picture 18" descr="E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65536" y="3845052"/>
            <a:ext cx="1267022" cy="179222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47248" y="5655564"/>
            <a:ext cx="1303598" cy="420624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Cta Keep Your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Food Dollars…</a:t>
            </a:r>
          </a:p>
        </p:txBody>
      </p:sp>
      <p:pic>
        <p:nvPicPr>
          <p:cNvPr id="21" name="Picture 20" descr="E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33727" y="3845052"/>
            <a:ext cx="1267022" cy="179222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915439" y="5655564"/>
            <a:ext cx="1303598" cy="420624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Cta Metro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Atlanta’s Online…</a:t>
            </a:r>
          </a:p>
        </p:txBody>
      </p:sp>
      <p:pic>
        <p:nvPicPr>
          <p:cNvPr id="23" name="Picture 22" descr="E1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01918" y="3845052"/>
            <a:ext cx="1267022" cy="179222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383630" y="5655564"/>
            <a:ext cx="1303598" cy="420624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Cta Organic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Groceries Fair…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n=312 respondents.  Top-2 Box model (ratings 4–5): element lifts show movement above or below the model baseline.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ELEMENT ASSETS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E2D44"/>
                </a:solidFill>
                <a:latin typeface="Karla"/>
              </a:rPr>
              <a:t>CTA  —  element assets   ·   2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5156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17086"/>
                </a:solidFill>
                <a:latin typeface="Karla"/>
              </a:rPr>
              <a:t>E   ·   16 variations</a:t>
            </a:r>
          </a:p>
        </p:txBody>
      </p:sp>
      <p:pic>
        <p:nvPicPr>
          <p:cNvPr id="5" name="Picture 4" descr="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155" y="1485900"/>
            <a:ext cx="1267022" cy="17922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10867" y="3296412"/>
            <a:ext cx="1303598" cy="420624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Cta Prefer Big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Grocery Chains…</a:t>
            </a:r>
          </a:p>
        </p:txBody>
      </p:sp>
      <p:pic>
        <p:nvPicPr>
          <p:cNvPr id="7" name="Picture 6" descr="E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7345" y="1485900"/>
            <a:ext cx="1267022" cy="17922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979057" y="3296412"/>
            <a:ext cx="1303598" cy="420624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Cta Seasonal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Eating Made Easy</a:t>
            </a:r>
          </a:p>
        </p:txBody>
      </p:sp>
      <p:pic>
        <p:nvPicPr>
          <p:cNvPr id="9" name="Picture 8" descr="E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5536" y="1485900"/>
            <a:ext cx="1267022" cy="17922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47248" y="3296412"/>
            <a:ext cx="1303598" cy="420624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Cta Skip The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Grocery Store</a:t>
            </a:r>
          </a:p>
        </p:txBody>
      </p:sp>
      <p:pic>
        <p:nvPicPr>
          <p:cNvPr id="11" name="Picture 10" descr="E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3727" y="1485900"/>
            <a:ext cx="1267022" cy="17922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915439" y="3296412"/>
            <a:ext cx="1303598" cy="420624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Cta Visit Our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Booth For 50 Off</a:t>
            </a:r>
          </a:p>
        </p:txBody>
      </p:sp>
      <p:pic>
        <p:nvPicPr>
          <p:cNvPr id="13" name="Picture 12" descr="E1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1918" y="1485900"/>
            <a:ext cx="1267022" cy="17922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83630" y="3296412"/>
            <a:ext cx="1303598" cy="420624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Cta We Support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Georgia Farms…</a:t>
            </a:r>
          </a:p>
        </p:txBody>
      </p:sp>
      <p:pic>
        <p:nvPicPr>
          <p:cNvPr id="15" name="Picture 14" descr="E1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65536" y="3845052"/>
            <a:ext cx="1267022" cy="179222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47248" y="5655564"/>
            <a:ext cx="1303598" cy="420624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Cta Win A Free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Month Of…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446520"/>
            <a:ext cx="9509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17086"/>
                </a:solidFill>
                <a:latin typeface="Karla"/>
              </a:rPr>
              <a:t>n=312 respondents.  Top-2 Box model (ratings 4–5): element lifts show movement above or below the model baseline.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446520"/>
            <a:ext cx="914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87201"/>
            <a:ext cx="3154680" cy="405772"/>
          </a:xfrm>
          <a:prstGeom prst="rect">
            <a:avLst/>
          </a:prstGeom>
        </p:spPr>
      </p:pic>
      <p:pic>
        <p:nvPicPr>
          <p:cNvPr id="3" name="Picture 2" descr="cover_Picture_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128" y="3579876"/>
            <a:ext cx="1641348" cy="1641348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3882908" y="1232428"/>
            <a:ext cx="0" cy="4373209"/>
          </a:xfrm>
          <a:prstGeom prst="line">
            <a:avLst/>
          </a:prstGeom>
          <a:ln w="9525">
            <a:solidFill>
              <a:srgbClr val="F2C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205874" y="3429000"/>
            <a:ext cx="6268303" cy="0"/>
          </a:xfrm>
          <a:prstGeom prst="line">
            <a:avLst/>
          </a:prstGeom>
          <a:ln w="9525">
            <a:solidFill>
              <a:srgbClr val="F2C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206240" y="1805940"/>
            <a:ext cx="7132320" cy="7680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4400" b="1" i="0">
                <a:solidFill>
                  <a:srgbClr val="1E2D44"/>
                </a:solidFill>
                <a:latin typeface="Karla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578608"/>
            <a:ext cx="6583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E2D44"/>
                </a:solidFill>
                <a:latin typeface="Karla"/>
              </a:rPr>
              <a:t>We look forward to discussing the full report and next steps.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3880713"/>
            <a:ext cx="658368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E2D44"/>
                </a:solidFill>
                <a:latin typeface="Karla"/>
              </a:rPr>
              <a:t>A-FRAME SIGN STUDY Appeal Report  |  August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4231843"/>
            <a:ext cx="6986016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E2D44"/>
                </a:solidFill>
                <a:latin typeface="Karla"/>
              </a:rPr>
              <a:t>Prepared by: J Brown Fitterman | jbrown@mindgenomicsassociates.com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4582972"/>
            <a:ext cx="384048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E2D44"/>
                </a:solidFill>
                <a:latin typeface="Karla"/>
              </a:rPr>
              <a:t>Mind Genomics Associates, Inc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5222138"/>
            <a:ext cx="76809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E2D44"/>
                </a:solidFill>
                <a:latin typeface="Karla"/>
              </a:rPr>
              <a:t>A-FRAME SIGN STUDY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A-FRAME SIGN STUDY</dc:title>
  <dc:subject>Design Element Appeal Report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Top-2 Box</cp:category>
</cp:coreProperties>
</file>