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Pictur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06240" y="1805940"/>
            <a:ext cx="7755026" cy="1200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Which images drive appeal?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Radox Logo Study Appeal Report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Radox Logo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The study in this report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97280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35331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172238"/>
                </a:solidFill>
                <a:latin typeface="Karla"/>
              </a:rPr>
              <a:t>Scores in the pages that follow come from this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847088"/>
            <a:ext cx="10561320" cy="2103120"/>
          </a:xfrm>
          <a:prstGeom prst="roundRect">
            <a:avLst>
              <a:gd name="adj" fmla="val 26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847088"/>
            <a:ext cx="10561320" cy="12801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12848"/>
            <a:ext cx="9921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238"/>
                </a:solidFill>
                <a:latin typeface="Karla"/>
              </a:rPr>
              <a:t>Radox Logo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054096"/>
            <a:ext cx="99212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238"/>
                </a:solidFill>
                <a:latin typeface="Karla"/>
              </a:rPr>
              <a:t>4 silos  ·  19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419856"/>
            <a:ext cx="9921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4746E"/>
                </a:solidFill>
                <a:latin typeface="Karla"/>
              </a:rPr>
              <a:t>106 respondents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How the method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24128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1704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72238"/>
                </a:solidFill>
                <a:latin typeface="Karla"/>
              </a:rPr>
              <a:t>Every respondent sees their own mix of design variations, and we learn what individually moves the appeal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82495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7007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slice the design into unique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933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element is one design choice — Logo Set 1, Logo Set 2, Logo Set 3, and Logo Set 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50591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560320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7860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element has 4–5 possible variations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7121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Like the small choices a designer would make between the options in a silo.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5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38144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45643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respondent sees a grid of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74903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task shows one image from each set, never quite the same as anyone else’s.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06240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315968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33425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They rate each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62686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same rating scale is used on every task. The variation does the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84064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193792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21207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learn what drives the rating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5046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model separates the baseline from the movement each element creates, on its own.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BC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D44"/>
                </a:solidFill>
                <a:latin typeface="Karla"/>
              </a:rPr>
              <a:t>Design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26F7B"/>
                </a:solidFill>
                <a:latin typeface="Karla"/>
              </a:rPr>
              <a:t>4 design silos, 19 element variations in total.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Logo Set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199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Radox Pha Logo, Radox Logo 0000 1, +3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3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3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5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Logo Set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3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5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Radox Logo 0004 5, Radox Logo 0005 6, +3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1888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1888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Logo Set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Radox Logo 0009 1b, Radox Logo 0010 2b, +3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2791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1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7383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Logo Set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1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3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Radox Logo 0014 6b, Radox Logo 0015 7n, +2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Each card shows the silo letter, the element count, and a sample of the options.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WHAT YOU GET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Which images drive appeal?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562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Per-element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4320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How much each variation moves the appeal rating, on its own, above or below the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8562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860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Base appeal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74320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Top-2 Box intercept. The pack’s starting appeal before a single element is added.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0507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4348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Build-up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89204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strongest option in each group, shown together, against a weaker combination of the same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00507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4348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Full lift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89204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element, in every group, with the same score used in the charts.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F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4747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Reading The Scores – What The Coefficients Mean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896112"/>
            <a:ext cx="1371600" cy="0"/>
          </a:xfrm>
          <a:prstGeom prst="line">
            <a:avLst/>
          </a:prstGeom>
          <a:ln w="1587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536192" y="118872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115568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Element Lift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99616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Element lifts show the estimated movement each design choice creates above or below the model baseline.</a:t>
            </a:r>
          </a:p>
        </p:txBody>
      </p:sp>
      <p:sp>
        <p:nvSpPr>
          <p:cNvPr id="8" name="Oval 7"/>
          <p:cNvSpPr/>
          <p:nvPr/>
        </p:nvSpPr>
        <p:spPr>
          <a:xfrm>
            <a:off x="1527048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584448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Explore Combinations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968496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These scores can be combined to explore multiple design scenarios.</a:t>
            </a:r>
          </a:p>
        </p:txBody>
      </p:sp>
      <p:sp>
        <p:nvSpPr>
          <p:cNvPr id="11" name="Oval 10"/>
          <p:cNvSpPr/>
          <p:nvPr/>
        </p:nvSpPr>
        <p:spPr>
          <a:xfrm>
            <a:off x="6757416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584448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Reading The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396849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Coefficient Interpretation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6596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37360" y="3200400"/>
            <a:ext cx="3803904" cy="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41264" y="320040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141464" y="4370832"/>
          <a:ext cx="40416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3"/>
                <a:gridCol w="22037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Coefficient Scale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Interpretation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+10 or higher</a:t>
                      </a:r>
                    </a:p>
                  </a:txBody>
                  <a:tcPr marL="73152" marR="54864" marT="36576" marB="36576">
                    <a:solidFill>
                      <a:srgbClr val="DEF1D3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Strong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+5 to +9.9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Moderate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+2 to +4.9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Small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Below +2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Minimal / weak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Where appeal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The strongest movement comes from the silos and elements below. Detail charts for every silo follow.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The model has a clear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Base appeal is 51%. That is the Top-2 Box baseline before any single design element adds or subtracts lift.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4320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5292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Radox Pha Logo is the strongest single cue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In Logo Set 1, Radox Pha Logo moves appeal by +13. 14 of 19 elements sit above the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4048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5020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Logo Set 1 is the lead design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Radox Pha Logo tops this silo at +13. Logo Set 1 has the widest spread, +19 points from Radox Logo 0000 1 to Radox Pha Logo.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37759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37759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4748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Radox Logo 0000 1 is the largest drag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94959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In Logo Set 1, Radox Logo 0000 1 sits at -6. Negative lifts pull the appeal score below the model baseline.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MODEL OVERVIEW: BASE APPEAL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Base appeal before element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Base appeal is this model’s starting Top-2 Box score (ratings 4–5) before individual design elements add or subtract lift.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BASE APPEAL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120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Radox Logo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51206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1E2D44"/>
                </a:solidFill>
                <a:latin typeface="Karla"/>
              </a:rPr>
              <a:t>51%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Model baseline  ·  intercept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size 106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74519"/>
            <a:ext cx="5029200" cy="4023360"/>
          </a:xfrm>
          <a:prstGeom prst="roundRect">
            <a:avLst>
              <a:gd name="adj" fmla="val 8000"/>
            </a:avLst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AC8D4"/>
                </a:solidFill>
                <a:latin typeface="Karla"/>
              </a:rPr>
              <a:t>HOW TO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06040"/>
            <a:ext cx="4434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Each element chart is movement around this number, not a new total by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703320"/>
            <a:ext cx="44348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A build-up adds the baseline and one lift from each silo. That sum is a model scenario. It is not capped at 0 or 100.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C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Karla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612648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Appeal moves most clearly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in four design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566928"/>
            <a:ext cx="4434840" cy="1115568"/>
          </a:xfrm>
          <a:prstGeom prst="roundRect">
            <a:avLst>
              <a:gd name="adj" fmla="val 10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8352" y="713232"/>
            <a:ext cx="4041648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Karla"/>
              </a:rPr>
              <a:t>These are the silos where one element, or the gap inside the silo, moves appeal the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48B"/>
                </a:solidFill>
                <a:latin typeface="Karla"/>
              </a:rPr>
              <a:t>ROADMAP FOR THE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Logo Set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Radox Pha Logo leads at +13.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Radox Logo 0000 1 pulls the other 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Logo Set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Radox Logo 0011 3b leads at +8.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Low end is Radox Logo 0009 1b.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Logo Set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Radox Logo 0008 9 leads at +7.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Low end is Radox Logo 0005 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Logo Set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Radox Logo 0014 6b leads at +3.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Radox Logo 0016 8b pulls the other way.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37759"/>
            <a:ext cx="11119104" cy="713232"/>
          </a:xfrm>
          <a:prstGeom prst="roundRect">
            <a:avLst>
              <a:gd name="adj" fmla="val 8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37759"/>
            <a:ext cx="11119104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Karla"/>
              </a:rPr>
              <a:t>The clearest appeal movement is concentrated in Logo Set 1, Logo Set 3, Logo Set 2, and Logo Set 4.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LOGO SET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Radox Pha Logo creates the clearest Logo Set 1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Radox Pha Logo leads at +13, while Radox Logo 0000 1 pulls appeal the other way at -6.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LOGO SET 1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5072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267712"/>
            <a:ext cx="222290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986" y="2066543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2066543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Pha Logo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5072" y="2889504"/>
            <a:ext cx="85496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4044" y="2688336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688336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0002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3511296"/>
            <a:ext cx="68397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3051" y="3310128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3310128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0001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5072" y="4133087"/>
            <a:ext cx="32004" cy="219456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3931920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3931920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0003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9115" y="4754880"/>
            <a:ext cx="1025956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3043" y="4553712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4553712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0000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48472" y="39776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Radox_PH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88" y="411479"/>
            <a:ext cx="932688" cy="9326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900416" y="139903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Pha Logo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39776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adox-Logo_0002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996" y="411479"/>
            <a:ext cx="932688" cy="9326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793224" y="139903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0002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48472" y="204368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Radox-Logo_000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2057399"/>
            <a:ext cx="932688" cy="9326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900416" y="304495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0001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8" y="342899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204368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adox-Logo_0003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96" y="2057399"/>
            <a:ext cx="932688" cy="93268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93224" y="304495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0003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4936" y="342899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48472" y="3689604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Radox-Logo_0000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188" y="3703320"/>
            <a:ext cx="932688" cy="93268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900416" y="469087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0000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8" y="507492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Radox Pha Logo is the strongest Logo Set 1 direction (+13). The gap to Radox Logo 0000 1 is +19 points.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LOGO SET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Radox Logo 0008 9 leads the Logo Set 2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option is at or above the baseline. Radox Logo 0008 9 is furthest ahead at +7.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LOGO SET 2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7589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498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36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7427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248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987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95144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95144" y="2267712"/>
            <a:ext cx="448856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7713" y="2066543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066543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0008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5144" y="2889504"/>
            <a:ext cx="384733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6490" y="2688336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2688336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0004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5144" y="3511296"/>
            <a:ext cx="320611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5267" y="3310128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3310128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0007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5144" y="4133087"/>
            <a:ext cx="192366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2821" y="3931920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3931920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0006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5144" y="4754880"/>
            <a:ext cx="1282445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41597" y="4553712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4553712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0005 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48472" y="39776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adox-Logo_0008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88" y="411479"/>
            <a:ext cx="932688" cy="9326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900416" y="139903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0008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8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39776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Radox-Logo_000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996" y="411479"/>
            <a:ext cx="932688" cy="9326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93224" y="139903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0004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4936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204368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Radox-Logo_0007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2057399"/>
            <a:ext cx="932688" cy="93268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900416" y="304495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0007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8" y="342899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204368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adox-Logo_0006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96" y="2057399"/>
            <a:ext cx="932688" cy="93268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93224" y="304495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0006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4936" y="342899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48472" y="3689604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Radox-Logo_0005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188" y="3703320"/>
            <a:ext cx="932688" cy="93268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900416" y="469087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0005 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8" y="507492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Radox Logo 0008 9 is the strongest Logo Set 2 direction (+7). The gap to Radox Logo 0005 6 is +5 points.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LOGO SET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Radox Logo 0011 3b leads the Logo Set 3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option is at or above the baseline. Radox Logo 0011 3b is furthest ahead at +8.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LOGO SET 3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36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7427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95144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5144" y="2267712"/>
            <a:ext cx="4103827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2979" y="2066543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2066543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0011 3b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5144" y="2889504"/>
            <a:ext cx="359084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0000" y="2688336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2688336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0013 5b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95144" y="3511296"/>
            <a:ext cx="256489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4044" y="3310128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3310128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0010 2b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95144" y="4133087"/>
            <a:ext cx="256489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4044" y="3931920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3931920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0012 4b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95144" y="4754880"/>
            <a:ext cx="102595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5108" y="4553712"/>
            <a:ext cx="512064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4553712"/>
            <a:ext cx="1746503" cy="6217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0009 1b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48472" y="39776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Radox-Logo_0011_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88" y="411479"/>
            <a:ext cx="932688" cy="9326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0416" y="139903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0011 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8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39776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adox-Logo_0013_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996" y="411479"/>
            <a:ext cx="932688" cy="9326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93224" y="139903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0013 5b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4936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48472" y="204368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Radox-Logo_0010_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2057399"/>
            <a:ext cx="932688" cy="9326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900416" y="304495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0010 2b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342899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41280" y="2043683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Radox-Logo_0012_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96" y="2057399"/>
            <a:ext cx="932688" cy="93268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793224" y="304495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0012 4b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4936" y="342899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2" y="3689604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adox-Logo_0009_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188" y="3703320"/>
            <a:ext cx="932688" cy="93268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900416" y="469087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0009 1b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8" y="507492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Radox Logo 0011 3b is the strongest Logo Set 3 direction (+8). The gap to Radox Logo 0009 1b is +6 points.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LOGO SET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Radox Logo 0014 6b creates the clearest Logo Set 4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Radox Logo 0014 6b leads at +3, while Radox Logo 0016 8b pulls appeal the other way at -2.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LOGO SET 4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-4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7589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498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36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7427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248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987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0036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0036" y="2345436"/>
            <a:ext cx="1923669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7713" y="2066543"/>
            <a:ext cx="512064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066543"/>
            <a:ext cx="1746503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0014 6b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8813" y="3122676"/>
            <a:ext cx="64122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2740" y="2843784"/>
            <a:ext cx="512064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2843784"/>
            <a:ext cx="1746503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0015 7n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8813" y="3899915"/>
            <a:ext cx="64122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2740" y="3621024"/>
            <a:ext cx="512064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3621024"/>
            <a:ext cx="1746503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0017 9b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77589" y="4677156"/>
            <a:ext cx="1282445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1518" y="4398264"/>
            <a:ext cx="512064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4398264"/>
            <a:ext cx="1746503" cy="7772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0016 8b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36992" y="397764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adox-Logo_0014_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708" y="411480"/>
            <a:ext cx="1755648" cy="17556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00416" y="222199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0014 6b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260604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397764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Radox-Logo_0015_7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516" y="411480"/>
            <a:ext cx="1755648" cy="17556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793224" y="2221992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0015 7n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4936" y="260604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36992" y="2866643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adox-Logo_0017_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08" y="2880359"/>
            <a:ext cx="1755648" cy="17556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900416" y="469087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0017 9b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8" y="507491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2866643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Radox-Logo_0016_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3516" y="2880359"/>
            <a:ext cx="1755648" cy="17556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793224" y="4690871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0016 8b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4936" y="507491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Radox Logo 0014 6b is the strongest Logo Set 4 direction (+3). The gap to Radox Logo 0016 8b is +5 points.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WINNING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Highest-lift images,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One image from each set — the strongest in that set. The images are not stacked.</a:t>
            </a:r>
          </a:p>
        </p:txBody>
      </p:sp>
      <p:pic>
        <p:nvPicPr>
          <p:cNvPr id="5" name="Picture 4" descr="Radox_PH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4198"/>
            <a:ext cx="2638044" cy="26380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Pha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pic>
        <p:nvPicPr>
          <p:cNvPr id="9" name="Picture 8" descr="Radox-Logo_0008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132" y="1584198"/>
            <a:ext cx="2638044" cy="26380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42132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2132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0008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2132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pic>
        <p:nvPicPr>
          <p:cNvPr id="13" name="Picture 12" descr="Radox-Logo_0011_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584198"/>
            <a:ext cx="2638044" cy="26380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1344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0011 3b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pic>
        <p:nvPicPr>
          <p:cNvPr id="17" name="Picture 16" descr="Radox-Logo_0014_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556" y="1584198"/>
            <a:ext cx="2638044" cy="26380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20556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0556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0014 6b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0556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51%    ·    combined lift +31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WEAKER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Lowest-lift images,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One image from each set — the weakest in that set. The images are not stacked.</a:t>
            </a:r>
          </a:p>
        </p:txBody>
      </p:sp>
      <p:pic>
        <p:nvPicPr>
          <p:cNvPr id="5" name="Picture 4" descr="Radox-Logo_000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4198"/>
            <a:ext cx="2638044" cy="26380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0000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D0000"/>
                </a:solidFill>
                <a:latin typeface="Karla"/>
              </a:rPr>
              <a:t>-6</a:t>
            </a:r>
          </a:p>
        </p:txBody>
      </p:sp>
      <p:pic>
        <p:nvPicPr>
          <p:cNvPr id="9" name="Picture 8" descr="Radox-Logo_0005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132" y="1584198"/>
            <a:ext cx="2638044" cy="26380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42132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2132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0005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2132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pic>
        <p:nvPicPr>
          <p:cNvPr id="13" name="Picture 12" descr="Radox-Logo_0009_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584198"/>
            <a:ext cx="2638044" cy="26380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1344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0009 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pic>
        <p:nvPicPr>
          <p:cNvPr id="17" name="Picture 16" descr="Radox-Logo_0016_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556" y="1584198"/>
            <a:ext cx="2638044" cy="26380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20556" y="4544568"/>
            <a:ext cx="2638044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Logo Set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0556" y="4782312"/>
            <a:ext cx="2638044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0016 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0556" y="5239512"/>
            <a:ext cx="263804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51%    ·    combined lift 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BUILD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365760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The higher-lift build against the lower-lift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1188720"/>
            <a:ext cx="5586984" cy="640080"/>
          </a:xfrm>
          <a:prstGeom prst="rect">
            <a:avLst/>
          </a:prstGeom>
          <a:solidFill>
            <a:srgbClr val="F3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5623560" cy="50292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25295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HIGHER-LIFT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44475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935"/>
                </a:solidFill>
                <a:latin typeface="Karla"/>
              </a:rPr>
              <a:t>+31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14630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over 51%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8366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1</a:t>
            </a:r>
          </a:p>
        </p:txBody>
      </p:sp>
      <p:pic>
        <p:nvPicPr>
          <p:cNvPr id="11" name="Picture 10" descr="Radox_PH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1988819"/>
            <a:ext cx="658368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32303" y="188366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Pha 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88366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275234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75234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2</a:t>
            </a:r>
          </a:p>
        </p:txBody>
      </p:sp>
      <p:pic>
        <p:nvPicPr>
          <p:cNvPr id="16" name="Picture 15" descr="Radox-Logo_0008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857500"/>
            <a:ext cx="658368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432303" y="275234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0008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75234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362102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62102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3</a:t>
            </a:r>
          </a:p>
        </p:txBody>
      </p:sp>
      <p:pic>
        <p:nvPicPr>
          <p:cNvPr id="21" name="Picture 20" descr="Radox-Logo_0011_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" y="3726180"/>
            <a:ext cx="658368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32303" y="362102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0011 3b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362102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48970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8970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4</a:t>
            </a:r>
          </a:p>
        </p:txBody>
      </p:sp>
      <p:pic>
        <p:nvPicPr>
          <p:cNvPr id="26" name="Picture 25" descr="Radox-Logo_0014_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" y="4594860"/>
            <a:ext cx="658368" cy="6583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32303" y="448970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0014 6b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448970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1" y="1188720"/>
            <a:ext cx="5586984" cy="640080"/>
          </a:xfrm>
          <a:prstGeom prst="rect">
            <a:avLst/>
          </a:prstGeom>
          <a:solidFill>
            <a:srgbClr val="F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1115568"/>
            <a:ext cx="5623560" cy="50292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1225295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6B84"/>
                </a:solidFill>
                <a:latin typeface="Karla"/>
              </a:rPr>
              <a:t>LOWER-LIFT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144475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D0000"/>
                </a:solidFill>
                <a:latin typeface="Karla"/>
              </a:rPr>
              <a:t>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3" y="14630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over 51%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188366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1</a:t>
            </a:r>
          </a:p>
        </p:txBody>
      </p:sp>
      <p:pic>
        <p:nvPicPr>
          <p:cNvPr id="36" name="Picture 35" descr="Radox-Logo_0000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1988819"/>
            <a:ext cx="658368" cy="6583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0" y="188366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0000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36808" y="188366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59" y="275234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275234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2</a:t>
            </a:r>
          </a:p>
        </p:txBody>
      </p:sp>
      <p:pic>
        <p:nvPicPr>
          <p:cNvPr id="41" name="Picture 40" descr="Radox-Logo_0005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79" y="2857500"/>
            <a:ext cx="658368" cy="6583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29600" y="275234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0005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36808" y="275234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362102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62102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3</a:t>
            </a:r>
          </a:p>
        </p:txBody>
      </p:sp>
      <p:pic>
        <p:nvPicPr>
          <p:cNvPr id="46" name="Picture 45" descr="Radox-Logo_0009_1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79" y="3726180"/>
            <a:ext cx="658368" cy="6583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229600" y="362102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0009 1b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36808" y="362102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59" y="4489704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4489704"/>
            <a:ext cx="1097280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Logo Set 4</a:t>
            </a:r>
          </a:p>
        </p:txBody>
      </p:sp>
      <p:pic>
        <p:nvPicPr>
          <p:cNvPr id="51" name="Picture 50" descr="Radox-Logo_0016_8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79" y="4594860"/>
            <a:ext cx="658368" cy="6583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229600" y="4489704"/>
            <a:ext cx="2770632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Radox Logo 0016 8b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36808" y="4489704"/>
            <a:ext cx="658368" cy="868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4048" y="5559552"/>
            <a:ext cx="11420856" cy="475488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559552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higher-lift build leads by +35 points, from the same 51% base.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APPENDIX  ·  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Every element, same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17086"/>
                </a:solidFill>
                <a:latin typeface="Karla"/>
              </a:rPr>
              <a:t>Scores are Top-2 Box coefficients (ratings 4–5), rounded the same way as the charts. Green is lift above the baseline. Red is lift below it. A star means the coefficient cleared the study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Base appeal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Silos in the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21031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Elements scored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Logo Set 1   ·   Logo Set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LOGO SET 1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516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552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7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4904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516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5160" y="1668780"/>
            <a:ext cx="1680057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9225" y="1353312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886" y="1403695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dox_PH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30" y="1412839"/>
            <a:ext cx="731337" cy="73133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185160" y="2519172"/>
            <a:ext cx="64617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2203704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886" y="2254087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adox-Logo_0002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30" y="2263231"/>
            <a:ext cx="731337" cy="73133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185160" y="3369564"/>
            <a:ext cx="516940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6108" y="3054096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886" y="3104479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adox-Logo_000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030" y="3113623"/>
            <a:ext cx="731337" cy="73133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185160" y="4219955"/>
            <a:ext cx="32004" cy="219456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9168" y="3904487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886" y="3954871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adox-Logo_0003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030" y="3964015"/>
            <a:ext cx="731337" cy="7313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409748" y="5070348"/>
            <a:ext cx="775411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8" y="4754880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886" y="4805263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Radox-Logo_0000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030" y="4814407"/>
            <a:ext cx="731337" cy="731337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LOGO SET 2 PREFERENCES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1668780"/>
            <a:ext cx="2713939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24667" y="1353312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14798" y="1403695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adox-Logo_0008_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942" y="1412839"/>
            <a:ext cx="731337" cy="731337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046720" y="2519172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36961" y="2203704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14798" y="2254087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Radox-Logo_0004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942" y="2263231"/>
            <a:ext cx="731337" cy="731337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8046720" y="3369564"/>
            <a:ext cx="193852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49256" y="3054096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14798" y="3104479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Radox-Logo_0007_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942" y="3113623"/>
            <a:ext cx="731337" cy="731337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046720" y="4219955"/>
            <a:ext cx="1163116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3844" y="3904487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14798" y="3954871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Radox-Logo_0006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942" y="3964015"/>
            <a:ext cx="731337" cy="731337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8046720" y="5070348"/>
            <a:ext cx="77541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86139" y="4754880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14798" y="4805263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Radox-Logo_0005_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3942" y="4814407"/>
            <a:ext cx="731337" cy="731337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Logo Set 3   ·   Logo Set 4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LOGO SET 3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83133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92808" y="1668780"/>
            <a:ext cx="310164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8460" y="1353312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886" y="1403695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adox-Logo_0011_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30" y="1412839"/>
            <a:ext cx="731337" cy="73133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892808" y="2519172"/>
            <a:ext cx="2713939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0755" y="2203704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886" y="2254087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adox-Logo_0013_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30" y="2263231"/>
            <a:ext cx="731337" cy="73133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892808" y="3369564"/>
            <a:ext cx="193852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344" y="3054096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886" y="3104479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adox-Logo_0010_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030" y="3113623"/>
            <a:ext cx="731337" cy="73133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892808" y="4219955"/>
            <a:ext cx="1938528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5344" y="3904487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886" y="3954871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adox-Logo_0012_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030" y="3964015"/>
            <a:ext cx="731337" cy="731337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92808" y="5070348"/>
            <a:ext cx="77541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32227" y="4754880"/>
            <a:ext cx="512064" cy="85039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886" y="4805263"/>
            <a:ext cx="749625" cy="74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adox-Logo_0009_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030" y="4814407"/>
            <a:ext cx="731337" cy="731337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LOGO SET 4 PREFERENCES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159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54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61904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8524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85248" y="1775079"/>
            <a:ext cx="1453895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11712" y="1353312"/>
            <a:ext cx="512064" cy="10629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31964" y="1418577"/>
            <a:ext cx="93245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Radox-Logo_0014_6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108" y="1427721"/>
            <a:ext cx="914171" cy="914171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9500616" y="2838069"/>
            <a:ext cx="48463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24544" y="2416302"/>
            <a:ext cx="512064" cy="10629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31964" y="2481567"/>
            <a:ext cx="93245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Radox-Logo_0015_7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1108" y="2490711"/>
            <a:ext cx="914171" cy="914171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9500616" y="3901059"/>
            <a:ext cx="48463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4544" y="3479292"/>
            <a:ext cx="512064" cy="10629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31964" y="3544557"/>
            <a:ext cx="93245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Radox-Logo_0017_9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1108" y="3553701"/>
            <a:ext cx="914171" cy="914171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9015984" y="4964049"/>
            <a:ext cx="969264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9912" y="4542282"/>
            <a:ext cx="512064" cy="10629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31964" y="4607547"/>
            <a:ext cx="932459" cy="932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Radox-Logo_0016_8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1108" y="4616691"/>
            <a:ext cx="914171" cy="914171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Element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Logo Set 1  —  images</a:t>
            </a:r>
          </a:p>
        </p:txBody>
      </p:sp>
      <p:pic>
        <p:nvPicPr>
          <p:cNvPr id="4" name="Picture 3" descr="Radox_PH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143000"/>
            <a:ext cx="196596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9072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Pha Logo</a:t>
            </a:r>
          </a:p>
        </p:txBody>
      </p:sp>
      <p:pic>
        <p:nvPicPr>
          <p:cNvPr id="6" name="Picture 5" descr="Radox-Logo_000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3" y="114300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1063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0000 1</a:t>
            </a:r>
          </a:p>
        </p:txBody>
      </p:sp>
      <p:pic>
        <p:nvPicPr>
          <p:cNvPr id="8" name="Picture 7" descr="Radox-Logo_000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5" y="114300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63055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0001 2</a:t>
            </a:r>
          </a:p>
        </p:txBody>
      </p:sp>
      <p:pic>
        <p:nvPicPr>
          <p:cNvPr id="10" name="Picture 9" descr="Radox-Logo_0002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7" y="1143000"/>
            <a:ext cx="196596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5047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0002 3</a:t>
            </a:r>
          </a:p>
        </p:txBody>
      </p:sp>
      <p:pic>
        <p:nvPicPr>
          <p:cNvPr id="12" name="Picture 11" descr="Radox-Logo_0003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79" y="3822191"/>
            <a:ext cx="196596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52059" y="58247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0003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Logo Set 2  —  images</a:t>
            </a:r>
          </a:p>
        </p:txBody>
      </p:sp>
      <p:pic>
        <p:nvPicPr>
          <p:cNvPr id="4" name="Picture 3" descr="Radox-Logo_0004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143000"/>
            <a:ext cx="196596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9072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0004 5</a:t>
            </a:r>
          </a:p>
        </p:txBody>
      </p:sp>
      <p:pic>
        <p:nvPicPr>
          <p:cNvPr id="6" name="Picture 5" descr="Radox-Logo_0005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3" y="114300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1063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0005 6</a:t>
            </a:r>
          </a:p>
        </p:txBody>
      </p:sp>
      <p:pic>
        <p:nvPicPr>
          <p:cNvPr id="8" name="Picture 7" descr="Radox-Logo_0006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5" y="114300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63055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0006 7</a:t>
            </a:r>
          </a:p>
        </p:txBody>
      </p:sp>
      <p:pic>
        <p:nvPicPr>
          <p:cNvPr id="10" name="Picture 9" descr="Radox-Logo_0007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7" y="1143000"/>
            <a:ext cx="196596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5047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0007 8</a:t>
            </a:r>
          </a:p>
        </p:txBody>
      </p:sp>
      <p:pic>
        <p:nvPicPr>
          <p:cNvPr id="12" name="Picture 11" descr="Radox-Logo_0008_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79" y="3822191"/>
            <a:ext cx="196596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52059" y="58247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0008 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Logo Set 3  —  images</a:t>
            </a:r>
          </a:p>
        </p:txBody>
      </p:sp>
      <p:pic>
        <p:nvPicPr>
          <p:cNvPr id="4" name="Picture 3" descr="Radox-Logo_0009_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143000"/>
            <a:ext cx="196596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9072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0009 1b</a:t>
            </a:r>
          </a:p>
        </p:txBody>
      </p:sp>
      <p:pic>
        <p:nvPicPr>
          <p:cNvPr id="6" name="Picture 5" descr="Radox-Logo_0010_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3" y="114300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1063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0010 2b</a:t>
            </a:r>
          </a:p>
        </p:txBody>
      </p:sp>
      <p:pic>
        <p:nvPicPr>
          <p:cNvPr id="8" name="Picture 7" descr="Radox-Logo_0011_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5" y="114300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63055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0011 3b</a:t>
            </a:r>
          </a:p>
        </p:txBody>
      </p:sp>
      <p:pic>
        <p:nvPicPr>
          <p:cNvPr id="10" name="Picture 9" descr="Radox-Logo_0012_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7" y="1143000"/>
            <a:ext cx="196596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5047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0012 4b</a:t>
            </a:r>
          </a:p>
        </p:txBody>
      </p:sp>
      <p:pic>
        <p:nvPicPr>
          <p:cNvPr id="12" name="Picture 11" descr="Radox-Logo_0013_5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79" y="3822191"/>
            <a:ext cx="196596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52059" y="58247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0013 5b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Logo Set 4  —  images</a:t>
            </a:r>
          </a:p>
        </p:txBody>
      </p:sp>
      <p:pic>
        <p:nvPicPr>
          <p:cNvPr id="4" name="Picture 3" descr="Radox-Logo_0014_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143000"/>
            <a:ext cx="196596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9072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0014 6b</a:t>
            </a:r>
          </a:p>
        </p:txBody>
      </p:sp>
      <p:pic>
        <p:nvPicPr>
          <p:cNvPr id="6" name="Picture 5" descr="Radox-Logo_0015_7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3" y="114300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1063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0015 7n</a:t>
            </a:r>
          </a:p>
        </p:txBody>
      </p:sp>
      <p:pic>
        <p:nvPicPr>
          <p:cNvPr id="8" name="Picture 7" descr="Radox-Logo_0016_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5" y="114300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63055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0016 8b</a:t>
            </a:r>
          </a:p>
        </p:txBody>
      </p:sp>
      <p:pic>
        <p:nvPicPr>
          <p:cNvPr id="10" name="Picture 9" descr="Radox-Logo_0017_9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7" y="1143000"/>
            <a:ext cx="196596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5047" y="314553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Radox Logo 0017 9b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n=106 respondents.  Top-2 Box model (ratings 4–5): element lifts show movement above or below the model baseline.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Pictur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06240" y="1805940"/>
            <a:ext cx="713232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1E2D44"/>
                </a:solidFill>
                <a:latin typeface="Karl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578608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We look forward to discussing the full report and 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Radox Logo Study Appeal Report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D44"/>
                </a:solidFill>
                <a:latin typeface="Karla"/>
              </a:rPr>
              <a:t>Radox Logo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Radox Logo Study</dc:title>
  <dc:subject>Design Element Appeal Report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Top-2 Box</cp:category>
</cp:coreProperties>
</file>